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83"/>
    <p:restoredTop sz="96824"/>
  </p:normalViewPr>
  <p:slideViewPr>
    <p:cSldViewPr snapToGrid="0" snapToObjects="1">
      <p:cViewPr varScale="1">
        <p:scale>
          <a:sx n="144" d="100"/>
          <a:sy n="144"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3872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avance para los asesores. Es la continuación directa de la semana 8, que terminó con tres pasos a seguir: decuantizar, ruidos medidos en kernels reales y documentar. Hoy cubrimos los dos primeros. Recordatorio del marco: privacidad diferencial cuántica sobre German Credit (1000 filas), 7 qubits por persona, ε estimado con el Algoritmo 2 (dPD) y comparado con las cotas del paper de Zhou y Ying, "Differential Privacy in Quantum Computation".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semana 8 terminó con "Pasos a seguir: 1. Decuantizar, 2. Ruidos medidos en kernels reales, 3. Documentar". Esta presentación retoma exactamente eso. Cinco actos: I. Dónde estábamos: recordatorio de la cota experimental en los tres mecanismos (depolarizante, PAD y GAD) y la pregunta nueva: cómo se ve la privacidad en datos clásicos. Decuantizar = medir. II. Qué significa medir: copias, mezcla, el pipeline del diseño L, el límite de la codificación y la línea base B. III. Dónde está la privacidad: el ruido visto desde un qubit, una medición contra muchas (e^ε y composición), y diseño C contra diseño L. IV. Resultados: ε del diseño L en las variables categóricas (K par contra K impar) y el experimento L de collateral, con teoría contra simulación y el histograma al final. V. Hardware y cierre: GAD en hardware real (pregunta abierta, trabajo de esta semana), conclusiones y pasos a seguir. Fuera de alcance hoy (quedan como pasos a seguir): credit_amount y las variables numéricas, y el ε del diseño L con los 7 qubits completos.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dónde quedamos: la cota experimental en los tres mecanismos. Después, la pregunta que abre el trabajo de esta semana.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en los tres mecanismos el ε experimental queda por debajo de la cota teórica. Son tres mecanismos. El depolarizante se probó de dos formas: sobre el estado conjunto de 7 qubits (D = 128) y columna por columna (D = 2). "Por columna" significa que cada atributo se agrega y se le aplica el ruido por separado (1 qubit), y los 7 ε se suman con el Teorema 4 (composición). La última columna es el cociente cota teórica / ε experimental: 1.13 en la publicación conjunta, 1.46 en el depolarizante por columna, 1.97 en PAD y 2.65 en GAD. En todos los casos es mayor que 1: el experimento nunca supera la cota. Lo que sigue explica dos cosas de esta tabla: por qué la publicación conjunta cuesta tanto más que la publicación por columna, y por qué el orden es depolarizante &lt; PAD &lt; GAD.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entre las dos formas de publicar el depolarizante (0.106 contra 0.0068) viene de la dimensión D en la cota del Teorema 3: ε = ln[1 + ((1−p)/p)·d·D]. Intuición, paso a paso: 1. El ruido mezcla con I/D, así que ningún resultado de medición tiene probabilidad menor que p/D. Ese es el "piso". 2. Dos vecinos difieren como mucho en (1−p)·d. 3. El cociente entre sus probabilidades queda acotado por 1 + (1−p)·d / (p/D), que es exactamente lo que está dentro del logaritmo. La dimensión conjunta crece como 2ⁿ (exponencial en el número de qubits), mientras que la suma por columnas crece como 2n (lineal). Con 7 qubits: 128 contra 14. Costo: publicar por columna cuesta menos ε, pero se pierden las correlaciones entre atributos, así que no se pueden hacer estudios conjuntos. Este mismo patrón (exponencial contra lineal) va a reaparecer en el Acto III cuando comparemos el diseño C con el diseño 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p = γ = 0.5, el orden es depolarizante &lt; PAD (λ = 0.25) &lt; GAD. Se explica por cuánto encoge cada canal el vector de Bloch en x e y: 0.5, 0.61 y 0.71. Cuanto más encoge, menos distinguibles quedan los estados y menor es ε. Las barras muestran el largo que le queda al vector (1 = no encoge): la más corta es la del depolarizante, que es también la de menor ε. Ojo: el orden vale para estos parámetros, no como ranking general de los mecanismos. Elección de λ: PAD con p = γ = 0.5 va desde GAD (λ = 0) hasta el depolarizante (λ = 0.5). λ = 0.25 es el punto medio y cumple la hipótesis λ ≤ γ del Teorema 2 del paper. Respaldo, por si preguntan: PAD con λ = γ = p = 0.5 coincide exactamente con el depolarizante de 1 qubit con p = 0.5. Ambos encogen el vector de Bloch por 0.5 en todas las direcciones, y las cotas también coinciden (ln(1 + 2d)). Dos implementaciones independientes dieron los mismos números hasta el decimal 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la cota es solo un número. Queremos ver qué significa ε en datos concretos, y para eso hay que volver al mundo clásico. Motivación: ya sabemos que ε cumple la cota. ¿Cómo se ve esa privacidad en los datos que recibiría un analista? Decuantizar = medir. En la simulación tenemos la distribución de probabilidad completa de cada qubit (la matriz de densidad). Quien recibe los datos en la realidad tiene que medir: el estado colapsa y entrega un solo resultado, 0 o 1. Gancho, adelantando la respuesta: la privacidad no se ve como un promedio que se mueve, sino como una estimación menos precisa. Una vez corregido el sesgo, el centro se mantiene y lo que crece es la dispersión: los valores quedan menos agrupados alrededor del centro. El histograma del Acto IV es la evidencia.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privacidad en datos clásicos hay que entender qué hace exactamente la medición: qué se gasta, qué se obtiene y qué se pierde ya desde la codificación.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del bloque: cada medición consume una copia del estado y entrega un solo bit. Medir una copia del estado agregado equivale a sortear una persona y medirla (siguiente diapositiva). Copias. Un estado cuántico no se puede copiar (teorema de no clonación), y al medirlo colapsa al resultado obtenido: se pierde la información sobre con qué probabilidad podía salir el otro. Por eso cada medición necesita una copia nueva del estado. Leer la matriz = infinitas copias. En la simulación se lee ρ″ completa y se calculan probabilidades exactas, con error cero. Con N mediciones el error es √(P(1−P)/N), que solo es cero con N → ∞. Leer la matriz es una herramienta de análisis, no algo que tenga quien recibe los datos.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Mezcla = sortear una persona. El estado agregado es ρ = (1/n)·Σᵢ ρᵢ. Para cualquier resultado Π: Tr(Π·ρ) = Σᵢ (1/n)·Tr(Π·ρᵢ) = Σᵢ P(persona i)·P(resultado | persona i). Es la ley de probabilidad total: medir una copia de ρ da exactamente las mismas probabilidades que sortear una persona al azar (cada una con probabilidad 1/n) y medir su estado. Esto es lo que justifica, más adelante, decir que en el diseño C cada copia medida "equivale a sortear una persona".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Mezcla contra superposición, con un ejemplo de dos personas: car = |+⟩ y real estate = |−⟩. Mezcla (lo que hace la agregación, suma de matrices): ½|+⟩⟨+| + ½|−⟩⟨−| = I/2. Medida en Z da 50/50, igual que sortear entre las dos personas. Superposición (suma de vectores, normalizada): (|+⟩ + |−⟩)/√2 = |0⟩. Medida en Z da siempre "0". Es otro estado, no "50 % cada persona". El punto: cuando agregamos personas sumamos matrices de densidad, no vectores de estado. Por eso la agregación se comporta como un sorteo clásico de personas, y no como una superposición coherente.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alcanza con simular 1 qubit. Con el depolarizante global de 7 qubits, la traza parcial sobre los otros 6 da ρ″₀ = (1−p)·ρ₀ + p·I/2: un depolarizante de 1 qubit con el mismo p. La cuenta solo usa la linealidad de la traza parcial y que Tr(I/2) = 1, así que vale para cualquier ρ, aunque haya correlaciones o entrelazamiento. Como solo se mide y publica el qubit de collateral, el ε se calcula con D = 2. Lo mismo vale para GAD y PAD, que se aplican qubit por qubit (canal producto E₀ ⊗ … ⊗ E₆, ver la demostración de la semana 8): Tr_resto[(E₀ ⊗ … ⊗ E₆)(ρ)] = E₀(ρ₀), porque los canales de los otros qubits preservan la traza. Tampoco requiere que ρ sea producto. Esto será útil en el Acto V: en el computador de 2 qubits, aplicar GAD a cada qubit y medir uno equivale a GAD de 1 qubit.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nuevo: pipeline del diseño L (reemplaza al "Pipeline completo" de la semana 8). 1. Datos: columna collateral, 1000 personas, 4 categorías. 2. Codificar: cada persona → 1 qubit en el ecuador (H + RZ(2πk/4)). 3. Dos ramas: B sin ruido (p = 0, referencia) y C con depolarizante de 1 qubit (p = 0.5). 4. Medir en base X, una vez por persona: cada persona entrega "+" o "−". 5. Estadística por repetición: F = fracción de "+". En C se corrige: F̂ = (F_C − p/2)/(1 − p). 6. Repetir el experimento 2000 veces → distribución de F_B y de F̂ → histograma. Terminología: hablo de "repeticiones del experimento". Cada repetición es una publicación posible, donde cada persona se mide una sola vez. No uso "shots", porque se lee como medir muchas veces a la misma persona, que es justo lo que rompe la privacidad (lo vemos en el Acto III).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del bloque: aun sin ruido, una medición no recupera la categoría de collateral. Esa pérdida viene de la codificación, no de la privacidad. Por eso la referencia es B (codificado y medido sin ruido) y no el CSV. Codificación: car → |+⟩, none → |+i⟩, real estate → |−⟩, savings → |−i⟩. Son 4 puntos en el ecuador, separados 90°. En un qubit (dimensión 2) caben como mucho 2 estados ortogonales entre sí. Con 4 categorías, ninguna medición las distingue sin error. Medición en base X, sin ruido: car da "+" siempre (P(+) = 1), real estate nunca (0), y none y savings dan "+" la mitad de las veces (½). Lo que estima F: E[F] = P(car)·1 + P(none)·½ + P(real estate)·0 + P(savings)·½ = 0.45. Es una sola combinación de las proporciones, no los 4 conteos: un número para 3 incógnitas, y none y savings entran con el mismo peso.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Incertidumbre sin ruido (Bayes): si una persona da "+", P(car | +) = 1 · 0.232 / 0.45 ≈ 0.52. Casi una moneda. Y esto es sin ningún ruido de privacidad: viene de la codificación, porque none y savings también dan "+" la mitad de las veces. Por eso trabajamos con tres versiones de los datos: A = CSV (datos originales). B = codificado y medido sin ruido (p = 0). C = codificado y medido con ruido (p = 0.5). A–B aísla el costo de la codificación y la medición. B–C aísla el efecto del ruido de privacidad. Es la comparación del histograma. A–C mezcla los dos efectos, y le atribuiría a la privacidad un error que en realidad viene de la codificación.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medición entendida, buscamos dónde aparece la privacidad: primero en un solo qubit, después en lo que aprende un atacante con una o muchas mediciones, y al final en los dos diseños posibles para decuantizar.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del bloque: el ruido corre el promedio hacia ½, pero ese corrimiento es determinista y se corrige conociendo p. Lo que no se puede corregir es la dispersión (siguiente diapositiva). Una persona: P″(+) = (1−p)·P(+) + p/2. Con p = 0.5: car pasa de 1 a 0.75, none y savings se quedan en ½, real estate pasa de 0 a 0.25. Con p = 1, todas dan ½. Promediando sobre las personas: E[F_C] = (1−p)·E[F_B] + p/2. Restando ½ a ambos lados: E[F_C] − ½ = (1−p)·(E[F_B] − ½). - El ruido multiplica la distancia a ½ por (1−p): empuja hacia ½, que es el valor del estado totalmente mezclado (no hacia el promedio de los datos). - (1−p) es el mismo factor con que el depolarizante encoge el vector de Bloch. - Con collateral el corrimiento es chico (0.45 → 0.475) porque 0.45 ya estaba cerca de ½. Si E[F_B] fuera 0.9, el mismo ruido lo llevaría a 0.7.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el ruido corre el promedio hacia ½, pero ese corrimiento es determinista y se corrige conociendo p. Lo que no se puede corregir es la dispersión: la estimación corregida F̂ queda centrada en el valor verdadero, pero unas 2.8 veces más ancha. Ese ancho es el costo en utilidad de la privacidad. Corrección: F̂ = (F_C − p/2)/(1−p). Solo usa lo medido (F_C) y el parámetro público p, no el valor verdadero. Es un estimador insesgado, como en el randomized response clásico. Dos efectos del mismo ruido: - Centro: se corre hacia ½, de forma determinista, y se corrige. - Dispersión: aumenta, y no se corrige. Cada persona se vuelve una moneda más impredecible: la varianza P(1−P) de car pasa de 0 a 0.1875, y la de real estate igual. El ancho extra tiene dos fuentes (números de la simulación, diseño L): - F_B (sin ruido): centro 0.450, std 0.0103. - F_C (con ruido, sin corregir): centro 0.475, std 0.0143, ×1.4 respecto de F_B (el ruido). - F̂ (corregido): centro 0.450, std 0.0285, ×2.8 (ruido × corrección, que multiplica por 1/(1−p) = 2). Frase clave: F̂ no devuelve el mismo número que F_B. Apunta en promedio al mismo valor, pero en cada repetición cae más lejos. Las barras del gráfico van de centro − 2·std a centro + 2·std; la línea punteada marca 0.45, el valor esperado sin ruido.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del bloque: ε dice cuánto puede cambiar la creencia de un atacante al ver un resultado: como máximo un factor e^ε en sus odds, sepa lo que sepa de antemano. Con collateral y p = 0.5, un factor 3. La garantía se rompe al medir varias veces a la misma persona (siguientes diapositivas). Construcción paso a paso. El atacante sabe que A tiene car o real estate, y ve un solo resultado "+". 1. Con ruido (p = 0.5): P(+ | car) = 0.75 y P(+ | real estate) = 0.25. El cociente es 3. 2. Sin ruido: P(+ | car) = 1 y P(+ | real estate) = 0. El cociente es ∞: un "+" revela con certeza que A tiene car (ε = ∞). 3. Teorema 3 para un qubit: D = 2, d = 1 porque |+⟩ y |−⟩ son ortogonales, p = 0.5. ε = ln(1 + 2) = ln 3 ≈ 1.10, y e^ε = 3. Coincide con el cociente: para este par la cota se alcanza.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Bayes: odds después = odds antes × cociente. La garantía no depende de lo que sepa el atacante: - Sin información (odds 1): tras un "+" las odds pasan a 3. - Con las proporciones del dataset (0.232/0.332 = 0.70): tras un "+" quedan en ≈ 2.1. - En cualquier caso, un resultado multiplica las odds como máximo por 3. Inclina, pero no decide. 5. La misma persona medida 10 veces, con 10 "+": las odds se multiplican por 3¹⁰ ≈ 59 000, y el atacante queda prácticamente seguro. Equivale a ε_total = 10·ln 3 ≈ 11 (composición, Teorema 4). La garantía se rompe al medir varias veces a la misma persona, porque cada lectura vuelve a multiplicar: k mediciones cuestan k·ε.</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Contraste entre medir a la misma persona muchas veces y medir a muchas personas una vez cada una. La misma persona, 10 veces: 10 resultados dependen de A; ε sobre A = 10·ln 3 ≈ 11 por composición (Teorema 4); el atacante aprende la categoría de A casi con certeza; el analista no gana nada útil. 1000 personas, una vez cada una: solo 1 resultado depende de A; ε sobre A = ln 3 ≈ 1.10 por composición paralela; el atacante aprende un factor 3 como máximo; el analista recupera la estadística de la población (F̂). Composición paralela: mecanismos sobre datos disjuntos (uno por persona) no acumulan ε. Si se saca a A, cambia solo su resultado; los otros 999 no dependen de A. En la población, A aporta 1/1000 = 0.001 a F, que queda enterrado en una dispersión de ≈ 0.014.</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del bloque: en C, A aparece un poco en cada copia, así que estimar una estadística con N copias cuesta N·ε. En L, A aparece entera en un solo resultado y cuesta un solo ε. El costo de C crece con D y el de L con ln D: con 1 qubit son comparables, y con 7 qubits C es inutilizable (ε_total = 106) mientras L es unas 5 veces más preciso a igual ε. Si quien recibe el estado consume una sola copia sin decuantizar, el ε por copia del modelo central es mucho mejor que el de L. Lo que decide es cuántas copias se consumen. Los dos diseños: - C (central): se miden N copias del estado agregado con ruido ρ″. Cada copia equivale a sortear una persona (Acto II). Si se saca a A, cambian las N copias, porque A está un poco en todas: composición (Teorema 4), ε_total = N·ε_por_copia. - L (local): cada persona se codifica, recibe su ruido y se mide una vez. Si se saca a A, cambia solo su resultado: composición paralela, ε_total = ε de una persona. Frase para recordar: "en C, A está un poco siempre; en L, A está mucho una vez". Decisión: solo se simuló L. C se reporta con cálculos analíticos.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1 qubit (solo collateral, coherente con el histograma), N = 1000. Diseño C: ε total 0.61 experimental y 1.13 de cota, con ε por copia 0.000608 (exp) y 0.00113 (cota). std(F̂) = 0.0316. Diseño L: ε total 1.10 (experimental = cota, ln 3). std(F̂) = 0.0293. Ninguno domina: C gasta menos ε medido, L es un poco más preciso. Detalle: en C la línea base también es más ancha, std(F_B) ≈ 0.0157 contra 0.0104 en L, porque el sorteo con reposición agrega varianza. Recordatorio: C se reporta con cálculos analíticos; solo L se simuló.</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7 qubits (publicación conjunta, D = 128). El ε por copia es 0.106 (Acto I). - Con N = 1000: ε_total = 106, y e^106 ≈ 10⁴⁶. No queda garantía. - Para ε_total ≈ 1 harían falta N ≈ 9 copias, y entonces std(F̂) ≈ 0.33: el intervalo 0.45 ± 2·std cubre todos los valores posibles. Inútil. - A igual ε que L (cota ln 129 ≈ 4.86): N ≈ 46 copias, y std(F̂) ≈ 0.15, contra 0.029 en L. L es unas 5 veces más preciso. Nota honesta: el ε de L con 7 qubits es solo la cota (ln 129). Su cálculo experimental queda fuera de alcance y está en los pasos a seguir.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escalan distinto. Supuestos: d ≈ 1/n en C (A pesa 1/n en el estado agregado), d = 1 en L, (1−p)/p = 1 con p = 0.5, y N = n. C: ε_total ≈ N·ln(1 + D/n) ≈ D. L: ε = ln(1 + D). D = 2 (1 qubit): C ≈ 2 (con el d real, 1.13); L = 1.10. Cociente ≈ 1–2×. D = 128 (7 qubits): C ≈ 120 (con el d real, 106); L = 4.86 (cota). Cociente ≈ 25×. Con D = 2ⁿ, el costo de C crece exponencialmente con el número de qubits y el de L linealmente (ln 2ⁿ = n·ln 2). Es el mismo patrón del Acto I: estado conjunto contra suma por columnas.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Cuándo C sigue siendo bueno: si un proceso cuántico consume una sola copia de ρ″ sin decuantizar, la garantía es el ε por copia (0.106 con 7 qubits), mucho mejor que la de L. La línea divisoria no es cuántico contra clásico, sino cuántas copias consume quien recibe el estado. Un algoritmo cuántico que necesite estimar algo con precisión también consume muchas copias y paga N·ε. Con esto cierra el Acto III: sabemos dónde está la privacidad (en la dispersión, no en el centro), qué la rompe (medir varias veces a la misma persona) y por qué L escala mejor que C cuando hay que decuantizar.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los resultados: primero el ε del diseño L para todas las variables categóricas, y después el experimento completo de collateral, que termina en el histograma.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del bloque: el ε del diseño L de una variable categórica lo fija su par de categorías más separado. Con K par siempre hay un par opuesto, y ε = ln 3 con la cota alcanzada. Con K impar queda algo por debajo, pero esa ventaja desaparece al crecer K. La utilidad, en cambio, la fijan los pares vecinos: al meter más categorías en un qubit quedan más apretadas y una medición dice menos. purpose (K = 10) tiene la misma privacidad que collateral, pero peor utilidad. Método: diseño L, 1 qubit por variable (D = 2), depolarizante p = 0.5. Para cada variable se codifican sus K categorías (φₖ = 2πk/K en el ecuador), se calculan todos los pares (k, j), y para cada uno ε_exp = máx(dPD en las dos direcciones), comparado con la cota del Teorema 3. El ε de la variable es el máximo sobre los pares. Se comprobó en todos los pares que ε_exp ≤ ε_teo. Archivo: Experiment/tests/LocalDepolarizingFull.py. Tabla: housing (K = 3, 120°, d = 0.866): cota 1.0051, experimental 0.9624, no se alcanza. collateral (K = 4, 180°, d = 1): 1.0986 y 1.0986, se alcanza. credit_history (K = 5, 144°, d = 0.951): 1.0654 y 1.0494, no. purpose (K = 10, 180°, d = 1): 1.0986 y 1.0986, sí. Se reporta la separación y no el par (i, j): en K = 3 y K = 10 hay pares empatados, y cuál gana depende del ruido numérico de dPD.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Explicación paso a paso. Para dos estados del ecuador separados por Δ: |⟨ψ|φ⟩|² = cos²(Δ/2), así que d = sin(Δ/2), que crece con Δ hasta 180°. El peor caso es el par más separado (la cuerda azul en cada dibujo). En la esfera de Bloch, dos puntos opuestos (180°) son estados ortogonales: d = 1, y existe una medición que los separa perfectamente antes del ruido. Por eso ahí la cota se alcanza. Con menos de 180° esa medición no existe y el ε real queda por debajo de la cota (como los vecinos a 90° de collateral: 0.7954 contra 0.8814). K par: avanzar K/2 pasos de 2π/K da exactamente π, así que siempre hay un par opuesto (K = 4 y K = 10, marcos negros). K impar: el máximo son (K−1)/2 pasos, un ángulo de (K−1)/K · 180° &lt; 180° (K = 3 y K = 5). Al crecer K impar, el peor par se acerca a 180° (K = 21 → 171.4°) y el ε tiende a ln 3: la ventaja de K impar desaparece.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Privacidad contra utilidad: la privacidad depende del par más separado; la utilidad, de los pares vecinos (separación 360°/K). collateral (K = 4) y purpose (K = 10) tienen exactamente el mismo ε, ln 3 ≈ 1.10, porque las dos tienen un par opuesto. Pero en collateral las vecinas están a 90° y en purpose a 36°: más apretadas, y una medición dice menos sobre cuál de ellas era. Meter más categorías en un qubit no cambia el ε, pero empeora la lectura: la probabilidad condicional de acertar la categoría baja. Detalle: con menos de 180° no existe una medición que separe perfectamente los dos estados, y el ε real queda por debajo de la cota. Por ejemplo, los vecinos a 90° de collateral: 0.7954 contra 0.8814.</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del bloque: la simulación reproduce los valores teóricos de centro y dispersión. En el histograma, la estimación corregida F̂ queda centrada en el mismo valor que la referencia sin ruido (0.45), pero unas 2.8 veces más ancha: con ε = ln 3, la privacidad no sesga la estadística de la población, la vuelve menos precisa. Implementación (Experiment/tests/DequantCollateral.py): 1 qubit por persona (H + RZ(2πk/4)), depolarizante p = 0.5, Pᵢ(+) = ⟨+|ρᵢ″|+⟩ por regla de Born, muestreo de 2000 × 1000 mediciones con numpy (semilla 8, la misma matriz de uniformes para B y C). Comprobación previa: los valores únicos de Pᵢ(+) son {0, ½, 1} sin ruido y {0.25, 0.5, 0.75} con ruido, como predice P″(+) = (1−p)·P(+) + p/2. Por qué 2000 repeticiones: el error relativo de una std estimada con R repeticiones es ≈ 1/√(2R) = 1.6 % con R = 2000. Las diferencias que vamos a ver entre teoría y simulación (1.6 % a 2.7 %) son fluctuación normal.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Teoría contra simulación (2000 repeticiones): - Centro de F_B: teoría 0.45, simulación 0.4500. - Centro de F_C: teoría 0.475, simulación 0.4751. - Centro de F̂: teoría 0.45, simulación 0.4502. - std de F_B: teoría 0.0104, simulación 0.0103. - std de F_C: teoría 0.0147, simulación 0.0143. - std de F̂: teoría 0.0293, simulación 0.0285. De dónde sale la std teórica: Var(F) = (1/n²)·Σₖ nₖ·Pₖ·(1−Pₖ). Sin ruido, car y real estate son deterministas y no aportan; solo none y savings (P = ½): Var = (282 + 154)·¼ / 1000² = 1.09·10⁻⁴, y std = 0.0104. Por qué 2000 repeticiones: el error relativo de una std estimada con R repeticiones es ≈ 1/√(2R) = 1.6 % con R = 2000. Las diferencias observadas (1.6 % a 2.7 %) son fluctuación normal.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histograma (Experiment/imgs/histograma_collateral.png): F_B y F̂ con los mismos bordes de bins (ancho 0.004, desplazado 0.0005), con una línea en el valor esperado sin ruido (0.45), y ε = 1.10 y p = 0.5 en el título. Mensaje: la simulación reproduce los valores teóricos de centro y dispersión. La estimación corregida F̂ queda centrada en el mismo valor que la referencia sin ruido (0.45), pero unas 2.8 veces más ancha. Con ε = ln 3, la privacidad no sesga la estadística de la población: la vuelve menos precisa. Esta es la evidencia del adelanto del Acto I: la privacidad no se ve como un promedio que se mueve, sino como una estimación menos precisa. Ojo al leerlo: cada valor del histograma es la estadística de la población en una repetición, no una persona. El histograma muestra la precisión de la estimación poblacional; el efecto sobre un individuo es el del Acto III (una medición contra muchas).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acto: el segundo paso que quedó de la semana 8 (ruidos en hardware real), que es trabajo en curso, y el cierre con conclusiones y pasos a seguir.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del bloque (versión resumida, trabajo en curso): en hardware solo hay compuertas unitarias y mediciones. Para aplicar ruido hay que construirlo con una dilatación de Stinespring. Existe un circuito probado para GAD, pero usa 3 qubits y el computador de la universidad tiene 2: esa es la pregunta abierta de esta semana. En la simulación los canales se aplican como matrices. En hardware, un canal no unitario se construye así: sistema + entorno en un estado puro → unitario conjunto → se descarta el entorno sin medirlo (traza parcial). El qubit resultante queda en el estado mixto con ruido. Por si un asesor pregunta: un estado mixto no siempre requiere Stinespring. El depolarizante es una mezcla de Paulis al azar (1 qubit + aleatoriedad clásica). Stinespring es necesario cuando el canal no es una mezcla de unitarios (GAD con p genérico).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 F. Chapeau-Blondeau, "Modeling and simulation of a quantum thermal noise on the qubit", Fluctuation and Noise Letters 21 (2022) 2250060 (arXiv:2212.03582). - Circuito de 3 qubits: el qubit Q, un qubit de entorno E y un auxiliar. El auxiliar deja a E en el estado térmico p|0⟩⟨0| + (1−p)|1⟩⟨1|: se prepara |p⟩ = √p|0⟩ + √(1−p)|1⟩, una CNOT los entrelaza y se descarta uno. - 5 CNOT y rotaciones RY. p se controla con el estado |p⟩ y γ con el ángulo ξ = −arcsin √γ. - Probado en ibmq_bogota con 10⁴ mediciones por punto: coincide con la teoría, con desviaciones atribuibles al ruido propio del procesador. Restricción propia: el computador cuántico de la universidad tiene 2 qubits. Pregunta abierta: cómo implementar GAD (y el depolarizante) con p = 0.5 dentro de ese límite. Recordar del Acto II: aplicar GAD a cada qubit y medir uno equivale a GAD de 1 qubit. Esta semana: prueba de concepto, comparando las probabilidades medidas contra las teóricas. Por si preguntan: si el computador es de resonancia magnética nuclear (ensamble), la lectura entrega probabilidades directamente y no resultados uno por uno. Para la prueba de concepto de GAD sirve igual, pero hay que mencionarlo.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Conclusiones, en tono de cierre de tesis. 1. Los mecanismos cumplen la teoría. En los tres mecanismos de privacidad diferencial cuántica (depolarizante, PAD y GAD), el ε experimental quedó por debajo de la cota teórica, en todas las columnas y en las dos formas de publicar. La cota se alcanza solo para pares de estados ortogonales. El ruido cuántico puede proteger datos clásicos codificados en estados cuánticos con la garantía que predice la teoría. 2. Consumo cuántico. Si un proceso cuántico consume una o pocas copias del estado privatizado, la garantía del modelo central es muy fuerte (ε ≈ 0.1 por copia con los 7 qubits). 3. Decuantización: volver al mundo clásico exige medir, y la forma de hacerlo determina el costo en privacidad. La siguiente diapositiva compara los dos diseños. Decidido: la pregunta de por qué la cota es más holgada en GAD que en el depolarizante queda fuera de la presentación. Si los asesores la plantean, anotarla como pregunta abierta.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Decuantización: volver al mundo clásico exige medir, y la forma de hacerlo determina el costo en privacidad. Diseño C (central) - A favor: ε por copia muy pequeño. Con una copia, el atacante gana muy poca certeza adicional. - En contra: decuantizar exige muchas copias y cada una suma ε (N·ε). N es una perilla: más copias dan más utilidad y menos privacidad. El costo crece con D (exponencial en el número de qubits): con 7 qubits es inutilizable (ε_total = 106 con N = 1000). Requiere un curador que reúna todos los estados para agregarlos. El sorteo de personas agrega varianza. - Cuándo conviene: cuando se consumen pocas copias, o se sigue trabajando con los datos en el mundo cuántico. Diseño L (local) - A favor: cada persona aparece en un solo resultado (composición paralela), así que el ε no crece con el número de personas ni de publicaciones. Su costo crece con ln D (lineal en el número de qubits). No necesita un curador de confianza: cada persona puede aplicar su ruido, medir y entregar solo el resultado. - En contra: el ε por persona es más alto que el ε por copia del central (con 1 qubit: ln 3 ≈ 1.10 contra 0.0006). - Cuándo conviene: cuando se necesitan estadísticas sobre datos clásicos (muchas muestras). Matiz: con 1 qubit los dos diseños son comparables (Acto III). La ventaja de L aparece y crece con la dimensión.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a seguir: 1. Prueba de concepto en hardware real (computador de 2 qubits de la universidad): GAD y, posiblemente, el depolarizante. 2. Variables numéricas (credit_amount): qué estadística entrega realmente la medición. RY(θ) medido en Z da sin²(θ/2), no el valor original. 3. ε del diseño L experimental con los 7 qubits completos (hoy solo se tiene la cota ln 129). 4. Documentar en la tesis los dos modelos de publicación (conjunto y por columna) y por qué se usa cada uno. Quedaron fuera de alcance de esta presentación: credit_amount y las variables numéricas, y el ε del diseño L con los 7 qubits completos. Por eso aparecen aquí.</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D1D1B"/>
                </a:solidFill>
                <a:latin typeface="DM Sans" pitchFamily="34" charset="0"/>
                <a:ea typeface="DM Sans" pitchFamily="34" charset="-122"/>
                <a:cs typeface="DM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508720"/>
            <a:ext cx="10566400" cy="4536480"/>
          </a:xfrm>
          <a:prstGeom prst="rect">
            <a:avLst/>
          </a:prstGeom>
          <a:noFill/>
          <a:ln/>
        </p:spPr>
        <p:txBody>
          <a:bodyPr wrap="square" lIns="0" tIns="0" rIns="0" bIns="0" rtlCol="0" anchor="t"/>
          <a:lstStyle>
            <a:lvl1pPr marL="0" indent="0" algn="l">
              <a:lnSpc>
                <a:spcPct val="140000"/>
              </a:lnSpc>
              <a:buNone/>
              <a:defRPr lang="en-US" sz="1600" dirty="0">
                <a:solidFill>
                  <a:srgbClr val="3C3C3B"/>
                </a:solidFill>
                <a:latin typeface="Roboto" pitchFamily="34" charset="0"/>
                <a:ea typeface="Roboto" pitchFamily="34" charset="-122"/>
                <a:cs typeface="Robo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D1D1B"/>
                </a:solidFill>
                <a:latin typeface="DM Sans" pitchFamily="34" charset="0"/>
                <a:ea typeface="DM Sans" pitchFamily="34" charset="-122"/>
                <a:cs typeface="DM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508720"/>
            <a:ext cx="10566400" cy="4536480"/>
          </a:xfrm>
          <a:prstGeom prst="rect">
            <a:avLst/>
          </a:prstGeom>
          <a:noFill/>
          <a:ln/>
        </p:spPr>
        <p:txBody>
          <a:bodyPr wrap="square" lIns="0" tIns="0" rIns="0" bIns="0" rtlCol="0" anchor="t"/>
          <a:lstStyle>
            <a:lvl1pPr marL="0" indent="0" algn="l">
              <a:lnSpc>
                <a:spcPct val="140000"/>
              </a:lnSpc>
              <a:buNone/>
              <a:defRPr lang="en-US" sz="1600" dirty="0">
                <a:solidFill>
                  <a:srgbClr val="3C3C3B"/>
                </a:solidFill>
                <a:latin typeface="Roboto" pitchFamily="34" charset="0"/>
                <a:ea typeface="Roboto" pitchFamily="34" charset="-122"/>
                <a:cs typeface="Robo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2.png"/><Relationship Id="rId7"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2000" cy="4191000"/>
          </a:xfrm>
          <a:prstGeom prst="rect">
            <a:avLst/>
          </a:prstGeom>
        </p:spPr>
      </p:pic>
      <p:sp>
        <p:nvSpPr>
          <p:cNvPr id="4" name="Text 1"/>
          <p:cNvSpPr>
            <a:spLocks noGrp="1"/>
          </p:cNvSpPr>
          <p:nvPr>
            <p:ph type="title"/>
          </p:nvPr>
        </p:nvSpPr>
        <p:spPr>
          <a:xfrm>
            <a:off x="3582924" y="2184400"/>
            <a:ext cx="7796276" cy="947341"/>
          </a:xfrm>
          <a:prstGeom prst="rect">
            <a:avLst/>
          </a:prstGeom>
          <a:noFill/>
          <a:ln/>
        </p:spPr>
        <p:txBody>
          <a:bodyPr wrap="square" lIns="0" tIns="0" rIns="0" bIns="0" rtlCol="0" anchor="t">
            <a:normAutofit/>
          </a:bodyPr>
          <a:lstStyle/>
          <a:p>
            <a:pPr marL="0" indent="0" algn="r">
              <a:lnSpc>
                <a:spcPts val="7260"/>
              </a:lnSpc>
              <a:buNone/>
            </a:pPr>
            <a:r>
              <a:rPr lang="en-US" sz="6600" b="1" i="0" kern="0" spc="-150" dirty="0">
                <a:solidFill>
                  <a:srgbClr val="1D1D1B"/>
                </a:solidFill>
                <a:latin typeface="DM Sans" pitchFamily="34" charset="0"/>
                <a:ea typeface="DM Sans" pitchFamily="34" charset="-122"/>
                <a:cs typeface="DM Sans" pitchFamily="34" charset="-120"/>
              </a:rPr>
              <a:t>Avances </a:t>
            </a:r>
            <a:r>
              <a:rPr lang="en-US" sz="6600" b="1" i="0" kern="0" spc="-150" dirty="0" err="1">
                <a:solidFill>
                  <a:srgbClr val="1D1D1B"/>
                </a:solidFill>
                <a:latin typeface="DM Sans" pitchFamily="34" charset="0"/>
                <a:ea typeface="DM Sans" pitchFamily="34" charset="-122"/>
                <a:cs typeface="DM Sans" pitchFamily="34" charset="-120"/>
              </a:rPr>
              <a:t>semana</a:t>
            </a:r>
            <a:r>
              <a:rPr lang="en-US" sz="6600" b="1" i="0" kern="0" spc="-150" dirty="0">
                <a:solidFill>
                  <a:srgbClr val="1D1D1B"/>
                </a:solidFill>
                <a:latin typeface="DM Sans" pitchFamily="34" charset="0"/>
                <a:ea typeface="DM Sans" pitchFamily="34" charset="-122"/>
                <a:cs typeface="DM Sans" pitchFamily="34" charset="-120"/>
              </a:rPr>
              <a:t> 10</a:t>
            </a:r>
            <a:endParaRPr lang="en-US" sz="6600" dirty="0"/>
          </a:p>
        </p:txBody>
      </p:sp>
      <p:sp>
        <p:nvSpPr>
          <p:cNvPr id="5" name="Text 2"/>
          <p:cNvSpPr/>
          <p:nvPr/>
        </p:nvSpPr>
        <p:spPr>
          <a:xfrm>
            <a:off x="3582924" y="3251200"/>
            <a:ext cx="7796276" cy="360660"/>
          </a:xfrm>
          <a:prstGeom prst="rect">
            <a:avLst/>
          </a:prstGeom>
          <a:noFill/>
          <a:ln/>
        </p:spPr>
        <p:txBody>
          <a:bodyPr wrap="square" lIns="0" tIns="0" rIns="0" bIns="0" rtlCol="0" anchor="t">
            <a:normAutofit/>
          </a:bodyPr>
          <a:lstStyle/>
          <a:p>
            <a:pPr marL="0" indent="0" algn="r">
              <a:lnSpc>
                <a:spcPts val="2640"/>
              </a:lnSpc>
              <a:buNone/>
            </a:pPr>
            <a:r>
              <a:rPr lang="en-US" sz="2200" dirty="0">
                <a:solidFill>
                  <a:srgbClr val="1D1D1B"/>
                </a:solidFill>
                <a:latin typeface="DM Sans" pitchFamily="34" charset="0"/>
                <a:ea typeface="DM Sans" pitchFamily="34" charset="-122"/>
                <a:cs typeface="DM Sans" pitchFamily="34" charset="-120"/>
              </a:rPr>
              <a:t>Decuantización y hardware real</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AVANCES SEMANA 9</a:t>
            </a:r>
            <a:endParaRPr lang="en-US" sz="1200" dirty="0"/>
          </a:p>
        </p:txBody>
      </p:sp>
      <p:pic>
        <p:nvPicPr>
          <p:cNvPr id="5"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6" name="Text 3"/>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Hoja de ruta</a:t>
            </a:r>
            <a:endParaRPr lang="en-US" sz="2800" dirty="0"/>
          </a:p>
        </p:txBody>
      </p:sp>
      <p:sp>
        <p:nvSpPr>
          <p:cNvPr id="7" name="Text 4"/>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La semana 8 cerró con tres pasos a seguir. Hoy avanzamos en los dos primeros.</a:t>
            </a:r>
            <a:endParaRPr lang="en-US" sz="1800" dirty="0"/>
          </a:p>
        </p:txBody>
      </p:sp>
      <p:sp>
        <p:nvSpPr>
          <p:cNvPr id="8" name="Text 5"/>
          <p:cNvSpPr/>
          <p:nvPr/>
        </p:nvSpPr>
        <p:spPr>
          <a:xfrm>
            <a:off x="812800" y="1918891"/>
            <a:ext cx="775891"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D1D1B"/>
                </a:solidFill>
                <a:latin typeface="Roboto" pitchFamily="34" charset="0"/>
                <a:ea typeface="Roboto" pitchFamily="34" charset="-122"/>
                <a:cs typeface="Roboto" pitchFamily="34" charset="-120"/>
              </a:rPr>
              <a:t>Semana 8:</a:t>
            </a:r>
            <a:endParaRPr lang="en-US" sz="1200" dirty="0"/>
          </a:p>
        </p:txBody>
      </p:sp>
      <p:sp>
        <p:nvSpPr>
          <p:cNvPr id="9" name="Text 6"/>
          <p:cNvSpPr/>
          <p:nvPr/>
        </p:nvSpPr>
        <p:spPr>
          <a:xfrm>
            <a:off x="1642666" y="1859855"/>
            <a:ext cx="2309019" cy="331391"/>
          </a:xfrm>
          <a:prstGeom prst="roundRect">
            <a:avLst>
              <a:gd name="adj" fmla="val 14371"/>
            </a:avLst>
          </a:prstGeom>
          <a:solidFill>
            <a:srgbClr val="F4F4F2"/>
          </a:solidFill>
          <a:ln w="6350">
            <a:solidFill>
              <a:srgbClr val="E3E3DF"/>
            </a:solidFill>
            <a:prstDash val="solid"/>
          </a:ln>
        </p:spPr>
        <p:txBody>
          <a:bodyPr wrap="none" lIns="0" tIns="0" rIns="0" bIns="0" rtlCol="0" anchor="ctr">
            <a:normAutofit/>
          </a:bodyPr>
          <a:lstStyle/>
          <a:p>
            <a:pPr marL="0" indent="0" algn="ctr">
              <a:lnSpc>
                <a:spcPts val="1560"/>
              </a:lnSpc>
              <a:buNone/>
            </a:pPr>
            <a:r>
              <a:rPr lang="en-US" sz="1200" dirty="0">
                <a:solidFill>
                  <a:srgbClr val="1D1D1B"/>
                </a:solidFill>
                <a:latin typeface="Roboto" pitchFamily="34" charset="0"/>
                <a:ea typeface="Roboto" pitchFamily="34" charset="-122"/>
                <a:cs typeface="Roboto" pitchFamily="34" charset="-120"/>
              </a:rPr>
              <a:t>1 · Decuantizar → Actos II a IV</a:t>
            </a:r>
            <a:endParaRPr lang="en-US" sz="1200" dirty="0"/>
          </a:p>
        </p:txBody>
      </p:sp>
      <p:sp>
        <p:nvSpPr>
          <p:cNvPr id="10" name="Text 7"/>
          <p:cNvSpPr/>
          <p:nvPr/>
        </p:nvSpPr>
        <p:spPr>
          <a:xfrm>
            <a:off x="4059634" y="1859855"/>
            <a:ext cx="2782987" cy="331391"/>
          </a:xfrm>
          <a:prstGeom prst="roundRect">
            <a:avLst>
              <a:gd name="adj" fmla="val 14371"/>
            </a:avLst>
          </a:prstGeom>
          <a:solidFill>
            <a:srgbClr val="F4F4F2"/>
          </a:solidFill>
          <a:ln w="6350">
            <a:solidFill>
              <a:srgbClr val="E3E3DF"/>
            </a:solidFill>
            <a:prstDash val="solid"/>
          </a:ln>
        </p:spPr>
        <p:txBody>
          <a:bodyPr wrap="none" lIns="0" tIns="0" rIns="0" bIns="0" rtlCol="0" anchor="ctr">
            <a:normAutofit/>
          </a:bodyPr>
          <a:lstStyle/>
          <a:p>
            <a:pPr marL="0" indent="0" algn="ctr">
              <a:lnSpc>
                <a:spcPts val="1560"/>
              </a:lnSpc>
              <a:buNone/>
            </a:pPr>
            <a:r>
              <a:rPr lang="en-US" sz="1200" dirty="0">
                <a:solidFill>
                  <a:srgbClr val="1D1D1B"/>
                </a:solidFill>
                <a:latin typeface="Roboto" pitchFamily="34" charset="0"/>
                <a:ea typeface="Roboto" pitchFamily="34" charset="-122"/>
                <a:cs typeface="Roboto" pitchFamily="34" charset="-120"/>
              </a:rPr>
              <a:t>2 · Ruidos en kernels reales → Acto V</a:t>
            </a:r>
            <a:endParaRPr lang="en-US" sz="1200" dirty="0"/>
          </a:p>
        </p:txBody>
      </p:sp>
      <p:sp>
        <p:nvSpPr>
          <p:cNvPr id="11" name="Text 8"/>
          <p:cNvSpPr/>
          <p:nvPr/>
        </p:nvSpPr>
        <p:spPr>
          <a:xfrm>
            <a:off x="6950571" y="1859855"/>
            <a:ext cx="1903512" cy="331391"/>
          </a:xfrm>
          <a:prstGeom prst="roundRect">
            <a:avLst>
              <a:gd name="adj" fmla="val 14371"/>
            </a:avLst>
          </a:prstGeom>
          <a:solidFill>
            <a:srgbClr val="FFFFFF"/>
          </a:solidFill>
          <a:ln w="6350">
            <a:solidFill>
              <a:srgbClr val="B9B9B5"/>
            </a:solidFill>
            <a:prstDash val="dash"/>
          </a:ln>
        </p:spPr>
        <p:txBody>
          <a:bodyPr wrap="none" lIns="0" tIns="0" rIns="0" bIns="0" rtlCol="0" anchor="ctr">
            <a:normAutofit/>
          </a:bodyPr>
          <a:lstStyle/>
          <a:p>
            <a:pPr marL="0" indent="0" algn="ctr">
              <a:lnSpc>
                <a:spcPts val="1560"/>
              </a:lnSpc>
              <a:buNone/>
            </a:pPr>
            <a:r>
              <a:rPr lang="en-US" sz="1200" dirty="0">
                <a:solidFill>
                  <a:srgbClr val="6E6E6C"/>
                </a:solidFill>
                <a:latin typeface="Roboto" pitchFamily="34" charset="0"/>
                <a:ea typeface="Roboto" pitchFamily="34" charset="-122"/>
                <a:cs typeface="Roboto" pitchFamily="34" charset="-120"/>
              </a:rPr>
              <a:t>3 · Documentar → cierre</a:t>
            </a:r>
            <a:endParaRPr lang="en-US" sz="1200" dirty="0"/>
          </a:p>
        </p:txBody>
      </p:sp>
      <p:sp>
        <p:nvSpPr>
          <p:cNvPr id="12" name="Shape 9"/>
          <p:cNvSpPr/>
          <p:nvPr/>
        </p:nvSpPr>
        <p:spPr>
          <a:xfrm>
            <a:off x="812800" y="2448421"/>
            <a:ext cx="1991320" cy="2605584"/>
          </a:xfrm>
          <a:prstGeom prst="roundRect">
            <a:avLst>
              <a:gd name="adj" fmla="val 5102"/>
            </a:avLst>
          </a:prstGeom>
          <a:solidFill>
            <a:srgbClr val="F4F4F2"/>
          </a:solidFill>
          <a:ln/>
        </p:spPr>
        <p:txBody>
          <a:bodyPr/>
          <a:lstStyle/>
          <a:p>
            <a:endParaRPr lang="en-CO"/>
          </a:p>
        </p:txBody>
      </p:sp>
      <p:sp>
        <p:nvSpPr>
          <p:cNvPr id="13" name="Text 10"/>
          <p:cNvSpPr/>
          <p:nvPr/>
        </p:nvSpPr>
        <p:spPr>
          <a:xfrm>
            <a:off x="990600" y="2626221"/>
            <a:ext cx="608509" cy="233660"/>
          </a:xfrm>
          <a:prstGeom prst="roundRect">
            <a:avLst>
              <a:gd name="adj" fmla="val 16306"/>
            </a:avLst>
          </a:prstGeom>
          <a:solidFill>
            <a:srgbClr val="FFEE00"/>
          </a:solidFill>
          <a:ln/>
        </p:spPr>
        <p:txBody>
          <a:bodyPr wrap="none" lIns="0" tIns="0" rIns="0" bIns="0" rtlCol="0" anchor="ctr">
            <a:normAutofit/>
          </a:bodyPr>
          <a:lstStyle/>
          <a:p>
            <a:pPr marL="0" indent="0" algn="ctr">
              <a:lnSpc>
                <a:spcPts val="1440"/>
              </a:lnSpc>
              <a:buNone/>
            </a:pPr>
            <a:r>
              <a:rPr lang="en-US" sz="1200" b="1" dirty="0">
                <a:solidFill>
                  <a:srgbClr val="1D1D1B"/>
                </a:solidFill>
                <a:latin typeface="DM Sans" pitchFamily="34" charset="0"/>
                <a:ea typeface="DM Sans" pitchFamily="34" charset="-122"/>
                <a:cs typeface="DM Sans" pitchFamily="34" charset="-120"/>
              </a:rPr>
              <a:t>Acto I</a:t>
            </a:r>
            <a:endParaRPr lang="en-US" sz="1200" dirty="0"/>
          </a:p>
        </p:txBody>
      </p:sp>
      <p:sp>
        <p:nvSpPr>
          <p:cNvPr id="14" name="Text 11"/>
          <p:cNvSpPr/>
          <p:nvPr/>
        </p:nvSpPr>
        <p:spPr>
          <a:xfrm>
            <a:off x="990600" y="2948781"/>
            <a:ext cx="16865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Dónde estábamos</a:t>
            </a:r>
            <a:endParaRPr lang="en-US" sz="1400" dirty="0"/>
          </a:p>
        </p:txBody>
      </p:sp>
      <p:sp>
        <p:nvSpPr>
          <p:cNvPr id="15" name="Text 12"/>
          <p:cNvSpPr/>
          <p:nvPr/>
        </p:nvSpPr>
        <p:spPr>
          <a:xfrm>
            <a:off x="990600" y="3251002"/>
            <a:ext cx="16865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1 · La cota experimental en tres mecanismos</a:t>
            </a:r>
            <a:endParaRPr lang="en-US" sz="1200" dirty="0"/>
          </a:p>
        </p:txBody>
      </p:sp>
      <p:sp>
        <p:nvSpPr>
          <p:cNvPr id="16" name="Text 13"/>
          <p:cNvSpPr/>
          <p:nvPr/>
        </p:nvSpPr>
        <p:spPr>
          <a:xfrm>
            <a:off x="990600" y="3751263"/>
            <a:ext cx="16865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2 · La pregunta nueva: decuantizar = medir</a:t>
            </a:r>
            <a:endParaRPr lang="en-US" sz="1200" dirty="0"/>
          </a:p>
        </p:txBody>
      </p:sp>
      <p:sp>
        <p:nvSpPr>
          <p:cNvPr id="17" name="Shape 14"/>
          <p:cNvSpPr/>
          <p:nvPr/>
        </p:nvSpPr>
        <p:spPr>
          <a:xfrm>
            <a:off x="2956520" y="2448421"/>
            <a:ext cx="1991420" cy="2605584"/>
          </a:xfrm>
          <a:prstGeom prst="roundRect">
            <a:avLst>
              <a:gd name="adj" fmla="val 5102"/>
            </a:avLst>
          </a:prstGeom>
          <a:solidFill>
            <a:srgbClr val="F4F4F2"/>
          </a:solidFill>
          <a:ln/>
        </p:spPr>
        <p:txBody>
          <a:bodyPr/>
          <a:lstStyle/>
          <a:p>
            <a:endParaRPr lang="en-CO"/>
          </a:p>
        </p:txBody>
      </p:sp>
      <p:sp>
        <p:nvSpPr>
          <p:cNvPr id="18" name="Text 15"/>
          <p:cNvSpPr/>
          <p:nvPr/>
        </p:nvSpPr>
        <p:spPr>
          <a:xfrm>
            <a:off x="3134320" y="2626221"/>
            <a:ext cx="650180" cy="233660"/>
          </a:xfrm>
          <a:prstGeom prst="roundRect">
            <a:avLst>
              <a:gd name="adj" fmla="val 16306"/>
            </a:avLst>
          </a:prstGeom>
          <a:solidFill>
            <a:srgbClr val="FFEE00"/>
          </a:solidFill>
          <a:ln/>
        </p:spPr>
        <p:txBody>
          <a:bodyPr wrap="none" lIns="0" tIns="0" rIns="0" bIns="0" rtlCol="0" anchor="ctr">
            <a:normAutofit/>
          </a:bodyPr>
          <a:lstStyle/>
          <a:p>
            <a:pPr marL="0" indent="0" algn="ctr">
              <a:lnSpc>
                <a:spcPts val="1440"/>
              </a:lnSpc>
              <a:buNone/>
            </a:pPr>
            <a:r>
              <a:rPr lang="en-US" sz="1200" b="1" dirty="0">
                <a:solidFill>
                  <a:srgbClr val="1D1D1B"/>
                </a:solidFill>
                <a:latin typeface="DM Sans" pitchFamily="34" charset="0"/>
                <a:ea typeface="DM Sans" pitchFamily="34" charset="-122"/>
                <a:cs typeface="DM Sans" pitchFamily="34" charset="-120"/>
              </a:rPr>
              <a:t>Acto II</a:t>
            </a:r>
            <a:endParaRPr lang="en-US" sz="1200" dirty="0"/>
          </a:p>
        </p:txBody>
      </p:sp>
      <p:sp>
        <p:nvSpPr>
          <p:cNvPr id="19" name="Text 16"/>
          <p:cNvSpPr/>
          <p:nvPr/>
        </p:nvSpPr>
        <p:spPr>
          <a:xfrm>
            <a:off x="3134320" y="2948781"/>
            <a:ext cx="1686620"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Qué significa medir</a:t>
            </a:r>
            <a:endParaRPr lang="en-US" sz="1400" dirty="0"/>
          </a:p>
        </p:txBody>
      </p:sp>
      <p:sp>
        <p:nvSpPr>
          <p:cNvPr id="20" name="Text 17"/>
          <p:cNvSpPr/>
          <p:nvPr/>
        </p:nvSpPr>
        <p:spPr>
          <a:xfrm>
            <a:off x="3134320" y="3464322"/>
            <a:ext cx="16866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3 · Medir, copias y mezcla</a:t>
            </a:r>
            <a:endParaRPr lang="en-US" sz="1200" dirty="0"/>
          </a:p>
        </p:txBody>
      </p:sp>
      <p:sp>
        <p:nvSpPr>
          <p:cNvPr id="21" name="Text 18"/>
          <p:cNvSpPr/>
          <p:nvPr/>
        </p:nvSpPr>
        <p:spPr>
          <a:xfrm>
            <a:off x="3134320" y="3964583"/>
            <a:ext cx="1686620"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4 · El límite de la codificación y la línea base B</a:t>
            </a:r>
            <a:endParaRPr lang="en-US" sz="1200" dirty="0"/>
          </a:p>
        </p:txBody>
      </p:sp>
      <p:sp>
        <p:nvSpPr>
          <p:cNvPr id="22" name="Shape 19"/>
          <p:cNvSpPr/>
          <p:nvPr/>
        </p:nvSpPr>
        <p:spPr>
          <a:xfrm>
            <a:off x="5100340" y="2448421"/>
            <a:ext cx="1991320" cy="2605584"/>
          </a:xfrm>
          <a:prstGeom prst="roundRect">
            <a:avLst>
              <a:gd name="adj" fmla="val 5102"/>
            </a:avLst>
          </a:prstGeom>
          <a:solidFill>
            <a:srgbClr val="F4F4F2"/>
          </a:solidFill>
          <a:ln/>
        </p:spPr>
        <p:txBody>
          <a:bodyPr/>
          <a:lstStyle/>
          <a:p>
            <a:endParaRPr lang="en-CO"/>
          </a:p>
        </p:txBody>
      </p:sp>
      <p:sp>
        <p:nvSpPr>
          <p:cNvPr id="23" name="Text 20"/>
          <p:cNvSpPr/>
          <p:nvPr/>
        </p:nvSpPr>
        <p:spPr>
          <a:xfrm>
            <a:off x="5278140" y="2626221"/>
            <a:ext cx="691852" cy="233660"/>
          </a:xfrm>
          <a:prstGeom prst="roundRect">
            <a:avLst>
              <a:gd name="adj" fmla="val 16306"/>
            </a:avLst>
          </a:prstGeom>
          <a:solidFill>
            <a:srgbClr val="FFEE00"/>
          </a:solidFill>
          <a:ln/>
        </p:spPr>
        <p:txBody>
          <a:bodyPr wrap="none" lIns="0" tIns="0" rIns="0" bIns="0" rtlCol="0" anchor="ctr">
            <a:normAutofit/>
          </a:bodyPr>
          <a:lstStyle/>
          <a:p>
            <a:pPr marL="0" indent="0" algn="ctr">
              <a:lnSpc>
                <a:spcPts val="1440"/>
              </a:lnSpc>
              <a:buNone/>
            </a:pPr>
            <a:r>
              <a:rPr lang="en-US" sz="1200" b="1" dirty="0">
                <a:solidFill>
                  <a:srgbClr val="1D1D1B"/>
                </a:solidFill>
                <a:latin typeface="DM Sans" pitchFamily="34" charset="0"/>
                <a:ea typeface="DM Sans" pitchFamily="34" charset="-122"/>
                <a:cs typeface="DM Sans" pitchFamily="34" charset="-120"/>
              </a:rPr>
              <a:t>Acto III</a:t>
            </a:r>
            <a:endParaRPr lang="en-US" sz="1200" dirty="0"/>
          </a:p>
        </p:txBody>
      </p:sp>
      <p:sp>
        <p:nvSpPr>
          <p:cNvPr id="24" name="Text 21"/>
          <p:cNvSpPr/>
          <p:nvPr/>
        </p:nvSpPr>
        <p:spPr>
          <a:xfrm>
            <a:off x="5278140" y="2948781"/>
            <a:ext cx="1686520"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Dónde está la privacidad</a:t>
            </a:r>
            <a:endParaRPr lang="en-US" sz="1400" dirty="0"/>
          </a:p>
        </p:txBody>
      </p:sp>
      <p:sp>
        <p:nvSpPr>
          <p:cNvPr id="25" name="Text 22"/>
          <p:cNvSpPr/>
          <p:nvPr/>
        </p:nvSpPr>
        <p:spPr>
          <a:xfrm>
            <a:off x="5278140" y="3464322"/>
            <a:ext cx="16865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5 · El ruido visto desde un qubit</a:t>
            </a:r>
            <a:endParaRPr lang="en-US" sz="1200" dirty="0"/>
          </a:p>
        </p:txBody>
      </p:sp>
      <p:sp>
        <p:nvSpPr>
          <p:cNvPr id="26" name="Text 23"/>
          <p:cNvSpPr/>
          <p:nvPr/>
        </p:nvSpPr>
        <p:spPr>
          <a:xfrm>
            <a:off x="5278140" y="3964583"/>
            <a:ext cx="16865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6 · Una medición contra muchas</a:t>
            </a:r>
            <a:endParaRPr lang="en-US" sz="1200" dirty="0"/>
          </a:p>
        </p:txBody>
      </p:sp>
      <p:sp>
        <p:nvSpPr>
          <p:cNvPr id="27" name="Text 24"/>
          <p:cNvSpPr/>
          <p:nvPr/>
        </p:nvSpPr>
        <p:spPr>
          <a:xfrm>
            <a:off x="5278140" y="4464844"/>
            <a:ext cx="16865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7 · Diseño C contra diseño L</a:t>
            </a:r>
            <a:endParaRPr lang="en-US" sz="1200" dirty="0"/>
          </a:p>
        </p:txBody>
      </p:sp>
      <p:sp>
        <p:nvSpPr>
          <p:cNvPr id="28" name="Shape 25"/>
          <p:cNvSpPr/>
          <p:nvPr/>
        </p:nvSpPr>
        <p:spPr>
          <a:xfrm>
            <a:off x="7244060" y="2448421"/>
            <a:ext cx="1991420" cy="2605584"/>
          </a:xfrm>
          <a:prstGeom prst="roundRect">
            <a:avLst>
              <a:gd name="adj" fmla="val 5102"/>
            </a:avLst>
          </a:prstGeom>
          <a:solidFill>
            <a:srgbClr val="F4F4F2"/>
          </a:solidFill>
          <a:ln/>
        </p:spPr>
        <p:txBody>
          <a:bodyPr/>
          <a:lstStyle/>
          <a:p>
            <a:endParaRPr lang="en-CO"/>
          </a:p>
        </p:txBody>
      </p:sp>
      <p:sp>
        <p:nvSpPr>
          <p:cNvPr id="29" name="Text 26"/>
          <p:cNvSpPr/>
          <p:nvPr/>
        </p:nvSpPr>
        <p:spPr>
          <a:xfrm>
            <a:off x="7421860" y="2626221"/>
            <a:ext cx="716161" cy="233660"/>
          </a:xfrm>
          <a:prstGeom prst="roundRect">
            <a:avLst>
              <a:gd name="adj" fmla="val 16306"/>
            </a:avLst>
          </a:prstGeom>
          <a:solidFill>
            <a:srgbClr val="FFEE00"/>
          </a:solidFill>
          <a:ln/>
        </p:spPr>
        <p:txBody>
          <a:bodyPr wrap="none" lIns="0" tIns="0" rIns="0" bIns="0" rtlCol="0" anchor="ctr">
            <a:normAutofit/>
          </a:bodyPr>
          <a:lstStyle/>
          <a:p>
            <a:pPr marL="0" indent="0" algn="ctr">
              <a:lnSpc>
                <a:spcPts val="1440"/>
              </a:lnSpc>
              <a:buNone/>
            </a:pPr>
            <a:r>
              <a:rPr lang="en-US" sz="1200" b="1" dirty="0">
                <a:solidFill>
                  <a:srgbClr val="1D1D1B"/>
                </a:solidFill>
                <a:latin typeface="DM Sans" pitchFamily="34" charset="0"/>
                <a:ea typeface="DM Sans" pitchFamily="34" charset="-122"/>
                <a:cs typeface="DM Sans" pitchFamily="34" charset="-120"/>
              </a:rPr>
              <a:t>Acto IV</a:t>
            </a:r>
            <a:endParaRPr lang="en-US" sz="1200" dirty="0"/>
          </a:p>
        </p:txBody>
      </p:sp>
      <p:sp>
        <p:nvSpPr>
          <p:cNvPr id="30" name="Text 27"/>
          <p:cNvSpPr/>
          <p:nvPr/>
        </p:nvSpPr>
        <p:spPr>
          <a:xfrm>
            <a:off x="7421860" y="2948781"/>
            <a:ext cx="16866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Resultados</a:t>
            </a:r>
            <a:endParaRPr lang="en-US" sz="1400" dirty="0"/>
          </a:p>
        </p:txBody>
      </p:sp>
      <p:sp>
        <p:nvSpPr>
          <p:cNvPr id="31" name="Text 28"/>
          <p:cNvSpPr/>
          <p:nvPr/>
        </p:nvSpPr>
        <p:spPr>
          <a:xfrm>
            <a:off x="7421860" y="3251002"/>
            <a:ext cx="1686620"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8 · El ε del diseño L en las variables categóricas</a:t>
            </a:r>
            <a:endParaRPr lang="en-US" sz="1200" dirty="0"/>
          </a:p>
        </p:txBody>
      </p:sp>
      <p:sp>
        <p:nvSpPr>
          <p:cNvPr id="32" name="Text 29"/>
          <p:cNvSpPr/>
          <p:nvPr/>
        </p:nvSpPr>
        <p:spPr>
          <a:xfrm>
            <a:off x="7421860" y="3956943"/>
            <a:ext cx="16866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9 · Experimento L de </a:t>
            </a:r>
            <a:r>
              <a:rPr lang="en-US" sz="1200" dirty="0">
                <a:solidFill>
                  <a:srgbClr val="293470"/>
                </a:solidFill>
                <a:latin typeface="Roboto" pitchFamily="34" charset="0"/>
                <a:ea typeface="Roboto" pitchFamily="34" charset="-122"/>
                <a:cs typeface="Roboto" pitchFamily="34" charset="-120"/>
              </a:rPr>
              <a:t>collateral</a:t>
            </a:r>
            <a:endParaRPr lang="en-US" sz="1200" dirty="0"/>
          </a:p>
        </p:txBody>
      </p:sp>
      <p:sp>
        <p:nvSpPr>
          <p:cNvPr id="33" name="Shape 30"/>
          <p:cNvSpPr/>
          <p:nvPr/>
        </p:nvSpPr>
        <p:spPr>
          <a:xfrm>
            <a:off x="9387880" y="2448421"/>
            <a:ext cx="1991320" cy="2605584"/>
          </a:xfrm>
          <a:prstGeom prst="roundRect">
            <a:avLst>
              <a:gd name="adj" fmla="val 5102"/>
            </a:avLst>
          </a:prstGeom>
          <a:solidFill>
            <a:srgbClr val="F4F4F2"/>
          </a:solidFill>
          <a:ln/>
        </p:spPr>
        <p:txBody>
          <a:bodyPr/>
          <a:lstStyle/>
          <a:p>
            <a:endParaRPr lang="en-CO"/>
          </a:p>
        </p:txBody>
      </p:sp>
      <p:sp>
        <p:nvSpPr>
          <p:cNvPr id="34" name="Text 31"/>
          <p:cNvSpPr/>
          <p:nvPr/>
        </p:nvSpPr>
        <p:spPr>
          <a:xfrm>
            <a:off x="9565680" y="2626221"/>
            <a:ext cx="674588" cy="233660"/>
          </a:xfrm>
          <a:prstGeom prst="roundRect">
            <a:avLst>
              <a:gd name="adj" fmla="val 16306"/>
            </a:avLst>
          </a:prstGeom>
          <a:solidFill>
            <a:srgbClr val="FFEE00"/>
          </a:solidFill>
          <a:ln/>
        </p:spPr>
        <p:txBody>
          <a:bodyPr wrap="none" lIns="0" tIns="0" rIns="0" bIns="0" rtlCol="0" anchor="ctr">
            <a:normAutofit/>
          </a:bodyPr>
          <a:lstStyle/>
          <a:p>
            <a:pPr marL="0" indent="0" algn="ctr">
              <a:lnSpc>
                <a:spcPts val="1440"/>
              </a:lnSpc>
              <a:buNone/>
            </a:pPr>
            <a:r>
              <a:rPr lang="en-US" sz="1200" b="1" dirty="0">
                <a:solidFill>
                  <a:srgbClr val="1D1D1B"/>
                </a:solidFill>
                <a:latin typeface="DM Sans" pitchFamily="34" charset="0"/>
                <a:ea typeface="DM Sans" pitchFamily="34" charset="-122"/>
                <a:cs typeface="DM Sans" pitchFamily="34" charset="-120"/>
              </a:rPr>
              <a:t>Acto V</a:t>
            </a:r>
            <a:endParaRPr lang="en-US" sz="1200" dirty="0"/>
          </a:p>
        </p:txBody>
      </p:sp>
      <p:sp>
        <p:nvSpPr>
          <p:cNvPr id="35" name="Text 32"/>
          <p:cNvSpPr/>
          <p:nvPr/>
        </p:nvSpPr>
        <p:spPr>
          <a:xfrm>
            <a:off x="9565680" y="2948781"/>
            <a:ext cx="16865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Hardware y cierre</a:t>
            </a:r>
            <a:endParaRPr lang="en-US" sz="1400" dirty="0"/>
          </a:p>
        </p:txBody>
      </p:sp>
      <p:sp>
        <p:nvSpPr>
          <p:cNvPr id="36" name="Text 33"/>
          <p:cNvSpPr/>
          <p:nvPr/>
        </p:nvSpPr>
        <p:spPr>
          <a:xfrm>
            <a:off x="9565680" y="3251002"/>
            <a:ext cx="16865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10 · GAD en hardware real</a:t>
            </a:r>
            <a:endParaRPr lang="en-US" sz="1200" dirty="0"/>
          </a:p>
        </p:txBody>
      </p:sp>
      <p:sp>
        <p:nvSpPr>
          <p:cNvPr id="37" name="Text 34"/>
          <p:cNvSpPr/>
          <p:nvPr/>
        </p:nvSpPr>
        <p:spPr>
          <a:xfrm>
            <a:off x="9565680" y="3751263"/>
            <a:ext cx="16865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11 · Conclusiones y pasos a seguir</a:t>
            </a:r>
            <a:endParaRPr lang="en-US" sz="1200" dirty="0"/>
          </a:p>
        </p:txBody>
      </p:sp>
      <p:sp>
        <p:nvSpPr>
          <p:cNvPr id="38" name="Text 35"/>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39" name="Text 36"/>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E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9" r="-9"/>
          <a:stretch/>
        </p:blipFill>
        <p:spPr>
          <a:xfrm>
            <a:off x="7493000" y="0"/>
            <a:ext cx="4699000" cy="6858000"/>
          </a:xfrm>
          <a:prstGeom prst="rect">
            <a:avLst/>
          </a:prstGeom>
        </p:spPr>
      </p:pic>
      <p:sp>
        <p:nvSpPr>
          <p:cNvPr id="3" name="Text 0"/>
          <p:cNvSpPr/>
          <p:nvPr/>
        </p:nvSpPr>
        <p:spPr>
          <a:xfrm>
            <a:off x="7978140" y="3937000"/>
            <a:ext cx="3401060" cy="1803400"/>
          </a:xfrm>
          <a:prstGeom prst="rect">
            <a:avLst/>
          </a:prstGeom>
          <a:noFill/>
          <a:ln/>
        </p:spPr>
        <p:txBody>
          <a:bodyPr wrap="square" lIns="0" tIns="0" rIns="0" bIns="0" rtlCol="0" anchor="t">
            <a:normAutofit/>
          </a:bodyPr>
          <a:lstStyle/>
          <a:p>
            <a:pPr marL="0" indent="0" algn="r">
              <a:lnSpc>
                <a:spcPts val="14000"/>
              </a:lnSpc>
              <a:buNone/>
            </a:pPr>
            <a:r>
              <a:rPr lang="en-US" sz="14000" b="1" dirty="0">
                <a:solidFill>
                  <a:srgbClr val="FFEE00"/>
                </a:solidFill>
                <a:latin typeface="DM Sans" pitchFamily="34" charset="0"/>
                <a:ea typeface="DM Sans" pitchFamily="34" charset="-122"/>
                <a:cs typeface="DM Sans" pitchFamily="34" charset="-120"/>
              </a:rPr>
              <a:t>I</a:t>
            </a:r>
            <a:endParaRPr lang="en-US" sz="14000" dirty="0"/>
          </a:p>
        </p:txBody>
      </p:sp>
      <p:pic>
        <p:nvPicPr>
          <p:cNvPr id="4" name="Image 1" descr="Universidad de los Andes"/>
          <p:cNvPicPr>
            <a:picLocks noChangeAspect="1"/>
          </p:cNvPicPr>
          <p:nvPr/>
        </p:nvPicPr>
        <p:blipFill>
          <a:blip r:embed="rId4"/>
          <a:srcRect/>
          <a:stretch/>
        </p:blipFill>
        <p:spPr>
          <a:xfrm>
            <a:off x="812800" y="609600"/>
            <a:ext cx="1371600" cy="431800"/>
          </a:xfrm>
          <a:prstGeom prst="rect">
            <a:avLst/>
          </a:prstGeom>
        </p:spPr>
      </p:pic>
      <p:sp>
        <p:nvSpPr>
          <p:cNvPr id="5" name="Text 1"/>
          <p:cNvSpPr/>
          <p:nvPr/>
        </p:nvSpPr>
        <p:spPr>
          <a:xfrm>
            <a:off x="812800" y="2471440"/>
            <a:ext cx="640969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D1D1B"/>
                </a:solidFill>
                <a:latin typeface="DM Sans" pitchFamily="34" charset="0"/>
                <a:ea typeface="DM Sans" pitchFamily="34" charset="-122"/>
                <a:cs typeface="DM Sans" pitchFamily="34" charset="-120"/>
              </a:rPr>
              <a:t>ACTO I</a:t>
            </a:r>
            <a:endParaRPr lang="en-US" sz="1400" dirty="0"/>
          </a:p>
        </p:txBody>
      </p:sp>
      <p:sp>
        <p:nvSpPr>
          <p:cNvPr id="6" name="Text 2"/>
          <p:cNvSpPr>
            <a:spLocks noGrp="1"/>
          </p:cNvSpPr>
          <p:nvPr>
            <p:ph type="title"/>
          </p:nvPr>
        </p:nvSpPr>
        <p:spPr>
          <a:xfrm>
            <a:off x="812800" y="2898080"/>
            <a:ext cx="6409690" cy="665460"/>
          </a:xfrm>
          <a:prstGeom prst="rect">
            <a:avLst/>
          </a:prstGeom>
          <a:noFill/>
          <a:ln/>
        </p:spPr>
        <p:txBody>
          <a:bodyPr wrap="square" lIns="0" tIns="0" rIns="0" bIns="0" rtlCol="0" anchor="t">
            <a:normAutofit/>
          </a:bodyPr>
          <a:lstStyle/>
          <a:p>
            <a:pPr marL="0" indent="0" algn="l">
              <a:lnSpc>
                <a:spcPts val="5040"/>
              </a:lnSpc>
              <a:buNone/>
            </a:pPr>
            <a:r>
              <a:rPr lang="en-US" sz="4800" b="1" i="0" kern="0" spc="-100" dirty="0">
                <a:solidFill>
                  <a:srgbClr val="1D1D1B"/>
                </a:solidFill>
                <a:latin typeface="DM Sans" pitchFamily="34" charset="0"/>
                <a:ea typeface="DM Sans" pitchFamily="34" charset="-122"/>
                <a:cs typeface="DM Sans" pitchFamily="34" charset="-120"/>
              </a:rPr>
              <a:t>Dónde estábamos</a:t>
            </a:r>
            <a:endParaRPr lang="en-US" sz="4800" dirty="0"/>
          </a:p>
        </p:txBody>
      </p:sp>
      <p:sp>
        <p:nvSpPr>
          <p:cNvPr id="7" name="Text 3"/>
          <p:cNvSpPr/>
          <p:nvPr/>
        </p:nvSpPr>
        <p:spPr>
          <a:xfrm>
            <a:off x="812800" y="371594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1 · La cota experimental en tres mecanismos</a:t>
            </a:r>
            <a:endParaRPr lang="en-US" sz="1800" dirty="0"/>
          </a:p>
        </p:txBody>
      </p:sp>
      <p:sp>
        <p:nvSpPr>
          <p:cNvPr id="8" name="Text 4"/>
          <p:cNvSpPr/>
          <p:nvPr/>
        </p:nvSpPr>
        <p:spPr>
          <a:xfrm>
            <a:off x="812800" y="408930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2 · La pregunta nueva: decuantizar = medir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ESTÁBAMOS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La cota experimental en tres mecanismos</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En los tres mecanismos, el ε experimental queda por debajo de la cota teórica.</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1869380"/>
          <a:ext cx="10553700" cy="2027436"/>
        </p:xfrm>
        <a:graphic>
          <a:graphicData uri="http://schemas.openxmlformats.org/drawingml/2006/table">
            <a:tbl>
              <a:tblPr/>
              <a:tblGrid>
                <a:gridCol w="1899666">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1371981">
                  <a:extLst>
                    <a:ext uri="{9D8B030D-6E8A-4147-A177-3AD203B41FA5}">
                      <a16:colId xmlns:a16="http://schemas.microsoft.com/office/drawing/2014/main" val="20003"/>
                    </a:ext>
                  </a:extLst>
                </a:gridCol>
                <a:gridCol w="1371981">
                  <a:extLst>
                    <a:ext uri="{9D8B030D-6E8A-4147-A177-3AD203B41FA5}">
                      <a16:colId xmlns:a16="http://schemas.microsoft.com/office/drawing/2014/main" val="20004"/>
                    </a:ext>
                  </a:extLst>
                </a:gridCol>
                <a:gridCol w="1266444">
                  <a:extLst>
                    <a:ext uri="{9D8B030D-6E8A-4147-A177-3AD203B41FA5}">
                      <a16:colId xmlns:a16="http://schemas.microsoft.com/office/drawing/2014/main" val="20005"/>
                    </a:ext>
                  </a:extLst>
                </a:gridCol>
              </a:tblGrid>
              <a:tr h="590352">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Mecanismo</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Parámetros</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Publicación</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Σ ε teórico</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Σ ε experimental</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Teo / exp</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Depolarizante</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p = 0.5</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conjunta, 7 qubits (D = 128)</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0.1202</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0.1064</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293470"/>
                          </a:solidFill>
                          <a:latin typeface="Roboto" pitchFamily="34" charset="0"/>
                          <a:ea typeface="Roboto" pitchFamily="34" charset="-122"/>
                          <a:cs typeface="Roboto" pitchFamily="34" charset="-120"/>
                        </a:rPr>
                        <a:t>1.13</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Depolarizante</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p = 0.5</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por columna (D = 2)</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0.00985</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0.00676</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293470"/>
                          </a:solidFill>
                          <a:latin typeface="Roboto" pitchFamily="34" charset="0"/>
                          <a:ea typeface="Roboto" pitchFamily="34" charset="-122"/>
                          <a:cs typeface="Roboto" pitchFamily="34" charset="-120"/>
                        </a:rPr>
                        <a:t>1.46</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PAD</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p = γ = 0.5, λ = 0.25</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por columna</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0.01555</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0.00790</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293470"/>
                          </a:solidFill>
                          <a:latin typeface="Roboto" pitchFamily="34" charset="0"/>
                          <a:ea typeface="Roboto" pitchFamily="34" charset="-122"/>
                          <a:cs typeface="Roboto" pitchFamily="34" charset="-120"/>
                        </a:rPr>
                        <a:t>1.97</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GAD</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p = γ = 0.5</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por columna</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0.02375</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0.00897</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293470"/>
                          </a:solidFill>
                          <a:latin typeface="Roboto" pitchFamily="34" charset="0"/>
                          <a:ea typeface="Roboto" pitchFamily="34" charset="-122"/>
                          <a:cs typeface="Roboto" pitchFamily="34" charset="-120"/>
                        </a:rPr>
                        <a:t>2.65</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extLst>
                  <a:ext uri="{0D108BD9-81ED-4DB2-BD59-A6C34878D82A}">
                    <a16:rowId xmlns:a16="http://schemas.microsoft.com/office/drawing/2014/main" val="10004"/>
                  </a:ext>
                </a:extLst>
              </a:tr>
            </a:tbl>
          </a:graphicData>
        </a:graphic>
      </p:graphicFrame>
      <p:sp>
        <p:nvSpPr>
          <p:cNvPr id="10" name="Shape 6"/>
          <p:cNvSpPr/>
          <p:nvPr/>
        </p:nvSpPr>
        <p:spPr>
          <a:xfrm>
            <a:off x="812800" y="4150816"/>
            <a:ext cx="50800" cy="482600"/>
          </a:xfrm>
          <a:prstGeom prst="rect">
            <a:avLst/>
          </a:prstGeom>
          <a:solidFill>
            <a:srgbClr val="FFEE00"/>
          </a:solidFill>
          <a:ln/>
        </p:spPr>
        <p:txBody>
          <a:bodyPr/>
          <a:lstStyle/>
          <a:p>
            <a:endParaRPr lang="en-CO"/>
          </a:p>
        </p:txBody>
      </p:sp>
      <p:sp>
        <p:nvSpPr>
          <p:cNvPr id="11" name="Text 7"/>
          <p:cNvSpPr/>
          <p:nvPr/>
        </p:nvSpPr>
        <p:spPr>
          <a:xfrm>
            <a:off x="990600" y="4150816"/>
            <a:ext cx="112014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C3C3B"/>
                </a:solidFill>
                <a:latin typeface="Roboto" pitchFamily="34" charset="0"/>
                <a:ea typeface="Roboto" pitchFamily="34" charset="-122"/>
                <a:cs typeface="Roboto" pitchFamily="34" charset="-120"/>
              </a:rPr>
              <a:t>Por columna:</a:t>
            </a:r>
            <a:r>
              <a:rPr lang="en-US" sz="1400" dirty="0">
                <a:solidFill>
                  <a:srgbClr val="3C3C3B"/>
                </a:solidFill>
                <a:latin typeface="Roboto" pitchFamily="34" charset="0"/>
                <a:ea typeface="Roboto" pitchFamily="34" charset="-122"/>
                <a:cs typeface="Roboto" pitchFamily="34" charset="-120"/>
              </a:rPr>
              <a:t> cada atributo se agrega y recibe el ruido por separado (1 qubit), y los 7 ε se suman con el Teorema 4 (composición).</a:t>
            </a:r>
            <a:endParaRPr lang="en-US" sz="1400" dirty="0"/>
          </a:p>
        </p:txBody>
      </p:sp>
      <p:sp>
        <p:nvSpPr>
          <p:cNvPr id="12" name="Text 8"/>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13" name="Text 9"/>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ESTÁBAMOS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Conjunta contra por columna: el papel de D</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La diferencia entre 0.106 y 0.0068 viene de la dimensión D en la cota del Teorema 3.</a:t>
            </a:r>
            <a:endParaRPr lang="en-US" sz="1800" dirty="0"/>
          </a:p>
        </p:txBody>
      </p:sp>
      <p:pic>
        <p:nvPicPr>
          <p:cNvPr id="9" name="Image 1" descr="ε = ln[1 + ((1−p)/p)·d·D]"/>
          <p:cNvPicPr>
            <a:picLocks noChangeAspect="1"/>
          </p:cNvPicPr>
          <p:nvPr/>
        </p:nvPicPr>
        <p:blipFill>
          <a:blip r:embed="rId4"/>
          <a:srcRect t="-173" b="-173"/>
          <a:stretch/>
        </p:blipFill>
        <p:spPr>
          <a:xfrm>
            <a:off x="812800" y="1856680"/>
            <a:ext cx="2965450" cy="774700"/>
          </a:xfrm>
          <a:prstGeom prst="rect">
            <a:avLst/>
          </a:prstGeom>
        </p:spPr>
      </p:pic>
      <p:sp>
        <p:nvSpPr>
          <p:cNvPr id="10" name="Text 6"/>
          <p:cNvSpPr/>
          <p:nvPr/>
        </p:nvSpPr>
        <p:spPr>
          <a:xfrm>
            <a:off x="812800" y="2758380"/>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1</a:t>
            </a:r>
            <a:endParaRPr lang="en-US" sz="1200" dirty="0"/>
          </a:p>
        </p:txBody>
      </p:sp>
      <p:sp>
        <p:nvSpPr>
          <p:cNvPr id="11" name="Text 7"/>
          <p:cNvSpPr/>
          <p:nvPr/>
        </p:nvSpPr>
        <p:spPr>
          <a:xfrm>
            <a:off x="1219200" y="2758380"/>
            <a:ext cx="572947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El ruido mezcla con I/D: ningún resultado de medición tiene probabilidad menor que p/D (el piso).</a:t>
            </a:r>
            <a:endParaRPr lang="en-US" sz="1400" dirty="0"/>
          </a:p>
        </p:txBody>
      </p:sp>
      <p:sp>
        <p:nvSpPr>
          <p:cNvPr id="12" name="Text 8"/>
          <p:cNvSpPr/>
          <p:nvPr/>
        </p:nvSpPr>
        <p:spPr>
          <a:xfrm>
            <a:off x="812800" y="3383062"/>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2</a:t>
            </a:r>
            <a:endParaRPr lang="en-US" sz="1200" dirty="0"/>
          </a:p>
        </p:txBody>
      </p:sp>
      <p:sp>
        <p:nvSpPr>
          <p:cNvPr id="13" name="Text 9"/>
          <p:cNvSpPr/>
          <p:nvPr/>
        </p:nvSpPr>
        <p:spPr>
          <a:xfrm>
            <a:off x="1219200" y="3383062"/>
            <a:ext cx="572947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Dos vecinos difieren como mucho en (1 − p)·d.</a:t>
            </a:r>
            <a:endParaRPr lang="en-US" sz="1400" dirty="0"/>
          </a:p>
        </p:txBody>
      </p:sp>
      <p:sp>
        <p:nvSpPr>
          <p:cNvPr id="14" name="Text 10"/>
          <p:cNvSpPr/>
          <p:nvPr/>
        </p:nvSpPr>
        <p:spPr>
          <a:xfrm>
            <a:off x="812800" y="3789462"/>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3</a:t>
            </a:r>
            <a:endParaRPr lang="en-US" sz="1200" dirty="0"/>
          </a:p>
        </p:txBody>
      </p:sp>
      <p:sp>
        <p:nvSpPr>
          <p:cNvPr id="15" name="Text 11"/>
          <p:cNvSpPr/>
          <p:nvPr/>
        </p:nvSpPr>
        <p:spPr>
          <a:xfrm>
            <a:off x="1219200" y="3789462"/>
            <a:ext cx="572947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El cociente queda acotado, y esa es exactamente la fórmula:</a:t>
            </a:r>
            <a:endParaRPr lang="en-US" sz="1400" dirty="0"/>
          </a:p>
        </p:txBody>
      </p:sp>
      <p:pic>
        <p:nvPicPr>
          <p:cNvPr id="16" name="Image 2" descr="P(resultado | vecino 1) / P(resultado | vecino 2) ≤ 1 + (1−p)·d / (p/D)"/>
          <p:cNvPicPr>
            <a:picLocks noChangeAspect="1"/>
          </p:cNvPicPr>
          <p:nvPr/>
        </p:nvPicPr>
        <p:blipFill>
          <a:blip r:embed="rId5"/>
          <a:srcRect l="-137" r="-137"/>
          <a:stretch/>
        </p:blipFill>
        <p:spPr>
          <a:xfrm>
            <a:off x="1219200" y="4114502"/>
            <a:ext cx="4565650" cy="660400"/>
          </a:xfrm>
          <a:prstGeom prst="rect">
            <a:avLst/>
          </a:prstGeom>
        </p:spPr>
      </p:pic>
      <p:sp>
        <p:nvSpPr>
          <p:cNvPr id="17" name="Shape 12"/>
          <p:cNvSpPr/>
          <p:nvPr/>
        </p:nvSpPr>
        <p:spPr>
          <a:xfrm>
            <a:off x="7188200" y="1856680"/>
            <a:ext cx="4191000" cy="1970881"/>
          </a:xfrm>
          <a:prstGeom prst="roundRect">
            <a:avLst>
              <a:gd name="adj" fmla="val 5155"/>
            </a:avLst>
          </a:prstGeom>
          <a:solidFill>
            <a:srgbClr val="F4F4F2"/>
          </a:solidFill>
          <a:ln/>
        </p:spPr>
        <p:txBody>
          <a:bodyPr/>
          <a:lstStyle/>
          <a:p>
            <a:endParaRPr lang="en-CO"/>
          </a:p>
        </p:txBody>
      </p:sp>
      <p:sp>
        <p:nvSpPr>
          <p:cNvPr id="18" name="Text 13"/>
          <p:cNvSpPr/>
          <p:nvPr/>
        </p:nvSpPr>
        <p:spPr>
          <a:xfrm>
            <a:off x="7391400" y="2059880"/>
            <a:ext cx="389813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Con 7 qubits</a:t>
            </a:r>
            <a:endParaRPr lang="en-US" sz="1400" dirty="0"/>
          </a:p>
        </p:txBody>
      </p:sp>
      <p:sp>
        <p:nvSpPr>
          <p:cNvPr id="19" name="Text 14"/>
          <p:cNvSpPr/>
          <p:nvPr/>
        </p:nvSpPr>
        <p:spPr>
          <a:xfrm>
            <a:off x="7391400" y="2400201"/>
            <a:ext cx="1844421" cy="787400"/>
          </a:xfrm>
          <a:prstGeom prst="rect">
            <a:avLst/>
          </a:prstGeom>
          <a:noFill/>
          <a:ln/>
        </p:spPr>
        <p:txBody>
          <a:bodyPr wrap="square" lIns="0" tIns="0" rIns="0" bIns="0" rtlCol="0" anchor="t">
            <a:normAutofit/>
          </a:bodyPr>
          <a:lstStyle/>
          <a:p>
            <a:pPr marL="0" indent="0" algn="l">
              <a:lnSpc>
                <a:spcPts val="6000"/>
              </a:lnSpc>
              <a:buNone/>
            </a:pPr>
            <a:r>
              <a:rPr lang="en-US" sz="6000" b="1" kern="0" spc="-150" dirty="0">
                <a:solidFill>
                  <a:srgbClr val="293470"/>
                </a:solidFill>
                <a:latin typeface="DM Sans" pitchFamily="34" charset="0"/>
                <a:ea typeface="DM Sans" pitchFamily="34" charset="-122"/>
                <a:cs typeface="DM Sans" pitchFamily="34" charset="-120"/>
              </a:rPr>
              <a:t>128</a:t>
            </a:r>
            <a:endParaRPr lang="en-US" sz="6000" dirty="0"/>
          </a:p>
        </p:txBody>
      </p:sp>
      <p:sp>
        <p:nvSpPr>
          <p:cNvPr id="20" name="Text 15"/>
          <p:cNvSpPr/>
          <p:nvPr/>
        </p:nvSpPr>
        <p:spPr>
          <a:xfrm>
            <a:off x="7391400" y="3213001"/>
            <a:ext cx="1844421"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Conjunta: D = 2⁷, crece como 2ⁿ (exponencial)</a:t>
            </a:r>
            <a:endParaRPr lang="en-US" sz="1200" dirty="0"/>
          </a:p>
        </p:txBody>
      </p:sp>
      <p:sp>
        <p:nvSpPr>
          <p:cNvPr id="21" name="Text 16"/>
          <p:cNvSpPr/>
          <p:nvPr/>
        </p:nvSpPr>
        <p:spPr>
          <a:xfrm>
            <a:off x="9385300" y="2400201"/>
            <a:ext cx="1844421" cy="787400"/>
          </a:xfrm>
          <a:prstGeom prst="rect">
            <a:avLst/>
          </a:prstGeom>
          <a:noFill/>
          <a:ln/>
        </p:spPr>
        <p:txBody>
          <a:bodyPr wrap="square" lIns="0" tIns="0" rIns="0" bIns="0" rtlCol="0" anchor="t">
            <a:normAutofit/>
          </a:bodyPr>
          <a:lstStyle/>
          <a:p>
            <a:pPr marL="0" indent="0" algn="l">
              <a:lnSpc>
                <a:spcPts val="6000"/>
              </a:lnSpc>
              <a:buNone/>
            </a:pPr>
            <a:r>
              <a:rPr lang="en-US" sz="6000" b="1" kern="0" spc="-150" dirty="0">
                <a:solidFill>
                  <a:srgbClr val="1D1D1B"/>
                </a:solidFill>
                <a:latin typeface="DM Sans" pitchFamily="34" charset="0"/>
                <a:ea typeface="DM Sans" pitchFamily="34" charset="-122"/>
                <a:cs typeface="DM Sans" pitchFamily="34" charset="-120"/>
              </a:rPr>
              <a:t>14</a:t>
            </a:r>
            <a:endParaRPr lang="en-US" sz="6000" dirty="0"/>
          </a:p>
        </p:txBody>
      </p:sp>
      <p:sp>
        <p:nvSpPr>
          <p:cNvPr id="22" name="Text 17"/>
          <p:cNvSpPr/>
          <p:nvPr/>
        </p:nvSpPr>
        <p:spPr>
          <a:xfrm>
            <a:off x="9385300" y="3213001"/>
            <a:ext cx="1844421"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Por columnas: 7 × 2, crece como 2n (lineal)</a:t>
            </a:r>
            <a:endParaRPr lang="en-US" sz="1200" dirty="0"/>
          </a:p>
        </p:txBody>
      </p:sp>
      <p:sp>
        <p:nvSpPr>
          <p:cNvPr id="23" name="Text 18"/>
          <p:cNvSpPr/>
          <p:nvPr/>
        </p:nvSpPr>
        <p:spPr>
          <a:xfrm>
            <a:off x="7188200" y="3979962"/>
            <a:ext cx="4316730"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Publicar por columna cuesta menos ε, pero </a:t>
            </a:r>
            <a:r>
              <a:rPr lang="en-US" sz="1400" b="1" dirty="0">
                <a:solidFill>
                  <a:srgbClr val="3C3C3B"/>
                </a:solidFill>
                <a:latin typeface="Roboto" pitchFamily="34" charset="0"/>
                <a:ea typeface="Roboto" pitchFamily="34" charset="-122"/>
                <a:cs typeface="Roboto" pitchFamily="34" charset="-120"/>
              </a:rPr>
              <a:t>se pierden las correlaciones</a:t>
            </a:r>
            <a:r>
              <a:rPr lang="en-US" sz="1400" dirty="0">
                <a:solidFill>
                  <a:srgbClr val="3C3C3B"/>
                </a:solidFill>
                <a:latin typeface="Roboto" pitchFamily="34" charset="0"/>
                <a:ea typeface="Roboto" pitchFamily="34" charset="-122"/>
                <a:cs typeface="Roboto" pitchFamily="34" charset="-120"/>
              </a:rPr>
              <a:t> entre atributos: no se pueden hacer estudios conjuntos.</a:t>
            </a:r>
            <a:endParaRPr lang="en-US" sz="1400" dirty="0"/>
          </a:p>
        </p:txBody>
      </p:sp>
      <p:sp>
        <p:nvSpPr>
          <p:cNvPr id="24" name="Text 19"/>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5" name="Text 20"/>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ESTÁBAMOS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Con p = γ = 0.5: depolarizante &lt; PAD &lt; GAD</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El orden lo explica cuánto encoge cada canal el vector de Bloch en x e y.</a:t>
            </a:r>
            <a:endParaRPr lang="en-US" sz="1800" dirty="0"/>
          </a:p>
        </p:txBody>
      </p:sp>
      <p:sp>
        <p:nvSpPr>
          <p:cNvPr id="9" name="Text 6"/>
          <p:cNvSpPr/>
          <p:nvPr/>
        </p:nvSpPr>
        <p:spPr>
          <a:xfrm>
            <a:off x="812800" y="1856680"/>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E6E6C"/>
                </a:solidFill>
                <a:latin typeface="Roboto" pitchFamily="34" charset="0"/>
                <a:ea typeface="Roboto" pitchFamily="34" charset="-122"/>
                <a:cs typeface="Roboto" pitchFamily="34" charset="-120"/>
              </a:rPr>
              <a:t>Canal</a:t>
            </a:r>
            <a:endParaRPr lang="en-US" sz="1200" dirty="0"/>
          </a:p>
        </p:txBody>
      </p:sp>
      <p:sp>
        <p:nvSpPr>
          <p:cNvPr id="10" name="Text 7"/>
          <p:cNvSpPr/>
          <p:nvPr/>
        </p:nvSpPr>
        <p:spPr>
          <a:xfrm>
            <a:off x="2921000" y="1856680"/>
            <a:ext cx="61480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E6E6C"/>
                </a:solidFill>
                <a:latin typeface="Roboto" pitchFamily="34" charset="0"/>
                <a:ea typeface="Roboto" pitchFamily="34" charset="-122"/>
                <a:cs typeface="Roboto" pitchFamily="34" charset="-120"/>
              </a:rPr>
              <a:t>Factor de encogimiento en x, y (de 0 a 1)</a:t>
            </a:r>
            <a:endParaRPr lang="en-US" sz="1200" dirty="0"/>
          </a:p>
        </p:txBody>
      </p:sp>
      <p:sp>
        <p:nvSpPr>
          <p:cNvPr id="11" name="Text 8"/>
          <p:cNvSpPr/>
          <p:nvPr/>
        </p:nvSpPr>
        <p:spPr>
          <a:xfrm>
            <a:off x="9024620" y="1856680"/>
            <a:ext cx="235458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E6E6C"/>
                </a:solidFill>
                <a:latin typeface="Roboto" pitchFamily="34" charset="0"/>
                <a:ea typeface="Roboto" pitchFamily="34" charset="-122"/>
                <a:cs typeface="Roboto" pitchFamily="34" charset="-120"/>
              </a:rPr>
              <a:t>Σ ε experimental, por columna</a:t>
            </a:r>
            <a:endParaRPr lang="en-US" sz="1200" dirty="0"/>
          </a:p>
        </p:txBody>
      </p:sp>
      <p:sp>
        <p:nvSpPr>
          <p:cNvPr id="12" name="Text 9"/>
          <p:cNvSpPr/>
          <p:nvPr/>
        </p:nvSpPr>
        <p:spPr>
          <a:xfrm>
            <a:off x="812800" y="2207121"/>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1D1B"/>
                </a:solidFill>
                <a:latin typeface="Roboto" pitchFamily="34" charset="0"/>
                <a:ea typeface="Roboto" pitchFamily="34" charset="-122"/>
                <a:cs typeface="Roboto" pitchFamily="34" charset="-120"/>
              </a:rPr>
              <a:t>Depolarizante</a:t>
            </a:r>
            <a:endParaRPr lang="en-US" sz="1400" dirty="0"/>
          </a:p>
        </p:txBody>
      </p:sp>
      <p:sp>
        <p:nvSpPr>
          <p:cNvPr id="13" name="Shape 10"/>
          <p:cNvSpPr/>
          <p:nvPr/>
        </p:nvSpPr>
        <p:spPr>
          <a:xfrm>
            <a:off x="2921000" y="2179141"/>
            <a:ext cx="5969000" cy="304800"/>
          </a:xfrm>
          <a:prstGeom prst="rect">
            <a:avLst/>
          </a:prstGeom>
          <a:solidFill>
            <a:srgbClr val="F4F4F2"/>
          </a:solidFill>
          <a:ln/>
        </p:spPr>
        <p:txBody>
          <a:bodyPr/>
          <a:lstStyle/>
          <a:p>
            <a:endParaRPr lang="en-CO"/>
          </a:p>
        </p:txBody>
      </p:sp>
      <p:sp>
        <p:nvSpPr>
          <p:cNvPr id="14" name="Shape 11"/>
          <p:cNvSpPr/>
          <p:nvPr/>
        </p:nvSpPr>
        <p:spPr>
          <a:xfrm>
            <a:off x="2921000" y="2179141"/>
            <a:ext cx="2984500" cy="304800"/>
          </a:xfrm>
          <a:prstGeom prst="rect">
            <a:avLst/>
          </a:prstGeom>
          <a:solidFill>
            <a:srgbClr val="293470"/>
          </a:solidFill>
          <a:ln/>
        </p:spPr>
        <p:txBody>
          <a:bodyPr/>
          <a:lstStyle/>
          <a:p>
            <a:endParaRPr lang="en-CO"/>
          </a:p>
        </p:txBody>
      </p:sp>
      <p:sp>
        <p:nvSpPr>
          <p:cNvPr id="15" name="Text 12"/>
          <p:cNvSpPr/>
          <p:nvPr/>
        </p:nvSpPr>
        <p:spPr>
          <a:xfrm>
            <a:off x="6007100" y="2207121"/>
            <a:ext cx="42933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0.50</a:t>
            </a:r>
            <a:endParaRPr lang="en-US" sz="1400" dirty="0"/>
          </a:p>
        </p:txBody>
      </p:sp>
      <p:sp>
        <p:nvSpPr>
          <p:cNvPr id="16" name="Text 13"/>
          <p:cNvSpPr/>
          <p:nvPr/>
        </p:nvSpPr>
        <p:spPr>
          <a:xfrm>
            <a:off x="9024620" y="2171601"/>
            <a:ext cx="2354580" cy="345380"/>
          </a:xfrm>
          <a:prstGeom prst="rect">
            <a:avLst/>
          </a:prstGeom>
          <a:noFill/>
          <a:ln/>
        </p:spPr>
        <p:txBody>
          <a:bodyPr wrap="square" lIns="0" tIns="0" rIns="0" bIns="0" rtlCol="0" anchor="t">
            <a:normAutofit/>
          </a:bodyPr>
          <a:lstStyle/>
          <a:p>
            <a:pPr marL="0" indent="0" algn="r">
              <a:lnSpc>
                <a:spcPts val="2520"/>
              </a:lnSpc>
              <a:buNone/>
            </a:pPr>
            <a:r>
              <a:rPr lang="en-US" sz="1800" b="1" dirty="0">
                <a:solidFill>
                  <a:srgbClr val="1D1D1B"/>
                </a:solidFill>
                <a:latin typeface="DM Sans" pitchFamily="34" charset="0"/>
                <a:ea typeface="DM Sans" pitchFamily="34" charset="-122"/>
                <a:cs typeface="DM Sans" pitchFamily="34" charset="-120"/>
              </a:rPr>
              <a:t>0.00676</a:t>
            </a:r>
            <a:endParaRPr lang="en-US" sz="1800" dirty="0"/>
          </a:p>
        </p:txBody>
      </p:sp>
      <p:sp>
        <p:nvSpPr>
          <p:cNvPr id="17" name="Text 14"/>
          <p:cNvSpPr/>
          <p:nvPr/>
        </p:nvSpPr>
        <p:spPr>
          <a:xfrm>
            <a:off x="812800" y="2628702"/>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1D1B"/>
                </a:solidFill>
                <a:latin typeface="Roboto" pitchFamily="34" charset="0"/>
                <a:ea typeface="Roboto" pitchFamily="34" charset="-122"/>
                <a:cs typeface="Roboto" pitchFamily="34" charset="-120"/>
              </a:rPr>
              <a:t>PAD (λ = 0.25)</a:t>
            </a:r>
            <a:endParaRPr lang="en-US" sz="1400" dirty="0"/>
          </a:p>
        </p:txBody>
      </p:sp>
      <p:sp>
        <p:nvSpPr>
          <p:cNvPr id="18" name="Shape 15"/>
          <p:cNvSpPr/>
          <p:nvPr/>
        </p:nvSpPr>
        <p:spPr>
          <a:xfrm>
            <a:off x="2921000" y="2600722"/>
            <a:ext cx="5969000" cy="304800"/>
          </a:xfrm>
          <a:prstGeom prst="rect">
            <a:avLst/>
          </a:prstGeom>
          <a:solidFill>
            <a:srgbClr val="F4F4F2"/>
          </a:solidFill>
          <a:ln/>
        </p:spPr>
        <p:txBody>
          <a:bodyPr/>
          <a:lstStyle/>
          <a:p>
            <a:endParaRPr lang="en-CO"/>
          </a:p>
        </p:txBody>
      </p:sp>
      <p:sp>
        <p:nvSpPr>
          <p:cNvPr id="19" name="Shape 16"/>
          <p:cNvSpPr/>
          <p:nvPr/>
        </p:nvSpPr>
        <p:spPr>
          <a:xfrm>
            <a:off x="2921000" y="2600722"/>
            <a:ext cx="3638550" cy="304800"/>
          </a:xfrm>
          <a:prstGeom prst="rect">
            <a:avLst/>
          </a:prstGeom>
          <a:solidFill>
            <a:srgbClr val="293470"/>
          </a:solidFill>
          <a:ln/>
        </p:spPr>
        <p:txBody>
          <a:bodyPr/>
          <a:lstStyle/>
          <a:p>
            <a:endParaRPr lang="en-CO"/>
          </a:p>
        </p:txBody>
      </p:sp>
      <p:sp>
        <p:nvSpPr>
          <p:cNvPr id="20" name="Text 17"/>
          <p:cNvSpPr/>
          <p:nvPr/>
        </p:nvSpPr>
        <p:spPr>
          <a:xfrm>
            <a:off x="6661150" y="2628702"/>
            <a:ext cx="42933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0.61</a:t>
            </a:r>
            <a:endParaRPr lang="en-US" sz="1400" dirty="0"/>
          </a:p>
        </p:txBody>
      </p:sp>
      <p:sp>
        <p:nvSpPr>
          <p:cNvPr id="21" name="Text 18"/>
          <p:cNvSpPr/>
          <p:nvPr/>
        </p:nvSpPr>
        <p:spPr>
          <a:xfrm>
            <a:off x="9024620" y="2593181"/>
            <a:ext cx="2354580" cy="345380"/>
          </a:xfrm>
          <a:prstGeom prst="rect">
            <a:avLst/>
          </a:prstGeom>
          <a:noFill/>
          <a:ln/>
        </p:spPr>
        <p:txBody>
          <a:bodyPr wrap="square" lIns="0" tIns="0" rIns="0" bIns="0" rtlCol="0" anchor="t">
            <a:normAutofit/>
          </a:bodyPr>
          <a:lstStyle/>
          <a:p>
            <a:pPr marL="0" indent="0" algn="r">
              <a:lnSpc>
                <a:spcPts val="2520"/>
              </a:lnSpc>
              <a:buNone/>
            </a:pPr>
            <a:r>
              <a:rPr lang="en-US" sz="1800" b="1" dirty="0">
                <a:solidFill>
                  <a:srgbClr val="1D1D1B"/>
                </a:solidFill>
                <a:latin typeface="DM Sans" pitchFamily="34" charset="0"/>
                <a:ea typeface="DM Sans" pitchFamily="34" charset="-122"/>
                <a:cs typeface="DM Sans" pitchFamily="34" charset="-120"/>
              </a:rPr>
              <a:t>0.00790</a:t>
            </a:r>
            <a:endParaRPr lang="en-US" sz="1800" dirty="0"/>
          </a:p>
        </p:txBody>
      </p:sp>
      <p:sp>
        <p:nvSpPr>
          <p:cNvPr id="22" name="Text 19"/>
          <p:cNvSpPr/>
          <p:nvPr/>
        </p:nvSpPr>
        <p:spPr>
          <a:xfrm>
            <a:off x="812800" y="3050282"/>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1D1B"/>
                </a:solidFill>
                <a:latin typeface="Roboto" pitchFamily="34" charset="0"/>
                <a:ea typeface="Roboto" pitchFamily="34" charset="-122"/>
                <a:cs typeface="Roboto" pitchFamily="34" charset="-120"/>
              </a:rPr>
              <a:t>GAD</a:t>
            </a:r>
            <a:endParaRPr lang="en-US" sz="1400" dirty="0"/>
          </a:p>
        </p:txBody>
      </p:sp>
      <p:sp>
        <p:nvSpPr>
          <p:cNvPr id="23" name="Shape 20"/>
          <p:cNvSpPr/>
          <p:nvPr/>
        </p:nvSpPr>
        <p:spPr>
          <a:xfrm>
            <a:off x="2921000" y="3022302"/>
            <a:ext cx="5969000" cy="304800"/>
          </a:xfrm>
          <a:prstGeom prst="rect">
            <a:avLst/>
          </a:prstGeom>
          <a:solidFill>
            <a:srgbClr val="F4F4F2"/>
          </a:solidFill>
          <a:ln/>
        </p:spPr>
        <p:txBody>
          <a:bodyPr/>
          <a:lstStyle/>
          <a:p>
            <a:endParaRPr lang="en-CO"/>
          </a:p>
        </p:txBody>
      </p:sp>
      <p:sp>
        <p:nvSpPr>
          <p:cNvPr id="24" name="Shape 21"/>
          <p:cNvSpPr/>
          <p:nvPr/>
        </p:nvSpPr>
        <p:spPr>
          <a:xfrm>
            <a:off x="2921000" y="3022302"/>
            <a:ext cx="4235450" cy="304800"/>
          </a:xfrm>
          <a:prstGeom prst="rect">
            <a:avLst/>
          </a:prstGeom>
          <a:solidFill>
            <a:srgbClr val="293470"/>
          </a:solidFill>
          <a:ln/>
        </p:spPr>
        <p:txBody>
          <a:bodyPr/>
          <a:lstStyle/>
          <a:p>
            <a:endParaRPr lang="en-CO"/>
          </a:p>
        </p:txBody>
      </p:sp>
      <p:sp>
        <p:nvSpPr>
          <p:cNvPr id="25" name="Text 22"/>
          <p:cNvSpPr/>
          <p:nvPr/>
        </p:nvSpPr>
        <p:spPr>
          <a:xfrm>
            <a:off x="7258050" y="3050282"/>
            <a:ext cx="42933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0.71</a:t>
            </a:r>
            <a:endParaRPr lang="en-US" sz="1400" dirty="0"/>
          </a:p>
        </p:txBody>
      </p:sp>
      <p:sp>
        <p:nvSpPr>
          <p:cNvPr id="26" name="Text 23"/>
          <p:cNvSpPr/>
          <p:nvPr/>
        </p:nvSpPr>
        <p:spPr>
          <a:xfrm>
            <a:off x="9024620" y="3014762"/>
            <a:ext cx="2354580" cy="345380"/>
          </a:xfrm>
          <a:prstGeom prst="rect">
            <a:avLst/>
          </a:prstGeom>
          <a:noFill/>
          <a:ln/>
        </p:spPr>
        <p:txBody>
          <a:bodyPr wrap="square" lIns="0" tIns="0" rIns="0" bIns="0" rtlCol="0" anchor="t">
            <a:normAutofit/>
          </a:bodyPr>
          <a:lstStyle/>
          <a:p>
            <a:pPr marL="0" indent="0" algn="r">
              <a:lnSpc>
                <a:spcPts val="2520"/>
              </a:lnSpc>
              <a:buNone/>
            </a:pPr>
            <a:r>
              <a:rPr lang="en-US" sz="1800" b="1" dirty="0">
                <a:solidFill>
                  <a:srgbClr val="1D1D1B"/>
                </a:solidFill>
                <a:latin typeface="DM Sans" pitchFamily="34" charset="0"/>
                <a:ea typeface="DM Sans" pitchFamily="34" charset="-122"/>
                <a:cs typeface="DM Sans" pitchFamily="34" charset="-120"/>
              </a:rPr>
              <a:t>0.00897</a:t>
            </a:r>
            <a:endParaRPr lang="en-US" sz="1800" dirty="0"/>
          </a:p>
        </p:txBody>
      </p:sp>
      <p:sp>
        <p:nvSpPr>
          <p:cNvPr id="27" name="Text 24"/>
          <p:cNvSpPr/>
          <p:nvPr/>
        </p:nvSpPr>
        <p:spPr>
          <a:xfrm>
            <a:off x="812800" y="3487142"/>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Cuanto más encoge, menos distinguibles quedan los estados y menor es ε. </a:t>
            </a:r>
            <a:r>
              <a:rPr lang="en-US" sz="1400" b="1" dirty="0">
                <a:solidFill>
                  <a:srgbClr val="3C3C3B"/>
                </a:solidFill>
                <a:latin typeface="Roboto" pitchFamily="34" charset="0"/>
                <a:ea typeface="Roboto" pitchFamily="34" charset="-122"/>
                <a:cs typeface="Roboto" pitchFamily="34" charset="-120"/>
              </a:rPr>
              <a:t>El orden vale para estos parámetros</a:t>
            </a:r>
            <a:r>
              <a:rPr lang="en-US" sz="1400" dirty="0">
                <a:solidFill>
                  <a:srgbClr val="3C3C3B"/>
                </a:solidFill>
                <a:latin typeface="Roboto" pitchFamily="34" charset="0"/>
                <a:ea typeface="Roboto" pitchFamily="34" charset="-122"/>
                <a:cs typeface="Roboto" pitchFamily="34" charset="-120"/>
              </a:rPr>
              <a:t>, no como ranking general.</a:t>
            </a:r>
            <a:endParaRPr lang="en-US" sz="1400" dirty="0"/>
          </a:p>
        </p:txBody>
      </p:sp>
      <p:sp>
        <p:nvSpPr>
          <p:cNvPr id="28" name="Shape 25"/>
          <p:cNvSpPr/>
          <p:nvPr/>
        </p:nvSpPr>
        <p:spPr>
          <a:xfrm>
            <a:off x="812800" y="4238823"/>
            <a:ext cx="10566400" cy="1285081"/>
          </a:xfrm>
          <a:prstGeom prst="roundRect">
            <a:avLst>
              <a:gd name="adj" fmla="val 7906"/>
            </a:avLst>
          </a:prstGeom>
          <a:solidFill>
            <a:srgbClr val="F4F4F2"/>
          </a:solidFill>
          <a:ln/>
        </p:spPr>
        <p:txBody>
          <a:bodyPr/>
          <a:lstStyle/>
          <a:p>
            <a:endParaRPr lang="en-CO"/>
          </a:p>
        </p:txBody>
      </p:sp>
      <p:sp>
        <p:nvSpPr>
          <p:cNvPr id="29" name="Text 26"/>
          <p:cNvSpPr/>
          <p:nvPr/>
        </p:nvSpPr>
        <p:spPr>
          <a:xfrm>
            <a:off x="1066800" y="4416623"/>
            <a:ext cx="366268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Elección de λ</a:t>
            </a:r>
            <a:endParaRPr lang="en-US" sz="1400" dirty="0"/>
          </a:p>
        </p:txBody>
      </p:sp>
      <p:sp>
        <p:nvSpPr>
          <p:cNvPr id="30" name="Text 27"/>
          <p:cNvSpPr/>
          <p:nvPr/>
        </p:nvSpPr>
        <p:spPr>
          <a:xfrm>
            <a:off x="1066800" y="4706144"/>
            <a:ext cx="366268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PAD con p = γ = 0.5 va de GAD (λ = 0) al depolarizante (λ = 0.5). λ = 0.25 es el punto medio y cumple la hipótesis λ ≤ γ del Teorema 2.</a:t>
            </a:r>
            <a:endParaRPr lang="en-US" sz="1200" dirty="0"/>
          </a:p>
        </p:txBody>
      </p:sp>
      <p:sp>
        <p:nvSpPr>
          <p:cNvPr id="31" name="Shape 28"/>
          <p:cNvSpPr/>
          <p:nvPr/>
        </p:nvSpPr>
        <p:spPr>
          <a:xfrm>
            <a:off x="5054600" y="4722614"/>
            <a:ext cx="5562600" cy="25400"/>
          </a:xfrm>
          <a:prstGeom prst="rect">
            <a:avLst/>
          </a:prstGeom>
          <a:solidFill>
            <a:srgbClr val="3C3C3B"/>
          </a:solidFill>
          <a:ln/>
        </p:spPr>
        <p:txBody>
          <a:bodyPr/>
          <a:lstStyle/>
          <a:p>
            <a:endParaRPr lang="en-CO"/>
          </a:p>
        </p:txBody>
      </p:sp>
      <p:sp>
        <p:nvSpPr>
          <p:cNvPr id="32" name="Shape 29"/>
          <p:cNvSpPr/>
          <p:nvPr/>
        </p:nvSpPr>
        <p:spPr>
          <a:xfrm>
            <a:off x="4978400" y="4659114"/>
            <a:ext cx="152400" cy="152400"/>
          </a:xfrm>
          <a:prstGeom prst="roundRect">
            <a:avLst>
              <a:gd name="adj" fmla="val 50000"/>
            </a:avLst>
          </a:prstGeom>
          <a:solidFill>
            <a:srgbClr val="3C3C3B"/>
          </a:solidFill>
          <a:ln/>
        </p:spPr>
        <p:txBody>
          <a:bodyPr/>
          <a:lstStyle/>
          <a:p>
            <a:endParaRPr lang="en-CO"/>
          </a:p>
        </p:txBody>
      </p:sp>
      <p:sp>
        <p:nvSpPr>
          <p:cNvPr id="33" name="Shape 30"/>
          <p:cNvSpPr/>
          <p:nvPr/>
        </p:nvSpPr>
        <p:spPr>
          <a:xfrm>
            <a:off x="7724775" y="4624189"/>
            <a:ext cx="222250" cy="222250"/>
          </a:xfrm>
          <a:prstGeom prst="roundRect">
            <a:avLst>
              <a:gd name="adj" fmla="val 50000"/>
            </a:avLst>
          </a:prstGeom>
          <a:solidFill>
            <a:srgbClr val="FFEE00"/>
          </a:solidFill>
          <a:ln w="19050">
            <a:solidFill>
              <a:srgbClr val="1D1D1B"/>
            </a:solidFill>
            <a:prstDash val="solid"/>
          </a:ln>
        </p:spPr>
        <p:txBody>
          <a:bodyPr/>
          <a:lstStyle/>
          <a:p>
            <a:endParaRPr lang="en-CO"/>
          </a:p>
        </p:txBody>
      </p:sp>
      <p:sp>
        <p:nvSpPr>
          <p:cNvPr id="34" name="Shape 31"/>
          <p:cNvSpPr/>
          <p:nvPr/>
        </p:nvSpPr>
        <p:spPr>
          <a:xfrm>
            <a:off x="10541000" y="4659114"/>
            <a:ext cx="152400" cy="152400"/>
          </a:xfrm>
          <a:prstGeom prst="roundRect">
            <a:avLst>
              <a:gd name="adj" fmla="val 50000"/>
            </a:avLst>
          </a:prstGeom>
          <a:solidFill>
            <a:srgbClr val="3C3C3B"/>
          </a:solidFill>
          <a:ln/>
        </p:spPr>
        <p:txBody>
          <a:bodyPr/>
          <a:lstStyle/>
          <a:p>
            <a:endParaRPr lang="en-CO"/>
          </a:p>
        </p:txBody>
      </p:sp>
      <p:sp>
        <p:nvSpPr>
          <p:cNvPr id="35" name="Text 32"/>
          <p:cNvSpPr/>
          <p:nvPr/>
        </p:nvSpPr>
        <p:spPr>
          <a:xfrm>
            <a:off x="4978400" y="4938514"/>
            <a:ext cx="196215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C3C3B"/>
                </a:solidFill>
                <a:latin typeface="Roboto" pitchFamily="34" charset="0"/>
                <a:ea typeface="Roboto" pitchFamily="34" charset="-122"/>
                <a:cs typeface="Roboto" pitchFamily="34" charset="-120"/>
              </a:rPr>
              <a:t>λ = 0 · GAD</a:t>
            </a:r>
            <a:endParaRPr lang="en-US" sz="1200" dirty="0"/>
          </a:p>
        </p:txBody>
      </p:sp>
      <p:sp>
        <p:nvSpPr>
          <p:cNvPr id="36" name="Text 33"/>
          <p:cNvSpPr/>
          <p:nvPr/>
        </p:nvSpPr>
        <p:spPr>
          <a:xfrm>
            <a:off x="6854825" y="4938514"/>
            <a:ext cx="1962150" cy="223441"/>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D1D1B"/>
                </a:solidFill>
                <a:latin typeface="Roboto" pitchFamily="34" charset="0"/>
                <a:ea typeface="Roboto" pitchFamily="34" charset="-122"/>
                <a:cs typeface="Roboto" pitchFamily="34" charset="-120"/>
              </a:rPr>
              <a:t>λ = 0.25 · PAD</a:t>
            </a:r>
            <a:endParaRPr lang="en-US" sz="1200" dirty="0"/>
          </a:p>
        </p:txBody>
      </p:sp>
      <p:sp>
        <p:nvSpPr>
          <p:cNvPr id="37" name="Text 34"/>
          <p:cNvSpPr/>
          <p:nvPr/>
        </p:nvSpPr>
        <p:spPr>
          <a:xfrm>
            <a:off x="8731250" y="4938514"/>
            <a:ext cx="1962150" cy="223441"/>
          </a:xfrm>
          <a:prstGeom prst="rect">
            <a:avLst/>
          </a:prstGeom>
          <a:noFill/>
          <a:ln/>
        </p:spPr>
        <p:txBody>
          <a:bodyPr wrap="square" lIns="0" tIns="0" rIns="0" bIns="0" rtlCol="0" anchor="t">
            <a:normAutofit/>
          </a:bodyPr>
          <a:lstStyle/>
          <a:p>
            <a:pPr marL="0" indent="0" algn="r">
              <a:lnSpc>
                <a:spcPts val="1560"/>
              </a:lnSpc>
              <a:buNone/>
            </a:pPr>
            <a:r>
              <a:rPr lang="en-US" sz="1200" dirty="0">
                <a:solidFill>
                  <a:srgbClr val="3C3C3B"/>
                </a:solidFill>
                <a:latin typeface="Roboto" pitchFamily="34" charset="0"/>
                <a:ea typeface="Roboto" pitchFamily="34" charset="-122"/>
                <a:cs typeface="Roboto" pitchFamily="34" charset="-120"/>
              </a:rPr>
              <a:t>λ = 0.5 · depolarizante</a:t>
            </a:r>
            <a:endParaRPr lang="en-US" sz="1200" dirty="0"/>
          </a:p>
        </p:txBody>
      </p:sp>
      <p:sp>
        <p:nvSpPr>
          <p:cNvPr id="38" name="Text 35"/>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39" name="Text 36"/>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ESTÁBAMOS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La pregunta nueva</a:t>
            </a:r>
            <a:endParaRPr lang="en-US" sz="2800" dirty="0"/>
          </a:p>
        </p:txBody>
      </p:sp>
      <p:sp>
        <p:nvSpPr>
          <p:cNvPr id="8" name="Text 5"/>
          <p:cNvSpPr/>
          <p:nvPr/>
        </p:nvSpPr>
        <p:spPr>
          <a:xfrm>
            <a:off x="812800" y="1305520"/>
            <a:ext cx="1137920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Ya sabemos que ε cumple la cota. ¿Cómo se ve esa privacidad en los datos que recibiría un analista?</a:t>
            </a:r>
            <a:endParaRPr lang="en-US" sz="1800" dirty="0"/>
          </a:p>
        </p:txBody>
      </p:sp>
      <p:sp>
        <p:nvSpPr>
          <p:cNvPr id="9" name="Shape 6"/>
          <p:cNvSpPr/>
          <p:nvPr/>
        </p:nvSpPr>
        <p:spPr>
          <a:xfrm>
            <a:off x="812800" y="1856680"/>
            <a:ext cx="4127500" cy="1528763"/>
          </a:xfrm>
          <a:prstGeom prst="roundRect">
            <a:avLst>
              <a:gd name="adj" fmla="val 6646"/>
            </a:avLst>
          </a:prstGeom>
          <a:solidFill>
            <a:srgbClr val="F4F4F2"/>
          </a:solidFill>
          <a:ln/>
        </p:spPr>
        <p:txBody>
          <a:bodyPr/>
          <a:lstStyle/>
          <a:p>
            <a:endParaRPr lang="en-CO"/>
          </a:p>
        </p:txBody>
      </p:sp>
      <p:sp>
        <p:nvSpPr>
          <p:cNvPr id="10" name="Text 7"/>
          <p:cNvSpPr/>
          <p:nvPr/>
        </p:nvSpPr>
        <p:spPr>
          <a:xfrm>
            <a:off x="1066800" y="2059880"/>
            <a:ext cx="372808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En la simulación</a:t>
            </a:r>
            <a:endParaRPr lang="en-US" sz="1800" dirty="0"/>
          </a:p>
        </p:txBody>
      </p:sp>
      <p:sp>
        <p:nvSpPr>
          <p:cNvPr id="11" name="Text 8"/>
          <p:cNvSpPr/>
          <p:nvPr/>
        </p:nvSpPr>
        <p:spPr>
          <a:xfrm>
            <a:off x="1066800" y="2435721"/>
            <a:ext cx="372808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Tenemos la distribución de probabilidad completa de cada qubit: la matriz de densidad.</a:t>
            </a:r>
            <a:endParaRPr lang="en-US" sz="1400" dirty="0"/>
          </a:p>
        </p:txBody>
      </p:sp>
      <p:sp>
        <p:nvSpPr>
          <p:cNvPr id="12" name="Text 9"/>
          <p:cNvSpPr/>
          <p:nvPr/>
        </p:nvSpPr>
        <p:spPr>
          <a:xfrm>
            <a:off x="5143500" y="2053431"/>
            <a:ext cx="1905000" cy="728861"/>
          </a:xfrm>
          <a:prstGeom prst="roundRect">
            <a:avLst>
              <a:gd name="adj" fmla="val 6970"/>
            </a:avLst>
          </a:prstGeom>
          <a:solidFill>
            <a:srgbClr val="FFEE00"/>
          </a:solidFill>
          <a:ln/>
        </p:spPr>
        <p:txBody>
          <a:bodyPr wrap="square" lIns="112121" tIns="86721" rIns="112121" bIns="61321" rtlCol="0" anchor="t">
            <a:normAutofit/>
          </a:bodyPr>
          <a:lstStyle/>
          <a:p>
            <a:pPr marL="0" indent="0" algn="ctr">
              <a:lnSpc>
                <a:spcPts val="2070"/>
              </a:lnSpc>
              <a:buNone/>
            </a:pPr>
            <a:r>
              <a:rPr lang="en-US" sz="1800" b="1" dirty="0">
                <a:solidFill>
                  <a:srgbClr val="1D1D1B"/>
                </a:solidFill>
                <a:latin typeface="DM Sans" pitchFamily="34" charset="0"/>
                <a:ea typeface="DM Sans" pitchFamily="34" charset="-122"/>
                <a:cs typeface="DM Sans" pitchFamily="34" charset="-120"/>
              </a:rPr>
              <a:t>Decuantizar = medir</a:t>
            </a:r>
            <a:endParaRPr lang="en-US" sz="1800" dirty="0"/>
          </a:p>
        </p:txBody>
      </p:sp>
      <p:pic>
        <p:nvPicPr>
          <p:cNvPr id="13" name="Image 1" descr="arrow-right"/>
          <p:cNvPicPr>
            <a:picLocks noChangeAspect="1"/>
          </p:cNvPicPr>
          <p:nvPr/>
        </p:nvPicPr>
        <p:blipFill>
          <a:blip r:embed="rId4"/>
          <a:srcRect/>
          <a:stretch/>
        </p:blipFill>
        <p:spPr>
          <a:xfrm>
            <a:off x="5791200" y="2883892"/>
            <a:ext cx="609600" cy="304800"/>
          </a:xfrm>
          <a:prstGeom prst="rect">
            <a:avLst/>
          </a:prstGeom>
        </p:spPr>
      </p:pic>
      <p:sp>
        <p:nvSpPr>
          <p:cNvPr id="14" name="Shape 10"/>
          <p:cNvSpPr/>
          <p:nvPr/>
        </p:nvSpPr>
        <p:spPr>
          <a:xfrm>
            <a:off x="7251700" y="1856680"/>
            <a:ext cx="4127500" cy="1528763"/>
          </a:xfrm>
          <a:prstGeom prst="roundRect">
            <a:avLst>
              <a:gd name="adj" fmla="val 6646"/>
            </a:avLst>
          </a:prstGeom>
          <a:solidFill>
            <a:srgbClr val="F4F4F2"/>
          </a:solidFill>
          <a:ln/>
        </p:spPr>
        <p:txBody>
          <a:bodyPr/>
          <a:lstStyle/>
          <a:p>
            <a:endParaRPr lang="en-CO"/>
          </a:p>
        </p:txBody>
      </p:sp>
      <p:sp>
        <p:nvSpPr>
          <p:cNvPr id="15" name="Text 11"/>
          <p:cNvSpPr/>
          <p:nvPr/>
        </p:nvSpPr>
        <p:spPr>
          <a:xfrm>
            <a:off x="7505700" y="2059880"/>
            <a:ext cx="372808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En la realidad</a:t>
            </a:r>
            <a:endParaRPr lang="en-US" sz="1800" dirty="0"/>
          </a:p>
        </p:txBody>
      </p:sp>
      <p:sp>
        <p:nvSpPr>
          <p:cNvPr id="16" name="Text 12"/>
          <p:cNvSpPr/>
          <p:nvPr/>
        </p:nvSpPr>
        <p:spPr>
          <a:xfrm>
            <a:off x="7505700" y="2435721"/>
            <a:ext cx="372808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Quien recibe los datos tiene que medir: el estado colapsa y entrega un solo resultado, 0 o 1.</a:t>
            </a:r>
            <a:endParaRPr lang="en-US" sz="1400" dirty="0"/>
          </a:p>
        </p:txBody>
      </p:sp>
      <p:sp>
        <p:nvSpPr>
          <p:cNvPr id="17" name="Shape 13"/>
          <p:cNvSpPr/>
          <p:nvPr/>
        </p:nvSpPr>
        <p:spPr>
          <a:xfrm>
            <a:off x="812800" y="3639443"/>
            <a:ext cx="10566400" cy="1793081"/>
          </a:xfrm>
          <a:prstGeom prst="roundRect">
            <a:avLst>
              <a:gd name="adj" fmla="val 5666"/>
            </a:avLst>
          </a:prstGeom>
          <a:solidFill>
            <a:srgbClr val="1D1D1B"/>
          </a:solidFill>
          <a:ln/>
        </p:spPr>
        <p:txBody>
          <a:bodyPr/>
          <a:lstStyle/>
          <a:p>
            <a:endParaRPr lang="en-CO"/>
          </a:p>
        </p:txBody>
      </p:sp>
      <p:sp>
        <p:nvSpPr>
          <p:cNvPr id="18" name="Text 14"/>
          <p:cNvSpPr/>
          <p:nvPr/>
        </p:nvSpPr>
        <p:spPr>
          <a:xfrm>
            <a:off x="1066800" y="3842643"/>
            <a:ext cx="1036015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EE00"/>
                </a:solidFill>
                <a:latin typeface="Roboto" pitchFamily="34" charset="0"/>
                <a:ea typeface="Roboto" pitchFamily="34" charset="-122"/>
                <a:cs typeface="Roboto" pitchFamily="34" charset="-120"/>
              </a:rPr>
              <a:t>ADELANTO</a:t>
            </a:r>
            <a:endParaRPr lang="en-US" sz="1200" dirty="0"/>
          </a:p>
        </p:txBody>
      </p:sp>
      <p:sp>
        <p:nvSpPr>
          <p:cNvPr id="19" name="Text 15"/>
          <p:cNvSpPr/>
          <p:nvPr/>
        </p:nvSpPr>
        <p:spPr>
          <a:xfrm>
            <a:off x="1066800" y="4132163"/>
            <a:ext cx="10360152"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7F7F5"/>
                </a:solidFill>
                <a:latin typeface="DM Sans" pitchFamily="34" charset="0"/>
                <a:ea typeface="DM Sans" pitchFamily="34" charset="-122"/>
                <a:cs typeface="DM Sans" pitchFamily="34" charset="-120"/>
              </a:rPr>
              <a:t>La privacidad no se ve como un promedio que se mueve, sino como una estimación menos precisa.</a:t>
            </a:r>
            <a:endParaRPr lang="en-US" sz="1800" dirty="0"/>
          </a:p>
        </p:txBody>
      </p:sp>
      <p:sp>
        <p:nvSpPr>
          <p:cNvPr id="20" name="Text 16"/>
          <p:cNvSpPr/>
          <p:nvPr/>
        </p:nvSpPr>
        <p:spPr>
          <a:xfrm>
            <a:off x="1066800" y="4802684"/>
            <a:ext cx="1036015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4D4D0"/>
                </a:solidFill>
                <a:latin typeface="Roboto" pitchFamily="34" charset="0"/>
                <a:ea typeface="Roboto" pitchFamily="34" charset="-122"/>
                <a:cs typeface="Roboto" pitchFamily="34" charset="-120"/>
              </a:rPr>
              <a:t>Corregido el sesgo, el centro se mantiene y lo que crece es la dispersión: los valores quedan menos agrupados alrededor del centro. La evidencia es el histograma del Acto IV.</a:t>
            </a:r>
            <a:endParaRPr lang="en-US" sz="1200" dirty="0"/>
          </a:p>
        </p:txBody>
      </p:sp>
      <p:sp>
        <p:nvSpPr>
          <p:cNvPr id="21" name="Text 17"/>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2" name="Text 18"/>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E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9" r="-9"/>
          <a:stretch/>
        </p:blipFill>
        <p:spPr>
          <a:xfrm>
            <a:off x="7493000" y="0"/>
            <a:ext cx="4699000" cy="6858000"/>
          </a:xfrm>
          <a:prstGeom prst="rect">
            <a:avLst/>
          </a:prstGeom>
        </p:spPr>
      </p:pic>
      <p:sp>
        <p:nvSpPr>
          <p:cNvPr id="3" name="Text 0"/>
          <p:cNvSpPr/>
          <p:nvPr/>
        </p:nvSpPr>
        <p:spPr>
          <a:xfrm>
            <a:off x="7978140" y="3937000"/>
            <a:ext cx="3401060" cy="1803400"/>
          </a:xfrm>
          <a:prstGeom prst="rect">
            <a:avLst/>
          </a:prstGeom>
          <a:noFill/>
          <a:ln/>
        </p:spPr>
        <p:txBody>
          <a:bodyPr wrap="square" lIns="0" tIns="0" rIns="0" bIns="0" rtlCol="0" anchor="t">
            <a:normAutofit/>
          </a:bodyPr>
          <a:lstStyle/>
          <a:p>
            <a:pPr marL="0" indent="0" algn="r">
              <a:lnSpc>
                <a:spcPts val="14000"/>
              </a:lnSpc>
              <a:buNone/>
            </a:pPr>
            <a:r>
              <a:rPr lang="en-US" sz="14000" b="1" dirty="0">
                <a:solidFill>
                  <a:srgbClr val="FFEE00"/>
                </a:solidFill>
                <a:latin typeface="DM Sans" pitchFamily="34" charset="0"/>
                <a:ea typeface="DM Sans" pitchFamily="34" charset="-122"/>
                <a:cs typeface="DM Sans" pitchFamily="34" charset="-120"/>
              </a:rPr>
              <a:t>II</a:t>
            </a:r>
            <a:endParaRPr lang="en-US" sz="14000" dirty="0"/>
          </a:p>
        </p:txBody>
      </p:sp>
      <p:pic>
        <p:nvPicPr>
          <p:cNvPr id="4" name="Image 1" descr="Universidad de los Andes"/>
          <p:cNvPicPr>
            <a:picLocks noChangeAspect="1"/>
          </p:cNvPicPr>
          <p:nvPr/>
        </p:nvPicPr>
        <p:blipFill>
          <a:blip r:embed="rId4"/>
          <a:srcRect/>
          <a:stretch/>
        </p:blipFill>
        <p:spPr>
          <a:xfrm>
            <a:off x="812800" y="609600"/>
            <a:ext cx="1371600" cy="431800"/>
          </a:xfrm>
          <a:prstGeom prst="rect">
            <a:avLst/>
          </a:prstGeom>
        </p:spPr>
      </p:pic>
      <p:sp>
        <p:nvSpPr>
          <p:cNvPr id="5" name="Text 1"/>
          <p:cNvSpPr/>
          <p:nvPr/>
        </p:nvSpPr>
        <p:spPr>
          <a:xfrm>
            <a:off x="812800" y="2471440"/>
            <a:ext cx="640969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D1D1B"/>
                </a:solidFill>
                <a:latin typeface="DM Sans" pitchFamily="34" charset="0"/>
                <a:ea typeface="DM Sans" pitchFamily="34" charset="-122"/>
                <a:cs typeface="DM Sans" pitchFamily="34" charset="-120"/>
              </a:rPr>
              <a:t>ACTO II</a:t>
            </a:r>
            <a:endParaRPr lang="en-US" sz="1400" dirty="0"/>
          </a:p>
        </p:txBody>
      </p:sp>
      <p:sp>
        <p:nvSpPr>
          <p:cNvPr id="6" name="Text 2"/>
          <p:cNvSpPr>
            <a:spLocks noGrp="1"/>
          </p:cNvSpPr>
          <p:nvPr>
            <p:ph type="title"/>
          </p:nvPr>
        </p:nvSpPr>
        <p:spPr>
          <a:xfrm>
            <a:off x="812800" y="2898080"/>
            <a:ext cx="6409690" cy="665460"/>
          </a:xfrm>
          <a:prstGeom prst="rect">
            <a:avLst/>
          </a:prstGeom>
          <a:noFill/>
          <a:ln/>
        </p:spPr>
        <p:txBody>
          <a:bodyPr wrap="square" lIns="0" tIns="0" rIns="0" bIns="0" rtlCol="0" anchor="t">
            <a:normAutofit/>
          </a:bodyPr>
          <a:lstStyle/>
          <a:p>
            <a:pPr marL="0" indent="0" algn="l">
              <a:lnSpc>
                <a:spcPts val="5040"/>
              </a:lnSpc>
              <a:buNone/>
            </a:pPr>
            <a:r>
              <a:rPr lang="en-US" sz="4800" b="1" i="0" kern="0" spc="-100" dirty="0">
                <a:solidFill>
                  <a:srgbClr val="1D1D1B"/>
                </a:solidFill>
                <a:latin typeface="DM Sans" pitchFamily="34" charset="0"/>
                <a:ea typeface="DM Sans" pitchFamily="34" charset="-122"/>
                <a:cs typeface="DM Sans" pitchFamily="34" charset="-120"/>
              </a:rPr>
              <a:t>Qué significa medir</a:t>
            </a:r>
            <a:endParaRPr lang="en-US" sz="4800" dirty="0"/>
          </a:p>
        </p:txBody>
      </p:sp>
      <p:sp>
        <p:nvSpPr>
          <p:cNvPr id="7" name="Text 3"/>
          <p:cNvSpPr/>
          <p:nvPr/>
        </p:nvSpPr>
        <p:spPr>
          <a:xfrm>
            <a:off x="812800" y="371594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3 · Medir, copias y mezcla</a:t>
            </a:r>
            <a:endParaRPr lang="en-US" sz="1800" dirty="0"/>
          </a:p>
        </p:txBody>
      </p:sp>
      <p:sp>
        <p:nvSpPr>
          <p:cNvPr id="8" name="Text 4"/>
          <p:cNvSpPr/>
          <p:nvPr/>
        </p:nvSpPr>
        <p:spPr>
          <a:xfrm>
            <a:off x="812800" y="408930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4 · El límite de la codificación y la línea base B</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QUÉ SIGNIFICA MEDIR</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Cada medición consume una copia</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Una medición entrega un solo bit y gasta la copia del estado que midió.</a:t>
            </a:r>
            <a:endParaRPr lang="en-US" sz="1800" dirty="0"/>
          </a:p>
        </p:txBody>
      </p:sp>
      <p:sp>
        <p:nvSpPr>
          <p:cNvPr id="9" name="Shape 6"/>
          <p:cNvSpPr/>
          <p:nvPr/>
        </p:nvSpPr>
        <p:spPr>
          <a:xfrm>
            <a:off x="812800" y="1856680"/>
            <a:ext cx="5181600" cy="2838053"/>
          </a:xfrm>
          <a:prstGeom prst="roundRect">
            <a:avLst>
              <a:gd name="adj" fmla="val 3580"/>
            </a:avLst>
          </a:prstGeom>
          <a:solidFill>
            <a:srgbClr val="F4F4F2"/>
          </a:solidFill>
          <a:ln/>
        </p:spPr>
        <p:txBody>
          <a:bodyPr/>
          <a:lstStyle/>
          <a:p>
            <a:endParaRPr lang="en-CO"/>
          </a:p>
        </p:txBody>
      </p:sp>
      <p:sp>
        <p:nvSpPr>
          <p:cNvPr id="10" name="Text 7"/>
          <p:cNvSpPr/>
          <p:nvPr/>
        </p:nvSpPr>
        <p:spPr>
          <a:xfrm>
            <a:off x="1066800" y="2110680"/>
            <a:ext cx="48138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Copias</a:t>
            </a:r>
            <a:endParaRPr lang="en-US" sz="1800" dirty="0"/>
          </a:p>
        </p:txBody>
      </p:sp>
      <p:sp>
        <p:nvSpPr>
          <p:cNvPr id="11" name="Text 8"/>
          <p:cNvSpPr/>
          <p:nvPr/>
        </p:nvSpPr>
        <p:spPr>
          <a:xfrm>
            <a:off x="1066800" y="2511921"/>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Un estado cuántico no se puede copiar (no clonación).</a:t>
            </a:r>
            <a:endParaRPr lang="en-US" sz="1400" dirty="0"/>
          </a:p>
        </p:txBody>
      </p:sp>
      <p:sp>
        <p:nvSpPr>
          <p:cNvPr id="12" name="Text 9"/>
          <p:cNvSpPr/>
          <p:nvPr/>
        </p:nvSpPr>
        <p:spPr>
          <a:xfrm>
            <a:off x="1066800" y="2887762"/>
            <a:ext cx="481380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Al medirlo colapsa al resultado obtenido: se pierde con qué probabilidad podía salir el otro.</a:t>
            </a:r>
            <a:endParaRPr lang="en-US" sz="1400" dirty="0"/>
          </a:p>
        </p:txBody>
      </p:sp>
      <p:sp>
        <p:nvSpPr>
          <p:cNvPr id="13" name="Shape 10"/>
          <p:cNvSpPr/>
          <p:nvPr/>
        </p:nvSpPr>
        <p:spPr>
          <a:xfrm>
            <a:off x="1092200" y="4191893"/>
            <a:ext cx="0" cy="248841"/>
          </a:xfrm>
          <a:prstGeom prst="line">
            <a:avLst/>
          </a:prstGeom>
          <a:noFill/>
          <a:ln w="50800">
            <a:solidFill>
              <a:srgbClr val="FFEE00"/>
            </a:solidFill>
            <a:prstDash val="solid"/>
          </a:ln>
        </p:spPr>
        <p:txBody>
          <a:bodyPr/>
          <a:lstStyle/>
          <a:p>
            <a:endParaRPr lang="en-CO"/>
          </a:p>
        </p:txBody>
      </p:sp>
      <p:sp>
        <p:nvSpPr>
          <p:cNvPr id="14" name="Text 11"/>
          <p:cNvSpPr/>
          <p:nvPr/>
        </p:nvSpPr>
        <p:spPr>
          <a:xfrm>
            <a:off x="1244600" y="4191893"/>
            <a:ext cx="463067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1D1B"/>
                </a:solidFill>
                <a:latin typeface="Roboto" pitchFamily="34" charset="0"/>
                <a:ea typeface="Roboto" pitchFamily="34" charset="-122"/>
                <a:cs typeface="Roboto" pitchFamily="34" charset="-120"/>
              </a:rPr>
              <a:t>Cada medición necesita una copia nueva del estado.</a:t>
            </a:r>
            <a:endParaRPr lang="en-US" sz="1400" dirty="0"/>
          </a:p>
        </p:txBody>
      </p:sp>
      <p:sp>
        <p:nvSpPr>
          <p:cNvPr id="15" name="Shape 12"/>
          <p:cNvSpPr/>
          <p:nvPr/>
        </p:nvSpPr>
        <p:spPr>
          <a:xfrm>
            <a:off x="6197600" y="1856680"/>
            <a:ext cx="5181600" cy="2838053"/>
          </a:xfrm>
          <a:prstGeom prst="roundRect">
            <a:avLst>
              <a:gd name="adj" fmla="val 3580"/>
            </a:avLst>
          </a:prstGeom>
          <a:solidFill>
            <a:srgbClr val="F4F4F2"/>
          </a:solidFill>
          <a:ln/>
        </p:spPr>
        <p:txBody>
          <a:bodyPr/>
          <a:lstStyle/>
          <a:p>
            <a:endParaRPr lang="en-CO"/>
          </a:p>
        </p:txBody>
      </p:sp>
      <p:sp>
        <p:nvSpPr>
          <p:cNvPr id="16" name="Text 13"/>
          <p:cNvSpPr/>
          <p:nvPr/>
        </p:nvSpPr>
        <p:spPr>
          <a:xfrm>
            <a:off x="6451600" y="2110680"/>
            <a:ext cx="48138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Leer la matriz = infinitas copias</a:t>
            </a:r>
            <a:endParaRPr lang="en-US" sz="1800" dirty="0"/>
          </a:p>
        </p:txBody>
      </p:sp>
      <p:sp>
        <p:nvSpPr>
          <p:cNvPr id="17" name="Text 14"/>
          <p:cNvSpPr/>
          <p:nvPr/>
        </p:nvSpPr>
        <p:spPr>
          <a:xfrm>
            <a:off x="6451600" y="2511921"/>
            <a:ext cx="481380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En la simulación se lee ρ″ completa y se calculan probabilidades exactas (error cero). Con N mediciones:</a:t>
            </a:r>
            <a:endParaRPr lang="en-US" sz="1400" dirty="0"/>
          </a:p>
        </p:txBody>
      </p:sp>
      <p:pic>
        <p:nvPicPr>
          <p:cNvPr id="18" name="Image 1" descr="error = raíz de P(1 − P)/N"/>
          <p:cNvPicPr>
            <a:picLocks noChangeAspect="1"/>
          </p:cNvPicPr>
          <p:nvPr/>
        </p:nvPicPr>
        <p:blipFill>
          <a:blip r:embed="rId4"/>
          <a:srcRect l="-201" r="-201"/>
          <a:stretch/>
        </p:blipFill>
        <p:spPr>
          <a:xfrm>
            <a:off x="6451600" y="3136602"/>
            <a:ext cx="2330450" cy="679450"/>
          </a:xfrm>
          <a:prstGeom prst="rect">
            <a:avLst/>
          </a:prstGeom>
        </p:spPr>
      </p:pic>
      <p:sp>
        <p:nvSpPr>
          <p:cNvPr id="19" name="Text 15"/>
          <p:cNvSpPr/>
          <p:nvPr/>
        </p:nvSpPr>
        <p:spPr>
          <a:xfrm>
            <a:off x="6451600" y="3943052"/>
            <a:ext cx="481380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Solo es cero con N → ∞. Es una herramienta de análisis, </a:t>
            </a:r>
            <a:r>
              <a:rPr lang="en-US" sz="1400" b="1" dirty="0">
                <a:solidFill>
                  <a:srgbClr val="3C3C3B"/>
                </a:solidFill>
                <a:latin typeface="Roboto" pitchFamily="34" charset="0"/>
                <a:ea typeface="Roboto" pitchFamily="34" charset="-122"/>
                <a:cs typeface="Roboto" pitchFamily="34" charset="-120"/>
              </a:rPr>
              <a:t>no algo que tenga quien recibe los datos</a:t>
            </a:r>
            <a:r>
              <a:rPr lang="en-US" sz="1400" dirty="0">
                <a:solidFill>
                  <a:srgbClr val="3C3C3B"/>
                </a:solidFill>
                <a:latin typeface="Roboto" pitchFamily="34" charset="0"/>
                <a:ea typeface="Roboto" pitchFamily="34" charset="-122"/>
                <a:cs typeface="Roboto" pitchFamily="34" charset="-120"/>
              </a:rPr>
              <a:t>.</a:t>
            </a:r>
            <a:endParaRPr lang="en-US" sz="1400" dirty="0"/>
          </a:p>
        </p:txBody>
      </p:sp>
      <p:sp>
        <p:nvSpPr>
          <p:cNvPr id="20" name="Text 16"/>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1" name="Text 17"/>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QUÉ SIGNIFICA MEDIR</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Medir el estado agregado = sortear una persona</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El estado agregado es la mezcla ρ = (1/n)·Σ ρᵢ. Para cualquier resultado Π:</a:t>
            </a:r>
            <a:endParaRPr lang="en-US" sz="1800" dirty="0"/>
          </a:p>
        </p:txBody>
      </p:sp>
      <p:sp>
        <p:nvSpPr>
          <p:cNvPr id="9" name="Shape 6"/>
          <p:cNvSpPr/>
          <p:nvPr/>
        </p:nvSpPr>
        <p:spPr>
          <a:xfrm>
            <a:off x="812800" y="1856680"/>
            <a:ext cx="10566400" cy="1181100"/>
          </a:xfrm>
          <a:prstGeom prst="roundRect">
            <a:avLst>
              <a:gd name="adj" fmla="val 8602"/>
            </a:avLst>
          </a:prstGeom>
          <a:solidFill>
            <a:srgbClr val="F4F4F2"/>
          </a:solidFill>
          <a:ln/>
        </p:spPr>
        <p:txBody>
          <a:bodyPr/>
          <a:lstStyle/>
          <a:p>
            <a:endParaRPr lang="en-CO"/>
          </a:p>
        </p:txBody>
      </p:sp>
      <p:pic>
        <p:nvPicPr>
          <p:cNvPr id="10" name="Image 1" descr="Tr(Πρ) = Σᵢ (1/n)·Tr(Πρᵢ) = Σᵢ P(persona i)·P(resultado | persona i)"/>
          <p:cNvPicPr>
            <a:picLocks noChangeAspect="1"/>
          </p:cNvPicPr>
          <p:nvPr/>
        </p:nvPicPr>
        <p:blipFill>
          <a:blip r:embed="rId4"/>
          <a:srcRect t="-147" b="-147"/>
          <a:stretch/>
        </p:blipFill>
        <p:spPr>
          <a:xfrm>
            <a:off x="2292350" y="2085280"/>
            <a:ext cx="7607300" cy="723900"/>
          </a:xfrm>
          <a:prstGeom prst="rect">
            <a:avLst/>
          </a:prstGeom>
        </p:spPr>
      </p:pic>
      <p:sp>
        <p:nvSpPr>
          <p:cNvPr id="11" name="Text 7"/>
          <p:cNvSpPr/>
          <p:nvPr/>
        </p:nvSpPr>
        <p:spPr>
          <a:xfrm>
            <a:off x="819150" y="3298130"/>
            <a:ext cx="2781300" cy="396180"/>
          </a:xfrm>
          <a:prstGeom prst="roundRect">
            <a:avLst>
              <a:gd name="adj" fmla="val 11220"/>
            </a:avLst>
          </a:prstGeom>
          <a:solidFill>
            <a:srgbClr val="FFFFFF"/>
          </a:solidFill>
          <a:ln w="12700">
            <a:solidFill>
              <a:srgbClr val="3C3C3B"/>
            </a:solidFill>
            <a:prstDash val="solid"/>
          </a:ln>
        </p:spPr>
        <p:txBody>
          <a:bodyPr wrap="square" lIns="120331" tIns="69531" rIns="44893" bIns="44131" rtlCol="0" anchor="t">
            <a:normAutofit/>
          </a:bodyPr>
          <a:lstStyle/>
          <a:p>
            <a:pPr marL="0" indent="0" algn="l">
              <a:lnSpc>
                <a:spcPts val="1820"/>
              </a:lnSpc>
              <a:buNone/>
            </a:pPr>
            <a:r>
              <a:rPr lang="en-US" sz="1400" dirty="0">
                <a:solidFill>
                  <a:srgbClr val="1D1D1B"/>
                </a:solidFill>
                <a:latin typeface="Roboto" pitchFamily="34" charset="0"/>
                <a:ea typeface="Roboto" pitchFamily="34" charset="-122"/>
                <a:cs typeface="Roboto" pitchFamily="34" charset="-120"/>
              </a:rPr>
              <a:t>Estado agregado ρ</a:t>
            </a:r>
            <a:endParaRPr lang="en-US" sz="1400" dirty="0"/>
          </a:p>
        </p:txBody>
      </p:sp>
      <p:pic>
        <p:nvPicPr>
          <p:cNvPr id="12" name="Image 2" descr="connector"/>
          <p:cNvPicPr>
            <a:picLocks noChangeAspect="1"/>
          </p:cNvPicPr>
          <p:nvPr/>
        </p:nvPicPr>
        <p:blipFill>
          <a:blip r:embed="rId5"/>
          <a:srcRect/>
          <a:stretch/>
        </p:blipFill>
        <p:spPr>
          <a:xfrm>
            <a:off x="3708400" y="3445371"/>
            <a:ext cx="355600" cy="101600"/>
          </a:xfrm>
          <a:prstGeom prst="rect">
            <a:avLst/>
          </a:prstGeom>
        </p:spPr>
      </p:pic>
      <p:sp>
        <p:nvSpPr>
          <p:cNvPr id="13" name="Text 8"/>
          <p:cNvSpPr/>
          <p:nvPr/>
        </p:nvSpPr>
        <p:spPr>
          <a:xfrm>
            <a:off x="4171950" y="3298130"/>
            <a:ext cx="2273300" cy="396180"/>
          </a:xfrm>
          <a:prstGeom prst="roundRect">
            <a:avLst>
              <a:gd name="adj" fmla="val 11220"/>
            </a:avLst>
          </a:prstGeom>
          <a:solidFill>
            <a:srgbClr val="FFFFFF"/>
          </a:solidFill>
          <a:ln w="12700">
            <a:solidFill>
              <a:srgbClr val="3C3C3B"/>
            </a:solidFill>
            <a:prstDash val="solid"/>
          </a:ln>
        </p:spPr>
        <p:txBody>
          <a:bodyPr wrap="square" lIns="120331" tIns="69531" rIns="60133" bIns="44131" rtlCol="0" anchor="t">
            <a:normAutofit/>
          </a:bodyPr>
          <a:lstStyle/>
          <a:p>
            <a:pPr marL="0" indent="0" algn="l">
              <a:lnSpc>
                <a:spcPts val="1820"/>
              </a:lnSpc>
              <a:buNone/>
            </a:pPr>
            <a:r>
              <a:rPr lang="en-US" sz="1400" dirty="0">
                <a:solidFill>
                  <a:srgbClr val="1D1D1B"/>
                </a:solidFill>
                <a:latin typeface="Roboto" pitchFamily="34" charset="0"/>
                <a:ea typeface="Roboto" pitchFamily="34" charset="-122"/>
                <a:cs typeface="Roboto" pitchFamily="34" charset="-120"/>
              </a:rPr>
              <a:t>medir una copia</a:t>
            </a:r>
            <a:endParaRPr lang="en-US" sz="1400" dirty="0"/>
          </a:p>
        </p:txBody>
      </p:sp>
      <p:pic>
        <p:nvPicPr>
          <p:cNvPr id="14" name="Image 3" descr="connector"/>
          <p:cNvPicPr>
            <a:picLocks noChangeAspect="1"/>
          </p:cNvPicPr>
          <p:nvPr/>
        </p:nvPicPr>
        <p:blipFill>
          <a:blip r:embed="rId5"/>
          <a:srcRect/>
          <a:stretch/>
        </p:blipFill>
        <p:spPr>
          <a:xfrm>
            <a:off x="6553200" y="3445371"/>
            <a:ext cx="355600" cy="101600"/>
          </a:xfrm>
          <a:prstGeom prst="rect">
            <a:avLst/>
          </a:prstGeom>
        </p:spPr>
      </p:pic>
      <p:sp>
        <p:nvSpPr>
          <p:cNvPr id="15" name="Text 9"/>
          <p:cNvSpPr/>
          <p:nvPr/>
        </p:nvSpPr>
        <p:spPr>
          <a:xfrm>
            <a:off x="7016750" y="3298130"/>
            <a:ext cx="2451100" cy="396180"/>
          </a:xfrm>
          <a:prstGeom prst="roundRect">
            <a:avLst>
              <a:gd name="adj" fmla="val 11220"/>
            </a:avLst>
          </a:prstGeom>
          <a:solidFill>
            <a:srgbClr val="FFFFFF"/>
          </a:solidFill>
          <a:ln w="12700">
            <a:solidFill>
              <a:srgbClr val="3C3C3B"/>
            </a:solidFill>
            <a:prstDash val="solid"/>
          </a:ln>
        </p:spPr>
        <p:txBody>
          <a:bodyPr wrap="square" lIns="120331" tIns="69531" rIns="54799" bIns="44131" rtlCol="0" anchor="t">
            <a:normAutofit/>
          </a:bodyPr>
          <a:lstStyle/>
          <a:p>
            <a:pPr marL="0" indent="0" algn="l">
              <a:lnSpc>
                <a:spcPts val="1820"/>
              </a:lnSpc>
              <a:buNone/>
            </a:pPr>
            <a:r>
              <a:rPr lang="en-US" sz="1400" dirty="0">
                <a:solidFill>
                  <a:srgbClr val="1D1D1B"/>
                </a:solidFill>
                <a:latin typeface="Roboto" pitchFamily="34" charset="0"/>
                <a:ea typeface="Roboto" pitchFamily="34" charset="-122"/>
                <a:cs typeface="Roboto" pitchFamily="34" charset="-120"/>
              </a:rPr>
              <a:t>resultado</a:t>
            </a:r>
            <a:endParaRPr lang="en-US" sz="1400" dirty="0"/>
          </a:p>
        </p:txBody>
      </p:sp>
      <p:sp>
        <p:nvSpPr>
          <p:cNvPr id="16" name="Text 10"/>
          <p:cNvSpPr/>
          <p:nvPr/>
        </p:nvSpPr>
        <p:spPr>
          <a:xfrm>
            <a:off x="819150" y="3808611"/>
            <a:ext cx="2781300" cy="396180"/>
          </a:xfrm>
          <a:prstGeom prst="roundRect">
            <a:avLst>
              <a:gd name="adj" fmla="val 11220"/>
            </a:avLst>
          </a:prstGeom>
          <a:solidFill>
            <a:srgbClr val="F4F4F2"/>
          </a:solidFill>
          <a:ln w="12700">
            <a:solidFill>
              <a:srgbClr val="3C3C3B"/>
            </a:solidFill>
            <a:prstDash val="solid"/>
          </a:ln>
        </p:spPr>
        <p:txBody>
          <a:bodyPr wrap="square" lIns="120331" tIns="69531" rIns="44893" bIns="44131" rtlCol="0" anchor="t">
            <a:normAutofit/>
          </a:bodyPr>
          <a:lstStyle/>
          <a:p>
            <a:pPr marL="0" indent="0" algn="l">
              <a:lnSpc>
                <a:spcPts val="1820"/>
              </a:lnSpc>
              <a:buNone/>
            </a:pPr>
            <a:r>
              <a:rPr lang="en-US" sz="1400" dirty="0">
                <a:solidFill>
                  <a:srgbClr val="1D1D1B"/>
                </a:solidFill>
                <a:latin typeface="Roboto" pitchFamily="34" charset="0"/>
                <a:ea typeface="Roboto" pitchFamily="34" charset="-122"/>
                <a:cs typeface="Roboto" pitchFamily="34" charset="-120"/>
              </a:rPr>
              <a:t>sortear una persona i (1/n)</a:t>
            </a:r>
            <a:endParaRPr lang="en-US" sz="1400" dirty="0"/>
          </a:p>
        </p:txBody>
      </p:sp>
      <p:pic>
        <p:nvPicPr>
          <p:cNvPr id="17" name="Image 4" descr="connector"/>
          <p:cNvPicPr>
            <a:picLocks noChangeAspect="1"/>
          </p:cNvPicPr>
          <p:nvPr/>
        </p:nvPicPr>
        <p:blipFill>
          <a:blip r:embed="rId5"/>
          <a:srcRect/>
          <a:stretch/>
        </p:blipFill>
        <p:spPr>
          <a:xfrm>
            <a:off x="3708400" y="3955852"/>
            <a:ext cx="355600" cy="101600"/>
          </a:xfrm>
          <a:prstGeom prst="rect">
            <a:avLst/>
          </a:prstGeom>
        </p:spPr>
      </p:pic>
      <p:sp>
        <p:nvSpPr>
          <p:cNvPr id="18" name="Text 11"/>
          <p:cNvSpPr/>
          <p:nvPr/>
        </p:nvSpPr>
        <p:spPr>
          <a:xfrm>
            <a:off x="4171950" y="3808611"/>
            <a:ext cx="2273300" cy="396180"/>
          </a:xfrm>
          <a:prstGeom prst="roundRect">
            <a:avLst>
              <a:gd name="adj" fmla="val 11220"/>
            </a:avLst>
          </a:prstGeom>
          <a:solidFill>
            <a:srgbClr val="F4F4F2"/>
          </a:solidFill>
          <a:ln w="12700">
            <a:solidFill>
              <a:srgbClr val="3C3C3B"/>
            </a:solidFill>
            <a:prstDash val="solid"/>
          </a:ln>
        </p:spPr>
        <p:txBody>
          <a:bodyPr wrap="square" lIns="120331" tIns="69531" rIns="60133" bIns="44131" rtlCol="0" anchor="t">
            <a:normAutofit/>
          </a:bodyPr>
          <a:lstStyle/>
          <a:p>
            <a:pPr marL="0" indent="0" algn="l">
              <a:lnSpc>
                <a:spcPts val="1820"/>
              </a:lnSpc>
              <a:buNone/>
            </a:pPr>
            <a:r>
              <a:rPr lang="en-US" sz="1400" dirty="0">
                <a:solidFill>
                  <a:srgbClr val="1D1D1B"/>
                </a:solidFill>
                <a:latin typeface="Roboto" pitchFamily="34" charset="0"/>
                <a:ea typeface="Roboto" pitchFamily="34" charset="-122"/>
                <a:cs typeface="Roboto" pitchFamily="34" charset="-120"/>
              </a:rPr>
              <a:t>medir su estado ρᵢ</a:t>
            </a:r>
            <a:endParaRPr lang="en-US" sz="1400" dirty="0"/>
          </a:p>
        </p:txBody>
      </p:sp>
      <p:pic>
        <p:nvPicPr>
          <p:cNvPr id="19" name="Image 5" descr="connector"/>
          <p:cNvPicPr>
            <a:picLocks noChangeAspect="1"/>
          </p:cNvPicPr>
          <p:nvPr/>
        </p:nvPicPr>
        <p:blipFill>
          <a:blip r:embed="rId5"/>
          <a:srcRect/>
          <a:stretch/>
        </p:blipFill>
        <p:spPr>
          <a:xfrm>
            <a:off x="6553200" y="3955852"/>
            <a:ext cx="355600" cy="101600"/>
          </a:xfrm>
          <a:prstGeom prst="rect">
            <a:avLst/>
          </a:prstGeom>
        </p:spPr>
      </p:pic>
      <p:sp>
        <p:nvSpPr>
          <p:cNvPr id="20" name="Text 12"/>
          <p:cNvSpPr/>
          <p:nvPr/>
        </p:nvSpPr>
        <p:spPr>
          <a:xfrm>
            <a:off x="7016750" y="3808611"/>
            <a:ext cx="2451100" cy="396180"/>
          </a:xfrm>
          <a:prstGeom prst="roundRect">
            <a:avLst>
              <a:gd name="adj" fmla="val 11220"/>
            </a:avLst>
          </a:prstGeom>
          <a:solidFill>
            <a:srgbClr val="F4F4F2"/>
          </a:solidFill>
          <a:ln w="12700">
            <a:solidFill>
              <a:srgbClr val="3C3C3B"/>
            </a:solidFill>
            <a:prstDash val="solid"/>
          </a:ln>
        </p:spPr>
        <p:txBody>
          <a:bodyPr wrap="square" lIns="120331" tIns="69531" rIns="54799" bIns="44131" rtlCol="0" anchor="t">
            <a:normAutofit/>
          </a:bodyPr>
          <a:lstStyle/>
          <a:p>
            <a:pPr marL="0" indent="0" algn="l">
              <a:lnSpc>
                <a:spcPts val="1820"/>
              </a:lnSpc>
              <a:buNone/>
            </a:pPr>
            <a:r>
              <a:rPr lang="en-US" sz="1400" dirty="0">
                <a:solidFill>
                  <a:srgbClr val="1D1D1B"/>
                </a:solidFill>
                <a:latin typeface="Roboto" pitchFamily="34" charset="0"/>
                <a:ea typeface="Roboto" pitchFamily="34" charset="-122"/>
                <a:cs typeface="Roboto" pitchFamily="34" charset="-120"/>
              </a:rPr>
              <a:t>resultado</a:t>
            </a:r>
            <a:endParaRPr lang="en-US" sz="1400" dirty="0"/>
          </a:p>
        </p:txBody>
      </p:sp>
      <p:sp>
        <p:nvSpPr>
          <p:cNvPr id="21" name="Text 13"/>
          <p:cNvSpPr/>
          <p:nvPr/>
        </p:nvSpPr>
        <p:spPr>
          <a:xfrm>
            <a:off x="9728200" y="3402211"/>
            <a:ext cx="1651000" cy="698500"/>
          </a:xfrm>
          <a:prstGeom prst="roundRect">
            <a:avLst>
              <a:gd name="adj" fmla="val 7273"/>
            </a:avLst>
          </a:prstGeom>
          <a:solidFill>
            <a:srgbClr val="FFEE00"/>
          </a:solidFill>
          <a:ln/>
        </p:spPr>
        <p:txBody>
          <a:bodyPr wrap="square" lIns="61321" tIns="112121" rIns="61321" bIns="86721" rtlCol="0" anchor="t">
            <a:normAutofit/>
          </a:bodyPr>
          <a:lstStyle/>
          <a:p>
            <a:pPr marL="0" indent="0" algn="ctr">
              <a:lnSpc>
                <a:spcPts val="1750"/>
              </a:lnSpc>
              <a:buNone/>
            </a:pPr>
            <a:r>
              <a:rPr lang="en-US" sz="1400" b="1" dirty="0">
                <a:solidFill>
                  <a:srgbClr val="1D1D1B"/>
                </a:solidFill>
                <a:latin typeface="DM Sans" pitchFamily="34" charset="0"/>
                <a:ea typeface="DM Sans" pitchFamily="34" charset="-122"/>
                <a:cs typeface="DM Sans" pitchFamily="34" charset="-120"/>
              </a:rPr>
              <a:t>Mismas probabilidades</a:t>
            </a:r>
            <a:endParaRPr lang="en-US" sz="1400" dirty="0"/>
          </a:p>
        </p:txBody>
      </p:sp>
      <p:sp>
        <p:nvSpPr>
          <p:cNvPr id="22" name="Text 14"/>
          <p:cNvSpPr/>
          <p:nvPr/>
        </p:nvSpPr>
        <p:spPr>
          <a:xfrm>
            <a:off x="812800" y="446514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Es la </a:t>
            </a:r>
            <a:r>
              <a:rPr lang="en-US" sz="1400" b="1" dirty="0">
                <a:solidFill>
                  <a:srgbClr val="3C3C3B"/>
                </a:solidFill>
                <a:latin typeface="Roboto" pitchFamily="34" charset="0"/>
                <a:ea typeface="Roboto" pitchFamily="34" charset="-122"/>
                <a:cs typeface="Roboto" pitchFamily="34" charset="-120"/>
              </a:rPr>
              <a:t>ley de probabilidad total</a:t>
            </a:r>
            <a:r>
              <a:rPr lang="en-US" sz="1400" dirty="0">
                <a:solidFill>
                  <a:srgbClr val="3C3C3B"/>
                </a:solidFill>
                <a:latin typeface="Roboto" pitchFamily="34" charset="0"/>
                <a:ea typeface="Roboto" pitchFamily="34" charset="-122"/>
                <a:cs typeface="Roboto" pitchFamily="34" charset="-120"/>
              </a:rPr>
              <a:t>: medir una copia de ρ da las mismas probabilidades que sortear una persona y medir su estado.</a:t>
            </a:r>
            <a:endParaRPr lang="en-US" sz="1400" dirty="0"/>
          </a:p>
        </p:txBody>
      </p:sp>
      <p:sp>
        <p:nvSpPr>
          <p:cNvPr id="23" name="Text 15"/>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4" name="Text 16"/>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QUÉ SIGNIFICA MEDIR</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Mezcla no es superposición</a:t>
            </a:r>
            <a:endParaRPr lang="en-US" sz="2800" dirty="0"/>
          </a:p>
        </p:txBody>
      </p:sp>
      <p:sp>
        <p:nvSpPr>
          <p:cNvPr id="8" name="Text 5"/>
          <p:cNvSpPr/>
          <p:nvPr/>
        </p:nvSpPr>
        <p:spPr>
          <a:xfrm>
            <a:off x="812800" y="1315641"/>
            <a:ext cx="3403104" cy="322560"/>
          </a:xfrm>
          <a:prstGeom prst="rect">
            <a:avLst/>
          </a:prstGeom>
          <a:noFill/>
          <a:ln/>
        </p:spPr>
        <p:txBody>
          <a:bodyPr wrap="non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Ejemplo con dos personas: </a:t>
            </a:r>
            <a:r>
              <a:rPr lang="en-US" sz="1800" dirty="0">
                <a:solidFill>
                  <a:srgbClr val="293470"/>
                </a:solidFill>
                <a:latin typeface="Roboto" pitchFamily="34" charset="0"/>
                <a:ea typeface="Roboto" pitchFamily="34" charset="-122"/>
                <a:cs typeface="Roboto" pitchFamily="34" charset="-120"/>
              </a:rPr>
              <a:t>car</a:t>
            </a:r>
            <a:r>
              <a:rPr lang="en-US" sz="1800" dirty="0">
                <a:solidFill>
                  <a:srgbClr val="3C3C3B"/>
                </a:solidFill>
                <a:latin typeface="Roboto" pitchFamily="34" charset="0"/>
                <a:ea typeface="Roboto" pitchFamily="34" charset="-122"/>
                <a:cs typeface="Roboto" pitchFamily="34" charset="-120"/>
              </a:rPr>
              <a:t> =</a:t>
            </a:r>
            <a:endParaRPr lang="en-US" sz="1800" dirty="0"/>
          </a:p>
        </p:txBody>
      </p:sp>
      <p:pic>
        <p:nvPicPr>
          <p:cNvPr id="9" name="Image 1" descr="|+⟩"/>
          <p:cNvPicPr>
            <a:picLocks noChangeAspect="1"/>
          </p:cNvPicPr>
          <p:nvPr/>
        </p:nvPicPr>
        <p:blipFill>
          <a:blip r:embed="rId4"/>
          <a:srcRect t="-89" b="-89"/>
          <a:stretch/>
        </p:blipFill>
        <p:spPr>
          <a:xfrm>
            <a:off x="4192984" y="1305520"/>
            <a:ext cx="431800" cy="317500"/>
          </a:xfrm>
          <a:prstGeom prst="rect">
            <a:avLst/>
          </a:prstGeom>
        </p:spPr>
      </p:pic>
      <p:sp>
        <p:nvSpPr>
          <p:cNvPr id="10" name="Text 6"/>
          <p:cNvSpPr/>
          <p:nvPr/>
        </p:nvSpPr>
        <p:spPr>
          <a:xfrm>
            <a:off x="4700984" y="1315641"/>
            <a:ext cx="1465461" cy="322560"/>
          </a:xfrm>
          <a:prstGeom prst="rect">
            <a:avLst/>
          </a:prstGeom>
          <a:noFill/>
          <a:ln/>
        </p:spPr>
        <p:txBody>
          <a:bodyPr wrap="non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y </a:t>
            </a:r>
            <a:r>
              <a:rPr lang="en-US" sz="1800" dirty="0">
                <a:solidFill>
                  <a:srgbClr val="293470"/>
                </a:solidFill>
                <a:latin typeface="Roboto" pitchFamily="34" charset="0"/>
                <a:ea typeface="Roboto" pitchFamily="34" charset="-122"/>
                <a:cs typeface="Roboto" pitchFamily="34" charset="-120"/>
              </a:rPr>
              <a:t>real estate</a:t>
            </a:r>
            <a:r>
              <a:rPr lang="en-US" sz="1800" dirty="0">
                <a:solidFill>
                  <a:srgbClr val="3C3C3B"/>
                </a:solidFill>
                <a:latin typeface="Roboto" pitchFamily="34" charset="0"/>
                <a:ea typeface="Roboto" pitchFamily="34" charset="-122"/>
                <a:cs typeface="Roboto" pitchFamily="34" charset="-120"/>
              </a:rPr>
              <a:t> =</a:t>
            </a:r>
            <a:endParaRPr lang="en-US" sz="1800" dirty="0"/>
          </a:p>
        </p:txBody>
      </p:sp>
      <p:pic>
        <p:nvPicPr>
          <p:cNvPr id="11" name="Image 2" descr="|−⟩"/>
          <p:cNvPicPr>
            <a:picLocks noChangeAspect="1"/>
          </p:cNvPicPr>
          <p:nvPr/>
        </p:nvPicPr>
        <p:blipFill>
          <a:blip r:embed="rId5"/>
          <a:srcRect t="-89" b="-89"/>
          <a:stretch/>
        </p:blipFill>
        <p:spPr>
          <a:xfrm>
            <a:off x="6191845" y="1305520"/>
            <a:ext cx="431800" cy="317500"/>
          </a:xfrm>
          <a:prstGeom prst="rect">
            <a:avLst/>
          </a:prstGeom>
        </p:spPr>
      </p:pic>
      <p:sp>
        <p:nvSpPr>
          <p:cNvPr id="12" name="Shape 7"/>
          <p:cNvSpPr/>
          <p:nvPr/>
        </p:nvSpPr>
        <p:spPr>
          <a:xfrm>
            <a:off x="812800" y="1877020"/>
            <a:ext cx="5181600" cy="3371453"/>
          </a:xfrm>
          <a:prstGeom prst="roundRect">
            <a:avLst>
              <a:gd name="adj" fmla="val 3014"/>
            </a:avLst>
          </a:prstGeom>
          <a:solidFill>
            <a:srgbClr val="F4F4F2"/>
          </a:solidFill>
          <a:ln/>
        </p:spPr>
        <p:txBody>
          <a:bodyPr/>
          <a:lstStyle/>
          <a:p>
            <a:endParaRPr lang="en-CO"/>
          </a:p>
        </p:txBody>
      </p:sp>
      <p:sp>
        <p:nvSpPr>
          <p:cNvPr id="13" name="Text 8"/>
          <p:cNvSpPr/>
          <p:nvPr/>
        </p:nvSpPr>
        <p:spPr>
          <a:xfrm>
            <a:off x="1066800" y="2105620"/>
            <a:ext cx="481380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6E6C"/>
                </a:solidFill>
                <a:latin typeface="Roboto" pitchFamily="34" charset="0"/>
                <a:ea typeface="Roboto" pitchFamily="34" charset="-122"/>
                <a:cs typeface="Roboto" pitchFamily="34" charset="-120"/>
              </a:rPr>
              <a:t>LO QUE HACE LA AGREGACIÓN</a:t>
            </a:r>
            <a:endParaRPr lang="en-US" sz="1200" dirty="0"/>
          </a:p>
        </p:txBody>
      </p:sp>
      <p:sp>
        <p:nvSpPr>
          <p:cNvPr id="14" name="Text 9"/>
          <p:cNvSpPr/>
          <p:nvPr/>
        </p:nvSpPr>
        <p:spPr>
          <a:xfrm>
            <a:off x="1066800" y="2357041"/>
            <a:ext cx="48138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Mezcla: suma de matrices</a:t>
            </a:r>
            <a:endParaRPr lang="en-US" sz="1800" dirty="0"/>
          </a:p>
        </p:txBody>
      </p:sp>
      <p:pic>
        <p:nvPicPr>
          <p:cNvPr id="15" name="Image 3" descr="½|+⟩⟨+| + ½|−⟩⟨−| = I/2"/>
          <p:cNvPicPr>
            <a:picLocks noChangeAspect="1"/>
          </p:cNvPicPr>
          <p:nvPr/>
        </p:nvPicPr>
        <p:blipFill>
          <a:blip r:embed="rId6"/>
          <a:srcRect t="-131" b="-131"/>
          <a:stretch/>
        </p:blipFill>
        <p:spPr>
          <a:xfrm>
            <a:off x="1066800" y="2834481"/>
            <a:ext cx="3060700" cy="641350"/>
          </a:xfrm>
          <a:prstGeom prst="rect">
            <a:avLst/>
          </a:prstGeom>
        </p:spPr>
      </p:pic>
      <p:sp>
        <p:nvSpPr>
          <p:cNvPr id="16" name="Text 10"/>
          <p:cNvSpPr/>
          <p:nvPr/>
        </p:nvSpPr>
        <p:spPr>
          <a:xfrm>
            <a:off x="1066800" y="367903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1D1B"/>
                </a:solidFill>
                <a:latin typeface="Roboto" pitchFamily="34" charset="0"/>
                <a:ea typeface="Roboto" pitchFamily="34" charset="-122"/>
                <a:cs typeface="Roboto" pitchFamily="34" charset="-120"/>
              </a:rPr>
              <a:t>Medida en Z</a:t>
            </a:r>
            <a:endParaRPr lang="en-US" sz="1200" dirty="0"/>
          </a:p>
        </p:txBody>
      </p:sp>
      <p:sp>
        <p:nvSpPr>
          <p:cNvPr id="17" name="Text 11"/>
          <p:cNvSpPr/>
          <p:nvPr/>
        </p:nvSpPr>
        <p:spPr>
          <a:xfrm>
            <a:off x="1066800" y="4019352"/>
            <a:ext cx="508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P(0)</a:t>
            </a:r>
            <a:endParaRPr lang="en-US" sz="1400" dirty="0"/>
          </a:p>
        </p:txBody>
      </p:sp>
      <p:sp>
        <p:nvSpPr>
          <p:cNvPr id="18" name="Shape 12"/>
          <p:cNvSpPr/>
          <p:nvPr/>
        </p:nvSpPr>
        <p:spPr>
          <a:xfrm>
            <a:off x="1625600" y="4029472"/>
            <a:ext cx="3048000" cy="228600"/>
          </a:xfrm>
          <a:prstGeom prst="rect">
            <a:avLst/>
          </a:prstGeom>
          <a:solidFill>
            <a:srgbClr val="FFFFFF"/>
          </a:solidFill>
          <a:ln/>
        </p:spPr>
        <p:txBody>
          <a:bodyPr/>
          <a:lstStyle/>
          <a:p>
            <a:endParaRPr lang="en-CO"/>
          </a:p>
        </p:txBody>
      </p:sp>
      <p:sp>
        <p:nvSpPr>
          <p:cNvPr id="19" name="Shape 13"/>
          <p:cNvSpPr/>
          <p:nvPr/>
        </p:nvSpPr>
        <p:spPr>
          <a:xfrm>
            <a:off x="1625600" y="4029472"/>
            <a:ext cx="1524000" cy="228600"/>
          </a:xfrm>
          <a:prstGeom prst="rect">
            <a:avLst/>
          </a:prstGeom>
          <a:solidFill>
            <a:srgbClr val="293470"/>
          </a:solidFill>
          <a:ln/>
        </p:spPr>
        <p:txBody>
          <a:bodyPr/>
          <a:lstStyle/>
          <a:p>
            <a:endParaRPr lang="en-CO"/>
          </a:p>
        </p:txBody>
      </p:sp>
      <p:sp>
        <p:nvSpPr>
          <p:cNvPr id="20" name="Text 14"/>
          <p:cNvSpPr/>
          <p:nvPr/>
        </p:nvSpPr>
        <p:spPr>
          <a:xfrm>
            <a:off x="4775200" y="4019352"/>
            <a:ext cx="30682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0.5</a:t>
            </a:r>
            <a:endParaRPr lang="en-US" sz="1400" dirty="0"/>
          </a:p>
        </p:txBody>
      </p:sp>
      <p:sp>
        <p:nvSpPr>
          <p:cNvPr id="21" name="Text 15"/>
          <p:cNvSpPr/>
          <p:nvPr/>
        </p:nvSpPr>
        <p:spPr>
          <a:xfrm>
            <a:off x="1066800" y="4395192"/>
            <a:ext cx="508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P(1)</a:t>
            </a:r>
            <a:endParaRPr lang="en-US" sz="1400" dirty="0"/>
          </a:p>
        </p:txBody>
      </p:sp>
      <p:sp>
        <p:nvSpPr>
          <p:cNvPr id="22" name="Shape 16"/>
          <p:cNvSpPr/>
          <p:nvPr/>
        </p:nvSpPr>
        <p:spPr>
          <a:xfrm>
            <a:off x="1625600" y="4405313"/>
            <a:ext cx="3048000" cy="228600"/>
          </a:xfrm>
          <a:prstGeom prst="rect">
            <a:avLst/>
          </a:prstGeom>
          <a:solidFill>
            <a:srgbClr val="FFFFFF"/>
          </a:solidFill>
          <a:ln/>
        </p:spPr>
        <p:txBody>
          <a:bodyPr/>
          <a:lstStyle/>
          <a:p>
            <a:endParaRPr lang="en-CO"/>
          </a:p>
        </p:txBody>
      </p:sp>
      <p:sp>
        <p:nvSpPr>
          <p:cNvPr id="23" name="Shape 17"/>
          <p:cNvSpPr/>
          <p:nvPr/>
        </p:nvSpPr>
        <p:spPr>
          <a:xfrm>
            <a:off x="1625600" y="4405313"/>
            <a:ext cx="1524000" cy="228600"/>
          </a:xfrm>
          <a:prstGeom prst="rect">
            <a:avLst/>
          </a:prstGeom>
          <a:solidFill>
            <a:srgbClr val="293470"/>
          </a:solidFill>
          <a:ln/>
        </p:spPr>
        <p:txBody>
          <a:bodyPr/>
          <a:lstStyle/>
          <a:p>
            <a:endParaRPr lang="en-CO"/>
          </a:p>
        </p:txBody>
      </p:sp>
      <p:sp>
        <p:nvSpPr>
          <p:cNvPr id="24" name="Text 18"/>
          <p:cNvSpPr/>
          <p:nvPr/>
        </p:nvSpPr>
        <p:spPr>
          <a:xfrm>
            <a:off x="4775200" y="4395192"/>
            <a:ext cx="30682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0.5</a:t>
            </a:r>
            <a:endParaRPr lang="en-US" sz="1400" dirty="0"/>
          </a:p>
        </p:txBody>
      </p:sp>
      <p:sp>
        <p:nvSpPr>
          <p:cNvPr id="25" name="Text 19"/>
          <p:cNvSpPr/>
          <p:nvPr/>
        </p:nvSpPr>
        <p:spPr>
          <a:xfrm>
            <a:off x="1066800" y="4771033"/>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50 / 50: igual que sortear entre las dos personas.</a:t>
            </a:r>
            <a:endParaRPr lang="en-US" sz="1400" dirty="0"/>
          </a:p>
        </p:txBody>
      </p:sp>
      <p:sp>
        <p:nvSpPr>
          <p:cNvPr id="26" name="Shape 20"/>
          <p:cNvSpPr/>
          <p:nvPr/>
        </p:nvSpPr>
        <p:spPr>
          <a:xfrm>
            <a:off x="6197600" y="1877020"/>
            <a:ext cx="5181600" cy="3371453"/>
          </a:xfrm>
          <a:prstGeom prst="roundRect">
            <a:avLst>
              <a:gd name="adj" fmla="val 3014"/>
            </a:avLst>
          </a:prstGeom>
          <a:solidFill>
            <a:srgbClr val="F4F4F2"/>
          </a:solidFill>
          <a:ln/>
        </p:spPr>
        <p:txBody>
          <a:bodyPr/>
          <a:lstStyle/>
          <a:p>
            <a:endParaRPr lang="en-CO"/>
          </a:p>
        </p:txBody>
      </p:sp>
      <p:sp>
        <p:nvSpPr>
          <p:cNvPr id="27" name="Text 21"/>
          <p:cNvSpPr/>
          <p:nvPr/>
        </p:nvSpPr>
        <p:spPr>
          <a:xfrm>
            <a:off x="6451600" y="2105620"/>
            <a:ext cx="481380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6E6C"/>
                </a:solidFill>
                <a:latin typeface="Roboto" pitchFamily="34" charset="0"/>
                <a:ea typeface="Roboto" pitchFamily="34" charset="-122"/>
                <a:cs typeface="Roboto" pitchFamily="34" charset="-120"/>
              </a:rPr>
              <a:t>OTRO ESTADO</a:t>
            </a:r>
            <a:endParaRPr lang="en-US" sz="1200" dirty="0"/>
          </a:p>
        </p:txBody>
      </p:sp>
      <p:sp>
        <p:nvSpPr>
          <p:cNvPr id="28" name="Text 22"/>
          <p:cNvSpPr/>
          <p:nvPr/>
        </p:nvSpPr>
        <p:spPr>
          <a:xfrm>
            <a:off x="6451600" y="2357041"/>
            <a:ext cx="48138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Superposición: suma de vectores</a:t>
            </a:r>
            <a:endParaRPr lang="en-US" sz="1800" dirty="0"/>
          </a:p>
        </p:txBody>
      </p:sp>
      <p:pic>
        <p:nvPicPr>
          <p:cNvPr id="29" name="Image 4" descr="(|+⟩ + |−⟩)/√2 = |0⟩"/>
          <p:cNvPicPr>
            <a:picLocks noChangeAspect="1"/>
          </p:cNvPicPr>
          <p:nvPr/>
        </p:nvPicPr>
        <p:blipFill>
          <a:blip r:embed="rId7"/>
          <a:srcRect l="-93" r="-93"/>
          <a:stretch/>
        </p:blipFill>
        <p:spPr>
          <a:xfrm>
            <a:off x="6451600" y="2793206"/>
            <a:ext cx="1981200" cy="723900"/>
          </a:xfrm>
          <a:prstGeom prst="rect">
            <a:avLst/>
          </a:prstGeom>
        </p:spPr>
      </p:pic>
      <p:sp>
        <p:nvSpPr>
          <p:cNvPr id="30" name="Text 23"/>
          <p:cNvSpPr/>
          <p:nvPr/>
        </p:nvSpPr>
        <p:spPr>
          <a:xfrm>
            <a:off x="6451600" y="3679031"/>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1D1B"/>
                </a:solidFill>
                <a:latin typeface="Roboto" pitchFamily="34" charset="0"/>
                <a:ea typeface="Roboto" pitchFamily="34" charset="-122"/>
                <a:cs typeface="Roboto" pitchFamily="34" charset="-120"/>
              </a:rPr>
              <a:t>Medida en Z</a:t>
            </a:r>
            <a:endParaRPr lang="en-US" sz="1200" dirty="0"/>
          </a:p>
        </p:txBody>
      </p:sp>
      <p:sp>
        <p:nvSpPr>
          <p:cNvPr id="31" name="Text 24"/>
          <p:cNvSpPr/>
          <p:nvPr/>
        </p:nvSpPr>
        <p:spPr>
          <a:xfrm>
            <a:off x="6451600" y="4019352"/>
            <a:ext cx="508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P(0)</a:t>
            </a:r>
            <a:endParaRPr lang="en-US" sz="1400" dirty="0"/>
          </a:p>
        </p:txBody>
      </p:sp>
      <p:sp>
        <p:nvSpPr>
          <p:cNvPr id="32" name="Shape 25"/>
          <p:cNvSpPr/>
          <p:nvPr/>
        </p:nvSpPr>
        <p:spPr>
          <a:xfrm>
            <a:off x="7010400" y="4029472"/>
            <a:ext cx="3048000" cy="228600"/>
          </a:xfrm>
          <a:prstGeom prst="rect">
            <a:avLst/>
          </a:prstGeom>
          <a:solidFill>
            <a:srgbClr val="FFFFFF"/>
          </a:solidFill>
          <a:ln/>
        </p:spPr>
        <p:txBody>
          <a:bodyPr/>
          <a:lstStyle/>
          <a:p>
            <a:endParaRPr lang="en-CO"/>
          </a:p>
        </p:txBody>
      </p:sp>
      <p:sp>
        <p:nvSpPr>
          <p:cNvPr id="33" name="Shape 26"/>
          <p:cNvSpPr/>
          <p:nvPr/>
        </p:nvSpPr>
        <p:spPr>
          <a:xfrm>
            <a:off x="7010400" y="4029472"/>
            <a:ext cx="3048000" cy="228600"/>
          </a:xfrm>
          <a:prstGeom prst="rect">
            <a:avLst/>
          </a:prstGeom>
          <a:solidFill>
            <a:srgbClr val="293470"/>
          </a:solidFill>
          <a:ln/>
        </p:spPr>
        <p:txBody>
          <a:bodyPr/>
          <a:lstStyle/>
          <a:p>
            <a:endParaRPr lang="en-CO"/>
          </a:p>
        </p:txBody>
      </p:sp>
      <p:sp>
        <p:nvSpPr>
          <p:cNvPr id="34" name="Text 27"/>
          <p:cNvSpPr/>
          <p:nvPr/>
        </p:nvSpPr>
        <p:spPr>
          <a:xfrm>
            <a:off x="10160000" y="4019352"/>
            <a:ext cx="1528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1</a:t>
            </a:r>
            <a:endParaRPr lang="en-US" sz="1400" dirty="0"/>
          </a:p>
        </p:txBody>
      </p:sp>
      <p:sp>
        <p:nvSpPr>
          <p:cNvPr id="35" name="Text 28"/>
          <p:cNvSpPr/>
          <p:nvPr/>
        </p:nvSpPr>
        <p:spPr>
          <a:xfrm>
            <a:off x="6451600" y="4395192"/>
            <a:ext cx="5080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P(1)</a:t>
            </a:r>
            <a:endParaRPr lang="en-US" sz="1400" dirty="0"/>
          </a:p>
        </p:txBody>
      </p:sp>
      <p:sp>
        <p:nvSpPr>
          <p:cNvPr id="36" name="Shape 29"/>
          <p:cNvSpPr/>
          <p:nvPr/>
        </p:nvSpPr>
        <p:spPr>
          <a:xfrm>
            <a:off x="7010400" y="4405313"/>
            <a:ext cx="3048000" cy="228600"/>
          </a:xfrm>
          <a:prstGeom prst="rect">
            <a:avLst/>
          </a:prstGeom>
          <a:solidFill>
            <a:srgbClr val="FFFFFF"/>
          </a:solidFill>
          <a:ln/>
        </p:spPr>
        <p:txBody>
          <a:bodyPr/>
          <a:lstStyle/>
          <a:p>
            <a:endParaRPr lang="en-CO"/>
          </a:p>
        </p:txBody>
      </p:sp>
      <p:sp>
        <p:nvSpPr>
          <p:cNvPr id="37" name="Text 30"/>
          <p:cNvSpPr/>
          <p:nvPr/>
        </p:nvSpPr>
        <p:spPr>
          <a:xfrm>
            <a:off x="10160000" y="4395192"/>
            <a:ext cx="15289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0</a:t>
            </a:r>
            <a:endParaRPr lang="en-US" sz="1400" dirty="0"/>
          </a:p>
        </p:txBody>
      </p:sp>
      <p:sp>
        <p:nvSpPr>
          <p:cNvPr id="38" name="Text 31"/>
          <p:cNvSpPr/>
          <p:nvPr/>
        </p:nvSpPr>
        <p:spPr>
          <a:xfrm>
            <a:off x="6451600" y="4771033"/>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Siempre «0». No es «50 % cada persona».</a:t>
            </a:r>
            <a:endParaRPr lang="en-US" sz="1400" dirty="0"/>
          </a:p>
        </p:txBody>
      </p:sp>
      <p:sp>
        <p:nvSpPr>
          <p:cNvPr id="39" name="Text 32"/>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40" name="Text 33"/>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QUÉ SIGNIFICA MEDIR</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Por qué alcanza con simular 1 qubit</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Solo se mide y publica el qubit de </a:t>
            </a:r>
            <a:r>
              <a:rPr lang="en-US" sz="1800" dirty="0">
                <a:solidFill>
                  <a:srgbClr val="293470"/>
                </a:solidFill>
                <a:latin typeface="Roboto" pitchFamily="34" charset="0"/>
                <a:ea typeface="Roboto" pitchFamily="34" charset="-122"/>
                <a:cs typeface="Roboto" pitchFamily="34" charset="-120"/>
              </a:rPr>
              <a:t>collateral</a:t>
            </a:r>
            <a:r>
              <a:rPr lang="en-US" sz="1800" dirty="0">
                <a:solidFill>
                  <a:srgbClr val="3C3C3B"/>
                </a:solidFill>
                <a:latin typeface="Roboto" pitchFamily="34" charset="0"/>
                <a:ea typeface="Roboto" pitchFamily="34" charset="-122"/>
                <a:cs typeface="Roboto" pitchFamily="34" charset="-120"/>
              </a:rPr>
              <a:t>; la traza parcial descarta los otros 6.</a:t>
            </a:r>
            <a:endParaRPr lang="en-US" sz="1800" dirty="0"/>
          </a:p>
        </p:txBody>
      </p:sp>
      <p:sp>
        <p:nvSpPr>
          <p:cNvPr id="9" name="Shape 6"/>
          <p:cNvSpPr/>
          <p:nvPr/>
        </p:nvSpPr>
        <p:spPr>
          <a:xfrm>
            <a:off x="812800" y="1856680"/>
            <a:ext cx="5181600" cy="2306042"/>
          </a:xfrm>
          <a:prstGeom prst="roundRect">
            <a:avLst>
              <a:gd name="adj" fmla="val 4406"/>
            </a:avLst>
          </a:prstGeom>
          <a:solidFill>
            <a:srgbClr val="F4F4F2"/>
          </a:solidFill>
          <a:ln/>
        </p:spPr>
        <p:txBody>
          <a:bodyPr/>
          <a:lstStyle/>
          <a:p>
            <a:endParaRPr lang="en-CO"/>
          </a:p>
        </p:txBody>
      </p:sp>
      <p:sp>
        <p:nvSpPr>
          <p:cNvPr id="10" name="Text 7"/>
          <p:cNvSpPr/>
          <p:nvPr/>
        </p:nvSpPr>
        <p:spPr>
          <a:xfrm>
            <a:off x="1066800" y="2110680"/>
            <a:ext cx="481380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Depolarizante global de 7 qubits</a:t>
            </a:r>
            <a:endParaRPr lang="en-US" sz="1400" dirty="0"/>
          </a:p>
        </p:txBody>
      </p:sp>
      <p:pic>
        <p:nvPicPr>
          <p:cNvPr id="11" name="Image 1" descr="ρ″₀ = Tr_resto[ρ″] = (1−p)·ρ₀ + p·I/2"/>
          <p:cNvPicPr>
            <a:picLocks noChangeAspect="1"/>
          </p:cNvPicPr>
          <p:nvPr/>
        </p:nvPicPr>
        <p:blipFill>
          <a:blip r:embed="rId4"/>
          <a:srcRect t="-210" b="-210"/>
          <a:stretch/>
        </p:blipFill>
        <p:spPr>
          <a:xfrm>
            <a:off x="1066800" y="2451001"/>
            <a:ext cx="3829050" cy="584200"/>
          </a:xfrm>
          <a:prstGeom prst="rect">
            <a:avLst/>
          </a:prstGeom>
        </p:spPr>
      </p:pic>
      <p:sp>
        <p:nvSpPr>
          <p:cNvPr id="12" name="Text 8"/>
          <p:cNvSpPr/>
          <p:nvPr/>
        </p:nvSpPr>
        <p:spPr>
          <a:xfrm>
            <a:off x="1066800" y="3162201"/>
            <a:ext cx="481380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Es un depolarizante de 1 qubit con el mismo p. Solo usa la linealidad de la traza parcial y Tr(I/2) = 1: vale para cualquier ρ, aunque haya correlaciones o entrelazamiento.</a:t>
            </a:r>
            <a:endParaRPr lang="en-US" sz="1400" dirty="0"/>
          </a:p>
        </p:txBody>
      </p:sp>
      <p:sp>
        <p:nvSpPr>
          <p:cNvPr id="13" name="Shape 9"/>
          <p:cNvSpPr/>
          <p:nvPr/>
        </p:nvSpPr>
        <p:spPr>
          <a:xfrm>
            <a:off x="6197600" y="1856680"/>
            <a:ext cx="5181600" cy="2306042"/>
          </a:xfrm>
          <a:prstGeom prst="roundRect">
            <a:avLst>
              <a:gd name="adj" fmla="val 4406"/>
            </a:avLst>
          </a:prstGeom>
          <a:solidFill>
            <a:srgbClr val="F4F4F2"/>
          </a:solidFill>
          <a:ln/>
        </p:spPr>
        <p:txBody>
          <a:bodyPr/>
          <a:lstStyle/>
          <a:p>
            <a:endParaRPr lang="en-CO"/>
          </a:p>
        </p:txBody>
      </p:sp>
      <p:sp>
        <p:nvSpPr>
          <p:cNvPr id="14" name="Text 10"/>
          <p:cNvSpPr/>
          <p:nvPr/>
        </p:nvSpPr>
        <p:spPr>
          <a:xfrm>
            <a:off x="6451600" y="2110680"/>
            <a:ext cx="481380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GAD y PAD: canal producto, qubit por qubit</a:t>
            </a:r>
            <a:endParaRPr lang="en-US" sz="1400" dirty="0"/>
          </a:p>
        </p:txBody>
      </p:sp>
      <p:pic>
        <p:nvPicPr>
          <p:cNvPr id="15" name="Image 2" descr="Tr_resto[(E₀ ⊗ E₁ ⊗ … ⊗ E₆)(ρ)] = E₀(ρ₀)"/>
          <p:cNvPicPr>
            <a:picLocks noChangeAspect="1"/>
          </p:cNvPicPr>
          <p:nvPr/>
        </p:nvPicPr>
        <p:blipFill>
          <a:blip r:embed="rId5"/>
          <a:srcRect t="-312" b="-312"/>
          <a:stretch/>
        </p:blipFill>
        <p:spPr>
          <a:xfrm>
            <a:off x="6451600" y="2558951"/>
            <a:ext cx="4546600" cy="368300"/>
          </a:xfrm>
          <a:prstGeom prst="rect">
            <a:avLst/>
          </a:prstGeom>
        </p:spPr>
      </p:pic>
      <p:sp>
        <p:nvSpPr>
          <p:cNvPr id="16" name="Text 11"/>
          <p:cNvSpPr/>
          <p:nvPr/>
        </p:nvSpPr>
        <p:spPr>
          <a:xfrm>
            <a:off x="6451600" y="3162201"/>
            <a:ext cx="481380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Los canales de los otros qubits preservan la traza. Tampoco requiere que ρ sea producto (demostración de la semana 8).</a:t>
            </a:r>
            <a:endParaRPr lang="en-US" sz="1400" dirty="0"/>
          </a:p>
        </p:txBody>
      </p:sp>
      <p:sp>
        <p:nvSpPr>
          <p:cNvPr id="17" name="Text 12"/>
          <p:cNvSpPr/>
          <p:nvPr/>
        </p:nvSpPr>
        <p:spPr>
          <a:xfrm>
            <a:off x="812800" y="4416723"/>
            <a:ext cx="3810000" cy="642541"/>
          </a:xfrm>
          <a:prstGeom prst="roundRect">
            <a:avLst>
              <a:gd name="adj" fmla="val 7906"/>
            </a:avLst>
          </a:prstGeom>
          <a:solidFill>
            <a:srgbClr val="FFEE00"/>
          </a:solidFill>
          <a:ln/>
        </p:spPr>
        <p:txBody>
          <a:bodyPr wrap="square" lIns="162921" tIns="112121" rIns="59289" bIns="86721"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El ε se calcula con D = 2</a:t>
            </a:r>
            <a:endParaRPr lang="en-US" sz="1800" dirty="0"/>
          </a:p>
        </p:txBody>
      </p:sp>
      <p:sp>
        <p:nvSpPr>
          <p:cNvPr id="18" name="Text 13"/>
          <p:cNvSpPr/>
          <p:nvPr/>
        </p:nvSpPr>
        <p:spPr>
          <a:xfrm>
            <a:off x="4778375" y="4419898"/>
            <a:ext cx="6597650" cy="636191"/>
          </a:xfrm>
          <a:prstGeom prst="roundRect">
            <a:avLst>
              <a:gd name="adj" fmla="val 7486"/>
            </a:avLst>
          </a:prstGeom>
          <a:noFill/>
          <a:ln w="6350">
            <a:solidFill>
              <a:srgbClr val="E3E3DF"/>
            </a:solidFill>
            <a:prstDash val="solid"/>
          </a:ln>
        </p:spPr>
        <p:txBody>
          <a:bodyPr wrap="square" lIns="141626" tIns="90826" rIns="0" bIns="65426"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Útil para el Acto V: en el computador de 2 qubits, aplicar GAD a cada qubit y medir uno equivale a GAD de 1 qubit.</a:t>
            </a:r>
            <a:endParaRPr lang="en-US" sz="1200" dirty="0"/>
          </a:p>
        </p:txBody>
      </p:sp>
      <p:sp>
        <p:nvSpPr>
          <p:cNvPr id="19" name="Text 14"/>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0" name="Text 15"/>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QUÉ SIGNIFICA MEDIR</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Pipeline del diseño L</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Cada repetición es una publicación posible: cada persona se mide una sola vez.</a:t>
            </a:r>
            <a:endParaRPr lang="en-US" sz="1800" dirty="0"/>
          </a:p>
        </p:txBody>
      </p:sp>
      <p:sp>
        <p:nvSpPr>
          <p:cNvPr id="9" name="Shape 6"/>
          <p:cNvSpPr/>
          <p:nvPr/>
        </p:nvSpPr>
        <p:spPr>
          <a:xfrm>
            <a:off x="4810125" y="1866205"/>
            <a:ext cx="6559550" cy="2774950"/>
          </a:xfrm>
          <a:prstGeom prst="roundRect">
            <a:avLst>
              <a:gd name="adj" fmla="val 3318"/>
            </a:avLst>
          </a:prstGeom>
          <a:noFill/>
          <a:ln w="19050">
            <a:solidFill>
              <a:srgbClr val="293470"/>
            </a:solidFill>
            <a:prstDash val="dash"/>
          </a:ln>
        </p:spPr>
        <p:txBody>
          <a:bodyPr/>
          <a:lstStyle/>
          <a:p>
            <a:endParaRPr lang="en-CO"/>
          </a:p>
        </p:txBody>
      </p:sp>
      <p:sp>
        <p:nvSpPr>
          <p:cNvPr id="10" name="Shape 7"/>
          <p:cNvSpPr/>
          <p:nvPr/>
        </p:nvSpPr>
        <p:spPr>
          <a:xfrm>
            <a:off x="819150" y="2625030"/>
            <a:ext cx="1574800" cy="1257300"/>
          </a:xfrm>
          <a:prstGeom prst="roundRect">
            <a:avLst>
              <a:gd name="adj" fmla="val 5556"/>
            </a:avLst>
          </a:prstGeom>
          <a:solidFill>
            <a:srgbClr val="F4F4F2"/>
          </a:solidFill>
          <a:ln w="12700">
            <a:solidFill>
              <a:srgbClr val="3C3C3B"/>
            </a:solidFill>
            <a:prstDash val="solid"/>
          </a:ln>
        </p:spPr>
        <p:txBody>
          <a:bodyPr/>
          <a:lstStyle/>
          <a:p>
            <a:endParaRPr lang="en-CO"/>
          </a:p>
        </p:txBody>
      </p:sp>
      <p:sp>
        <p:nvSpPr>
          <p:cNvPr id="11" name="Text 8"/>
          <p:cNvSpPr/>
          <p:nvPr/>
        </p:nvSpPr>
        <p:spPr>
          <a:xfrm>
            <a:off x="952500" y="2732980"/>
            <a:ext cx="13589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1D1B"/>
                </a:solidFill>
                <a:latin typeface="Roboto" pitchFamily="34" charset="0"/>
                <a:ea typeface="Roboto" pitchFamily="34" charset="-122"/>
                <a:cs typeface="Roboto" pitchFamily="34" charset="-120"/>
              </a:rPr>
              <a:t>1 · Datos</a:t>
            </a:r>
            <a:endParaRPr lang="en-US" sz="1300" dirty="0"/>
          </a:p>
        </p:txBody>
      </p:sp>
      <p:sp>
        <p:nvSpPr>
          <p:cNvPr id="12" name="Text 9"/>
          <p:cNvSpPr/>
          <p:nvPr/>
        </p:nvSpPr>
        <p:spPr>
          <a:xfrm>
            <a:off x="952500" y="2969121"/>
            <a:ext cx="13589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93470"/>
                </a:solidFill>
                <a:latin typeface="Roboto" pitchFamily="34" charset="0"/>
                <a:ea typeface="Roboto" pitchFamily="34" charset="-122"/>
                <a:cs typeface="Roboto" pitchFamily="34" charset="-120"/>
              </a:rPr>
              <a:t>collateral</a:t>
            </a:r>
            <a:endParaRPr lang="en-US" sz="1200" dirty="0"/>
          </a:p>
        </p:txBody>
      </p:sp>
      <p:sp>
        <p:nvSpPr>
          <p:cNvPr id="13" name="Text 10"/>
          <p:cNvSpPr/>
          <p:nvPr/>
        </p:nvSpPr>
        <p:spPr>
          <a:xfrm>
            <a:off x="952500" y="3205262"/>
            <a:ext cx="135890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C3C3B"/>
                </a:solidFill>
                <a:latin typeface="Roboto" pitchFamily="34" charset="0"/>
                <a:ea typeface="Roboto" pitchFamily="34" charset="-122"/>
                <a:cs typeface="Roboto" pitchFamily="34" charset="-120"/>
              </a:rPr>
              <a:t>1000 personas, 4 categorías</a:t>
            </a:r>
            <a:endParaRPr lang="en-US" sz="1200" dirty="0"/>
          </a:p>
        </p:txBody>
      </p:sp>
      <p:sp>
        <p:nvSpPr>
          <p:cNvPr id="14" name="Shape 11"/>
          <p:cNvSpPr/>
          <p:nvPr/>
        </p:nvSpPr>
        <p:spPr>
          <a:xfrm>
            <a:off x="2787650" y="2625030"/>
            <a:ext cx="1701800" cy="1257300"/>
          </a:xfrm>
          <a:prstGeom prst="roundRect">
            <a:avLst>
              <a:gd name="adj" fmla="val 5556"/>
            </a:avLst>
          </a:prstGeom>
          <a:solidFill>
            <a:srgbClr val="F4F4F2"/>
          </a:solidFill>
          <a:ln w="12700">
            <a:solidFill>
              <a:srgbClr val="3C3C3B"/>
            </a:solidFill>
            <a:prstDash val="solid"/>
          </a:ln>
        </p:spPr>
        <p:txBody>
          <a:bodyPr/>
          <a:lstStyle/>
          <a:p>
            <a:endParaRPr lang="en-CO"/>
          </a:p>
        </p:txBody>
      </p:sp>
      <p:sp>
        <p:nvSpPr>
          <p:cNvPr id="15" name="Text 12"/>
          <p:cNvSpPr/>
          <p:nvPr/>
        </p:nvSpPr>
        <p:spPr>
          <a:xfrm>
            <a:off x="2921000" y="2732980"/>
            <a:ext cx="14859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1D1B"/>
                </a:solidFill>
                <a:latin typeface="Roboto" pitchFamily="34" charset="0"/>
                <a:ea typeface="Roboto" pitchFamily="34" charset="-122"/>
                <a:cs typeface="Roboto" pitchFamily="34" charset="-120"/>
              </a:rPr>
              <a:t>2 · Codificar</a:t>
            </a:r>
            <a:endParaRPr lang="en-US" sz="1300" dirty="0"/>
          </a:p>
        </p:txBody>
      </p:sp>
      <p:sp>
        <p:nvSpPr>
          <p:cNvPr id="16" name="Text 13"/>
          <p:cNvSpPr/>
          <p:nvPr/>
        </p:nvSpPr>
        <p:spPr>
          <a:xfrm>
            <a:off x="2921000" y="2969121"/>
            <a:ext cx="14859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C3C3B"/>
                </a:solidFill>
                <a:latin typeface="Roboto" pitchFamily="34" charset="0"/>
                <a:ea typeface="Roboto" pitchFamily="34" charset="-122"/>
                <a:cs typeface="Roboto" pitchFamily="34" charset="-120"/>
              </a:rPr>
              <a:t>1 qubit por persona</a:t>
            </a:r>
            <a:endParaRPr lang="en-US" sz="1200" dirty="0"/>
          </a:p>
        </p:txBody>
      </p:sp>
      <p:sp>
        <p:nvSpPr>
          <p:cNvPr id="17" name="Text 14"/>
          <p:cNvSpPr/>
          <p:nvPr/>
        </p:nvSpPr>
        <p:spPr>
          <a:xfrm>
            <a:off x="2921000" y="3205262"/>
            <a:ext cx="14859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C3C3B"/>
                </a:solidFill>
                <a:latin typeface="Roboto" pitchFamily="34" charset="0"/>
                <a:ea typeface="Roboto" pitchFamily="34" charset="-122"/>
                <a:cs typeface="Roboto" pitchFamily="34" charset="-120"/>
              </a:rPr>
              <a:t>H + RZ(2πk/4)</a:t>
            </a:r>
            <a:endParaRPr lang="en-US" sz="1200" dirty="0"/>
          </a:p>
        </p:txBody>
      </p:sp>
      <p:sp>
        <p:nvSpPr>
          <p:cNvPr id="18" name="Shape 15"/>
          <p:cNvSpPr/>
          <p:nvPr/>
        </p:nvSpPr>
        <p:spPr>
          <a:xfrm>
            <a:off x="4946650" y="2053530"/>
            <a:ext cx="1892300" cy="1066800"/>
          </a:xfrm>
          <a:prstGeom prst="roundRect">
            <a:avLst>
              <a:gd name="adj" fmla="val 6548"/>
            </a:avLst>
          </a:prstGeom>
          <a:solidFill>
            <a:srgbClr val="FFFFFF"/>
          </a:solidFill>
          <a:ln w="12700">
            <a:solidFill>
              <a:srgbClr val="3C3C3B"/>
            </a:solidFill>
            <a:prstDash val="solid"/>
          </a:ln>
        </p:spPr>
        <p:txBody>
          <a:bodyPr/>
          <a:lstStyle/>
          <a:p>
            <a:endParaRPr lang="en-CO"/>
          </a:p>
        </p:txBody>
      </p:sp>
      <p:sp>
        <p:nvSpPr>
          <p:cNvPr id="19" name="Text 16"/>
          <p:cNvSpPr/>
          <p:nvPr/>
        </p:nvSpPr>
        <p:spPr>
          <a:xfrm>
            <a:off x="5080000" y="2161480"/>
            <a:ext cx="16764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1D1B"/>
                </a:solidFill>
                <a:latin typeface="Roboto" pitchFamily="34" charset="0"/>
                <a:ea typeface="Roboto" pitchFamily="34" charset="-122"/>
                <a:cs typeface="Roboto" pitchFamily="34" charset="-120"/>
              </a:rPr>
              <a:t>3 · Rama B</a:t>
            </a:r>
            <a:endParaRPr lang="en-US" sz="1300" dirty="0"/>
          </a:p>
        </p:txBody>
      </p:sp>
      <p:sp>
        <p:nvSpPr>
          <p:cNvPr id="20" name="Text 17"/>
          <p:cNvSpPr/>
          <p:nvPr/>
        </p:nvSpPr>
        <p:spPr>
          <a:xfrm>
            <a:off x="5080000" y="2397621"/>
            <a:ext cx="16764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C3C3B"/>
                </a:solidFill>
                <a:latin typeface="Roboto" pitchFamily="34" charset="0"/>
                <a:ea typeface="Roboto" pitchFamily="34" charset="-122"/>
                <a:cs typeface="Roboto" pitchFamily="34" charset="-120"/>
              </a:rPr>
              <a:t>sin ruido, p = 0</a:t>
            </a:r>
            <a:endParaRPr lang="en-US" sz="1200" dirty="0"/>
          </a:p>
        </p:txBody>
      </p:sp>
      <p:sp>
        <p:nvSpPr>
          <p:cNvPr id="21" name="Text 18"/>
          <p:cNvSpPr/>
          <p:nvPr/>
        </p:nvSpPr>
        <p:spPr>
          <a:xfrm>
            <a:off x="5080000" y="2633762"/>
            <a:ext cx="16764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C3C3B"/>
                </a:solidFill>
                <a:latin typeface="Roboto" pitchFamily="34" charset="0"/>
                <a:ea typeface="Roboto" pitchFamily="34" charset="-122"/>
                <a:cs typeface="Roboto" pitchFamily="34" charset="-120"/>
              </a:rPr>
              <a:t>(referencia)</a:t>
            </a:r>
            <a:endParaRPr lang="en-US" sz="1200" dirty="0"/>
          </a:p>
        </p:txBody>
      </p:sp>
      <p:sp>
        <p:nvSpPr>
          <p:cNvPr id="22" name="Shape 19"/>
          <p:cNvSpPr/>
          <p:nvPr/>
        </p:nvSpPr>
        <p:spPr>
          <a:xfrm>
            <a:off x="4946650" y="3387030"/>
            <a:ext cx="1892300" cy="1066800"/>
          </a:xfrm>
          <a:prstGeom prst="roundRect">
            <a:avLst>
              <a:gd name="adj" fmla="val 6548"/>
            </a:avLst>
          </a:prstGeom>
          <a:solidFill>
            <a:srgbClr val="FFEE00"/>
          </a:solidFill>
          <a:ln w="12700">
            <a:solidFill>
              <a:srgbClr val="1D1D1B"/>
            </a:solidFill>
            <a:prstDash val="solid"/>
          </a:ln>
        </p:spPr>
        <p:txBody>
          <a:bodyPr/>
          <a:lstStyle/>
          <a:p>
            <a:endParaRPr lang="en-CO"/>
          </a:p>
        </p:txBody>
      </p:sp>
      <p:sp>
        <p:nvSpPr>
          <p:cNvPr id="23" name="Text 20"/>
          <p:cNvSpPr/>
          <p:nvPr/>
        </p:nvSpPr>
        <p:spPr>
          <a:xfrm>
            <a:off x="5080000" y="3494980"/>
            <a:ext cx="16764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1D1B"/>
                </a:solidFill>
                <a:latin typeface="Roboto" pitchFamily="34" charset="0"/>
                <a:ea typeface="Roboto" pitchFamily="34" charset="-122"/>
                <a:cs typeface="Roboto" pitchFamily="34" charset="-120"/>
              </a:rPr>
              <a:t>3 · Rama C</a:t>
            </a:r>
            <a:endParaRPr lang="en-US" sz="1300" dirty="0"/>
          </a:p>
        </p:txBody>
      </p:sp>
      <p:sp>
        <p:nvSpPr>
          <p:cNvPr id="24" name="Text 21"/>
          <p:cNvSpPr/>
          <p:nvPr/>
        </p:nvSpPr>
        <p:spPr>
          <a:xfrm>
            <a:off x="5080000" y="3731121"/>
            <a:ext cx="167640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1D1B"/>
                </a:solidFill>
                <a:latin typeface="Roboto" pitchFamily="34" charset="0"/>
                <a:ea typeface="Roboto" pitchFamily="34" charset="-122"/>
                <a:cs typeface="Roboto" pitchFamily="34" charset="-120"/>
              </a:rPr>
              <a:t>depolarizante de 1 qubit, p = 0.5</a:t>
            </a:r>
            <a:endParaRPr lang="en-US" sz="1200" dirty="0"/>
          </a:p>
        </p:txBody>
      </p:sp>
      <p:sp>
        <p:nvSpPr>
          <p:cNvPr id="25" name="Shape 22"/>
          <p:cNvSpPr/>
          <p:nvPr/>
        </p:nvSpPr>
        <p:spPr>
          <a:xfrm>
            <a:off x="7232650" y="2053530"/>
            <a:ext cx="1765300" cy="1066800"/>
          </a:xfrm>
          <a:prstGeom prst="roundRect">
            <a:avLst>
              <a:gd name="adj" fmla="val 6548"/>
            </a:avLst>
          </a:prstGeom>
          <a:solidFill>
            <a:srgbClr val="FFFFFF"/>
          </a:solidFill>
          <a:ln w="12700">
            <a:solidFill>
              <a:srgbClr val="3C3C3B"/>
            </a:solidFill>
            <a:prstDash val="solid"/>
          </a:ln>
        </p:spPr>
        <p:txBody>
          <a:bodyPr/>
          <a:lstStyle/>
          <a:p>
            <a:endParaRPr lang="en-CO"/>
          </a:p>
        </p:txBody>
      </p:sp>
      <p:sp>
        <p:nvSpPr>
          <p:cNvPr id="26" name="Text 23"/>
          <p:cNvSpPr/>
          <p:nvPr/>
        </p:nvSpPr>
        <p:spPr>
          <a:xfrm>
            <a:off x="7366000" y="2161480"/>
            <a:ext cx="15494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1D1B"/>
                </a:solidFill>
                <a:latin typeface="Roboto" pitchFamily="34" charset="0"/>
                <a:ea typeface="Roboto" pitchFamily="34" charset="-122"/>
                <a:cs typeface="Roboto" pitchFamily="34" charset="-120"/>
              </a:rPr>
              <a:t>4 · Medir en X</a:t>
            </a:r>
            <a:endParaRPr lang="en-US" sz="1300" dirty="0"/>
          </a:p>
        </p:txBody>
      </p:sp>
      <p:sp>
        <p:nvSpPr>
          <p:cNvPr id="27" name="Text 24"/>
          <p:cNvSpPr/>
          <p:nvPr/>
        </p:nvSpPr>
        <p:spPr>
          <a:xfrm>
            <a:off x="7366000" y="2397621"/>
            <a:ext cx="154940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C3C3B"/>
                </a:solidFill>
                <a:latin typeface="Roboto" pitchFamily="34" charset="0"/>
                <a:ea typeface="Roboto" pitchFamily="34" charset="-122"/>
                <a:cs typeface="Roboto" pitchFamily="34" charset="-120"/>
              </a:rPr>
              <a:t>una vez por persona: «+» o «−»</a:t>
            </a:r>
            <a:endParaRPr lang="en-US" sz="1200" dirty="0"/>
          </a:p>
        </p:txBody>
      </p:sp>
      <p:sp>
        <p:nvSpPr>
          <p:cNvPr id="28" name="Shape 25"/>
          <p:cNvSpPr/>
          <p:nvPr/>
        </p:nvSpPr>
        <p:spPr>
          <a:xfrm>
            <a:off x="7232650" y="3387030"/>
            <a:ext cx="1765300" cy="1066800"/>
          </a:xfrm>
          <a:prstGeom prst="roundRect">
            <a:avLst>
              <a:gd name="adj" fmla="val 6548"/>
            </a:avLst>
          </a:prstGeom>
          <a:solidFill>
            <a:srgbClr val="FFEE00"/>
          </a:solidFill>
          <a:ln w="12700">
            <a:solidFill>
              <a:srgbClr val="1D1D1B"/>
            </a:solidFill>
            <a:prstDash val="solid"/>
          </a:ln>
        </p:spPr>
        <p:txBody>
          <a:bodyPr/>
          <a:lstStyle/>
          <a:p>
            <a:endParaRPr lang="en-CO"/>
          </a:p>
        </p:txBody>
      </p:sp>
      <p:sp>
        <p:nvSpPr>
          <p:cNvPr id="29" name="Text 26"/>
          <p:cNvSpPr/>
          <p:nvPr/>
        </p:nvSpPr>
        <p:spPr>
          <a:xfrm>
            <a:off x="7366000" y="3494980"/>
            <a:ext cx="15494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1D1B"/>
                </a:solidFill>
                <a:latin typeface="Roboto" pitchFamily="34" charset="0"/>
                <a:ea typeface="Roboto" pitchFamily="34" charset="-122"/>
                <a:cs typeface="Roboto" pitchFamily="34" charset="-120"/>
              </a:rPr>
              <a:t>4 · Medir en X</a:t>
            </a:r>
            <a:endParaRPr lang="en-US" sz="1300" dirty="0"/>
          </a:p>
        </p:txBody>
      </p:sp>
      <p:sp>
        <p:nvSpPr>
          <p:cNvPr id="30" name="Text 27"/>
          <p:cNvSpPr/>
          <p:nvPr/>
        </p:nvSpPr>
        <p:spPr>
          <a:xfrm>
            <a:off x="7366000" y="3731121"/>
            <a:ext cx="154940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1D1B"/>
                </a:solidFill>
                <a:latin typeface="Roboto" pitchFamily="34" charset="0"/>
                <a:ea typeface="Roboto" pitchFamily="34" charset="-122"/>
                <a:cs typeface="Roboto" pitchFamily="34" charset="-120"/>
              </a:rPr>
              <a:t>una vez por persona: «+» o «−»</a:t>
            </a:r>
            <a:endParaRPr lang="en-US" sz="1200" dirty="0"/>
          </a:p>
        </p:txBody>
      </p:sp>
      <p:sp>
        <p:nvSpPr>
          <p:cNvPr id="31" name="Shape 28"/>
          <p:cNvSpPr/>
          <p:nvPr/>
        </p:nvSpPr>
        <p:spPr>
          <a:xfrm>
            <a:off x="9391650" y="2053530"/>
            <a:ext cx="1828800" cy="1066800"/>
          </a:xfrm>
          <a:prstGeom prst="roundRect">
            <a:avLst>
              <a:gd name="adj" fmla="val 6548"/>
            </a:avLst>
          </a:prstGeom>
          <a:solidFill>
            <a:srgbClr val="FFFFFF"/>
          </a:solidFill>
          <a:ln w="12700">
            <a:solidFill>
              <a:srgbClr val="3C3C3B"/>
            </a:solidFill>
            <a:prstDash val="solid"/>
          </a:ln>
        </p:spPr>
        <p:txBody>
          <a:bodyPr/>
          <a:lstStyle/>
          <a:p>
            <a:endParaRPr lang="en-CO"/>
          </a:p>
        </p:txBody>
      </p:sp>
      <p:sp>
        <p:nvSpPr>
          <p:cNvPr id="32" name="Text 29"/>
          <p:cNvSpPr/>
          <p:nvPr/>
        </p:nvSpPr>
        <p:spPr>
          <a:xfrm>
            <a:off x="9525000" y="2161480"/>
            <a:ext cx="16129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1D1B"/>
                </a:solidFill>
                <a:latin typeface="Roboto" pitchFamily="34" charset="0"/>
                <a:ea typeface="Roboto" pitchFamily="34" charset="-122"/>
                <a:cs typeface="Roboto" pitchFamily="34" charset="-120"/>
              </a:rPr>
              <a:t>5 · Estadística</a:t>
            </a:r>
            <a:endParaRPr lang="en-US" sz="1300" dirty="0"/>
          </a:p>
        </p:txBody>
      </p:sp>
      <p:sp>
        <p:nvSpPr>
          <p:cNvPr id="33" name="Text 30"/>
          <p:cNvSpPr/>
          <p:nvPr/>
        </p:nvSpPr>
        <p:spPr>
          <a:xfrm>
            <a:off x="9525000" y="2397621"/>
            <a:ext cx="16129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C3C3B"/>
                </a:solidFill>
                <a:latin typeface="Roboto" pitchFamily="34" charset="0"/>
                <a:ea typeface="Roboto" pitchFamily="34" charset="-122"/>
                <a:cs typeface="Roboto" pitchFamily="34" charset="-120"/>
              </a:rPr>
              <a:t>F = fracción de «+»</a:t>
            </a:r>
            <a:endParaRPr lang="en-US" sz="1200" dirty="0"/>
          </a:p>
        </p:txBody>
      </p:sp>
      <p:sp>
        <p:nvSpPr>
          <p:cNvPr id="34" name="Shape 31"/>
          <p:cNvSpPr/>
          <p:nvPr/>
        </p:nvSpPr>
        <p:spPr>
          <a:xfrm>
            <a:off x="9391650" y="3387030"/>
            <a:ext cx="1828800" cy="1066800"/>
          </a:xfrm>
          <a:prstGeom prst="roundRect">
            <a:avLst>
              <a:gd name="adj" fmla="val 6548"/>
            </a:avLst>
          </a:prstGeom>
          <a:solidFill>
            <a:srgbClr val="FFEE00"/>
          </a:solidFill>
          <a:ln w="12700">
            <a:solidFill>
              <a:srgbClr val="1D1D1B"/>
            </a:solidFill>
            <a:prstDash val="solid"/>
          </a:ln>
        </p:spPr>
        <p:txBody>
          <a:bodyPr/>
          <a:lstStyle/>
          <a:p>
            <a:endParaRPr lang="en-CO"/>
          </a:p>
        </p:txBody>
      </p:sp>
      <p:sp>
        <p:nvSpPr>
          <p:cNvPr id="35" name="Text 32"/>
          <p:cNvSpPr/>
          <p:nvPr/>
        </p:nvSpPr>
        <p:spPr>
          <a:xfrm>
            <a:off x="9525000" y="3494980"/>
            <a:ext cx="16129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1D1B"/>
                </a:solidFill>
                <a:latin typeface="Roboto" pitchFamily="34" charset="0"/>
                <a:ea typeface="Roboto" pitchFamily="34" charset="-122"/>
                <a:cs typeface="Roboto" pitchFamily="34" charset="-120"/>
              </a:rPr>
              <a:t>5 · Corregir</a:t>
            </a:r>
            <a:endParaRPr lang="en-US" sz="1300" dirty="0"/>
          </a:p>
        </p:txBody>
      </p:sp>
      <p:pic>
        <p:nvPicPr>
          <p:cNvPr id="36" name="Image 1" descr="F̂ = (F − p/2)/(1 − p)"/>
          <p:cNvPicPr>
            <a:picLocks noChangeAspect="1"/>
          </p:cNvPicPr>
          <p:nvPr/>
        </p:nvPicPr>
        <p:blipFill>
          <a:blip r:embed="rId4"/>
          <a:srcRect t="-309" b="-309"/>
          <a:stretch/>
        </p:blipFill>
        <p:spPr>
          <a:xfrm>
            <a:off x="9525000" y="3731121"/>
            <a:ext cx="1162050" cy="488950"/>
          </a:xfrm>
          <a:prstGeom prst="rect">
            <a:avLst/>
          </a:prstGeom>
        </p:spPr>
      </p:pic>
      <p:pic>
        <p:nvPicPr>
          <p:cNvPr id="37" name="Image 2" descr="connector"/>
          <p:cNvPicPr>
            <a:picLocks noChangeAspect="1"/>
          </p:cNvPicPr>
          <p:nvPr/>
        </p:nvPicPr>
        <p:blipFill>
          <a:blip r:embed="rId5"/>
          <a:srcRect/>
          <a:stretch/>
        </p:blipFill>
        <p:spPr>
          <a:xfrm>
            <a:off x="2349500" y="3202880"/>
            <a:ext cx="482600" cy="101600"/>
          </a:xfrm>
          <a:prstGeom prst="rect">
            <a:avLst/>
          </a:prstGeom>
        </p:spPr>
      </p:pic>
      <p:pic>
        <p:nvPicPr>
          <p:cNvPr id="38" name="Image 3" descr="connector"/>
          <p:cNvPicPr>
            <a:picLocks noChangeAspect="1"/>
          </p:cNvPicPr>
          <p:nvPr/>
        </p:nvPicPr>
        <p:blipFill>
          <a:blip r:embed="rId6"/>
          <a:srcRect/>
          <a:stretch/>
        </p:blipFill>
        <p:spPr>
          <a:xfrm>
            <a:off x="4445000" y="3202880"/>
            <a:ext cx="260350" cy="101600"/>
          </a:xfrm>
          <a:prstGeom prst="rect">
            <a:avLst/>
          </a:prstGeom>
        </p:spPr>
      </p:pic>
      <p:pic>
        <p:nvPicPr>
          <p:cNvPr id="39" name="Image 4" descr="connector"/>
          <p:cNvPicPr>
            <a:picLocks noChangeAspect="1"/>
          </p:cNvPicPr>
          <p:nvPr/>
        </p:nvPicPr>
        <p:blipFill>
          <a:blip r:embed="rId7"/>
          <a:srcRect/>
          <a:stretch/>
        </p:blipFill>
        <p:spPr>
          <a:xfrm>
            <a:off x="4603750" y="2536130"/>
            <a:ext cx="101600" cy="768350"/>
          </a:xfrm>
          <a:prstGeom prst="rect">
            <a:avLst/>
          </a:prstGeom>
        </p:spPr>
      </p:pic>
      <p:pic>
        <p:nvPicPr>
          <p:cNvPr id="40" name="Image 5" descr="connector"/>
          <p:cNvPicPr>
            <a:picLocks noChangeAspect="1"/>
          </p:cNvPicPr>
          <p:nvPr/>
        </p:nvPicPr>
        <p:blipFill>
          <a:blip r:embed="rId8"/>
          <a:srcRect/>
          <a:stretch/>
        </p:blipFill>
        <p:spPr>
          <a:xfrm>
            <a:off x="4603750" y="2536130"/>
            <a:ext cx="387350" cy="101600"/>
          </a:xfrm>
          <a:prstGeom prst="rect">
            <a:avLst/>
          </a:prstGeom>
        </p:spPr>
      </p:pic>
      <p:pic>
        <p:nvPicPr>
          <p:cNvPr id="41" name="Image 6" descr="connector"/>
          <p:cNvPicPr>
            <a:picLocks noChangeAspect="1"/>
          </p:cNvPicPr>
          <p:nvPr/>
        </p:nvPicPr>
        <p:blipFill>
          <a:blip r:embed="rId7"/>
          <a:srcRect/>
          <a:stretch/>
        </p:blipFill>
        <p:spPr>
          <a:xfrm>
            <a:off x="4603750" y="3202880"/>
            <a:ext cx="101600" cy="768350"/>
          </a:xfrm>
          <a:prstGeom prst="rect">
            <a:avLst/>
          </a:prstGeom>
        </p:spPr>
      </p:pic>
      <p:pic>
        <p:nvPicPr>
          <p:cNvPr id="42" name="Image 7" descr="connector"/>
          <p:cNvPicPr>
            <a:picLocks noChangeAspect="1"/>
          </p:cNvPicPr>
          <p:nvPr/>
        </p:nvPicPr>
        <p:blipFill>
          <a:blip r:embed="rId8"/>
          <a:srcRect/>
          <a:stretch/>
        </p:blipFill>
        <p:spPr>
          <a:xfrm>
            <a:off x="4603750" y="3869630"/>
            <a:ext cx="387350" cy="101600"/>
          </a:xfrm>
          <a:prstGeom prst="rect">
            <a:avLst/>
          </a:prstGeom>
        </p:spPr>
      </p:pic>
      <p:pic>
        <p:nvPicPr>
          <p:cNvPr id="43" name="Image 8" descr="connector"/>
          <p:cNvPicPr>
            <a:picLocks noChangeAspect="1"/>
          </p:cNvPicPr>
          <p:nvPr/>
        </p:nvPicPr>
        <p:blipFill>
          <a:blip r:embed="rId5"/>
          <a:srcRect/>
          <a:stretch/>
        </p:blipFill>
        <p:spPr>
          <a:xfrm>
            <a:off x="6794500" y="2536130"/>
            <a:ext cx="482600" cy="101600"/>
          </a:xfrm>
          <a:prstGeom prst="rect">
            <a:avLst/>
          </a:prstGeom>
        </p:spPr>
      </p:pic>
      <p:pic>
        <p:nvPicPr>
          <p:cNvPr id="44" name="Image 9" descr="connector"/>
          <p:cNvPicPr>
            <a:picLocks noChangeAspect="1"/>
          </p:cNvPicPr>
          <p:nvPr/>
        </p:nvPicPr>
        <p:blipFill>
          <a:blip r:embed="rId5"/>
          <a:srcRect/>
          <a:stretch/>
        </p:blipFill>
        <p:spPr>
          <a:xfrm>
            <a:off x="6794500" y="3869630"/>
            <a:ext cx="482600" cy="101600"/>
          </a:xfrm>
          <a:prstGeom prst="rect">
            <a:avLst/>
          </a:prstGeom>
        </p:spPr>
      </p:pic>
      <p:pic>
        <p:nvPicPr>
          <p:cNvPr id="45" name="Image 10" descr="connector"/>
          <p:cNvPicPr>
            <a:picLocks noChangeAspect="1"/>
          </p:cNvPicPr>
          <p:nvPr/>
        </p:nvPicPr>
        <p:blipFill>
          <a:blip r:embed="rId5"/>
          <a:srcRect/>
          <a:stretch/>
        </p:blipFill>
        <p:spPr>
          <a:xfrm>
            <a:off x="8953500" y="2536130"/>
            <a:ext cx="482600" cy="101600"/>
          </a:xfrm>
          <a:prstGeom prst="rect">
            <a:avLst/>
          </a:prstGeom>
        </p:spPr>
      </p:pic>
      <p:pic>
        <p:nvPicPr>
          <p:cNvPr id="46" name="Image 11" descr="connector"/>
          <p:cNvPicPr>
            <a:picLocks noChangeAspect="1"/>
          </p:cNvPicPr>
          <p:nvPr/>
        </p:nvPicPr>
        <p:blipFill>
          <a:blip r:embed="rId5"/>
          <a:srcRect/>
          <a:stretch/>
        </p:blipFill>
        <p:spPr>
          <a:xfrm>
            <a:off x="8953500" y="3869630"/>
            <a:ext cx="482600" cy="101600"/>
          </a:xfrm>
          <a:prstGeom prst="rect">
            <a:avLst/>
          </a:prstGeom>
        </p:spPr>
      </p:pic>
      <p:sp>
        <p:nvSpPr>
          <p:cNvPr id="47" name="Text 33"/>
          <p:cNvSpPr/>
          <p:nvPr/>
        </p:nvSpPr>
        <p:spPr>
          <a:xfrm>
            <a:off x="4800600" y="4764980"/>
            <a:ext cx="6775958"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293470"/>
                </a:solidFill>
                <a:latin typeface="Roboto" pitchFamily="34" charset="0"/>
                <a:ea typeface="Roboto" pitchFamily="34" charset="-122"/>
                <a:cs typeface="Roboto" pitchFamily="34" charset="-120"/>
              </a:rPr>
              <a:t>6 · Repetir el experimento 2000 veces → distribución de F en B y de F̂ → histograma (Acto IV)</a:t>
            </a:r>
            <a:endParaRPr lang="en-US" sz="1400" dirty="0"/>
          </a:p>
        </p:txBody>
      </p:sp>
      <p:sp>
        <p:nvSpPr>
          <p:cNvPr id="48" name="Shape 34"/>
          <p:cNvSpPr/>
          <p:nvPr/>
        </p:nvSpPr>
        <p:spPr>
          <a:xfrm>
            <a:off x="812800" y="4218880"/>
            <a:ext cx="3683000" cy="1270000"/>
          </a:xfrm>
          <a:prstGeom prst="rect">
            <a:avLst/>
          </a:prstGeom>
          <a:solidFill>
            <a:srgbClr val="F4F4F2"/>
          </a:solidFill>
          <a:ln/>
        </p:spPr>
        <p:txBody>
          <a:bodyPr/>
          <a:lstStyle/>
          <a:p>
            <a:endParaRPr lang="en-CO"/>
          </a:p>
        </p:txBody>
      </p:sp>
      <p:sp>
        <p:nvSpPr>
          <p:cNvPr id="49" name="Shape 35"/>
          <p:cNvSpPr/>
          <p:nvPr/>
        </p:nvSpPr>
        <p:spPr>
          <a:xfrm>
            <a:off x="831850" y="4218880"/>
            <a:ext cx="0" cy="1270000"/>
          </a:xfrm>
          <a:prstGeom prst="line">
            <a:avLst/>
          </a:prstGeom>
          <a:noFill/>
          <a:ln w="38100">
            <a:solidFill>
              <a:srgbClr val="FFEE00"/>
            </a:solidFill>
            <a:prstDash val="solid"/>
          </a:ln>
        </p:spPr>
        <p:txBody>
          <a:bodyPr/>
          <a:lstStyle/>
          <a:p>
            <a:endParaRPr lang="en-CO"/>
          </a:p>
        </p:txBody>
      </p:sp>
      <p:sp>
        <p:nvSpPr>
          <p:cNvPr id="50" name="Text 36"/>
          <p:cNvSpPr/>
          <p:nvPr/>
        </p:nvSpPr>
        <p:spPr>
          <a:xfrm>
            <a:off x="1003300" y="4320480"/>
            <a:ext cx="344030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1D1B"/>
                </a:solidFill>
                <a:latin typeface="Roboto" pitchFamily="34" charset="0"/>
                <a:ea typeface="Roboto" pitchFamily="34" charset="-122"/>
                <a:cs typeface="Roboto" pitchFamily="34" charset="-120"/>
              </a:rPr>
              <a:t>Terminología</a:t>
            </a:r>
            <a:endParaRPr lang="en-US" sz="1200" dirty="0"/>
          </a:p>
        </p:txBody>
      </p:sp>
      <p:sp>
        <p:nvSpPr>
          <p:cNvPr id="51" name="Text 37"/>
          <p:cNvSpPr/>
          <p:nvPr/>
        </p:nvSpPr>
        <p:spPr>
          <a:xfrm>
            <a:off x="1003300" y="4571901"/>
            <a:ext cx="3440303"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«Repeticiones del experimento», no «shots»: shots se lee como medir muchas veces a la misma persona, justo lo que rompe la privacidad.</a:t>
            </a:r>
            <a:endParaRPr lang="en-US" sz="1200" dirty="0"/>
          </a:p>
        </p:txBody>
      </p:sp>
      <p:sp>
        <p:nvSpPr>
          <p:cNvPr id="52" name="Text 38"/>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53" name="Text 39"/>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QUÉ SIGNIFICA MEDIR</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El límite de la codificación</a:t>
            </a:r>
            <a:endParaRPr lang="en-US" sz="2800" dirty="0"/>
          </a:p>
        </p:txBody>
      </p:sp>
      <p:sp>
        <p:nvSpPr>
          <p:cNvPr id="8" name="Text 5"/>
          <p:cNvSpPr/>
          <p:nvPr/>
        </p:nvSpPr>
        <p:spPr>
          <a:xfrm>
            <a:off x="812800" y="1305520"/>
            <a:ext cx="10883392"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Aun sin ruido, una medición no recupera la categoría: en un qubit caben como mucho 2 estados ortogonales.</a:t>
            </a:r>
            <a:endParaRPr lang="en-US" sz="1800" dirty="0"/>
          </a:p>
        </p:txBody>
      </p:sp>
      <p:pic>
        <p:nvPicPr>
          <p:cNvPr id="9" name="Image 1" descr="Ecuador de la esfera de Bloch: car en +x, none en +y, real estate en −x y savings en −y, separados 90°; la medición en X es el eje horizontal"/>
          <p:cNvPicPr>
            <a:picLocks noChangeAspect="1"/>
          </p:cNvPicPr>
          <p:nvPr/>
        </p:nvPicPr>
        <p:blipFill>
          <a:blip r:embed="rId4"/>
          <a:srcRect/>
          <a:stretch/>
        </p:blipFill>
        <p:spPr>
          <a:xfrm>
            <a:off x="812800" y="2153841"/>
            <a:ext cx="4064000" cy="2794000"/>
          </a:xfrm>
          <a:prstGeom prst="rect">
            <a:avLst/>
          </a:prstGeom>
        </p:spPr>
      </p:pic>
      <p:sp>
        <p:nvSpPr>
          <p:cNvPr id="10" name="Text 6"/>
          <p:cNvSpPr/>
          <p:nvPr/>
        </p:nvSpPr>
        <p:spPr>
          <a:xfrm>
            <a:off x="4013200" y="3449538"/>
            <a:ext cx="267593" cy="228005"/>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1D1D1B"/>
                </a:solidFill>
                <a:latin typeface="Roboto" pitchFamily="34" charset="0"/>
                <a:ea typeface="Roboto" pitchFamily="34" charset="-122"/>
                <a:cs typeface="Roboto" pitchFamily="34" charset="-120"/>
              </a:rPr>
              <a:t>car</a:t>
            </a:r>
            <a:endParaRPr lang="en-US" sz="1200" dirty="0"/>
          </a:p>
        </p:txBody>
      </p:sp>
      <p:pic>
        <p:nvPicPr>
          <p:cNvPr id="11" name="Image 2" descr="|+⟩"/>
          <p:cNvPicPr>
            <a:picLocks noChangeAspect="1"/>
          </p:cNvPicPr>
          <p:nvPr/>
        </p:nvPicPr>
        <p:blipFill>
          <a:blip r:embed="rId5"/>
          <a:srcRect t="-355" b="-355"/>
          <a:stretch/>
        </p:blipFill>
        <p:spPr>
          <a:xfrm>
            <a:off x="4280793" y="3439716"/>
            <a:ext cx="298450" cy="222250"/>
          </a:xfrm>
          <a:prstGeom prst="rect">
            <a:avLst/>
          </a:prstGeom>
        </p:spPr>
      </p:pic>
      <p:sp>
        <p:nvSpPr>
          <p:cNvPr id="12" name="Text 7"/>
          <p:cNvSpPr/>
          <p:nvPr/>
        </p:nvSpPr>
        <p:spPr>
          <a:xfrm>
            <a:off x="985044" y="3334941"/>
            <a:ext cx="869156" cy="228005"/>
          </a:xfrm>
          <a:prstGeom prst="rect">
            <a:avLst/>
          </a:prstGeom>
          <a:noFill/>
          <a:ln/>
        </p:spPr>
        <p:txBody>
          <a:bodyPr wrap="square" lIns="0" tIns="0" rIns="0" bIns="0" rtlCol="0" anchor="t">
            <a:normAutofit/>
          </a:bodyPr>
          <a:lstStyle/>
          <a:p>
            <a:pPr marL="0" indent="0" algn="r">
              <a:lnSpc>
                <a:spcPts val="1596"/>
              </a:lnSpc>
              <a:buNone/>
            </a:pPr>
            <a:r>
              <a:rPr lang="en-US" sz="1200" b="1" dirty="0">
                <a:solidFill>
                  <a:srgbClr val="1D1D1B"/>
                </a:solidFill>
                <a:latin typeface="Roboto" pitchFamily="34" charset="0"/>
                <a:ea typeface="Roboto" pitchFamily="34" charset="-122"/>
                <a:cs typeface="Roboto" pitchFamily="34" charset="-120"/>
              </a:rPr>
              <a:t>real estate</a:t>
            </a:r>
            <a:endParaRPr lang="en-US" sz="1200" dirty="0"/>
          </a:p>
        </p:txBody>
      </p:sp>
      <p:pic>
        <p:nvPicPr>
          <p:cNvPr id="13" name="Image 3" descr="|−⟩"/>
          <p:cNvPicPr>
            <a:picLocks noChangeAspect="1"/>
          </p:cNvPicPr>
          <p:nvPr/>
        </p:nvPicPr>
        <p:blipFill>
          <a:blip r:embed="rId6"/>
          <a:srcRect t="-355" b="-355"/>
          <a:stretch/>
        </p:blipFill>
        <p:spPr>
          <a:xfrm>
            <a:off x="1555750" y="3537545"/>
            <a:ext cx="298450" cy="222250"/>
          </a:xfrm>
          <a:prstGeom prst="rect">
            <a:avLst/>
          </a:prstGeom>
        </p:spPr>
      </p:pic>
      <p:sp>
        <p:nvSpPr>
          <p:cNvPr id="14" name="Text 8"/>
          <p:cNvSpPr/>
          <p:nvPr/>
        </p:nvSpPr>
        <p:spPr>
          <a:xfrm>
            <a:off x="2532261" y="2255738"/>
            <a:ext cx="390128" cy="228005"/>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1D1D1B"/>
                </a:solidFill>
                <a:latin typeface="Roboto" pitchFamily="34" charset="0"/>
                <a:ea typeface="Roboto" pitchFamily="34" charset="-122"/>
                <a:cs typeface="Roboto" pitchFamily="34" charset="-120"/>
              </a:rPr>
              <a:t>none</a:t>
            </a:r>
            <a:endParaRPr lang="en-US" sz="1200" dirty="0"/>
          </a:p>
        </p:txBody>
      </p:sp>
      <p:pic>
        <p:nvPicPr>
          <p:cNvPr id="15" name="Image 4" descr="|+i⟩"/>
          <p:cNvPicPr>
            <a:picLocks noChangeAspect="1"/>
          </p:cNvPicPr>
          <p:nvPr/>
        </p:nvPicPr>
        <p:blipFill>
          <a:blip r:embed="rId7"/>
          <a:srcRect/>
          <a:stretch/>
        </p:blipFill>
        <p:spPr>
          <a:xfrm>
            <a:off x="2922389" y="2245916"/>
            <a:ext cx="361950" cy="222250"/>
          </a:xfrm>
          <a:prstGeom prst="rect">
            <a:avLst/>
          </a:prstGeom>
        </p:spPr>
      </p:pic>
      <p:sp>
        <p:nvSpPr>
          <p:cNvPr id="16" name="Text 9"/>
          <p:cNvSpPr/>
          <p:nvPr/>
        </p:nvSpPr>
        <p:spPr>
          <a:xfrm>
            <a:off x="2438400" y="4668738"/>
            <a:ext cx="577850" cy="228005"/>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1D1D1B"/>
                </a:solidFill>
                <a:latin typeface="Roboto" pitchFamily="34" charset="0"/>
                <a:ea typeface="Roboto" pitchFamily="34" charset="-122"/>
                <a:cs typeface="Roboto" pitchFamily="34" charset="-120"/>
              </a:rPr>
              <a:t>savings</a:t>
            </a:r>
            <a:endParaRPr lang="en-US" sz="1200" dirty="0"/>
          </a:p>
        </p:txBody>
      </p:sp>
      <p:pic>
        <p:nvPicPr>
          <p:cNvPr id="17" name="Image 5" descr="|−i⟩"/>
          <p:cNvPicPr>
            <a:picLocks noChangeAspect="1"/>
          </p:cNvPicPr>
          <p:nvPr/>
        </p:nvPicPr>
        <p:blipFill>
          <a:blip r:embed="rId8"/>
          <a:srcRect/>
          <a:stretch/>
        </p:blipFill>
        <p:spPr>
          <a:xfrm>
            <a:off x="3016250" y="4658916"/>
            <a:ext cx="361950" cy="222250"/>
          </a:xfrm>
          <a:prstGeom prst="rect">
            <a:avLst/>
          </a:prstGeom>
        </p:spPr>
      </p:pic>
      <p:sp>
        <p:nvSpPr>
          <p:cNvPr id="18" name="Text 10"/>
          <p:cNvSpPr/>
          <p:nvPr/>
        </p:nvSpPr>
        <p:spPr>
          <a:xfrm>
            <a:off x="812800" y="5049441"/>
            <a:ext cx="41859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C"/>
                </a:solidFill>
                <a:latin typeface="Roboto" pitchFamily="34" charset="0"/>
                <a:ea typeface="Roboto" pitchFamily="34" charset="-122"/>
                <a:cs typeface="Roboto" pitchFamily="34" charset="-120"/>
              </a:rPr>
              <a:t>4 puntos en el ecuador, separados 90°. La medición en base X es el eje horizontal (azul).</a:t>
            </a:r>
            <a:endParaRPr lang="en-US" sz="1200" dirty="0"/>
          </a:p>
        </p:txBody>
      </p:sp>
      <p:sp>
        <p:nvSpPr>
          <p:cNvPr id="19" name="Shape 11"/>
          <p:cNvSpPr/>
          <p:nvPr/>
        </p:nvSpPr>
        <p:spPr>
          <a:xfrm>
            <a:off x="5184775" y="2157016"/>
            <a:ext cx="6191250" cy="1771650"/>
          </a:xfrm>
          <a:prstGeom prst="rect">
            <a:avLst/>
          </a:prstGeom>
          <a:noFill/>
          <a:ln w="6350">
            <a:solidFill>
              <a:srgbClr val="E3E3DF"/>
            </a:solidFill>
            <a:prstDash val="solid"/>
          </a:ln>
        </p:spPr>
        <p:txBody>
          <a:bodyPr/>
          <a:lstStyle/>
          <a:p>
            <a:endParaRPr lang="en-CO"/>
          </a:p>
        </p:txBody>
      </p:sp>
      <p:sp>
        <p:nvSpPr>
          <p:cNvPr id="20" name="Shape 12"/>
          <p:cNvSpPr/>
          <p:nvPr/>
        </p:nvSpPr>
        <p:spPr>
          <a:xfrm>
            <a:off x="5187950" y="2160191"/>
            <a:ext cx="6184900" cy="342900"/>
          </a:xfrm>
          <a:prstGeom prst="rect">
            <a:avLst/>
          </a:prstGeom>
          <a:solidFill>
            <a:srgbClr val="3C3C3B"/>
          </a:solidFill>
          <a:ln/>
        </p:spPr>
        <p:txBody>
          <a:bodyPr/>
          <a:lstStyle/>
          <a:p>
            <a:endParaRPr lang="en-CO"/>
          </a:p>
        </p:txBody>
      </p:sp>
      <p:sp>
        <p:nvSpPr>
          <p:cNvPr id="21" name="Text 13"/>
          <p:cNvSpPr/>
          <p:nvPr/>
        </p:nvSpPr>
        <p:spPr>
          <a:xfrm>
            <a:off x="5289550" y="2216051"/>
            <a:ext cx="194906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Roboto" pitchFamily="34" charset="0"/>
                <a:ea typeface="Roboto" pitchFamily="34" charset="-122"/>
                <a:cs typeface="Roboto" pitchFamily="34" charset="-120"/>
              </a:rPr>
              <a:t>Categoría</a:t>
            </a:r>
            <a:endParaRPr lang="en-US" sz="1300" dirty="0"/>
          </a:p>
        </p:txBody>
      </p:sp>
      <p:sp>
        <p:nvSpPr>
          <p:cNvPr id="22" name="Text 14"/>
          <p:cNvSpPr/>
          <p:nvPr/>
        </p:nvSpPr>
        <p:spPr>
          <a:xfrm>
            <a:off x="7385050" y="2216051"/>
            <a:ext cx="10922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Roboto" pitchFamily="34" charset="0"/>
                <a:ea typeface="Roboto" pitchFamily="34" charset="-122"/>
                <a:cs typeface="Roboto" pitchFamily="34" charset="-120"/>
              </a:rPr>
              <a:t>Estado</a:t>
            </a:r>
            <a:endParaRPr lang="en-US" sz="1300" dirty="0"/>
          </a:p>
        </p:txBody>
      </p:sp>
      <p:sp>
        <p:nvSpPr>
          <p:cNvPr id="23" name="Text 15"/>
          <p:cNvSpPr/>
          <p:nvPr/>
        </p:nvSpPr>
        <p:spPr>
          <a:xfrm>
            <a:off x="8578850" y="2216051"/>
            <a:ext cx="1460500" cy="256480"/>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Proporción</a:t>
            </a:r>
            <a:endParaRPr lang="en-US" sz="1300" dirty="0"/>
          </a:p>
        </p:txBody>
      </p:sp>
      <p:sp>
        <p:nvSpPr>
          <p:cNvPr id="24" name="Text 16"/>
          <p:cNvSpPr/>
          <p:nvPr/>
        </p:nvSpPr>
        <p:spPr>
          <a:xfrm>
            <a:off x="10191750" y="2216051"/>
            <a:ext cx="1079500" cy="256480"/>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P(+)</a:t>
            </a:r>
            <a:endParaRPr lang="en-US" sz="1300" dirty="0"/>
          </a:p>
        </p:txBody>
      </p:sp>
      <p:sp>
        <p:nvSpPr>
          <p:cNvPr id="25" name="Shape 17"/>
          <p:cNvSpPr/>
          <p:nvPr/>
        </p:nvSpPr>
        <p:spPr>
          <a:xfrm>
            <a:off x="5187950" y="2503091"/>
            <a:ext cx="6184900" cy="355600"/>
          </a:xfrm>
          <a:prstGeom prst="rect">
            <a:avLst/>
          </a:prstGeom>
          <a:solidFill>
            <a:srgbClr val="FFFFFF"/>
          </a:solidFill>
          <a:ln/>
        </p:spPr>
        <p:txBody>
          <a:bodyPr/>
          <a:lstStyle/>
          <a:p>
            <a:endParaRPr lang="en-CO"/>
          </a:p>
        </p:txBody>
      </p:sp>
      <p:sp>
        <p:nvSpPr>
          <p:cNvPr id="26" name="Shape 18"/>
          <p:cNvSpPr/>
          <p:nvPr/>
        </p:nvSpPr>
        <p:spPr>
          <a:xfrm>
            <a:off x="5187950" y="2506266"/>
            <a:ext cx="6184900" cy="0"/>
          </a:xfrm>
          <a:prstGeom prst="line">
            <a:avLst/>
          </a:prstGeom>
          <a:noFill/>
          <a:ln w="6350">
            <a:solidFill>
              <a:srgbClr val="E3E3DF"/>
            </a:solidFill>
            <a:prstDash val="solid"/>
          </a:ln>
        </p:spPr>
        <p:txBody>
          <a:bodyPr/>
          <a:lstStyle/>
          <a:p>
            <a:endParaRPr lang="en-CO"/>
          </a:p>
        </p:txBody>
      </p:sp>
      <p:sp>
        <p:nvSpPr>
          <p:cNvPr id="27" name="Text 19"/>
          <p:cNvSpPr/>
          <p:nvPr/>
        </p:nvSpPr>
        <p:spPr>
          <a:xfrm>
            <a:off x="5289550" y="2568476"/>
            <a:ext cx="194906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93470"/>
                </a:solidFill>
                <a:latin typeface="Roboto" pitchFamily="34" charset="0"/>
                <a:ea typeface="Roboto" pitchFamily="34" charset="-122"/>
                <a:cs typeface="Roboto" pitchFamily="34" charset="-120"/>
              </a:rPr>
              <a:t>car</a:t>
            </a:r>
            <a:endParaRPr lang="en-US" sz="1300" dirty="0"/>
          </a:p>
        </p:txBody>
      </p:sp>
      <p:pic>
        <p:nvPicPr>
          <p:cNvPr id="28" name="Image 6" descr="|+⟩"/>
          <p:cNvPicPr>
            <a:picLocks noChangeAspect="1"/>
          </p:cNvPicPr>
          <p:nvPr/>
        </p:nvPicPr>
        <p:blipFill>
          <a:blip r:embed="rId5"/>
          <a:srcRect t="-355" b="-355"/>
          <a:stretch/>
        </p:blipFill>
        <p:spPr>
          <a:xfrm>
            <a:off x="7385050" y="2572941"/>
            <a:ext cx="298450" cy="222250"/>
          </a:xfrm>
          <a:prstGeom prst="rect">
            <a:avLst/>
          </a:prstGeom>
        </p:spPr>
      </p:pic>
      <p:sp>
        <p:nvSpPr>
          <p:cNvPr id="29" name="Text 20"/>
          <p:cNvSpPr/>
          <p:nvPr/>
        </p:nvSpPr>
        <p:spPr>
          <a:xfrm>
            <a:off x="8578850" y="2568476"/>
            <a:ext cx="146050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0.232</a:t>
            </a:r>
            <a:endParaRPr lang="en-US" sz="1300" dirty="0"/>
          </a:p>
        </p:txBody>
      </p:sp>
      <p:sp>
        <p:nvSpPr>
          <p:cNvPr id="30" name="Text 21"/>
          <p:cNvSpPr/>
          <p:nvPr/>
        </p:nvSpPr>
        <p:spPr>
          <a:xfrm>
            <a:off x="10191750" y="2568476"/>
            <a:ext cx="107950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a:t>
            </a:r>
            <a:endParaRPr lang="en-US" sz="1300" dirty="0"/>
          </a:p>
        </p:txBody>
      </p:sp>
      <p:sp>
        <p:nvSpPr>
          <p:cNvPr id="31" name="Shape 22"/>
          <p:cNvSpPr/>
          <p:nvPr/>
        </p:nvSpPr>
        <p:spPr>
          <a:xfrm>
            <a:off x="5187950" y="2858691"/>
            <a:ext cx="6184900" cy="355600"/>
          </a:xfrm>
          <a:prstGeom prst="rect">
            <a:avLst/>
          </a:prstGeom>
          <a:solidFill>
            <a:srgbClr val="F4F4F2"/>
          </a:solidFill>
          <a:ln/>
        </p:spPr>
        <p:txBody>
          <a:bodyPr/>
          <a:lstStyle/>
          <a:p>
            <a:endParaRPr lang="en-CO"/>
          </a:p>
        </p:txBody>
      </p:sp>
      <p:sp>
        <p:nvSpPr>
          <p:cNvPr id="32" name="Shape 23"/>
          <p:cNvSpPr/>
          <p:nvPr/>
        </p:nvSpPr>
        <p:spPr>
          <a:xfrm>
            <a:off x="5187950" y="2861866"/>
            <a:ext cx="6184900" cy="0"/>
          </a:xfrm>
          <a:prstGeom prst="line">
            <a:avLst/>
          </a:prstGeom>
          <a:noFill/>
          <a:ln w="6350">
            <a:solidFill>
              <a:srgbClr val="E3E3DF"/>
            </a:solidFill>
            <a:prstDash val="solid"/>
          </a:ln>
        </p:spPr>
        <p:txBody>
          <a:bodyPr/>
          <a:lstStyle/>
          <a:p>
            <a:endParaRPr lang="en-CO"/>
          </a:p>
        </p:txBody>
      </p:sp>
      <p:sp>
        <p:nvSpPr>
          <p:cNvPr id="33" name="Text 24"/>
          <p:cNvSpPr/>
          <p:nvPr/>
        </p:nvSpPr>
        <p:spPr>
          <a:xfrm>
            <a:off x="5289550" y="2924076"/>
            <a:ext cx="194906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93470"/>
                </a:solidFill>
                <a:latin typeface="Roboto" pitchFamily="34" charset="0"/>
                <a:ea typeface="Roboto" pitchFamily="34" charset="-122"/>
                <a:cs typeface="Roboto" pitchFamily="34" charset="-120"/>
              </a:rPr>
              <a:t>none</a:t>
            </a:r>
            <a:endParaRPr lang="en-US" sz="1300" dirty="0"/>
          </a:p>
        </p:txBody>
      </p:sp>
      <p:pic>
        <p:nvPicPr>
          <p:cNvPr id="34" name="Image 7" descr="|+i⟩"/>
          <p:cNvPicPr>
            <a:picLocks noChangeAspect="1"/>
          </p:cNvPicPr>
          <p:nvPr/>
        </p:nvPicPr>
        <p:blipFill>
          <a:blip r:embed="rId7"/>
          <a:srcRect/>
          <a:stretch/>
        </p:blipFill>
        <p:spPr>
          <a:xfrm>
            <a:off x="7385050" y="2928541"/>
            <a:ext cx="361950" cy="222250"/>
          </a:xfrm>
          <a:prstGeom prst="rect">
            <a:avLst/>
          </a:prstGeom>
        </p:spPr>
      </p:pic>
      <p:sp>
        <p:nvSpPr>
          <p:cNvPr id="35" name="Text 25"/>
          <p:cNvSpPr/>
          <p:nvPr/>
        </p:nvSpPr>
        <p:spPr>
          <a:xfrm>
            <a:off x="8578850" y="2924076"/>
            <a:ext cx="146050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0.282</a:t>
            </a:r>
            <a:endParaRPr lang="en-US" sz="1300" dirty="0"/>
          </a:p>
        </p:txBody>
      </p:sp>
      <p:sp>
        <p:nvSpPr>
          <p:cNvPr id="36" name="Text 26"/>
          <p:cNvSpPr/>
          <p:nvPr/>
        </p:nvSpPr>
        <p:spPr>
          <a:xfrm>
            <a:off x="10191750" y="2924076"/>
            <a:ext cx="107950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½</a:t>
            </a:r>
            <a:endParaRPr lang="en-US" sz="1300" dirty="0"/>
          </a:p>
        </p:txBody>
      </p:sp>
      <p:sp>
        <p:nvSpPr>
          <p:cNvPr id="37" name="Shape 27"/>
          <p:cNvSpPr/>
          <p:nvPr/>
        </p:nvSpPr>
        <p:spPr>
          <a:xfrm>
            <a:off x="5187950" y="3214291"/>
            <a:ext cx="6184900" cy="355600"/>
          </a:xfrm>
          <a:prstGeom prst="rect">
            <a:avLst/>
          </a:prstGeom>
          <a:solidFill>
            <a:srgbClr val="FFFFFF"/>
          </a:solidFill>
          <a:ln/>
        </p:spPr>
        <p:txBody>
          <a:bodyPr/>
          <a:lstStyle/>
          <a:p>
            <a:endParaRPr lang="en-CO"/>
          </a:p>
        </p:txBody>
      </p:sp>
      <p:sp>
        <p:nvSpPr>
          <p:cNvPr id="38" name="Shape 28"/>
          <p:cNvSpPr/>
          <p:nvPr/>
        </p:nvSpPr>
        <p:spPr>
          <a:xfrm>
            <a:off x="5187950" y="3217466"/>
            <a:ext cx="6184900" cy="0"/>
          </a:xfrm>
          <a:prstGeom prst="line">
            <a:avLst/>
          </a:prstGeom>
          <a:noFill/>
          <a:ln w="6350">
            <a:solidFill>
              <a:srgbClr val="E3E3DF"/>
            </a:solidFill>
            <a:prstDash val="solid"/>
          </a:ln>
        </p:spPr>
        <p:txBody>
          <a:bodyPr/>
          <a:lstStyle/>
          <a:p>
            <a:endParaRPr lang="en-CO"/>
          </a:p>
        </p:txBody>
      </p:sp>
      <p:sp>
        <p:nvSpPr>
          <p:cNvPr id="39" name="Text 29"/>
          <p:cNvSpPr/>
          <p:nvPr/>
        </p:nvSpPr>
        <p:spPr>
          <a:xfrm>
            <a:off x="5289550" y="3279676"/>
            <a:ext cx="194906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93470"/>
                </a:solidFill>
                <a:latin typeface="Roboto" pitchFamily="34" charset="0"/>
                <a:ea typeface="Roboto" pitchFamily="34" charset="-122"/>
                <a:cs typeface="Roboto" pitchFamily="34" charset="-120"/>
              </a:rPr>
              <a:t>real estate</a:t>
            </a:r>
            <a:endParaRPr lang="en-US" sz="1300" dirty="0"/>
          </a:p>
        </p:txBody>
      </p:sp>
      <p:pic>
        <p:nvPicPr>
          <p:cNvPr id="40" name="Image 8" descr="|−⟩"/>
          <p:cNvPicPr>
            <a:picLocks noChangeAspect="1"/>
          </p:cNvPicPr>
          <p:nvPr/>
        </p:nvPicPr>
        <p:blipFill>
          <a:blip r:embed="rId6"/>
          <a:srcRect t="-355" b="-355"/>
          <a:stretch/>
        </p:blipFill>
        <p:spPr>
          <a:xfrm>
            <a:off x="7385050" y="3284141"/>
            <a:ext cx="298450" cy="222250"/>
          </a:xfrm>
          <a:prstGeom prst="rect">
            <a:avLst/>
          </a:prstGeom>
        </p:spPr>
      </p:pic>
      <p:sp>
        <p:nvSpPr>
          <p:cNvPr id="41" name="Text 30"/>
          <p:cNvSpPr/>
          <p:nvPr/>
        </p:nvSpPr>
        <p:spPr>
          <a:xfrm>
            <a:off x="8578850" y="3279676"/>
            <a:ext cx="146050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0.332</a:t>
            </a:r>
            <a:endParaRPr lang="en-US" sz="1300" dirty="0"/>
          </a:p>
        </p:txBody>
      </p:sp>
      <p:sp>
        <p:nvSpPr>
          <p:cNvPr id="42" name="Text 31"/>
          <p:cNvSpPr/>
          <p:nvPr/>
        </p:nvSpPr>
        <p:spPr>
          <a:xfrm>
            <a:off x="10191750" y="3279676"/>
            <a:ext cx="107950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a:t>
            </a:r>
            <a:endParaRPr lang="en-US" sz="1300" dirty="0"/>
          </a:p>
        </p:txBody>
      </p:sp>
      <p:sp>
        <p:nvSpPr>
          <p:cNvPr id="43" name="Shape 32"/>
          <p:cNvSpPr/>
          <p:nvPr/>
        </p:nvSpPr>
        <p:spPr>
          <a:xfrm>
            <a:off x="5187950" y="3569891"/>
            <a:ext cx="6184900" cy="355600"/>
          </a:xfrm>
          <a:prstGeom prst="rect">
            <a:avLst/>
          </a:prstGeom>
          <a:solidFill>
            <a:srgbClr val="F4F4F2"/>
          </a:solidFill>
          <a:ln/>
        </p:spPr>
        <p:txBody>
          <a:bodyPr/>
          <a:lstStyle/>
          <a:p>
            <a:endParaRPr lang="en-CO"/>
          </a:p>
        </p:txBody>
      </p:sp>
      <p:sp>
        <p:nvSpPr>
          <p:cNvPr id="44" name="Shape 33"/>
          <p:cNvSpPr/>
          <p:nvPr/>
        </p:nvSpPr>
        <p:spPr>
          <a:xfrm>
            <a:off x="5187950" y="3573066"/>
            <a:ext cx="6184900" cy="0"/>
          </a:xfrm>
          <a:prstGeom prst="line">
            <a:avLst/>
          </a:prstGeom>
          <a:noFill/>
          <a:ln w="6350">
            <a:solidFill>
              <a:srgbClr val="E3E3DF"/>
            </a:solidFill>
            <a:prstDash val="solid"/>
          </a:ln>
        </p:spPr>
        <p:txBody>
          <a:bodyPr/>
          <a:lstStyle/>
          <a:p>
            <a:endParaRPr lang="en-CO"/>
          </a:p>
        </p:txBody>
      </p:sp>
      <p:sp>
        <p:nvSpPr>
          <p:cNvPr id="45" name="Text 34"/>
          <p:cNvSpPr/>
          <p:nvPr/>
        </p:nvSpPr>
        <p:spPr>
          <a:xfrm>
            <a:off x="5289550" y="3635276"/>
            <a:ext cx="194906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93470"/>
                </a:solidFill>
                <a:latin typeface="Roboto" pitchFamily="34" charset="0"/>
                <a:ea typeface="Roboto" pitchFamily="34" charset="-122"/>
                <a:cs typeface="Roboto" pitchFamily="34" charset="-120"/>
              </a:rPr>
              <a:t>savings</a:t>
            </a:r>
            <a:endParaRPr lang="en-US" sz="1300" dirty="0"/>
          </a:p>
        </p:txBody>
      </p:sp>
      <p:pic>
        <p:nvPicPr>
          <p:cNvPr id="46" name="Image 9" descr="|−i⟩"/>
          <p:cNvPicPr>
            <a:picLocks noChangeAspect="1"/>
          </p:cNvPicPr>
          <p:nvPr/>
        </p:nvPicPr>
        <p:blipFill>
          <a:blip r:embed="rId8"/>
          <a:srcRect/>
          <a:stretch/>
        </p:blipFill>
        <p:spPr>
          <a:xfrm>
            <a:off x="7385050" y="3639741"/>
            <a:ext cx="361950" cy="222250"/>
          </a:xfrm>
          <a:prstGeom prst="rect">
            <a:avLst/>
          </a:prstGeom>
        </p:spPr>
      </p:pic>
      <p:sp>
        <p:nvSpPr>
          <p:cNvPr id="47" name="Text 35"/>
          <p:cNvSpPr/>
          <p:nvPr/>
        </p:nvSpPr>
        <p:spPr>
          <a:xfrm>
            <a:off x="8578850" y="3635276"/>
            <a:ext cx="146050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0.154</a:t>
            </a:r>
            <a:endParaRPr lang="en-US" sz="1300" dirty="0"/>
          </a:p>
        </p:txBody>
      </p:sp>
      <p:sp>
        <p:nvSpPr>
          <p:cNvPr id="48" name="Text 36"/>
          <p:cNvSpPr/>
          <p:nvPr/>
        </p:nvSpPr>
        <p:spPr>
          <a:xfrm>
            <a:off x="10191750" y="3635276"/>
            <a:ext cx="107950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½</a:t>
            </a:r>
            <a:endParaRPr lang="en-US" sz="1300" dirty="0"/>
          </a:p>
        </p:txBody>
      </p:sp>
      <p:sp>
        <p:nvSpPr>
          <p:cNvPr id="49" name="Text 37"/>
          <p:cNvSpPr/>
          <p:nvPr/>
        </p:nvSpPr>
        <p:spPr>
          <a:xfrm>
            <a:off x="5181600" y="4084241"/>
            <a:ext cx="638352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1D1B"/>
                </a:solidFill>
                <a:latin typeface="Roboto" pitchFamily="34" charset="0"/>
                <a:ea typeface="Roboto" pitchFamily="34" charset="-122"/>
                <a:cs typeface="Roboto" pitchFamily="34" charset="-120"/>
              </a:rPr>
              <a:t>Lo que estima F, sin ruido:</a:t>
            </a:r>
            <a:endParaRPr lang="en-US" sz="1200" dirty="0"/>
          </a:p>
        </p:txBody>
      </p:sp>
      <p:pic>
        <p:nvPicPr>
          <p:cNvPr id="50" name="Image 10" descr="E[F] = 0.232·1 + 0.282·½ + 0.332·0 + 0.154·½ = 0.45"/>
          <p:cNvPicPr>
            <a:picLocks noChangeAspect="1"/>
          </p:cNvPicPr>
          <p:nvPr/>
        </p:nvPicPr>
        <p:blipFill>
          <a:blip r:embed="rId9"/>
          <a:srcRect t="-343" b="-343"/>
          <a:stretch/>
        </p:blipFill>
        <p:spPr>
          <a:xfrm>
            <a:off x="5181600" y="4399161"/>
            <a:ext cx="5346700" cy="311150"/>
          </a:xfrm>
          <a:prstGeom prst="rect">
            <a:avLst/>
          </a:prstGeom>
        </p:spPr>
      </p:pic>
      <p:sp>
        <p:nvSpPr>
          <p:cNvPr id="51" name="Text 38"/>
          <p:cNvSpPr/>
          <p:nvPr/>
        </p:nvSpPr>
        <p:spPr>
          <a:xfrm>
            <a:off x="5181600" y="4811911"/>
            <a:ext cx="638352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Es </a:t>
            </a:r>
            <a:r>
              <a:rPr lang="en-US" sz="1400" b="1" dirty="0">
                <a:solidFill>
                  <a:srgbClr val="3C3C3B"/>
                </a:solidFill>
                <a:latin typeface="Roboto" pitchFamily="34" charset="0"/>
                <a:ea typeface="Roboto" pitchFamily="34" charset="-122"/>
                <a:cs typeface="Roboto" pitchFamily="34" charset="-120"/>
              </a:rPr>
              <a:t>una sola combinación</a:t>
            </a:r>
            <a:r>
              <a:rPr lang="en-US" sz="1400" dirty="0">
                <a:solidFill>
                  <a:srgbClr val="3C3C3B"/>
                </a:solidFill>
                <a:latin typeface="Roboto" pitchFamily="34" charset="0"/>
                <a:ea typeface="Roboto" pitchFamily="34" charset="-122"/>
                <a:cs typeface="Roboto" pitchFamily="34" charset="-120"/>
              </a:rPr>
              <a:t> de las proporciones, no los 4 conteos: un número para 3 incógnitas, y </a:t>
            </a:r>
            <a:r>
              <a:rPr lang="en-US" sz="1400" dirty="0">
                <a:solidFill>
                  <a:srgbClr val="293470"/>
                </a:solidFill>
                <a:latin typeface="Roboto" pitchFamily="34" charset="0"/>
                <a:ea typeface="Roboto" pitchFamily="34" charset="-122"/>
                <a:cs typeface="Roboto" pitchFamily="34" charset="-120"/>
              </a:rPr>
              <a:t>none</a:t>
            </a:r>
            <a:r>
              <a:rPr lang="en-US" sz="1400" dirty="0">
                <a:solidFill>
                  <a:srgbClr val="3C3C3B"/>
                </a:solidFill>
                <a:latin typeface="Roboto" pitchFamily="34" charset="0"/>
                <a:ea typeface="Roboto" pitchFamily="34" charset="-122"/>
                <a:cs typeface="Roboto" pitchFamily="34" charset="-120"/>
              </a:rPr>
              <a:t> y </a:t>
            </a:r>
            <a:r>
              <a:rPr lang="en-US" sz="1400" dirty="0">
                <a:solidFill>
                  <a:srgbClr val="293470"/>
                </a:solidFill>
                <a:latin typeface="Roboto" pitchFamily="34" charset="0"/>
                <a:ea typeface="Roboto" pitchFamily="34" charset="-122"/>
                <a:cs typeface="Roboto" pitchFamily="34" charset="-120"/>
              </a:rPr>
              <a:t>savings</a:t>
            </a:r>
            <a:r>
              <a:rPr lang="en-US" sz="1400" dirty="0">
                <a:solidFill>
                  <a:srgbClr val="3C3C3B"/>
                </a:solidFill>
                <a:latin typeface="Roboto" pitchFamily="34" charset="0"/>
                <a:ea typeface="Roboto" pitchFamily="34" charset="-122"/>
                <a:cs typeface="Roboto" pitchFamily="34" charset="-120"/>
              </a:rPr>
              <a:t> entran con el mismo peso.</a:t>
            </a:r>
            <a:endParaRPr lang="en-US" sz="1400" dirty="0"/>
          </a:p>
        </p:txBody>
      </p:sp>
      <p:sp>
        <p:nvSpPr>
          <p:cNvPr id="52" name="Text 39"/>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53" name="Text 40"/>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QUÉ SIGNIFICA MEDIR</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La referencia es B, no el CSV</a:t>
            </a:r>
            <a:endParaRPr lang="en-US" sz="2800" dirty="0"/>
          </a:p>
        </p:txBody>
      </p:sp>
      <p:sp>
        <p:nvSpPr>
          <p:cNvPr id="8" name="Shape 5"/>
          <p:cNvSpPr/>
          <p:nvPr/>
        </p:nvSpPr>
        <p:spPr>
          <a:xfrm>
            <a:off x="812800" y="1407120"/>
            <a:ext cx="10566400" cy="1115020"/>
          </a:xfrm>
          <a:prstGeom prst="roundRect">
            <a:avLst>
              <a:gd name="adj" fmla="val 9112"/>
            </a:avLst>
          </a:prstGeom>
          <a:solidFill>
            <a:srgbClr val="F4F4F2"/>
          </a:solidFill>
          <a:ln/>
        </p:spPr>
        <p:txBody>
          <a:bodyPr/>
          <a:lstStyle/>
          <a:p>
            <a:endParaRPr lang="en-CO"/>
          </a:p>
        </p:txBody>
      </p:sp>
      <p:sp>
        <p:nvSpPr>
          <p:cNvPr id="9" name="Text 6"/>
          <p:cNvSpPr/>
          <p:nvPr/>
        </p:nvSpPr>
        <p:spPr>
          <a:xfrm>
            <a:off x="1066800" y="1559520"/>
            <a:ext cx="321792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1D1B"/>
                </a:solidFill>
                <a:latin typeface="Roboto" pitchFamily="34" charset="0"/>
                <a:ea typeface="Roboto" pitchFamily="34" charset="-122"/>
                <a:cs typeface="Roboto" pitchFamily="34" charset="-120"/>
              </a:rPr>
              <a:t>Incertidumbre sin ruido (Bayes)</a:t>
            </a:r>
            <a:endParaRPr lang="en-US" sz="1200" dirty="0"/>
          </a:p>
        </p:txBody>
      </p:sp>
      <p:pic>
        <p:nvPicPr>
          <p:cNvPr id="10" name="Image 1" descr="P(car | +) = 1·0.232 / 0.45 ≈ 0.52"/>
          <p:cNvPicPr>
            <a:picLocks noChangeAspect="1"/>
          </p:cNvPicPr>
          <p:nvPr/>
        </p:nvPicPr>
        <p:blipFill>
          <a:blip r:embed="rId4"/>
          <a:srcRect t="-161" b="-161"/>
          <a:stretch/>
        </p:blipFill>
        <p:spPr>
          <a:xfrm>
            <a:off x="1066800" y="1823641"/>
            <a:ext cx="3124200" cy="546100"/>
          </a:xfrm>
          <a:prstGeom prst="rect">
            <a:avLst/>
          </a:prstGeom>
        </p:spPr>
      </p:pic>
      <p:sp>
        <p:nvSpPr>
          <p:cNvPr id="11" name="Text 7"/>
          <p:cNvSpPr/>
          <p:nvPr/>
        </p:nvSpPr>
        <p:spPr>
          <a:xfrm>
            <a:off x="4495800" y="1715790"/>
            <a:ext cx="682828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Casi una moneda. Viene de la codificación: </a:t>
            </a:r>
            <a:r>
              <a:rPr lang="en-US" sz="1400" dirty="0">
                <a:solidFill>
                  <a:srgbClr val="293470"/>
                </a:solidFill>
                <a:latin typeface="Roboto" pitchFamily="34" charset="0"/>
                <a:ea typeface="Roboto" pitchFamily="34" charset="-122"/>
                <a:cs typeface="Roboto" pitchFamily="34" charset="-120"/>
              </a:rPr>
              <a:t>none</a:t>
            </a:r>
            <a:r>
              <a:rPr lang="en-US" sz="1400" dirty="0">
                <a:solidFill>
                  <a:srgbClr val="3C3C3B"/>
                </a:solidFill>
                <a:latin typeface="Roboto" pitchFamily="34" charset="0"/>
                <a:ea typeface="Roboto" pitchFamily="34" charset="-122"/>
                <a:cs typeface="Roboto" pitchFamily="34" charset="-120"/>
              </a:rPr>
              <a:t> y </a:t>
            </a:r>
            <a:r>
              <a:rPr lang="en-US" sz="1400" dirty="0">
                <a:solidFill>
                  <a:srgbClr val="293470"/>
                </a:solidFill>
                <a:latin typeface="Roboto" pitchFamily="34" charset="0"/>
                <a:ea typeface="Roboto" pitchFamily="34" charset="-122"/>
                <a:cs typeface="Roboto" pitchFamily="34" charset="-120"/>
              </a:rPr>
              <a:t>savings</a:t>
            </a:r>
            <a:r>
              <a:rPr lang="en-US" sz="1400" dirty="0">
                <a:solidFill>
                  <a:srgbClr val="3C3C3B"/>
                </a:solidFill>
                <a:latin typeface="Roboto" pitchFamily="34" charset="0"/>
                <a:ea typeface="Roboto" pitchFamily="34" charset="-122"/>
                <a:cs typeface="Roboto" pitchFamily="34" charset="-120"/>
              </a:rPr>
              <a:t> también dan «+» la mitad de las veces.</a:t>
            </a:r>
            <a:endParaRPr lang="en-US" sz="1400" dirty="0"/>
          </a:p>
        </p:txBody>
      </p:sp>
      <p:sp>
        <p:nvSpPr>
          <p:cNvPr id="12" name="Shape 8"/>
          <p:cNvSpPr/>
          <p:nvPr/>
        </p:nvSpPr>
        <p:spPr>
          <a:xfrm>
            <a:off x="819150" y="2731691"/>
            <a:ext cx="3407767" cy="779661"/>
          </a:xfrm>
          <a:prstGeom prst="roundRect">
            <a:avLst>
              <a:gd name="adj" fmla="val 12217"/>
            </a:avLst>
          </a:prstGeom>
          <a:noFill/>
          <a:ln w="12700">
            <a:solidFill>
              <a:srgbClr val="3C3C3B"/>
            </a:solidFill>
            <a:prstDash val="solid"/>
          </a:ln>
        </p:spPr>
        <p:txBody>
          <a:bodyPr/>
          <a:lstStyle/>
          <a:p>
            <a:endParaRPr lang="en-CO"/>
          </a:p>
        </p:txBody>
      </p:sp>
      <p:sp>
        <p:nvSpPr>
          <p:cNvPr id="13" name="Text 9"/>
          <p:cNvSpPr/>
          <p:nvPr/>
        </p:nvSpPr>
        <p:spPr>
          <a:xfrm>
            <a:off x="1003300" y="2943721"/>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3C3C3B"/>
          </a:solidFill>
          <a:ln/>
        </p:spPr>
        <p:txBody>
          <a:bodyPr wrap="square" lIns="0" tIns="0" rIns="0" bIns="0" rtlCol="0" anchor="t">
            <a:normAutofit/>
          </a:bodyPr>
          <a:lstStyle/>
          <a:p>
            <a:pPr marL="0" indent="0" algn="ctr">
              <a:lnSpc>
                <a:spcPts val="2800"/>
              </a:lnSpc>
              <a:buNone/>
            </a:pPr>
            <a:r>
              <a:rPr lang="en-US" sz="1600" b="1" dirty="0">
                <a:solidFill>
                  <a:srgbClr val="FFFFFF"/>
                </a:solidFill>
                <a:latin typeface="DM Sans" pitchFamily="34" charset="0"/>
                <a:ea typeface="DM Sans" pitchFamily="34" charset="-122"/>
                <a:cs typeface="DM Sans" pitchFamily="34" charset="-120"/>
              </a:rPr>
              <a:t>A</a:t>
            </a:r>
            <a:endParaRPr lang="en-US" sz="1600" dirty="0"/>
          </a:p>
        </p:txBody>
      </p:sp>
      <p:sp>
        <p:nvSpPr>
          <p:cNvPr id="14" name="Text 10"/>
          <p:cNvSpPr/>
          <p:nvPr/>
        </p:nvSpPr>
        <p:spPr>
          <a:xfrm>
            <a:off x="1485900" y="2890441"/>
            <a:ext cx="2633573"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1D1B"/>
                </a:solidFill>
                <a:latin typeface="Roboto" pitchFamily="34" charset="0"/>
                <a:ea typeface="Roboto" pitchFamily="34" charset="-122"/>
                <a:cs typeface="Roboto" pitchFamily="34" charset="-120"/>
              </a:rPr>
              <a:t>CSV</a:t>
            </a:r>
            <a:endParaRPr lang="en-US" sz="1400" dirty="0"/>
          </a:p>
        </p:txBody>
      </p:sp>
      <p:sp>
        <p:nvSpPr>
          <p:cNvPr id="15" name="Text 11"/>
          <p:cNvSpPr/>
          <p:nvPr/>
        </p:nvSpPr>
        <p:spPr>
          <a:xfrm>
            <a:off x="1485900" y="3146921"/>
            <a:ext cx="2633573"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datos originales</a:t>
            </a:r>
            <a:endParaRPr lang="en-US" sz="1200" dirty="0"/>
          </a:p>
        </p:txBody>
      </p:sp>
      <p:sp>
        <p:nvSpPr>
          <p:cNvPr id="16" name="Shape 12"/>
          <p:cNvSpPr/>
          <p:nvPr/>
        </p:nvSpPr>
        <p:spPr>
          <a:xfrm>
            <a:off x="4392017" y="2731691"/>
            <a:ext cx="3407866" cy="779661"/>
          </a:xfrm>
          <a:prstGeom prst="roundRect">
            <a:avLst>
              <a:gd name="adj" fmla="val 12217"/>
            </a:avLst>
          </a:prstGeom>
          <a:noFill/>
          <a:ln w="12700">
            <a:solidFill>
              <a:srgbClr val="3C3C3B"/>
            </a:solidFill>
            <a:prstDash val="solid"/>
          </a:ln>
        </p:spPr>
        <p:txBody>
          <a:bodyPr/>
          <a:lstStyle/>
          <a:p>
            <a:endParaRPr lang="en-CO"/>
          </a:p>
        </p:txBody>
      </p:sp>
      <p:sp>
        <p:nvSpPr>
          <p:cNvPr id="17" name="Text 13"/>
          <p:cNvSpPr/>
          <p:nvPr/>
        </p:nvSpPr>
        <p:spPr>
          <a:xfrm>
            <a:off x="4576167" y="2943721"/>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293470"/>
          </a:solidFill>
          <a:ln/>
        </p:spPr>
        <p:txBody>
          <a:bodyPr wrap="square" lIns="0" tIns="0" rIns="0" bIns="0" rtlCol="0" anchor="t">
            <a:normAutofit/>
          </a:bodyPr>
          <a:lstStyle/>
          <a:p>
            <a:pPr marL="0" indent="0" algn="ctr">
              <a:lnSpc>
                <a:spcPts val="2800"/>
              </a:lnSpc>
              <a:buNone/>
            </a:pPr>
            <a:r>
              <a:rPr lang="en-US" sz="1600" b="1" dirty="0">
                <a:solidFill>
                  <a:srgbClr val="FFFFFF"/>
                </a:solidFill>
                <a:latin typeface="DM Sans" pitchFamily="34" charset="0"/>
                <a:ea typeface="DM Sans" pitchFamily="34" charset="-122"/>
                <a:cs typeface="DM Sans" pitchFamily="34" charset="-120"/>
              </a:rPr>
              <a:t>B</a:t>
            </a:r>
            <a:endParaRPr lang="en-US" sz="1600" dirty="0"/>
          </a:p>
        </p:txBody>
      </p:sp>
      <p:sp>
        <p:nvSpPr>
          <p:cNvPr id="18" name="Text 14"/>
          <p:cNvSpPr/>
          <p:nvPr/>
        </p:nvSpPr>
        <p:spPr>
          <a:xfrm>
            <a:off x="5058767" y="2890441"/>
            <a:ext cx="2633675"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1D1B"/>
                </a:solidFill>
                <a:latin typeface="Roboto" pitchFamily="34" charset="0"/>
                <a:ea typeface="Roboto" pitchFamily="34" charset="-122"/>
                <a:cs typeface="Roboto" pitchFamily="34" charset="-120"/>
              </a:rPr>
              <a:t>Codificado y medido sin ruido</a:t>
            </a:r>
            <a:endParaRPr lang="en-US" sz="1400" dirty="0"/>
          </a:p>
        </p:txBody>
      </p:sp>
      <p:sp>
        <p:nvSpPr>
          <p:cNvPr id="19" name="Text 15"/>
          <p:cNvSpPr/>
          <p:nvPr/>
        </p:nvSpPr>
        <p:spPr>
          <a:xfrm>
            <a:off x="5058767" y="3146921"/>
            <a:ext cx="263367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p = 0</a:t>
            </a:r>
            <a:endParaRPr lang="en-US" sz="1200" dirty="0"/>
          </a:p>
        </p:txBody>
      </p:sp>
      <p:sp>
        <p:nvSpPr>
          <p:cNvPr id="20" name="Shape 16"/>
          <p:cNvSpPr/>
          <p:nvPr/>
        </p:nvSpPr>
        <p:spPr>
          <a:xfrm>
            <a:off x="7964984" y="2731691"/>
            <a:ext cx="3407866" cy="779661"/>
          </a:xfrm>
          <a:prstGeom prst="roundRect">
            <a:avLst>
              <a:gd name="adj" fmla="val 12217"/>
            </a:avLst>
          </a:prstGeom>
          <a:noFill/>
          <a:ln w="12700">
            <a:solidFill>
              <a:srgbClr val="3C3C3B"/>
            </a:solidFill>
            <a:prstDash val="solid"/>
          </a:ln>
        </p:spPr>
        <p:txBody>
          <a:bodyPr/>
          <a:lstStyle/>
          <a:p>
            <a:endParaRPr lang="en-CO"/>
          </a:p>
        </p:txBody>
      </p:sp>
      <p:sp>
        <p:nvSpPr>
          <p:cNvPr id="21" name="Text 17"/>
          <p:cNvSpPr/>
          <p:nvPr/>
        </p:nvSpPr>
        <p:spPr>
          <a:xfrm>
            <a:off x="8149134" y="2943721"/>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FFEE00"/>
          </a:solidFill>
          <a:ln/>
        </p:spPr>
        <p:txBody>
          <a:bodyPr wrap="square" lIns="0" tIns="0" rIns="0" bIns="0" rtlCol="0" anchor="t">
            <a:normAutofit/>
          </a:bodyPr>
          <a:lstStyle/>
          <a:p>
            <a:pPr marL="0" indent="0" algn="ctr">
              <a:lnSpc>
                <a:spcPts val="2800"/>
              </a:lnSpc>
              <a:buNone/>
            </a:pPr>
            <a:r>
              <a:rPr lang="en-US" sz="1600" b="1" dirty="0">
                <a:solidFill>
                  <a:srgbClr val="1D1D1B"/>
                </a:solidFill>
                <a:latin typeface="DM Sans" pitchFamily="34" charset="0"/>
                <a:ea typeface="DM Sans" pitchFamily="34" charset="-122"/>
                <a:cs typeface="DM Sans" pitchFamily="34" charset="-120"/>
              </a:rPr>
              <a:t>C</a:t>
            </a:r>
            <a:endParaRPr lang="en-US" sz="1600" dirty="0"/>
          </a:p>
        </p:txBody>
      </p:sp>
      <p:sp>
        <p:nvSpPr>
          <p:cNvPr id="22" name="Text 18"/>
          <p:cNvSpPr/>
          <p:nvPr/>
        </p:nvSpPr>
        <p:spPr>
          <a:xfrm>
            <a:off x="8631734" y="2890441"/>
            <a:ext cx="2633675"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1D1B"/>
                </a:solidFill>
                <a:latin typeface="Roboto" pitchFamily="34" charset="0"/>
                <a:ea typeface="Roboto" pitchFamily="34" charset="-122"/>
                <a:cs typeface="Roboto" pitchFamily="34" charset="-120"/>
              </a:rPr>
              <a:t>Codificado y medido con ruido</a:t>
            </a:r>
            <a:endParaRPr lang="en-US" sz="1400" dirty="0"/>
          </a:p>
        </p:txBody>
      </p:sp>
      <p:sp>
        <p:nvSpPr>
          <p:cNvPr id="23" name="Text 19"/>
          <p:cNvSpPr/>
          <p:nvPr/>
        </p:nvSpPr>
        <p:spPr>
          <a:xfrm>
            <a:off x="8631734" y="3146921"/>
            <a:ext cx="263367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p = 0.5</a:t>
            </a:r>
            <a:endParaRPr lang="en-US" sz="1200" dirty="0"/>
          </a:p>
        </p:txBody>
      </p:sp>
      <p:sp>
        <p:nvSpPr>
          <p:cNvPr id="24" name="Text 20"/>
          <p:cNvSpPr/>
          <p:nvPr/>
        </p:nvSpPr>
        <p:spPr>
          <a:xfrm>
            <a:off x="939800" y="3797102"/>
            <a:ext cx="812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1D1B"/>
                </a:solidFill>
                <a:latin typeface="DM Sans" pitchFamily="34" charset="0"/>
                <a:ea typeface="DM Sans" pitchFamily="34" charset="-122"/>
                <a:cs typeface="DM Sans" pitchFamily="34" charset="-120"/>
              </a:rPr>
              <a:t>A – B</a:t>
            </a:r>
            <a:endParaRPr lang="en-US" sz="1400" dirty="0"/>
          </a:p>
        </p:txBody>
      </p:sp>
      <p:sp>
        <p:nvSpPr>
          <p:cNvPr id="25" name="Text 21"/>
          <p:cNvSpPr/>
          <p:nvPr/>
        </p:nvSpPr>
        <p:spPr>
          <a:xfrm>
            <a:off x="1854200" y="3797102"/>
            <a:ext cx="967994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aísla el costo de la codificación y la medición.</a:t>
            </a:r>
            <a:endParaRPr lang="en-US" sz="1400" dirty="0"/>
          </a:p>
        </p:txBody>
      </p:sp>
      <p:sp>
        <p:nvSpPr>
          <p:cNvPr id="26" name="Shape 22"/>
          <p:cNvSpPr/>
          <p:nvPr/>
        </p:nvSpPr>
        <p:spPr>
          <a:xfrm>
            <a:off x="812800" y="4172942"/>
            <a:ext cx="10566400" cy="401241"/>
          </a:xfrm>
          <a:prstGeom prst="roundRect">
            <a:avLst>
              <a:gd name="adj" fmla="val 12661"/>
            </a:avLst>
          </a:prstGeom>
          <a:solidFill>
            <a:srgbClr val="FFEE00"/>
          </a:solidFill>
          <a:ln/>
        </p:spPr>
        <p:txBody>
          <a:bodyPr/>
          <a:lstStyle/>
          <a:p>
            <a:endParaRPr lang="en-CO"/>
          </a:p>
        </p:txBody>
      </p:sp>
      <p:sp>
        <p:nvSpPr>
          <p:cNvPr id="27" name="Text 23"/>
          <p:cNvSpPr/>
          <p:nvPr/>
        </p:nvSpPr>
        <p:spPr>
          <a:xfrm>
            <a:off x="939800" y="4249142"/>
            <a:ext cx="812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1D1B"/>
                </a:solidFill>
                <a:latin typeface="DM Sans" pitchFamily="34" charset="0"/>
                <a:ea typeface="DM Sans" pitchFamily="34" charset="-122"/>
                <a:cs typeface="DM Sans" pitchFamily="34" charset="-120"/>
              </a:rPr>
              <a:t>B – C</a:t>
            </a:r>
            <a:endParaRPr lang="en-US" sz="1400" dirty="0"/>
          </a:p>
        </p:txBody>
      </p:sp>
      <p:sp>
        <p:nvSpPr>
          <p:cNvPr id="28" name="Text 24"/>
          <p:cNvSpPr/>
          <p:nvPr/>
        </p:nvSpPr>
        <p:spPr>
          <a:xfrm>
            <a:off x="1854200" y="4249142"/>
            <a:ext cx="967994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1D1B"/>
                </a:solidFill>
                <a:latin typeface="Roboto" pitchFamily="34" charset="0"/>
                <a:ea typeface="Roboto" pitchFamily="34" charset="-122"/>
                <a:cs typeface="Roboto" pitchFamily="34" charset="-120"/>
              </a:rPr>
              <a:t>aísla el efecto del ruido de privacidad. </a:t>
            </a:r>
            <a:r>
              <a:rPr lang="en-US" sz="1400" b="1" dirty="0">
                <a:solidFill>
                  <a:srgbClr val="1D1D1B"/>
                </a:solidFill>
                <a:latin typeface="Roboto" pitchFamily="34" charset="0"/>
                <a:ea typeface="Roboto" pitchFamily="34" charset="-122"/>
                <a:cs typeface="Roboto" pitchFamily="34" charset="-120"/>
              </a:rPr>
              <a:t>Es la comparación del histograma.</a:t>
            </a:r>
            <a:endParaRPr lang="en-US" sz="1400" dirty="0"/>
          </a:p>
        </p:txBody>
      </p:sp>
      <p:sp>
        <p:nvSpPr>
          <p:cNvPr id="29" name="Text 25"/>
          <p:cNvSpPr/>
          <p:nvPr/>
        </p:nvSpPr>
        <p:spPr>
          <a:xfrm>
            <a:off x="939800" y="4701183"/>
            <a:ext cx="812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E6E6C"/>
                </a:solidFill>
                <a:latin typeface="DM Sans" pitchFamily="34" charset="0"/>
                <a:ea typeface="DM Sans" pitchFamily="34" charset="-122"/>
                <a:cs typeface="DM Sans" pitchFamily="34" charset="-120"/>
              </a:rPr>
              <a:t>A – C</a:t>
            </a:r>
            <a:endParaRPr lang="en-US" sz="1400" dirty="0"/>
          </a:p>
        </p:txBody>
      </p:sp>
      <p:sp>
        <p:nvSpPr>
          <p:cNvPr id="30" name="Text 26"/>
          <p:cNvSpPr/>
          <p:nvPr/>
        </p:nvSpPr>
        <p:spPr>
          <a:xfrm>
            <a:off x="1854200" y="4701183"/>
            <a:ext cx="967994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E6E6C"/>
                </a:solidFill>
                <a:latin typeface="Roboto" pitchFamily="34" charset="0"/>
                <a:ea typeface="Roboto" pitchFamily="34" charset="-122"/>
                <a:cs typeface="Roboto" pitchFamily="34" charset="-120"/>
              </a:rPr>
              <a:t>mezcla los dos efectos: le atribuiría a la privacidad un error que viene de la codificación.</a:t>
            </a:r>
            <a:endParaRPr lang="en-US" sz="1400" dirty="0"/>
          </a:p>
        </p:txBody>
      </p:sp>
      <p:sp>
        <p:nvSpPr>
          <p:cNvPr id="31" name="Text 27"/>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32" name="Text 28"/>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E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9" r="-9"/>
          <a:stretch/>
        </p:blipFill>
        <p:spPr>
          <a:xfrm>
            <a:off x="7493000" y="0"/>
            <a:ext cx="4699000" cy="6858000"/>
          </a:xfrm>
          <a:prstGeom prst="rect">
            <a:avLst/>
          </a:prstGeom>
        </p:spPr>
      </p:pic>
      <p:sp>
        <p:nvSpPr>
          <p:cNvPr id="3" name="Text 0"/>
          <p:cNvSpPr/>
          <p:nvPr/>
        </p:nvSpPr>
        <p:spPr>
          <a:xfrm>
            <a:off x="7978140" y="3937000"/>
            <a:ext cx="3401060" cy="1803400"/>
          </a:xfrm>
          <a:prstGeom prst="rect">
            <a:avLst/>
          </a:prstGeom>
          <a:noFill/>
          <a:ln/>
        </p:spPr>
        <p:txBody>
          <a:bodyPr wrap="square" lIns="0" tIns="0" rIns="0" bIns="0" rtlCol="0" anchor="t">
            <a:normAutofit/>
          </a:bodyPr>
          <a:lstStyle/>
          <a:p>
            <a:pPr marL="0" indent="0" algn="r">
              <a:lnSpc>
                <a:spcPts val="14000"/>
              </a:lnSpc>
              <a:buNone/>
            </a:pPr>
            <a:r>
              <a:rPr lang="en-US" sz="14000" b="1" dirty="0">
                <a:solidFill>
                  <a:srgbClr val="FFEE00"/>
                </a:solidFill>
                <a:latin typeface="DM Sans" pitchFamily="34" charset="0"/>
                <a:ea typeface="DM Sans" pitchFamily="34" charset="-122"/>
                <a:cs typeface="DM Sans" pitchFamily="34" charset="-120"/>
              </a:rPr>
              <a:t>III</a:t>
            </a:r>
            <a:endParaRPr lang="en-US" sz="14000" dirty="0"/>
          </a:p>
        </p:txBody>
      </p:sp>
      <p:pic>
        <p:nvPicPr>
          <p:cNvPr id="4" name="Image 1" descr="Universidad de los Andes"/>
          <p:cNvPicPr>
            <a:picLocks noChangeAspect="1"/>
          </p:cNvPicPr>
          <p:nvPr/>
        </p:nvPicPr>
        <p:blipFill>
          <a:blip r:embed="rId4"/>
          <a:srcRect/>
          <a:stretch/>
        </p:blipFill>
        <p:spPr>
          <a:xfrm>
            <a:off x="812800" y="609600"/>
            <a:ext cx="1371600" cy="431800"/>
          </a:xfrm>
          <a:prstGeom prst="rect">
            <a:avLst/>
          </a:prstGeom>
        </p:spPr>
      </p:pic>
      <p:sp>
        <p:nvSpPr>
          <p:cNvPr id="5" name="Text 1"/>
          <p:cNvSpPr/>
          <p:nvPr/>
        </p:nvSpPr>
        <p:spPr>
          <a:xfrm>
            <a:off x="812800" y="1964730"/>
            <a:ext cx="640969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D1D1B"/>
                </a:solidFill>
                <a:latin typeface="DM Sans" pitchFamily="34" charset="0"/>
                <a:ea typeface="DM Sans" pitchFamily="34" charset="-122"/>
                <a:cs typeface="DM Sans" pitchFamily="34" charset="-120"/>
              </a:rPr>
              <a:t>ACTO III</a:t>
            </a:r>
            <a:endParaRPr lang="en-US" sz="1400" dirty="0"/>
          </a:p>
        </p:txBody>
      </p:sp>
      <p:sp>
        <p:nvSpPr>
          <p:cNvPr id="6" name="Text 2"/>
          <p:cNvSpPr>
            <a:spLocks noGrp="1"/>
          </p:cNvSpPr>
          <p:nvPr>
            <p:ph type="title"/>
          </p:nvPr>
        </p:nvSpPr>
        <p:spPr>
          <a:xfrm>
            <a:off x="812800" y="2391370"/>
            <a:ext cx="6409690" cy="1305520"/>
          </a:xfrm>
          <a:prstGeom prst="rect">
            <a:avLst/>
          </a:prstGeom>
          <a:noFill/>
          <a:ln/>
        </p:spPr>
        <p:txBody>
          <a:bodyPr wrap="square" lIns="0" tIns="0" rIns="0" bIns="0" rtlCol="0" anchor="t">
            <a:normAutofit/>
          </a:bodyPr>
          <a:lstStyle/>
          <a:p>
            <a:pPr marL="0" indent="0" algn="l">
              <a:lnSpc>
                <a:spcPts val="5040"/>
              </a:lnSpc>
              <a:buNone/>
            </a:pPr>
            <a:r>
              <a:rPr lang="en-US" sz="4800" b="1" i="0" kern="0" spc="-100" dirty="0">
                <a:solidFill>
                  <a:srgbClr val="1D1D1B"/>
                </a:solidFill>
                <a:latin typeface="DM Sans" pitchFamily="34" charset="0"/>
                <a:ea typeface="DM Sans" pitchFamily="34" charset="-122"/>
                <a:cs typeface="DM Sans" pitchFamily="34" charset="-120"/>
              </a:rPr>
              <a:t>Dónde está la privacidad</a:t>
            </a:r>
            <a:endParaRPr lang="en-US" sz="4800" dirty="0"/>
          </a:p>
        </p:txBody>
      </p:sp>
      <p:sp>
        <p:nvSpPr>
          <p:cNvPr id="7" name="Text 3"/>
          <p:cNvSpPr/>
          <p:nvPr/>
        </p:nvSpPr>
        <p:spPr>
          <a:xfrm>
            <a:off x="812800" y="384929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5 · El ruido visto desde un qubit</a:t>
            </a:r>
            <a:endParaRPr lang="en-US" sz="1800" dirty="0"/>
          </a:p>
        </p:txBody>
      </p:sp>
      <p:sp>
        <p:nvSpPr>
          <p:cNvPr id="8" name="Text 4"/>
          <p:cNvSpPr/>
          <p:nvPr/>
        </p:nvSpPr>
        <p:spPr>
          <a:xfrm>
            <a:off x="812800" y="422265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6 · Una medición contra muchas</a:t>
            </a:r>
            <a:endParaRPr lang="en-US" sz="1800" dirty="0"/>
          </a:p>
        </p:txBody>
      </p:sp>
      <p:sp>
        <p:nvSpPr>
          <p:cNvPr id="9" name="Text 5"/>
          <p:cNvSpPr/>
          <p:nvPr/>
        </p:nvSpPr>
        <p:spPr>
          <a:xfrm>
            <a:off x="812800" y="459601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7 · Diseño C contra diseño L</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El ruido visto desde un qubit</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El ruido corre el promedio hacia ½, y lo hace de forma determinista.</a:t>
            </a:r>
            <a:endParaRPr lang="en-US" sz="1800" dirty="0"/>
          </a:p>
        </p:txBody>
      </p:sp>
      <p:sp>
        <p:nvSpPr>
          <p:cNvPr id="9" name="Text 6"/>
          <p:cNvSpPr/>
          <p:nvPr/>
        </p:nvSpPr>
        <p:spPr>
          <a:xfrm>
            <a:off x="812800" y="1856680"/>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UNA PERSONA</a:t>
            </a:r>
            <a:endParaRPr lang="en-US" sz="1200" dirty="0"/>
          </a:p>
        </p:txBody>
      </p:sp>
      <p:pic>
        <p:nvPicPr>
          <p:cNvPr id="10" name="Image 1" descr="P″(+) = (1−p)·P(+) + p/2"/>
          <p:cNvPicPr>
            <a:picLocks noChangeAspect="1"/>
          </p:cNvPicPr>
          <p:nvPr/>
        </p:nvPicPr>
        <p:blipFill>
          <a:blip r:embed="rId4"/>
          <a:srcRect t="-218" b="-218"/>
          <a:stretch/>
        </p:blipFill>
        <p:spPr>
          <a:xfrm>
            <a:off x="812800" y="2146201"/>
            <a:ext cx="3321050" cy="571500"/>
          </a:xfrm>
          <a:prstGeom prst="rect">
            <a:avLst/>
          </a:prstGeom>
        </p:spPr>
      </p:pic>
      <p:sp>
        <p:nvSpPr>
          <p:cNvPr id="11" name="Text 7"/>
          <p:cNvSpPr/>
          <p:nvPr/>
        </p:nvSpPr>
        <p:spPr>
          <a:xfrm>
            <a:off x="812800" y="2882801"/>
            <a:ext cx="1320800" cy="228005"/>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1D1D1B"/>
                </a:solidFill>
                <a:latin typeface="Roboto" pitchFamily="34" charset="0"/>
                <a:ea typeface="Roboto" pitchFamily="34" charset="-122"/>
                <a:cs typeface="Roboto" pitchFamily="34" charset="-120"/>
              </a:rPr>
              <a:t>real estate</a:t>
            </a:r>
            <a:endParaRPr lang="en-US" sz="1200" dirty="0"/>
          </a:p>
        </p:txBody>
      </p:sp>
      <p:sp>
        <p:nvSpPr>
          <p:cNvPr id="12" name="Text 8"/>
          <p:cNvSpPr/>
          <p:nvPr/>
        </p:nvSpPr>
        <p:spPr>
          <a:xfrm>
            <a:off x="2438400" y="2882801"/>
            <a:ext cx="1574800" cy="228005"/>
          </a:xfrm>
          <a:prstGeom prst="rect">
            <a:avLst/>
          </a:prstGeom>
          <a:noFill/>
          <a:ln/>
        </p:spPr>
        <p:txBody>
          <a:bodyPr wrap="square" lIns="0" tIns="0" rIns="0" bIns="0" rtlCol="0" anchor="t">
            <a:normAutofit/>
          </a:bodyPr>
          <a:lstStyle/>
          <a:p>
            <a:pPr marL="0" indent="0" algn="ctr">
              <a:lnSpc>
                <a:spcPts val="1596"/>
              </a:lnSpc>
              <a:buNone/>
            </a:pPr>
            <a:r>
              <a:rPr lang="en-US" sz="1200" b="1" dirty="0">
                <a:solidFill>
                  <a:srgbClr val="1D1D1B"/>
                </a:solidFill>
                <a:latin typeface="Roboto" pitchFamily="34" charset="0"/>
                <a:ea typeface="Roboto" pitchFamily="34" charset="-122"/>
                <a:cs typeface="Roboto" pitchFamily="34" charset="-120"/>
              </a:rPr>
              <a:t>none, savings</a:t>
            </a:r>
            <a:endParaRPr lang="en-US" sz="1200" dirty="0"/>
          </a:p>
        </p:txBody>
      </p:sp>
      <p:sp>
        <p:nvSpPr>
          <p:cNvPr id="13" name="Text 9"/>
          <p:cNvSpPr/>
          <p:nvPr/>
        </p:nvSpPr>
        <p:spPr>
          <a:xfrm>
            <a:off x="4318000" y="2882801"/>
            <a:ext cx="1320800" cy="228005"/>
          </a:xfrm>
          <a:prstGeom prst="rect">
            <a:avLst/>
          </a:prstGeom>
          <a:noFill/>
          <a:ln/>
        </p:spPr>
        <p:txBody>
          <a:bodyPr wrap="square" lIns="0" tIns="0" rIns="0" bIns="0" rtlCol="0" anchor="t">
            <a:normAutofit/>
          </a:bodyPr>
          <a:lstStyle/>
          <a:p>
            <a:pPr marL="0" indent="0" algn="r">
              <a:lnSpc>
                <a:spcPts val="1596"/>
              </a:lnSpc>
              <a:buNone/>
            </a:pPr>
            <a:r>
              <a:rPr lang="en-US" sz="1200" b="1" dirty="0">
                <a:solidFill>
                  <a:srgbClr val="1D1D1B"/>
                </a:solidFill>
                <a:latin typeface="Roboto" pitchFamily="34" charset="0"/>
                <a:ea typeface="Roboto" pitchFamily="34" charset="-122"/>
                <a:cs typeface="Roboto" pitchFamily="34" charset="-120"/>
              </a:rPr>
              <a:t>car</a:t>
            </a:r>
            <a:endParaRPr lang="en-US" sz="1200" dirty="0"/>
          </a:p>
        </p:txBody>
      </p:sp>
      <p:sp>
        <p:nvSpPr>
          <p:cNvPr id="14" name="Shape 10"/>
          <p:cNvSpPr/>
          <p:nvPr/>
        </p:nvSpPr>
        <p:spPr>
          <a:xfrm>
            <a:off x="990600" y="3162201"/>
            <a:ext cx="152400" cy="152400"/>
          </a:xfrm>
          <a:prstGeom prst="roundRect">
            <a:avLst>
              <a:gd name="adj" fmla="val 50000"/>
            </a:avLst>
          </a:prstGeom>
          <a:solidFill>
            <a:srgbClr val="3C3C3B"/>
          </a:solidFill>
          <a:ln/>
        </p:spPr>
        <p:txBody>
          <a:bodyPr/>
          <a:lstStyle/>
          <a:p>
            <a:endParaRPr lang="en-CO"/>
          </a:p>
        </p:txBody>
      </p:sp>
      <p:sp>
        <p:nvSpPr>
          <p:cNvPr id="15" name="Shape 11"/>
          <p:cNvSpPr/>
          <p:nvPr/>
        </p:nvSpPr>
        <p:spPr>
          <a:xfrm>
            <a:off x="3149600" y="3162201"/>
            <a:ext cx="152400" cy="152400"/>
          </a:xfrm>
          <a:prstGeom prst="roundRect">
            <a:avLst>
              <a:gd name="adj" fmla="val 50000"/>
            </a:avLst>
          </a:prstGeom>
          <a:solidFill>
            <a:srgbClr val="3C3C3B"/>
          </a:solidFill>
          <a:ln/>
        </p:spPr>
        <p:txBody>
          <a:bodyPr/>
          <a:lstStyle/>
          <a:p>
            <a:endParaRPr lang="en-CO"/>
          </a:p>
        </p:txBody>
      </p:sp>
      <p:sp>
        <p:nvSpPr>
          <p:cNvPr id="16" name="Shape 12"/>
          <p:cNvSpPr/>
          <p:nvPr/>
        </p:nvSpPr>
        <p:spPr>
          <a:xfrm>
            <a:off x="5308600" y="3162201"/>
            <a:ext cx="152400" cy="152400"/>
          </a:xfrm>
          <a:prstGeom prst="roundRect">
            <a:avLst>
              <a:gd name="adj" fmla="val 50000"/>
            </a:avLst>
          </a:prstGeom>
          <a:solidFill>
            <a:srgbClr val="3C3C3B"/>
          </a:solidFill>
          <a:ln/>
        </p:spPr>
        <p:txBody>
          <a:bodyPr/>
          <a:lstStyle/>
          <a:p>
            <a:endParaRPr lang="en-CO"/>
          </a:p>
        </p:txBody>
      </p:sp>
      <p:sp>
        <p:nvSpPr>
          <p:cNvPr id="17" name="Shape 13"/>
          <p:cNvSpPr/>
          <p:nvPr/>
        </p:nvSpPr>
        <p:spPr>
          <a:xfrm>
            <a:off x="1066800" y="3860701"/>
            <a:ext cx="4318000" cy="25400"/>
          </a:xfrm>
          <a:prstGeom prst="rect">
            <a:avLst/>
          </a:prstGeom>
          <a:solidFill>
            <a:srgbClr val="3C3C3B"/>
          </a:solidFill>
          <a:ln/>
        </p:spPr>
        <p:txBody>
          <a:bodyPr/>
          <a:lstStyle/>
          <a:p>
            <a:endParaRPr lang="en-CO"/>
          </a:p>
        </p:txBody>
      </p:sp>
      <p:pic>
        <p:nvPicPr>
          <p:cNvPr id="18" name="Image 2" descr="connector"/>
          <p:cNvPicPr>
            <a:picLocks noChangeAspect="1"/>
          </p:cNvPicPr>
          <p:nvPr/>
        </p:nvPicPr>
        <p:blipFill>
          <a:blip r:embed="rId5"/>
          <a:srcRect/>
          <a:stretch/>
        </p:blipFill>
        <p:spPr>
          <a:xfrm>
            <a:off x="1092200" y="3225701"/>
            <a:ext cx="990600" cy="641350"/>
          </a:xfrm>
          <a:prstGeom prst="rect">
            <a:avLst/>
          </a:prstGeom>
        </p:spPr>
      </p:pic>
      <p:pic>
        <p:nvPicPr>
          <p:cNvPr id="19" name="Image 3" descr="connector"/>
          <p:cNvPicPr>
            <a:picLocks noChangeAspect="1"/>
          </p:cNvPicPr>
          <p:nvPr/>
        </p:nvPicPr>
        <p:blipFill>
          <a:blip r:embed="rId6"/>
          <a:srcRect/>
          <a:stretch/>
        </p:blipFill>
        <p:spPr>
          <a:xfrm>
            <a:off x="3175000" y="3276501"/>
            <a:ext cx="101600" cy="520700"/>
          </a:xfrm>
          <a:prstGeom prst="rect">
            <a:avLst/>
          </a:prstGeom>
        </p:spPr>
      </p:pic>
      <p:pic>
        <p:nvPicPr>
          <p:cNvPr id="20" name="Image 4" descr="connector"/>
          <p:cNvPicPr>
            <a:picLocks noChangeAspect="1"/>
          </p:cNvPicPr>
          <p:nvPr/>
        </p:nvPicPr>
        <p:blipFill>
          <a:blip r:embed="rId7"/>
          <a:srcRect/>
          <a:stretch/>
        </p:blipFill>
        <p:spPr>
          <a:xfrm>
            <a:off x="4368800" y="3225701"/>
            <a:ext cx="990600" cy="641350"/>
          </a:xfrm>
          <a:prstGeom prst="rect">
            <a:avLst/>
          </a:prstGeom>
        </p:spPr>
      </p:pic>
      <p:sp>
        <p:nvSpPr>
          <p:cNvPr id="21" name="Shape 14"/>
          <p:cNvSpPr/>
          <p:nvPr/>
        </p:nvSpPr>
        <p:spPr>
          <a:xfrm>
            <a:off x="2047875" y="3774976"/>
            <a:ext cx="196850" cy="196850"/>
          </a:xfrm>
          <a:prstGeom prst="roundRect">
            <a:avLst>
              <a:gd name="adj" fmla="val 50000"/>
            </a:avLst>
          </a:prstGeom>
          <a:solidFill>
            <a:srgbClr val="FFEE00"/>
          </a:solidFill>
          <a:ln w="19050">
            <a:solidFill>
              <a:srgbClr val="1D1D1B"/>
            </a:solidFill>
            <a:prstDash val="solid"/>
          </a:ln>
        </p:spPr>
        <p:txBody>
          <a:bodyPr/>
          <a:lstStyle/>
          <a:p>
            <a:endParaRPr lang="en-CO"/>
          </a:p>
        </p:txBody>
      </p:sp>
      <p:sp>
        <p:nvSpPr>
          <p:cNvPr id="22" name="Shape 15"/>
          <p:cNvSpPr/>
          <p:nvPr/>
        </p:nvSpPr>
        <p:spPr>
          <a:xfrm>
            <a:off x="3127375" y="3774976"/>
            <a:ext cx="196850" cy="196850"/>
          </a:xfrm>
          <a:prstGeom prst="roundRect">
            <a:avLst>
              <a:gd name="adj" fmla="val 50000"/>
            </a:avLst>
          </a:prstGeom>
          <a:solidFill>
            <a:srgbClr val="FFEE00"/>
          </a:solidFill>
          <a:ln w="19050">
            <a:solidFill>
              <a:srgbClr val="1D1D1B"/>
            </a:solidFill>
            <a:prstDash val="solid"/>
          </a:ln>
        </p:spPr>
        <p:txBody>
          <a:bodyPr/>
          <a:lstStyle/>
          <a:p>
            <a:endParaRPr lang="en-CO"/>
          </a:p>
        </p:txBody>
      </p:sp>
      <p:sp>
        <p:nvSpPr>
          <p:cNvPr id="23" name="Shape 16"/>
          <p:cNvSpPr/>
          <p:nvPr/>
        </p:nvSpPr>
        <p:spPr>
          <a:xfrm>
            <a:off x="4206875" y="3774976"/>
            <a:ext cx="196850" cy="196850"/>
          </a:xfrm>
          <a:prstGeom prst="roundRect">
            <a:avLst>
              <a:gd name="adj" fmla="val 50000"/>
            </a:avLst>
          </a:prstGeom>
          <a:solidFill>
            <a:srgbClr val="FFEE00"/>
          </a:solidFill>
          <a:ln w="19050">
            <a:solidFill>
              <a:srgbClr val="1D1D1B"/>
            </a:solidFill>
            <a:prstDash val="solid"/>
          </a:ln>
        </p:spPr>
        <p:txBody>
          <a:bodyPr/>
          <a:lstStyle/>
          <a:p>
            <a:endParaRPr lang="en-CO"/>
          </a:p>
        </p:txBody>
      </p:sp>
      <p:sp>
        <p:nvSpPr>
          <p:cNvPr id="24" name="Text 17"/>
          <p:cNvSpPr/>
          <p:nvPr/>
        </p:nvSpPr>
        <p:spPr>
          <a:xfrm>
            <a:off x="787400" y="4000401"/>
            <a:ext cx="558800"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3C3C3B"/>
                </a:solidFill>
                <a:latin typeface="Roboto" pitchFamily="34" charset="0"/>
                <a:ea typeface="Roboto" pitchFamily="34" charset="-122"/>
                <a:cs typeface="Roboto" pitchFamily="34" charset="-120"/>
              </a:rPr>
              <a:t>0</a:t>
            </a:r>
            <a:endParaRPr lang="en-US" sz="1200" dirty="0"/>
          </a:p>
        </p:txBody>
      </p:sp>
      <p:sp>
        <p:nvSpPr>
          <p:cNvPr id="25" name="Text 18"/>
          <p:cNvSpPr/>
          <p:nvPr/>
        </p:nvSpPr>
        <p:spPr>
          <a:xfrm>
            <a:off x="1866900" y="4000401"/>
            <a:ext cx="558800" cy="2159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1D1D1B"/>
                </a:solidFill>
                <a:latin typeface="Roboto" pitchFamily="34" charset="0"/>
                <a:ea typeface="Roboto" pitchFamily="34" charset="-122"/>
                <a:cs typeface="Roboto" pitchFamily="34" charset="-120"/>
              </a:rPr>
              <a:t>0.25</a:t>
            </a:r>
            <a:endParaRPr lang="en-US" sz="1200" dirty="0"/>
          </a:p>
        </p:txBody>
      </p:sp>
      <p:sp>
        <p:nvSpPr>
          <p:cNvPr id="26" name="Text 19"/>
          <p:cNvSpPr/>
          <p:nvPr/>
        </p:nvSpPr>
        <p:spPr>
          <a:xfrm>
            <a:off x="2946400" y="4000401"/>
            <a:ext cx="558800" cy="2159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1D1D1B"/>
                </a:solidFill>
                <a:latin typeface="Roboto" pitchFamily="34" charset="0"/>
                <a:ea typeface="Roboto" pitchFamily="34" charset="-122"/>
                <a:cs typeface="Roboto" pitchFamily="34" charset="-120"/>
              </a:rPr>
              <a:t>0.5</a:t>
            </a:r>
            <a:endParaRPr lang="en-US" sz="1200" dirty="0"/>
          </a:p>
        </p:txBody>
      </p:sp>
      <p:sp>
        <p:nvSpPr>
          <p:cNvPr id="27" name="Text 20"/>
          <p:cNvSpPr/>
          <p:nvPr/>
        </p:nvSpPr>
        <p:spPr>
          <a:xfrm>
            <a:off x="4025900" y="4000401"/>
            <a:ext cx="558800" cy="2159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1D1D1B"/>
                </a:solidFill>
                <a:latin typeface="Roboto" pitchFamily="34" charset="0"/>
                <a:ea typeface="Roboto" pitchFamily="34" charset="-122"/>
                <a:cs typeface="Roboto" pitchFamily="34" charset="-120"/>
              </a:rPr>
              <a:t>0.75</a:t>
            </a:r>
            <a:endParaRPr lang="en-US" sz="1200" dirty="0"/>
          </a:p>
        </p:txBody>
      </p:sp>
      <p:sp>
        <p:nvSpPr>
          <p:cNvPr id="28" name="Text 21"/>
          <p:cNvSpPr/>
          <p:nvPr/>
        </p:nvSpPr>
        <p:spPr>
          <a:xfrm>
            <a:off x="5105400" y="4000401"/>
            <a:ext cx="558800"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3C3C3B"/>
                </a:solidFill>
                <a:latin typeface="Roboto" pitchFamily="34" charset="0"/>
                <a:ea typeface="Roboto" pitchFamily="34" charset="-122"/>
                <a:cs typeface="Roboto" pitchFamily="34" charset="-120"/>
              </a:rPr>
              <a:t>1</a:t>
            </a:r>
            <a:endParaRPr lang="en-US" sz="1200" dirty="0"/>
          </a:p>
        </p:txBody>
      </p:sp>
      <p:sp>
        <p:nvSpPr>
          <p:cNvPr id="29" name="Text 22"/>
          <p:cNvSpPr/>
          <p:nvPr/>
        </p:nvSpPr>
        <p:spPr>
          <a:xfrm>
            <a:off x="812800" y="4229001"/>
            <a:ext cx="497078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Arriba, P(+) sin ruido; abajo, con p = 0.5. Con p = 1, todas dan ½.</a:t>
            </a:r>
            <a:endParaRPr lang="en-US" sz="1200" dirty="0"/>
          </a:p>
        </p:txBody>
      </p:sp>
      <p:sp>
        <p:nvSpPr>
          <p:cNvPr id="30" name="Text 23"/>
          <p:cNvSpPr/>
          <p:nvPr/>
        </p:nvSpPr>
        <p:spPr>
          <a:xfrm>
            <a:off x="6045200" y="1856680"/>
            <a:ext cx="54940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PROMEDIANDO SOBRE LAS PERSONAS</a:t>
            </a:r>
            <a:endParaRPr lang="en-US" sz="1200" dirty="0"/>
          </a:p>
        </p:txBody>
      </p:sp>
      <p:pic>
        <p:nvPicPr>
          <p:cNvPr id="31" name="Image 5" descr="E[F_C] − ½ = (1−p)·(E[F_B] − ½)"/>
          <p:cNvPicPr>
            <a:picLocks noChangeAspect="1"/>
          </p:cNvPicPr>
          <p:nvPr/>
        </p:nvPicPr>
        <p:blipFill>
          <a:blip r:embed="rId8"/>
          <a:srcRect t="-318" b="-318"/>
          <a:stretch/>
        </p:blipFill>
        <p:spPr>
          <a:xfrm>
            <a:off x="6045200" y="2146201"/>
            <a:ext cx="3740150" cy="368300"/>
          </a:xfrm>
          <a:prstGeom prst="rect">
            <a:avLst/>
          </a:prstGeom>
        </p:spPr>
      </p:pic>
      <p:sp>
        <p:nvSpPr>
          <p:cNvPr id="32" name="Shape 24"/>
          <p:cNvSpPr/>
          <p:nvPr/>
        </p:nvSpPr>
        <p:spPr>
          <a:xfrm>
            <a:off x="6064250" y="2666901"/>
            <a:ext cx="0" cy="746522"/>
          </a:xfrm>
          <a:prstGeom prst="line">
            <a:avLst/>
          </a:prstGeom>
          <a:noFill/>
          <a:ln w="38100">
            <a:solidFill>
              <a:srgbClr val="FFEE00"/>
            </a:solidFill>
            <a:prstDash val="solid"/>
          </a:ln>
        </p:spPr>
        <p:txBody>
          <a:bodyPr/>
          <a:lstStyle/>
          <a:p>
            <a:endParaRPr lang="en-CO"/>
          </a:p>
        </p:txBody>
      </p:sp>
      <p:sp>
        <p:nvSpPr>
          <p:cNvPr id="33" name="Text 25"/>
          <p:cNvSpPr/>
          <p:nvPr/>
        </p:nvSpPr>
        <p:spPr>
          <a:xfrm>
            <a:off x="6210300" y="2666901"/>
            <a:ext cx="5323967"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El ruido multiplica la distancia a ½ por (1 − p): empuja hacia ½, el valor del estado totalmente mezclado, </a:t>
            </a:r>
            <a:r>
              <a:rPr lang="en-US" sz="1400" b="1" dirty="0">
                <a:solidFill>
                  <a:srgbClr val="3C3C3B"/>
                </a:solidFill>
                <a:latin typeface="Roboto" pitchFamily="34" charset="0"/>
                <a:ea typeface="Roboto" pitchFamily="34" charset="-122"/>
                <a:cs typeface="Roboto" pitchFamily="34" charset="-120"/>
              </a:rPr>
              <a:t>no hacia el promedio de los datos</a:t>
            </a:r>
            <a:r>
              <a:rPr lang="en-US" sz="1400" dirty="0">
                <a:solidFill>
                  <a:srgbClr val="3C3C3B"/>
                </a:solidFill>
                <a:latin typeface="Roboto" pitchFamily="34" charset="0"/>
                <a:ea typeface="Roboto" pitchFamily="34" charset="-122"/>
                <a:cs typeface="Roboto" pitchFamily="34" charset="-120"/>
              </a:rPr>
              <a:t>.</a:t>
            </a:r>
            <a:endParaRPr lang="en-US" sz="1400" dirty="0"/>
          </a:p>
        </p:txBody>
      </p:sp>
      <p:sp>
        <p:nvSpPr>
          <p:cNvPr id="34" name="Shape 26"/>
          <p:cNvSpPr/>
          <p:nvPr/>
        </p:nvSpPr>
        <p:spPr>
          <a:xfrm>
            <a:off x="6064250" y="3515023"/>
            <a:ext cx="0" cy="497681"/>
          </a:xfrm>
          <a:prstGeom prst="line">
            <a:avLst/>
          </a:prstGeom>
          <a:noFill/>
          <a:ln w="38100">
            <a:solidFill>
              <a:srgbClr val="FFEE00"/>
            </a:solidFill>
            <a:prstDash val="solid"/>
          </a:ln>
        </p:spPr>
        <p:txBody>
          <a:bodyPr/>
          <a:lstStyle/>
          <a:p>
            <a:endParaRPr lang="en-CO"/>
          </a:p>
        </p:txBody>
      </p:sp>
      <p:sp>
        <p:nvSpPr>
          <p:cNvPr id="35" name="Text 27"/>
          <p:cNvSpPr/>
          <p:nvPr/>
        </p:nvSpPr>
        <p:spPr>
          <a:xfrm>
            <a:off x="6210300" y="3515023"/>
            <a:ext cx="532396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(1 − p) es el mismo factor con que el depolarizante encoge el vector de Bloch.</a:t>
            </a:r>
            <a:endParaRPr lang="en-US" sz="1400" dirty="0"/>
          </a:p>
        </p:txBody>
      </p:sp>
      <p:sp>
        <p:nvSpPr>
          <p:cNvPr id="36" name="Shape 28"/>
          <p:cNvSpPr/>
          <p:nvPr/>
        </p:nvSpPr>
        <p:spPr>
          <a:xfrm>
            <a:off x="6064250" y="4114304"/>
            <a:ext cx="0" cy="746522"/>
          </a:xfrm>
          <a:prstGeom prst="line">
            <a:avLst/>
          </a:prstGeom>
          <a:noFill/>
          <a:ln w="38100">
            <a:solidFill>
              <a:srgbClr val="FFEE00"/>
            </a:solidFill>
            <a:prstDash val="solid"/>
          </a:ln>
        </p:spPr>
        <p:txBody>
          <a:bodyPr/>
          <a:lstStyle/>
          <a:p>
            <a:endParaRPr lang="en-CO"/>
          </a:p>
        </p:txBody>
      </p:sp>
      <p:sp>
        <p:nvSpPr>
          <p:cNvPr id="37" name="Text 29"/>
          <p:cNvSpPr/>
          <p:nvPr/>
        </p:nvSpPr>
        <p:spPr>
          <a:xfrm>
            <a:off x="6210300" y="4114304"/>
            <a:ext cx="5323967"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Con </a:t>
            </a:r>
            <a:r>
              <a:rPr lang="en-US" sz="1400" dirty="0">
                <a:solidFill>
                  <a:srgbClr val="293470"/>
                </a:solidFill>
                <a:latin typeface="Roboto" pitchFamily="34" charset="0"/>
                <a:ea typeface="Roboto" pitchFamily="34" charset="-122"/>
                <a:cs typeface="Roboto" pitchFamily="34" charset="-120"/>
              </a:rPr>
              <a:t>collateral</a:t>
            </a:r>
            <a:r>
              <a:rPr lang="en-US" sz="1400" dirty="0">
                <a:solidFill>
                  <a:srgbClr val="3C3C3B"/>
                </a:solidFill>
                <a:latin typeface="Roboto" pitchFamily="34" charset="0"/>
                <a:ea typeface="Roboto" pitchFamily="34" charset="-122"/>
                <a:cs typeface="Roboto" pitchFamily="34" charset="-120"/>
              </a:rPr>
              <a:t> el corrimiento es chico (0.45 → 0.475) porque 0.45 ya estaba cerca de ½. Si el centro fuera 0.9, el mismo ruido lo llevaría a 0.7.</a:t>
            </a:r>
            <a:endParaRPr lang="en-US" sz="1400" dirty="0"/>
          </a:p>
        </p:txBody>
      </p:sp>
      <p:sp>
        <p:nvSpPr>
          <p:cNvPr id="38" name="Text 30"/>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39" name="Text 31"/>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Corregir el centro, no la dispersión</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F̂ queda centrada en el valor verdadero, pero unas 2.8 veces más ancha.</a:t>
            </a:r>
            <a:endParaRPr lang="en-US" sz="1800" dirty="0"/>
          </a:p>
        </p:txBody>
      </p:sp>
      <p:pic>
        <p:nvPicPr>
          <p:cNvPr id="9" name="Image 1" descr="F̂ = (F_C − p/2)/(1 − p)"/>
          <p:cNvPicPr>
            <a:picLocks noChangeAspect="1"/>
          </p:cNvPicPr>
          <p:nvPr/>
        </p:nvPicPr>
        <p:blipFill>
          <a:blip r:embed="rId4"/>
          <a:srcRect l="-149" r="-149"/>
          <a:stretch/>
        </p:blipFill>
        <p:spPr>
          <a:xfrm>
            <a:off x="812800" y="1805880"/>
            <a:ext cx="1854200" cy="711200"/>
          </a:xfrm>
          <a:prstGeom prst="rect">
            <a:avLst/>
          </a:prstGeom>
        </p:spPr>
      </p:pic>
      <p:sp>
        <p:nvSpPr>
          <p:cNvPr id="10" name="Text 6"/>
          <p:cNvSpPr/>
          <p:nvPr/>
        </p:nvSpPr>
        <p:spPr>
          <a:xfrm>
            <a:off x="812800" y="2618680"/>
            <a:ext cx="4578350"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Solo usa lo medido y el parámetro público p, no el valor verdadero. Es un estimador insesgado, como en el </a:t>
            </a:r>
            <a:r>
              <a:rPr lang="en-US" sz="1400" i="1" dirty="0">
                <a:solidFill>
                  <a:srgbClr val="3C3C3B"/>
                </a:solidFill>
                <a:latin typeface="Roboto" pitchFamily="34" charset="0"/>
                <a:ea typeface="Roboto" pitchFamily="34" charset="-122"/>
                <a:cs typeface="Roboto" pitchFamily="34" charset="-120"/>
              </a:rPr>
              <a:t>randomized response</a:t>
            </a:r>
            <a:r>
              <a:rPr lang="en-US" sz="1400" dirty="0">
                <a:solidFill>
                  <a:srgbClr val="3C3C3B"/>
                </a:solidFill>
                <a:latin typeface="Roboto" pitchFamily="34" charset="0"/>
                <a:ea typeface="Roboto" pitchFamily="34" charset="-122"/>
                <a:cs typeface="Roboto" pitchFamily="34" charset="-120"/>
              </a:rPr>
              <a:t> clásico.</a:t>
            </a:r>
            <a:endParaRPr lang="en-US" sz="1400" dirty="0"/>
          </a:p>
        </p:txBody>
      </p:sp>
      <p:sp>
        <p:nvSpPr>
          <p:cNvPr id="11" name="Shape 7"/>
          <p:cNvSpPr/>
          <p:nvPr/>
        </p:nvSpPr>
        <p:spPr>
          <a:xfrm>
            <a:off x="5562600" y="1805880"/>
            <a:ext cx="2832100" cy="1612702"/>
          </a:xfrm>
          <a:prstGeom prst="roundRect">
            <a:avLst>
              <a:gd name="adj" fmla="val 6300"/>
            </a:avLst>
          </a:prstGeom>
          <a:solidFill>
            <a:srgbClr val="F4F4F2"/>
          </a:solidFill>
          <a:ln/>
        </p:spPr>
        <p:txBody>
          <a:bodyPr/>
          <a:lstStyle/>
          <a:p>
            <a:endParaRPr lang="en-CO"/>
          </a:p>
        </p:txBody>
      </p:sp>
      <p:sp>
        <p:nvSpPr>
          <p:cNvPr id="12" name="Text 8"/>
          <p:cNvSpPr/>
          <p:nvPr/>
        </p:nvSpPr>
        <p:spPr>
          <a:xfrm>
            <a:off x="5740400" y="1958280"/>
            <a:ext cx="255079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Centro</a:t>
            </a:r>
            <a:endParaRPr lang="en-US" sz="1400" dirty="0"/>
          </a:p>
        </p:txBody>
      </p:sp>
      <p:sp>
        <p:nvSpPr>
          <p:cNvPr id="13" name="Text 9"/>
          <p:cNvSpPr/>
          <p:nvPr/>
        </p:nvSpPr>
        <p:spPr>
          <a:xfrm>
            <a:off x="5740400" y="2235101"/>
            <a:ext cx="255079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Se corre hacia ½ de forma determinista.</a:t>
            </a:r>
            <a:endParaRPr lang="en-US" sz="1200" dirty="0"/>
          </a:p>
        </p:txBody>
      </p:sp>
      <p:sp>
        <p:nvSpPr>
          <p:cNvPr id="14" name="Text 10"/>
          <p:cNvSpPr/>
          <p:nvPr/>
        </p:nvSpPr>
        <p:spPr>
          <a:xfrm>
            <a:off x="5740400" y="3002062"/>
            <a:ext cx="863104" cy="264120"/>
          </a:xfrm>
          <a:prstGeom prst="roundRect">
            <a:avLst>
              <a:gd name="adj" fmla="val 14425"/>
            </a:avLst>
          </a:prstGeom>
          <a:solidFill>
            <a:srgbClr val="293470"/>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Roboto" pitchFamily="34" charset="0"/>
                <a:ea typeface="Roboto" pitchFamily="34" charset="-122"/>
                <a:cs typeface="Roboto" pitchFamily="34" charset="-120"/>
              </a:rPr>
              <a:t>se corrige</a:t>
            </a:r>
            <a:endParaRPr lang="en-US" sz="1200" dirty="0"/>
          </a:p>
        </p:txBody>
      </p:sp>
      <p:sp>
        <p:nvSpPr>
          <p:cNvPr id="15" name="Shape 11"/>
          <p:cNvSpPr/>
          <p:nvPr/>
        </p:nvSpPr>
        <p:spPr>
          <a:xfrm>
            <a:off x="8547100" y="1805880"/>
            <a:ext cx="2832100" cy="1612702"/>
          </a:xfrm>
          <a:prstGeom prst="roundRect">
            <a:avLst>
              <a:gd name="adj" fmla="val 6300"/>
            </a:avLst>
          </a:prstGeom>
          <a:solidFill>
            <a:srgbClr val="F4F4F2"/>
          </a:solidFill>
          <a:ln/>
        </p:spPr>
        <p:txBody>
          <a:bodyPr/>
          <a:lstStyle/>
          <a:p>
            <a:endParaRPr lang="en-CO"/>
          </a:p>
        </p:txBody>
      </p:sp>
      <p:sp>
        <p:nvSpPr>
          <p:cNvPr id="16" name="Text 12"/>
          <p:cNvSpPr/>
          <p:nvPr/>
        </p:nvSpPr>
        <p:spPr>
          <a:xfrm>
            <a:off x="8724900" y="1958280"/>
            <a:ext cx="255079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Dispersión</a:t>
            </a:r>
            <a:endParaRPr lang="en-US" sz="1400" dirty="0"/>
          </a:p>
        </p:txBody>
      </p:sp>
      <p:sp>
        <p:nvSpPr>
          <p:cNvPr id="17" name="Text 13"/>
          <p:cNvSpPr/>
          <p:nvPr/>
        </p:nvSpPr>
        <p:spPr>
          <a:xfrm>
            <a:off x="8724900" y="2235101"/>
            <a:ext cx="255079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Aumenta: cada persona es una moneda más impredecible (</a:t>
            </a:r>
            <a:r>
              <a:rPr lang="en-US" sz="1200" dirty="0">
                <a:solidFill>
                  <a:srgbClr val="293470"/>
                </a:solidFill>
                <a:latin typeface="Roboto" pitchFamily="34" charset="0"/>
                <a:ea typeface="Roboto" pitchFamily="34" charset="-122"/>
                <a:cs typeface="Roboto" pitchFamily="34" charset="-120"/>
              </a:rPr>
              <a:t>car</a:t>
            </a:r>
            <a:r>
              <a:rPr lang="en-US" sz="1200" dirty="0">
                <a:solidFill>
                  <a:srgbClr val="3C3C3B"/>
                </a:solidFill>
                <a:latin typeface="Roboto" pitchFamily="34" charset="0"/>
                <a:ea typeface="Roboto" pitchFamily="34" charset="-122"/>
                <a:cs typeface="Roboto" pitchFamily="34" charset="-120"/>
              </a:rPr>
              <a:t>: varianza de 0 a 0.1875).</a:t>
            </a:r>
            <a:endParaRPr lang="en-US" sz="1200" dirty="0"/>
          </a:p>
        </p:txBody>
      </p:sp>
      <p:sp>
        <p:nvSpPr>
          <p:cNvPr id="18" name="Text 14"/>
          <p:cNvSpPr/>
          <p:nvPr/>
        </p:nvSpPr>
        <p:spPr>
          <a:xfrm>
            <a:off x="8724900" y="3002062"/>
            <a:ext cx="1072455" cy="264120"/>
          </a:xfrm>
          <a:prstGeom prst="roundRect">
            <a:avLst>
              <a:gd name="adj" fmla="val 14425"/>
            </a:avLst>
          </a:prstGeom>
          <a:solidFill>
            <a:srgbClr val="FFEE00"/>
          </a:solidFill>
          <a:ln/>
        </p:spPr>
        <p:txBody>
          <a:bodyPr wrap="none" lIns="0" tIns="0" rIns="0" bIns="0" rtlCol="0" anchor="ctr">
            <a:normAutofit/>
          </a:bodyPr>
          <a:lstStyle/>
          <a:p>
            <a:pPr marL="0" indent="0" algn="ctr">
              <a:lnSpc>
                <a:spcPts val="1680"/>
              </a:lnSpc>
              <a:buNone/>
            </a:pPr>
            <a:r>
              <a:rPr lang="en-US" sz="1200" b="1" dirty="0">
                <a:solidFill>
                  <a:srgbClr val="1D1D1B"/>
                </a:solidFill>
                <a:latin typeface="Roboto" pitchFamily="34" charset="0"/>
                <a:ea typeface="Roboto" pitchFamily="34" charset="-122"/>
                <a:cs typeface="Roboto" pitchFamily="34" charset="-120"/>
              </a:rPr>
              <a:t>no se corrige</a:t>
            </a:r>
            <a:endParaRPr lang="en-US" sz="1200" dirty="0"/>
          </a:p>
        </p:txBody>
      </p:sp>
      <p:sp>
        <p:nvSpPr>
          <p:cNvPr id="19" name="Shape 15"/>
          <p:cNvSpPr/>
          <p:nvPr/>
        </p:nvSpPr>
        <p:spPr>
          <a:xfrm>
            <a:off x="5467350" y="3621782"/>
            <a:ext cx="0" cy="1435100"/>
          </a:xfrm>
          <a:prstGeom prst="line">
            <a:avLst/>
          </a:prstGeom>
          <a:noFill/>
          <a:ln w="12700">
            <a:solidFill>
              <a:srgbClr val="6E6E6C"/>
            </a:solidFill>
            <a:prstDash val="dash"/>
          </a:ln>
        </p:spPr>
        <p:txBody>
          <a:bodyPr/>
          <a:lstStyle/>
          <a:p>
            <a:endParaRPr lang="en-CO"/>
          </a:p>
        </p:txBody>
      </p:sp>
      <p:sp>
        <p:nvSpPr>
          <p:cNvPr id="20" name="Shape 16"/>
          <p:cNvSpPr/>
          <p:nvPr/>
        </p:nvSpPr>
        <p:spPr>
          <a:xfrm>
            <a:off x="2844800" y="5069582"/>
            <a:ext cx="5994400" cy="12700"/>
          </a:xfrm>
          <a:prstGeom prst="rect">
            <a:avLst/>
          </a:prstGeom>
          <a:solidFill>
            <a:srgbClr val="B9B9B5"/>
          </a:solidFill>
          <a:ln/>
        </p:spPr>
        <p:txBody>
          <a:bodyPr/>
          <a:lstStyle/>
          <a:p>
            <a:endParaRPr lang="en-CO"/>
          </a:p>
        </p:txBody>
      </p:sp>
      <p:sp>
        <p:nvSpPr>
          <p:cNvPr id="21" name="Text 17"/>
          <p:cNvSpPr/>
          <p:nvPr/>
        </p:nvSpPr>
        <p:spPr>
          <a:xfrm>
            <a:off x="812800" y="3761482"/>
            <a:ext cx="1962150" cy="254695"/>
          </a:xfrm>
          <a:prstGeom prst="rect">
            <a:avLst/>
          </a:prstGeom>
          <a:noFill/>
          <a:ln/>
        </p:spPr>
        <p:txBody>
          <a:bodyPr wrap="square" lIns="0" tIns="0" rIns="0" bIns="0" rtlCol="0" anchor="t">
            <a:normAutofit/>
          </a:bodyPr>
          <a:lstStyle/>
          <a:p>
            <a:pPr marL="0" indent="0" algn="l">
              <a:lnSpc>
                <a:spcPts val="1806"/>
              </a:lnSpc>
              <a:buNone/>
            </a:pPr>
            <a:r>
              <a:rPr lang="en-US" sz="1400" b="1" dirty="0">
                <a:solidFill>
                  <a:srgbClr val="1D1D1B"/>
                </a:solidFill>
                <a:latin typeface="Roboto" pitchFamily="34" charset="0"/>
                <a:ea typeface="Roboto" pitchFamily="34" charset="-122"/>
                <a:cs typeface="Roboto" pitchFamily="34" charset="-120"/>
              </a:rPr>
              <a:t>B · sin ruido</a:t>
            </a:r>
            <a:endParaRPr lang="en-US" sz="1400" dirty="0"/>
          </a:p>
        </p:txBody>
      </p:sp>
      <p:sp>
        <p:nvSpPr>
          <p:cNvPr id="22" name="Shape 18"/>
          <p:cNvSpPr/>
          <p:nvPr/>
        </p:nvSpPr>
        <p:spPr>
          <a:xfrm>
            <a:off x="4692650" y="3831332"/>
            <a:ext cx="1549400" cy="88900"/>
          </a:xfrm>
          <a:prstGeom prst="rect">
            <a:avLst/>
          </a:prstGeom>
          <a:solidFill>
            <a:srgbClr val="3C3C3B"/>
          </a:solidFill>
          <a:ln/>
        </p:spPr>
        <p:txBody>
          <a:bodyPr/>
          <a:lstStyle/>
          <a:p>
            <a:endParaRPr lang="en-CO"/>
          </a:p>
        </p:txBody>
      </p:sp>
      <p:sp>
        <p:nvSpPr>
          <p:cNvPr id="23" name="Shape 19"/>
          <p:cNvSpPr/>
          <p:nvPr/>
        </p:nvSpPr>
        <p:spPr>
          <a:xfrm>
            <a:off x="5391150" y="3799582"/>
            <a:ext cx="152400" cy="152400"/>
          </a:xfrm>
          <a:prstGeom prst="roundRect">
            <a:avLst>
              <a:gd name="adj" fmla="val 50000"/>
            </a:avLst>
          </a:prstGeom>
          <a:solidFill>
            <a:srgbClr val="3C3C3B"/>
          </a:solidFill>
          <a:ln/>
        </p:spPr>
        <p:txBody>
          <a:bodyPr/>
          <a:lstStyle/>
          <a:p>
            <a:endParaRPr lang="en-CO"/>
          </a:p>
        </p:txBody>
      </p:sp>
      <p:sp>
        <p:nvSpPr>
          <p:cNvPr id="24" name="Text 20"/>
          <p:cNvSpPr/>
          <p:nvPr/>
        </p:nvSpPr>
        <p:spPr>
          <a:xfrm>
            <a:off x="9004300" y="3774182"/>
            <a:ext cx="2446147" cy="228402"/>
          </a:xfrm>
          <a:prstGeom prst="rect">
            <a:avLst/>
          </a:prstGeom>
          <a:noFill/>
          <a:ln/>
        </p:spPr>
        <p:txBody>
          <a:bodyPr wrap="square" lIns="0" tIns="0" rIns="0" bIns="0" rtlCol="0" anchor="t">
            <a:normAutofit/>
          </a:bodyPr>
          <a:lstStyle/>
          <a:p>
            <a:pPr marL="0" indent="0" algn="l">
              <a:lnSpc>
                <a:spcPts val="1599"/>
              </a:lnSpc>
              <a:buNone/>
            </a:pPr>
            <a:r>
              <a:rPr lang="en-US" sz="1300" dirty="0">
                <a:solidFill>
                  <a:srgbClr val="3C3C3B"/>
                </a:solidFill>
                <a:latin typeface="Roboto" pitchFamily="34" charset="0"/>
                <a:ea typeface="Roboto" pitchFamily="34" charset="-122"/>
                <a:cs typeface="Roboto" pitchFamily="34" charset="-120"/>
              </a:rPr>
              <a:t>0.450 · std 0.0103</a:t>
            </a:r>
            <a:endParaRPr lang="en-US" sz="1300" dirty="0"/>
          </a:p>
        </p:txBody>
      </p:sp>
      <p:sp>
        <p:nvSpPr>
          <p:cNvPr id="25" name="Text 21"/>
          <p:cNvSpPr/>
          <p:nvPr/>
        </p:nvSpPr>
        <p:spPr>
          <a:xfrm>
            <a:off x="812800" y="4269482"/>
            <a:ext cx="1962150" cy="254695"/>
          </a:xfrm>
          <a:prstGeom prst="rect">
            <a:avLst/>
          </a:prstGeom>
          <a:noFill/>
          <a:ln/>
        </p:spPr>
        <p:txBody>
          <a:bodyPr wrap="square" lIns="0" tIns="0" rIns="0" bIns="0" rtlCol="0" anchor="t">
            <a:normAutofit/>
          </a:bodyPr>
          <a:lstStyle/>
          <a:p>
            <a:pPr marL="0" indent="0" algn="l">
              <a:lnSpc>
                <a:spcPts val="1806"/>
              </a:lnSpc>
              <a:buNone/>
            </a:pPr>
            <a:r>
              <a:rPr lang="en-US" sz="1400" b="1" dirty="0">
                <a:solidFill>
                  <a:srgbClr val="1D1D1B"/>
                </a:solidFill>
                <a:latin typeface="Roboto" pitchFamily="34" charset="0"/>
                <a:ea typeface="Roboto" pitchFamily="34" charset="-122"/>
                <a:cs typeface="Roboto" pitchFamily="34" charset="-120"/>
              </a:rPr>
              <a:t>C · sin corregir</a:t>
            </a:r>
            <a:endParaRPr lang="en-US" sz="1400" dirty="0"/>
          </a:p>
        </p:txBody>
      </p:sp>
      <p:sp>
        <p:nvSpPr>
          <p:cNvPr id="26" name="Shape 22"/>
          <p:cNvSpPr/>
          <p:nvPr/>
        </p:nvSpPr>
        <p:spPr>
          <a:xfrm>
            <a:off x="5340350" y="4332982"/>
            <a:ext cx="2127250" cy="101600"/>
          </a:xfrm>
          <a:prstGeom prst="rect">
            <a:avLst/>
          </a:prstGeom>
          <a:solidFill>
            <a:srgbClr val="FFEE00"/>
          </a:solidFill>
          <a:ln w="12700">
            <a:solidFill>
              <a:srgbClr val="1D1D1B"/>
            </a:solidFill>
            <a:prstDash val="solid"/>
          </a:ln>
        </p:spPr>
        <p:txBody>
          <a:bodyPr/>
          <a:lstStyle/>
          <a:p>
            <a:endParaRPr lang="en-CO"/>
          </a:p>
        </p:txBody>
      </p:sp>
      <p:sp>
        <p:nvSpPr>
          <p:cNvPr id="27" name="Shape 23"/>
          <p:cNvSpPr/>
          <p:nvPr/>
        </p:nvSpPr>
        <p:spPr>
          <a:xfrm>
            <a:off x="6321425" y="4298057"/>
            <a:ext cx="171450" cy="171450"/>
          </a:xfrm>
          <a:prstGeom prst="roundRect">
            <a:avLst>
              <a:gd name="adj" fmla="val 50000"/>
            </a:avLst>
          </a:prstGeom>
          <a:solidFill>
            <a:srgbClr val="FFEE00"/>
          </a:solidFill>
          <a:ln w="19050">
            <a:solidFill>
              <a:srgbClr val="1D1D1B"/>
            </a:solidFill>
            <a:prstDash val="solid"/>
          </a:ln>
        </p:spPr>
        <p:txBody>
          <a:bodyPr/>
          <a:lstStyle/>
          <a:p>
            <a:endParaRPr lang="en-CO"/>
          </a:p>
        </p:txBody>
      </p:sp>
      <p:sp>
        <p:nvSpPr>
          <p:cNvPr id="28" name="Text 24"/>
          <p:cNvSpPr/>
          <p:nvPr/>
        </p:nvSpPr>
        <p:spPr>
          <a:xfrm>
            <a:off x="9004300" y="4282182"/>
            <a:ext cx="2446147" cy="228402"/>
          </a:xfrm>
          <a:prstGeom prst="rect">
            <a:avLst/>
          </a:prstGeom>
          <a:noFill/>
          <a:ln/>
        </p:spPr>
        <p:txBody>
          <a:bodyPr wrap="square" lIns="0" tIns="0" rIns="0" bIns="0" rtlCol="0" anchor="t">
            <a:normAutofit/>
          </a:bodyPr>
          <a:lstStyle/>
          <a:p>
            <a:pPr marL="0" indent="0" algn="l">
              <a:lnSpc>
                <a:spcPts val="1599"/>
              </a:lnSpc>
              <a:buNone/>
            </a:pPr>
            <a:r>
              <a:rPr lang="en-US" sz="1300" dirty="0">
                <a:solidFill>
                  <a:srgbClr val="3C3C3B"/>
                </a:solidFill>
                <a:latin typeface="Roboto" pitchFamily="34" charset="0"/>
                <a:ea typeface="Roboto" pitchFamily="34" charset="-122"/>
                <a:cs typeface="Roboto" pitchFamily="34" charset="-120"/>
              </a:rPr>
              <a:t>0.475 · std 0.0143 · ×1.4</a:t>
            </a:r>
            <a:endParaRPr lang="en-US" sz="1300" dirty="0"/>
          </a:p>
        </p:txBody>
      </p:sp>
      <p:sp>
        <p:nvSpPr>
          <p:cNvPr id="29" name="Text 25"/>
          <p:cNvSpPr/>
          <p:nvPr/>
        </p:nvSpPr>
        <p:spPr>
          <a:xfrm>
            <a:off x="812800" y="4777482"/>
            <a:ext cx="1962150" cy="254695"/>
          </a:xfrm>
          <a:prstGeom prst="rect">
            <a:avLst/>
          </a:prstGeom>
          <a:noFill/>
          <a:ln/>
        </p:spPr>
        <p:txBody>
          <a:bodyPr wrap="square" lIns="0" tIns="0" rIns="0" bIns="0" rtlCol="0" anchor="t">
            <a:normAutofit/>
          </a:bodyPr>
          <a:lstStyle/>
          <a:p>
            <a:pPr marL="0" indent="0" algn="l">
              <a:lnSpc>
                <a:spcPts val="1806"/>
              </a:lnSpc>
              <a:buNone/>
            </a:pPr>
            <a:r>
              <a:rPr lang="en-US" sz="1400" b="1" dirty="0">
                <a:solidFill>
                  <a:srgbClr val="1D1D1B"/>
                </a:solidFill>
                <a:latin typeface="Roboto" pitchFamily="34" charset="0"/>
                <a:ea typeface="Roboto" pitchFamily="34" charset="-122"/>
                <a:cs typeface="Roboto" pitchFamily="34" charset="-120"/>
              </a:rPr>
              <a:t>F̂ · C corregida</a:t>
            </a:r>
            <a:endParaRPr lang="en-US" sz="1400" dirty="0"/>
          </a:p>
        </p:txBody>
      </p:sp>
      <p:sp>
        <p:nvSpPr>
          <p:cNvPr id="30" name="Shape 26"/>
          <p:cNvSpPr/>
          <p:nvPr/>
        </p:nvSpPr>
        <p:spPr>
          <a:xfrm>
            <a:off x="3333750" y="4847332"/>
            <a:ext cx="4267200" cy="88900"/>
          </a:xfrm>
          <a:prstGeom prst="rect">
            <a:avLst/>
          </a:prstGeom>
          <a:solidFill>
            <a:srgbClr val="293470"/>
          </a:solidFill>
          <a:ln/>
        </p:spPr>
        <p:txBody>
          <a:bodyPr/>
          <a:lstStyle/>
          <a:p>
            <a:endParaRPr lang="en-CO"/>
          </a:p>
        </p:txBody>
      </p:sp>
      <p:sp>
        <p:nvSpPr>
          <p:cNvPr id="31" name="Shape 27"/>
          <p:cNvSpPr/>
          <p:nvPr/>
        </p:nvSpPr>
        <p:spPr>
          <a:xfrm>
            <a:off x="5391150" y="4815582"/>
            <a:ext cx="152400" cy="152400"/>
          </a:xfrm>
          <a:prstGeom prst="roundRect">
            <a:avLst>
              <a:gd name="adj" fmla="val 50000"/>
            </a:avLst>
          </a:prstGeom>
          <a:solidFill>
            <a:srgbClr val="293470"/>
          </a:solidFill>
          <a:ln/>
        </p:spPr>
        <p:txBody>
          <a:bodyPr/>
          <a:lstStyle/>
          <a:p>
            <a:endParaRPr lang="en-CO"/>
          </a:p>
        </p:txBody>
      </p:sp>
      <p:sp>
        <p:nvSpPr>
          <p:cNvPr id="32" name="Text 28"/>
          <p:cNvSpPr/>
          <p:nvPr/>
        </p:nvSpPr>
        <p:spPr>
          <a:xfrm>
            <a:off x="9004300" y="4790182"/>
            <a:ext cx="2446147" cy="228402"/>
          </a:xfrm>
          <a:prstGeom prst="rect">
            <a:avLst/>
          </a:prstGeom>
          <a:noFill/>
          <a:ln/>
        </p:spPr>
        <p:txBody>
          <a:bodyPr wrap="square" lIns="0" tIns="0" rIns="0" bIns="0" rtlCol="0" anchor="t">
            <a:normAutofit/>
          </a:bodyPr>
          <a:lstStyle/>
          <a:p>
            <a:pPr marL="0" indent="0" algn="l">
              <a:lnSpc>
                <a:spcPts val="1599"/>
              </a:lnSpc>
              <a:buNone/>
            </a:pPr>
            <a:r>
              <a:rPr lang="en-US" sz="1300" b="1" dirty="0">
                <a:solidFill>
                  <a:srgbClr val="1D1D1B"/>
                </a:solidFill>
                <a:latin typeface="Roboto" pitchFamily="34" charset="0"/>
                <a:ea typeface="Roboto" pitchFamily="34" charset="-122"/>
                <a:cs typeface="Roboto" pitchFamily="34" charset="-120"/>
              </a:rPr>
              <a:t>0.450 · std 0.0285 · ×2.8</a:t>
            </a:r>
            <a:endParaRPr lang="en-US" sz="1300" dirty="0"/>
          </a:p>
        </p:txBody>
      </p:sp>
      <p:sp>
        <p:nvSpPr>
          <p:cNvPr id="33" name="Text 29"/>
          <p:cNvSpPr/>
          <p:nvPr/>
        </p:nvSpPr>
        <p:spPr>
          <a:xfrm>
            <a:off x="3314700" y="5145782"/>
            <a:ext cx="558800"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3C3C3B"/>
                </a:solidFill>
                <a:latin typeface="Roboto" pitchFamily="34" charset="0"/>
                <a:ea typeface="Roboto" pitchFamily="34" charset="-122"/>
                <a:cs typeface="Roboto" pitchFamily="34" charset="-120"/>
              </a:rPr>
              <a:t>0.40</a:t>
            </a:r>
            <a:endParaRPr lang="en-US" sz="1200" dirty="0"/>
          </a:p>
        </p:txBody>
      </p:sp>
      <p:sp>
        <p:nvSpPr>
          <p:cNvPr id="34" name="Text 30"/>
          <p:cNvSpPr/>
          <p:nvPr/>
        </p:nvSpPr>
        <p:spPr>
          <a:xfrm>
            <a:off x="5187950" y="5145782"/>
            <a:ext cx="558800" cy="2159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1D1D1B"/>
                </a:solidFill>
                <a:latin typeface="Roboto" pitchFamily="34" charset="0"/>
                <a:ea typeface="Roboto" pitchFamily="34" charset="-122"/>
                <a:cs typeface="Roboto" pitchFamily="34" charset="-120"/>
              </a:rPr>
              <a:t>0.45</a:t>
            </a:r>
            <a:endParaRPr lang="en-US" sz="1200" dirty="0"/>
          </a:p>
        </p:txBody>
      </p:sp>
      <p:sp>
        <p:nvSpPr>
          <p:cNvPr id="35" name="Text 31"/>
          <p:cNvSpPr/>
          <p:nvPr/>
        </p:nvSpPr>
        <p:spPr>
          <a:xfrm>
            <a:off x="7061200" y="5145782"/>
            <a:ext cx="558800"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3C3C3B"/>
                </a:solidFill>
                <a:latin typeface="Roboto" pitchFamily="34" charset="0"/>
                <a:ea typeface="Roboto" pitchFamily="34" charset="-122"/>
                <a:cs typeface="Roboto" pitchFamily="34" charset="-120"/>
              </a:rPr>
              <a:t>0.50</a:t>
            </a:r>
            <a:endParaRPr lang="en-US" sz="1200" dirty="0"/>
          </a:p>
        </p:txBody>
      </p:sp>
      <p:sp>
        <p:nvSpPr>
          <p:cNvPr id="36" name="Text 32"/>
          <p:cNvSpPr/>
          <p:nvPr/>
        </p:nvSpPr>
        <p:spPr>
          <a:xfrm>
            <a:off x="9004300" y="5145782"/>
            <a:ext cx="244614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barras: centro ± 2·std</a:t>
            </a:r>
            <a:endParaRPr lang="en-US" sz="1200" dirty="0"/>
          </a:p>
        </p:txBody>
      </p:sp>
      <p:sp>
        <p:nvSpPr>
          <p:cNvPr id="37" name="Text 33"/>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38" name="Text 34"/>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Una medición: lo que aprende el atacante</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El atacante sabe que A tiene </a:t>
            </a:r>
            <a:r>
              <a:rPr lang="en-US" sz="1800" dirty="0">
                <a:solidFill>
                  <a:srgbClr val="293470"/>
                </a:solidFill>
                <a:latin typeface="Roboto" pitchFamily="34" charset="0"/>
                <a:ea typeface="Roboto" pitchFamily="34" charset="-122"/>
                <a:cs typeface="Roboto" pitchFamily="34" charset="-120"/>
              </a:rPr>
              <a:t>car</a:t>
            </a:r>
            <a:r>
              <a:rPr lang="en-US" sz="1800" dirty="0">
                <a:solidFill>
                  <a:srgbClr val="3C3C3B"/>
                </a:solidFill>
                <a:latin typeface="Roboto" pitchFamily="34" charset="0"/>
                <a:ea typeface="Roboto" pitchFamily="34" charset="-122"/>
                <a:cs typeface="Roboto" pitchFamily="34" charset="-120"/>
              </a:rPr>
              <a:t> o </a:t>
            </a:r>
            <a:r>
              <a:rPr lang="en-US" sz="1800" dirty="0">
                <a:solidFill>
                  <a:srgbClr val="293470"/>
                </a:solidFill>
                <a:latin typeface="Roboto" pitchFamily="34" charset="0"/>
                <a:ea typeface="Roboto" pitchFamily="34" charset="-122"/>
                <a:cs typeface="Roboto" pitchFamily="34" charset="-120"/>
              </a:rPr>
              <a:t>real estate</a:t>
            </a:r>
            <a:r>
              <a:rPr lang="en-US" sz="1800" dirty="0">
                <a:solidFill>
                  <a:srgbClr val="3C3C3B"/>
                </a:solidFill>
                <a:latin typeface="Roboto" pitchFamily="34" charset="0"/>
                <a:ea typeface="Roboto" pitchFamily="34" charset="-122"/>
                <a:cs typeface="Roboto" pitchFamily="34" charset="-120"/>
              </a:rPr>
              <a:t>, y ve un solo resultado: «+».</a:t>
            </a:r>
            <a:endParaRPr lang="en-US" sz="1800" dirty="0"/>
          </a:p>
        </p:txBody>
      </p:sp>
      <p:sp>
        <p:nvSpPr>
          <p:cNvPr id="9" name="Text 6"/>
          <p:cNvSpPr/>
          <p:nvPr/>
        </p:nvSpPr>
        <p:spPr>
          <a:xfrm>
            <a:off x="812800" y="1856680"/>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1</a:t>
            </a:r>
            <a:endParaRPr lang="en-US" sz="1200" dirty="0"/>
          </a:p>
        </p:txBody>
      </p:sp>
      <p:sp>
        <p:nvSpPr>
          <p:cNvPr id="10" name="Text 7"/>
          <p:cNvSpPr/>
          <p:nvPr/>
        </p:nvSpPr>
        <p:spPr>
          <a:xfrm>
            <a:off x="1219200" y="1856680"/>
            <a:ext cx="722071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C3C3B"/>
                </a:solidFill>
                <a:latin typeface="Roboto" pitchFamily="34" charset="0"/>
                <a:ea typeface="Roboto" pitchFamily="34" charset="-122"/>
                <a:cs typeface="Roboto" pitchFamily="34" charset="-120"/>
              </a:rPr>
              <a:t>Con ruido</a:t>
            </a:r>
            <a:r>
              <a:rPr lang="en-US" sz="1400" dirty="0">
                <a:solidFill>
                  <a:srgbClr val="3C3C3B"/>
                </a:solidFill>
                <a:latin typeface="Roboto" pitchFamily="34" charset="0"/>
                <a:ea typeface="Roboto" pitchFamily="34" charset="-122"/>
                <a:cs typeface="Roboto" pitchFamily="34" charset="-120"/>
              </a:rPr>
              <a:t> (p = 0.5):</a:t>
            </a:r>
            <a:endParaRPr lang="en-US" sz="1400" dirty="0"/>
          </a:p>
        </p:txBody>
      </p:sp>
      <p:pic>
        <p:nvPicPr>
          <p:cNvPr id="11" name="Image 1" descr="P(+ | car) / P(+ | real estate) = 0.75 / 0.25 = 3"/>
          <p:cNvPicPr>
            <a:picLocks noChangeAspect="1"/>
          </p:cNvPicPr>
          <p:nvPr/>
        </p:nvPicPr>
        <p:blipFill>
          <a:blip r:embed="rId4"/>
          <a:srcRect l="-192" r="-192"/>
          <a:stretch/>
        </p:blipFill>
        <p:spPr>
          <a:xfrm>
            <a:off x="1219200" y="2156321"/>
            <a:ext cx="3390900" cy="660400"/>
          </a:xfrm>
          <a:prstGeom prst="rect">
            <a:avLst/>
          </a:prstGeom>
        </p:spPr>
      </p:pic>
      <p:sp>
        <p:nvSpPr>
          <p:cNvPr id="12" name="Text 8"/>
          <p:cNvSpPr/>
          <p:nvPr/>
        </p:nvSpPr>
        <p:spPr>
          <a:xfrm>
            <a:off x="812800" y="299452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2</a:t>
            </a:r>
            <a:endParaRPr lang="en-US" sz="1200" dirty="0"/>
          </a:p>
        </p:txBody>
      </p:sp>
      <p:sp>
        <p:nvSpPr>
          <p:cNvPr id="13" name="Text 9"/>
          <p:cNvSpPr/>
          <p:nvPr/>
        </p:nvSpPr>
        <p:spPr>
          <a:xfrm>
            <a:off x="1219200" y="2994521"/>
            <a:ext cx="7220712"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C3C3B"/>
                </a:solidFill>
                <a:latin typeface="Roboto" pitchFamily="34" charset="0"/>
                <a:ea typeface="Roboto" pitchFamily="34" charset="-122"/>
                <a:cs typeface="Roboto" pitchFamily="34" charset="-120"/>
              </a:rPr>
              <a:t>Sin ruido:</a:t>
            </a:r>
            <a:r>
              <a:rPr lang="en-US" sz="1400" dirty="0">
                <a:solidFill>
                  <a:srgbClr val="3C3C3B"/>
                </a:solidFill>
                <a:latin typeface="Roboto" pitchFamily="34" charset="0"/>
                <a:ea typeface="Roboto" pitchFamily="34" charset="-122"/>
                <a:cs typeface="Roboto" pitchFamily="34" charset="-120"/>
              </a:rPr>
              <a:t> P(+ | car) = 1 y P(+ | real estate) = 0. El cociente es ∞: un «+» revela con certeza que A tiene car (ε = ∞).</a:t>
            </a:r>
            <a:endParaRPr lang="en-US" sz="1400" dirty="0"/>
          </a:p>
        </p:txBody>
      </p:sp>
      <p:sp>
        <p:nvSpPr>
          <p:cNvPr id="14" name="Text 10"/>
          <p:cNvSpPr/>
          <p:nvPr/>
        </p:nvSpPr>
        <p:spPr>
          <a:xfrm>
            <a:off x="812800" y="3670002"/>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3</a:t>
            </a:r>
            <a:endParaRPr lang="en-US" sz="1200" dirty="0"/>
          </a:p>
        </p:txBody>
      </p:sp>
      <p:sp>
        <p:nvSpPr>
          <p:cNvPr id="15" name="Text 11"/>
          <p:cNvSpPr/>
          <p:nvPr/>
        </p:nvSpPr>
        <p:spPr>
          <a:xfrm>
            <a:off x="1219200" y="3670002"/>
            <a:ext cx="7220712"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C3C3B"/>
                </a:solidFill>
                <a:latin typeface="Roboto" pitchFamily="34" charset="0"/>
                <a:ea typeface="Roboto" pitchFamily="34" charset="-122"/>
                <a:cs typeface="Roboto" pitchFamily="34" charset="-120"/>
              </a:rPr>
              <a:t>Teorema 3 para un qubit:</a:t>
            </a:r>
            <a:r>
              <a:rPr lang="en-US" sz="1400" dirty="0">
                <a:solidFill>
                  <a:srgbClr val="3C3C3B"/>
                </a:solidFill>
                <a:latin typeface="Roboto" pitchFamily="34" charset="0"/>
                <a:ea typeface="Roboto" pitchFamily="34" charset="-122"/>
                <a:cs typeface="Roboto" pitchFamily="34" charset="-120"/>
              </a:rPr>
              <a:t> D = 2, d = 1 (los estados de </a:t>
            </a:r>
            <a:r>
              <a:rPr lang="en-US" sz="1400" dirty="0">
                <a:solidFill>
                  <a:srgbClr val="293470"/>
                </a:solidFill>
                <a:latin typeface="Roboto" pitchFamily="34" charset="0"/>
                <a:ea typeface="Roboto" pitchFamily="34" charset="-122"/>
                <a:cs typeface="Roboto" pitchFamily="34" charset="-120"/>
              </a:rPr>
              <a:t>car</a:t>
            </a:r>
            <a:r>
              <a:rPr lang="en-US" sz="1400" dirty="0">
                <a:solidFill>
                  <a:srgbClr val="3C3C3B"/>
                </a:solidFill>
                <a:latin typeface="Roboto" pitchFamily="34" charset="0"/>
                <a:ea typeface="Roboto" pitchFamily="34" charset="-122"/>
                <a:cs typeface="Roboto" pitchFamily="34" charset="-120"/>
              </a:rPr>
              <a:t> y </a:t>
            </a:r>
            <a:r>
              <a:rPr lang="en-US" sz="1400" dirty="0">
                <a:solidFill>
                  <a:srgbClr val="293470"/>
                </a:solidFill>
                <a:latin typeface="Roboto" pitchFamily="34" charset="0"/>
                <a:ea typeface="Roboto" pitchFamily="34" charset="-122"/>
                <a:cs typeface="Roboto" pitchFamily="34" charset="-120"/>
              </a:rPr>
              <a:t>real estate</a:t>
            </a:r>
            <a:r>
              <a:rPr lang="en-US" sz="1400" dirty="0">
                <a:solidFill>
                  <a:srgbClr val="3C3C3B"/>
                </a:solidFill>
                <a:latin typeface="Roboto" pitchFamily="34" charset="0"/>
                <a:ea typeface="Roboto" pitchFamily="34" charset="-122"/>
                <a:cs typeface="Roboto" pitchFamily="34" charset="-120"/>
              </a:rPr>
              <a:t> son ortogonales), p = 0.5.</a:t>
            </a:r>
            <a:endParaRPr lang="en-US" sz="1400" dirty="0"/>
          </a:p>
        </p:txBody>
      </p:sp>
      <p:pic>
        <p:nvPicPr>
          <p:cNvPr id="16" name="Image 2" descr="ε = ln(1 + 1·1·2) = ln 3 ≈ 1.10, e^ε = 3"/>
          <p:cNvPicPr>
            <a:picLocks noChangeAspect="1"/>
          </p:cNvPicPr>
          <p:nvPr/>
        </p:nvPicPr>
        <p:blipFill>
          <a:blip r:embed="rId5"/>
          <a:srcRect t="-357" b="-357"/>
          <a:stretch/>
        </p:blipFill>
        <p:spPr>
          <a:xfrm>
            <a:off x="1219200" y="4218484"/>
            <a:ext cx="4933950" cy="317500"/>
          </a:xfrm>
          <a:prstGeom prst="rect">
            <a:avLst/>
          </a:prstGeom>
        </p:spPr>
      </p:pic>
      <p:sp>
        <p:nvSpPr>
          <p:cNvPr id="17" name="Text 12"/>
          <p:cNvSpPr/>
          <p:nvPr/>
        </p:nvSpPr>
        <p:spPr>
          <a:xfrm>
            <a:off x="1219200" y="4586784"/>
            <a:ext cx="72207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Coincide con el cociente: </a:t>
            </a:r>
            <a:r>
              <a:rPr lang="en-US" sz="1400" b="1" dirty="0">
                <a:solidFill>
                  <a:srgbClr val="3C3C3B"/>
                </a:solidFill>
                <a:latin typeface="Roboto" pitchFamily="34" charset="0"/>
                <a:ea typeface="Roboto" pitchFamily="34" charset="-122"/>
                <a:cs typeface="Roboto" pitchFamily="34" charset="-120"/>
              </a:rPr>
              <a:t>para este par, la cota se alcanza.</a:t>
            </a:r>
            <a:endParaRPr lang="en-US" sz="1400" dirty="0"/>
          </a:p>
        </p:txBody>
      </p:sp>
      <p:sp>
        <p:nvSpPr>
          <p:cNvPr id="18" name="Shape 13"/>
          <p:cNvSpPr/>
          <p:nvPr/>
        </p:nvSpPr>
        <p:spPr>
          <a:xfrm>
            <a:off x="8585200" y="1856680"/>
            <a:ext cx="2794000" cy="2979341"/>
          </a:xfrm>
          <a:prstGeom prst="roundRect">
            <a:avLst>
              <a:gd name="adj" fmla="val 3636"/>
            </a:avLst>
          </a:prstGeom>
          <a:solidFill>
            <a:srgbClr val="1D1D1B"/>
          </a:solidFill>
          <a:ln/>
        </p:spPr>
        <p:txBody>
          <a:bodyPr/>
          <a:lstStyle/>
          <a:p>
            <a:endParaRPr lang="en-CO"/>
          </a:p>
        </p:txBody>
      </p:sp>
      <p:sp>
        <p:nvSpPr>
          <p:cNvPr id="19" name="Text 14"/>
          <p:cNvSpPr/>
          <p:nvPr/>
        </p:nvSpPr>
        <p:spPr>
          <a:xfrm>
            <a:off x="8839200" y="2110680"/>
            <a:ext cx="2354580" cy="1295400"/>
          </a:xfrm>
          <a:prstGeom prst="rect">
            <a:avLst/>
          </a:prstGeom>
          <a:noFill/>
          <a:ln/>
        </p:spPr>
        <p:txBody>
          <a:bodyPr wrap="square" lIns="0" tIns="0" rIns="0" bIns="0" rtlCol="0" anchor="t">
            <a:normAutofit/>
          </a:bodyPr>
          <a:lstStyle/>
          <a:p>
            <a:pPr marL="0" indent="0" algn="l">
              <a:lnSpc>
                <a:spcPts val="10000"/>
              </a:lnSpc>
              <a:buNone/>
            </a:pPr>
            <a:r>
              <a:rPr lang="en-US" sz="10000" b="1" kern="0" spc="-300" dirty="0">
                <a:solidFill>
                  <a:srgbClr val="FFEE00"/>
                </a:solidFill>
                <a:latin typeface="DM Sans" pitchFamily="34" charset="0"/>
                <a:ea typeface="DM Sans" pitchFamily="34" charset="-122"/>
                <a:cs typeface="DM Sans" pitchFamily="34" charset="-120"/>
              </a:rPr>
              <a:t>×3</a:t>
            </a:r>
            <a:endParaRPr lang="en-US" sz="10000" dirty="0"/>
          </a:p>
        </p:txBody>
      </p:sp>
      <p:sp>
        <p:nvSpPr>
          <p:cNvPr id="20" name="Text 15"/>
          <p:cNvSpPr/>
          <p:nvPr/>
        </p:nvSpPr>
        <p:spPr>
          <a:xfrm>
            <a:off x="8839200" y="3482280"/>
            <a:ext cx="2354580" cy="596900"/>
          </a:xfrm>
          <a:prstGeom prst="rect">
            <a:avLst/>
          </a:prstGeom>
          <a:noFill/>
          <a:ln/>
        </p:spPr>
        <p:txBody>
          <a:bodyPr wrap="square" lIns="0" tIns="0" rIns="0" bIns="0" rtlCol="0" anchor="t">
            <a:normAutofit/>
          </a:bodyPr>
          <a:lstStyle/>
          <a:p>
            <a:pPr marL="0" indent="0" algn="l">
              <a:lnSpc>
                <a:spcPts val="2250"/>
              </a:lnSpc>
              <a:buNone/>
            </a:pPr>
            <a:r>
              <a:rPr lang="en-US" sz="1800" dirty="0">
                <a:solidFill>
                  <a:srgbClr val="F7F7F5"/>
                </a:solidFill>
                <a:latin typeface="DM Sans" pitchFamily="34" charset="0"/>
                <a:ea typeface="DM Sans" pitchFamily="34" charset="-122"/>
                <a:cs typeface="DM Sans" pitchFamily="34" charset="-120"/>
              </a:rPr>
              <a:t>como máximo en las odds del atacante</a:t>
            </a:r>
            <a:endParaRPr lang="en-US" sz="1800" dirty="0"/>
          </a:p>
        </p:txBody>
      </p:sp>
      <p:sp>
        <p:nvSpPr>
          <p:cNvPr id="21" name="Text 16"/>
          <p:cNvSpPr/>
          <p:nvPr/>
        </p:nvSpPr>
        <p:spPr>
          <a:xfrm>
            <a:off x="8839200" y="4155380"/>
            <a:ext cx="23545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4D4D0"/>
                </a:solidFill>
                <a:latin typeface="Roboto" pitchFamily="34" charset="0"/>
                <a:ea typeface="Roboto" pitchFamily="34" charset="-122"/>
                <a:cs typeface="Roboto" pitchFamily="34" charset="-120"/>
              </a:rPr>
              <a:t>e^ε con ε = ln 3, sepa lo que sepa de antemano.</a:t>
            </a:r>
            <a:endParaRPr lang="en-US" sz="1200" dirty="0"/>
          </a:p>
        </p:txBody>
      </p:sp>
      <p:sp>
        <p:nvSpPr>
          <p:cNvPr id="22" name="Text 17"/>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3" name="Text 18"/>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Una medición inclina, pero no decide</a:t>
            </a:r>
            <a:endParaRPr lang="en-US" sz="2800" dirty="0"/>
          </a:p>
        </p:txBody>
      </p:sp>
      <p:sp>
        <p:nvSpPr>
          <p:cNvPr id="8" name="Shape 5"/>
          <p:cNvSpPr/>
          <p:nvPr/>
        </p:nvSpPr>
        <p:spPr>
          <a:xfrm>
            <a:off x="812800" y="1407120"/>
            <a:ext cx="10566400" cy="965200"/>
          </a:xfrm>
          <a:prstGeom prst="roundRect">
            <a:avLst>
              <a:gd name="adj" fmla="val 10526"/>
            </a:avLst>
          </a:prstGeom>
          <a:solidFill>
            <a:srgbClr val="F4F4F2"/>
          </a:solidFill>
          <a:ln/>
        </p:spPr>
        <p:txBody>
          <a:bodyPr/>
          <a:lstStyle/>
          <a:p>
            <a:endParaRPr lang="en-CO"/>
          </a:p>
        </p:txBody>
      </p:sp>
      <p:sp>
        <p:nvSpPr>
          <p:cNvPr id="9" name="Text 6"/>
          <p:cNvSpPr/>
          <p:nvPr/>
        </p:nvSpPr>
        <p:spPr>
          <a:xfrm>
            <a:off x="1066800" y="1658640"/>
            <a:ext cx="1962150" cy="487561"/>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1D1B"/>
                </a:solidFill>
                <a:latin typeface="Roboto" pitchFamily="34" charset="0"/>
                <a:ea typeface="Roboto" pitchFamily="34" charset="-122"/>
                <a:cs typeface="Roboto" pitchFamily="34" charset="-120"/>
              </a:rPr>
              <a:t>Bayes, para cualquier atacante:</a:t>
            </a:r>
            <a:endParaRPr lang="en-US" sz="1400" dirty="0"/>
          </a:p>
        </p:txBody>
      </p:sp>
      <p:pic>
        <p:nvPicPr>
          <p:cNvPr id="10" name="Image 1" descr="odds después = odds antes × P(+ | car) / P(+ | real estate)"/>
          <p:cNvPicPr>
            <a:picLocks noChangeAspect="1"/>
          </p:cNvPicPr>
          <p:nvPr/>
        </p:nvPicPr>
        <p:blipFill>
          <a:blip r:embed="rId4"/>
          <a:srcRect l="-139" r="-139"/>
          <a:stretch/>
        </p:blipFill>
        <p:spPr>
          <a:xfrm>
            <a:off x="3276600" y="1559520"/>
            <a:ext cx="4914900" cy="660400"/>
          </a:xfrm>
          <a:prstGeom prst="rect">
            <a:avLst/>
          </a:prstGeom>
        </p:spPr>
      </p:pic>
      <p:sp>
        <p:nvSpPr>
          <p:cNvPr id="11" name="Shape 7"/>
          <p:cNvSpPr/>
          <p:nvPr/>
        </p:nvSpPr>
        <p:spPr>
          <a:xfrm>
            <a:off x="819150" y="2581870"/>
            <a:ext cx="3416300" cy="2102941"/>
          </a:xfrm>
          <a:prstGeom prst="roundRect">
            <a:avLst>
              <a:gd name="adj" fmla="val 4529"/>
            </a:avLst>
          </a:prstGeom>
          <a:noFill/>
          <a:ln w="12700">
            <a:solidFill>
              <a:srgbClr val="3C3C3B"/>
            </a:solidFill>
            <a:prstDash val="solid"/>
          </a:ln>
        </p:spPr>
        <p:txBody>
          <a:bodyPr/>
          <a:lstStyle/>
          <a:p>
            <a:endParaRPr lang="en-CO"/>
          </a:p>
        </p:txBody>
      </p:sp>
      <p:sp>
        <p:nvSpPr>
          <p:cNvPr id="12" name="Text 8"/>
          <p:cNvSpPr/>
          <p:nvPr/>
        </p:nvSpPr>
        <p:spPr>
          <a:xfrm>
            <a:off x="1028700" y="2791420"/>
            <a:ext cx="30871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SIN INFORMACIÓN</a:t>
            </a:r>
            <a:endParaRPr lang="en-US" sz="1200" dirty="0"/>
          </a:p>
        </p:txBody>
      </p:sp>
      <p:sp>
        <p:nvSpPr>
          <p:cNvPr id="13" name="Text 9"/>
          <p:cNvSpPr/>
          <p:nvPr/>
        </p:nvSpPr>
        <p:spPr>
          <a:xfrm>
            <a:off x="1028700" y="306824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odds antes = 1</a:t>
            </a:r>
            <a:endParaRPr lang="en-US" sz="1200" dirty="0"/>
          </a:p>
        </p:txBody>
      </p:sp>
      <p:sp>
        <p:nvSpPr>
          <p:cNvPr id="14" name="Text 10"/>
          <p:cNvSpPr/>
          <p:nvPr/>
        </p:nvSpPr>
        <p:spPr>
          <a:xfrm>
            <a:off x="1028700" y="3345061"/>
            <a:ext cx="3087116"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293470"/>
                </a:solidFill>
                <a:latin typeface="DM Sans" pitchFamily="34" charset="0"/>
                <a:ea typeface="DM Sans" pitchFamily="34" charset="-122"/>
                <a:cs typeface="DM Sans" pitchFamily="34" charset="-120"/>
              </a:rPr>
              <a:t>3</a:t>
            </a:r>
            <a:endParaRPr lang="en-US" sz="4800" dirty="0"/>
          </a:p>
        </p:txBody>
      </p:sp>
      <p:sp>
        <p:nvSpPr>
          <p:cNvPr id="15" name="Text 11"/>
          <p:cNvSpPr/>
          <p:nvPr/>
        </p:nvSpPr>
        <p:spPr>
          <a:xfrm>
            <a:off x="1028700" y="404862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odds después de un «+»</a:t>
            </a:r>
            <a:endParaRPr lang="en-US" sz="1200" dirty="0"/>
          </a:p>
        </p:txBody>
      </p:sp>
      <p:sp>
        <p:nvSpPr>
          <p:cNvPr id="16" name="Shape 12"/>
          <p:cNvSpPr/>
          <p:nvPr/>
        </p:nvSpPr>
        <p:spPr>
          <a:xfrm>
            <a:off x="4400550" y="2581870"/>
            <a:ext cx="3416300" cy="2102941"/>
          </a:xfrm>
          <a:prstGeom prst="roundRect">
            <a:avLst>
              <a:gd name="adj" fmla="val 4529"/>
            </a:avLst>
          </a:prstGeom>
          <a:noFill/>
          <a:ln w="12700">
            <a:solidFill>
              <a:srgbClr val="3C3C3B"/>
            </a:solidFill>
            <a:prstDash val="solid"/>
          </a:ln>
        </p:spPr>
        <p:txBody>
          <a:bodyPr/>
          <a:lstStyle/>
          <a:p>
            <a:endParaRPr lang="en-CO"/>
          </a:p>
        </p:txBody>
      </p:sp>
      <p:sp>
        <p:nvSpPr>
          <p:cNvPr id="17" name="Text 13"/>
          <p:cNvSpPr/>
          <p:nvPr/>
        </p:nvSpPr>
        <p:spPr>
          <a:xfrm>
            <a:off x="4610100" y="2791420"/>
            <a:ext cx="3087116"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CON LAS PROPORCIONES DEL DATASET</a:t>
            </a:r>
            <a:endParaRPr lang="en-US" sz="1200" dirty="0"/>
          </a:p>
        </p:txBody>
      </p:sp>
      <p:sp>
        <p:nvSpPr>
          <p:cNvPr id="18" name="Text 14"/>
          <p:cNvSpPr/>
          <p:nvPr/>
        </p:nvSpPr>
        <p:spPr>
          <a:xfrm>
            <a:off x="4610100" y="328156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odds antes = 0.232 / 0.332 = 0.70</a:t>
            </a:r>
            <a:endParaRPr lang="en-US" sz="1200" dirty="0"/>
          </a:p>
        </p:txBody>
      </p:sp>
      <p:sp>
        <p:nvSpPr>
          <p:cNvPr id="19" name="Text 15"/>
          <p:cNvSpPr/>
          <p:nvPr/>
        </p:nvSpPr>
        <p:spPr>
          <a:xfrm>
            <a:off x="4610100" y="3558381"/>
            <a:ext cx="3087116"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293470"/>
                </a:solidFill>
                <a:latin typeface="DM Sans" pitchFamily="34" charset="0"/>
                <a:ea typeface="DM Sans" pitchFamily="34" charset="-122"/>
                <a:cs typeface="DM Sans" pitchFamily="34" charset="-120"/>
              </a:rPr>
              <a:t>≈ 2.1</a:t>
            </a:r>
            <a:endParaRPr lang="en-US" sz="4800" dirty="0"/>
          </a:p>
        </p:txBody>
      </p:sp>
      <p:sp>
        <p:nvSpPr>
          <p:cNvPr id="20" name="Text 16"/>
          <p:cNvSpPr/>
          <p:nvPr/>
        </p:nvSpPr>
        <p:spPr>
          <a:xfrm>
            <a:off x="4610100" y="426194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odds después de un «+»</a:t>
            </a:r>
            <a:endParaRPr lang="en-US" sz="1200" dirty="0"/>
          </a:p>
        </p:txBody>
      </p:sp>
      <p:sp>
        <p:nvSpPr>
          <p:cNvPr id="21" name="Shape 17"/>
          <p:cNvSpPr/>
          <p:nvPr/>
        </p:nvSpPr>
        <p:spPr>
          <a:xfrm>
            <a:off x="7975600" y="2575520"/>
            <a:ext cx="3403600" cy="2115641"/>
          </a:xfrm>
          <a:prstGeom prst="roundRect">
            <a:avLst>
              <a:gd name="adj" fmla="val 4802"/>
            </a:avLst>
          </a:prstGeom>
          <a:solidFill>
            <a:srgbClr val="1D1D1B"/>
          </a:solidFill>
          <a:ln/>
        </p:spPr>
        <p:txBody>
          <a:bodyPr/>
          <a:lstStyle/>
          <a:p>
            <a:endParaRPr lang="en-CO"/>
          </a:p>
        </p:txBody>
      </p:sp>
      <p:sp>
        <p:nvSpPr>
          <p:cNvPr id="22" name="Text 18"/>
          <p:cNvSpPr/>
          <p:nvPr/>
        </p:nvSpPr>
        <p:spPr>
          <a:xfrm>
            <a:off x="8178800" y="2778720"/>
            <a:ext cx="30871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EE00"/>
                </a:solidFill>
                <a:latin typeface="Roboto" pitchFamily="34" charset="0"/>
                <a:ea typeface="Roboto" pitchFamily="34" charset="-122"/>
                <a:cs typeface="Roboto" pitchFamily="34" charset="-120"/>
              </a:rPr>
              <a:t>LA MISMA PERSONA, 10 VECES</a:t>
            </a:r>
            <a:endParaRPr lang="en-US" sz="1200" dirty="0"/>
          </a:p>
        </p:txBody>
      </p:sp>
      <p:sp>
        <p:nvSpPr>
          <p:cNvPr id="23" name="Text 19"/>
          <p:cNvSpPr/>
          <p:nvPr/>
        </p:nvSpPr>
        <p:spPr>
          <a:xfrm>
            <a:off x="8178800" y="305554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7F5"/>
                </a:solidFill>
                <a:latin typeface="Roboto" pitchFamily="34" charset="0"/>
                <a:ea typeface="Roboto" pitchFamily="34" charset="-122"/>
                <a:cs typeface="Roboto" pitchFamily="34" charset="-120"/>
              </a:rPr>
              <a:t>10 resultados «+»</a:t>
            </a:r>
            <a:endParaRPr lang="en-US" sz="1200" dirty="0"/>
          </a:p>
        </p:txBody>
      </p:sp>
      <p:sp>
        <p:nvSpPr>
          <p:cNvPr id="24" name="Text 20"/>
          <p:cNvSpPr/>
          <p:nvPr/>
        </p:nvSpPr>
        <p:spPr>
          <a:xfrm>
            <a:off x="8178800" y="3332361"/>
            <a:ext cx="3087116"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FFEE00"/>
                </a:solidFill>
                <a:latin typeface="DM Sans" pitchFamily="34" charset="0"/>
                <a:ea typeface="DM Sans" pitchFamily="34" charset="-122"/>
                <a:cs typeface="DM Sans" pitchFamily="34" charset="-120"/>
              </a:rPr>
              <a:t>≈ 59 000</a:t>
            </a:r>
            <a:endParaRPr lang="en-US" sz="4800" dirty="0"/>
          </a:p>
        </p:txBody>
      </p:sp>
      <p:sp>
        <p:nvSpPr>
          <p:cNvPr id="25" name="Text 21"/>
          <p:cNvSpPr/>
          <p:nvPr/>
        </p:nvSpPr>
        <p:spPr>
          <a:xfrm>
            <a:off x="8178800" y="4035921"/>
            <a:ext cx="30871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4D4D0"/>
                </a:solidFill>
                <a:latin typeface="Roboto" pitchFamily="34" charset="0"/>
                <a:ea typeface="Roboto" pitchFamily="34" charset="-122"/>
                <a:cs typeface="Roboto" pitchFamily="34" charset="-120"/>
              </a:rPr>
              <a:t>3¹⁰: queda prácticamente seguro. Equivale a ε total = 10·ln 3 ≈ 11 (Teorema 4).</a:t>
            </a:r>
            <a:endParaRPr lang="en-US" sz="1200" dirty="0"/>
          </a:p>
        </p:txBody>
      </p:sp>
      <p:sp>
        <p:nvSpPr>
          <p:cNvPr id="26" name="Shape 22"/>
          <p:cNvSpPr/>
          <p:nvPr/>
        </p:nvSpPr>
        <p:spPr>
          <a:xfrm>
            <a:off x="838200" y="4894362"/>
            <a:ext cx="0" cy="497681"/>
          </a:xfrm>
          <a:prstGeom prst="line">
            <a:avLst/>
          </a:prstGeom>
          <a:noFill/>
          <a:ln w="50800">
            <a:solidFill>
              <a:srgbClr val="FFEE00"/>
            </a:solidFill>
            <a:prstDash val="solid"/>
          </a:ln>
        </p:spPr>
        <p:txBody>
          <a:bodyPr/>
          <a:lstStyle/>
          <a:p>
            <a:endParaRPr lang="en-CO"/>
          </a:p>
        </p:txBody>
      </p:sp>
      <p:sp>
        <p:nvSpPr>
          <p:cNvPr id="27" name="Text 23"/>
          <p:cNvSpPr/>
          <p:nvPr/>
        </p:nvSpPr>
        <p:spPr>
          <a:xfrm>
            <a:off x="990600" y="4894362"/>
            <a:ext cx="1070025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Un resultado multiplica las odds como máximo por 3, sepa lo que sepa el atacante. </a:t>
            </a:r>
            <a:r>
              <a:rPr lang="en-US" sz="1400" b="1" dirty="0">
                <a:solidFill>
                  <a:srgbClr val="3C3C3B"/>
                </a:solidFill>
                <a:latin typeface="Roboto" pitchFamily="34" charset="0"/>
                <a:ea typeface="Roboto" pitchFamily="34" charset="-122"/>
                <a:cs typeface="Roboto" pitchFamily="34" charset="-120"/>
              </a:rPr>
              <a:t>Lo que rompe la garantía es medir varias veces a la misma persona:</a:t>
            </a:r>
            <a:r>
              <a:rPr lang="en-US" sz="1400" dirty="0">
                <a:solidFill>
                  <a:srgbClr val="3C3C3B"/>
                </a:solidFill>
                <a:latin typeface="Roboto" pitchFamily="34" charset="0"/>
                <a:ea typeface="Roboto" pitchFamily="34" charset="-122"/>
                <a:cs typeface="Roboto" pitchFamily="34" charset="-120"/>
              </a:rPr>
              <a:t> cada lectura vuelve a multiplicar.</a:t>
            </a:r>
            <a:endParaRPr lang="en-US" sz="1400" dirty="0"/>
          </a:p>
        </p:txBody>
      </p:sp>
      <p:sp>
        <p:nvSpPr>
          <p:cNvPr id="28" name="Text 24"/>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9" name="Text 25"/>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Una persona 10 veces contra 1000 personas una vez</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Medir a personas distintas una vez cada una no rompe la garantía.</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1843980"/>
          <a:ext cx="10553700" cy="1796355"/>
        </p:xfrm>
        <a:graphic>
          <a:graphicData uri="http://schemas.openxmlformats.org/drawingml/2006/table">
            <a:tbl>
              <a:tblPr/>
              <a:tblGrid>
                <a:gridCol w="3166110">
                  <a:extLst>
                    <a:ext uri="{9D8B030D-6E8A-4147-A177-3AD203B41FA5}">
                      <a16:colId xmlns:a16="http://schemas.microsoft.com/office/drawing/2014/main" val="20000"/>
                    </a:ext>
                  </a:extLst>
                </a:gridCol>
                <a:gridCol w="3693795">
                  <a:extLst>
                    <a:ext uri="{9D8B030D-6E8A-4147-A177-3AD203B41FA5}">
                      <a16:colId xmlns:a16="http://schemas.microsoft.com/office/drawing/2014/main" val="20001"/>
                    </a:ext>
                  </a:extLst>
                </a:gridCol>
                <a:gridCol w="3693795">
                  <a:extLst>
                    <a:ext uri="{9D8B030D-6E8A-4147-A177-3AD203B41FA5}">
                      <a16:colId xmlns:a16="http://schemas.microsoft.com/office/drawing/2014/main" val="20002"/>
                    </a:ext>
                  </a:extLst>
                </a:gridCol>
              </a:tblGrid>
              <a:tr h="359271">
                <a:tc>
                  <a:txBody>
                    <a:bodyPr/>
                    <a:lstStyle/>
                    <a:p>
                      <a:pPr marL="0" indent="0">
                        <a:lnSpc>
                          <a:spcPts val="1820"/>
                        </a:lnSpc>
                        <a:buNone/>
                      </a:pP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La misma persona, 10 veces</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1000 personas, una vez cada una</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Resultados que dependen de A</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10</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1</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ε sobre A</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10·ln 3 ≈ 11 (composición, Teorema 4)</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ln 3 ≈ 1.10 (composición paralela)</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¿Qué aprende el atacante?</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la categoría de A, casi con certeza</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un factor 3 como máximo</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¿Qué aprende el analista?</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la estadística de la población (F̂)</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extLst>
                  <a:ext uri="{0D108BD9-81ED-4DB2-BD59-A6C34878D82A}">
                    <a16:rowId xmlns:a16="http://schemas.microsoft.com/office/drawing/2014/main" val="10004"/>
                  </a:ext>
                </a:extLst>
              </a:tr>
            </a:tbl>
          </a:graphicData>
        </a:graphic>
      </p:graphicFrame>
      <p:sp>
        <p:nvSpPr>
          <p:cNvPr id="10" name="Shape 6"/>
          <p:cNvSpPr/>
          <p:nvPr/>
        </p:nvSpPr>
        <p:spPr>
          <a:xfrm>
            <a:off x="812800" y="3868936"/>
            <a:ext cx="5207000" cy="1272381"/>
          </a:xfrm>
          <a:prstGeom prst="roundRect">
            <a:avLst>
              <a:gd name="adj" fmla="val 7985"/>
            </a:avLst>
          </a:prstGeom>
          <a:solidFill>
            <a:srgbClr val="F4F4F2"/>
          </a:solidFill>
          <a:ln/>
        </p:spPr>
        <p:txBody>
          <a:bodyPr/>
          <a:lstStyle/>
          <a:p>
            <a:endParaRPr lang="en-CO"/>
          </a:p>
        </p:txBody>
      </p:sp>
      <p:sp>
        <p:nvSpPr>
          <p:cNvPr id="11" name="Text 7"/>
          <p:cNvSpPr/>
          <p:nvPr/>
        </p:nvSpPr>
        <p:spPr>
          <a:xfrm>
            <a:off x="1016000" y="4046736"/>
            <a:ext cx="49446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Composición paralela</a:t>
            </a:r>
            <a:endParaRPr lang="en-US" sz="1400" dirty="0"/>
          </a:p>
        </p:txBody>
      </p:sp>
      <p:sp>
        <p:nvSpPr>
          <p:cNvPr id="12" name="Text 8"/>
          <p:cNvSpPr/>
          <p:nvPr/>
        </p:nvSpPr>
        <p:spPr>
          <a:xfrm>
            <a:off x="1016000" y="4323556"/>
            <a:ext cx="494461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Mecanismos sobre datos disjuntos (uno por persona) no acumulan ε. Si se saca a A, cambia solo su resultado: los otros 999 no dependen de A.</a:t>
            </a:r>
            <a:endParaRPr lang="en-US" sz="1200" dirty="0"/>
          </a:p>
        </p:txBody>
      </p:sp>
      <p:sp>
        <p:nvSpPr>
          <p:cNvPr id="13" name="Shape 9"/>
          <p:cNvSpPr/>
          <p:nvPr/>
        </p:nvSpPr>
        <p:spPr>
          <a:xfrm>
            <a:off x="6172200" y="3868936"/>
            <a:ext cx="5207000" cy="1272381"/>
          </a:xfrm>
          <a:prstGeom prst="roundRect">
            <a:avLst>
              <a:gd name="adj" fmla="val 7985"/>
            </a:avLst>
          </a:prstGeom>
          <a:solidFill>
            <a:srgbClr val="F4F4F2"/>
          </a:solidFill>
          <a:ln/>
        </p:spPr>
        <p:txBody>
          <a:bodyPr/>
          <a:lstStyle/>
          <a:p>
            <a:endParaRPr lang="en-CO"/>
          </a:p>
        </p:txBody>
      </p:sp>
      <p:sp>
        <p:nvSpPr>
          <p:cNvPr id="14" name="Text 10"/>
          <p:cNvSpPr/>
          <p:nvPr/>
        </p:nvSpPr>
        <p:spPr>
          <a:xfrm>
            <a:off x="6375400" y="4046736"/>
            <a:ext cx="49446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A en la población</a:t>
            </a:r>
            <a:endParaRPr lang="en-US" sz="1400" dirty="0"/>
          </a:p>
        </p:txBody>
      </p:sp>
      <p:sp>
        <p:nvSpPr>
          <p:cNvPr id="15" name="Text 11"/>
          <p:cNvSpPr/>
          <p:nvPr/>
        </p:nvSpPr>
        <p:spPr>
          <a:xfrm>
            <a:off x="6375400" y="4323556"/>
            <a:ext cx="494461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A aporta 1/1000 = 0.001 a F, que queda enterrado en una dispersión de ≈ 0.014.</a:t>
            </a:r>
            <a:endParaRPr lang="en-US" sz="1200" dirty="0"/>
          </a:p>
        </p:txBody>
      </p:sp>
      <p:sp>
        <p:nvSpPr>
          <p:cNvPr id="16" name="Text 12"/>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17" name="Text 13"/>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Dos diseños para decuantizar: C y L</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En C, A está </a:t>
            </a:r>
            <a:r>
              <a:rPr lang="en-US" sz="1800" b="1" dirty="0">
                <a:solidFill>
                  <a:srgbClr val="3C3C3B"/>
                </a:solidFill>
                <a:latin typeface="Roboto" pitchFamily="34" charset="0"/>
                <a:ea typeface="Roboto" pitchFamily="34" charset="-122"/>
                <a:cs typeface="Roboto" pitchFamily="34" charset="-120"/>
              </a:rPr>
              <a:t>un poco siempre</a:t>
            </a:r>
            <a:r>
              <a:rPr lang="en-US" sz="1800" dirty="0">
                <a:solidFill>
                  <a:srgbClr val="3C3C3B"/>
                </a:solidFill>
                <a:latin typeface="Roboto" pitchFamily="34" charset="0"/>
                <a:ea typeface="Roboto" pitchFamily="34" charset="-122"/>
                <a:cs typeface="Roboto" pitchFamily="34" charset="-120"/>
              </a:rPr>
              <a:t>; en L, A está </a:t>
            </a:r>
            <a:r>
              <a:rPr lang="en-US" sz="1800" b="1" dirty="0">
                <a:solidFill>
                  <a:srgbClr val="3C3C3B"/>
                </a:solidFill>
                <a:latin typeface="Roboto" pitchFamily="34" charset="0"/>
                <a:ea typeface="Roboto" pitchFamily="34" charset="-122"/>
                <a:cs typeface="Roboto" pitchFamily="34" charset="-120"/>
              </a:rPr>
              <a:t>mucho una vez</a:t>
            </a:r>
            <a:r>
              <a:rPr lang="en-US" sz="1800" dirty="0">
                <a:solidFill>
                  <a:srgbClr val="3C3C3B"/>
                </a:solidFill>
                <a:latin typeface="Roboto" pitchFamily="34" charset="0"/>
                <a:ea typeface="Roboto" pitchFamily="34" charset="-122"/>
                <a:cs typeface="Roboto" pitchFamily="34" charset="-120"/>
              </a:rPr>
              <a:t>.</a:t>
            </a:r>
            <a:endParaRPr lang="en-US" sz="1800" dirty="0"/>
          </a:p>
        </p:txBody>
      </p:sp>
      <p:sp>
        <p:nvSpPr>
          <p:cNvPr id="9" name="Shape 6"/>
          <p:cNvSpPr/>
          <p:nvPr/>
        </p:nvSpPr>
        <p:spPr>
          <a:xfrm>
            <a:off x="812800" y="1856680"/>
            <a:ext cx="5181600" cy="3053953"/>
          </a:xfrm>
          <a:prstGeom prst="roundRect">
            <a:avLst>
              <a:gd name="adj" fmla="val 3327"/>
            </a:avLst>
          </a:prstGeom>
          <a:solidFill>
            <a:srgbClr val="F4F4F2"/>
          </a:solidFill>
          <a:ln/>
        </p:spPr>
        <p:txBody>
          <a:bodyPr/>
          <a:lstStyle/>
          <a:p>
            <a:endParaRPr lang="en-CO"/>
          </a:p>
        </p:txBody>
      </p:sp>
      <p:sp>
        <p:nvSpPr>
          <p:cNvPr id="10" name="Text 7"/>
          <p:cNvSpPr/>
          <p:nvPr/>
        </p:nvSpPr>
        <p:spPr>
          <a:xfrm>
            <a:off x="1066800" y="2110680"/>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293470"/>
          </a:solidFill>
          <a:ln/>
        </p:spPr>
        <p:txBody>
          <a:bodyPr wrap="square" lIns="0" tIns="0" rIns="0" bIns="0" rtlCol="0" anchor="t">
            <a:normAutofit/>
          </a:bodyPr>
          <a:lstStyle/>
          <a:p>
            <a:pPr marL="0" indent="0" algn="ctr">
              <a:lnSpc>
                <a:spcPts val="2800"/>
              </a:lnSpc>
              <a:buNone/>
            </a:pPr>
            <a:r>
              <a:rPr lang="en-US" sz="1600" b="1" dirty="0">
                <a:solidFill>
                  <a:srgbClr val="FFFFFF"/>
                </a:solidFill>
                <a:latin typeface="DM Sans" pitchFamily="34" charset="0"/>
                <a:ea typeface="DM Sans" pitchFamily="34" charset="-122"/>
                <a:cs typeface="DM Sans" pitchFamily="34" charset="-120"/>
              </a:rPr>
              <a:t>C</a:t>
            </a:r>
            <a:endParaRPr lang="en-US" sz="1600" dirty="0"/>
          </a:p>
        </p:txBody>
      </p:sp>
      <p:sp>
        <p:nvSpPr>
          <p:cNvPr id="11" name="Text 8"/>
          <p:cNvSpPr/>
          <p:nvPr/>
        </p:nvSpPr>
        <p:spPr>
          <a:xfrm>
            <a:off x="1549400" y="2151360"/>
            <a:ext cx="194750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Diseño central</a:t>
            </a:r>
            <a:endParaRPr lang="en-US" sz="1800" dirty="0"/>
          </a:p>
        </p:txBody>
      </p:sp>
      <p:sp>
        <p:nvSpPr>
          <p:cNvPr id="12" name="Text 9"/>
          <p:cNvSpPr/>
          <p:nvPr/>
        </p:nvSpPr>
        <p:spPr>
          <a:xfrm>
            <a:off x="1073150" y="2711351"/>
            <a:ext cx="1143695" cy="363141"/>
          </a:xfrm>
          <a:prstGeom prst="roundRect">
            <a:avLst>
              <a:gd name="adj" fmla="val 12240"/>
            </a:avLst>
          </a:prstGeom>
          <a:solidFill>
            <a:srgbClr val="FFFFFF"/>
          </a:solidFill>
          <a:ln w="12700">
            <a:solidFill>
              <a:srgbClr val="3C3C3B"/>
            </a:solidFill>
            <a:prstDash val="solid"/>
          </a:ln>
        </p:spPr>
        <p:txBody>
          <a:bodyPr wrap="square" lIns="44131" tIns="69531" rIns="44131" bIns="44131" rtlCol="0" anchor="t">
            <a:normAutofit/>
          </a:bodyPr>
          <a:lstStyle/>
          <a:p>
            <a:pPr marL="0" indent="0" algn="ctr">
              <a:lnSpc>
                <a:spcPts val="1560"/>
              </a:lnSpc>
              <a:buNone/>
            </a:pPr>
            <a:r>
              <a:rPr lang="en-US" sz="1200" dirty="0">
                <a:solidFill>
                  <a:srgbClr val="1D1D1B"/>
                </a:solidFill>
                <a:latin typeface="Roboto" pitchFamily="34" charset="0"/>
                <a:ea typeface="Roboto" pitchFamily="34" charset="-122"/>
                <a:cs typeface="Roboto" pitchFamily="34" charset="-120"/>
              </a:rPr>
              <a:t>ρ₁, …, ρₙ</a:t>
            </a:r>
            <a:endParaRPr lang="en-US" sz="1200" dirty="0"/>
          </a:p>
        </p:txBody>
      </p:sp>
      <p:pic>
        <p:nvPicPr>
          <p:cNvPr id="13" name="Image 1" descr="connector"/>
          <p:cNvPicPr>
            <a:picLocks noChangeAspect="1"/>
          </p:cNvPicPr>
          <p:nvPr/>
        </p:nvPicPr>
        <p:blipFill>
          <a:blip r:embed="rId4"/>
          <a:srcRect/>
          <a:stretch/>
        </p:blipFill>
        <p:spPr>
          <a:xfrm>
            <a:off x="2299395" y="2842121"/>
            <a:ext cx="254000" cy="101600"/>
          </a:xfrm>
          <a:prstGeom prst="rect">
            <a:avLst/>
          </a:prstGeom>
        </p:spPr>
      </p:pic>
      <p:sp>
        <p:nvSpPr>
          <p:cNvPr id="14" name="Text 10"/>
          <p:cNvSpPr/>
          <p:nvPr/>
        </p:nvSpPr>
        <p:spPr>
          <a:xfrm>
            <a:off x="2635945" y="2612330"/>
            <a:ext cx="1535212" cy="561181"/>
          </a:xfrm>
          <a:prstGeom prst="roundRect">
            <a:avLst>
              <a:gd name="adj" fmla="val 7921"/>
            </a:avLst>
          </a:prstGeom>
          <a:solidFill>
            <a:srgbClr val="FFFFFF"/>
          </a:solidFill>
          <a:ln w="12700">
            <a:solidFill>
              <a:srgbClr val="3C3C3B"/>
            </a:solidFill>
            <a:prstDash val="solid"/>
          </a:ln>
        </p:spPr>
        <p:txBody>
          <a:bodyPr wrap="square" lIns="44131" tIns="69531" rIns="44131" bIns="44131" rtlCol="0" anchor="t">
            <a:normAutofit/>
          </a:bodyPr>
          <a:lstStyle/>
          <a:p>
            <a:pPr marL="0" indent="0" algn="ctr">
              <a:lnSpc>
                <a:spcPts val="1560"/>
              </a:lnSpc>
              <a:buNone/>
            </a:pPr>
            <a:r>
              <a:rPr lang="en-US" sz="1200" dirty="0">
                <a:solidFill>
                  <a:srgbClr val="1D1D1B"/>
                </a:solidFill>
                <a:latin typeface="Roboto" pitchFamily="34" charset="0"/>
                <a:ea typeface="Roboto" pitchFamily="34" charset="-122"/>
                <a:cs typeface="Roboto" pitchFamily="34" charset="-120"/>
              </a:rPr>
              <a:t>curador: agrega y aplica ruido → ρ″</a:t>
            </a:r>
            <a:endParaRPr lang="en-US" sz="1200" dirty="0"/>
          </a:p>
        </p:txBody>
      </p:sp>
      <p:pic>
        <p:nvPicPr>
          <p:cNvPr id="15" name="Image 2" descr="connector"/>
          <p:cNvPicPr>
            <a:picLocks noChangeAspect="1"/>
          </p:cNvPicPr>
          <p:nvPr/>
        </p:nvPicPr>
        <p:blipFill>
          <a:blip r:embed="rId4"/>
          <a:srcRect/>
          <a:stretch/>
        </p:blipFill>
        <p:spPr>
          <a:xfrm>
            <a:off x="4253706" y="2842121"/>
            <a:ext cx="254000" cy="101600"/>
          </a:xfrm>
          <a:prstGeom prst="rect">
            <a:avLst/>
          </a:prstGeom>
        </p:spPr>
      </p:pic>
      <p:sp>
        <p:nvSpPr>
          <p:cNvPr id="16" name="Text 11"/>
          <p:cNvSpPr/>
          <p:nvPr/>
        </p:nvSpPr>
        <p:spPr>
          <a:xfrm>
            <a:off x="4590256" y="2612330"/>
            <a:ext cx="1143794" cy="561181"/>
          </a:xfrm>
          <a:prstGeom prst="roundRect">
            <a:avLst>
              <a:gd name="adj" fmla="val 7921"/>
            </a:avLst>
          </a:prstGeom>
          <a:solidFill>
            <a:srgbClr val="FFFFFF"/>
          </a:solidFill>
          <a:ln w="12700">
            <a:solidFill>
              <a:srgbClr val="3C3C3B"/>
            </a:solidFill>
            <a:prstDash val="solid"/>
          </a:ln>
        </p:spPr>
        <p:txBody>
          <a:bodyPr wrap="square" lIns="44131" tIns="69531" rIns="44131" bIns="44131" rtlCol="0" anchor="t">
            <a:normAutofit/>
          </a:bodyPr>
          <a:lstStyle/>
          <a:p>
            <a:pPr marL="0" indent="0" algn="ctr">
              <a:lnSpc>
                <a:spcPts val="1560"/>
              </a:lnSpc>
              <a:buNone/>
            </a:pPr>
            <a:r>
              <a:rPr lang="en-US" sz="1200" dirty="0">
                <a:solidFill>
                  <a:srgbClr val="1D1D1B"/>
                </a:solidFill>
                <a:latin typeface="Roboto" pitchFamily="34" charset="0"/>
                <a:ea typeface="Roboto" pitchFamily="34" charset="-122"/>
                <a:cs typeface="Roboto" pitchFamily="34" charset="-120"/>
              </a:rPr>
              <a:t>N copias medidas</a:t>
            </a:r>
            <a:endParaRPr lang="en-US" sz="1200" dirty="0"/>
          </a:p>
        </p:txBody>
      </p:sp>
      <p:sp>
        <p:nvSpPr>
          <p:cNvPr id="17" name="Text 12"/>
          <p:cNvSpPr/>
          <p:nvPr/>
        </p:nvSpPr>
        <p:spPr>
          <a:xfrm>
            <a:off x="1066800" y="3319562"/>
            <a:ext cx="481380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Cada copia equivale a sortear una persona. Si se saca a A cambian las N copias, porque A está un poco en todas: composición (Teorema 4).</a:t>
            </a:r>
            <a:endParaRPr lang="en-US" sz="1400" dirty="0"/>
          </a:p>
        </p:txBody>
      </p:sp>
      <p:pic>
        <p:nvPicPr>
          <p:cNvPr id="18" name="Image 3" descr="ε total = N · ε por copia"/>
          <p:cNvPicPr>
            <a:picLocks noChangeAspect="1"/>
          </p:cNvPicPr>
          <p:nvPr/>
        </p:nvPicPr>
        <p:blipFill>
          <a:blip r:embed="rId5"/>
          <a:srcRect t="-388" b="-388"/>
          <a:stretch/>
        </p:blipFill>
        <p:spPr>
          <a:xfrm>
            <a:off x="1066800" y="4345484"/>
            <a:ext cx="2324100" cy="311150"/>
          </a:xfrm>
          <a:prstGeom prst="rect">
            <a:avLst/>
          </a:prstGeom>
        </p:spPr>
      </p:pic>
      <p:sp>
        <p:nvSpPr>
          <p:cNvPr id="19" name="Shape 13"/>
          <p:cNvSpPr/>
          <p:nvPr/>
        </p:nvSpPr>
        <p:spPr>
          <a:xfrm>
            <a:off x="6197600" y="1856680"/>
            <a:ext cx="5181600" cy="3053953"/>
          </a:xfrm>
          <a:prstGeom prst="roundRect">
            <a:avLst>
              <a:gd name="adj" fmla="val 3327"/>
            </a:avLst>
          </a:prstGeom>
          <a:solidFill>
            <a:srgbClr val="F4F4F2"/>
          </a:solidFill>
          <a:ln/>
        </p:spPr>
        <p:txBody>
          <a:bodyPr/>
          <a:lstStyle/>
          <a:p>
            <a:endParaRPr lang="en-CO"/>
          </a:p>
        </p:txBody>
      </p:sp>
      <p:sp>
        <p:nvSpPr>
          <p:cNvPr id="20" name="Text 14"/>
          <p:cNvSpPr/>
          <p:nvPr/>
        </p:nvSpPr>
        <p:spPr>
          <a:xfrm>
            <a:off x="6451600" y="2110680"/>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FFEE00"/>
          </a:solidFill>
          <a:ln/>
        </p:spPr>
        <p:txBody>
          <a:bodyPr wrap="square" lIns="0" tIns="0" rIns="0" bIns="0" rtlCol="0" anchor="t">
            <a:normAutofit/>
          </a:bodyPr>
          <a:lstStyle/>
          <a:p>
            <a:pPr marL="0" indent="0" algn="ctr">
              <a:lnSpc>
                <a:spcPts val="2800"/>
              </a:lnSpc>
              <a:buNone/>
            </a:pPr>
            <a:r>
              <a:rPr lang="en-US" sz="1600" b="1" dirty="0">
                <a:solidFill>
                  <a:srgbClr val="1D1D1B"/>
                </a:solidFill>
                <a:latin typeface="DM Sans" pitchFamily="34" charset="0"/>
                <a:ea typeface="DM Sans" pitchFamily="34" charset="-122"/>
                <a:cs typeface="DM Sans" pitchFamily="34" charset="-120"/>
              </a:rPr>
              <a:t>L</a:t>
            </a:r>
            <a:endParaRPr lang="en-US" sz="1600" dirty="0"/>
          </a:p>
        </p:txBody>
      </p:sp>
      <p:sp>
        <p:nvSpPr>
          <p:cNvPr id="21" name="Text 15"/>
          <p:cNvSpPr/>
          <p:nvPr/>
        </p:nvSpPr>
        <p:spPr>
          <a:xfrm>
            <a:off x="6934200" y="2151360"/>
            <a:ext cx="162246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Diseño local</a:t>
            </a:r>
            <a:endParaRPr lang="en-US" sz="1800" dirty="0"/>
          </a:p>
        </p:txBody>
      </p:sp>
      <p:sp>
        <p:nvSpPr>
          <p:cNvPr id="22" name="Text 16"/>
          <p:cNvSpPr/>
          <p:nvPr/>
        </p:nvSpPr>
        <p:spPr>
          <a:xfrm>
            <a:off x="6457950" y="2612330"/>
            <a:ext cx="1143695" cy="363141"/>
          </a:xfrm>
          <a:prstGeom prst="roundRect">
            <a:avLst>
              <a:gd name="adj" fmla="val 12240"/>
            </a:avLst>
          </a:prstGeom>
          <a:solidFill>
            <a:srgbClr val="FFFFFF"/>
          </a:solidFill>
          <a:ln w="12700">
            <a:solidFill>
              <a:srgbClr val="3C3C3B"/>
            </a:solidFill>
            <a:prstDash val="solid"/>
          </a:ln>
        </p:spPr>
        <p:txBody>
          <a:bodyPr wrap="square" lIns="44131" tIns="69531" rIns="44131" bIns="44131" rtlCol="0" anchor="t">
            <a:normAutofit/>
          </a:bodyPr>
          <a:lstStyle/>
          <a:p>
            <a:pPr marL="0" indent="0" algn="ctr">
              <a:lnSpc>
                <a:spcPts val="1560"/>
              </a:lnSpc>
              <a:buNone/>
            </a:pPr>
            <a:r>
              <a:rPr lang="en-US" sz="1200" dirty="0">
                <a:solidFill>
                  <a:srgbClr val="1D1D1B"/>
                </a:solidFill>
                <a:latin typeface="Roboto" pitchFamily="34" charset="0"/>
                <a:ea typeface="Roboto" pitchFamily="34" charset="-122"/>
                <a:cs typeface="Roboto" pitchFamily="34" charset="-120"/>
              </a:rPr>
              <a:t>persona i: ρᵢ</a:t>
            </a:r>
            <a:endParaRPr lang="en-US" sz="1200" dirty="0"/>
          </a:p>
        </p:txBody>
      </p:sp>
      <p:pic>
        <p:nvPicPr>
          <p:cNvPr id="23" name="Image 4" descr="connector"/>
          <p:cNvPicPr>
            <a:picLocks noChangeAspect="1"/>
          </p:cNvPicPr>
          <p:nvPr/>
        </p:nvPicPr>
        <p:blipFill>
          <a:blip r:embed="rId4"/>
          <a:srcRect/>
          <a:stretch/>
        </p:blipFill>
        <p:spPr>
          <a:xfrm>
            <a:off x="7684195" y="2743101"/>
            <a:ext cx="254000" cy="101600"/>
          </a:xfrm>
          <a:prstGeom prst="rect">
            <a:avLst/>
          </a:prstGeom>
        </p:spPr>
      </p:pic>
      <p:sp>
        <p:nvSpPr>
          <p:cNvPr id="24" name="Text 17"/>
          <p:cNvSpPr/>
          <p:nvPr/>
        </p:nvSpPr>
        <p:spPr>
          <a:xfrm>
            <a:off x="8020745" y="2612330"/>
            <a:ext cx="1535212" cy="363141"/>
          </a:xfrm>
          <a:prstGeom prst="roundRect">
            <a:avLst>
              <a:gd name="adj" fmla="val 12240"/>
            </a:avLst>
          </a:prstGeom>
          <a:solidFill>
            <a:srgbClr val="FFEE00"/>
          </a:solidFill>
          <a:ln w="12700">
            <a:solidFill>
              <a:srgbClr val="1D1D1B"/>
            </a:solidFill>
            <a:prstDash val="solid"/>
          </a:ln>
        </p:spPr>
        <p:txBody>
          <a:bodyPr wrap="square" lIns="44131" tIns="69531" rIns="44131" bIns="44131" rtlCol="0" anchor="t">
            <a:normAutofit/>
          </a:bodyPr>
          <a:lstStyle/>
          <a:p>
            <a:pPr marL="0" indent="0" algn="ctr">
              <a:lnSpc>
                <a:spcPts val="1560"/>
              </a:lnSpc>
              <a:buNone/>
            </a:pPr>
            <a:r>
              <a:rPr lang="en-US" sz="1200" dirty="0">
                <a:solidFill>
                  <a:srgbClr val="1D1D1B"/>
                </a:solidFill>
                <a:latin typeface="Roboto" pitchFamily="34" charset="0"/>
                <a:ea typeface="Roboto" pitchFamily="34" charset="-122"/>
                <a:cs typeface="Roboto" pitchFamily="34" charset="-120"/>
              </a:rPr>
              <a:t>su propio ruido</a:t>
            </a:r>
            <a:endParaRPr lang="en-US" sz="1200" dirty="0"/>
          </a:p>
        </p:txBody>
      </p:sp>
      <p:pic>
        <p:nvPicPr>
          <p:cNvPr id="25" name="Image 5" descr="connector"/>
          <p:cNvPicPr>
            <a:picLocks noChangeAspect="1"/>
          </p:cNvPicPr>
          <p:nvPr/>
        </p:nvPicPr>
        <p:blipFill>
          <a:blip r:embed="rId4"/>
          <a:srcRect/>
          <a:stretch/>
        </p:blipFill>
        <p:spPr>
          <a:xfrm>
            <a:off x="9638506" y="2743101"/>
            <a:ext cx="254000" cy="101600"/>
          </a:xfrm>
          <a:prstGeom prst="rect">
            <a:avLst/>
          </a:prstGeom>
        </p:spPr>
      </p:pic>
      <p:sp>
        <p:nvSpPr>
          <p:cNvPr id="26" name="Text 18"/>
          <p:cNvSpPr/>
          <p:nvPr/>
        </p:nvSpPr>
        <p:spPr>
          <a:xfrm>
            <a:off x="9975056" y="2612330"/>
            <a:ext cx="1143794" cy="363141"/>
          </a:xfrm>
          <a:prstGeom prst="roundRect">
            <a:avLst>
              <a:gd name="adj" fmla="val 12240"/>
            </a:avLst>
          </a:prstGeom>
          <a:solidFill>
            <a:srgbClr val="FFFFFF"/>
          </a:solidFill>
          <a:ln w="12700">
            <a:solidFill>
              <a:srgbClr val="3C3C3B"/>
            </a:solidFill>
            <a:prstDash val="solid"/>
          </a:ln>
        </p:spPr>
        <p:txBody>
          <a:bodyPr wrap="square" lIns="44131" tIns="69531" rIns="44131" bIns="44131" rtlCol="0" anchor="t">
            <a:normAutofit/>
          </a:bodyPr>
          <a:lstStyle/>
          <a:p>
            <a:pPr marL="0" indent="0" algn="ctr">
              <a:lnSpc>
                <a:spcPts val="1560"/>
              </a:lnSpc>
              <a:buNone/>
            </a:pPr>
            <a:r>
              <a:rPr lang="en-US" sz="1200" dirty="0">
                <a:solidFill>
                  <a:srgbClr val="1D1D1B"/>
                </a:solidFill>
                <a:latin typeface="Roboto" pitchFamily="34" charset="0"/>
                <a:ea typeface="Roboto" pitchFamily="34" charset="-122"/>
                <a:cs typeface="Roboto" pitchFamily="34" charset="-120"/>
              </a:rPr>
              <a:t>1 medición</a:t>
            </a:r>
            <a:endParaRPr lang="en-US" sz="1200" dirty="0"/>
          </a:p>
        </p:txBody>
      </p:sp>
      <p:sp>
        <p:nvSpPr>
          <p:cNvPr id="27" name="Text 19"/>
          <p:cNvSpPr/>
          <p:nvPr/>
        </p:nvSpPr>
        <p:spPr>
          <a:xfrm>
            <a:off x="6451600" y="3121521"/>
            <a:ext cx="481380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Cada persona se codifica, recibe su ruido y se mide una vez. Si se saca a A cambia solo su resultado: composición paralela.</a:t>
            </a:r>
            <a:endParaRPr lang="en-US" sz="1400" dirty="0"/>
          </a:p>
        </p:txBody>
      </p:sp>
      <p:pic>
        <p:nvPicPr>
          <p:cNvPr id="28" name="Image 6" descr="ε total = ε de una persona"/>
          <p:cNvPicPr>
            <a:picLocks noChangeAspect="1"/>
          </p:cNvPicPr>
          <p:nvPr/>
        </p:nvPicPr>
        <p:blipFill>
          <a:blip r:embed="rId6"/>
          <a:srcRect l="-395" r="-395"/>
          <a:stretch/>
        </p:blipFill>
        <p:spPr>
          <a:xfrm>
            <a:off x="6451600" y="4415334"/>
            <a:ext cx="2425700" cy="241300"/>
          </a:xfrm>
          <a:prstGeom prst="rect">
            <a:avLst/>
          </a:prstGeom>
        </p:spPr>
      </p:pic>
      <p:sp>
        <p:nvSpPr>
          <p:cNvPr id="29" name="Text 20"/>
          <p:cNvSpPr/>
          <p:nvPr/>
        </p:nvSpPr>
        <p:spPr>
          <a:xfrm>
            <a:off x="812800" y="516463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C"/>
                </a:solidFill>
                <a:latin typeface="Roboto" pitchFamily="34" charset="0"/>
                <a:ea typeface="Roboto" pitchFamily="34" charset="-122"/>
                <a:cs typeface="Roboto" pitchFamily="34" charset="-120"/>
              </a:rPr>
              <a:t>Decisión de método: solo se simuló L. C se reporta con cálculos analíticos.</a:t>
            </a:r>
            <a:endParaRPr lang="en-US" sz="1200" dirty="0"/>
          </a:p>
        </p:txBody>
      </p:sp>
      <p:sp>
        <p:nvSpPr>
          <p:cNvPr id="30" name="Text 21"/>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31" name="Text 22"/>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Con 1 qubit, ninguno domina</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Solo </a:t>
            </a:r>
            <a:r>
              <a:rPr lang="en-US" sz="1800" dirty="0">
                <a:solidFill>
                  <a:srgbClr val="293470"/>
                </a:solidFill>
                <a:latin typeface="Roboto" pitchFamily="34" charset="0"/>
                <a:ea typeface="Roboto" pitchFamily="34" charset="-122"/>
                <a:cs typeface="Roboto" pitchFamily="34" charset="-120"/>
              </a:rPr>
              <a:t>collateral</a:t>
            </a:r>
            <a:r>
              <a:rPr lang="en-US" sz="1800" dirty="0">
                <a:solidFill>
                  <a:srgbClr val="3C3C3B"/>
                </a:solidFill>
                <a:latin typeface="Roboto" pitchFamily="34" charset="0"/>
                <a:ea typeface="Roboto" pitchFamily="34" charset="-122"/>
                <a:cs typeface="Roboto" pitchFamily="34" charset="-120"/>
              </a:rPr>
              <a:t> (coherente con el histograma), N = 1000.</a:t>
            </a:r>
            <a:endParaRPr lang="en-US" sz="1800" dirty="0"/>
          </a:p>
        </p:txBody>
      </p:sp>
      <p:sp>
        <p:nvSpPr>
          <p:cNvPr id="9" name="Shape 6"/>
          <p:cNvSpPr/>
          <p:nvPr/>
        </p:nvSpPr>
        <p:spPr>
          <a:xfrm>
            <a:off x="812800" y="1831280"/>
            <a:ext cx="5181600" cy="2097881"/>
          </a:xfrm>
          <a:prstGeom prst="roundRect">
            <a:avLst>
              <a:gd name="adj" fmla="val 4843"/>
            </a:avLst>
          </a:prstGeom>
          <a:solidFill>
            <a:srgbClr val="F4F4F2"/>
          </a:solidFill>
          <a:ln/>
        </p:spPr>
        <p:txBody>
          <a:bodyPr/>
          <a:lstStyle/>
          <a:p>
            <a:endParaRPr lang="en-CO"/>
          </a:p>
        </p:txBody>
      </p:sp>
      <p:sp>
        <p:nvSpPr>
          <p:cNvPr id="10" name="Text 7"/>
          <p:cNvSpPr/>
          <p:nvPr/>
        </p:nvSpPr>
        <p:spPr>
          <a:xfrm>
            <a:off x="1066800" y="2059880"/>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293470"/>
          </a:solidFill>
          <a:ln/>
        </p:spPr>
        <p:txBody>
          <a:bodyPr wrap="square" lIns="0" tIns="0" rIns="0" bIns="0" rtlCol="0" anchor="t">
            <a:normAutofit/>
          </a:bodyPr>
          <a:lstStyle/>
          <a:p>
            <a:pPr marL="0" indent="0" algn="ctr">
              <a:lnSpc>
                <a:spcPts val="2800"/>
              </a:lnSpc>
              <a:buNone/>
            </a:pPr>
            <a:r>
              <a:rPr lang="en-US" sz="1600" b="1" dirty="0">
                <a:solidFill>
                  <a:srgbClr val="FFFFFF"/>
                </a:solidFill>
                <a:latin typeface="DM Sans" pitchFamily="34" charset="0"/>
                <a:ea typeface="DM Sans" pitchFamily="34" charset="-122"/>
                <a:cs typeface="DM Sans" pitchFamily="34" charset="-120"/>
              </a:rPr>
              <a:t>C</a:t>
            </a:r>
            <a:endParaRPr lang="en-US" sz="1600" dirty="0"/>
          </a:p>
        </p:txBody>
      </p:sp>
      <p:sp>
        <p:nvSpPr>
          <p:cNvPr id="11" name="Text 8"/>
          <p:cNvSpPr/>
          <p:nvPr/>
        </p:nvSpPr>
        <p:spPr>
          <a:xfrm>
            <a:off x="1549400" y="2100560"/>
            <a:ext cx="194750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Diseño central</a:t>
            </a:r>
            <a:endParaRPr lang="en-US" sz="1800" dirty="0"/>
          </a:p>
        </p:txBody>
      </p:sp>
      <p:sp>
        <p:nvSpPr>
          <p:cNvPr id="12" name="Text 9"/>
          <p:cNvSpPr/>
          <p:nvPr/>
        </p:nvSpPr>
        <p:spPr>
          <a:xfrm>
            <a:off x="1066800" y="2567880"/>
            <a:ext cx="230225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Ε TOTAL</a:t>
            </a:r>
            <a:endParaRPr lang="en-US" sz="1200" dirty="0"/>
          </a:p>
        </p:txBody>
      </p:sp>
      <p:sp>
        <p:nvSpPr>
          <p:cNvPr id="13" name="Text 10"/>
          <p:cNvSpPr/>
          <p:nvPr/>
        </p:nvSpPr>
        <p:spPr>
          <a:xfrm>
            <a:off x="1066800" y="2832001"/>
            <a:ext cx="2302256"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93470"/>
                </a:solidFill>
                <a:latin typeface="DM Sans" pitchFamily="34" charset="0"/>
                <a:ea typeface="DM Sans" pitchFamily="34" charset="-122"/>
                <a:cs typeface="DM Sans" pitchFamily="34" charset="-120"/>
              </a:rPr>
              <a:t>0.61</a:t>
            </a:r>
            <a:endParaRPr lang="en-US" sz="2800" dirty="0"/>
          </a:p>
        </p:txBody>
      </p:sp>
      <p:sp>
        <p:nvSpPr>
          <p:cNvPr id="14" name="Text 11"/>
          <p:cNvSpPr/>
          <p:nvPr/>
        </p:nvSpPr>
        <p:spPr>
          <a:xfrm>
            <a:off x="1066800" y="3273921"/>
            <a:ext cx="23022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experimental; cota 1.13. Por copia: 0.000608 (cota 0.00113)</a:t>
            </a:r>
            <a:endParaRPr lang="en-US" sz="1200" dirty="0"/>
          </a:p>
        </p:txBody>
      </p:sp>
      <p:sp>
        <p:nvSpPr>
          <p:cNvPr id="15" name="Text 12"/>
          <p:cNvSpPr/>
          <p:nvPr/>
        </p:nvSpPr>
        <p:spPr>
          <a:xfrm>
            <a:off x="3505200" y="2567880"/>
            <a:ext cx="230225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STD(F̂)</a:t>
            </a:r>
            <a:endParaRPr lang="en-US" sz="1200" dirty="0"/>
          </a:p>
        </p:txBody>
      </p:sp>
      <p:sp>
        <p:nvSpPr>
          <p:cNvPr id="16" name="Text 13"/>
          <p:cNvSpPr/>
          <p:nvPr/>
        </p:nvSpPr>
        <p:spPr>
          <a:xfrm>
            <a:off x="3505200" y="2832001"/>
            <a:ext cx="2302256"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D1D1B"/>
                </a:solidFill>
                <a:latin typeface="DM Sans" pitchFamily="34" charset="0"/>
                <a:ea typeface="DM Sans" pitchFamily="34" charset="-122"/>
                <a:cs typeface="DM Sans" pitchFamily="34" charset="-120"/>
              </a:rPr>
              <a:t>0.0316</a:t>
            </a:r>
            <a:endParaRPr lang="en-US" sz="2800" dirty="0"/>
          </a:p>
        </p:txBody>
      </p:sp>
      <p:sp>
        <p:nvSpPr>
          <p:cNvPr id="17" name="Shape 14"/>
          <p:cNvSpPr/>
          <p:nvPr/>
        </p:nvSpPr>
        <p:spPr>
          <a:xfrm>
            <a:off x="6197600" y="1831280"/>
            <a:ext cx="5181600" cy="2097881"/>
          </a:xfrm>
          <a:prstGeom prst="roundRect">
            <a:avLst>
              <a:gd name="adj" fmla="val 4843"/>
            </a:avLst>
          </a:prstGeom>
          <a:solidFill>
            <a:srgbClr val="F4F4F2"/>
          </a:solidFill>
          <a:ln/>
        </p:spPr>
        <p:txBody>
          <a:bodyPr/>
          <a:lstStyle/>
          <a:p>
            <a:endParaRPr lang="en-CO"/>
          </a:p>
        </p:txBody>
      </p:sp>
      <p:sp>
        <p:nvSpPr>
          <p:cNvPr id="18" name="Text 15"/>
          <p:cNvSpPr/>
          <p:nvPr/>
        </p:nvSpPr>
        <p:spPr>
          <a:xfrm>
            <a:off x="6451600" y="2059880"/>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FFEE00"/>
          </a:solidFill>
          <a:ln/>
        </p:spPr>
        <p:txBody>
          <a:bodyPr wrap="square" lIns="0" tIns="0" rIns="0" bIns="0" rtlCol="0" anchor="t">
            <a:normAutofit/>
          </a:bodyPr>
          <a:lstStyle/>
          <a:p>
            <a:pPr marL="0" indent="0" algn="ctr">
              <a:lnSpc>
                <a:spcPts val="2800"/>
              </a:lnSpc>
              <a:buNone/>
            </a:pPr>
            <a:r>
              <a:rPr lang="en-US" sz="1600" b="1" dirty="0">
                <a:solidFill>
                  <a:srgbClr val="1D1D1B"/>
                </a:solidFill>
                <a:latin typeface="DM Sans" pitchFamily="34" charset="0"/>
                <a:ea typeface="DM Sans" pitchFamily="34" charset="-122"/>
                <a:cs typeface="DM Sans" pitchFamily="34" charset="-120"/>
              </a:rPr>
              <a:t>L</a:t>
            </a:r>
            <a:endParaRPr lang="en-US" sz="1600" dirty="0"/>
          </a:p>
        </p:txBody>
      </p:sp>
      <p:sp>
        <p:nvSpPr>
          <p:cNvPr id="19" name="Text 16"/>
          <p:cNvSpPr/>
          <p:nvPr/>
        </p:nvSpPr>
        <p:spPr>
          <a:xfrm>
            <a:off x="6934200" y="2100560"/>
            <a:ext cx="162246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Diseño local</a:t>
            </a:r>
            <a:endParaRPr lang="en-US" sz="1800" dirty="0"/>
          </a:p>
        </p:txBody>
      </p:sp>
      <p:sp>
        <p:nvSpPr>
          <p:cNvPr id="20" name="Text 17"/>
          <p:cNvSpPr/>
          <p:nvPr/>
        </p:nvSpPr>
        <p:spPr>
          <a:xfrm>
            <a:off x="6451600" y="2567880"/>
            <a:ext cx="230225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Ε TOTAL</a:t>
            </a:r>
            <a:endParaRPr lang="en-US" sz="1200" dirty="0"/>
          </a:p>
        </p:txBody>
      </p:sp>
      <p:sp>
        <p:nvSpPr>
          <p:cNvPr id="21" name="Text 18"/>
          <p:cNvSpPr/>
          <p:nvPr/>
        </p:nvSpPr>
        <p:spPr>
          <a:xfrm>
            <a:off x="6451600" y="2832001"/>
            <a:ext cx="2302256"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93470"/>
                </a:solidFill>
                <a:latin typeface="DM Sans" pitchFamily="34" charset="0"/>
                <a:ea typeface="DM Sans" pitchFamily="34" charset="-122"/>
                <a:cs typeface="DM Sans" pitchFamily="34" charset="-120"/>
              </a:rPr>
              <a:t>1.10</a:t>
            </a:r>
            <a:endParaRPr lang="en-US" sz="2800" dirty="0"/>
          </a:p>
        </p:txBody>
      </p:sp>
      <p:sp>
        <p:nvSpPr>
          <p:cNvPr id="22" name="Text 19"/>
          <p:cNvSpPr/>
          <p:nvPr/>
        </p:nvSpPr>
        <p:spPr>
          <a:xfrm>
            <a:off x="6451600" y="3273921"/>
            <a:ext cx="23022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experimental = cota (ln 3)</a:t>
            </a:r>
            <a:endParaRPr lang="en-US" sz="1200" dirty="0"/>
          </a:p>
        </p:txBody>
      </p:sp>
      <p:sp>
        <p:nvSpPr>
          <p:cNvPr id="23" name="Text 20"/>
          <p:cNvSpPr/>
          <p:nvPr/>
        </p:nvSpPr>
        <p:spPr>
          <a:xfrm>
            <a:off x="8890000" y="2567880"/>
            <a:ext cx="230225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STD(F̂)</a:t>
            </a:r>
            <a:endParaRPr lang="en-US" sz="1200" dirty="0"/>
          </a:p>
        </p:txBody>
      </p:sp>
      <p:sp>
        <p:nvSpPr>
          <p:cNvPr id="24" name="Text 21"/>
          <p:cNvSpPr/>
          <p:nvPr/>
        </p:nvSpPr>
        <p:spPr>
          <a:xfrm>
            <a:off x="8890000" y="2832001"/>
            <a:ext cx="2302256"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D1D1B"/>
                </a:solidFill>
                <a:latin typeface="DM Sans" pitchFamily="34" charset="0"/>
                <a:ea typeface="DM Sans" pitchFamily="34" charset="-122"/>
                <a:cs typeface="DM Sans" pitchFamily="34" charset="-120"/>
              </a:rPr>
              <a:t>0.0293</a:t>
            </a:r>
            <a:endParaRPr lang="en-US" sz="2800" dirty="0"/>
          </a:p>
        </p:txBody>
      </p:sp>
      <p:sp>
        <p:nvSpPr>
          <p:cNvPr id="25" name="Text 22"/>
          <p:cNvSpPr/>
          <p:nvPr/>
        </p:nvSpPr>
        <p:spPr>
          <a:xfrm>
            <a:off x="812800" y="4157762"/>
            <a:ext cx="5181600" cy="434280"/>
          </a:xfrm>
          <a:prstGeom prst="roundRect">
            <a:avLst>
              <a:gd name="adj" fmla="val 11698"/>
            </a:avLst>
          </a:prstGeom>
          <a:solidFill>
            <a:srgbClr val="293470"/>
          </a:solidFill>
          <a:ln/>
        </p:spPr>
        <p:txBody>
          <a:bodyPr wrap="square" lIns="137521" tIns="86721" rIns="0" bIns="61321" rtlCol="0" anchor="t">
            <a:normAutofit/>
          </a:bodyPr>
          <a:lstStyle/>
          <a:p>
            <a:pPr marL="0" indent="0" algn="l">
              <a:lnSpc>
                <a:spcPts val="1820"/>
              </a:lnSpc>
              <a:buNone/>
            </a:pPr>
            <a:r>
              <a:rPr lang="en-US" sz="1400" b="1" dirty="0">
                <a:solidFill>
                  <a:srgbClr val="FFFFFF"/>
                </a:solidFill>
                <a:latin typeface="DM Sans" pitchFamily="34" charset="0"/>
                <a:ea typeface="DM Sans" pitchFamily="34" charset="-122"/>
                <a:cs typeface="DM Sans" pitchFamily="34" charset="-120"/>
              </a:rPr>
              <a:t>C gasta menos ε medido.</a:t>
            </a:r>
            <a:endParaRPr lang="en-US" sz="1400" dirty="0"/>
          </a:p>
        </p:txBody>
      </p:sp>
      <p:sp>
        <p:nvSpPr>
          <p:cNvPr id="26" name="Text 23"/>
          <p:cNvSpPr/>
          <p:nvPr/>
        </p:nvSpPr>
        <p:spPr>
          <a:xfrm>
            <a:off x="6197600" y="4157762"/>
            <a:ext cx="5181600" cy="434280"/>
          </a:xfrm>
          <a:prstGeom prst="roundRect">
            <a:avLst>
              <a:gd name="adj" fmla="val 11698"/>
            </a:avLst>
          </a:prstGeom>
          <a:solidFill>
            <a:srgbClr val="FFEE00"/>
          </a:solidFill>
          <a:ln/>
        </p:spPr>
        <p:txBody>
          <a:bodyPr wrap="square" lIns="137521" tIns="86721" rIns="0" bIns="61321" rtlCol="0" anchor="t">
            <a:normAutofit/>
          </a:bodyPr>
          <a:lstStyle/>
          <a:p>
            <a:pPr marL="0" indent="0" algn="l">
              <a:lnSpc>
                <a:spcPts val="1820"/>
              </a:lnSpc>
              <a:buNone/>
            </a:pPr>
            <a:r>
              <a:rPr lang="en-US" sz="1400" b="1" dirty="0">
                <a:solidFill>
                  <a:srgbClr val="1D1D1B"/>
                </a:solidFill>
                <a:latin typeface="DM Sans" pitchFamily="34" charset="0"/>
                <a:ea typeface="DM Sans" pitchFamily="34" charset="-122"/>
                <a:cs typeface="DM Sans" pitchFamily="34" charset="-120"/>
              </a:rPr>
              <a:t>L es un poco más preciso.</a:t>
            </a:r>
            <a:endParaRPr lang="en-US" sz="1400" dirty="0"/>
          </a:p>
        </p:txBody>
      </p:sp>
      <p:sp>
        <p:nvSpPr>
          <p:cNvPr id="27" name="Text 24"/>
          <p:cNvSpPr/>
          <p:nvPr/>
        </p:nvSpPr>
        <p:spPr>
          <a:xfrm>
            <a:off x="812800" y="4820642"/>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C"/>
                </a:solidFill>
                <a:latin typeface="Roboto" pitchFamily="34" charset="0"/>
                <a:ea typeface="Roboto" pitchFamily="34" charset="-122"/>
                <a:cs typeface="Roboto" pitchFamily="34" charset="-120"/>
              </a:rPr>
              <a:t>En C la línea base también es más ancha (std de B ≈ 0.0157 contra 0.0104 en L), porque el sorteo con reposición agrega varianza.</a:t>
            </a:r>
            <a:endParaRPr lang="en-US" sz="1200" dirty="0"/>
          </a:p>
        </p:txBody>
      </p:sp>
      <p:sp>
        <p:nvSpPr>
          <p:cNvPr id="28" name="Text 25"/>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9" name="Text 26"/>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Con 7 qubits, C se vuelve inutilizable</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Publicación conjunta (D = 128): ε por copia = 0.106 (Acto I).</a:t>
            </a:r>
            <a:endParaRPr lang="en-US" sz="1800" dirty="0"/>
          </a:p>
        </p:txBody>
      </p:sp>
      <p:sp>
        <p:nvSpPr>
          <p:cNvPr id="9" name="Shape 6"/>
          <p:cNvSpPr/>
          <p:nvPr/>
        </p:nvSpPr>
        <p:spPr>
          <a:xfrm>
            <a:off x="819150" y="1863030"/>
            <a:ext cx="3416300" cy="2039441"/>
          </a:xfrm>
          <a:prstGeom prst="roundRect">
            <a:avLst>
              <a:gd name="adj" fmla="val 4670"/>
            </a:avLst>
          </a:prstGeom>
          <a:noFill/>
          <a:ln w="12700">
            <a:solidFill>
              <a:srgbClr val="3C3C3B"/>
            </a:solidFill>
            <a:prstDash val="solid"/>
          </a:ln>
        </p:spPr>
        <p:txBody>
          <a:bodyPr/>
          <a:lstStyle/>
          <a:p>
            <a:endParaRPr lang="en-CO"/>
          </a:p>
        </p:txBody>
      </p:sp>
      <p:sp>
        <p:nvSpPr>
          <p:cNvPr id="10" name="Text 7"/>
          <p:cNvSpPr/>
          <p:nvPr/>
        </p:nvSpPr>
        <p:spPr>
          <a:xfrm>
            <a:off x="1028700" y="2072580"/>
            <a:ext cx="30871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N = 1000 COPIAS</a:t>
            </a:r>
            <a:endParaRPr lang="en-US" sz="1200" dirty="0"/>
          </a:p>
        </p:txBody>
      </p:sp>
      <p:sp>
        <p:nvSpPr>
          <p:cNvPr id="11" name="Text 8"/>
          <p:cNvSpPr/>
          <p:nvPr/>
        </p:nvSpPr>
        <p:spPr>
          <a:xfrm>
            <a:off x="1028700" y="2362101"/>
            <a:ext cx="3087116"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1D1D1B"/>
                </a:solidFill>
                <a:latin typeface="DM Sans" pitchFamily="34" charset="0"/>
                <a:ea typeface="DM Sans" pitchFamily="34" charset="-122"/>
                <a:cs typeface="DM Sans" pitchFamily="34" charset="-120"/>
              </a:rPr>
              <a:t>ε = 106</a:t>
            </a:r>
            <a:endParaRPr lang="en-US" sz="4800" dirty="0"/>
          </a:p>
        </p:txBody>
      </p:sp>
      <p:sp>
        <p:nvSpPr>
          <p:cNvPr id="12" name="Text 9"/>
          <p:cNvSpPr/>
          <p:nvPr/>
        </p:nvSpPr>
        <p:spPr>
          <a:xfrm>
            <a:off x="1028700" y="3078361"/>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e¹⁰⁶ ≈ 10⁴⁶: no queda garantía.</a:t>
            </a:r>
            <a:endParaRPr lang="en-US" sz="1200" dirty="0"/>
          </a:p>
        </p:txBody>
      </p:sp>
      <p:sp>
        <p:nvSpPr>
          <p:cNvPr id="13" name="Shape 10"/>
          <p:cNvSpPr/>
          <p:nvPr/>
        </p:nvSpPr>
        <p:spPr>
          <a:xfrm>
            <a:off x="4400550" y="1863030"/>
            <a:ext cx="3416300" cy="2039441"/>
          </a:xfrm>
          <a:prstGeom prst="roundRect">
            <a:avLst>
              <a:gd name="adj" fmla="val 4670"/>
            </a:avLst>
          </a:prstGeom>
          <a:noFill/>
          <a:ln w="12700">
            <a:solidFill>
              <a:srgbClr val="3C3C3B"/>
            </a:solidFill>
            <a:prstDash val="solid"/>
          </a:ln>
        </p:spPr>
        <p:txBody>
          <a:bodyPr/>
          <a:lstStyle/>
          <a:p>
            <a:endParaRPr lang="en-CO"/>
          </a:p>
        </p:txBody>
      </p:sp>
      <p:sp>
        <p:nvSpPr>
          <p:cNvPr id="14" name="Text 11"/>
          <p:cNvSpPr/>
          <p:nvPr/>
        </p:nvSpPr>
        <p:spPr>
          <a:xfrm>
            <a:off x="4610100" y="2072580"/>
            <a:ext cx="30871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PARA Ε TOTAL ≈ 1</a:t>
            </a:r>
            <a:endParaRPr lang="en-US" sz="1200" dirty="0"/>
          </a:p>
        </p:txBody>
      </p:sp>
      <p:sp>
        <p:nvSpPr>
          <p:cNvPr id="15" name="Text 12"/>
          <p:cNvSpPr/>
          <p:nvPr/>
        </p:nvSpPr>
        <p:spPr>
          <a:xfrm>
            <a:off x="4610100" y="2362101"/>
            <a:ext cx="3087116"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1D1D1B"/>
                </a:solidFill>
                <a:latin typeface="DM Sans" pitchFamily="34" charset="0"/>
                <a:ea typeface="DM Sans" pitchFamily="34" charset="-122"/>
                <a:cs typeface="DM Sans" pitchFamily="34" charset="-120"/>
              </a:rPr>
              <a:t>N ≈ 9</a:t>
            </a:r>
            <a:endParaRPr lang="en-US" sz="4800" dirty="0"/>
          </a:p>
        </p:txBody>
      </p:sp>
      <p:sp>
        <p:nvSpPr>
          <p:cNvPr id="16" name="Text 13"/>
          <p:cNvSpPr/>
          <p:nvPr/>
        </p:nvSpPr>
        <p:spPr>
          <a:xfrm>
            <a:off x="4610100" y="3078361"/>
            <a:ext cx="30871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std(F̂) ≈ 0.33: el intervalo 0.45 ± 2·std cubre todos los valores posibles. Inútil.</a:t>
            </a:r>
            <a:endParaRPr lang="en-US" sz="1200" dirty="0"/>
          </a:p>
        </p:txBody>
      </p:sp>
      <p:sp>
        <p:nvSpPr>
          <p:cNvPr id="17" name="Shape 14"/>
          <p:cNvSpPr/>
          <p:nvPr/>
        </p:nvSpPr>
        <p:spPr>
          <a:xfrm>
            <a:off x="7975600" y="1856680"/>
            <a:ext cx="3403600" cy="2052141"/>
          </a:xfrm>
          <a:prstGeom prst="roundRect">
            <a:avLst>
              <a:gd name="adj" fmla="val 4951"/>
            </a:avLst>
          </a:prstGeom>
          <a:solidFill>
            <a:srgbClr val="FFEE00"/>
          </a:solidFill>
          <a:ln/>
        </p:spPr>
        <p:txBody>
          <a:bodyPr/>
          <a:lstStyle/>
          <a:p>
            <a:endParaRPr lang="en-CO"/>
          </a:p>
        </p:txBody>
      </p:sp>
      <p:sp>
        <p:nvSpPr>
          <p:cNvPr id="18" name="Text 15"/>
          <p:cNvSpPr/>
          <p:nvPr/>
        </p:nvSpPr>
        <p:spPr>
          <a:xfrm>
            <a:off x="8178800" y="2059880"/>
            <a:ext cx="308711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1D1B"/>
                </a:solidFill>
                <a:latin typeface="Roboto" pitchFamily="34" charset="0"/>
                <a:ea typeface="Roboto" pitchFamily="34" charset="-122"/>
                <a:cs typeface="Roboto" pitchFamily="34" charset="-120"/>
              </a:rPr>
              <a:t>A IGUAL Ε QUE L</a:t>
            </a:r>
            <a:endParaRPr lang="en-US" sz="1200" dirty="0"/>
          </a:p>
        </p:txBody>
      </p:sp>
      <p:sp>
        <p:nvSpPr>
          <p:cNvPr id="19" name="Text 16"/>
          <p:cNvSpPr/>
          <p:nvPr/>
        </p:nvSpPr>
        <p:spPr>
          <a:xfrm>
            <a:off x="8178800" y="2349401"/>
            <a:ext cx="3087116"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1D1D1B"/>
                </a:solidFill>
                <a:latin typeface="DM Sans" pitchFamily="34" charset="0"/>
                <a:ea typeface="DM Sans" pitchFamily="34" charset="-122"/>
                <a:cs typeface="DM Sans" pitchFamily="34" charset="-120"/>
              </a:rPr>
              <a:t>N ≈ 46</a:t>
            </a:r>
            <a:endParaRPr lang="en-US" sz="4800" dirty="0"/>
          </a:p>
        </p:txBody>
      </p:sp>
      <p:sp>
        <p:nvSpPr>
          <p:cNvPr id="20" name="Text 17"/>
          <p:cNvSpPr/>
          <p:nvPr/>
        </p:nvSpPr>
        <p:spPr>
          <a:xfrm>
            <a:off x="8178800" y="3065661"/>
            <a:ext cx="308711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1D1B"/>
                </a:solidFill>
                <a:latin typeface="Roboto" pitchFamily="34" charset="0"/>
                <a:ea typeface="Roboto" pitchFamily="34" charset="-122"/>
                <a:cs typeface="Roboto" pitchFamily="34" charset="-120"/>
              </a:rPr>
              <a:t>Cota de L: ln 129 ≈ 4.86. std(F̂) ≈ 0.15 contra 0.029 en L: </a:t>
            </a:r>
            <a:r>
              <a:rPr lang="en-US" sz="1200" b="1" dirty="0">
                <a:solidFill>
                  <a:srgbClr val="1D1D1B"/>
                </a:solidFill>
                <a:latin typeface="Roboto" pitchFamily="34" charset="0"/>
                <a:ea typeface="Roboto" pitchFamily="34" charset="-122"/>
                <a:cs typeface="Roboto" pitchFamily="34" charset="-120"/>
              </a:rPr>
              <a:t>L es unas 5 veces más preciso.</a:t>
            </a:r>
            <a:endParaRPr lang="en-US" sz="1200" dirty="0"/>
          </a:p>
        </p:txBody>
      </p:sp>
      <p:sp>
        <p:nvSpPr>
          <p:cNvPr id="21" name="Shape 18"/>
          <p:cNvSpPr/>
          <p:nvPr/>
        </p:nvSpPr>
        <p:spPr>
          <a:xfrm>
            <a:off x="819150" y="4169172"/>
            <a:ext cx="10553700" cy="571500"/>
          </a:xfrm>
          <a:prstGeom prst="roundRect">
            <a:avLst>
              <a:gd name="adj" fmla="val 12222"/>
            </a:avLst>
          </a:prstGeom>
          <a:noFill/>
          <a:ln w="12700">
            <a:solidFill>
              <a:srgbClr val="B9B9B5"/>
            </a:solidFill>
            <a:prstDash val="dash"/>
          </a:ln>
        </p:spPr>
        <p:txBody>
          <a:bodyPr/>
          <a:lstStyle/>
          <a:p>
            <a:endParaRPr lang="en-CO"/>
          </a:p>
        </p:txBody>
      </p:sp>
      <p:pic>
        <p:nvPicPr>
          <p:cNvPr id="22" name="Image 1" descr="Warning"/>
          <p:cNvPicPr>
            <a:picLocks noChangeAspect="1"/>
          </p:cNvPicPr>
          <p:nvPr/>
        </p:nvPicPr>
        <p:blipFill>
          <a:blip r:embed="rId4"/>
          <a:srcRect/>
          <a:stretch/>
        </p:blipFill>
        <p:spPr>
          <a:xfrm>
            <a:off x="1003300" y="4302522"/>
            <a:ext cx="304800" cy="304800"/>
          </a:xfrm>
          <a:prstGeom prst="rect">
            <a:avLst/>
          </a:prstGeom>
        </p:spPr>
      </p:pic>
      <p:sp>
        <p:nvSpPr>
          <p:cNvPr id="23" name="Text 19"/>
          <p:cNvSpPr/>
          <p:nvPr/>
        </p:nvSpPr>
        <p:spPr>
          <a:xfrm>
            <a:off x="1435100" y="4330502"/>
            <a:ext cx="1004620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C3C3B"/>
                </a:solidFill>
                <a:latin typeface="Roboto" pitchFamily="34" charset="0"/>
                <a:ea typeface="Roboto" pitchFamily="34" charset="-122"/>
                <a:cs typeface="Roboto" pitchFamily="34" charset="-120"/>
              </a:rPr>
              <a:t>Nota honesta:</a:t>
            </a:r>
            <a:r>
              <a:rPr lang="en-US" sz="1400" dirty="0">
                <a:solidFill>
                  <a:srgbClr val="3C3C3B"/>
                </a:solidFill>
                <a:latin typeface="Roboto" pitchFamily="34" charset="0"/>
                <a:ea typeface="Roboto" pitchFamily="34" charset="-122"/>
                <a:cs typeface="Roboto" pitchFamily="34" charset="-120"/>
              </a:rPr>
              <a:t> el ε de L con 7 qubits es solo la cota (ln 129). Su cálculo experimental queda fuera de alcance.</a:t>
            </a:r>
            <a:endParaRPr lang="en-US" sz="1400" dirty="0"/>
          </a:p>
        </p:txBody>
      </p:sp>
      <p:sp>
        <p:nvSpPr>
          <p:cNvPr id="24" name="Text 20"/>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5" name="Text 21"/>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Por qué escalan distinto</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Con d ≈ 1/n en C, d = 1 en L, (1 − p)/p = 1 y N = n:</a:t>
            </a:r>
            <a:endParaRPr lang="en-US" sz="1800" dirty="0"/>
          </a:p>
        </p:txBody>
      </p:sp>
      <p:sp>
        <p:nvSpPr>
          <p:cNvPr id="9" name="Shape 6"/>
          <p:cNvSpPr/>
          <p:nvPr/>
        </p:nvSpPr>
        <p:spPr>
          <a:xfrm>
            <a:off x="812800" y="1831280"/>
            <a:ext cx="5181600" cy="977900"/>
          </a:xfrm>
          <a:prstGeom prst="roundRect">
            <a:avLst>
              <a:gd name="adj" fmla="val 10390"/>
            </a:avLst>
          </a:prstGeom>
          <a:solidFill>
            <a:srgbClr val="F4F4F2"/>
          </a:solidFill>
          <a:ln/>
        </p:spPr>
        <p:txBody>
          <a:bodyPr/>
          <a:lstStyle/>
          <a:p>
            <a:endParaRPr lang="en-CO"/>
          </a:p>
        </p:txBody>
      </p:sp>
      <p:sp>
        <p:nvSpPr>
          <p:cNvPr id="10" name="Text 7"/>
          <p:cNvSpPr/>
          <p:nvPr/>
        </p:nvSpPr>
        <p:spPr>
          <a:xfrm>
            <a:off x="1066800" y="2142430"/>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293470"/>
          </a:solidFill>
          <a:ln/>
        </p:spPr>
        <p:txBody>
          <a:bodyPr wrap="square" lIns="0" tIns="0" rIns="0" bIns="0" rtlCol="0" anchor="t">
            <a:normAutofit/>
          </a:bodyPr>
          <a:lstStyle/>
          <a:p>
            <a:pPr marL="0" indent="0" algn="ctr">
              <a:lnSpc>
                <a:spcPts val="2800"/>
              </a:lnSpc>
              <a:buNone/>
            </a:pPr>
            <a:r>
              <a:rPr lang="en-US" sz="1600" b="1" dirty="0">
                <a:solidFill>
                  <a:srgbClr val="FFFFFF"/>
                </a:solidFill>
                <a:latin typeface="DM Sans" pitchFamily="34" charset="0"/>
                <a:ea typeface="DM Sans" pitchFamily="34" charset="-122"/>
                <a:cs typeface="DM Sans" pitchFamily="34" charset="-120"/>
              </a:rPr>
              <a:t>C</a:t>
            </a:r>
            <a:endParaRPr lang="en-US" sz="1600" dirty="0"/>
          </a:p>
        </p:txBody>
      </p:sp>
      <p:pic>
        <p:nvPicPr>
          <p:cNvPr id="11" name="Image 1" descr="ε total = N·ln(1 + D/n) ≈ D"/>
          <p:cNvPicPr>
            <a:picLocks noChangeAspect="1"/>
          </p:cNvPicPr>
          <p:nvPr/>
        </p:nvPicPr>
        <p:blipFill>
          <a:blip r:embed="rId4"/>
          <a:srcRect t="-158" b="-158"/>
          <a:stretch/>
        </p:blipFill>
        <p:spPr>
          <a:xfrm>
            <a:off x="1625600" y="1983680"/>
            <a:ext cx="2235200" cy="673100"/>
          </a:xfrm>
          <a:prstGeom prst="rect">
            <a:avLst/>
          </a:prstGeom>
        </p:spPr>
      </p:pic>
      <p:sp>
        <p:nvSpPr>
          <p:cNvPr id="12" name="Text 8"/>
          <p:cNvSpPr/>
          <p:nvPr/>
        </p:nvSpPr>
        <p:spPr>
          <a:xfrm>
            <a:off x="4064000" y="2213570"/>
            <a:ext cx="1727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crece con D</a:t>
            </a:r>
            <a:endParaRPr lang="en-US" sz="1200" dirty="0"/>
          </a:p>
        </p:txBody>
      </p:sp>
      <p:sp>
        <p:nvSpPr>
          <p:cNvPr id="13" name="Shape 9"/>
          <p:cNvSpPr/>
          <p:nvPr/>
        </p:nvSpPr>
        <p:spPr>
          <a:xfrm>
            <a:off x="6197600" y="1831280"/>
            <a:ext cx="5181600" cy="977900"/>
          </a:xfrm>
          <a:prstGeom prst="roundRect">
            <a:avLst>
              <a:gd name="adj" fmla="val 10390"/>
            </a:avLst>
          </a:prstGeom>
          <a:solidFill>
            <a:srgbClr val="F4F4F2"/>
          </a:solidFill>
          <a:ln/>
        </p:spPr>
        <p:txBody>
          <a:bodyPr/>
          <a:lstStyle/>
          <a:p>
            <a:endParaRPr lang="en-CO"/>
          </a:p>
        </p:txBody>
      </p:sp>
      <p:sp>
        <p:nvSpPr>
          <p:cNvPr id="14" name="Text 10"/>
          <p:cNvSpPr/>
          <p:nvPr/>
        </p:nvSpPr>
        <p:spPr>
          <a:xfrm>
            <a:off x="6451600" y="2142430"/>
            <a:ext cx="355600" cy="355600"/>
          </a:xfrm>
          <a:custGeom>
            <a:avLst/>
            <a:gdLst/>
            <a:ahLst/>
            <a:cxnLst/>
            <a:rect l="l" t="t" r="r" b="b"/>
            <a:pathLst>
              <a:path w="355600" h="355600">
                <a:moveTo>
                  <a:pt x="50800" y="0"/>
                </a:moveTo>
                <a:lnTo>
                  <a:pt x="304800" y="0"/>
                </a:lnTo>
                <a:arcTo wR="50800" hR="50800" stAng="16200000" swAng="5400000"/>
                <a:lnTo>
                  <a:pt x="355600" y="304800"/>
                </a:lnTo>
                <a:arcTo wR="50800" hR="50800" stAng="0" swAng="5400000"/>
                <a:lnTo>
                  <a:pt x="50800" y="355600"/>
                </a:lnTo>
                <a:arcTo wR="50800" hR="50800" stAng="5400000" swAng="5400000"/>
                <a:lnTo>
                  <a:pt x="0" y="50800"/>
                </a:lnTo>
                <a:arcTo wR="50800" hR="50800" stAng="10800000" swAng="5400000"/>
                <a:close/>
              </a:path>
            </a:pathLst>
          </a:custGeom>
          <a:solidFill>
            <a:srgbClr val="FFEE00"/>
          </a:solidFill>
          <a:ln/>
        </p:spPr>
        <p:txBody>
          <a:bodyPr wrap="square" lIns="0" tIns="0" rIns="0" bIns="0" rtlCol="0" anchor="t">
            <a:normAutofit/>
          </a:bodyPr>
          <a:lstStyle/>
          <a:p>
            <a:pPr marL="0" indent="0" algn="ctr">
              <a:lnSpc>
                <a:spcPts val="2800"/>
              </a:lnSpc>
              <a:buNone/>
            </a:pPr>
            <a:r>
              <a:rPr lang="en-US" sz="1600" b="1" dirty="0">
                <a:solidFill>
                  <a:srgbClr val="1D1D1B"/>
                </a:solidFill>
                <a:latin typeface="DM Sans" pitchFamily="34" charset="0"/>
                <a:ea typeface="DM Sans" pitchFamily="34" charset="-122"/>
                <a:cs typeface="DM Sans" pitchFamily="34" charset="-120"/>
              </a:rPr>
              <a:t>L</a:t>
            </a:r>
            <a:endParaRPr lang="en-US" sz="1600" dirty="0"/>
          </a:p>
        </p:txBody>
      </p:sp>
      <p:pic>
        <p:nvPicPr>
          <p:cNvPr id="15" name="Image 2" descr="ε = ln(1 + D)"/>
          <p:cNvPicPr>
            <a:picLocks noChangeAspect="1"/>
          </p:cNvPicPr>
          <p:nvPr/>
        </p:nvPicPr>
        <p:blipFill>
          <a:blip r:embed="rId5"/>
          <a:srcRect t="-430" b="-430"/>
          <a:stretch/>
        </p:blipFill>
        <p:spPr>
          <a:xfrm>
            <a:off x="7010400" y="2161480"/>
            <a:ext cx="1123950" cy="317500"/>
          </a:xfrm>
          <a:prstGeom prst="rect">
            <a:avLst/>
          </a:prstGeom>
        </p:spPr>
      </p:pic>
      <p:sp>
        <p:nvSpPr>
          <p:cNvPr id="16" name="Text 11"/>
          <p:cNvSpPr/>
          <p:nvPr/>
        </p:nvSpPr>
        <p:spPr>
          <a:xfrm>
            <a:off x="8337550" y="2213570"/>
            <a:ext cx="2871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crece con ln D</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5500" y="3050480"/>
          <a:ext cx="10553700" cy="1157883"/>
        </p:xfrm>
        <a:graphic>
          <a:graphicData uri="http://schemas.openxmlformats.org/drawingml/2006/table">
            <a:tbl>
              <a:tblPr/>
              <a:tblGrid>
                <a:gridCol w="2321814">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FFFFFF"/>
                          </a:solidFill>
                          <a:latin typeface="Roboto" pitchFamily="34" charset="0"/>
                          <a:ea typeface="Roboto" pitchFamily="34" charset="-122"/>
                          <a:cs typeface="Roboto" pitchFamily="34" charset="-120"/>
                        </a:rPr>
                        <a:t>D</a:t>
                      </a:r>
                      <a:endParaRPr lang="en-US" sz="1400" dirty="0">
                        <a:latin typeface="Roboto" charset="0"/>
                        <a:ea typeface="Roboto" charset="0"/>
                        <a:cs typeface="Robo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960"/>
                        </a:lnSpc>
                        <a:buNone/>
                      </a:pPr>
                      <a:r>
                        <a:rPr lang="en-US" sz="1400" b="1" dirty="0">
                          <a:solidFill>
                            <a:srgbClr val="FFFFFF"/>
                          </a:solidFill>
                          <a:latin typeface="Roboto" pitchFamily="34" charset="0"/>
                          <a:ea typeface="Roboto" pitchFamily="34" charset="-122"/>
                          <a:cs typeface="Roboto" pitchFamily="34" charset="-120"/>
                        </a:rPr>
                        <a:t>C: ε total ≈ D</a:t>
                      </a:r>
                      <a:endParaRPr lang="en-US" sz="1400" dirty="0">
                        <a:latin typeface="Roboto" charset="0"/>
                        <a:ea typeface="Roboto" charset="0"/>
                        <a:cs typeface="Roboto" charset="0"/>
                      </a:endParaRPr>
                    </a:p>
                  </a:txBody>
                  <a:tcPr marL="62230" marR="62230" marT="62230" marB="62230">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960"/>
                        </a:lnSpc>
                        <a:buNone/>
                      </a:pPr>
                      <a:r>
                        <a:rPr lang="en-US" sz="1400" b="1" dirty="0">
                          <a:solidFill>
                            <a:srgbClr val="FFFFFF"/>
                          </a:solidFill>
                          <a:latin typeface="Roboto" pitchFamily="34" charset="0"/>
                          <a:ea typeface="Roboto" pitchFamily="34" charset="-122"/>
                          <a:cs typeface="Roboto" pitchFamily="34" charset="-120"/>
                        </a:rPr>
                        <a:t>L: ε = ln(1 + D)</a:t>
                      </a:r>
                      <a:endParaRPr lang="en-US" sz="1400" dirty="0">
                        <a:latin typeface="Roboto" charset="0"/>
                        <a:ea typeface="Roboto" charset="0"/>
                        <a:cs typeface="Roboto" charset="0"/>
                      </a:endParaRPr>
                    </a:p>
                  </a:txBody>
                  <a:tcPr marL="62230" marR="62230" marT="62230" marB="62230">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960"/>
                        </a:lnSpc>
                        <a:buNone/>
                      </a:pPr>
                      <a:r>
                        <a:rPr lang="en-US" sz="1400" b="1" dirty="0">
                          <a:solidFill>
                            <a:srgbClr val="FFFFFF"/>
                          </a:solidFill>
                          <a:latin typeface="Roboto" pitchFamily="34" charset="0"/>
                          <a:ea typeface="Roboto" pitchFamily="34" charset="-122"/>
                          <a:cs typeface="Roboto" pitchFamily="34" charset="-120"/>
                        </a:rPr>
                        <a:t>C / L</a:t>
                      </a:r>
                      <a:endParaRPr lang="en-US" sz="1400" dirty="0">
                        <a:latin typeface="Roboto" charset="0"/>
                        <a:ea typeface="Roboto" charset="0"/>
                        <a:cs typeface="Roboto" charset="0"/>
                      </a:endParaRPr>
                    </a:p>
                  </a:txBody>
                  <a:tcPr marL="62230" marR="62230" marT="62230" marB="62230">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D1D1B"/>
                          </a:solidFill>
                          <a:latin typeface="Roboto" pitchFamily="34" charset="0"/>
                          <a:ea typeface="Roboto" pitchFamily="34" charset="-122"/>
                          <a:cs typeface="Roboto" pitchFamily="34" charset="-120"/>
                        </a:rPr>
                        <a:t>2 (1 qubit)</a:t>
                      </a:r>
                      <a:endParaRPr lang="en-US" sz="1400" dirty="0">
                        <a:latin typeface="Roboto" charset="0"/>
                        <a:ea typeface="Roboto" charset="0"/>
                        <a:cs typeface="Robo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3C3C3B"/>
                          </a:solidFill>
                          <a:latin typeface="Roboto" pitchFamily="34" charset="0"/>
                          <a:ea typeface="Roboto" pitchFamily="34" charset="-122"/>
                          <a:cs typeface="Roboto" pitchFamily="34" charset="-120"/>
                        </a:rPr>
                        <a:t>≈ 2 (con el d real: 1.13)</a:t>
                      </a:r>
                      <a:endParaRPr lang="en-US" sz="1400" dirty="0">
                        <a:latin typeface="Roboto" charset="0"/>
                        <a:ea typeface="Roboto" charset="0"/>
                        <a:cs typeface="Robo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3C3C3B"/>
                          </a:solidFill>
                          <a:latin typeface="Roboto" pitchFamily="34" charset="0"/>
                          <a:ea typeface="Roboto" pitchFamily="34" charset="-122"/>
                          <a:cs typeface="Roboto" pitchFamily="34" charset="-120"/>
                        </a:rPr>
                        <a:t>1.10</a:t>
                      </a:r>
                      <a:endParaRPr lang="en-US" sz="1400" dirty="0">
                        <a:latin typeface="Roboto" charset="0"/>
                        <a:ea typeface="Roboto" charset="0"/>
                        <a:cs typeface="Robo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3C3C3B"/>
                          </a:solidFill>
                          <a:latin typeface="Roboto" pitchFamily="34" charset="0"/>
                          <a:ea typeface="Roboto" pitchFamily="34" charset="-122"/>
                          <a:cs typeface="Roboto" pitchFamily="34" charset="-120"/>
                        </a:rPr>
                        <a:t>≈ 1–2×</a:t>
                      </a:r>
                      <a:endParaRPr lang="en-US" sz="1400" dirty="0">
                        <a:latin typeface="Roboto" charset="0"/>
                        <a:ea typeface="Roboto" charset="0"/>
                        <a:cs typeface="Robo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D1D1B"/>
                          </a:solidFill>
                          <a:latin typeface="Roboto" pitchFamily="34" charset="0"/>
                          <a:ea typeface="Roboto" pitchFamily="34" charset="-122"/>
                          <a:cs typeface="Roboto" pitchFamily="34" charset="-120"/>
                        </a:rPr>
                        <a:t>128 (7 qubits)</a:t>
                      </a:r>
                      <a:endParaRPr lang="en-US" sz="1400" dirty="0">
                        <a:latin typeface="Roboto" charset="0"/>
                        <a:ea typeface="Roboto" charset="0"/>
                        <a:cs typeface="Roboto"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960"/>
                        </a:lnSpc>
                        <a:buNone/>
                      </a:pPr>
                      <a:r>
                        <a:rPr lang="en-US" sz="1400" dirty="0">
                          <a:solidFill>
                            <a:srgbClr val="3C3C3B"/>
                          </a:solidFill>
                          <a:latin typeface="Roboto" pitchFamily="34" charset="0"/>
                          <a:ea typeface="Roboto" pitchFamily="34" charset="-122"/>
                          <a:cs typeface="Roboto" pitchFamily="34" charset="-120"/>
                        </a:rPr>
                        <a:t>≈ 120 (con el d real: 106)</a:t>
                      </a:r>
                      <a:endParaRPr lang="en-US" sz="1400" dirty="0">
                        <a:latin typeface="Roboto" charset="0"/>
                        <a:ea typeface="Roboto" charset="0"/>
                        <a:cs typeface="Roboto" charset="0"/>
                      </a:endParaRPr>
                    </a:p>
                  </a:txBody>
                  <a:tcPr marL="62230" marR="62230" marT="62230" marB="62230">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960"/>
                        </a:lnSpc>
                        <a:buNone/>
                      </a:pPr>
                      <a:r>
                        <a:rPr lang="en-US" sz="1400" dirty="0">
                          <a:solidFill>
                            <a:srgbClr val="3C3C3B"/>
                          </a:solidFill>
                          <a:latin typeface="Roboto" pitchFamily="34" charset="0"/>
                          <a:ea typeface="Roboto" pitchFamily="34" charset="-122"/>
                          <a:cs typeface="Roboto" pitchFamily="34" charset="-120"/>
                        </a:rPr>
                        <a:t>4.86 (cota)</a:t>
                      </a:r>
                      <a:endParaRPr lang="en-US" sz="1400" dirty="0">
                        <a:latin typeface="Roboto" charset="0"/>
                        <a:ea typeface="Roboto" charset="0"/>
                        <a:cs typeface="Roboto" charset="0"/>
                      </a:endParaRPr>
                    </a:p>
                  </a:txBody>
                  <a:tcPr marL="62230" marR="62230" marT="62230" marB="62230">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960"/>
                        </a:lnSpc>
                        <a:buNone/>
                      </a:pPr>
                      <a:r>
                        <a:rPr lang="en-US" sz="1400" dirty="0">
                          <a:solidFill>
                            <a:srgbClr val="293470"/>
                          </a:solidFill>
                          <a:latin typeface="Roboto" pitchFamily="34" charset="0"/>
                          <a:ea typeface="Roboto" pitchFamily="34" charset="-122"/>
                          <a:cs typeface="Roboto" pitchFamily="34" charset="-120"/>
                        </a:rPr>
                        <a:t>≈ 25×</a:t>
                      </a:r>
                      <a:endParaRPr lang="en-US" sz="1400" dirty="0">
                        <a:latin typeface="Roboto" charset="0"/>
                        <a:ea typeface="Roboto" charset="0"/>
                        <a:cs typeface="Roboto" charset="0"/>
                      </a:endParaRPr>
                    </a:p>
                  </a:txBody>
                  <a:tcPr marL="62230" marR="62230" marT="62230" marB="62230">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extLst>
                  <a:ext uri="{0D108BD9-81ED-4DB2-BD59-A6C34878D82A}">
                    <a16:rowId xmlns:a16="http://schemas.microsoft.com/office/drawing/2014/main" val="10002"/>
                  </a:ext>
                </a:extLst>
              </a:tr>
            </a:tbl>
          </a:graphicData>
        </a:graphic>
      </p:graphicFrame>
      <p:sp>
        <p:nvSpPr>
          <p:cNvPr id="18" name="Shape 12"/>
          <p:cNvSpPr/>
          <p:nvPr/>
        </p:nvSpPr>
        <p:spPr>
          <a:xfrm>
            <a:off x="812800" y="4436963"/>
            <a:ext cx="50800" cy="711200"/>
          </a:xfrm>
          <a:prstGeom prst="rect">
            <a:avLst/>
          </a:prstGeom>
          <a:solidFill>
            <a:srgbClr val="FFEE00"/>
          </a:solidFill>
          <a:ln/>
        </p:spPr>
        <p:txBody>
          <a:bodyPr/>
          <a:lstStyle/>
          <a:p>
            <a:endParaRPr lang="en-CO"/>
          </a:p>
        </p:txBody>
      </p:sp>
      <p:sp>
        <p:nvSpPr>
          <p:cNvPr id="19" name="Text 13"/>
          <p:cNvSpPr/>
          <p:nvPr/>
        </p:nvSpPr>
        <p:spPr>
          <a:xfrm>
            <a:off x="990600" y="4436963"/>
            <a:ext cx="1070025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Con D = 2ⁿ, el costo de C crece </a:t>
            </a:r>
            <a:r>
              <a:rPr lang="en-US" sz="1400" b="1" dirty="0">
                <a:solidFill>
                  <a:srgbClr val="3C3C3B"/>
                </a:solidFill>
                <a:latin typeface="Roboto" pitchFamily="34" charset="0"/>
                <a:ea typeface="Roboto" pitchFamily="34" charset="-122"/>
                <a:cs typeface="Roboto" pitchFamily="34" charset="-120"/>
              </a:rPr>
              <a:t>exponencialmente</a:t>
            </a:r>
            <a:r>
              <a:rPr lang="en-US" sz="1400" dirty="0">
                <a:solidFill>
                  <a:srgbClr val="3C3C3B"/>
                </a:solidFill>
                <a:latin typeface="Roboto" pitchFamily="34" charset="0"/>
                <a:ea typeface="Roboto" pitchFamily="34" charset="-122"/>
                <a:cs typeface="Roboto" pitchFamily="34" charset="-120"/>
              </a:rPr>
              <a:t> con el número de qubits y el de L </a:t>
            </a:r>
            <a:r>
              <a:rPr lang="en-US" sz="1400" b="1" dirty="0">
                <a:solidFill>
                  <a:srgbClr val="3C3C3B"/>
                </a:solidFill>
                <a:latin typeface="Roboto" pitchFamily="34" charset="0"/>
                <a:ea typeface="Roboto" pitchFamily="34" charset="-122"/>
                <a:cs typeface="Roboto" pitchFamily="34" charset="-120"/>
              </a:rPr>
              <a:t>linealmente</a:t>
            </a:r>
            <a:r>
              <a:rPr lang="en-US" sz="1400" dirty="0">
                <a:solidFill>
                  <a:srgbClr val="3C3C3B"/>
                </a:solidFill>
                <a:latin typeface="Roboto" pitchFamily="34" charset="0"/>
                <a:ea typeface="Roboto" pitchFamily="34" charset="-122"/>
                <a:cs typeface="Roboto" pitchFamily="34" charset="-120"/>
              </a:rPr>
              <a:t> (ln 2ⁿ = n·ln 2). Es el mismo patrón del Acto I: estado conjunto contra suma por columnas.</a:t>
            </a:r>
            <a:endParaRPr lang="en-US" sz="1400" dirty="0"/>
          </a:p>
        </p:txBody>
      </p:sp>
      <p:sp>
        <p:nvSpPr>
          <p:cNvPr id="20" name="Text 14"/>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1" name="Text 15"/>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D1D1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III</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BDBDB8"/>
                </a:solidFill>
                <a:latin typeface="Roboto" pitchFamily="34" charset="0"/>
                <a:ea typeface="Roboto" pitchFamily="34" charset="-122"/>
                <a:cs typeface="Roboto" pitchFamily="34" charset="-120"/>
              </a:rPr>
              <a:t>DÓNDE ESTÁ LA PRIVACIDAD</a:t>
            </a:r>
            <a:endParaRPr lang="en-US" sz="1200" dirty="0"/>
          </a:p>
        </p:txBody>
      </p:sp>
      <p:pic>
        <p:nvPicPr>
          <p:cNvPr id="6" name="Image 0" descr="Universidad de los Andes"/>
          <p:cNvPicPr>
            <a:picLocks noChangeAspect="1"/>
          </p:cNvPicPr>
          <p:nvPr/>
        </p:nvPicPr>
        <p:blipFill>
          <a:blip r:embed="rId3"/>
          <a:srcRect l="-349" r="-349"/>
          <a:stretch/>
        </p:blipFill>
        <p:spPr>
          <a:xfrm>
            <a:off x="10121900" y="254000"/>
            <a:ext cx="1257300" cy="393700"/>
          </a:xfrm>
          <a:prstGeom prst="rect">
            <a:avLst/>
          </a:prstGeom>
        </p:spPr>
      </p:pic>
      <p:sp>
        <p:nvSpPr>
          <p:cNvPr id="7" name="Text 4"/>
          <p:cNvSpPr/>
          <p:nvPr/>
        </p:nvSpPr>
        <p:spPr>
          <a:xfrm>
            <a:off x="812800" y="1999555"/>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FEE00"/>
                </a:solidFill>
                <a:latin typeface="Roboto" pitchFamily="34" charset="0"/>
                <a:ea typeface="Roboto" pitchFamily="34" charset="-122"/>
                <a:cs typeface="Roboto" pitchFamily="34" charset="-120"/>
              </a:rPr>
              <a:t>CUÁNDO C SIGUE SIENDO BUENO</a:t>
            </a:r>
            <a:endParaRPr lang="en-US" sz="1400" dirty="0"/>
          </a:p>
        </p:txBody>
      </p:sp>
      <p:sp>
        <p:nvSpPr>
          <p:cNvPr id="8" name="Text 5"/>
          <p:cNvSpPr>
            <a:spLocks noGrp="1"/>
          </p:cNvSpPr>
          <p:nvPr>
            <p:ph type="title"/>
          </p:nvPr>
        </p:nvSpPr>
        <p:spPr>
          <a:xfrm>
            <a:off x="812800" y="2553196"/>
            <a:ext cx="10883392" cy="1049338"/>
          </a:xfrm>
          <a:prstGeom prst="rect">
            <a:avLst/>
          </a:prstGeom>
          <a:noFill/>
          <a:ln/>
        </p:spPr>
        <p:txBody>
          <a:bodyPr wrap="square" lIns="0" tIns="0" rIns="0" bIns="0" rtlCol="0" anchor="t">
            <a:normAutofit/>
          </a:bodyPr>
          <a:lstStyle/>
          <a:p>
            <a:pPr marL="0" indent="0" algn="l">
              <a:lnSpc>
                <a:spcPts val="4032"/>
              </a:lnSpc>
              <a:buNone/>
            </a:pPr>
            <a:r>
              <a:rPr lang="en-US" sz="3600" b="1" i="0" kern="0" spc="-75" dirty="0">
                <a:solidFill>
                  <a:srgbClr val="F7F7F5"/>
                </a:solidFill>
                <a:latin typeface="DM Sans" pitchFamily="34" charset="0"/>
                <a:ea typeface="DM Sans" pitchFamily="34" charset="-122"/>
                <a:cs typeface="DM Sans" pitchFamily="34" charset="-120"/>
              </a:rPr>
              <a:t>Lo que decide no es cuántico contra clásico: es </a:t>
            </a:r>
            <a:r>
              <a:rPr lang="en-US" sz="3600" b="1" i="0" kern="0" spc="-75" dirty="0">
                <a:solidFill>
                  <a:srgbClr val="FFEE00"/>
                </a:solidFill>
                <a:latin typeface="DM Sans" pitchFamily="34" charset="0"/>
                <a:ea typeface="DM Sans" pitchFamily="34" charset="-122"/>
                <a:cs typeface="DM Sans" pitchFamily="34" charset="-120"/>
              </a:rPr>
              <a:t>cuántas copias consume</a:t>
            </a:r>
            <a:r>
              <a:rPr lang="en-US" sz="3600" b="1" i="0" kern="0" spc="-75" dirty="0">
                <a:solidFill>
                  <a:srgbClr val="F7F7F5"/>
                </a:solidFill>
                <a:latin typeface="DM Sans" pitchFamily="34" charset="0"/>
                <a:ea typeface="DM Sans" pitchFamily="34" charset="-122"/>
                <a:cs typeface="DM Sans" pitchFamily="34" charset="-120"/>
              </a:rPr>
              <a:t> quien recibe el estado.</a:t>
            </a:r>
            <a:endParaRPr lang="en-US" sz="3600" dirty="0"/>
          </a:p>
        </p:txBody>
      </p:sp>
      <p:sp>
        <p:nvSpPr>
          <p:cNvPr id="9" name="Shape 6"/>
          <p:cNvSpPr/>
          <p:nvPr/>
        </p:nvSpPr>
        <p:spPr>
          <a:xfrm>
            <a:off x="825500" y="3881934"/>
            <a:ext cx="0" cy="773311"/>
          </a:xfrm>
          <a:prstGeom prst="line">
            <a:avLst/>
          </a:prstGeom>
          <a:noFill/>
          <a:ln w="25400">
            <a:solidFill>
              <a:srgbClr val="FFEE00"/>
            </a:solidFill>
            <a:prstDash val="solid"/>
          </a:ln>
        </p:spPr>
        <p:txBody>
          <a:bodyPr/>
          <a:lstStyle/>
          <a:p>
            <a:endParaRPr lang="en-CO"/>
          </a:p>
        </p:txBody>
      </p:sp>
      <p:sp>
        <p:nvSpPr>
          <p:cNvPr id="10" name="Text 7"/>
          <p:cNvSpPr/>
          <p:nvPr/>
        </p:nvSpPr>
        <p:spPr>
          <a:xfrm>
            <a:off x="990600" y="3881934"/>
            <a:ext cx="5101590"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4D4D0"/>
                </a:solidFill>
                <a:latin typeface="Roboto" pitchFamily="34" charset="0"/>
                <a:ea typeface="Roboto" pitchFamily="34" charset="-122"/>
                <a:cs typeface="Roboto" pitchFamily="34" charset="-120"/>
              </a:rPr>
              <a:t>Si un proceso cuántico consume una sola copia de ρ″ sin decuantizar, la garantía es el ε por copia: 0.106 con 7 qubits, mucho mejor que la de L.</a:t>
            </a:r>
            <a:endParaRPr lang="en-US" sz="1400" dirty="0"/>
          </a:p>
        </p:txBody>
      </p:sp>
      <p:sp>
        <p:nvSpPr>
          <p:cNvPr id="11" name="Shape 8"/>
          <p:cNvSpPr/>
          <p:nvPr/>
        </p:nvSpPr>
        <p:spPr>
          <a:xfrm>
            <a:off x="6261100" y="3881934"/>
            <a:ext cx="0" cy="773311"/>
          </a:xfrm>
          <a:prstGeom prst="line">
            <a:avLst/>
          </a:prstGeom>
          <a:noFill/>
          <a:ln w="25400">
            <a:solidFill>
              <a:srgbClr val="6E6E6C"/>
            </a:solidFill>
            <a:prstDash val="solid"/>
          </a:ln>
        </p:spPr>
        <p:txBody>
          <a:bodyPr/>
          <a:lstStyle/>
          <a:p>
            <a:endParaRPr lang="en-CO"/>
          </a:p>
        </p:txBody>
      </p:sp>
      <p:sp>
        <p:nvSpPr>
          <p:cNvPr id="12" name="Text 9"/>
          <p:cNvSpPr/>
          <p:nvPr/>
        </p:nvSpPr>
        <p:spPr>
          <a:xfrm>
            <a:off x="6426200" y="3881934"/>
            <a:ext cx="5101590"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4D4D0"/>
                </a:solidFill>
                <a:latin typeface="Roboto" pitchFamily="34" charset="0"/>
                <a:ea typeface="Roboto" pitchFamily="34" charset="-122"/>
                <a:cs typeface="Roboto" pitchFamily="34" charset="-120"/>
              </a:rPr>
              <a:t>Un algoritmo cuántico que necesite estimar algo con precisión también consume muchas copias, y paga N·ε.</a:t>
            </a:r>
            <a:endParaRPr lang="en-US" sz="1400" dirty="0"/>
          </a:p>
        </p:txBody>
      </p:sp>
      <p:sp>
        <p:nvSpPr>
          <p:cNvPr id="13" name="Text 10"/>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9A9A96"/>
                </a:solidFill>
                <a:latin typeface="Roboto" pitchFamily="34" charset="0"/>
                <a:ea typeface="Roboto" pitchFamily="34" charset="-122"/>
                <a:cs typeface="Roboto" pitchFamily="34" charset="-120"/>
              </a:rPr>
              <a:t>Avances semana 9 · Privacidad diferencial cuántica</a:t>
            </a:r>
            <a:endParaRPr lang="en-US" sz="1200" dirty="0"/>
          </a:p>
        </p:txBody>
      </p:sp>
      <p:sp>
        <p:nvSpPr>
          <p:cNvPr id="14" name="Text 11"/>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F7F7F5"/>
                </a:solidFill>
                <a:latin typeface="Roboto" pitchFamily="34" charset="0"/>
                <a:ea typeface="Roboto" pitchFamily="34" charset="-122"/>
                <a:cs typeface="Roboto"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E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9" r="-9"/>
          <a:stretch/>
        </p:blipFill>
        <p:spPr>
          <a:xfrm>
            <a:off x="7493000" y="0"/>
            <a:ext cx="4699000" cy="6858000"/>
          </a:xfrm>
          <a:prstGeom prst="rect">
            <a:avLst/>
          </a:prstGeom>
        </p:spPr>
      </p:pic>
      <p:sp>
        <p:nvSpPr>
          <p:cNvPr id="3" name="Text 0"/>
          <p:cNvSpPr/>
          <p:nvPr/>
        </p:nvSpPr>
        <p:spPr>
          <a:xfrm>
            <a:off x="7978140" y="3937000"/>
            <a:ext cx="3401060" cy="1803400"/>
          </a:xfrm>
          <a:prstGeom prst="rect">
            <a:avLst/>
          </a:prstGeom>
          <a:noFill/>
          <a:ln/>
        </p:spPr>
        <p:txBody>
          <a:bodyPr wrap="square" lIns="0" tIns="0" rIns="0" bIns="0" rtlCol="0" anchor="t">
            <a:normAutofit/>
          </a:bodyPr>
          <a:lstStyle/>
          <a:p>
            <a:pPr marL="0" indent="0" algn="r">
              <a:lnSpc>
                <a:spcPts val="14000"/>
              </a:lnSpc>
              <a:buNone/>
            </a:pPr>
            <a:r>
              <a:rPr lang="en-US" sz="14000" b="1" dirty="0">
                <a:solidFill>
                  <a:srgbClr val="FFEE00"/>
                </a:solidFill>
                <a:latin typeface="DM Sans" pitchFamily="34" charset="0"/>
                <a:ea typeface="DM Sans" pitchFamily="34" charset="-122"/>
                <a:cs typeface="DM Sans" pitchFamily="34" charset="-120"/>
              </a:rPr>
              <a:t>IV</a:t>
            </a:r>
            <a:endParaRPr lang="en-US" sz="14000" dirty="0"/>
          </a:p>
        </p:txBody>
      </p:sp>
      <p:pic>
        <p:nvPicPr>
          <p:cNvPr id="4" name="Image 1" descr="Universidad de los Andes"/>
          <p:cNvPicPr>
            <a:picLocks noChangeAspect="1"/>
          </p:cNvPicPr>
          <p:nvPr/>
        </p:nvPicPr>
        <p:blipFill>
          <a:blip r:embed="rId4"/>
          <a:srcRect/>
          <a:stretch/>
        </p:blipFill>
        <p:spPr>
          <a:xfrm>
            <a:off x="812800" y="609600"/>
            <a:ext cx="1371600" cy="431800"/>
          </a:xfrm>
          <a:prstGeom prst="rect">
            <a:avLst/>
          </a:prstGeom>
        </p:spPr>
      </p:pic>
      <p:sp>
        <p:nvSpPr>
          <p:cNvPr id="5" name="Text 1"/>
          <p:cNvSpPr/>
          <p:nvPr/>
        </p:nvSpPr>
        <p:spPr>
          <a:xfrm>
            <a:off x="812800" y="2471440"/>
            <a:ext cx="640969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D1D1B"/>
                </a:solidFill>
                <a:latin typeface="DM Sans" pitchFamily="34" charset="0"/>
                <a:ea typeface="DM Sans" pitchFamily="34" charset="-122"/>
                <a:cs typeface="DM Sans" pitchFamily="34" charset="-120"/>
              </a:rPr>
              <a:t>ACTO IV</a:t>
            </a:r>
            <a:endParaRPr lang="en-US" sz="1400" dirty="0"/>
          </a:p>
        </p:txBody>
      </p:sp>
      <p:sp>
        <p:nvSpPr>
          <p:cNvPr id="6" name="Text 2"/>
          <p:cNvSpPr>
            <a:spLocks noGrp="1"/>
          </p:cNvSpPr>
          <p:nvPr>
            <p:ph type="title"/>
          </p:nvPr>
        </p:nvSpPr>
        <p:spPr>
          <a:xfrm>
            <a:off x="812800" y="2898080"/>
            <a:ext cx="6409690" cy="665460"/>
          </a:xfrm>
          <a:prstGeom prst="rect">
            <a:avLst/>
          </a:prstGeom>
          <a:noFill/>
          <a:ln/>
        </p:spPr>
        <p:txBody>
          <a:bodyPr wrap="square" lIns="0" tIns="0" rIns="0" bIns="0" rtlCol="0" anchor="t">
            <a:normAutofit/>
          </a:bodyPr>
          <a:lstStyle/>
          <a:p>
            <a:pPr marL="0" indent="0" algn="l">
              <a:lnSpc>
                <a:spcPts val="5040"/>
              </a:lnSpc>
              <a:buNone/>
            </a:pPr>
            <a:r>
              <a:rPr lang="en-US" sz="4800" b="1" i="0" kern="0" spc="-100" dirty="0">
                <a:solidFill>
                  <a:srgbClr val="1D1D1B"/>
                </a:solidFill>
                <a:latin typeface="DM Sans" pitchFamily="34" charset="0"/>
                <a:ea typeface="DM Sans" pitchFamily="34" charset="-122"/>
                <a:cs typeface="DM Sans" pitchFamily="34" charset="-120"/>
              </a:rPr>
              <a:t>Resultados</a:t>
            </a:r>
            <a:endParaRPr lang="en-US" sz="4800" dirty="0"/>
          </a:p>
        </p:txBody>
      </p:sp>
      <p:sp>
        <p:nvSpPr>
          <p:cNvPr id="7" name="Text 3"/>
          <p:cNvSpPr/>
          <p:nvPr/>
        </p:nvSpPr>
        <p:spPr>
          <a:xfrm>
            <a:off x="812800" y="371594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8 · El ε del diseño L en las variables categóricas</a:t>
            </a:r>
            <a:endParaRPr lang="en-US" sz="1800" dirty="0"/>
          </a:p>
        </p:txBody>
      </p:sp>
      <p:sp>
        <p:nvSpPr>
          <p:cNvPr id="8" name="Text 4"/>
          <p:cNvSpPr/>
          <p:nvPr/>
        </p:nvSpPr>
        <p:spPr>
          <a:xfrm>
            <a:off x="812800" y="408930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9 · Experimento L de collateral: teoría contra simulación</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RESULTADOS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El ε del diseño L en las variables categóricas</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Lo fija el par de categorías más separado.</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1843980"/>
          <a:ext cx="10553700" cy="2027436"/>
        </p:xfrm>
        <a:graphic>
          <a:graphicData uri="http://schemas.openxmlformats.org/drawingml/2006/table">
            <a:tbl>
              <a:tblPr/>
              <a:tblGrid>
                <a:gridCol w="2005203">
                  <a:extLst>
                    <a:ext uri="{9D8B030D-6E8A-4147-A177-3AD203B41FA5}">
                      <a16:colId xmlns:a16="http://schemas.microsoft.com/office/drawing/2014/main" val="20000"/>
                    </a:ext>
                  </a:extLst>
                </a:gridCol>
                <a:gridCol w="738759">
                  <a:extLst>
                    <a:ext uri="{9D8B030D-6E8A-4147-A177-3AD203B41FA5}">
                      <a16:colId xmlns:a16="http://schemas.microsoft.com/office/drawing/2014/main" val="20001"/>
                    </a:ext>
                  </a:extLst>
                </a:gridCol>
                <a:gridCol w="1688592">
                  <a:extLst>
                    <a:ext uri="{9D8B030D-6E8A-4147-A177-3AD203B41FA5}">
                      <a16:colId xmlns:a16="http://schemas.microsoft.com/office/drawing/2014/main" val="20002"/>
                    </a:ext>
                  </a:extLst>
                </a:gridCol>
                <a:gridCol w="1055370">
                  <a:extLst>
                    <a:ext uri="{9D8B030D-6E8A-4147-A177-3AD203B41FA5}">
                      <a16:colId xmlns:a16="http://schemas.microsoft.com/office/drawing/2014/main" val="20003"/>
                    </a:ext>
                  </a:extLst>
                </a:gridCol>
                <a:gridCol w="1583055">
                  <a:extLst>
                    <a:ext uri="{9D8B030D-6E8A-4147-A177-3AD203B41FA5}">
                      <a16:colId xmlns:a16="http://schemas.microsoft.com/office/drawing/2014/main" val="20004"/>
                    </a:ext>
                  </a:extLst>
                </a:gridCol>
                <a:gridCol w="1688592">
                  <a:extLst>
                    <a:ext uri="{9D8B030D-6E8A-4147-A177-3AD203B41FA5}">
                      <a16:colId xmlns:a16="http://schemas.microsoft.com/office/drawing/2014/main" val="20005"/>
                    </a:ext>
                  </a:extLst>
                </a:gridCol>
                <a:gridCol w="1794129">
                  <a:extLst>
                    <a:ext uri="{9D8B030D-6E8A-4147-A177-3AD203B41FA5}">
                      <a16:colId xmlns:a16="http://schemas.microsoft.com/office/drawing/2014/main" val="20006"/>
                    </a:ext>
                  </a:extLst>
                </a:gridCol>
              </a:tblGrid>
              <a:tr h="590352">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Variable</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K</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Separación del peor par</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d</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Cota (Teorema 3)</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ε experimental</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¿Se alcanza la cota?</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293470"/>
                          </a:solidFill>
                          <a:latin typeface="Roboto" pitchFamily="34" charset="0"/>
                          <a:ea typeface="Roboto" pitchFamily="34" charset="-122"/>
                          <a:cs typeface="Roboto" pitchFamily="34" charset="-120"/>
                        </a:rPr>
                        <a:t>housing</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3</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120°</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0.866</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1.0051</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0.9624</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no</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293470"/>
                          </a:solidFill>
                          <a:latin typeface="Roboto" pitchFamily="34" charset="0"/>
                          <a:ea typeface="Roboto" pitchFamily="34" charset="-122"/>
                          <a:cs typeface="Roboto" pitchFamily="34" charset="-120"/>
                        </a:rPr>
                        <a:t>collateral</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4</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180°</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1.0986</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1.0986</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sí</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293470"/>
                          </a:solidFill>
                          <a:latin typeface="Roboto" pitchFamily="34" charset="0"/>
                          <a:ea typeface="Roboto" pitchFamily="34" charset="-122"/>
                          <a:cs typeface="Roboto" pitchFamily="34" charset="-120"/>
                        </a:rPr>
                        <a:t>credit_history</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59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5</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59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144°</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59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0.951</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59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1.0654</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59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1.0494</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59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no</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59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293470"/>
                          </a:solidFill>
                          <a:latin typeface="Roboto" pitchFamily="34" charset="0"/>
                          <a:ea typeface="Roboto" pitchFamily="34" charset="-122"/>
                          <a:cs typeface="Roboto" pitchFamily="34" charset="-120"/>
                        </a:rPr>
                        <a:t>purpose</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10</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180°</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1.0986</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1.0986</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sí</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extLst>
                  <a:ext uri="{0D108BD9-81ED-4DB2-BD59-A6C34878D82A}">
                    <a16:rowId xmlns:a16="http://schemas.microsoft.com/office/drawing/2014/main" val="10004"/>
                  </a:ext>
                </a:extLst>
              </a:tr>
            </a:tbl>
          </a:graphicData>
        </a:graphic>
      </p:graphicFrame>
      <p:sp>
        <p:nvSpPr>
          <p:cNvPr id="10" name="Shape 6"/>
          <p:cNvSpPr/>
          <p:nvPr/>
        </p:nvSpPr>
        <p:spPr>
          <a:xfrm>
            <a:off x="812800" y="4100016"/>
            <a:ext cx="5833170" cy="1422202"/>
          </a:xfrm>
          <a:prstGeom prst="roundRect">
            <a:avLst>
              <a:gd name="adj" fmla="val 7144"/>
            </a:avLst>
          </a:prstGeom>
          <a:solidFill>
            <a:srgbClr val="F4F4F2"/>
          </a:solidFill>
          <a:ln/>
        </p:spPr>
        <p:txBody>
          <a:bodyPr/>
          <a:lstStyle/>
          <a:p>
            <a:endParaRPr lang="en-CO"/>
          </a:p>
        </p:txBody>
      </p:sp>
      <p:sp>
        <p:nvSpPr>
          <p:cNvPr id="11" name="Text 7"/>
          <p:cNvSpPr/>
          <p:nvPr/>
        </p:nvSpPr>
        <p:spPr>
          <a:xfrm>
            <a:off x="1016000" y="4252416"/>
            <a:ext cx="558957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Método</a:t>
            </a:r>
            <a:endParaRPr lang="en-US" sz="1400" dirty="0"/>
          </a:p>
        </p:txBody>
      </p:sp>
      <p:sp>
        <p:nvSpPr>
          <p:cNvPr id="12" name="Text 8"/>
          <p:cNvSpPr/>
          <p:nvPr/>
        </p:nvSpPr>
        <p:spPr>
          <a:xfrm>
            <a:off x="1016000" y="4516537"/>
            <a:ext cx="5589573"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Diseño L: 1 qubit por variable (D = 2), depolarizante p = 0.5, K categorías en el ecuador (φₖ = 2πk/K). Para cada par (k, j): ε experimental = máx(dPD en las dos direcciones). El ε de la variable es el máximo sobre los pares. </a:t>
            </a:r>
            <a:r>
              <a:rPr lang="en-US" sz="1200" b="1" dirty="0">
                <a:solidFill>
                  <a:srgbClr val="3C3C3B"/>
                </a:solidFill>
                <a:latin typeface="Roboto" pitchFamily="34" charset="0"/>
                <a:ea typeface="Roboto" pitchFamily="34" charset="-122"/>
                <a:cs typeface="Roboto" pitchFamily="34" charset="-120"/>
              </a:rPr>
              <a:t>En todos los pares, ε experimental ≤ cota.</a:t>
            </a:r>
            <a:endParaRPr lang="en-US" sz="1200" dirty="0"/>
          </a:p>
        </p:txBody>
      </p:sp>
      <p:sp>
        <p:nvSpPr>
          <p:cNvPr id="13" name="Shape 9"/>
          <p:cNvSpPr/>
          <p:nvPr/>
        </p:nvSpPr>
        <p:spPr>
          <a:xfrm>
            <a:off x="6798370" y="4100016"/>
            <a:ext cx="4580830" cy="1422202"/>
          </a:xfrm>
          <a:prstGeom prst="roundRect">
            <a:avLst>
              <a:gd name="adj" fmla="val 7144"/>
            </a:avLst>
          </a:prstGeom>
          <a:solidFill>
            <a:srgbClr val="F4F4F2"/>
          </a:solidFill>
          <a:ln/>
        </p:spPr>
        <p:txBody>
          <a:bodyPr/>
          <a:lstStyle/>
          <a:p>
            <a:endParaRPr lang="en-CO"/>
          </a:p>
        </p:txBody>
      </p:sp>
      <p:sp>
        <p:nvSpPr>
          <p:cNvPr id="14" name="Text 10"/>
          <p:cNvSpPr/>
          <p:nvPr/>
        </p:nvSpPr>
        <p:spPr>
          <a:xfrm>
            <a:off x="7001570" y="4252416"/>
            <a:ext cx="429966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Por qué la separación y no el par</a:t>
            </a:r>
            <a:endParaRPr lang="en-US" sz="1400" dirty="0"/>
          </a:p>
        </p:txBody>
      </p:sp>
      <p:sp>
        <p:nvSpPr>
          <p:cNvPr id="15" name="Text 11"/>
          <p:cNvSpPr/>
          <p:nvPr/>
        </p:nvSpPr>
        <p:spPr>
          <a:xfrm>
            <a:off x="7001570" y="4516537"/>
            <a:ext cx="429966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En K = 3 y K = 10 hay pares empatados, y cuál gana depende del ruido numérico de dPD.</a:t>
            </a:r>
            <a:endParaRPr lang="en-US" sz="1200" dirty="0"/>
          </a:p>
        </p:txBody>
      </p:sp>
      <p:sp>
        <p:nvSpPr>
          <p:cNvPr id="16" name="Text 12"/>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17" name="Text 13"/>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RESULTADOS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K par contra K impar</a:t>
            </a:r>
            <a:endParaRPr lang="en-US" sz="2800" dirty="0"/>
          </a:p>
        </p:txBody>
      </p:sp>
      <p:sp>
        <p:nvSpPr>
          <p:cNvPr id="8" name="Text 5"/>
          <p:cNvSpPr/>
          <p:nvPr/>
        </p:nvSpPr>
        <p:spPr>
          <a:xfrm>
            <a:off x="812800" y="1457325"/>
            <a:ext cx="355332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Dos estados del ecuador separados por Δ:</a:t>
            </a:r>
            <a:endParaRPr lang="en-US" sz="1400" dirty="0"/>
          </a:p>
        </p:txBody>
      </p:sp>
      <p:pic>
        <p:nvPicPr>
          <p:cNvPr id="9" name="Image 1" descr="|⟨ψ|φ⟩|² = cos²(Δ/2) ⇒ d = sin(Δ/2)"/>
          <p:cNvPicPr>
            <a:picLocks noChangeAspect="1"/>
          </p:cNvPicPr>
          <p:nvPr/>
        </p:nvPicPr>
        <p:blipFill>
          <a:blip r:embed="rId4"/>
          <a:srcRect l="-200" r="-200"/>
          <a:stretch/>
        </p:blipFill>
        <p:spPr>
          <a:xfrm>
            <a:off x="4366121" y="1280120"/>
            <a:ext cx="4356100" cy="603250"/>
          </a:xfrm>
          <a:prstGeom prst="rect">
            <a:avLst/>
          </a:prstGeom>
        </p:spPr>
      </p:pic>
      <p:sp>
        <p:nvSpPr>
          <p:cNvPr id="10" name="Shape 6"/>
          <p:cNvSpPr/>
          <p:nvPr/>
        </p:nvSpPr>
        <p:spPr>
          <a:xfrm>
            <a:off x="812800" y="2035770"/>
            <a:ext cx="2527300" cy="2697361"/>
          </a:xfrm>
          <a:prstGeom prst="roundRect">
            <a:avLst>
              <a:gd name="adj" fmla="val 4020"/>
            </a:avLst>
          </a:prstGeom>
          <a:solidFill>
            <a:srgbClr val="F4F4F2"/>
          </a:solidFill>
          <a:ln/>
        </p:spPr>
        <p:txBody>
          <a:bodyPr/>
          <a:lstStyle/>
          <a:p>
            <a:endParaRPr lang="en-CO"/>
          </a:p>
        </p:txBody>
      </p:sp>
      <p:pic>
        <p:nvPicPr>
          <p:cNvPr id="11" name="Image 2" descr="Ecuador con K = 3 categorías; el par más separado, a 120°, unido por una cuerda"/>
          <p:cNvPicPr>
            <a:picLocks noChangeAspect="1"/>
          </p:cNvPicPr>
          <p:nvPr/>
        </p:nvPicPr>
        <p:blipFill>
          <a:blip r:embed="rId5"/>
          <a:srcRect/>
          <a:stretch/>
        </p:blipFill>
        <p:spPr>
          <a:xfrm>
            <a:off x="1123950" y="2162770"/>
            <a:ext cx="1905000" cy="1905000"/>
          </a:xfrm>
          <a:prstGeom prst="rect">
            <a:avLst/>
          </a:prstGeom>
        </p:spPr>
      </p:pic>
      <p:sp>
        <p:nvSpPr>
          <p:cNvPr id="12" name="Text 7"/>
          <p:cNvSpPr/>
          <p:nvPr/>
        </p:nvSpPr>
        <p:spPr>
          <a:xfrm>
            <a:off x="1522571" y="4118570"/>
            <a:ext cx="1107758" cy="25648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1D1D1B"/>
                </a:solidFill>
                <a:latin typeface="Roboto" pitchFamily="34" charset="0"/>
                <a:ea typeface="Roboto" pitchFamily="34" charset="-122"/>
                <a:cs typeface="Roboto" pitchFamily="34" charset="-120"/>
              </a:rPr>
              <a:t>K = 3 · 120°</a:t>
            </a:r>
            <a:endParaRPr lang="en-US" sz="1400" dirty="0"/>
          </a:p>
        </p:txBody>
      </p:sp>
      <p:sp>
        <p:nvSpPr>
          <p:cNvPr id="13" name="Text 8"/>
          <p:cNvSpPr/>
          <p:nvPr/>
        </p:nvSpPr>
        <p:spPr>
          <a:xfrm>
            <a:off x="1322903" y="4400451"/>
            <a:ext cx="1507093" cy="2310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3C3C3B"/>
                </a:solidFill>
                <a:latin typeface="Roboto" pitchFamily="34" charset="0"/>
                <a:ea typeface="Roboto" pitchFamily="34" charset="-122"/>
                <a:cs typeface="Roboto" pitchFamily="34" charset="-120"/>
              </a:rPr>
              <a:t>0.962 &lt; cota 1.005</a:t>
            </a:r>
            <a:endParaRPr lang="en-US" sz="1200" dirty="0"/>
          </a:p>
        </p:txBody>
      </p:sp>
      <p:sp>
        <p:nvSpPr>
          <p:cNvPr id="14" name="Shape 9"/>
          <p:cNvSpPr/>
          <p:nvPr/>
        </p:nvSpPr>
        <p:spPr>
          <a:xfrm>
            <a:off x="3502025" y="2045295"/>
            <a:ext cx="2508250" cy="2678311"/>
          </a:xfrm>
          <a:prstGeom prst="roundRect">
            <a:avLst>
              <a:gd name="adj" fmla="val 3671"/>
            </a:avLst>
          </a:prstGeom>
          <a:solidFill>
            <a:srgbClr val="FFFFFF"/>
          </a:solidFill>
          <a:ln w="19050">
            <a:solidFill>
              <a:srgbClr val="1D1D1B"/>
            </a:solidFill>
            <a:prstDash val="solid"/>
          </a:ln>
        </p:spPr>
        <p:txBody>
          <a:bodyPr/>
          <a:lstStyle/>
          <a:p>
            <a:endParaRPr lang="en-CO"/>
          </a:p>
        </p:txBody>
      </p:sp>
      <p:pic>
        <p:nvPicPr>
          <p:cNvPr id="15" name="Image 3" descr="Ecuador con K = 4 categorías; el par opuesto, a 180°, unido por una cuerda"/>
          <p:cNvPicPr>
            <a:picLocks noChangeAspect="1"/>
          </p:cNvPicPr>
          <p:nvPr/>
        </p:nvPicPr>
        <p:blipFill>
          <a:blip r:embed="rId6"/>
          <a:srcRect/>
          <a:stretch/>
        </p:blipFill>
        <p:spPr>
          <a:xfrm>
            <a:off x="3803650" y="2162770"/>
            <a:ext cx="1905000" cy="1905000"/>
          </a:xfrm>
          <a:prstGeom prst="rect">
            <a:avLst/>
          </a:prstGeom>
        </p:spPr>
      </p:pic>
      <p:sp>
        <p:nvSpPr>
          <p:cNvPr id="16" name="Text 10"/>
          <p:cNvSpPr/>
          <p:nvPr/>
        </p:nvSpPr>
        <p:spPr>
          <a:xfrm>
            <a:off x="4202271" y="4118570"/>
            <a:ext cx="1107758" cy="25648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1D1D1B"/>
                </a:solidFill>
                <a:latin typeface="Roboto" pitchFamily="34" charset="0"/>
                <a:ea typeface="Roboto" pitchFamily="34" charset="-122"/>
                <a:cs typeface="Roboto" pitchFamily="34" charset="-120"/>
              </a:rPr>
              <a:t>K = 4 · 180°</a:t>
            </a:r>
            <a:endParaRPr lang="en-US" sz="1400" dirty="0"/>
          </a:p>
        </p:txBody>
      </p:sp>
      <p:sp>
        <p:nvSpPr>
          <p:cNvPr id="17" name="Text 11"/>
          <p:cNvSpPr/>
          <p:nvPr/>
        </p:nvSpPr>
        <p:spPr>
          <a:xfrm>
            <a:off x="3833902" y="4400451"/>
            <a:ext cx="1844397" cy="2310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1D1D1B"/>
                </a:solidFill>
                <a:latin typeface="Roboto" pitchFamily="34" charset="0"/>
                <a:ea typeface="Roboto" pitchFamily="34" charset="-122"/>
                <a:cs typeface="Roboto" pitchFamily="34" charset="-120"/>
              </a:rPr>
              <a:t>ln 3: la cota se alcanza</a:t>
            </a:r>
            <a:endParaRPr lang="en-US" sz="1200" dirty="0"/>
          </a:p>
        </p:txBody>
      </p:sp>
      <p:sp>
        <p:nvSpPr>
          <p:cNvPr id="18" name="Shape 12"/>
          <p:cNvSpPr/>
          <p:nvPr/>
        </p:nvSpPr>
        <p:spPr>
          <a:xfrm>
            <a:off x="6172200" y="2035770"/>
            <a:ext cx="2527300" cy="2697361"/>
          </a:xfrm>
          <a:prstGeom prst="roundRect">
            <a:avLst>
              <a:gd name="adj" fmla="val 4020"/>
            </a:avLst>
          </a:prstGeom>
          <a:solidFill>
            <a:srgbClr val="F4F4F2"/>
          </a:solidFill>
          <a:ln/>
        </p:spPr>
        <p:txBody>
          <a:bodyPr/>
          <a:lstStyle/>
          <a:p>
            <a:endParaRPr lang="en-CO"/>
          </a:p>
        </p:txBody>
      </p:sp>
      <p:pic>
        <p:nvPicPr>
          <p:cNvPr id="19" name="Image 4" descr="Ecuador con K = 5 categorías; el par más separado, a 144°, unido por una cuerda"/>
          <p:cNvPicPr>
            <a:picLocks noChangeAspect="1"/>
          </p:cNvPicPr>
          <p:nvPr/>
        </p:nvPicPr>
        <p:blipFill>
          <a:blip r:embed="rId7"/>
          <a:srcRect/>
          <a:stretch/>
        </p:blipFill>
        <p:spPr>
          <a:xfrm>
            <a:off x="6483350" y="2162770"/>
            <a:ext cx="1905000" cy="1905000"/>
          </a:xfrm>
          <a:prstGeom prst="rect">
            <a:avLst/>
          </a:prstGeom>
        </p:spPr>
      </p:pic>
      <p:sp>
        <p:nvSpPr>
          <p:cNvPr id="20" name="Text 13"/>
          <p:cNvSpPr/>
          <p:nvPr/>
        </p:nvSpPr>
        <p:spPr>
          <a:xfrm>
            <a:off x="6881971" y="4118570"/>
            <a:ext cx="1107758" cy="25648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1D1D1B"/>
                </a:solidFill>
                <a:latin typeface="Roboto" pitchFamily="34" charset="0"/>
                <a:ea typeface="Roboto" pitchFamily="34" charset="-122"/>
                <a:cs typeface="Roboto" pitchFamily="34" charset="-120"/>
              </a:rPr>
              <a:t>K = 5 · 144°</a:t>
            </a:r>
            <a:endParaRPr lang="en-US" sz="1400" dirty="0"/>
          </a:p>
        </p:txBody>
      </p:sp>
      <p:sp>
        <p:nvSpPr>
          <p:cNvPr id="21" name="Text 14"/>
          <p:cNvSpPr/>
          <p:nvPr/>
        </p:nvSpPr>
        <p:spPr>
          <a:xfrm>
            <a:off x="6682303" y="4400451"/>
            <a:ext cx="1507093" cy="2310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3C3C3B"/>
                </a:solidFill>
                <a:latin typeface="Roboto" pitchFamily="34" charset="0"/>
                <a:ea typeface="Roboto" pitchFamily="34" charset="-122"/>
                <a:cs typeface="Roboto" pitchFamily="34" charset="-120"/>
              </a:rPr>
              <a:t>1.049 &lt; cota 1.065</a:t>
            </a:r>
            <a:endParaRPr lang="en-US" sz="1200" dirty="0"/>
          </a:p>
        </p:txBody>
      </p:sp>
      <p:sp>
        <p:nvSpPr>
          <p:cNvPr id="22" name="Shape 15"/>
          <p:cNvSpPr/>
          <p:nvPr/>
        </p:nvSpPr>
        <p:spPr>
          <a:xfrm>
            <a:off x="8861425" y="2045295"/>
            <a:ext cx="2508250" cy="2678311"/>
          </a:xfrm>
          <a:prstGeom prst="roundRect">
            <a:avLst>
              <a:gd name="adj" fmla="val 3671"/>
            </a:avLst>
          </a:prstGeom>
          <a:solidFill>
            <a:srgbClr val="FFFFFF"/>
          </a:solidFill>
          <a:ln w="19050">
            <a:solidFill>
              <a:srgbClr val="1D1D1B"/>
            </a:solidFill>
            <a:prstDash val="solid"/>
          </a:ln>
        </p:spPr>
        <p:txBody>
          <a:bodyPr/>
          <a:lstStyle/>
          <a:p>
            <a:endParaRPr lang="en-CO"/>
          </a:p>
        </p:txBody>
      </p:sp>
      <p:pic>
        <p:nvPicPr>
          <p:cNvPr id="23" name="Image 5" descr="Ecuador con K = 10 categorías; el par opuesto, a 180°, unido por una cuerda"/>
          <p:cNvPicPr>
            <a:picLocks noChangeAspect="1"/>
          </p:cNvPicPr>
          <p:nvPr/>
        </p:nvPicPr>
        <p:blipFill>
          <a:blip r:embed="rId8"/>
          <a:srcRect/>
          <a:stretch/>
        </p:blipFill>
        <p:spPr>
          <a:xfrm>
            <a:off x="9163050" y="2162770"/>
            <a:ext cx="1905000" cy="1905000"/>
          </a:xfrm>
          <a:prstGeom prst="rect">
            <a:avLst/>
          </a:prstGeom>
        </p:spPr>
      </p:pic>
      <p:sp>
        <p:nvSpPr>
          <p:cNvPr id="24" name="Text 16"/>
          <p:cNvSpPr/>
          <p:nvPr/>
        </p:nvSpPr>
        <p:spPr>
          <a:xfrm>
            <a:off x="9500364" y="4118570"/>
            <a:ext cx="1230273" cy="25648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1D1D1B"/>
                </a:solidFill>
                <a:latin typeface="Roboto" pitchFamily="34" charset="0"/>
                <a:ea typeface="Roboto" pitchFamily="34" charset="-122"/>
                <a:cs typeface="Roboto" pitchFamily="34" charset="-120"/>
              </a:rPr>
              <a:t>K = 10 · 180°</a:t>
            </a:r>
            <a:endParaRPr lang="en-US" sz="1400" dirty="0"/>
          </a:p>
        </p:txBody>
      </p:sp>
      <p:sp>
        <p:nvSpPr>
          <p:cNvPr id="25" name="Text 17"/>
          <p:cNvSpPr/>
          <p:nvPr/>
        </p:nvSpPr>
        <p:spPr>
          <a:xfrm>
            <a:off x="9193302" y="4400451"/>
            <a:ext cx="1844397" cy="2310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1D1D1B"/>
                </a:solidFill>
                <a:latin typeface="Roboto" pitchFamily="34" charset="0"/>
                <a:ea typeface="Roboto" pitchFamily="34" charset="-122"/>
                <a:cs typeface="Roboto" pitchFamily="34" charset="-120"/>
              </a:rPr>
              <a:t>ln 3: la cota se alcanza</a:t>
            </a:r>
            <a:endParaRPr lang="en-US" sz="1200" dirty="0"/>
          </a:p>
        </p:txBody>
      </p:sp>
      <p:sp>
        <p:nvSpPr>
          <p:cNvPr id="26" name="Shape 18"/>
          <p:cNvSpPr/>
          <p:nvPr/>
        </p:nvSpPr>
        <p:spPr>
          <a:xfrm>
            <a:off x="831850" y="4885531"/>
            <a:ext cx="0" cy="426641"/>
          </a:xfrm>
          <a:prstGeom prst="line">
            <a:avLst/>
          </a:prstGeom>
          <a:noFill/>
          <a:ln w="38100">
            <a:solidFill>
              <a:srgbClr val="293470"/>
            </a:solidFill>
            <a:prstDash val="solid"/>
          </a:ln>
        </p:spPr>
        <p:txBody>
          <a:bodyPr/>
          <a:lstStyle/>
          <a:p>
            <a:endParaRPr lang="en-CO"/>
          </a:p>
        </p:txBody>
      </p:sp>
      <p:sp>
        <p:nvSpPr>
          <p:cNvPr id="27" name="Text 19"/>
          <p:cNvSpPr/>
          <p:nvPr/>
        </p:nvSpPr>
        <p:spPr>
          <a:xfrm>
            <a:off x="977900" y="4885531"/>
            <a:ext cx="51146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Opuestos (180°) = ortogonales: d = 1 y hay una medición que los separa perfectamente antes del ruido. Por eso ahí la cota se alcanza.</a:t>
            </a:r>
            <a:endParaRPr lang="en-US" sz="1200" dirty="0"/>
          </a:p>
        </p:txBody>
      </p:sp>
      <p:sp>
        <p:nvSpPr>
          <p:cNvPr id="28" name="Shape 20"/>
          <p:cNvSpPr/>
          <p:nvPr/>
        </p:nvSpPr>
        <p:spPr>
          <a:xfrm>
            <a:off x="6267450" y="4885531"/>
            <a:ext cx="0" cy="426641"/>
          </a:xfrm>
          <a:prstGeom prst="line">
            <a:avLst/>
          </a:prstGeom>
          <a:noFill/>
          <a:ln w="38100">
            <a:solidFill>
              <a:srgbClr val="FFEE00"/>
            </a:solidFill>
            <a:prstDash val="solid"/>
          </a:ln>
        </p:spPr>
        <p:txBody>
          <a:bodyPr/>
          <a:lstStyle/>
          <a:p>
            <a:endParaRPr lang="en-CO"/>
          </a:p>
        </p:txBody>
      </p:sp>
      <p:sp>
        <p:nvSpPr>
          <p:cNvPr id="29" name="Text 21"/>
          <p:cNvSpPr/>
          <p:nvPr/>
        </p:nvSpPr>
        <p:spPr>
          <a:xfrm>
            <a:off x="6413500" y="4885531"/>
            <a:ext cx="511467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K par: K/2 pasos de 2π/K dan exactamente π. K impar: el máximo es (K − 1)/K · 180°. Con K = 21 ya son 171.4° y el ε tiende a ln 3.</a:t>
            </a:r>
            <a:endParaRPr lang="en-US" sz="1200" dirty="0"/>
          </a:p>
        </p:txBody>
      </p:sp>
      <p:sp>
        <p:nvSpPr>
          <p:cNvPr id="30" name="Text 22"/>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31" name="Text 23"/>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RESULTADOS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Privacidad contra utilidad</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La privacidad la fija el par más separado; la utilidad, los pares vecinos (separación 360°/K).</a:t>
            </a:r>
            <a:endParaRPr lang="en-US" sz="1800" dirty="0"/>
          </a:p>
        </p:txBody>
      </p:sp>
      <p:sp>
        <p:nvSpPr>
          <p:cNvPr id="9" name="Shape 6"/>
          <p:cNvSpPr/>
          <p:nvPr/>
        </p:nvSpPr>
        <p:spPr>
          <a:xfrm>
            <a:off x="812800" y="1831280"/>
            <a:ext cx="5181600" cy="2260600"/>
          </a:xfrm>
          <a:prstGeom prst="roundRect">
            <a:avLst>
              <a:gd name="adj" fmla="val 4494"/>
            </a:avLst>
          </a:prstGeom>
          <a:solidFill>
            <a:srgbClr val="F4F4F2"/>
          </a:solidFill>
          <a:ln/>
        </p:spPr>
        <p:txBody>
          <a:bodyPr/>
          <a:lstStyle/>
          <a:p>
            <a:endParaRPr lang="en-CO"/>
          </a:p>
        </p:txBody>
      </p:sp>
      <p:pic>
        <p:nvPicPr>
          <p:cNvPr id="10" name="Image 1" descr="Ecuador con K = 4 categorías; dos vecinas separadas 90° marcadas con un arco"/>
          <p:cNvPicPr>
            <a:picLocks noChangeAspect="1"/>
          </p:cNvPicPr>
          <p:nvPr/>
        </p:nvPicPr>
        <p:blipFill>
          <a:blip r:embed="rId4"/>
          <a:srcRect/>
          <a:stretch/>
        </p:blipFill>
        <p:spPr>
          <a:xfrm>
            <a:off x="1041400" y="2009080"/>
            <a:ext cx="1905000" cy="1905000"/>
          </a:xfrm>
          <a:prstGeom prst="rect">
            <a:avLst/>
          </a:prstGeom>
        </p:spPr>
      </p:pic>
      <p:sp>
        <p:nvSpPr>
          <p:cNvPr id="11" name="Text 7"/>
          <p:cNvSpPr/>
          <p:nvPr/>
        </p:nvSpPr>
        <p:spPr>
          <a:xfrm>
            <a:off x="3149600" y="2202259"/>
            <a:ext cx="269468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collateral</a:t>
            </a:r>
            <a:r>
              <a:rPr lang="en-US" sz="1400" b="1" dirty="0">
                <a:solidFill>
                  <a:srgbClr val="1D1D1B"/>
                </a:solidFill>
                <a:latin typeface="Roboto" pitchFamily="34" charset="0"/>
                <a:ea typeface="Roboto" pitchFamily="34" charset="-122"/>
                <a:cs typeface="Roboto" pitchFamily="34" charset="-120"/>
              </a:rPr>
              <a:t> · K = 4</a:t>
            </a:r>
            <a:endParaRPr lang="en-US" sz="1400" dirty="0"/>
          </a:p>
        </p:txBody>
      </p:sp>
      <p:sp>
        <p:nvSpPr>
          <p:cNvPr id="12" name="Text 8"/>
          <p:cNvSpPr/>
          <p:nvPr/>
        </p:nvSpPr>
        <p:spPr>
          <a:xfrm>
            <a:off x="3149600" y="2540000"/>
            <a:ext cx="269468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6E6C"/>
                </a:solidFill>
                <a:latin typeface="Roboto" pitchFamily="34" charset="0"/>
                <a:ea typeface="Roboto" pitchFamily="34" charset="-122"/>
                <a:cs typeface="Roboto" pitchFamily="34" charset="-120"/>
              </a:rPr>
              <a:t>PRIVACIDAD</a:t>
            </a:r>
            <a:endParaRPr lang="en-US" sz="1200" dirty="0"/>
          </a:p>
        </p:txBody>
      </p:sp>
      <p:sp>
        <p:nvSpPr>
          <p:cNvPr id="13" name="Text 9"/>
          <p:cNvSpPr/>
          <p:nvPr/>
        </p:nvSpPr>
        <p:spPr>
          <a:xfrm>
            <a:off x="3149600" y="2766020"/>
            <a:ext cx="2694686"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1D1B"/>
                </a:solidFill>
                <a:latin typeface="DM Sans" pitchFamily="34" charset="0"/>
                <a:ea typeface="DM Sans" pitchFamily="34" charset="-122"/>
                <a:cs typeface="DM Sans" pitchFamily="34" charset="-120"/>
              </a:rPr>
              <a:t>ε = ln 3 ≈ 1.10</a:t>
            </a:r>
            <a:endParaRPr lang="en-US" sz="1800" dirty="0"/>
          </a:p>
        </p:txBody>
      </p:sp>
      <p:sp>
        <p:nvSpPr>
          <p:cNvPr id="14" name="Text 10"/>
          <p:cNvSpPr/>
          <p:nvPr/>
        </p:nvSpPr>
        <p:spPr>
          <a:xfrm>
            <a:off x="3149600" y="3174901"/>
            <a:ext cx="269468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6E6C"/>
                </a:solidFill>
                <a:latin typeface="Roboto" pitchFamily="34" charset="0"/>
                <a:ea typeface="Roboto" pitchFamily="34" charset="-122"/>
                <a:cs typeface="Roboto" pitchFamily="34" charset="-120"/>
              </a:rPr>
              <a:t>UTILIDAD</a:t>
            </a:r>
            <a:endParaRPr lang="en-US" sz="1200" dirty="0"/>
          </a:p>
        </p:txBody>
      </p:sp>
      <p:sp>
        <p:nvSpPr>
          <p:cNvPr id="15" name="Text 11"/>
          <p:cNvSpPr/>
          <p:nvPr/>
        </p:nvSpPr>
        <p:spPr>
          <a:xfrm>
            <a:off x="3149600" y="3400921"/>
            <a:ext cx="2694686"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1D1B"/>
                </a:solidFill>
                <a:latin typeface="DM Sans" pitchFamily="34" charset="0"/>
                <a:ea typeface="DM Sans" pitchFamily="34" charset="-122"/>
                <a:cs typeface="DM Sans" pitchFamily="34" charset="-120"/>
              </a:rPr>
              <a:t>vecinas a 90°</a:t>
            </a:r>
            <a:endParaRPr lang="en-US" sz="1800" dirty="0"/>
          </a:p>
        </p:txBody>
      </p:sp>
      <p:sp>
        <p:nvSpPr>
          <p:cNvPr id="16" name="Shape 12"/>
          <p:cNvSpPr/>
          <p:nvPr/>
        </p:nvSpPr>
        <p:spPr>
          <a:xfrm>
            <a:off x="6197600" y="1831280"/>
            <a:ext cx="5181600" cy="2260600"/>
          </a:xfrm>
          <a:prstGeom prst="roundRect">
            <a:avLst>
              <a:gd name="adj" fmla="val 4494"/>
            </a:avLst>
          </a:prstGeom>
          <a:solidFill>
            <a:srgbClr val="F4F4F2"/>
          </a:solidFill>
          <a:ln/>
        </p:spPr>
        <p:txBody>
          <a:bodyPr/>
          <a:lstStyle/>
          <a:p>
            <a:endParaRPr lang="en-CO"/>
          </a:p>
        </p:txBody>
      </p:sp>
      <p:pic>
        <p:nvPicPr>
          <p:cNvPr id="17" name="Image 2" descr="Ecuador con K = 10 categorías; dos vecinas separadas 36° marcadas con un arco"/>
          <p:cNvPicPr>
            <a:picLocks noChangeAspect="1"/>
          </p:cNvPicPr>
          <p:nvPr/>
        </p:nvPicPr>
        <p:blipFill>
          <a:blip r:embed="rId5"/>
          <a:srcRect/>
          <a:stretch/>
        </p:blipFill>
        <p:spPr>
          <a:xfrm>
            <a:off x="6426200" y="2009080"/>
            <a:ext cx="1905000" cy="1905000"/>
          </a:xfrm>
          <a:prstGeom prst="rect">
            <a:avLst/>
          </a:prstGeom>
        </p:spPr>
      </p:pic>
      <p:sp>
        <p:nvSpPr>
          <p:cNvPr id="18" name="Text 13"/>
          <p:cNvSpPr/>
          <p:nvPr/>
        </p:nvSpPr>
        <p:spPr>
          <a:xfrm>
            <a:off x="8534400" y="2202259"/>
            <a:ext cx="269468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93470"/>
                </a:solidFill>
                <a:latin typeface="Roboto" pitchFamily="34" charset="0"/>
                <a:ea typeface="Roboto" pitchFamily="34" charset="-122"/>
                <a:cs typeface="Roboto" pitchFamily="34" charset="-120"/>
              </a:rPr>
              <a:t>purpose</a:t>
            </a:r>
            <a:r>
              <a:rPr lang="en-US" sz="1400" b="1" dirty="0">
                <a:solidFill>
                  <a:srgbClr val="1D1D1B"/>
                </a:solidFill>
                <a:latin typeface="Roboto" pitchFamily="34" charset="0"/>
                <a:ea typeface="Roboto" pitchFamily="34" charset="-122"/>
                <a:cs typeface="Roboto" pitchFamily="34" charset="-120"/>
              </a:rPr>
              <a:t> · K = 10</a:t>
            </a:r>
            <a:endParaRPr lang="en-US" sz="1400" dirty="0"/>
          </a:p>
        </p:txBody>
      </p:sp>
      <p:sp>
        <p:nvSpPr>
          <p:cNvPr id="19" name="Text 14"/>
          <p:cNvSpPr/>
          <p:nvPr/>
        </p:nvSpPr>
        <p:spPr>
          <a:xfrm>
            <a:off x="8534400" y="2540000"/>
            <a:ext cx="269468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6E6C"/>
                </a:solidFill>
                <a:latin typeface="Roboto" pitchFamily="34" charset="0"/>
                <a:ea typeface="Roboto" pitchFamily="34" charset="-122"/>
                <a:cs typeface="Roboto" pitchFamily="34" charset="-120"/>
              </a:rPr>
              <a:t>PRIVACIDAD</a:t>
            </a:r>
            <a:endParaRPr lang="en-US" sz="1200" dirty="0"/>
          </a:p>
        </p:txBody>
      </p:sp>
      <p:sp>
        <p:nvSpPr>
          <p:cNvPr id="20" name="Text 15"/>
          <p:cNvSpPr/>
          <p:nvPr/>
        </p:nvSpPr>
        <p:spPr>
          <a:xfrm>
            <a:off x="8534400" y="2766020"/>
            <a:ext cx="2694686"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1D1B"/>
                </a:solidFill>
                <a:latin typeface="DM Sans" pitchFamily="34" charset="0"/>
                <a:ea typeface="DM Sans" pitchFamily="34" charset="-122"/>
                <a:cs typeface="DM Sans" pitchFamily="34" charset="-120"/>
              </a:rPr>
              <a:t>ε = ln 3 ≈ 1.10</a:t>
            </a:r>
            <a:endParaRPr lang="en-US" sz="1800" dirty="0"/>
          </a:p>
        </p:txBody>
      </p:sp>
      <p:sp>
        <p:nvSpPr>
          <p:cNvPr id="21" name="Text 16"/>
          <p:cNvSpPr/>
          <p:nvPr/>
        </p:nvSpPr>
        <p:spPr>
          <a:xfrm>
            <a:off x="8534400" y="3174901"/>
            <a:ext cx="269468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6E6C"/>
                </a:solidFill>
                <a:latin typeface="Roboto" pitchFamily="34" charset="0"/>
                <a:ea typeface="Roboto" pitchFamily="34" charset="-122"/>
                <a:cs typeface="Roboto" pitchFamily="34" charset="-120"/>
              </a:rPr>
              <a:t>UTILIDAD</a:t>
            </a:r>
            <a:endParaRPr lang="en-US" sz="1200" dirty="0"/>
          </a:p>
        </p:txBody>
      </p:sp>
      <p:sp>
        <p:nvSpPr>
          <p:cNvPr id="22" name="Text 17"/>
          <p:cNvSpPr/>
          <p:nvPr/>
        </p:nvSpPr>
        <p:spPr>
          <a:xfrm>
            <a:off x="8534400" y="3400921"/>
            <a:ext cx="2694686"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1D1B"/>
                </a:solidFill>
                <a:latin typeface="DM Sans" pitchFamily="34" charset="0"/>
                <a:ea typeface="DM Sans" pitchFamily="34" charset="-122"/>
                <a:cs typeface="DM Sans" pitchFamily="34" charset="-120"/>
              </a:rPr>
              <a:t>vecinas a 36°</a:t>
            </a:r>
            <a:endParaRPr lang="en-US" sz="1800" dirty="0"/>
          </a:p>
        </p:txBody>
      </p:sp>
      <p:sp>
        <p:nvSpPr>
          <p:cNvPr id="23" name="Shape 18"/>
          <p:cNvSpPr/>
          <p:nvPr/>
        </p:nvSpPr>
        <p:spPr>
          <a:xfrm>
            <a:off x="831850" y="4320480"/>
            <a:ext cx="0" cy="746522"/>
          </a:xfrm>
          <a:prstGeom prst="line">
            <a:avLst/>
          </a:prstGeom>
          <a:noFill/>
          <a:ln w="38100">
            <a:solidFill>
              <a:srgbClr val="FFEE00"/>
            </a:solidFill>
            <a:prstDash val="solid"/>
          </a:ln>
        </p:spPr>
        <p:txBody>
          <a:bodyPr/>
          <a:lstStyle/>
          <a:p>
            <a:endParaRPr lang="en-CO"/>
          </a:p>
        </p:txBody>
      </p:sp>
      <p:sp>
        <p:nvSpPr>
          <p:cNvPr id="24" name="Text 19"/>
          <p:cNvSpPr/>
          <p:nvPr/>
        </p:nvSpPr>
        <p:spPr>
          <a:xfrm>
            <a:off x="977900" y="4320480"/>
            <a:ext cx="519969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Más categorías en un qubit </a:t>
            </a:r>
            <a:r>
              <a:rPr lang="en-US" sz="1400" b="1" dirty="0">
                <a:solidFill>
                  <a:srgbClr val="3C3C3B"/>
                </a:solidFill>
                <a:latin typeface="Roboto" pitchFamily="34" charset="0"/>
                <a:ea typeface="Roboto" pitchFamily="34" charset="-122"/>
                <a:cs typeface="Roboto" pitchFamily="34" charset="-120"/>
              </a:rPr>
              <a:t>no cambia el ε</a:t>
            </a:r>
            <a:r>
              <a:rPr lang="en-US" sz="1400" dirty="0">
                <a:solidFill>
                  <a:srgbClr val="3C3C3B"/>
                </a:solidFill>
                <a:latin typeface="Roboto" pitchFamily="34" charset="0"/>
                <a:ea typeface="Roboto" pitchFamily="34" charset="-122"/>
                <a:cs typeface="Roboto" pitchFamily="34" charset="-120"/>
              </a:rPr>
              <a:t>, pero empeora la lectura: baja la probabilidad de acertar la categoría. Misma privacidad, peor utilidad.</a:t>
            </a:r>
            <a:endParaRPr lang="en-US" sz="1400" dirty="0"/>
          </a:p>
        </p:txBody>
      </p:sp>
      <p:sp>
        <p:nvSpPr>
          <p:cNvPr id="25" name="Text 20"/>
          <p:cNvSpPr/>
          <p:nvPr/>
        </p:nvSpPr>
        <p:spPr>
          <a:xfrm>
            <a:off x="6330950" y="4345880"/>
            <a:ext cx="5199698" cy="7465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C"/>
                </a:solidFill>
                <a:latin typeface="Roboto" pitchFamily="34" charset="0"/>
                <a:ea typeface="Roboto" pitchFamily="34" charset="-122"/>
                <a:cs typeface="Roboto" pitchFamily="34" charset="-120"/>
              </a:rPr>
              <a:t>Entre vecinas no existe una medición que las separe perfectamente, y el ε real queda bajo la cota: a 90° en </a:t>
            </a:r>
            <a:r>
              <a:rPr lang="en-US" sz="1200" dirty="0">
                <a:solidFill>
                  <a:srgbClr val="293470"/>
                </a:solidFill>
                <a:latin typeface="Roboto" pitchFamily="34" charset="0"/>
                <a:ea typeface="Roboto" pitchFamily="34" charset="-122"/>
                <a:cs typeface="Roboto" pitchFamily="34" charset="-120"/>
              </a:rPr>
              <a:t>collateral</a:t>
            </a:r>
            <a:r>
              <a:rPr lang="en-US" sz="1200" dirty="0">
                <a:solidFill>
                  <a:srgbClr val="6E6E6C"/>
                </a:solidFill>
                <a:latin typeface="Roboto" pitchFamily="34" charset="0"/>
                <a:ea typeface="Roboto" pitchFamily="34" charset="-122"/>
                <a:cs typeface="Roboto" pitchFamily="34" charset="-120"/>
              </a:rPr>
              <a:t>, 0.7954 contra 0.8814.</a:t>
            </a:r>
            <a:endParaRPr lang="en-US" sz="1200" dirty="0"/>
          </a:p>
        </p:txBody>
      </p:sp>
      <p:sp>
        <p:nvSpPr>
          <p:cNvPr id="26" name="Text 21"/>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7" name="Text 22"/>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RESULTADOS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Experimento L de collateral</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Cómo se simuló, y qué se comprobó antes de mirar resultados.</a:t>
            </a:r>
            <a:endParaRPr lang="en-US" sz="1800" dirty="0"/>
          </a:p>
        </p:txBody>
      </p:sp>
      <p:sp>
        <p:nvSpPr>
          <p:cNvPr id="9" name="Text 6"/>
          <p:cNvSpPr/>
          <p:nvPr/>
        </p:nvSpPr>
        <p:spPr>
          <a:xfrm>
            <a:off x="812800" y="1856680"/>
            <a:ext cx="60695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IMPLEMENTACIÓN</a:t>
            </a:r>
            <a:endParaRPr lang="en-US" sz="1200" dirty="0"/>
          </a:p>
        </p:txBody>
      </p:sp>
      <p:sp>
        <p:nvSpPr>
          <p:cNvPr id="10" name="Text 7"/>
          <p:cNvSpPr/>
          <p:nvPr/>
        </p:nvSpPr>
        <p:spPr>
          <a:xfrm>
            <a:off x="812800" y="220970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1</a:t>
            </a:r>
            <a:endParaRPr lang="en-US" sz="1200" dirty="0"/>
          </a:p>
        </p:txBody>
      </p:sp>
      <p:sp>
        <p:nvSpPr>
          <p:cNvPr id="11" name="Text 8"/>
          <p:cNvSpPr/>
          <p:nvPr/>
        </p:nvSpPr>
        <p:spPr>
          <a:xfrm>
            <a:off x="1219200" y="2209701"/>
            <a:ext cx="56509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1 qubit por persona: H + RZ(2πk/4).</a:t>
            </a:r>
            <a:endParaRPr lang="en-US" sz="1400" dirty="0"/>
          </a:p>
        </p:txBody>
      </p:sp>
      <p:sp>
        <p:nvSpPr>
          <p:cNvPr id="12" name="Text 9"/>
          <p:cNvSpPr/>
          <p:nvPr/>
        </p:nvSpPr>
        <p:spPr>
          <a:xfrm>
            <a:off x="812800" y="262880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2</a:t>
            </a:r>
            <a:endParaRPr lang="en-US" sz="1200" dirty="0"/>
          </a:p>
        </p:txBody>
      </p:sp>
      <p:sp>
        <p:nvSpPr>
          <p:cNvPr id="13" name="Text 10"/>
          <p:cNvSpPr/>
          <p:nvPr/>
        </p:nvSpPr>
        <p:spPr>
          <a:xfrm>
            <a:off x="1219200" y="2628801"/>
            <a:ext cx="56509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Depolarizante con p = 0.5.</a:t>
            </a:r>
            <a:endParaRPr lang="en-US" sz="1400" dirty="0"/>
          </a:p>
        </p:txBody>
      </p:sp>
      <p:sp>
        <p:nvSpPr>
          <p:cNvPr id="14" name="Text 11"/>
          <p:cNvSpPr/>
          <p:nvPr/>
        </p:nvSpPr>
        <p:spPr>
          <a:xfrm>
            <a:off x="812800" y="304790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3</a:t>
            </a:r>
            <a:endParaRPr lang="en-US" sz="1200" dirty="0"/>
          </a:p>
        </p:txBody>
      </p:sp>
      <p:sp>
        <p:nvSpPr>
          <p:cNvPr id="15" name="Text 12"/>
          <p:cNvSpPr/>
          <p:nvPr/>
        </p:nvSpPr>
        <p:spPr>
          <a:xfrm>
            <a:off x="1219200" y="3047901"/>
            <a:ext cx="56509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Probabilidad de «+» por la regla de Born:</a:t>
            </a:r>
            <a:endParaRPr lang="en-US" sz="1400" dirty="0"/>
          </a:p>
        </p:txBody>
      </p:sp>
      <p:pic>
        <p:nvPicPr>
          <p:cNvPr id="16" name="Image 1" descr="Pᵢ(+) = ⟨+| ρᵢ″ |+⟩"/>
          <p:cNvPicPr>
            <a:picLocks noChangeAspect="1"/>
          </p:cNvPicPr>
          <p:nvPr/>
        </p:nvPicPr>
        <p:blipFill>
          <a:blip r:embed="rId4"/>
          <a:srcRect t="-50" b="-50"/>
          <a:stretch/>
        </p:blipFill>
        <p:spPr>
          <a:xfrm>
            <a:off x="1219200" y="3347541"/>
            <a:ext cx="2120900" cy="330200"/>
          </a:xfrm>
          <a:prstGeom prst="rect">
            <a:avLst/>
          </a:prstGeom>
        </p:spPr>
      </p:pic>
      <p:sp>
        <p:nvSpPr>
          <p:cNvPr id="17" name="Text 13"/>
          <p:cNvSpPr/>
          <p:nvPr/>
        </p:nvSpPr>
        <p:spPr>
          <a:xfrm>
            <a:off x="812800" y="381744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4</a:t>
            </a:r>
            <a:endParaRPr lang="en-US" sz="1200" dirty="0"/>
          </a:p>
        </p:txBody>
      </p:sp>
      <p:sp>
        <p:nvSpPr>
          <p:cNvPr id="18" name="Text 14"/>
          <p:cNvSpPr/>
          <p:nvPr/>
        </p:nvSpPr>
        <p:spPr>
          <a:xfrm>
            <a:off x="1219200" y="3817441"/>
            <a:ext cx="56509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Muestreo de 2000 × 1000 mediciones con numpy (semilla 8; la misma matriz de uniformes para B y C).</a:t>
            </a:r>
            <a:endParaRPr lang="en-US" sz="1400" dirty="0"/>
          </a:p>
        </p:txBody>
      </p:sp>
      <p:sp>
        <p:nvSpPr>
          <p:cNvPr id="19" name="Shape 15"/>
          <p:cNvSpPr/>
          <p:nvPr/>
        </p:nvSpPr>
        <p:spPr>
          <a:xfrm>
            <a:off x="7061200" y="1856680"/>
            <a:ext cx="4318000" cy="1749822"/>
          </a:xfrm>
          <a:prstGeom prst="roundRect">
            <a:avLst>
              <a:gd name="adj" fmla="val 5806"/>
            </a:avLst>
          </a:prstGeom>
          <a:solidFill>
            <a:srgbClr val="F4F4F2"/>
          </a:solidFill>
          <a:ln/>
        </p:spPr>
        <p:txBody>
          <a:bodyPr/>
          <a:lstStyle/>
          <a:p>
            <a:endParaRPr lang="en-CO"/>
          </a:p>
        </p:txBody>
      </p:sp>
      <p:sp>
        <p:nvSpPr>
          <p:cNvPr id="20" name="Text 16"/>
          <p:cNvSpPr/>
          <p:nvPr/>
        </p:nvSpPr>
        <p:spPr>
          <a:xfrm>
            <a:off x="7264400" y="2034480"/>
            <a:ext cx="402894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Comprobación previa</a:t>
            </a:r>
            <a:endParaRPr lang="en-US" sz="1400" dirty="0"/>
          </a:p>
        </p:txBody>
      </p:sp>
      <p:sp>
        <p:nvSpPr>
          <p:cNvPr id="21" name="Text 17"/>
          <p:cNvSpPr/>
          <p:nvPr/>
        </p:nvSpPr>
        <p:spPr>
          <a:xfrm>
            <a:off x="7264400" y="2336701"/>
            <a:ext cx="40289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Valores únicos de Pᵢ(+):</a:t>
            </a:r>
            <a:endParaRPr lang="en-US" sz="1200" dirty="0"/>
          </a:p>
        </p:txBody>
      </p:sp>
      <p:sp>
        <p:nvSpPr>
          <p:cNvPr id="22" name="Text 18"/>
          <p:cNvSpPr/>
          <p:nvPr/>
        </p:nvSpPr>
        <p:spPr>
          <a:xfrm>
            <a:off x="7264400" y="2707481"/>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C"/>
                </a:solidFill>
                <a:latin typeface="Roboto" pitchFamily="34" charset="0"/>
                <a:ea typeface="Roboto" pitchFamily="34" charset="-122"/>
                <a:cs typeface="Roboto" pitchFamily="34" charset="-120"/>
              </a:rPr>
              <a:t>sin ruido</a:t>
            </a:r>
            <a:endParaRPr lang="en-US" sz="1200" dirty="0"/>
          </a:p>
        </p:txBody>
      </p:sp>
      <p:sp>
        <p:nvSpPr>
          <p:cNvPr id="23" name="Text 19"/>
          <p:cNvSpPr/>
          <p:nvPr/>
        </p:nvSpPr>
        <p:spPr>
          <a:xfrm>
            <a:off x="8324850" y="2645271"/>
            <a:ext cx="919559" cy="337741"/>
          </a:xfrm>
          <a:prstGeom prst="roundRect">
            <a:avLst>
              <a:gd name="adj" fmla="val 13161"/>
            </a:avLst>
          </a:prstGeom>
          <a:solidFill>
            <a:srgbClr val="FFFFFF"/>
          </a:solidFill>
          <a:ln w="12700">
            <a:solidFill>
              <a:srgbClr val="3C3C3B"/>
            </a:solidFill>
            <a:prstDash val="solid"/>
          </a:ln>
        </p:spPr>
        <p:txBody>
          <a:bodyPr wrap="none" lIns="0" tIns="0" rIns="0" bIns="0" rtlCol="0" anchor="ctr">
            <a:normAutofit/>
          </a:bodyPr>
          <a:lstStyle/>
          <a:p>
            <a:pPr marL="0" indent="0" algn="ctr">
              <a:lnSpc>
                <a:spcPts val="1960"/>
              </a:lnSpc>
              <a:buNone/>
            </a:pPr>
            <a:r>
              <a:rPr lang="en-US" sz="1400" b="1" dirty="0">
                <a:solidFill>
                  <a:srgbClr val="1D1D1B"/>
                </a:solidFill>
                <a:latin typeface="DM Sans" pitchFamily="34" charset="0"/>
                <a:ea typeface="DM Sans" pitchFamily="34" charset="-122"/>
                <a:cs typeface="DM Sans" pitchFamily="34" charset="-120"/>
              </a:rPr>
              <a:t>{0, ½, 1}</a:t>
            </a:r>
            <a:endParaRPr lang="en-US" sz="1400" dirty="0"/>
          </a:p>
        </p:txBody>
      </p:sp>
      <p:sp>
        <p:nvSpPr>
          <p:cNvPr id="24" name="Text 20"/>
          <p:cNvSpPr/>
          <p:nvPr/>
        </p:nvSpPr>
        <p:spPr>
          <a:xfrm>
            <a:off x="7264400" y="3146822"/>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C"/>
                </a:solidFill>
                <a:latin typeface="Roboto" pitchFamily="34" charset="0"/>
                <a:ea typeface="Roboto" pitchFamily="34" charset="-122"/>
                <a:cs typeface="Roboto" pitchFamily="34" charset="-120"/>
              </a:rPr>
              <a:t>con ruido</a:t>
            </a:r>
            <a:endParaRPr lang="en-US" sz="1200" dirty="0"/>
          </a:p>
        </p:txBody>
      </p:sp>
      <p:sp>
        <p:nvSpPr>
          <p:cNvPr id="25" name="Text 21"/>
          <p:cNvSpPr/>
          <p:nvPr/>
        </p:nvSpPr>
        <p:spPr>
          <a:xfrm>
            <a:off x="8324850" y="3084612"/>
            <a:ext cx="1588095" cy="337741"/>
          </a:xfrm>
          <a:prstGeom prst="roundRect">
            <a:avLst>
              <a:gd name="adj" fmla="val 13161"/>
            </a:avLst>
          </a:prstGeom>
          <a:solidFill>
            <a:srgbClr val="FFEE00"/>
          </a:solidFill>
          <a:ln w="12700">
            <a:solidFill>
              <a:srgbClr val="1D1D1B"/>
            </a:solidFill>
            <a:prstDash val="solid"/>
          </a:ln>
        </p:spPr>
        <p:txBody>
          <a:bodyPr wrap="none" lIns="0" tIns="0" rIns="0" bIns="0" rtlCol="0" anchor="ctr">
            <a:normAutofit/>
          </a:bodyPr>
          <a:lstStyle/>
          <a:p>
            <a:pPr marL="0" indent="0" algn="ctr">
              <a:lnSpc>
                <a:spcPts val="1960"/>
              </a:lnSpc>
              <a:buNone/>
            </a:pPr>
            <a:r>
              <a:rPr lang="en-US" sz="1400" b="1" dirty="0">
                <a:solidFill>
                  <a:srgbClr val="1D1D1B"/>
                </a:solidFill>
                <a:latin typeface="DM Sans" pitchFamily="34" charset="0"/>
                <a:ea typeface="DM Sans" pitchFamily="34" charset="-122"/>
                <a:cs typeface="DM Sans" pitchFamily="34" charset="-120"/>
              </a:rPr>
              <a:t>{0.25, 0.5, 0.75}</a:t>
            </a:r>
            <a:endParaRPr lang="en-US" sz="1400" dirty="0"/>
          </a:p>
        </p:txBody>
      </p:sp>
      <p:sp>
        <p:nvSpPr>
          <p:cNvPr id="26" name="Shape 22"/>
          <p:cNvSpPr/>
          <p:nvPr/>
        </p:nvSpPr>
        <p:spPr>
          <a:xfrm>
            <a:off x="7061200" y="3758902"/>
            <a:ext cx="4318000" cy="1059061"/>
          </a:xfrm>
          <a:prstGeom prst="roundRect">
            <a:avLst>
              <a:gd name="adj" fmla="val 9593"/>
            </a:avLst>
          </a:prstGeom>
          <a:solidFill>
            <a:srgbClr val="F4F4F2"/>
          </a:solidFill>
          <a:ln/>
        </p:spPr>
        <p:txBody>
          <a:bodyPr/>
          <a:lstStyle/>
          <a:p>
            <a:endParaRPr lang="en-CO"/>
          </a:p>
        </p:txBody>
      </p:sp>
      <p:sp>
        <p:nvSpPr>
          <p:cNvPr id="27" name="Text 23"/>
          <p:cNvSpPr/>
          <p:nvPr/>
        </p:nvSpPr>
        <p:spPr>
          <a:xfrm>
            <a:off x="7264400" y="3936702"/>
            <a:ext cx="402894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D1D1B"/>
                </a:solidFill>
                <a:latin typeface="DM Sans" pitchFamily="34" charset="0"/>
                <a:ea typeface="DM Sans" pitchFamily="34" charset="-122"/>
                <a:cs typeface="DM Sans" pitchFamily="34" charset="-120"/>
              </a:rPr>
              <a:t>¿Por qué 2000 repeticiones?</a:t>
            </a:r>
            <a:endParaRPr lang="en-US" sz="1400" dirty="0"/>
          </a:p>
        </p:txBody>
      </p:sp>
      <p:sp>
        <p:nvSpPr>
          <p:cNvPr id="28" name="Text 24"/>
          <p:cNvSpPr/>
          <p:nvPr/>
        </p:nvSpPr>
        <p:spPr>
          <a:xfrm>
            <a:off x="7264400" y="4213523"/>
            <a:ext cx="402894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El error relativo de una std estimada con R repeticiones es ≈ 1/√(2R): </a:t>
            </a:r>
            <a:r>
              <a:rPr lang="en-US" sz="1200" b="1" dirty="0">
                <a:solidFill>
                  <a:srgbClr val="3C3C3B"/>
                </a:solidFill>
                <a:latin typeface="Roboto" pitchFamily="34" charset="0"/>
                <a:ea typeface="Roboto" pitchFamily="34" charset="-122"/>
                <a:cs typeface="Roboto" pitchFamily="34" charset="-120"/>
              </a:rPr>
              <a:t>1.6 % con R = 2000</a:t>
            </a:r>
            <a:r>
              <a:rPr lang="en-US" sz="1200" dirty="0">
                <a:solidFill>
                  <a:srgbClr val="3C3C3B"/>
                </a:solidFill>
                <a:latin typeface="Roboto" pitchFamily="34" charset="0"/>
                <a:ea typeface="Roboto" pitchFamily="34" charset="-122"/>
                <a:cs typeface="Roboto" pitchFamily="34" charset="-120"/>
              </a:rPr>
              <a:t>.</a:t>
            </a:r>
            <a:endParaRPr lang="en-US" sz="1200" dirty="0"/>
          </a:p>
        </p:txBody>
      </p:sp>
      <p:sp>
        <p:nvSpPr>
          <p:cNvPr id="29" name="Text 25"/>
          <p:cNvSpPr/>
          <p:nvPr/>
        </p:nvSpPr>
        <p:spPr>
          <a:xfrm>
            <a:off x="812800" y="507196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C"/>
                </a:solidFill>
                <a:latin typeface="Roboto" pitchFamily="34" charset="0"/>
                <a:ea typeface="Roboto" pitchFamily="34" charset="-122"/>
                <a:cs typeface="Roboto" pitchFamily="34" charset="-120"/>
              </a:rPr>
              <a:t>Archivo: Experiment/tests/DequantCollateral.py</a:t>
            </a:r>
            <a:endParaRPr lang="en-US" sz="1200" dirty="0"/>
          </a:p>
        </p:txBody>
      </p:sp>
      <p:sp>
        <p:nvSpPr>
          <p:cNvPr id="30" name="Text 26"/>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31" name="Text 27"/>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RESULTADOS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Teoría contra simulación</a:t>
            </a:r>
            <a:endParaRPr lang="en-US" sz="2800" dirty="0"/>
          </a:p>
        </p:txBody>
      </p:sp>
      <p:sp>
        <p:nvSpPr>
          <p:cNvPr id="8" name="Text 5"/>
          <p:cNvSpPr/>
          <p:nvPr/>
        </p:nvSpPr>
        <p:spPr>
          <a:xfrm>
            <a:off x="812800" y="130552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La simulación reproduce los valores teóricos de centro y dispersión.</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1818580"/>
          <a:ext cx="6210300" cy="2514898"/>
        </p:xfrm>
        <a:graphic>
          <a:graphicData uri="http://schemas.openxmlformats.org/drawingml/2006/table">
            <a:tbl>
              <a:tblPr/>
              <a:tblGrid>
                <a:gridCol w="2732532">
                  <a:extLst>
                    <a:ext uri="{9D8B030D-6E8A-4147-A177-3AD203B41FA5}">
                      <a16:colId xmlns:a16="http://schemas.microsoft.com/office/drawing/2014/main" val="20000"/>
                    </a:ext>
                  </a:extLst>
                </a:gridCol>
                <a:gridCol w="1366266">
                  <a:extLst>
                    <a:ext uri="{9D8B030D-6E8A-4147-A177-3AD203B41FA5}">
                      <a16:colId xmlns:a16="http://schemas.microsoft.com/office/drawing/2014/main" val="20001"/>
                    </a:ext>
                  </a:extLst>
                </a:gridCol>
                <a:gridCol w="2111502">
                  <a:extLst>
                    <a:ext uri="{9D8B030D-6E8A-4147-A177-3AD203B41FA5}">
                      <a16:colId xmlns:a16="http://schemas.microsoft.com/office/drawing/2014/main" val="20002"/>
                    </a:ext>
                  </a:extLst>
                </a:gridCol>
              </a:tblGrid>
              <a:tr h="359271">
                <a:tc>
                  <a:txBody>
                    <a:bodyPr/>
                    <a:lstStyle/>
                    <a:p>
                      <a:pPr marL="0" indent="0">
                        <a:lnSpc>
                          <a:spcPts val="1820"/>
                        </a:lnSpc>
                        <a:buNone/>
                      </a:pP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Teoría</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gn="r">
                        <a:lnSpc>
                          <a:spcPts val="1820"/>
                        </a:lnSpc>
                        <a:buNone/>
                      </a:pPr>
                      <a:r>
                        <a:rPr lang="en-US" sz="1300" b="1" dirty="0">
                          <a:solidFill>
                            <a:srgbClr val="FFFFFF"/>
                          </a:solidFill>
                          <a:latin typeface="Roboto" pitchFamily="34" charset="0"/>
                          <a:ea typeface="Roboto" pitchFamily="34" charset="-122"/>
                          <a:cs typeface="Roboto" pitchFamily="34" charset="-120"/>
                        </a:rPr>
                        <a:t>Simulación (2000 rep.)</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Centro de B</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0.45</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0.4500</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Centro de C, sin corregir</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0.475</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0.4751</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Centro de F̂</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0.45</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0.4502</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std de B</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0.0104</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0.0103</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std de C, sin corregir</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0.0147</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0.0143</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std de F̂</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0.0293</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gn="r">
                        <a:lnSpc>
                          <a:spcPts val="1820"/>
                        </a:lnSpc>
                        <a:buNone/>
                      </a:pPr>
                      <a:r>
                        <a:rPr lang="en-US" sz="1300" dirty="0">
                          <a:solidFill>
                            <a:srgbClr val="3C3C3B"/>
                          </a:solidFill>
                          <a:latin typeface="Roboto" pitchFamily="34" charset="0"/>
                          <a:ea typeface="Roboto" pitchFamily="34" charset="-122"/>
                          <a:cs typeface="Roboto" pitchFamily="34" charset="-120"/>
                        </a:rPr>
                        <a:t>0.0285</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extLst>
                  <a:ext uri="{0D108BD9-81ED-4DB2-BD59-A6C34878D82A}">
                    <a16:rowId xmlns:a16="http://schemas.microsoft.com/office/drawing/2014/main" val="10006"/>
                  </a:ext>
                </a:extLst>
              </a:tr>
            </a:tbl>
          </a:graphicData>
        </a:graphic>
      </p:graphicFrame>
      <p:sp>
        <p:nvSpPr>
          <p:cNvPr id="10" name="Text 6"/>
          <p:cNvSpPr/>
          <p:nvPr/>
        </p:nvSpPr>
        <p:spPr>
          <a:xfrm>
            <a:off x="7391400" y="1805880"/>
            <a:ext cx="410743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6E6C"/>
                </a:solidFill>
                <a:latin typeface="Roboto" pitchFamily="34" charset="0"/>
                <a:ea typeface="Roboto" pitchFamily="34" charset="-122"/>
                <a:cs typeface="Roboto" pitchFamily="34" charset="-120"/>
              </a:rPr>
              <a:t>DE DÓNDE SALE LA STD TEÓRICA</a:t>
            </a:r>
            <a:endParaRPr lang="en-US" sz="1200" dirty="0"/>
          </a:p>
        </p:txBody>
      </p:sp>
      <p:pic>
        <p:nvPicPr>
          <p:cNvPr id="11" name="Image 1" descr="Var(F) = (1/n²)·Σₖ nₖ·Pₖ·(1 − Pₖ)"/>
          <p:cNvPicPr>
            <a:picLocks noChangeAspect="1"/>
          </p:cNvPicPr>
          <p:nvPr/>
        </p:nvPicPr>
        <p:blipFill>
          <a:blip r:embed="rId4"/>
          <a:srcRect t="-175" b="-175"/>
          <a:stretch/>
        </p:blipFill>
        <p:spPr>
          <a:xfrm>
            <a:off x="7391400" y="2120801"/>
            <a:ext cx="3543300" cy="730250"/>
          </a:xfrm>
          <a:prstGeom prst="rect">
            <a:avLst/>
          </a:prstGeom>
        </p:spPr>
      </p:pic>
      <p:sp>
        <p:nvSpPr>
          <p:cNvPr id="12" name="Text 7"/>
          <p:cNvSpPr/>
          <p:nvPr/>
        </p:nvSpPr>
        <p:spPr>
          <a:xfrm>
            <a:off x="7391400" y="2952651"/>
            <a:ext cx="41074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Sin ruido, </a:t>
            </a:r>
            <a:r>
              <a:rPr lang="en-US" sz="1200" dirty="0">
                <a:solidFill>
                  <a:srgbClr val="293470"/>
                </a:solidFill>
                <a:latin typeface="Roboto" pitchFamily="34" charset="0"/>
                <a:ea typeface="Roboto" pitchFamily="34" charset="-122"/>
                <a:cs typeface="Roboto" pitchFamily="34" charset="-120"/>
              </a:rPr>
              <a:t>car</a:t>
            </a:r>
            <a:r>
              <a:rPr lang="en-US" sz="1200" dirty="0">
                <a:solidFill>
                  <a:srgbClr val="3C3C3B"/>
                </a:solidFill>
                <a:latin typeface="Roboto" pitchFamily="34" charset="0"/>
                <a:ea typeface="Roboto" pitchFamily="34" charset="-122"/>
                <a:cs typeface="Roboto" pitchFamily="34" charset="-120"/>
              </a:rPr>
              <a:t> y </a:t>
            </a:r>
            <a:r>
              <a:rPr lang="en-US" sz="1200" dirty="0">
                <a:solidFill>
                  <a:srgbClr val="293470"/>
                </a:solidFill>
                <a:latin typeface="Roboto" pitchFamily="34" charset="0"/>
                <a:ea typeface="Roboto" pitchFamily="34" charset="-122"/>
                <a:cs typeface="Roboto" pitchFamily="34" charset="-120"/>
              </a:rPr>
              <a:t>real estate</a:t>
            </a:r>
            <a:r>
              <a:rPr lang="en-US" sz="1200" dirty="0">
                <a:solidFill>
                  <a:srgbClr val="3C3C3B"/>
                </a:solidFill>
                <a:latin typeface="Roboto" pitchFamily="34" charset="0"/>
                <a:ea typeface="Roboto" pitchFamily="34" charset="-122"/>
                <a:cs typeface="Roboto" pitchFamily="34" charset="-120"/>
              </a:rPr>
              <a:t> son deterministas y no aportan: solo cuentan </a:t>
            </a:r>
            <a:r>
              <a:rPr lang="en-US" sz="1200" dirty="0">
                <a:solidFill>
                  <a:srgbClr val="293470"/>
                </a:solidFill>
                <a:latin typeface="Roboto" pitchFamily="34" charset="0"/>
                <a:ea typeface="Roboto" pitchFamily="34" charset="-122"/>
                <a:cs typeface="Roboto" pitchFamily="34" charset="-120"/>
              </a:rPr>
              <a:t>none</a:t>
            </a:r>
            <a:r>
              <a:rPr lang="en-US" sz="1200" dirty="0">
                <a:solidFill>
                  <a:srgbClr val="3C3C3B"/>
                </a:solidFill>
                <a:latin typeface="Roboto" pitchFamily="34" charset="0"/>
                <a:ea typeface="Roboto" pitchFamily="34" charset="-122"/>
                <a:cs typeface="Roboto" pitchFamily="34" charset="-120"/>
              </a:rPr>
              <a:t> y </a:t>
            </a:r>
            <a:r>
              <a:rPr lang="en-US" sz="1200" dirty="0">
                <a:solidFill>
                  <a:srgbClr val="293470"/>
                </a:solidFill>
                <a:latin typeface="Roboto" pitchFamily="34" charset="0"/>
                <a:ea typeface="Roboto" pitchFamily="34" charset="-122"/>
                <a:cs typeface="Roboto" pitchFamily="34" charset="-120"/>
              </a:rPr>
              <a:t>savings</a:t>
            </a:r>
            <a:r>
              <a:rPr lang="en-US" sz="1200" dirty="0">
                <a:solidFill>
                  <a:srgbClr val="3C3C3B"/>
                </a:solidFill>
                <a:latin typeface="Roboto" pitchFamily="34" charset="0"/>
                <a:ea typeface="Roboto" pitchFamily="34" charset="-122"/>
                <a:cs typeface="Roboto" pitchFamily="34" charset="-120"/>
              </a:rPr>
              <a:t> (P = ½).</a:t>
            </a:r>
            <a:endParaRPr lang="en-US" sz="1200" dirty="0"/>
          </a:p>
        </p:txBody>
      </p:sp>
      <p:sp>
        <p:nvSpPr>
          <p:cNvPr id="13" name="Shape 8"/>
          <p:cNvSpPr/>
          <p:nvPr/>
        </p:nvSpPr>
        <p:spPr>
          <a:xfrm>
            <a:off x="7410450" y="3480891"/>
            <a:ext cx="0" cy="426641"/>
          </a:xfrm>
          <a:prstGeom prst="line">
            <a:avLst/>
          </a:prstGeom>
          <a:noFill/>
          <a:ln w="38100">
            <a:solidFill>
              <a:srgbClr val="FFEE00"/>
            </a:solidFill>
            <a:prstDash val="solid"/>
          </a:ln>
        </p:spPr>
        <p:txBody>
          <a:bodyPr/>
          <a:lstStyle/>
          <a:p>
            <a:endParaRPr lang="en-CO"/>
          </a:p>
        </p:txBody>
      </p:sp>
      <p:sp>
        <p:nvSpPr>
          <p:cNvPr id="14" name="Text 9"/>
          <p:cNvSpPr/>
          <p:nvPr/>
        </p:nvSpPr>
        <p:spPr>
          <a:xfrm>
            <a:off x="7531100" y="3480891"/>
            <a:ext cx="396354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Diferencias de 1.6 % a 2.7 %: fluctuación normal, del orden de 1/√(2R).</a:t>
            </a:r>
            <a:endParaRPr lang="en-US" sz="1200" dirty="0"/>
          </a:p>
        </p:txBody>
      </p:sp>
      <p:sp>
        <p:nvSpPr>
          <p:cNvPr id="15" name="Shape 10"/>
          <p:cNvSpPr/>
          <p:nvPr/>
        </p:nvSpPr>
        <p:spPr>
          <a:xfrm>
            <a:off x="812800" y="4536678"/>
            <a:ext cx="10566400" cy="825500"/>
          </a:xfrm>
          <a:prstGeom prst="roundRect">
            <a:avLst>
              <a:gd name="adj" fmla="val 12308"/>
            </a:avLst>
          </a:prstGeom>
          <a:solidFill>
            <a:srgbClr val="F4F4F2"/>
          </a:solidFill>
          <a:ln/>
        </p:spPr>
        <p:txBody>
          <a:bodyPr/>
          <a:lstStyle/>
          <a:p>
            <a:endParaRPr lang="en-CO"/>
          </a:p>
        </p:txBody>
      </p:sp>
      <p:sp>
        <p:nvSpPr>
          <p:cNvPr id="16" name="Text 11"/>
          <p:cNvSpPr/>
          <p:nvPr/>
        </p:nvSpPr>
        <p:spPr>
          <a:xfrm>
            <a:off x="1066800" y="4842768"/>
            <a:ext cx="818356"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D1D1B"/>
                </a:solidFill>
                <a:latin typeface="Roboto" pitchFamily="34" charset="0"/>
                <a:ea typeface="Roboto" pitchFamily="34" charset="-122"/>
                <a:cs typeface="Roboto" pitchFamily="34" charset="-120"/>
              </a:rPr>
              <a:t>Ejemplo, B:</a:t>
            </a:r>
            <a:endParaRPr lang="en-US" sz="1200" dirty="0"/>
          </a:p>
        </p:txBody>
      </p:sp>
      <p:pic>
        <p:nvPicPr>
          <p:cNvPr id="17" name="Image 2" descr="Var(F_B) = (282 + 154)·¼ / 1000² = 1.09·10⁻⁴ ⇒ std = 0.0104"/>
          <p:cNvPicPr>
            <a:picLocks noChangeAspect="1"/>
          </p:cNvPicPr>
          <p:nvPr/>
        </p:nvPicPr>
        <p:blipFill>
          <a:blip r:embed="rId5"/>
          <a:srcRect l="-168" r="-168"/>
          <a:stretch/>
        </p:blipFill>
        <p:spPr>
          <a:xfrm>
            <a:off x="2088356" y="4663678"/>
            <a:ext cx="6115050" cy="571500"/>
          </a:xfrm>
          <a:prstGeom prst="rect">
            <a:avLst/>
          </a:prstGeom>
        </p:spPr>
      </p:pic>
      <p:sp>
        <p:nvSpPr>
          <p:cNvPr id="18" name="Text 12"/>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19" name="Text 13"/>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IV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RESULTADOS</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El histograma: mismo centro, más ancho</a:t>
            </a:r>
            <a:endParaRPr lang="en-US" sz="2800" dirty="0"/>
          </a:p>
        </p:txBody>
      </p:sp>
      <p:sp>
        <p:nvSpPr>
          <p:cNvPr id="8" name="Shape 5"/>
          <p:cNvSpPr/>
          <p:nvPr/>
        </p:nvSpPr>
        <p:spPr>
          <a:xfrm>
            <a:off x="819150" y="1464270"/>
            <a:ext cx="6565900" cy="3644900"/>
          </a:xfrm>
          <a:prstGeom prst="roundRect">
            <a:avLst>
              <a:gd name="adj" fmla="val 1916"/>
            </a:avLst>
          </a:prstGeom>
          <a:solidFill>
            <a:srgbClr val="F4F4F2"/>
          </a:solidFill>
          <a:ln w="12700">
            <a:solidFill>
              <a:srgbClr val="B9B9B5"/>
            </a:solidFill>
            <a:prstDash val="dash"/>
          </a:ln>
        </p:spPr>
        <p:txBody>
          <a:bodyPr/>
          <a:lstStyle/>
          <a:p>
            <a:endParaRPr lang="en-CO"/>
          </a:p>
        </p:txBody>
      </p:sp>
      <p:sp>
        <p:nvSpPr>
          <p:cNvPr id="9" name="Text 6"/>
          <p:cNvSpPr/>
          <p:nvPr/>
        </p:nvSpPr>
        <p:spPr>
          <a:xfrm>
            <a:off x="812800" y="5191720"/>
            <a:ext cx="6802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C"/>
                </a:solidFill>
                <a:latin typeface="Roboto" pitchFamily="34" charset="0"/>
                <a:ea typeface="Roboto" pitchFamily="34" charset="-122"/>
                <a:cs typeface="Roboto" pitchFamily="34" charset="-120"/>
              </a:rPr>
              <a:t>B y F̂ con los mismos bordes de bins (ancho 0.004); línea en 0.45, el valor esperado sin ruido; ε = 1.10, p = 0.5.</a:t>
            </a:r>
            <a:endParaRPr lang="en-US" sz="1200" dirty="0"/>
          </a:p>
        </p:txBody>
      </p:sp>
      <p:sp>
        <p:nvSpPr>
          <p:cNvPr id="10" name="Text 7"/>
          <p:cNvSpPr/>
          <p:nvPr/>
        </p:nvSpPr>
        <p:spPr>
          <a:xfrm>
            <a:off x="7772400" y="1457920"/>
            <a:ext cx="3715004" cy="116840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D1D1B"/>
                </a:solidFill>
                <a:latin typeface="DM Sans" pitchFamily="34" charset="0"/>
                <a:ea typeface="DM Sans" pitchFamily="34" charset="-122"/>
                <a:cs typeface="DM Sans" pitchFamily="34" charset="-120"/>
              </a:rPr>
              <a:t>Con ε = ln 3, la privacidad no sesga la estadística de la población: la vuelve menos precisa.</a:t>
            </a:r>
            <a:endParaRPr lang="en-US" sz="1800" dirty="0"/>
          </a:p>
        </p:txBody>
      </p:sp>
      <p:sp>
        <p:nvSpPr>
          <p:cNvPr id="11" name="Text 8"/>
          <p:cNvSpPr/>
          <p:nvPr/>
        </p:nvSpPr>
        <p:spPr>
          <a:xfrm>
            <a:off x="7772400" y="2778720"/>
            <a:ext cx="177901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6E6C"/>
                </a:solidFill>
                <a:latin typeface="Roboto" pitchFamily="34" charset="0"/>
                <a:ea typeface="Roboto" pitchFamily="34" charset="-122"/>
                <a:cs typeface="Roboto" pitchFamily="34" charset="-120"/>
              </a:rPr>
              <a:t>CENTRO</a:t>
            </a:r>
            <a:endParaRPr lang="en-US" sz="1200" dirty="0"/>
          </a:p>
        </p:txBody>
      </p:sp>
      <p:sp>
        <p:nvSpPr>
          <p:cNvPr id="12" name="Text 9"/>
          <p:cNvSpPr/>
          <p:nvPr/>
        </p:nvSpPr>
        <p:spPr>
          <a:xfrm>
            <a:off x="7772400" y="3017441"/>
            <a:ext cx="1779016"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93470"/>
                </a:solidFill>
                <a:latin typeface="DM Sans" pitchFamily="34" charset="0"/>
                <a:ea typeface="DM Sans" pitchFamily="34" charset="-122"/>
                <a:cs typeface="DM Sans" pitchFamily="34" charset="-120"/>
              </a:rPr>
              <a:t>0.45</a:t>
            </a:r>
            <a:endParaRPr lang="en-US" sz="2800" dirty="0"/>
          </a:p>
        </p:txBody>
      </p:sp>
      <p:sp>
        <p:nvSpPr>
          <p:cNvPr id="13" name="Text 10"/>
          <p:cNvSpPr/>
          <p:nvPr/>
        </p:nvSpPr>
        <p:spPr>
          <a:xfrm>
            <a:off x="7772400" y="3433961"/>
            <a:ext cx="1779016"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F̂ 0.4502 · B 0.4500</a:t>
            </a:r>
            <a:endParaRPr lang="en-US" sz="1200" dirty="0"/>
          </a:p>
        </p:txBody>
      </p:sp>
      <p:sp>
        <p:nvSpPr>
          <p:cNvPr id="14" name="Text 11"/>
          <p:cNvSpPr/>
          <p:nvPr/>
        </p:nvSpPr>
        <p:spPr>
          <a:xfrm>
            <a:off x="9652000" y="2778720"/>
            <a:ext cx="1779016"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6E6C"/>
                </a:solidFill>
                <a:latin typeface="Roboto" pitchFamily="34" charset="0"/>
                <a:ea typeface="Roboto" pitchFamily="34" charset="-122"/>
                <a:cs typeface="Roboto" pitchFamily="34" charset="-120"/>
              </a:rPr>
              <a:t>ANCHO</a:t>
            </a:r>
            <a:endParaRPr lang="en-US" sz="1200" dirty="0"/>
          </a:p>
        </p:txBody>
      </p:sp>
      <p:sp>
        <p:nvSpPr>
          <p:cNvPr id="15" name="Text 12"/>
          <p:cNvSpPr/>
          <p:nvPr/>
        </p:nvSpPr>
        <p:spPr>
          <a:xfrm>
            <a:off x="9652000" y="3017441"/>
            <a:ext cx="1779016"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D1D1B"/>
                </a:solidFill>
                <a:latin typeface="DM Sans" pitchFamily="34" charset="0"/>
                <a:ea typeface="DM Sans" pitchFamily="34" charset="-122"/>
                <a:cs typeface="DM Sans" pitchFamily="34" charset="-120"/>
              </a:rPr>
              <a:t>×2.8</a:t>
            </a:r>
            <a:endParaRPr lang="en-US" sz="2800" dirty="0"/>
          </a:p>
        </p:txBody>
      </p:sp>
      <p:sp>
        <p:nvSpPr>
          <p:cNvPr id="16" name="Text 13"/>
          <p:cNvSpPr/>
          <p:nvPr/>
        </p:nvSpPr>
        <p:spPr>
          <a:xfrm>
            <a:off x="9652000" y="3433961"/>
            <a:ext cx="207264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3C3B"/>
                </a:solidFill>
                <a:latin typeface="Roboto" pitchFamily="34" charset="0"/>
                <a:ea typeface="Roboto" pitchFamily="34" charset="-122"/>
                <a:cs typeface="Roboto" pitchFamily="34" charset="-120"/>
              </a:rPr>
              <a:t>std 0.0285 contra 0.0103</a:t>
            </a:r>
            <a:endParaRPr lang="en-US" sz="1200" dirty="0"/>
          </a:p>
        </p:txBody>
      </p:sp>
      <p:sp>
        <p:nvSpPr>
          <p:cNvPr id="17" name="Shape 14"/>
          <p:cNvSpPr/>
          <p:nvPr/>
        </p:nvSpPr>
        <p:spPr>
          <a:xfrm>
            <a:off x="7791450" y="3817441"/>
            <a:ext cx="0" cy="639961"/>
          </a:xfrm>
          <a:prstGeom prst="line">
            <a:avLst/>
          </a:prstGeom>
          <a:noFill/>
          <a:ln w="38100">
            <a:solidFill>
              <a:srgbClr val="FFEE00"/>
            </a:solidFill>
            <a:prstDash val="solid"/>
          </a:ln>
        </p:spPr>
        <p:txBody>
          <a:bodyPr/>
          <a:lstStyle/>
          <a:p>
            <a:endParaRPr lang="en-CO"/>
          </a:p>
        </p:txBody>
      </p:sp>
      <p:sp>
        <p:nvSpPr>
          <p:cNvPr id="18" name="Text 15"/>
          <p:cNvSpPr/>
          <p:nvPr/>
        </p:nvSpPr>
        <p:spPr>
          <a:xfrm>
            <a:off x="7912100" y="3817441"/>
            <a:ext cx="357111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Cada valor del histograma es la estadística de la población en una repetición, no una persona. El efecto sobre un individuo es el del Acto III.</a:t>
            </a:r>
            <a:endParaRPr lang="en-US" sz="1200" dirty="0"/>
          </a:p>
        </p:txBody>
      </p:sp>
      <p:sp>
        <p:nvSpPr>
          <p:cNvPr id="19" name="Text 16"/>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0" name="Text 17"/>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E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9" r="-9"/>
          <a:stretch/>
        </p:blipFill>
        <p:spPr>
          <a:xfrm>
            <a:off x="7493000" y="0"/>
            <a:ext cx="4699000" cy="6858000"/>
          </a:xfrm>
          <a:prstGeom prst="rect">
            <a:avLst/>
          </a:prstGeom>
        </p:spPr>
      </p:pic>
      <p:sp>
        <p:nvSpPr>
          <p:cNvPr id="3" name="Text 0"/>
          <p:cNvSpPr/>
          <p:nvPr/>
        </p:nvSpPr>
        <p:spPr>
          <a:xfrm>
            <a:off x="7978140" y="3937000"/>
            <a:ext cx="3401060" cy="1803400"/>
          </a:xfrm>
          <a:prstGeom prst="rect">
            <a:avLst/>
          </a:prstGeom>
          <a:noFill/>
          <a:ln/>
        </p:spPr>
        <p:txBody>
          <a:bodyPr wrap="square" lIns="0" tIns="0" rIns="0" bIns="0" rtlCol="0" anchor="t">
            <a:normAutofit/>
          </a:bodyPr>
          <a:lstStyle/>
          <a:p>
            <a:pPr marL="0" indent="0" algn="r">
              <a:lnSpc>
                <a:spcPts val="14000"/>
              </a:lnSpc>
              <a:buNone/>
            </a:pPr>
            <a:r>
              <a:rPr lang="en-US" sz="14000" b="1" dirty="0">
                <a:solidFill>
                  <a:srgbClr val="FFEE00"/>
                </a:solidFill>
                <a:latin typeface="DM Sans" pitchFamily="34" charset="0"/>
                <a:ea typeface="DM Sans" pitchFamily="34" charset="-122"/>
                <a:cs typeface="DM Sans" pitchFamily="34" charset="-120"/>
              </a:rPr>
              <a:t>V</a:t>
            </a:r>
            <a:endParaRPr lang="en-US" sz="14000" dirty="0"/>
          </a:p>
        </p:txBody>
      </p:sp>
      <p:pic>
        <p:nvPicPr>
          <p:cNvPr id="4" name="Image 1" descr="Universidad de los Andes"/>
          <p:cNvPicPr>
            <a:picLocks noChangeAspect="1"/>
          </p:cNvPicPr>
          <p:nvPr/>
        </p:nvPicPr>
        <p:blipFill>
          <a:blip r:embed="rId4"/>
          <a:srcRect/>
          <a:stretch/>
        </p:blipFill>
        <p:spPr>
          <a:xfrm>
            <a:off x="812800" y="609600"/>
            <a:ext cx="1371600" cy="431800"/>
          </a:xfrm>
          <a:prstGeom prst="rect">
            <a:avLst/>
          </a:prstGeom>
        </p:spPr>
      </p:pic>
      <p:sp>
        <p:nvSpPr>
          <p:cNvPr id="5" name="Text 1"/>
          <p:cNvSpPr/>
          <p:nvPr/>
        </p:nvSpPr>
        <p:spPr>
          <a:xfrm>
            <a:off x="812800" y="2471440"/>
            <a:ext cx="640969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D1D1B"/>
                </a:solidFill>
                <a:latin typeface="DM Sans" pitchFamily="34" charset="0"/>
                <a:ea typeface="DM Sans" pitchFamily="34" charset="-122"/>
                <a:cs typeface="DM Sans" pitchFamily="34" charset="-120"/>
              </a:rPr>
              <a:t>ACTO V</a:t>
            </a:r>
            <a:endParaRPr lang="en-US" sz="1400" dirty="0"/>
          </a:p>
        </p:txBody>
      </p:sp>
      <p:sp>
        <p:nvSpPr>
          <p:cNvPr id="6" name="Text 2"/>
          <p:cNvSpPr>
            <a:spLocks noGrp="1"/>
          </p:cNvSpPr>
          <p:nvPr>
            <p:ph type="title"/>
          </p:nvPr>
        </p:nvSpPr>
        <p:spPr>
          <a:xfrm>
            <a:off x="812800" y="2898080"/>
            <a:ext cx="6409690" cy="665460"/>
          </a:xfrm>
          <a:prstGeom prst="rect">
            <a:avLst/>
          </a:prstGeom>
          <a:noFill/>
          <a:ln/>
        </p:spPr>
        <p:txBody>
          <a:bodyPr wrap="square" lIns="0" tIns="0" rIns="0" bIns="0" rtlCol="0" anchor="t">
            <a:normAutofit/>
          </a:bodyPr>
          <a:lstStyle/>
          <a:p>
            <a:pPr marL="0" indent="0" algn="l">
              <a:lnSpc>
                <a:spcPts val="5040"/>
              </a:lnSpc>
              <a:buNone/>
            </a:pPr>
            <a:r>
              <a:rPr lang="en-US" sz="4800" b="1" i="0" kern="0" spc="-100" dirty="0">
                <a:solidFill>
                  <a:srgbClr val="1D1D1B"/>
                </a:solidFill>
                <a:latin typeface="DM Sans" pitchFamily="34" charset="0"/>
                <a:ea typeface="DM Sans" pitchFamily="34" charset="-122"/>
                <a:cs typeface="DM Sans" pitchFamily="34" charset="-120"/>
              </a:rPr>
              <a:t>Hardware y cierre</a:t>
            </a:r>
            <a:endParaRPr lang="en-US" sz="4800" dirty="0"/>
          </a:p>
        </p:txBody>
      </p:sp>
      <p:sp>
        <p:nvSpPr>
          <p:cNvPr id="7" name="Text 3"/>
          <p:cNvSpPr/>
          <p:nvPr/>
        </p:nvSpPr>
        <p:spPr>
          <a:xfrm>
            <a:off x="812800" y="371594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10 · GAD en hardware real</a:t>
            </a:r>
            <a:endParaRPr lang="en-US" sz="1800" dirty="0"/>
          </a:p>
        </p:txBody>
      </p:sp>
      <p:sp>
        <p:nvSpPr>
          <p:cNvPr id="8" name="Text 4"/>
          <p:cNvSpPr/>
          <p:nvPr/>
        </p:nvSpPr>
        <p:spPr>
          <a:xfrm>
            <a:off x="812800" y="4089301"/>
            <a:ext cx="640969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1D1B"/>
                </a:solidFill>
                <a:latin typeface="Roboto" pitchFamily="34" charset="0"/>
                <a:ea typeface="Roboto" pitchFamily="34" charset="-122"/>
                <a:cs typeface="Roboto" pitchFamily="34" charset="-120"/>
              </a:rPr>
              <a:t>11 · Conclusiones y pasos a seguir</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HARDWARE Y CIERRE</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En hardware, el ruido hay que construirlo</a:t>
            </a:r>
            <a:endParaRPr lang="en-US" sz="2800" dirty="0"/>
          </a:p>
        </p:txBody>
      </p:sp>
      <p:sp>
        <p:nvSpPr>
          <p:cNvPr id="8" name="Text 5"/>
          <p:cNvSpPr/>
          <p:nvPr/>
        </p:nvSpPr>
        <p:spPr>
          <a:xfrm>
            <a:off x="812800" y="1305520"/>
            <a:ext cx="10883392"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C3C3B"/>
                </a:solidFill>
                <a:latin typeface="Roboto" pitchFamily="34" charset="0"/>
                <a:ea typeface="Roboto" pitchFamily="34" charset="-122"/>
                <a:cs typeface="Roboto" pitchFamily="34" charset="-120"/>
              </a:rPr>
              <a:t>Solo hay compuertas unitarias y mediciones. Un canal no unitario se construye con una dilatación de Stinespring.</a:t>
            </a:r>
            <a:endParaRPr lang="en-US" sz="1800" dirty="0"/>
          </a:p>
        </p:txBody>
      </p:sp>
      <p:sp>
        <p:nvSpPr>
          <p:cNvPr id="9" name="Shape 6"/>
          <p:cNvSpPr/>
          <p:nvPr/>
        </p:nvSpPr>
        <p:spPr>
          <a:xfrm>
            <a:off x="2717800" y="2712641"/>
            <a:ext cx="2159000" cy="25400"/>
          </a:xfrm>
          <a:prstGeom prst="rect">
            <a:avLst/>
          </a:prstGeom>
          <a:solidFill>
            <a:srgbClr val="1D1D1B"/>
          </a:solidFill>
          <a:ln/>
        </p:spPr>
        <p:txBody>
          <a:bodyPr/>
          <a:lstStyle/>
          <a:p>
            <a:endParaRPr lang="en-CO"/>
          </a:p>
        </p:txBody>
      </p:sp>
      <p:sp>
        <p:nvSpPr>
          <p:cNvPr id="10" name="Shape 7"/>
          <p:cNvSpPr/>
          <p:nvPr/>
        </p:nvSpPr>
        <p:spPr>
          <a:xfrm>
            <a:off x="6527800" y="2712641"/>
            <a:ext cx="2032000" cy="25400"/>
          </a:xfrm>
          <a:prstGeom prst="rect">
            <a:avLst/>
          </a:prstGeom>
          <a:solidFill>
            <a:srgbClr val="1D1D1B"/>
          </a:solidFill>
          <a:ln/>
        </p:spPr>
        <p:txBody>
          <a:bodyPr/>
          <a:lstStyle/>
          <a:p>
            <a:endParaRPr lang="en-CO"/>
          </a:p>
        </p:txBody>
      </p:sp>
      <p:sp>
        <p:nvSpPr>
          <p:cNvPr id="11" name="Shape 8"/>
          <p:cNvSpPr/>
          <p:nvPr/>
        </p:nvSpPr>
        <p:spPr>
          <a:xfrm>
            <a:off x="2717800" y="3855641"/>
            <a:ext cx="2159000" cy="25400"/>
          </a:xfrm>
          <a:prstGeom prst="rect">
            <a:avLst/>
          </a:prstGeom>
          <a:solidFill>
            <a:srgbClr val="1D1D1B"/>
          </a:solidFill>
          <a:ln/>
        </p:spPr>
        <p:txBody>
          <a:bodyPr/>
          <a:lstStyle/>
          <a:p>
            <a:endParaRPr lang="en-CO"/>
          </a:p>
        </p:txBody>
      </p:sp>
      <p:sp>
        <p:nvSpPr>
          <p:cNvPr id="12" name="Shape 9"/>
          <p:cNvSpPr/>
          <p:nvPr/>
        </p:nvSpPr>
        <p:spPr>
          <a:xfrm>
            <a:off x="6527800" y="3855641"/>
            <a:ext cx="1016000" cy="25400"/>
          </a:xfrm>
          <a:prstGeom prst="rect">
            <a:avLst/>
          </a:prstGeom>
          <a:solidFill>
            <a:srgbClr val="1D1D1B"/>
          </a:solidFill>
          <a:ln/>
        </p:spPr>
        <p:txBody>
          <a:bodyPr/>
          <a:lstStyle/>
          <a:p>
            <a:endParaRPr lang="en-CO"/>
          </a:p>
        </p:txBody>
      </p:sp>
      <p:sp>
        <p:nvSpPr>
          <p:cNvPr id="13" name="Shape 10"/>
          <p:cNvSpPr/>
          <p:nvPr/>
        </p:nvSpPr>
        <p:spPr>
          <a:xfrm>
            <a:off x="4876800" y="2344341"/>
            <a:ext cx="1651000" cy="1905000"/>
          </a:xfrm>
          <a:prstGeom prst="roundRect">
            <a:avLst>
              <a:gd name="adj" fmla="val 4615"/>
            </a:avLst>
          </a:prstGeom>
          <a:solidFill>
            <a:srgbClr val="293470"/>
          </a:solidFill>
          <a:ln/>
        </p:spPr>
        <p:txBody>
          <a:bodyPr/>
          <a:lstStyle/>
          <a:p>
            <a:endParaRPr lang="en-CO"/>
          </a:p>
        </p:txBody>
      </p:sp>
      <p:sp>
        <p:nvSpPr>
          <p:cNvPr id="14" name="Text 11"/>
          <p:cNvSpPr/>
          <p:nvPr/>
        </p:nvSpPr>
        <p:spPr>
          <a:xfrm>
            <a:off x="5451921" y="2880320"/>
            <a:ext cx="500658" cy="635000"/>
          </a:xfrm>
          <a:prstGeom prst="rect">
            <a:avLst/>
          </a:prstGeom>
          <a:noFill/>
          <a:ln/>
        </p:spPr>
        <p:txBody>
          <a:bodyPr wrap="square" lIns="0" tIns="0" rIns="0" bIns="0" rtlCol="0" anchor="t">
            <a:normAutofit/>
          </a:bodyPr>
          <a:lstStyle/>
          <a:p>
            <a:pPr marL="0" indent="0" algn="ctr">
              <a:lnSpc>
                <a:spcPts val="4800"/>
              </a:lnSpc>
              <a:buNone/>
            </a:pPr>
            <a:r>
              <a:rPr lang="en-US" sz="4800" b="1" dirty="0">
                <a:solidFill>
                  <a:srgbClr val="FFFFFF"/>
                </a:solidFill>
                <a:latin typeface="DM Sans" pitchFamily="34" charset="0"/>
                <a:ea typeface="DM Sans" pitchFamily="34" charset="-122"/>
                <a:cs typeface="DM Sans" pitchFamily="34" charset="-120"/>
              </a:rPr>
              <a:t>U</a:t>
            </a:r>
            <a:endParaRPr lang="en-US" sz="4800" dirty="0"/>
          </a:p>
        </p:txBody>
      </p:sp>
      <p:sp>
        <p:nvSpPr>
          <p:cNvPr id="15" name="Text 12"/>
          <p:cNvSpPr/>
          <p:nvPr/>
        </p:nvSpPr>
        <p:spPr>
          <a:xfrm>
            <a:off x="5016976" y="3515320"/>
            <a:ext cx="1370648" cy="22344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FFFFFF"/>
                </a:solidFill>
                <a:latin typeface="Roboto" pitchFamily="34" charset="0"/>
                <a:ea typeface="Roboto" pitchFamily="34" charset="-122"/>
                <a:cs typeface="Roboto" pitchFamily="34" charset="-120"/>
              </a:rPr>
              <a:t>unitario conjunto</a:t>
            </a:r>
            <a:endParaRPr lang="en-US" sz="1200" dirty="0"/>
          </a:p>
        </p:txBody>
      </p:sp>
      <p:sp>
        <p:nvSpPr>
          <p:cNvPr id="16" name="Text 13"/>
          <p:cNvSpPr/>
          <p:nvPr/>
        </p:nvSpPr>
        <p:spPr>
          <a:xfrm>
            <a:off x="7550150" y="3582591"/>
            <a:ext cx="1892300" cy="571500"/>
          </a:xfrm>
          <a:prstGeom prst="roundRect">
            <a:avLst>
              <a:gd name="adj" fmla="val 7778"/>
            </a:avLst>
          </a:prstGeom>
          <a:solidFill>
            <a:srgbClr val="F4F4F2"/>
          </a:solidFill>
          <a:ln w="12700">
            <a:solidFill>
              <a:srgbClr val="6E6E6C"/>
            </a:solidFill>
            <a:prstDash val="dash"/>
          </a:ln>
        </p:spPr>
        <p:txBody>
          <a:bodyPr wrap="square" lIns="94931" tIns="69531" rIns="44131" bIns="69531" rtlCol="0" anchor="ctr">
            <a:normAutofit/>
          </a:bodyPr>
          <a:lstStyle/>
          <a:p>
            <a:pPr marL="0" indent="0" algn="l">
              <a:lnSpc>
                <a:spcPts val="1500"/>
              </a:lnSpc>
              <a:buNone/>
            </a:pPr>
            <a:r>
              <a:rPr lang="en-US" sz="1200" dirty="0">
                <a:solidFill>
                  <a:srgbClr val="1D1D1B"/>
                </a:solidFill>
                <a:latin typeface="Roboto" pitchFamily="34" charset="0"/>
                <a:ea typeface="Roboto" pitchFamily="34" charset="-122"/>
                <a:cs typeface="Roboto" pitchFamily="34" charset="-120"/>
              </a:rPr>
              <a:t>descartar sin medir (traza parcial)</a:t>
            </a:r>
            <a:endParaRPr lang="en-US" sz="1200" dirty="0"/>
          </a:p>
        </p:txBody>
      </p:sp>
      <p:sp>
        <p:nvSpPr>
          <p:cNvPr id="17" name="Text 14"/>
          <p:cNvSpPr/>
          <p:nvPr/>
        </p:nvSpPr>
        <p:spPr>
          <a:xfrm>
            <a:off x="759460" y="2598341"/>
            <a:ext cx="1831340" cy="279598"/>
          </a:xfrm>
          <a:prstGeom prst="rect">
            <a:avLst/>
          </a:prstGeom>
          <a:noFill/>
          <a:ln/>
        </p:spPr>
        <p:txBody>
          <a:bodyPr wrap="square" lIns="0" tIns="0" rIns="0" bIns="0" rtlCol="0" anchor="t">
            <a:normAutofit/>
          </a:bodyPr>
          <a:lstStyle/>
          <a:p>
            <a:pPr marL="0" indent="0" algn="r">
              <a:lnSpc>
                <a:spcPts val="2002"/>
              </a:lnSpc>
              <a:buNone/>
            </a:pPr>
            <a:r>
              <a:rPr lang="en-US" sz="1400" b="1" dirty="0">
                <a:solidFill>
                  <a:srgbClr val="1D1D1B"/>
                </a:solidFill>
                <a:latin typeface="Roboto" pitchFamily="34" charset="0"/>
                <a:ea typeface="Roboto" pitchFamily="34" charset="-122"/>
                <a:cs typeface="Roboto" pitchFamily="34" charset="-120"/>
              </a:rPr>
              <a:t>Sistema Q: ρ</a:t>
            </a:r>
            <a:endParaRPr lang="en-US" sz="1400" dirty="0"/>
          </a:p>
        </p:txBody>
      </p:sp>
      <p:sp>
        <p:nvSpPr>
          <p:cNvPr id="18" name="Text 15"/>
          <p:cNvSpPr/>
          <p:nvPr/>
        </p:nvSpPr>
        <p:spPr>
          <a:xfrm>
            <a:off x="759460" y="3741341"/>
            <a:ext cx="1831340" cy="279598"/>
          </a:xfrm>
          <a:prstGeom prst="rect">
            <a:avLst/>
          </a:prstGeom>
          <a:noFill/>
          <a:ln/>
        </p:spPr>
        <p:txBody>
          <a:bodyPr wrap="square" lIns="0" tIns="0" rIns="0" bIns="0" rtlCol="0" anchor="t">
            <a:normAutofit/>
          </a:bodyPr>
          <a:lstStyle/>
          <a:p>
            <a:pPr marL="0" indent="0" algn="r">
              <a:lnSpc>
                <a:spcPts val="2002"/>
              </a:lnSpc>
              <a:buNone/>
            </a:pPr>
            <a:r>
              <a:rPr lang="en-US" sz="1400" b="1" dirty="0">
                <a:solidFill>
                  <a:srgbClr val="1D1D1B"/>
                </a:solidFill>
                <a:latin typeface="Roboto" pitchFamily="34" charset="0"/>
                <a:ea typeface="Roboto" pitchFamily="34" charset="-122"/>
                <a:cs typeface="Roboto" pitchFamily="34" charset="-120"/>
              </a:rPr>
              <a:t>Entorno E: puro</a:t>
            </a:r>
            <a:endParaRPr lang="en-US" sz="1400" dirty="0"/>
          </a:p>
        </p:txBody>
      </p:sp>
      <p:sp>
        <p:nvSpPr>
          <p:cNvPr id="19" name="Text 16"/>
          <p:cNvSpPr/>
          <p:nvPr/>
        </p:nvSpPr>
        <p:spPr>
          <a:xfrm>
            <a:off x="8686800" y="2445941"/>
            <a:ext cx="2489200" cy="332680"/>
          </a:xfrm>
          <a:prstGeom prst="roundRect">
            <a:avLst>
              <a:gd name="adj" fmla="val 15270"/>
            </a:avLst>
          </a:prstGeom>
          <a:solidFill>
            <a:srgbClr val="FFEE00"/>
          </a:solidFill>
          <a:ln/>
        </p:spPr>
        <p:txBody>
          <a:bodyPr wrap="square" lIns="86721" tIns="35921" rIns="18141" bIns="10521" rtlCol="0" anchor="t">
            <a:normAutofit/>
          </a:bodyPr>
          <a:lstStyle/>
          <a:p>
            <a:pPr marL="0" indent="0" algn="l">
              <a:lnSpc>
                <a:spcPts val="1820"/>
              </a:lnSpc>
              <a:buNone/>
            </a:pPr>
            <a:r>
              <a:rPr lang="en-US" sz="1400" b="1" dirty="0">
                <a:solidFill>
                  <a:srgbClr val="1D1D1B"/>
                </a:solidFill>
                <a:latin typeface="Roboto" pitchFamily="34" charset="0"/>
                <a:ea typeface="Roboto" pitchFamily="34" charset="-122"/>
                <a:cs typeface="Roboto" pitchFamily="34" charset="-120"/>
              </a:rPr>
              <a:t>ρ″: estado mixto con ruido</a:t>
            </a:r>
            <a:endParaRPr lang="en-US" sz="1400" dirty="0"/>
          </a:p>
        </p:txBody>
      </p:sp>
      <p:sp>
        <p:nvSpPr>
          <p:cNvPr id="20" name="Text 17"/>
          <p:cNvSpPr/>
          <p:nvPr/>
        </p:nvSpPr>
        <p:spPr>
          <a:xfrm>
            <a:off x="812800" y="469384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1</a:t>
            </a:r>
            <a:endParaRPr lang="en-US" sz="1200" dirty="0"/>
          </a:p>
        </p:txBody>
      </p:sp>
      <p:sp>
        <p:nvSpPr>
          <p:cNvPr id="21" name="Text 18"/>
          <p:cNvSpPr/>
          <p:nvPr/>
        </p:nvSpPr>
        <p:spPr>
          <a:xfrm>
            <a:off x="1219200" y="4693841"/>
            <a:ext cx="262846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Sistema + entorno en un estado puro.</a:t>
            </a:r>
            <a:endParaRPr lang="en-US" sz="1400" dirty="0"/>
          </a:p>
        </p:txBody>
      </p:sp>
      <p:sp>
        <p:nvSpPr>
          <p:cNvPr id="22" name="Text 19"/>
          <p:cNvSpPr/>
          <p:nvPr/>
        </p:nvSpPr>
        <p:spPr>
          <a:xfrm>
            <a:off x="4025106" y="469384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2</a:t>
            </a:r>
            <a:endParaRPr lang="en-US" sz="1200" dirty="0"/>
          </a:p>
        </p:txBody>
      </p:sp>
      <p:sp>
        <p:nvSpPr>
          <p:cNvPr id="23" name="Text 20"/>
          <p:cNvSpPr/>
          <p:nvPr/>
        </p:nvSpPr>
        <p:spPr>
          <a:xfrm>
            <a:off x="4431506" y="4693841"/>
            <a:ext cx="262856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Un unitario conjunto sobre los dos.</a:t>
            </a:r>
            <a:endParaRPr lang="en-US" sz="1400" dirty="0"/>
          </a:p>
        </p:txBody>
      </p:sp>
      <p:sp>
        <p:nvSpPr>
          <p:cNvPr id="24" name="Text 21"/>
          <p:cNvSpPr/>
          <p:nvPr/>
        </p:nvSpPr>
        <p:spPr>
          <a:xfrm>
            <a:off x="7237512" y="469384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EE00"/>
          </a:solidFill>
          <a:ln/>
        </p:spPr>
        <p:txBody>
          <a:bodyPr wrap="square" lIns="0" tIns="0" rIns="0" bIns="0" rtlCol="0" anchor="t">
            <a:normAutofit/>
          </a:bodyPr>
          <a:lstStyle/>
          <a:p>
            <a:pPr marL="0" indent="0" algn="ctr">
              <a:lnSpc>
                <a:spcPts val="2196"/>
              </a:lnSpc>
              <a:buNone/>
            </a:pPr>
            <a:r>
              <a:rPr lang="en-US" sz="1200" b="1" dirty="0">
                <a:solidFill>
                  <a:srgbClr val="1D1D1B"/>
                </a:solidFill>
                <a:latin typeface="Roboto" pitchFamily="34" charset="0"/>
                <a:ea typeface="Roboto" pitchFamily="34" charset="-122"/>
                <a:cs typeface="Roboto" pitchFamily="34" charset="-120"/>
              </a:rPr>
              <a:t>3</a:t>
            </a:r>
            <a:endParaRPr lang="en-US" sz="1200" dirty="0"/>
          </a:p>
        </p:txBody>
      </p:sp>
      <p:sp>
        <p:nvSpPr>
          <p:cNvPr id="25" name="Text 22"/>
          <p:cNvSpPr/>
          <p:nvPr/>
        </p:nvSpPr>
        <p:spPr>
          <a:xfrm>
            <a:off x="7643912" y="4693841"/>
            <a:ext cx="3847347"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Se descarta el entorno sin medirlo (traza parcial): el qubit queda en el estado mixto con ruido.</a:t>
            </a:r>
            <a:endParaRPr lang="en-US" sz="1400" dirty="0"/>
          </a:p>
        </p:txBody>
      </p:sp>
      <p:sp>
        <p:nvSpPr>
          <p:cNvPr id="26" name="Text 23"/>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7" name="Text 24"/>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HARDWARE Y CIERRE · TRABAJO EN CURSO</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Un circuito probado y un computador de 2 qubits</a:t>
            </a:r>
            <a:endParaRPr lang="en-US" sz="2800" dirty="0"/>
          </a:p>
        </p:txBody>
      </p:sp>
      <p:sp>
        <p:nvSpPr>
          <p:cNvPr id="8" name="Shape 5"/>
          <p:cNvSpPr/>
          <p:nvPr/>
        </p:nvSpPr>
        <p:spPr>
          <a:xfrm>
            <a:off x="812800" y="1432520"/>
            <a:ext cx="5700911" cy="3574653"/>
          </a:xfrm>
          <a:prstGeom prst="roundRect">
            <a:avLst>
              <a:gd name="adj" fmla="val 2842"/>
            </a:avLst>
          </a:prstGeom>
          <a:solidFill>
            <a:srgbClr val="F4F4F2"/>
          </a:solidFill>
          <a:ln/>
        </p:spPr>
        <p:txBody>
          <a:bodyPr/>
          <a:lstStyle/>
          <a:p>
            <a:endParaRPr lang="en-CO"/>
          </a:p>
        </p:txBody>
      </p:sp>
      <p:sp>
        <p:nvSpPr>
          <p:cNvPr id="9" name="Text 6"/>
          <p:cNvSpPr/>
          <p:nvPr/>
        </p:nvSpPr>
        <p:spPr>
          <a:xfrm>
            <a:off x="1066800" y="1635720"/>
            <a:ext cx="534869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Chapeau-Blondeau (2022)</a:t>
            </a:r>
            <a:endParaRPr lang="en-US" sz="1800" dirty="0"/>
          </a:p>
        </p:txBody>
      </p:sp>
      <p:sp>
        <p:nvSpPr>
          <p:cNvPr id="10" name="Text 7"/>
          <p:cNvSpPr/>
          <p:nvPr/>
        </p:nvSpPr>
        <p:spPr>
          <a:xfrm>
            <a:off x="1066800" y="1998861"/>
            <a:ext cx="5348698"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6E6E6C"/>
                </a:solidFill>
                <a:latin typeface="Roboto" pitchFamily="34" charset="0"/>
                <a:ea typeface="Roboto" pitchFamily="34" charset="-122"/>
                <a:cs typeface="Roboto" pitchFamily="34" charset="-120"/>
              </a:rPr>
              <a:t>Modeling and simulation of a quantum thermal noise on the qubit.</a:t>
            </a:r>
            <a:r>
              <a:rPr lang="en-US" sz="1200" dirty="0">
                <a:solidFill>
                  <a:srgbClr val="6E6E6C"/>
                </a:solidFill>
                <a:latin typeface="Roboto" pitchFamily="34" charset="0"/>
                <a:ea typeface="Roboto" pitchFamily="34" charset="-122"/>
                <a:cs typeface="Roboto" pitchFamily="34" charset="-120"/>
              </a:rPr>
              <a:t> Fluctuation and Noise Letters 21, 2250060 · arXiv:2212.03582</a:t>
            </a:r>
            <a:endParaRPr lang="en-US" sz="1200" dirty="0"/>
          </a:p>
        </p:txBody>
      </p:sp>
      <p:sp>
        <p:nvSpPr>
          <p:cNvPr id="11" name="Text 8"/>
          <p:cNvSpPr/>
          <p:nvPr/>
        </p:nvSpPr>
        <p:spPr>
          <a:xfrm>
            <a:off x="1066800" y="2552502"/>
            <a:ext cx="53486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3 qubits: Q, un entorno E y un auxiliar que deja a E en el estado térmico</a:t>
            </a:r>
            <a:endParaRPr lang="en-US" sz="1200" dirty="0"/>
          </a:p>
        </p:txBody>
      </p:sp>
      <p:pic>
        <p:nvPicPr>
          <p:cNvPr id="12" name="Image 1" descr="ρ_E = p|0⟩⟨0| + (1−p)|1⟩⟨1|"/>
          <p:cNvPicPr>
            <a:picLocks noChangeAspect="1"/>
          </p:cNvPicPr>
          <p:nvPr/>
        </p:nvPicPr>
        <p:blipFill>
          <a:blip r:embed="rId4"/>
          <a:srcRect t="-373" b="-373"/>
          <a:stretch/>
        </p:blipFill>
        <p:spPr>
          <a:xfrm>
            <a:off x="1066800" y="2803922"/>
            <a:ext cx="2857500" cy="285750"/>
          </a:xfrm>
          <a:prstGeom prst="rect">
            <a:avLst/>
          </a:prstGeom>
        </p:spPr>
      </p:pic>
      <p:sp>
        <p:nvSpPr>
          <p:cNvPr id="13" name="Text 9"/>
          <p:cNvSpPr/>
          <p:nvPr/>
        </p:nvSpPr>
        <p:spPr>
          <a:xfrm>
            <a:off x="1066800" y="3243362"/>
            <a:ext cx="776585"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Se prepara</a:t>
            </a:r>
            <a:endParaRPr lang="en-US" sz="1200" dirty="0"/>
          </a:p>
        </p:txBody>
      </p:sp>
      <p:pic>
        <p:nvPicPr>
          <p:cNvPr id="14" name="Image 2" descr="|p⟩ = √p|0⟩ + √(1−p)|1⟩"/>
          <p:cNvPicPr>
            <a:picLocks noChangeAspect="1"/>
          </p:cNvPicPr>
          <p:nvPr/>
        </p:nvPicPr>
        <p:blipFill>
          <a:blip r:embed="rId5"/>
          <a:srcRect t="-311" b="-311"/>
          <a:stretch/>
        </p:blipFill>
        <p:spPr>
          <a:xfrm>
            <a:off x="1894185" y="3178572"/>
            <a:ext cx="2635250" cy="342900"/>
          </a:xfrm>
          <a:prstGeom prst="rect">
            <a:avLst/>
          </a:prstGeom>
        </p:spPr>
      </p:pic>
      <p:sp>
        <p:nvSpPr>
          <p:cNvPr id="15" name="Text 10"/>
          <p:cNvSpPr/>
          <p:nvPr/>
        </p:nvSpPr>
        <p:spPr>
          <a:xfrm>
            <a:off x="1066800" y="3559572"/>
            <a:ext cx="53486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Una CNOT los entrelaza y se descarta uno.</a:t>
            </a:r>
            <a:endParaRPr lang="en-US" sz="1200" dirty="0"/>
          </a:p>
        </p:txBody>
      </p:sp>
      <p:sp>
        <p:nvSpPr>
          <p:cNvPr id="16" name="Text 11"/>
          <p:cNvSpPr/>
          <p:nvPr/>
        </p:nvSpPr>
        <p:spPr>
          <a:xfrm>
            <a:off x="1066800" y="3861792"/>
            <a:ext cx="391275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5 CNOT y rotaciones RY: p se controla con ese estado y γ con el ángulo</a:t>
            </a:r>
            <a:endParaRPr lang="en-US" sz="1200" dirty="0"/>
          </a:p>
        </p:txBody>
      </p:sp>
      <p:pic>
        <p:nvPicPr>
          <p:cNvPr id="17" name="Image 3" descr="ξ = −arcsin √γ"/>
          <p:cNvPicPr>
            <a:picLocks noChangeAspect="1"/>
          </p:cNvPicPr>
          <p:nvPr/>
        </p:nvPicPr>
        <p:blipFill>
          <a:blip r:embed="rId6"/>
          <a:srcRect t="-12676" b="-12676"/>
          <a:stretch/>
        </p:blipFill>
        <p:spPr>
          <a:xfrm>
            <a:off x="4967188" y="3929063"/>
            <a:ext cx="1292523" cy="292100"/>
          </a:xfrm>
          <a:prstGeom prst="rect">
            <a:avLst/>
          </a:prstGeom>
        </p:spPr>
      </p:pic>
      <p:sp>
        <p:nvSpPr>
          <p:cNvPr id="18" name="Text 12"/>
          <p:cNvSpPr/>
          <p:nvPr/>
        </p:nvSpPr>
        <p:spPr>
          <a:xfrm>
            <a:off x="1066800" y="4377333"/>
            <a:ext cx="534869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3C3B"/>
                </a:solidFill>
                <a:latin typeface="Roboto" pitchFamily="34" charset="0"/>
                <a:ea typeface="Roboto" pitchFamily="34" charset="-122"/>
                <a:cs typeface="Roboto" pitchFamily="34" charset="-120"/>
              </a:rPr>
              <a:t>Probado en ibmq_bogota con 10⁴ mediciones por punto: coincide con la teoría, con desviaciones atribuibles al ruido propio del procesador.</a:t>
            </a:r>
            <a:endParaRPr lang="en-US" sz="1200" dirty="0"/>
          </a:p>
        </p:txBody>
      </p:sp>
      <p:sp>
        <p:nvSpPr>
          <p:cNvPr id="19" name="Shape 13"/>
          <p:cNvSpPr/>
          <p:nvPr/>
        </p:nvSpPr>
        <p:spPr>
          <a:xfrm>
            <a:off x="6716911" y="1432520"/>
            <a:ext cx="4662289" cy="3574653"/>
          </a:xfrm>
          <a:prstGeom prst="roundRect">
            <a:avLst>
              <a:gd name="adj" fmla="val 2842"/>
            </a:avLst>
          </a:prstGeom>
          <a:solidFill>
            <a:srgbClr val="FFEE00"/>
          </a:solidFill>
          <a:ln/>
        </p:spPr>
        <p:txBody>
          <a:bodyPr/>
          <a:lstStyle/>
          <a:p>
            <a:endParaRPr lang="en-CO"/>
          </a:p>
        </p:txBody>
      </p:sp>
      <p:sp>
        <p:nvSpPr>
          <p:cNvPr id="20" name="Text 14"/>
          <p:cNvSpPr/>
          <p:nvPr/>
        </p:nvSpPr>
        <p:spPr>
          <a:xfrm>
            <a:off x="6970911" y="1635720"/>
            <a:ext cx="427891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1D1B"/>
                </a:solidFill>
                <a:latin typeface="Roboto" pitchFamily="34" charset="0"/>
                <a:ea typeface="Roboto" pitchFamily="34" charset="-122"/>
                <a:cs typeface="Roboto" pitchFamily="34" charset="-120"/>
              </a:rPr>
              <a:t>NUESTRA RESTRICCIÓN</a:t>
            </a:r>
            <a:endParaRPr lang="en-US" sz="1200" dirty="0"/>
          </a:p>
        </p:txBody>
      </p:sp>
      <p:sp>
        <p:nvSpPr>
          <p:cNvPr id="21" name="Text 15"/>
          <p:cNvSpPr/>
          <p:nvPr/>
        </p:nvSpPr>
        <p:spPr>
          <a:xfrm>
            <a:off x="6970911" y="1950641"/>
            <a:ext cx="4278918"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1D1D1B"/>
                </a:solidFill>
                <a:latin typeface="DM Sans" pitchFamily="34" charset="0"/>
                <a:ea typeface="DM Sans" pitchFamily="34" charset="-122"/>
                <a:cs typeface="DM Sans" pitchFamily="34" charset="-120"/>
              </a:rPr>
              <a:t>2 qubits</a:t>
            </a:r>
            <a:endParaRPr lang="en-US" sz="4800" dirty="0"/>
          </a:p>
        </p:txBody>
      </p:sp>
      <p:sp>
        <p:nvSpPr>
          <p:cNvPr id="22" name="Text 16"/>
          <p:cNvSpPr/>
          <p:nvPr/>
        </p:nvSpPr>
        <p:spPr>
          <a:xfrm>
            <a:off x="6970911" y="2692301"/>
            <a:ext cx="427891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1D1B"/>
                </a:solidFill>
                <a:latin typeface="Roboto" pitchFamily="34" charset="0"/>
                <a:ea typeface="Roboto" pitchFamily="34" charset="-122"/>
                <a:cs typeface="Roboto" pitchFamily="34" charset="-120"/>
              </a:rPr>
              <a:t>en el computador cuántico de la universidad.</a:t>
            </a:r>
            <a:endParaRPr lang="en-US" sz="1400" dirty="0"/>
          </a:p>
        </p:txBody>
      </p:sp>
      <p:sp>
        <p:nvSpPr>
          <p:cNvPr id="23" name="Text 17"/>
          <p:cNvSpPr/>
          <p:nvPr/>
        </p:nvSpPr>
        <p:spPr>
          <a:xfrm>
            <a:off x="6970911" y="3042741"/>
            <a:ext cx="42789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1D1B"/>
                </a:solidFill>
                <a:latin typeface="Roboto" pitchFamily="34" charset="0"/>
                <a:ea typeface="Roboto" pitchFamily="34" charset="-122"/>
                <a:cs typeface="Roboto" pitchFamily="34" charset="-120"/>
              </a:rPr>
              <a:t>Pregunta abierta:</a:t>
            </a:r>
            <a:r>
              <a:rPr lang="en-US" sz="1400" dirty="0">
                <a:solidFill>
                  <a:srgbClr val="1D1D1B"/>
                </a:solidFill>
                <a:latin typeface="Roboto" pitchFamily="34" charset="0"/>
                <a:ea typeface="Roboto" pitchFamily="34" charset="-122"/>
                <a:cs typeface="Roboto" pitchFamily="34" charset="-120"/>
              </a:rPr>
              <a:t> cómo implementar GAD (y el depolarizante) con p = 0.5 dentro de ese límite.</a:t>
            </a:r>
            <a:endParaRPr lang="en-US" sz="1400" dirty="0"/>
          </a:p>
        </p:txBody>
      </p:sp>
      <p:sp>
        <p:nvSpPr>
          <p:cNvPr id="24" name="Shape 18"/>
          <p:cNvSpPr/>
          <p:nvPr/>
        </p:nvSpPr>
        <p:spPr>
          <a:xfrm>
            <a:off x="6970911" y="4282083"/>
            <a:ext cx="4154289" cy="0"/>
          </a:xfrm>
          <a:prstGeom prst="line">
            <a:avLst/>
          </a:prstGeom>
          <a:noFill/>
          <a:ln w="12700">
            <a:solidFill>
              <a:srgbClr val="1D1D1B"/>
            </a:solidFill>
            <a:prstDash val="solid"/>
          </a:ln>
        </p:spPr>
        <p:txBody>
          <a:bodyPr/>
          <a:lstStyle/>
          <a:p>
            <a:endParaRPr lang="en-CO"/>
          </a:p>
        </p:txBody>
      </p:sp>
      <p:sp>
        <p:nvSpPr>
          <p:cNvPr id="25" name="Text 19"/>
          <p:cNvSpPr/>
          <p:nvPr/>
        </p:nvSpPr>
        <p:spPr>
          <a:xfrm>
            <a:off x="6970911" y="4377333"/>
            <a:ext cx="4278918"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1D1B"/>
                </a:solidFill>
                <a:latin typeface="Roboto" pitchFamily="34" charset="0"/>
                <a:ea typeface="Roboto" pitchFamily="34" charset="-122"/>
                <a:cs typeface="Roboto" pitchFamily="34" charset="-120"/>
              </a:rPr>
              <a:t>Esta semana:</a:t>
            </a:r>
            <a:r>
              <a:rPr lang="en-US" sz="1200" dirty="0">
                <a:solidFill>
                  <a:srgbClr val="1D1D1B"/>
                </a:solidFill>
                <a:latin typeface="Roboto" pitchFamily="34" charset="0"/>
                <a:ea typeface="Roboto" pitchFamily="34" charset="-122"/>
                <a:cs typeface="Roboto" pitchFamily="34" charset="-120"/>
              </a:rPr>
              <a:t> prueba de concepto, comparando las probabilidades medidas contra las teóricas.</a:t>
            </a:r>
            <a:endParaRPr lang="en-US" sz="1200" dirty="0"/>
          </a:p>
        </p:txBody>
      </p:sp>
      <p:sp>
        <p:nvSpPr>
          <p:cNvPr id="26" name="Text 20"/>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7" name="Text 21"/>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HARDWARE Y CIERRE</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Conclusiones</a:t>
            </a:r>
            <a:endParaRPr lang="en-US" sz="2800" dirty="0"/>
          </a:p>
        </p:txBody>
      </p:sp>
      <p:sp>
        <p:nvSpPr>
          <p:cNvPr id="8" name="Shape 5"/>
          <p:cNvSpPr/>
          <p:nvPr/>
        </p:nvSpPr>
        <p:spPr>
          <a:xfrm>
            <a:off x="812800" y="1464270"/>
            <a:ext cx="10566400" cy="0"/>
          </a:xfrm>
          <a:prstGeom prst="line">
            <a:avLst/>
          </a:prstGeom>
          <a:noFill/>
          <a:ln w="12700">
            <a:solidFill>
              <a:srgbClr val="1D1D1B"/>
            </a:solidFill>
            <a:prstDash val="solid"/>
          </a:ln>
        </p:spPr>
        <p:txBody>
          <a:bodyPr/>
          <a:lstStyle/>
          <a:p>
            <a:endParaRPr lang="en-CO"/>
          </a:p>
        </p:txBody>
      </p:sp>
      <p:sp>
        <p:nvSpPr>
          <p:cNvPr id="9" name="Text 6"/>
          <p:cNvSpPr/>
          <p:nvPr/>
        </p:nvSpPr>
        <p:spPr>
          <a:xfrm>
            <a:off x="812800" y="1648420"/>
            <a:ext cx="457200" cy="457200"/>
          </a:xfrm>
          <a:prstGeom prst="rect">
            <a:avLst/>
          </a:prstGeom>
          <a:solidFill>
            <a:srgbClr val="FFEE00"/>
          </a:solidFill>
          <a:ln/>
        </p:spPr>
        <p:txBody>
          <a:bodyPr wrap="square" lIns="0" tIns="0" rIns="0" bIns="0" rtlCol="0" anchor="t">
            <a:normAutofit/>
          </a:bodyPr>
          <a:lstStyle/>
          <a:p>
            <a:pPr marL="0" indent="0" algn="ctr">
              <a:lnSpc>
                <a:spcPts val="3608"/>
              </a:lnSpc>
              <a:buNone/>
            </a:pPr>
            <a:r>
              <a:rPr lang="en-US" sz="2200" b="1" dirty="0">
                <a:solidFill>
                  <a:srgbClr val="1D1D1B"/>
                </a:solidFill>
                <a:latin typeface="DM Sans" pitchFamily="34" charset="0"/>
                <a:ea typeface="DM Sans" pitchFamily="34" charset="-122"/>
                <a:cs typeface="DM Sans" pitchFamily="34" charset="-120"/>
              </a:rPr>
              <a:t>1</a:t>
            </a:r>
            <a:endParaRPr lang="en-US" sz="2200" dirty="0"/>
          </a:p>
        </p:txBody>
      </p:sp>
      <p:sp>
        <p:nvSpPr>
          <p:cNvPr id="10" name="Text 7"/>
          <p:cNvSpPr/>
          <p:nvPr/>
        </p:nvSpPr>
        <p:spPr>
          <a:xfrm>
            <a:off x="1524000" y="1648420"/>
            <a:ext cx="1015085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Los mecanismos cumplen la teoría</a:t>
            </a:r>
            <a:endParaRPr lang="en-US" sz="1800" dirty="0"/>
          </a:p>
        </p:txBody>
      </p:sp>
      <p:sp>
        <p:nvSpPr>
          <p:cNvPr id="11" name="Text 8"/>
          <p:cNvSpPr/>
          <p:nvPr/>
        </p:nvSpPr>
        <p:spPr>
          <a:xfrm>
            <a:off x="1524000" y="1973461"/>
            <a:ext cx="1015085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En depolarizante, PAD y GAD, el ε experimental quedó bajo la cota en todas las columnas y en las dos formas de publicar. La cota se alcanza solo para pares de estados ortogonales. El ruido cuántico puede proteger datos clásicos codificados en estados cuánticos con la garantía que predice la teoría.</a:t>
            </a:r>
            <a:endParaRPr lang="en-US" sz="1400" dirty="0"/>
          </a:p>
        </p:txBody>
      </p:sp>
      <p:sp>
        <p:nvSpPr>
          <p:cNvPr id="12" name="Shape 9"/>
          <p:cNvSpPr/>
          <p:nvPr/>
        </p:nvSpPr>
        <p:spPr>
          <a:xfrm>
            <a:off x="812800" y="2900958"/>
            <a:ext cx="10566400" cy="0"/>
          </a:xfrm>
          <a:prstGeom prst="line">
            <a:avLst/>
          </a:prstGeom>
          <a:noFill/>
          <a:ln w="6350">
            <a:solidFill>
              <a:srgbClr val="D4D4D0"/>
            </a:solidFill>
            <a:prstDash val="solid"/>
          </a:ln>
        </p:spPr>
        <p:txBody>
          <a:bodyPr/>
          <a:lstStyle/>
          <a:p>
            <a:endParaRPr lang="en-CO"/>
          </a:p>
        </p:txBody>
      </p:sp>
      <p:sp>
        <p:nvSpPr>
          <p:cNvPr id="13" name="Text 10"/>
          <p:cNvSpPr/>
          <p:nvPr/>
        </p:nvSpPr>
        <p:spPr>
          <a:xfrm>
            <a:off x="812800" y="3081933"/>
            <a:ext cx="457200" cy="457200"/>
          </a:xfrm>
          <a:prstGeom prst="rect">
            <a:avLst/>
          </a:prstGeom>
          <a:solidFill>
            <a:srgbClr val="FFEE00"/>
          </a:solidFill>
          <a:ln/>
        </p:spPr>
        <p:txBody>
          <a:bodyPr wrap="square" lIns="0" tIns="0" rIns="0" bIns="0" rtlCol="0" anchor="t">
            <a:normAutofit/>
          </a:bodyPr>
          <a:lstStyle/>
          <a:p>
            <a:pPr marL="0" indent="0" algn="ctr">
              <a:lnSpc>
                <a:spcPts val="3608"/>
              </a:lnSpc>
              <a:buNone/>
            </a:pPr>
            <a:r>
              <a:rPr lang="en-US" sz="2200" b="1" dirty="0">
                <a:solidFill>
                  <a:srgbClr val="1D1D1B"/>
                </a:solidFill>
                <a:latin typeface="DM Sans" pitchFamily="34" charset="0"/>
                <a:ea typeface="DM Sans" pitchFamily="34" charset="-122"/>
                <a:cs typeface="DM Sans" pitchFamily="34" charset="-120"/>
              </a:rPr>
              <a:t>2</a:t>
            </a:r>
            <a:endParaRPr lang="en-US" sz="2200" dirty="0"/>
          </a:p>
        </p:txBody>
      </p:sp>
      <p:sp>
        <p:nvSpPr>
          <p:cNvPr id="14" name="Text 11"/>
          <p:cNvSpPr/>
          <p:nvPr/>
        </p:nvSpPr>
        <p:spPr>
          <a:xfrm>
            <a:off x="1524000" y="3081933"/>
            <a:ext cx="1015085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Consumo cuántico</a:t>
            </a:r>
            <a:endParaRPr lang="en-US" sz="1800" dirty="0"/>
          </a:p>
        </p:txBody>
      </p:sp>
      <p:sp>
        <p:nvSpPr>
          <p:cNvPr id="15" name="Text 12"/>
          <p:cNvSpPr/>
          <p:nvPr/>
        </p:nvSpPr>
        <p:spPr>
          <a:xfrm>
            <a:off x="1524000" y="3406973"/>
            <a:ext cx="1015085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Si un proceso cuántico consume una o pocas copias del estado privatizado, la garantía del modelo central es muy fuerte: ε ≈ 0.1 por copia con los 7 qubits.</a:t>
            </a:r>
            <a:endParaRPr lang="en-US" sz="1400" dirty="0"/>
          </a:p>
        </p:txBody>
      </p:sp>
      <p:sp>
        <p:nvSpPr>
          <p:cNvPr id="16" name="Shape 13"/>
          <p:cNvSpPr/>
          <p:nvPr/>
        </p:nvSpPr>
        <p:spPr>
          <a:xfrm>
            <a:off x="812800" y="4085630"/>
            <a:ext cx="10566400" cy="0"/>
          </a:xfrm>
          <a:prstGeom prst="line">
            <a:avLst/>
          </a:prstGeom>
          <a:noFill/>
          <a:ln w="6350">
            <a:solidFill>
              <a:srgbClr val="D4D4D0"/>
            </a:solidFill>
            <a:prstDash val="solid"/>
          </a:ln>
        </p:spPr>
        <p:txBody>
          <a:bodyPr/>
          <a:lstStyle/>
          <a:p>
            <a:endParaRPr lang="en-CO"/>
          </a:p>
        </p:txBody>
      </p:sp>
      <p:sp>
        <p:nvSpPr>
          <p:cNvPr id="17" name="Shape 14"/>
          <p:cNvSpPr/>
          <p:nvPr/>
        </p:nvSpPr>
        <p:spPr>
          <a:xfrm>
            <a:off x="812800" y="5270302"/>
            <a:ext cx="10566400" cy="0"/>
          </a:xfrm>
          <a:prstGeom prst="line">
            <a:avLst/>
          </a:prstGeom>
          <a:noFill/>
          <a:ln w="6350">
            <a:solidFill>
              <a:srgbClr val="D4D4D0"/>
            </a:solidFill>
            <a:prstDash val="solid"/>
          </a:ln>
        </p:spPr>
        <p:txBody>
          <a:bodyPr/>
          <a:lstStyle/>
          <a:p>
            <a:endParaRPr lang="en-CO"/>
          </a:p>
        </p:txBody>
      </p:sp>
      <p:sp>
        <p:nvSpPr>
          <p:cNvPr id="18" name="Text 15"/>
          <p:cNvSpPr/>
          <p:nvPr/>
        </p:nvSpPr>
        <p:spPr>
          <a:xfrm>
            <a:off x="812800" y="4266605"/>
            <a:ext cx="457200" cy="457200"/>
          </a:xfrm>
          <a:prstGeom prst="rect">
            <a:avLst/>
          </a:prstGeom>
          <a:solidFill>
            <a:srgbClr val="FFEE00"/>
          </a:solidFill>
          <a:ln/>
        </p:spPr>
        <p:txBody>
          <a:bodyPr wrap="square" lIns="0" tIns="0" rIns="0" bIns="0" rtlCol="0" anchor="t">
            <a:normAutofit/>
          </a:bodyPr>
          <a:lstStyle/>
          <a:p>
            <a:pPr marL="0" indent="0" algn="ctr">
              <a:lnSpc>
                <a:spcPts val="3608"/>
              </a:lnSpc>
              <a:buNone/>
            </a:pPr>
            <a:r>
              <a:rPr lang="en-US" sz="2200" b="1" dirty="0">
                <a:solidFill>
                  <a:srgbClr val="1D1D1B"/>
                </a:solidFill>
                <a:latin typeface="DM Sans" pitchFamily="34" charset="0"/>
                <a:ea typeface="DM Sans" pitchFamily="34" charset="-122"/>
                <a:cs typeface="DM Sans" pitchFamily="34" charset="-120"/>
              </a:rPr>
              <a:t>3</a:t>
            </a:r>
            <a:endParaRPr lang="en-US" sz="2200" dirty="0"/>
          </a:p>
        </p:txBody>
      </p:sp>
      <p:sp>
        <p:nvSpPr>
          <p:cNvPr id="19" name="Text 16"/>
          <p:cNvSpPr/>
          <p:nvPr/>
        </p:nvSpPr>
        <p:spPr>
          <a:xfrm>
            <a:off x="1524000" y="4266605"/>
            <a:ext cx="1015085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Decuantización</a:t>
            </a:r>
            <a:endParaRPr lang="en-US" sz="1800" dirty="0"/>
          </a:p>
        </p:txBody>
      </p:sp>
      <p:sp>
        <p:nvSpPr>
          <p:cNvPr id="20" name="Text 17"/>
          <p:cNvSpPr/>
          <p:nvPr/>
        </p:nvSpPr>
        <p:spPr>
          <a:xfrm>
            <a:off x="1524000" y="4591645"/>
            <a:ext cx="1015085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Volver al mundo clásico exige medir, y la forma de hacerlo determina el costo en privacidad. Los dos diseños, a continuación.</a:t>
            </a:r>
            <a:endParaRPr lang="en-US" sz="1400" dirty="0"/>
          </a:p>
        </p:txBody>
      </p:sp>
      <p:sp>
        <p:nvSpPr>
          <p:cNvPr id="21" name="Text 18"/>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2" name="Text 19"/>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HARDWARE Y CIERRE</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Decuantizar: diseño C contra diseño L</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394420"/>
          <a:ext cx="10553700" cy="3054648"/>
        </p:xfrm>
        <a:graphic>
          <a:graphicData uri="http://schemas.openxmlformats.org/drawingml/2006/table">
            <a:tbl>
              <a:tblPr/>
              <a:tblGrid>
                <a:gridCol w="1688592">
                  <a:extLst>
                    <a:ext uri="{9D8B030D-6E8A-4147-A177-3AD203B41FA5}">
                      <a16:colId xmlns:a16="http://schemas.microsoft.com/office/drawing/2014/main" val="20000"/>
                    </a:ext>
                  </a:extLst>
                </a:gridCol>
                <a:gridCol w="4432554">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59271">
                <a:tc>
                  <a:txBody>
                    <a:bodyPr/>
                    <a:lstStyle/>
                    <a:p>
                      <a:pPr marL="0" indent="0">
                        <a:lnSpc>
                          <a:spcPts val="1820"/>
                        </a:lnSpc>
                        <a:buNone/>
                      </a:pP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C · central</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tc>
                  <a:txBody>
                    <a:bodyPr/>
                    <a:lstStyle/>
                    <a:p>
                      <a:pPr marL="0" indent="0">
                        <a:lnSpc>
                          <a:spcPts val="1820"/>
                        </a:lnSpc>
                        <a:buNone/>
                      </a:pPr>
                      <a:r>
                        <a:rPr lang="en-US" sz="1300" b="1" dirty="0">
                          <a:solidFill>
                            <a:srgbClr val="FFFFFF"/>
                          </a:solidFill>
                          <a:latin typeface="Roboto" pitchFamily="34" charset="0"/>
                          <a:ea typeface="Roboto" pitchFamily="34" charset="-122"/>
                          <a:cs typeface="Roboto" pitchFamily="34" charset="-120"/>
                        </a:rPr>
                        <a:t>L · local</a:t>
                      </a:r>
                      <a:endParaRPr lang="en-US" sz="1300" dirty="0">
                        <a:latin typeface="Roboto" charset="0"/>
                        <a:ea typeface="Roboto" charset="0"/>
                        <a:cs typeface="Roboto" charset="0"/>
                      </a:endParaRPr>
                    </a:p>
                  </a:txBody>
                  <a:tcPr marL="57785" marR="57785" marT="57785" marB="57785">
                    <a:lnL w="12700" cap="flat" cmpd="sng" algn="ctr">
                      <a:solidFill>
                        <a:srgbClr val="333332"/>
                      </a:solidFill>
                      <a:prstDash val="solid"/>
                      <a:round/>
                      <a:headEnd type="none" w="med" len="med"/>
                      <a:tailEnd type="none" w="med" len="med"/>
                    </a:lnL>
                    <a:lnR w="12700" cap="flat" cmpd="sng" algn="ctr">
                      <a:solidFill>
                        <a:srgbClr val="33333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333332"/>
                      </a:solidFill>
                      <a:prstDash val="solid"/>
                      <a:round/>
                      <a:headEnd type="none" w="med" len="med"/>
                      <a:tailEnd type="none" w="med" len="med"/>
                    </a:lnB>
                    <a:solidFill>
                      <a:srgbClr val="3C3C3B"/>
                    </a:solidFill>
                  </a:tcPr>
                </a:tc>
                <a:extLst>
                  <a:ext uri="{0D108BD9-81ED-4DB2-BD59-A6C34878D82A}">
                    <a16:rowId xmlns:a16="http://schemas.microsoft.com/office/drawing/2014/main" val="10000"/>
                  </a:ext>
                </a:extLst>
              </a:tr>
              <a:tr h="1052513">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A favor</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ε por copia muy pequeño: con una copia, el atacante gana muy poca certeza adicional.</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Cada persona aparece en un solo resultado (composición paralela): ε no crece con el número de personas ni de publicaciones. Su costo crece con ln D (lineal en qubits). No necesita un curador de confianza.</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33333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1052513">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En contra</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Decuantizar exige muchas copias y cada una suma ε (N·ε). El costo crece con D (exponencial en qubits): con 7 qubits, ε total = 106 con N = 1000. Requiere un curador que reúna los estados; el sorteo agrega varianza.</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El ε por persona es más alto que el ε por copia del central (con 1 qubit: ln 3 ≈ 1.10 contra 0.0006).</a:t>
                      </a:r>
                      <a:endParaRPr lang="en-US" sz="1300" dirty="0">
                        <a:latin typeface="Roboto" charset="0"/>
                        <a:ea typeface="Roboto" charset="0"/>
                        <a:cs typeface="Roboto" charset="0"/>
                      </a:endParaRPr>
                    </a:p>
                  </a:txBody>
                  <a:tcPr marL="57785" marR="57785" marT="57785" marB="57785">
                    <a:lnL w="12700" cap="flat" cmpd="sng" algn="ctr">
                      <a:solidFill>
                        <a:srgbClr val="C3C3C1"/>
                      </a:solidFill>
                      <a:prstDash val="solid"/>
                      <a:round/>
                      <a:headEnd type="none" w="med" len="med"/>
                      <a:tailEnd type="none" w="med" len="med"/>
                    </a:lnL>
                    <a:lnR w="12700" cap="flat" cmpd="sng" algn="ctr">
                      <a:solidFill>
                        <a:srgbClr val="C3C3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3C1"/>
                      </a:solidFill>
                      <a:prstDash val="solid"/>
                      <a:round/>
                      <a:headEnd type="none" w="med" len="med"/>
                      <a:tailEnd type="none" w="med" len="med"/>
                    </a:lnB>
                    <a:solidFill>
                      <a:srgbClr val="F4F4F2"/>
                    </a:solidFill>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1D1D1B"/>
                          </a:solidFill>
                          <a:latin typeface="Roboto" pitchFamily="34" charset="0"/>
                          <a:ea typeface="Roboto" pitchFamily="34" charset="-122"/>
                          <a:cs typeface="Roboto" pitchFamily="34" charset="-120"/>
                        </a:rPr>
                        <a:t>Cuándo conviene</a:t>
                      </a:r>
                      <a:endParaRPr lang="en-US" sz="1300" dirty="0">
                        <a:latin typeface="Roboto" charset="0"/>
                        <a:ea typeface="Roboto" charset="0"/>
                        <a:cs typeface="Robo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Cuando se consumen pocas copias, o se sigue trabajando con los datos en el mundo cuántico.</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tc>
                  <a:txBody>
                    <a:bodyPr/>
                    <a:lstStyle/>
                    <a:p>
                      <a:pPr marL="0" indent="0">
                        <a:lnSpc>
                          <a:spcPts val="1820"/>
                        </a:lnSpc>
                        <a:buNone/>
                      </a:pPr>
                      <a:r>
                        <a:rPr lang="en-US" sz="1300" dirty="0">
                          <a:solidFill>
                            <a:srgbClr val="3C3C3B"/>
                          </a:solidFill>
                          <a:latin typeface="Roboto" pitchFamily="34" charset="0"/>
                          <a:ea typeface="Roboto" pitchFamily="34" charset="-122"/>
                          <a:cs typeface="Roboto" pitchFamily="34" charset="-120"/>
                        </a:rPr>
                        <a:t>Cuando se necesitan estadísticas sobre datos clásicos (muchas muestras).</a:t>
                      </a:r>
                      <a:endParaRPr lang="en-US" sz="1300" dirty="0">
                        <a:latin typeface="Roboto" charset="0"/>
                        <a:ea typeface="Roboto" charset="0"/>
                        <a:cs typeface="Roboto" charset="0"/>
                      </a:endParaRPr>
                    </a:p>
                  </a:txBody>
                  <a:tcPr marL="57785" marR="57785" marT="57785" marB="57785">
                    <a:lnL w="12700" cap="flat" cmpd="sng" algn="ctr">
                      <a:solidFill>
                        <a:srgbClr val="CBC594"/>
                      </a:solidFill>
                      <a:prstDash val="solid"/>
                      <a:round/>
                      <a:headEnd type="none" w="med" len="med"/>
                      <a:tailEnd type="none" w="med" len="med"/>
                    </a:lnL>
                    <a:lnR w="12700" cap="flat" cmpd="sng" algn="ctr">
                      <a:solidFill>
                        <a:srgbClr val="CBC594"/>
                      </a:solidFill>
                      <a:prstDash val="solid"/>
                      <a:round/>
                      <a:headEnd type="none" w="med" len="med"/>
                      <a:tailEnd type="none" w="med" len="med"/>
                    </a:lnR>
                    <a:lnT w="12700" cap="flat" cmpd="sng" algn="ctr">
                      <a:solidFill>
                        <a:srgbClr val="C3C3C1"/>
                      </a:solidFill>
                      <a:prstDash val="solid"/>
                      <a:round/>
                      <a:headEnd type="none" w="med" len="med"/>
                      <a:tailEnd type="none" w="med" len="med"/>
                    </a:lnT>
                    <a:lnB w="12700" cap="flat" cmpd="sng" algn="ctr">
                      <a:solidFill>
                        <a:srgbClr val="CBC594"/>
                      </a:solidFill>
                      <a:prstDash val="solid"/>
                      <a:round/>
                      <a:headEnd type="none" w="med" len="med"/>
                      <a:tailEnd type="none" w="med" len="med"/>
                    </a:lnB>
                    <a:solidFill>
                      <a:srgbClr val="FFF7B8"/>
                    </a:solidFill>
                  </a:tcPr>
                </a:tc>
                <a:extLst>
                  <a:ext uri="{0D108BD9-81ED-4DB2-BD59-A6C34878D82A}">
                    <a16:rowId xmlns:a16="http://schemas.microsoft.com/office/drawing/2014/main" val="10003"/>
                  </a:ext>
                </a:extLst>
              </a:tr>
            </a:tbl>
          </a:graphicData>
        </a:graphic>
      </p:graphicFrame>
      <p:sp>
        <p:nvSpPr>
          <p:cNvPr id="9" name="Shape 5"/>
          <p:cNvSpPr/>
          <p:nvPr/>
        </p:nvSpPr>
        <p:spPr>
          <a:xfrm>
            <a:off x="838200" y="4626868"/>
            <a:ext cx="0" cy="248841"/>
          </a:xfrm>
          <a:prstGeom prst="line">
            <a:avLst/>
          </a:prstGeom>
          <a:noFill/>
          <a:ln w="50800">
            <a:solidFill>
              <a:srgbClr val="FFEE00"/>
            </a:solidFill>
            <a:prstDash val="solid"/>
          </a:ln>
        </p:spPr>
        <p:txBody>
          <a:bodyPr/>
          <a:lstStyle/>
          <a:p>
            <a:endParaRPr lang="en-CO"/>
          </a:p>
        </p:txBody>
      </p:sp>
      <p:sp>
        <p:nvSpPr>
          <p:cNvPr id="10" name="Text 6"/>
          <p:cNvSpPr/>
          <p:nvPr/>
        </p:nvSpPr>
        <p:spPr>
          <a:xfrm>
            <a:off x="990600" y="4626868"/>
            <a:ext cx="1070025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C3C3B"/>
                </a:solidFill>
                <a:latin typeface="Roboto" pitchFamily="34" charset="0"/>
                <a:ea typeface="Roboto" pitchFamily="34" charset="-122"/>
                <a:cs typeface="Roboto" pitchFamily="34" charset="-120"/>
              </a:rPr>
              <a:t>Matiz:</a:t>
            </a:r>
            <a:r>
              <a:rPr lang="en-US" sz="1400" dirty="0">
                <a:solidFill>
                  <a:srgbClr val="3C3C3B"/>
                </a:solidFill>
                <a:latin typeface="Roboto" pitchFamily="34" charset="0"/>
                <a:ea typeface="Roboto" pitchFamily="34" charset="-122"/>
                <a:cs typeface="Roboto" pitchFamily="34" charset="-120"/>
              </a:rPr>
              <a:t> con 1 qubit los dos diseños son comparables. La ventaja de L aparece y crece con la dimensión.</a:t>
            </a:r>
            <a:endParaRPr lang="en-US" sz="1400" dirty="0"/>
          </a:p>
        </p:txBody>
      </p:sp>
      <p:sp>
        <p:nvSpPr>
          <p:cNvPr id="11" name="Text 7"/>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12" name="Text 8"/>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FFEE00"/>
          </a:solidFill>
          <a:ln/>
        </p:spPr>
        <p:txBody>
          <a:bodyPr/>
          <a:lstStyle/>
          <a:p>
            <a:endParaRPr lang="en-CO"/>
          </a:p>
        </p:txBody>
      </p:sp>
      <p:sp>
        <p:nvSpPr>
          <p:cNvPr id="3" name="Shape 1"/>
          <p:cNvSpPr/>
          <p:nvPr/>
        </p:nvSpPr>
        <p:spPr>
          <a:xfrm>
            <a:off x="775662" y="355600"/>
            <a:ext cx="455277" cy="228600"/>
          </a:xfrm>
          <a:prstGeom prst="rect">
            <a:avLst/>
          </a:prstGeom>
          <a:solidFill>
            <a:srgbClr val="FFEE00"/>
          </a:solidFill>
          <a:ln/>
        </p:spPr>
        <p:txBody>
          <a:bodyPr/>
          <a:lstStyle/>
          <a:p>
            <a:endParaRPr lang="en-CO"/>
          </a:p>
        </p:txBody>
      </p:sp>
      <p:sp>
        <p:nvSpPr>
          <p:cNvPr id="4" name="Text 2"/>
          <p:cNvSpPr/>
          <p:nvPr/>
        </p:nvSpPr>
        <p:spPr>
          <a:xfrm>
            <a:off x="787400" y="355600"/>
            <a:ext cx="431800" cy="254000"/>
          </a:xfrm>
          <a:prstGeom prst="rect">
            <a:avLst/>
          </a:prstGeom>
          <a:noFill/>
          <a:ln/>
        </p:spPr>
        <p:txBody>
          <a:bodyPr wrap="square" lIns="0" tIns="0" rIns="0" bIns="0" rtlCol="0" anchor="t">
            <a:normAutofit/>
          </a:bodyPr>
          <a:lstStyle/>
          <a:p>
            <a:pPr marL="0" indent="0" algn="ctr">
              <a:lnSpc>
                <a:spcPts val="1800"/>
              </a:lnSpc>
              <a:buNone/>
            </a:pPr>
            <a:r>
              <a:rPr lang="en-US" sz="1200" b="1" dirty="0">
                <a:solidFill>
                  <a:srgbClr val="1D1D1B"/>
                </a:solidFill>
                <a:latin typeface="DM Sans" pitchFamily="34" charset="0"/>
                <a:ea typeface="DM Sans" pitchFamily="34" charset="-122"/>
                <a:cs typeface="DM Sans" pitchFamily="34" charset="-120"/>
              </a:rPr>
              <a:t>V</a:t>
            </a:r>
            <a:endParaRPr lang="en-US" sz="1200" dirty="0"/>
          </a:p>
        </p:txBody>
      </p:sp>
      <p:sp>
        <p:nvSpPr>
          <p:cNvPr id="5" name="Text 3"/>
          <p:cNvSpPr/>
          <p:nvPr/>
        </p:nvSpPr>
        <p:spPr>
          <a:xfrm>
            <a:off x="1346200" y="355600"/>
            <a:ext cx="7194550" cy="2540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E6E6C"/>
                </a:solidFill>
                <a:latin typeface="Roboto" pitchFamily="34" charset="0"/>
                <a:ea typeface="Roboto" pitchFamily="34" charset="-122"/>
                <a:cs typeface="Roboto" pitchFamily="34" charset="-120"/>
              </a:rPr>
              <a:t>HARDWARE Y CIERRE</a:t>
            </a:r>
            <a:endParaRPr lang="en-US" sz="1200" dirty="0"/>
          </a:p>
        </p:txBody>
      </p:sp>
      <p:pic>
        <p:nvPicPr>
          <p:cNvPr id="6" name="Image 0" descr="Universidad de los Andes"/>
          <p:cNvPicPr>
            <a:picLocks noChangeAspect="1"/>
          </p:cNvPicPr>
          <p:nvPr/>
        </p:nvPicPr>
        <p:blipFill>
          <a:blip r:embed="rId3"/>
          <a:srcRect t="-117" b="-117"/>
          <a:stretch/>
        </p:blipFill>
        <p:spPr>
          <a:xfrm>
            <a:off x="10121900" y="254000"/>
            <a:ext cx="1257300" cy="381000"/>
          </a:xfrm>
          <a:prstGeom prst="rect">
            <a:avLst/>
          </a:prstGeom>
        </p:spPr>
      </p:pic>
      <p:sp>
        <p:nvSpPr>
          <p:cNvPr id="7" name="Text 4"/>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1D1D1B"/>
                </a:solidFill>
                <a:latin typeface="DM Sans" pitchFamily="34" charset="0"/>
                <a:ea typeface="DM Sans" pitchFamily="34" charset="-122"/>
                <a:cs typeface="DM Sans" pitchFamily="34" charset="-120"/>
              </a:rPr>
              <a:t>Pasos a seguir</a:t>
            </a:r>
            <a:endParaRPr lang="en-US" sz="2800" dirty="0"/>
          </a:p>
        </p:txBody>
      </p:sp>
      <p:sp>
        <p:nvSpPr>
          <p:cNvPr id="8" name="Shape 5"/>
          <p:cNvSpPr/>
          <p:nvPr/>
        </p:nvSpPr>
        <p:spPr>
          <a:xfrm>
            <a:off x="812800" y="1457920"/>
            <a:ext cx="5207000" cy="1516063"/>
          </a:xfrm>
          <a:prstGeom prst="roundRect">
            <a:avLst>
              <a:gd name="adj" fmla="val 6702"/>
            </a:avLst>
          </a:prstGeom>
          <a:solidFill>
            <a:srgbClr val="F4F4F2"/>
          </a:solidFill>
          <a:ln/>
        </p:spPr>
        <p:txBody>
          <a:bodyPr/>
          <a:lstStyle/>
          <a:p>
            <a:endParaRPr lang="en-CO"/>
          </a:p>
        </p:txBody>
      </p:sp>
      <p:sp>
        <p:nvSpPr>
          <p:cNvPr id="9" name="Text 6"/>
          <p:cNvSpPr/>
          <p:nvPr/>
        </p:nvSpPr>
        <p:spPr>
          <a:xfrm>
            <a:off x="1041400" y="1661120"/>
            <a:ext cx="406400" cy="406400"/>
          </a:xfrm>
          <a:prstGeom prst="rect">
            <a:avLst/>
          </a:prstGeom>
          <a:solidFill>
            <a:srgbClr val="FFEE00"/>
          </a:solidFill>
          <a:ln/>
        </p:spPr>
        <p:txBody>
          <a:bodyPr wrap="square" lIns="0" tIns="0" rIns="0" bIns="0" rtlCol="0" anchor="t">
            <a:normAutofit/>
          </a:bodyPr>
          <a:lstStyle/>
          <a:p>
            <a:pPr marL="0" indent="0" algn="ctr">
              <a:lnSpc>
                <a:spcPts val="3204"/>
              </a:lnSpc>
              <a:buNone/>
            </a:pPr>
            <a:r>
              <a:rPr lang="en-US" sz="1800" b="1" dirty="0">
                <a:solidFill>
                  <a:srgbClr val="1D1D1B"/>
                </a:solidFill>
                <a:latin typeface="DM Sans" pitchFamily="34" charset="0"/>
                <a:ea typeface="DM Sans" pitchFamily="34" charset="-122"/>
                <a:cs typeface="DM Sans" pitchFamily="34" charset="-120"/>
              </a:rPr>
              <a:t>1</a:t>
            </a:r>
            <a:endParaRPr lang="en-US" sz="1800" dirty="0"/>
          </a:p>
        </p:txBody>
      </p:sp>
      <p:sp>
        <p:nvSpPr>
          <p:cNvPr id="10" name="Text 7"/>
          <p:cNvSpPr/>
          <p:nvPr/>
        </p:nvSpPr>
        <p:spPr>
          <a:xfrm>
            <a:off x="1625600" y="1661120"/>
            <a:ext cx="4290568" cy="57388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Prueba de concepto en hardware real</a:t>
            </a:r>
            <a:endParaRPr lang="en-US" sz="1800" dirty="0"/>
          </a:p>
        </p:txBody>
      </p:sp>
      <p:sp>
        <p:nvSpPr>
          <p:cNvPr id="11" name="Text 8"/>
          <p:cNvSpPr/>
          <p:nvPr/>
        </p:nvSpPr>
        <p:spPr>
          <a:xfrm>
            <a:off x="1625600" y="2273102"/>
            <a:ext cx="42905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En el computador de 2 qubits de la universidad: GAD y, posiblemente, el depolarizante.</a:t>
            </a:r>
            <a:endParaRPr lang="en-US" sz="1400" dirty="0"/>
          </a:p>
        </p:txBody>
      </p:sp>
      <p:sp>
        <p:nvSpPr>
          <p:cNvPr id="12" name="Shape 9"/>
          <p:cNvSpPr/>
          <p:nvPr/>
        </p:nvSpPr>
        <p:spPr>
          <a:xfrm>
            <a:off x="6172200" y="1457920"/>
            <a:ext cx="5207000" cy="1516063"/>
          </a:xfrm>
          <a:prstGeom prst="roundRect">
            <a:avLst>
              <a:gd name="adj" fmla="val 6702"/>
            </a:avLst>
          </a:prstGeom>
          <a:solidFill>
            <a:srgbClr val="F4F4F2"/>
          </a:solidFill>
          <a:ln/>
        </p:spPr>
        <p:txBody>
          <a:bodyPr/>
          <a:lstStyle/>
          <a:p>
            <a:endParaRPr lang="en-CO"/>
          </a:p>
        </p:txBody>
      </p:sp>
      <p:sp>
        <p:nvSpPr>
          <p:cNvPr id="13" name="Text 10"/>
          <p:cNvSpPr/>
          <p:nvPr/>
        </p:nvSpPr>
        <p:spPr>
          <a:xfrm>
            <a:off x="6400800" y="1661120"/>
            <a:ext cx="406400" cy="406400"/>
          </a:xfrm>
          <a:prstGeom prst="rect">
            <a:avLst/>
          </a:prstGeom>
          <a:solidFill>
            <a:srgbClr val="FFEE00"/>
          </a:solidFill>
          <a:ln/>
        </p:spPr>
        <p:txBody>
          <a:bodyPr wrap="square" lIns="0" tIns="0" rIns="0" bIns="0" rtlCol="0" anchor="t">
            <a:normAutofit/>
          </a:bodyPr>
          <a:lstStyle/>
          <a:p>
            <a:pPr marL="0" indent="0" algn="ctr">
              <a:lnSpc>
                <a:spcPts val="3204"/>
              </a:lnSpc>
              <a:buNone/>
            </a:pPr>
            <a:r>
              <a:rPr lang="en-US" sz="1800" b="1" dirty="0">
                <a:solidFill>
                  <a:srgbClr val="1D1D1B"/>
                </a:solidFill>
                <a:latin typeface="DM Sans" pitchFamily="34" charset="0"/>
                <a:ea typeface="DM Sans" pitchFamily="34" charset="-122"/>
                <a:cs typeface="DM Sans" pitchFamily="34" charset="-120"/>
              </a:rPr>
              <a:t>2</a:t>
            </a:r>
            <a:endParaRPr lang="en-US" sz="1800" dirty="0"/>
          </a:p>
        </p:txBody>
      </p:sp>
      <p:sp>
        <p:nvSpPr>
          <p:cNvPr id="14" name="Text 11"/>
          <p:cNvSpPr/>
          <p:nvPr/>
        </p:nvSpPr>
        <p:spPr>
          <a:xfrm>
            <a:off x="6985000" y="1661120"/>
            <a:ext cx="42905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Variables numéricas</a:t>
            </a:r>
            <a:endParaRPr lang="en-US" sz="1800" dirty="0"/>
          </a:p>
        </p:txBody>
      </p:sp>
      <p:sp>
        <p:nvSpPr>
          <p:cNvPr id="15" name="Text 12"/>
          <p:cNvSpPr/>
          <p:nvPr/>
        </p:nvSpPr>
        <p:spPr>
          <a:xfrm>
            <a:off x="6985000" y="1998861"/>
            <a:ext cx="429056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Qué estadística entrega la medición en </a:t>
            </a:r>
            <a:r>
              <a:rPr lang="en-US" sz="1400" dirty="0">
                <a:solidFill>
                  <a:srgbClr val="293470"/>
                </a:solidFill>
                <a:latin typeface="Roboto" pitchFamily="34" charset="0"/>
                <a:ea typeface="Roboto" pitchFamily="34" charset="-122"/>
                <a:cs typeface="Roboto" pitchFamily="34" charset="-120"/>
              </a:rPr>
              <a:t>credit_amount</a:t>
            </a:r>
            <a:r>
              <a:rPr lang="en-US" sz="1400" dirty="0">
                <a:solidFill>
                  <a:srgbClr val="3C3C3B"/>
                </a:solidFill>
                <a:latin typeface="Roboto" pitchFamily="34" charset="0"/>
                <a:ea typeface="Roboto" pitchFamily="34" charset="-122"/>
                <a:cs typeface="Roboto" pitchFamily="34" charset="-120"/>
              </a:rPr>
              <a:t>: RY(θ) medido en Z da sin²(θ/2), no el valor original.</a:t>
            </a:r>
            <a:endParaRPr lang="en-US" sz="1400" dirty="0"/>
          </a:p>
        </p:txBody>
      </p:sp>
      <p:sp>
        <p:nvSpPr>
          <p:cNvPr id="16" name="Shape 13"/>
          <p:cNvSpPr/>
          <p:nvPr/>
        </p:nvSpPr>
        <p:spPr>
          <a:xfrm>
            <a:off x="812800" y="3126383"/>
            <a:ext cx="5207000" cy="1241822"/>
          </a:xfrm>
          <a:prstGeom prst="roundRect">
            <a:avLst>
              <a:gd name="adj" fmla="val 8182"/>
            </a:avLst>
          </a:prstGeom>
          <a:solidFill>
            <a:srgbClr val="F4F4F2"/>
          </a:solidFill>
          <a:ln/>
        </p:spPr>
        <p:txBody>
          <a:bodyPr/>
          <a:lstStyle/>
          <a:p>
            <a:endParaRPr lang="en-CO"/>
          </a:p>
        </p:txBody>
      </p:sp>
      <p:sp>
        <p:nvSpPr>
          <p:cNvPr id="17" name="Text 14"/>
          <p:cNvSpPr/>
          <p:nvPr/>
        </p:nvSpPr>
        <p:spPr>
          <a:xfrm>
            <a:off x="1041400" y="3329583"/>
            <a:ext cx="406400" cy="406400"/>
          </a:xfrm>
          <a:prstGeom prst="rect">
            <a:avLst/>
          </a:prstGeom>
          <a:solidFill>
            <a:srgbClr val="FFEE00"/>
          </a:solidFill>
          <a:ln/>
        </p:spPr>
        <p:txBody>
          <a:bodyPr wrap="square" lIns="0" tIns="0" rIns="0" bIns="0" rtlCol="0" anchor="t">
            <a:normAutofit/>
          </a:bodyPr>
          <a:lstStyle/>
          <a:p>
            <a:pPr marL="0" indent="0" algn="ctr">
              <a:lnSpc>
                <a:spcPts val="3204"/>
              </a:lnSpc>
              <a:buNone/>
            </a:pPr>
            <a:r>
              <a:rPr lang="en-US" sz="1800" b="1" dirty="0">
                <a:solidFill>
                  <a:srgbClr val="1D1D1B"/>
                </a:solidFill>
                <a:latin typeface="DM Sans" pitchFamily="34" charset="0"/>
                <a:ea typeface="DM Sans" pitchFamily="34" charset="-122"/>
                <a:cs typeface="DM Sans" pitchFamily="34" charset="-120"/>
              </a:rPr>
              <a:t>3</a:t>
            </a:r>
            <a:endParaRPr lang="en-US" sz="1800" dirty="0"/>
          </a:p>
        </p:txBody>
      </p:sp>
      <p:sp>
        <p:nvSpPr>
          <p:cNvPr id="18" name="Text 15"/>
          <p:cNvSpPr/>
          <p:nvPr/>
        </p:nvSpPr>
        <p:spPr>
          <a:xfrm>
            <a:off x="1625600" y="3329583"/>
            <a:ext cx="42905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ε del diseño L con 7 qubits</a:t>
            </a:r>
            <a:endParaRPr lang="en-US" sz="1800" dirty="0"/>
          </a:p>
        </p:txBody>
      </p:sp>
      <p:sp>
        <p:nvSpPr>
          <p:cNvPr id="19" name="Text 16"/>
          <p:cNvSpPr/>
          <p:nvPr/>
        </p:nvSpPr>
        <p:spPr>
          <a:xfrm>
            <a:off x="1625600" y="3667323"/>
            <a:ext cx="42905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Calcularlo experimentalmente con los 7 qubits completos; hoy solo se tiene la cota ln 129.</a:t>
            </a:r>
            <a:endParaRPr lang="en-US" sz="1400" dirty="0"/>
          </a:p>
        </p:txBody>
      </p:sp>
      <p:sp>
        <p:nvSpPr>
          <p:cNvPr id="20" name="Shape 17"/>
          <p:cNvSpPr/>
          <p:nvPr/>
        </p:nvSpPr>
        <p:spPr>
          <a:xfrm>
            <a:off x="6172200" y="3126383"/>
            <a:ext cx="5207000" cy="1241822"/>
          </a:xfrm>
          <a:prstGeom prst="roundRect">
            <a:avLst>
              <a:gd name="adj" fmla="val 8182"/>
            </a:avLst>
          </a:prstGeom>
          <a:solidFill>
            <a:srgbClr val="F4F4F2"/>
          </a:solidFill>
          <a:ln/>
        </p:spPr>
        <p:txBody>
          <a:bodyPr/>
          <a:lstStyle/>
          <a:p>
            <a:endParaRPr lang="en-CO"/>
          </a:p>
        </p:txBody>
      </p:sp>
      <p:sp>
        <p:nvSpPr>
          <p:cNvPr id="21" name="Text 18"/>
          <p:cNvSpPr/>
          <p:nvPr/>
        </p:nvSpPr>
        <p:spPr>
          <a:xfrm>
            <a:off x="6400800" y="3329583"/>
            <a:ext cx="406400" cy="406400"/>
          </a:xfrm>
          <a:prstGeom prst="rect">
            <a:avLst/>
          </a:prstGeom>
          <a:solidFill>
            <a:srgbClr val="FFEE00"/>
          </a:solidFill>
          <a:ln/>
        </p:spPr>
        <p:txBody>
          <a:bodyPr wrap="square" lIns="0" tIns="0" rIns="0" bIns="0" rtlCol="0" anchor="t">
            <a:normAutofit/>
          </a:bodyPr>
          <a:lstStyle/>
          <a:p>
            <a:pPr marL="0" indent="0" algn="ctr">
              <a:lnSpc>
                <a:spcPts val="3204"/>
              </a:lnSpc>
              <a:buNone/>
            </a:pPr>
            <a:r>
              <a:rPr lang="en-US" sz="1800" b="1" dirty="0">
                <a:solidFill>
                  <a:srgbClr val="1D1D1B"/>
                </a:solidFill>
                <a:latin typeface="DM Sans" pitchFamily="34" charset="0"/>
                <a:ea typeface="DM Sans" pitchFamily="34" charset="-122"/>
                <a:cs typeface="DM Sans" pitchFamily="34" charset="-120"/>
              </a:rPr>
              <a:t>4</a:t>
            </a:r>
            <a:endParaRPr lang="en-US" sz="1800" dirty="0"/>
          </a:p>
        </p:txBody>
      </p:sp>
      <p:sp>
        <p:nvSpPr>
          <p:cNvPr id="22" name="Text 19"/>
          <p:cNvSpPr/>
          <p:nvPr/>
        </p:nvSpPr>
        <p:spPr>
          <a:xfrm>
            <a:off x="6985000" y="3329583"/>
            <a:ext cx="42905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1D1B"/>
                </a:solidFill>
                <a:latin typeface="DM Sans" pitchFamily="34" charset="0"/>
                <a:ea typeface="DM Sans" pitchFamily="34" charset="-122"/>
                <a:cs typeface="DM Sans" pitchFamily="34" charset="-120"/>
              </a:rPr>
              <a:t>Documentar</a:t>
            </a:r>
            <a:endParaRPr lang="en-US" sz="1800" dirty="0"/>
          </a:p>
        </p:txBody>
      </p:sp>
      <p:sp>
        <p:nvSpPr>
          <p:cNvPr id="23" name="Text 20"/>
          <p:cNvSpPr/>
          <p:nvPr/>
        </p:nvSpPr>
        <p:spPr>
          <a:xfrm>
            <a:off x="6985000" y="3667323"/>
            <a:ext cx="42905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3C3B"/>
                </a:solidFill>
                <a:latin typeface="Roboto" pitchFamily="34" charset="0"/>
                <a:ea typeface="Roboto" pitchFamily="34" charset="-122"/>
                <a:cs typeface="Roboto" pitchFamily="34" charset="-120"/>
              </a:rPr>
              <a:t>En la tesis, los dos modelos de publicación (conjunto y por columna) y por qué se usa cada uno.</a:t>
            </a:r>
            <a:endParaRPr lang="en-US" sz="1400" dirty="0"/>
          </a:p>
        </p:txBody>
      </p:sp>
      <p:sp>
        <p:nvSpPr>
          <p:cNvPr id="24" name="Text 21"/>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E6E6C"/>
                </a:solidFill>
                <a:latin typeface="Roboto" pitchFamily="34" charset="0"/>
                <a:ea typeface="Roboto" pitchFamily="34" charset="-122"/>
                <a:cs typeface="Roboto" pitchFamily="34" charset="-120"/>
              </a:rPr>
              <a:t>Avances semana 9 · Privacidad diferencial cuántica</a:t>
            </a:r>
            <a:endParaRPr lang="en-US" sz="1200" dirty="0"/>
          </a:p>
        </p:txBody>
      </p:sp>
      <p:sp>
        <p:nvSpPr>
          <p:cNvPr id="25" name="Text 22"/>
          <p:cNvSpPr/>
          <p:nvPr/>
        </p:nvSpPr>
        <p:spPr>
          <a:xfrm>
            <a:off x="10566400" y="6261100"/>
            <a:ext cx="812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1D1B"/>
                </a:solidFill>
                <a:latin typeface="Roboto" pitchFamily="34" charset="0"/>
                <a:ea typeface="Roboto" pitchFamily="34" charset="-122"/>
                <a:cs typeface="Roboto" pitchFamily="34" charset="-120"/>
              </a:rPr>
              <a:t>39</a:t>
            </a:r>
            <a:endParaRPr lang="en-US" sz="1200" dirty="0"/>
          </a:p>
        </p:txBody>
      </p:sp>
    </p:spTree>
  </p:cSld>
  <p:clrMapOvr>
    <a:masterClrMapping/>
  </p:clrMapOvr>
</p:sld>
</file>

<file path=ppt/theme/theme1.xml><?xml version="1.0" encoding="utf-8"?>
<a:theme xmlns:a="http://schemas.openxmlformats.org/drawingml/2006/main" name="Avances semana 9">
  <a:themeElements>
    <a:clrScheme name="Avances semana 9">
      <a:dk1>
        <a:srgbClr val="3C3C3B"/>
      </a:dk1>
      <a:lt1>
        <a:srgbClr val="FFFFFF"/>
      </a:lt1>
      <a:dk2>
        <a:srgbClr val="6D6D6C"/>
      </a:dk2>
      <a:lt2>
        <a:srgbClr val="ECECEB"/>
      </a:lt2>
      <a:accent1>
        <a:srgbClr val="FFEE00"/>
      </a:accent1>
      <a:accent2>
        <a:srgbClr val="293470"/>
      </a:accent2>
      <a:accent3>
        <a:srgbClr val="1D1D1B"/>
      </a:accent3>
      <a:accent4>
        <a:srgbClr val="6E6E6C"/>
      </a:accent4>
      <a:accent5>
        <a:srgbClr val="D4D4D0"/>
      </a:accent5>
      <a:accent6>
        <a:srgbClr val="B9B9B5"/>
      </a:accent6>
      <a:hlink>
        <a:srgbClr val="0563C1"/>
      </a:hlink>
      <a:folHlink>
        <a:srgbClr val="954F72"/>
      </a:folHlink>
    </a:clrScheme>
    <a:fontScheme name="Avances semana 9">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11524</Words>
  <Application>Microsoft Macintosh PowerPoint</Application>
  <PresentationFormat>Widescreen</PresentationFormat>
  <Paragraphs>790</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DM Sans</vt:lpstr>
      <vt:lpstr>Roboto</vt:lpstr>
      <vt:lpstr>Avances semana 9</vt:lpstr>
      <vt:lpstr>Avances semana 10</vt:lpstr>
      <vt:lpstr>Hoja de ruta</vt:lpstr>
      <vt:lpstr>Dónde estábamos</vt:lpstr>
      <vt:lpstr>La cota experimental en tres mecanismos</vt:lpstr>
      <vt:lpstr>Conjunta contra por columna: el papel de D</vt:lpstr>
      <vt:lpstr>Con p = γ = 0.5: depolarizante &lt; PAD &lt; GAD</vt:lpstr>
      <vt:lpstr>La pregunta nueva</vt:lpstr>
      <vt:lpstr>Qué significa medir</vt:lpstr>
      <vt:lpstr>Cada medición consume una copia</vt:lpstr>
      <vt:lpstr>Medir el estado agregado = sortear una persona</vt:lpstr>
      <vt:lpstr>Mezcla no es superposición</vt:lpstr>
      <vt:lpstr>Por qué alcanza con simular 1 qubit</vt:lpstr>
      <vt:lpstr>Pipeline del diseño L</vt:lpstr>
      <vt:lpstr>El límite de la codificación</vt:lpstr>
      <vt:lpstr>La referencia es B, no el CSV</vt:lpstr>
      <vt:lpstr>Dónde está la privacidad</vt:lpstr>
      <vt:lpstr>El ruido visto desde un qubit</vt:lpstr>
      <vt:lpstr>Corregir el centro, no la dispersión</vt:lpstr>
      <vt:lpstr>Una medición: lo que aprende el atacante</vt:lpstr>
      <vt:lpstr>Una medición inclina, pero no decide</vt:lpstr>
      <vt:lpstr>Una persona 10 veces contra 1000 personas una vez</vt:lpstr>
      <vt:lpstr>Dos diseños para decuantizar: C y L</vt:lpstr>
      <vt:lpstr>Con 1 qubit, ninguno domina</vt:lpstr>
      <vt:lpstr>Con 7 qubits, C se vuelve inutilizable</vt:lpstr>
      <vt:lpstr>Por qué escalan distinto</vt:lpstr>
      <vt:lpstr>Lo que decide no es cuántico contra clásico: es cuántas copias consume quien recibe el estado.</vt:lpstr>
      <vt:lpstr>Resultados</vt:lpstr>
      <vt:lpstr>El ε del diseño L en las variables categóricas</vt:lpstr>
      <vt:lpstr>K par contra K impar</vt:lpstr>
      <vt:lpstr>Privacidad contra utilidad</vt:lpstr>
      <vt:lpstr>Experimento L de collateral</vt:lpstr>
      <vt:lpstr>Teoría contra simulación</vt:lpstr>
      <vt:lpstr>El histograma: mismo centro, más ancho</vt:lpstr>
      <vt:lpstr>Hardware y cierre</vt:lpstr>
      <vt:lpstr>En hardware, el ruido hay que construirlo</vt:lpstr>
      <vt:lpstr>Un circuito probado y un computador de 2 qubits</vt:lpstr>
      <vt:lpstr>Conclusiones</vt:lpstr>
      <vt:lpstr>Decuantizar: diseño C contra diseño L</vt:lpstr>
      <vt:lpstr>Pasos a seguir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Avances semana 9</dc:title>
  <dc:subject/>
  <dc:creator/>
  <cp:lastModifiedBy>Tomas Sierra Sanchez</cp:lastModifiedBy>
  <cp:revision>2</cp:revision>
  <dcterms:created xsi:type="dcterms:W3CDTF">2026-10-14T00:32:46Z</dcterms:created>
  <dcterms:modified xsi:type="dcterms:W3CDTF">2026-10-14T00:38:56Z</dcterms:modified>
</cp:coreProperties>
</file>