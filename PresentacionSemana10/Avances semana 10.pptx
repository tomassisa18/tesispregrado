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420" r:id="rId3"/>
    <p:sldId id="258" r:id="rId4"/>
    <p:sldId id="424" r:id="rId5"/>
    <p:sldId id="349" r:id="rId6"/>
    <p:sldId id="357" r:id="rId7"/>
    <p:sldId id="261" r:id="rId8"/>
    <p:sldId id="262" r:id="rId9"/>
    <p:sldId id="364" r:id="rId10"/>
    <p:sldId id="401" r:id="rId11"/>
    <p:sldId id="400" r:id="rId12"/>
    <p:sldId id="418" r:id="rId13"/>
    <p:sldId id="417" r:id="rId14"/>
    <p:sldId id="389" r:id="rId15"/>
    <p:sldId id="383" r:id="rId16"/>
    <p:sldId id="384" r:id="rId17"/>
    <p:sldId id="386" r:id="rId18"/>
    <p:sldId id="359" r:id="rId19"/>
    <p:sldId id="360" r:id="rId20"/>
    <p:sldId id="361" r:id="rId21"/>
    <p:sldId id="362" r:id="rId22"/>
    <p:sldId id="419" r:id="rId23"/>
    <p:sldId id="365" r:id="rId24"/>
    <p:sldId id="366" r:id="rId25"/>
    <p:sldId id="413" r:id="rId26"/>
    <p:sldId id="368" r:id="rId27"/>
    <p:sldId id="387" r:id="rId28"/>
    <p:sldId id="404" r:id="rId29"/>
    <p:sldId id="390" r:id="rId30"/>
    <p:sldId id="372" r:id="rId31"/>
    <p:sldId id="373" r:id="rId32"/>
    <p:sldId id="391" r:id="rId33"/>
    <p:sldId id="284" r:id="rId34"/>
    <p:sldId id="285" r:id="rId35"/>
    <p:sldId id="286" r:id="rId36"/>
    <p:sldId id="287" r:id="rId37"/>
    <p:sldId id="377" r:id="rId38"/>
    <p:sldId id="392" r:id="rId39"/>
    <p:sldId id="290" r:id="rId40"/>
    <p:sldId id="378" r:id="rId41"/>
    <p:sldId id="292" r:id="rId42"/>
    <p:sldId id="379" r:id="rId43"/>
    <p:sldId id="294"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60"/>
    <p:restoredTop sz="81647"/>
  </p:normalViewPr>
  <p:slideViewPr>
    <p:cSldViewPr snapToGrid="0" snapToObjects="1">
      <p:cViewPr>
        <p:scale>
          <a:sx n="101" d="100"/>
          <a:sy n="101" d="100"/>
        </p:scale>
        <p:origin x="424"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3872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para los asesores. Es la continuación directa de la semana 8, que terminó con tres pasos a seguir: decuantizar, ruidos medidos en kernels reales y documentar. Hoy cubrimos los dos primeros. Recordatorio del marco: privacidad diferencial cuántica sobre German Credit (1000 filas), 7 qubits por persona, ε estimado con el Algoritmo 2 (dPD) y comparado con las cotas del paper de Zhou y Ying, "Differential Privacy in Quantum Computation".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semana 8 terminó con "Pasos a seguir: 1. Decuantizar, 2. Ruidos medidos en kernels reales, 3. Documentar". Esta presentación retoma exactamente eso. Cinco actos: I. Dónde estábamos: recordatorio de la cota experimental en los tres mecanismos (depolarizante, PAD y GAD) y la pregunta nueva: cómo se ve la privacidad en datos clásicos. Decuantizar = medir. III. Qué significa medir: copias, mezcla, el pipeline del diseño L, el límite de la codificación y la línea base B. II. Dónde está la privacidad: el ruido visto desde un qubit, una medición contra muchas (e^ε y composición), y diseño C contra diseño L. IV. Resultados: ε del diseño L en las variables categóricas (K par contra K impar) y el experimento L de collateral, con teoría contra simulación y el histograma al final. V. Hardware y cierre: GAD en hardware real (pregunta abierta, trabajo de esta semana), conclusiones y pasos a seguir. Fuera de alcance hoy (quedan como pasos a seguir): credit_amount y las variables numéricas, y el ε del diseño L con los 7 qubits completos.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dónde quedamos: la cota experimental en los tres mecanismos. Después, la pregunta que abre el trabajo de esta semana.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A50B9-3AD2-3456-3314-BA2CCC0C1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DE070-0B0D-2701-1C8E-CE5C73AC10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63DDD-55B1-EA7B-1BF5-A04CEB61FF6D}"/>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EA7E5049-ED3C-2289-C710-19C2DDFBC04F}"/>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447908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diferencia entre las dos formas de publicar el depolarizante (0.106 contra 0.0068) viene de la dimensión D en la cota del Teorema 3: ε = ln[1 + ((1−p)/p)·d·D]. Intuición, paso a paso: 1. El ruido mezcla con I/D, así que ningún resultado de medición tiene probabilidad menor que p/D. Ese es el "piso". 2. Dos vecinos difieren como mucho en (1−p)·d. 3. El cociente entre sus probabilidades queda acotado por 1 + (1−p)·d / (p/D), que es exactamente lo que está dentro del logaritmo. La dimensión conjunta crece como 2ⁿ (exponencial en el número de qubits), mientras que la suma por columnas crece como 2n (lineal). Con 7 qubits: 128 contra 14. Costo: publicar por columna cuesta menos ε, pero se pierden las correlaciones entre atributos, así que no se pueden hacer estudios conjuntos. Este mismo patrón (exponencial contra lineal) va a reaparecer en el Acto II cuando comparemos el diseño C con el diseño 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p = γ = 0.5, el orden es depolarizante &lt; PAD (λ = 0.25) &lt; GAD. Se explica por cuánto encoge cada canal el vector de Bloch en x e y: 0.5, 0.61 y 0.71. Cuanto más encoge, menos distinguibles quedan los estados y menor es ε. Las barras muestran el largo que le queda al vector (1 = no encoge): la más corta es la del depolarizante, que es también la de menor ε. Ojo: el orden vale para estos parámetros, no como ranking general de los mecanismos. Elección de λ: PAD con p = γ = 0.5 va desde GAD (λ = 0) hasta el depolarizante (λ = 0.5). λ = 0.25 es el punto medio y cumple la hipótesis λ ≤ γ del Teorema 2 del paper. Respaldo, por si preguntan: PAD con λ = γ = p = 0.5 coincide exactamente con el depolarizante de 1 qubit con p = 0.5. Ambos encogen el vector de Bloch por 0.5 en todas las direcciones, y las cotas también coinciden (ln(1 + 2d)). Dos implementaciones independientes dieron los mismos números hasta el decimal 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la cota es solo un número. Queremos ver qué significa ε en datos concretos, y para eso hay que volver al mundo clásico. Motivación: ya sabemos que ε cumple la cota. ¿Cómo se ve esa privacidad en los datos que recibiría un analista? Decuantizar = medir. En la simulación tenemos la distribución de probabilidad completa de cada qubit (la matriz de densidad). Quien recibe los datos en la realidad tiene que medir: el estado colapsa y entrega un solo resultado, 0 o 1. Gancho, adelantando la respuesta: la privacidad no se ve como un promedio que se mueve, sino como una estimación menos precisa. Una vez corregido el sesgo, el centro se mantiene y lo que crece es la dispersión: los valores quedan menos agrupados alrededor del centro. El histograma del Acto IV es la evidencia.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en C, A aparece un poco en cada copia, así que estimar una estadística con N copias cuesta N·ε. En L, A aparece entera en un solo resultado y cuesta un solo ε. El costo de C crece con D y el de L con ln D: con 1 qubit son comparables, y con 7 qubits C es inutilizable (ε_total = 106) mientras L es unas 5 veces más preciso a igual ε. Si quien recibe el estado consume una sola copia sin decuantizar, el ε por copia del modelo central es mucho mejor que el de L. Lo que decide es cuántas copias se consumen. Los dos diseños: - C (central): se miden N copias del estado agregado con ruido ρ″. Cada copia equivale a sortear una persona (Acto III). Si se saca a A, cambian las N copias, porque A está un poco en todas: composición (Teorema 4), ε_total = N·ε_por_copia. - L (local): cada persona se codifica, recibe su ruido y se mide una vez. Si se saca a A, cambia solo su resultado: composición paralela, ε_total = ε de una persona. Frase para recordar: "en C, A está un poco siempre; en L, A está mucho una vez". Decisión: solo se simuló L. C se reporta con cálculos analíticos.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B9D2A-77FC-357F-BF3C-B9EA31FBA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BD7F4-12BC-3F71-5454-DEEC04581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CFD78A-5C66-04FF-F623-74822DD73502}"/>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037D94A-9855-543F-3833-2E17E2CF3C15}"/>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38187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073F-FE51-0D38-0D8B-B0AFEFD871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520EC-A38B-DD81-9D2B-AA0AC152B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A850E-EC2A-7548-CBF8-1CC519473371}"/>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9539475-85D3-584F-C380-838747283443}"/>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078349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ε del diseño L de una variable categórica lo fija su par de categorías más separado. Con K par siempre hay un par opuesto, y ε = ln 3 con la cota alcanzada. Con K impar queda algo por debajo, pero esa ventaja desaparece al crecer K. La utilidad, en cambio, la fijan los pares vecinos: al meter más categorías en un qubit quedan más apretadas y una medición dice menos. purpose (K = 10) tiene la misma privacidad que collateral, pero peor utilidad. Método: diseño L, 1 qubit por variable (D = 2), depolarizante p = 0.5. Para cada variable se codifican sus K categorías (φₖ = 2πk/K en el ecuador), se calculan todos los pares (k, j), y para cada uno ε_exp = máx(dPD en las dos direcciones), comparado con la cota del Teorema 3. El ε de la variable es el máximo sobre los pares. Se comprobó en todos los pares que ε_exp ≤ ε_teo. Archivo: Experiment/tests/LocalDepolarizingFull.py. Tabla: housing (K = 3, 120°, d = 0.866): cota 1.0051, experimental 0.9624, no se alcanza. collateral (K = 4, 180°, d = 1): 1.0986 y 1.0986, se alcanza. credit_history (K = 5, 144°, d = 0.951): 1.0654 y 1.0494, no. purpose (K = 10, 180°, d = 1): 1.0986 y 1.0986, sí. Se reporta la separación y no el par (i, j): en K = 3 y K = 10 hay pares empatados, y cuál gana depende del ruido numérico de dPD.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medición entendida, buscamos dónde aparece la privacidad: primero en un solo qubit, después en lo que aprende un atacante con una o muchas mediciones, y al final en los dos diseños posibles para decuantizar.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cada medición consume una copia del estado y entrega un solo bit. Medir una copia del estado agregado equivale a sortear una persona y medirla (siguiente diapositiva). Copias. Un estado cuántico no se puede copiar (teorema de no clonación), y al medirlo colapsa al resultado obtenido: se pierde la información sobre con qué probabilidad podía salir el otro. Por eso cada medición necesita una copia nueva del estado. Leer la matriz = infinitas copias. En la simulación se lee ρ″ completa y se calculan probabilidades exactas, con error cero. Con N mediciones el error es √(P(1−P)/N), que solo es cero con N → ∞. Leer la matriz es una herramienta de análisis, no algo que tenga quien recibe los datos.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 sortear una persona. El estado agregado es ρ = (1/n)·Σᵢ ρᵢ. Para cualquier resultado Π: Tr(Π·ρ) = Σᵢ (1/n)·Tr(Π·ρᵢ) = Σᵢ P(persona i)·P(resultado | persona i). Es la ley de probabilidad total: medir una copia de ρ da exactamente las mismas probabilidades que sortear una persona al azar (cada una con probabilidad 1/n) y medir su estado. Esto es lo que justifica, más adelante, decir que en el diseño C cada copia medida "equivale a sortear una persona".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aun sin ruido, una medición no recupera la categoría de collateral. Esa pérdida viene de la codificación, no de la privacidad. Por eso la referencia es B (codificado y medido sin ruido) y no el CSV. Codificación: car → |+⟩, none → |+i⟩, real estate → |−⟩, savings → |−i⟩. Son 4 puntos en el ecuador, separados 90°. En un qubit (dimensión 2) caben como mucho 2 estados ortogonales entre sí. Con 4 categorías, ninguna medición las distingue sin error. Medición en base X, sin ruido: car da "+" siempre (P(+) = 1), real estate nunca (0), y none y savings dan "+" la mitad de las veces (½). Lo que estima F: E[F] = P(car)·1 + P(none)·½ + P(real estate)·0 + P(savings)·½ = 0.45. Es una sola combinación de las proporciones, no los 4 conteos: un número para 3 incógnitas, y none y savings entran con el mismo peso.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ruido corre el promedio hacia ½, pero ese corrimiento es determinista y se corrige conociendo p. Lo que no se puede corregir es la dispersión (siguiente diapositiva). Una persona: P″(+) = (1−p)·P(+) + p/2. Con p = 0.5: car pasa de 1 a 0.75, none y savings se quedan en ½, real estate pasa de 0 a 0.25. Con p = 1, todas dan ½. Promediando sobre las personas: E[F_C] = (1−p)·E[F_B] + p/2. Restando ½ a ambos lados: E[F_C] − ½ = (1−p)·(E[F_B] − ½). - El ruido multiplica la distancia a ½ por (1−p): empuja hacia ½, que es el valor del estado totalmente mezclado (no hacia el promedio de los datos). - (1−p) es el mismo factor con que el depolarizante encoge el vector de Bloch. - Con collateral el corrimiento es chico (0.45 → 0.475) porque 0.45 ya estaba cerca de ½. Si E[F_B] fuera 0.9, el mismo ruido lo llevaría a 0.7.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ruido corre el promedio hacia ½, pero ese corrimiento es determinista y se corrige conociendo p. Lo que no se puede corregir es la dispersión: la estimación corregida F̂ queda centrada en el valor verdadero, pero unas 2.8 veces más ancha. Ese ancho es el costo en utilidad de la privacidad. Corrección: F̂ = (F_C − p/2)/(1−p). Solo usa lo medido (F_C) y el parámetro público p, no el valor verdadero. Es un estimador insesgado, como en el randomized response clásico. Dos efectos del mismo ruido: - Centro: se corre hacia ½, de forma determinista, y se corrige. - Dispersión: aumenta, y no se corrige. Cada persona se vuelve una moneda más impredecible: la varianza P(1−P) de car pasa de 0 a 0.1875, y la de real estate igual. El ancho extra tiene dos fuentes (números de la simulación, diseño L): - F_B (sin ruido): centro 0.450, std 0.0103. - F_C (con ruido, sin corregir): centro 0.475, std 0.0143, ×1.4 respecto de F_B (el ruido). - F̂ (corregido): centro 0.450, std 0.0285, ×2.8 (ruido × corrección, que multiplica por 1/(1−p) = 2). Frase clave: F̂ no devuelve el mismo número que F_B. Apunta en promedio al mismo valor, pero en cada repetición cae más lejos. Las barras del gráfico van de centro − 2·std a centro + 2·std; la línea punteada marca 0.45, el valor esperado sin ruido.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ε dice cuánto puede cambiar la creencia de un atacante al ver un resultado: como máximo un factor e^ε en sus odds, sepa lo que sepa de antemano. Con collateral y p = 0.5, un factor 3. La garantía se rompe al medir varias veces a la misma persona (siguientes diapositivas). Construcción paso a paso. El atacante sabe que A tiene car o real estate, y ve un solo resultado "+". 1. Con ruido (p = 0.5): P(+ | car) = 0.75 y P(+ | real estate) = 0.25. El cociente es 3. 2. Sin ruido: P(+ | car) = 1 y P(+ | real estate) = 0. El cociente es ∞: un "+" revela con certeza que A tiene car (ε = ∞). 3. Teorema 3 para un qubit: D = 2, d = 1 porque |+⟩ y |−⟩ son ortogonales, p = 0.5. ε = ln(1 + 2) = ln 3 ≈ 1.10, y e^ε = 3. Coincide con el cociente: para este par la cota se alcanza.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Bayes: odds después = odds antes × cociente. La garantía no depende de lo que sepa el atacante: - Sin información (odds 1): tras un "+" las odds pasan a 3. - Con las proporciones del dataset (0.232/0.332 = 0.70): tras un "+" quedan en ≈ 2.1. - En cualquier caso, un resultado multiplica las odds como máximo por 3. Inclina, pero no decide. 5. La misma persona medida 10 veces, con 10 "+": las odds se multiplican por 3¹⁰ ≈ 59 000, y el atacante queda prácticamente seguro. Equivale a ε_total = 10·ln 3 ≈ 11 (composición, Teorema 4). La garantía se rompe al medir varias veces a la misma persona, porque cada lectura vuelve a multiplicar: k mediciones cuestan k·ε.</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entre medir a la misma persona muchas veces y medir a muchas personas una vez cada una. La misma persona, 10 veces: 10 resultados dependen de A; ε sobre A = 10·ln 3 ≈ 11 por composición (Teorema 4); el atacante aprende la categoría de A casi con certeza; el analista no gana nada útil. 1000 personas, una vez cada una: solo 1 resultado depende de A; ε sobre A = ln 3 ≈ 1.10 por composición paralela; el atacante aprende un factor 3 como máximo; el analista recupera la estadística de la población (F̂). Composición paralela: mecanismos sobre datos disjuntos (uno por persona) no acumulan ε. Si se saca a A, cambia solo su resultado; los otros 999 no dependen de A. En la población, A aporta 1/1000 = 0.001 a F, que queda enterrado en una dispersión de ≈ 0.014.</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1 qubit (solo collateral, coherente con el histograma), N = 1000. Diseño C: ε total 0.61 experimental y 1.13 de cota, con ε por copia 0.000608 (exp) y 0.00113 (cota). std(F̂) = 0.0316. Diseño L: ε total 1.10 (experimental = cota, ln 3). std(F̂) = 0.0293. Ninguno domina: C gasta menos ε medido, L es un poco más preciso. Detalle: en C la línea base también es más ancha, std(F_B) ≈ 0.0157 contra 0.0104 en L, porque el sorteo con reposición agrega varianza. Recordatorio: C se reporta con cálculos analíticos; solo L se simuló.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7 qubits (publicación conjunta, D = 128). El ε por copia es 0.106 (Acto I). - Con N = 1000: ε_total = 106, y e^106 ≈ 10⁴⁶. No queda garantía. - Para ε_total ≈ 1 harían falta N ≈ 9 copias, y entonces std(F̂) ≈ 0.33: el intervalo 0.45 ± 2·std cubre todos los valores posibles. Inútil. - A igual ε que L (cota ln 129 ≈ 4.86): N ≈ 46 copias, y std(F̂) ≈ 0.15, contra 0.029 en L. L es unas 5 veces más preciso. Nota honesta: el ε de L con 7 qubits es solo la cota (ln 129). Su cálculo experimental queda fuera de alcance y está en los pasos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escalan distinto. Supuestos: d ≈ 1/n en C (A pesa 1/n en el estado agregado), d = 1 en L, (1−p)/p = 1 con p = 0.5, y N = n. C: ε_total ≈ N·ln(1 + D/n) ≈ D. L: ε = ln(1 + D). D = 2 (1 qubit): C ≈ 2 (con el d real, 1.13); L = 1.10. Cociente ≈ 1–2×. D = 128 (7 qubits): C ≈ 120 (con el d real, 106); L = 4.86 (cota). Cociente ≈ 25×. Con D = 2ⁿ, el costo de C crece exponencialmente con el número de qubits y el de L linealmente (ln 2ⁿ = n·ln 2). Es el mismo patrón del Acto I: estado conjunto contra suma por columnas.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Cuándo C sigue siendo bueno: si un proceso cuántico consume una sola copia de ρ″ sin decuantizar, la garantía es el ε por copia (0.106 con 7 qubits), mucho mejor que la de L. La línea divisoria no es cuántico contra clásico, sino cuántas copias consume quien recibe el estado. Un algoritmo cuántico que necesite estimar algo con precisión también consume muchas copias y paga N·ε. Con esto cierra el Acto II: sabemos dónde está la privacidad (en la dispersión, no en el centro), qué la rompe (medir varias veces a la misma persona) y por qué L escala mejor que C cuando hay que decuantizar.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Incertidumbre sin ruido (Bayes): si una persona da "+", P(car | +) = 1 · 0.232 / 0.45 ≈ 0.52. Casi una moneda. Y esto es sin ningún ruido de privacidad: viene de la codificación, porque none y savings también dan "+" la mitad de las veces. Por eso trabajamos con tres versiones de los datos: A = CSV (datos originales). B = codificado y medido sin ruido (p = 0). C = codificado y medido con ruido (p = 0.5). A–B aísla el costo de la codificación y la medición. B–C aísla el efecto del ruido de privacidad. Es la comparación del histograma. A–C mezcla los dos efectos, y le atribuiría a la privacidad un error que en realidad viene 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nuevo: pipeline del diseño L (reemplaza al "Pipeline completo" de la semana 8). 1. Datos: columna collateral, 1000 personas, 4 categorías. 2. Codificar: cada persona → 1 qubit en el ecuador (H + RZ(2πk/4)). 3. Dos ramas: B sin ruido (p = 0, referencia) y C con depolarizante de 1 qubit (p = 0.5). 4. Medir en base X, una vez por persona: cada persona entrega "+" o "−". 5. Estadística por repetición: F = fracción de "+". En C se corrige: F̂ = (F_C − p/2)/(1 − p). 6. Repetir el experimento 2000 veces → distribución de F_B y de F̂ → histograma. Terminología: hablo de "repeticiones del experimento". Cada repetición es una publicación posible, donde cada persona se mide una sola vez. No uso "shots", porque se lee como medir muchas veces a la misma persona, que es justo lo que rompe la privacidad (lo vemos en el Acto II).</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privacidad en datos clásicos hay que entender qué hace exactamente la medición: qué se gasta, qué se obtiene y qué se pierde ya desde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contra superposición, con un ejemplo de dos personas: car = |+⟩ y real estate = |−⟩. Mezcla (lo que hace la agregación, suma de matrices): ½|+⟩⟨+| + ½|−⟩⟨−| = I/2. Medida en Z da 50/50, igual que sortear entre las dos personas. Superposición (suma de vectores, normalizada): (|+⟩ + |−⟩)/√2 = |0⟩. Medida en Z da siempre "0". Es otro estado, no "50 % cada persona". El punto: cuando agregamos personas sumamos matrices de densidad, no vectores de estado. Por eso la agregación se comporta como un sorteo clásico de personas, y no como una superposición coherente.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alcanza con simular 1 qubit. Con el depolarizante global de 7 qubits, la traza parcial sobre los otros 6 da ρ″₀ = (1−p)·ρ₀ + p·I/2: un depolarizante de 1 qubit con el mismo p. La cuenta solo usa la linealidad de la traza parcial y que Tr(I/2) = 1, así que vale para cualquier ρ, aunque haya correlaciones o entrelazamiento. Como solo se mide y publica el qubit de collateral, el ε se calcula con D = 2. Lo mismo vale para GAD y PAD, que se aplican qubit por qubit (canal producto E₀ ⊗ … ⊗ E₆, ver la demostración de la semana 8): Tr_resto[(E₀ ⊗ … ⊗ E₆)(ρ)] = E₀(ρ₀), porque los canales de los otros qubits preservan la traza. Tampoco requiere que ρ sea producto. Esto será útil en el Acto V: en el computador de 2 qubits, aplicar GAD a cada qubit y medir uno equivale a GAD de 1 qubit.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los resultados: primero el ε del diseño L para todas las variables categóricas, y después el experimento completo de collateral, que termina en el histograma.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Explicación paso a paso. Para dos estados del ecuador separados por Δ: |⟨ψ|φ⟩|² = cos²(Δ/2), así que d = sin(Δ/2), que crece con Δ hasta 180°. El peor caso es el par más separado (la cuerda azul en cada dibujo). En la esfera de Bloch, dos puntos opuestos (180°) son estados ortogonales: d = 1, y existe una medición que los separa perfectamente antes del ruido. Por eso ahí la cota se alcanza. Con menos de 180° esa medición no existe y el ε real queda por debajo de la cota (como los vecinos a 90° de collateral: 0.7954 contra 0.8814). K par: avanzar K/2 pasos de 2π/K da exactamente π, así que siempre hay un par opuesto (K = 4 y K = 10, marcos negros). K impar: el máximo son (K−1)/2 pasos, un ángulo de (K−1)/K · 180° &lt; 180° (K = 3 y K = 5). Al crecer K impar, el peor par se acerca a 180° (K = 21 → 171.4°) y el ε tiende a ln 3: la ventaja de K impar desaparece.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Privacidad contra utilidad: la privacidad depende del par más separado; la utilidad, de los pares vecinos (separación 360°/K). collateral (K = 4) y purpose (K = 10) tienen exactamente el mismo ε, ln 3 ≈ 1.10, porque las dos tienen un par opuesto. Pero en collateral las vecinas están a 90° y en purpose a 36°: más apretadas, y una medición dice menos sobre cuál de ellas era. Meter más categorías en un qubit no cambia el ε, pero empeora la lectura: la probabilidad condicional de acertar la categoría baja. Detalle: con menos de 180° no existe una medición que separe perfectamente los dos estados, y el ε real queda por debajo de la cota. Por ejemplo, los vecinos a 90° de collateral: 0.7954 contra 0.8814.</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la simulación reproduce los valores teóricos de centro y dispersión. En el histograma, la estimación corregida F̂ queda centrada en el mismo valor que la referencia sin ruido (0.45), pero unas 2.8 veces más ancha: con ε = ln 3, la privacidad no sesga la estadística de la población, la vuelve menos precisa. Implementación (Experiment/tests/DequantCollateral.py): 1 qubit por persona (H + RZ(2πk/4)), depolarizante p = 0.5, Pᵢ(+) = ⟨+|ρᵢ″|+⟩ por regla de Born, muestreo de 2000 × 1000 mediciones con numpy (semilla 8, la misma matriz de uniformes para B y C). Comprobación previa: los valores únicos de Pᵢ(+) son {0, ½, 1} sin ruido y {0.25, 0.5, 0.75} con ruido, como predice P″(+) = (1−p)·P(+) + p/2. Por qué 2000 repeticiones: el error relativo de una std estimada con R repeticiones es ≈ 1/√(2R) = 1.6 % con R = 2000. Las diferencias que vamos a ver entre teoría y simulación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Teoría contra simulación (2000 repeticiones): - Centro de F_B: teoría 0.45, simulación 0.4500. - Centro de F_C: teoría 0.475, simulación 0.4751. - Centro de F̂: teoría 0.45, simulación 0.4502. - std de F_B: teoría 0.0104, simulación 0.0103. - std de F_C: teoría 0.0147, simulación 0.0143. - std de F̂: teoría 0.0293, simulación 0.0285. De dónde sale la std teórica: Var(F) = (1/n²)·Σₖ nₖ·Pₖ·(1−Pₖ). Sin ruido, car y real estate son deterministas y no aportan; solo none y savings (P = ½): Var = (282 + 154)·¼ / 1000² = 1.09·10⁻⁴, y std = 0.0104. Por qué 2000 repeticiones: el error relativo de una std estimada con R repeticiones es ≈ 1/√(2R) = 1.6 % con R = 2000. Las diferencias observadas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histograma (Experiment/imgs/histograma_collateral.png): F_B y F̂ con los mismos bordes de bins (ancho 0.004, desplazado 0.0005), con una línea en el valor esperado sin ruido (0.45), y ε = 1.10 y p = 0.5 en el título. Mensaje: la simulación reproduce los valores teóricos de centro y dispersión. La estimación corregida F̂ queda centrada en el mismo valor que la referencia sin ruido (0.45), pero unas 2.8 veces más ancha. Con ε = ln 3, la privacidad no sesga la estadística de la población: la vuelve menos precisa. Esta es la evidencia del adelanto del Acto I: la privacidad no se ve como un promedio que se mueve, sino como una estimación menos precisa. Ojo al leerlo: cada valor del histograma es la estadística de la población en una repetición, no una persona. El histograma muestra la precisión de la estimación poblacional; el efecto sobre un individuo es el del Acto II (una medición contra muchas).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acto: el segundo paso que quedó de la semana 8 (ruidos en hardware real), que es trabajo en curso, y el cierre con conclusiones y pasos a seguir.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(versión resumida, trabajo en curso): en hardware solo hay compuertas unitarias y mediciones. Para aplicar ruido hay que construirlo con una dilatación de Stinespring. Existe un circuito probado para GAD, pero usa 3 qubits y el computador de la universidad tiene 2: esa es la pregunta abierta de esta semana. En la simulación los canales se aplican como matrices. En hardware, un canal no unitario se construye así: sistema + entorno en un estado puro → unitario conjunto → se descarta el entorno sin medirlo (traza parcial). El qubit resultante queda en el estado mixto con ruido. Por si un asesor pregunta: un estado mixto no siempre requiere Stinespring. El depolarizante es una mezcla de Paulis al azar (1 qubit + aleatoriedad clásica). Stinespring es necesario cuando el canal no es una mezcla de unitarios (GAD con p genérico).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Referencia: F. Chapeau-Blondeau, "Modeling and simulation of a quantum thermal noise on the qubit", Fluctuation and Noise Letters 21 (2022) 2250060 (arXiv:2212.03582). - Circuito de 3 qubits: el qubit Q, un qubit de entorno E y un auxiliar. El auxiliar deja a E en el estado térmico p|0⟩⟨0| + (1−p)|1⟩⟨1|: se prepara |p⟩ = √p|0⟩ + √(1−p)|1⟩, una CNOT los entrelaza y se descarta uno. - 5 CNOT y rotaciones RY. p se controla con el estado |p⟩ y γ con el ángulo ξ = −arcsin √γ. - Probado en ibmq_bogota con 10⁴ mediciones por punto: coincide con la teoría, con desviaciones atribuibles al ruido propio del procesador. Restricción propia: el computador cuántico de la universidad tiene 2 qubits. Pregunta abierta: cómo implementar GAD (y el depolarizante) con p = 0.5 dentro de ese límite. Recordar del Acto III: aplicar GAD a cada qubit y medir uno equivale a GAD de 1 qubit. Esta semana: prueba de concepto, comparando las probabilidades medidas contra las teóricas. Por si preguntan: si el computador es de resonancia magnética nuclear (ensamble), la lectura entrega probabilidades directamente y no resultados uno por uno. Para la prueba de concepto de GAD sirve igual, pero hay que mencionarlo.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Conclusiones, en tono de cierre de tesis. 1. Los mecanismos cumplen la teoría. En los tres mecanismos de privacidad diferencial cuántica (depolarizante, PAD y GAD), el ε experimental quedó por debajo de la cota teórica, en todas las columnas y en las dos formas de publicar. La cota se alcanza solo para pares de estados ortogonales. El ruido cuántico puede proteger datos clásicos codificados en estados cuánticos con la garantía que predice la teoría. 2. Consumo cuántico. Si un proceso cuántico consume una o pocas copias del estado privatizado, la garantía del modelo central es muy fuerte (ε ≈ 0.1 por copia con los 7 qubits). 3. Decuantización: volver al mundo clásico exige medir, y la forma de hacerlo determina el costo en privacidad. La siguiente diapositiva compara los dos diseños. Decidido: la pregunta de por qué la cota es más holgada en GAD que en el depolarizante queda fuera de la presentación. Si los asesores la plantean, anotarla como pregunta abierta.</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Decuantización: volver al mundo clásico exige medir, y la forma de hacerlo determina el costo en privacidad. Diseño C (central) - A favor: ε por copia muy pequeño. Con una copia, el atacante gana muy poca certeza adicional. - En contra: decuantizar exige muchas copias y cada una suma ε (N·ε). N es una perilla: más copias dan más utilidad y menos privacidad. El costo crece con D (exponencial en el número de qubits): con 7 qubits es inutilizable (ε_total = 106 con N = 1000). Requiere un curador que reúna todos los estados para agregarlos. El sorteo de personas agrega varianza. - Cuándo conviene: cuando se consumen pocas copias, o se sigue trabajando con los datos en el mundo cuántico. Diseño L (local) - A favor: cada persona aparece en un solo resultado (composición paralela), así que el ε no crece con el número de personas ni de publicaciones. Su costo crece con ln D (lineal en el número de qubits). No necesita un curador de confianza: cada persona puede aplicar su ruido, medir y entregar solo el resultado. - En contra: el ε por persona es más alto que el ε por copia del central (con 1 qubit: ln 3 ≈ 1.10 contra 0.0006). - Cuándo conviene: cuando se necesitan estadísticas sobre datos clásicos (muchas muestras). Matiz: con 1 qubit los dos diseños son comparables (Acto II). La ventaja de L aparece y crece con la dimensión.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a seguir: 1. Prueba de concepto en hardware real (computador de 2 qubits de la universidad): GAD y, posiblemente, el depolarizante. 2. Variables numéricas (credit_amount): qué estadística entrega realmente la medición. RY(θ) medido en Z da sin²(θ/2), no el valor original. 3. ε del diseño L experimental con los 7 qubits completos (hoy solo se tiene la cota ln 129). 4. Documentar en la tesis los dos modelos de publicación (conjunto y por columna) y por qué se usa cada uno. Quedaron fuera de alcance de esta presentación: credit_amount y las variables numéricas, y el ε del diseño L con los 7 qubits completos. Por eso aparecen aquí.</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2.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2.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30.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9" Type="http://schemas.openxmlformats.org/officeDocument/2006/relationships/image" Target="../media/image47.png"/></Relationships>
</file>

<file path=ppt/slides/_rels/slide18.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2.pn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2.png"/><Relationship Id="rId7" Type="http://schemas.openxmlformats.org/officeDocument/2006/relationships/image" Target="../media/image6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9" Type="http://schemas.openxmlformats.org/officeDocument/2006/relationships/image" Target="../media/image64.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86.png"/><Relationship Id="rId4" Type="http://schemas.openxmlformats.org/officeDocument/2006/relationships/image" Target="../media/image85.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89.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2192000" cy="4191000"/>
          </a:xfrm>
          <a:prstGeom prst="rect">
            <a:avLst/>
          </a:prstGeom>
        </p:spPr>
      </p:pic>
      <p:sp>
        <p:nvSpPr>
          <p:cNvPr id="4" name="Text 1"/>
          <p:cNvSpPr>
            <a:spLocks noGrp="1"/>
          </p:cNvSpPr>
          <p:nvPr>
            <p:ph type="title"/>
          </p:nvPr>
        </p:nvSpPr>
        <p:spPr>
          <a:xfrm>
            <a:off x="3582924" y="1422400"/>
            <a:ext cx="7796276" cy="947341"/>
          </a:xfrm>
          <a:prstGeom prst="rect">
            <a:avLst/>
          </a:prstGeom>
          <a:noFill/>
          <a:ln/>
        </p:spPr>
        <p:txBody>
          <a:bodyPr wrap="square" lIns="0" tIns="0" rIns="0" bIns="0" rtlCol="0" anchor="t">
            <a:normAutofit fontScale="90000"/>
          </a:bodyPr>
          <a:lstStyle/>
          <a:p>
            <a:pPr marL="0" indent="0" algn="r">
              <a:lnSpc>
                <a:spcPts val="7260"/>
              </a:lnSpc>
              <a:buNone/>
            </a:pPr>
            <a:r>
              <a:rPr lang="es-ES_tradnl" sz="6600" b="1" i="0" kern="0" spc="-150" noProof="0" dirty="0">
                <a:solidFill>
                  <a:srgbClr val="1D1D1B"/>
                </a:solidFill>
                <a:latin typeface="DM Sans" pitchFamily="34" charset="0"/>
                <a:ea typeface="DM Sans" pitchFamily="34" charset="-122"/>
                <a:cs typeface="DM Sans" pitchFamily="34" charset="-120"/>
              </a:rPr>
              <a:t>Avances Semana 10 REMASTERIZADO</a:t>
            </a:r>
            <a:endParaRPr lang="es-ES_tradnl" sz="6600" noProof="0" dirty="0"/>
          </a:p>
        </p:txBody>
      </p:sp>
      <p:sp>
        <p:nvSpPr>
          <p:cNvPr id="5" name="Text 2"/>
          <p:cNvSpPr/>
          <p:nvPr/>
        </p:nvSpPr>
        <p:spPr>
          <a:xfrm>
            <a:off x="3582924" y="3251200"/>
            <a:ext cx="7796276" cy="360660"/>
          </a:xfrm>
          <a:prstGeom prst="rect">
            <a:avLst/>
          </a:prstGeom>
          <a:noFill/>
          <a:ln/>
        </p:spPr>
        <p:txBody>
          <a:bodyPr wrap="square" lIns="0" tIns="0" rIns="0" bIns="0" rtlCol="0" anchor="t">
            <a:normAutofit/>
          </a:bodyPr>
          <a:lstStyle/>
          <a:p>
            <a:pPr marL="0" indent="0" algn="r">
              <a:lnSpc>
                <a:spcPts val="2640"/>
              </a:lnSpc>
              <a:buNone/>
            </a:pPr>
            <a:r>
              <a:rPr lang="es-ES_tradnl" sz="2200" noProof="0" dirty="0" err="1">
                <a:solidFill>
                  <a:srgbClr val="1D1D1B"/>
                </a:solidFill>
                <a:latin typeface="DM Sans" pitchFamily="34" charset="0"/>
                <a:ea typeface="DM Sans" pitchFamily="34" charset="-122"/>
                <a:cs typeface="DM Sans" pitchFamily="34" charset="-120"/>
              </a:rPr>
              <a:t>Decuantización</a:t>
            </a:r>
            <a:r>
              <a:rPr lang="es-ES_tradnl" sz="2200" noProof="0" dirty="0">
                <a:solidFill>
                  <a:srgbClr val="1D1D1B"/>
                </a:solidFill>
                <a:latin typeface="DM Sans" pitchFamily="34" charset="0"/>
                <a:ea typeface="DM Sans" pitchFamily="34" charset="-122"/>
                <a:cs typeface="DM Sans" pitchFamily="34" charset="-120"/>
              </a:rPr>
              <a:t> y hardware real</a:t>
            </a:r>
            <a:endParaRPr lang="es-ES_tradnl" sz="22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AVANCES SEMANA 10</a:t>
            </a:r>
            <a:endParaRPr lang="es-ES_tradnl" sz="1200" noProof="0" dirty="0"/>
          </a:p>
        </p:txBody>
      </p:sp>
      <p:pic>
        <p:nvPicPr>
          <p:cNvPr id="5"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6" name="Text 3"/>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Hoja de ruta</a:t>
            </a:r>
            <a:endParaRPr lang="es-ES_tradnl" sz="2800" noProof="0" dirty="0"/>
          </a:p>
        </p:txBody>
      </p:sp>
      <p:sp>
        <p:nvSpPr>
          <p:cNvPr id="7" name="Text 4"/>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semana 8 cerró con tres pasos a seguir. Hoy avanzamos en los dos primeros.</a:t>
            </a:r>
            <a:endParaRPr lang="es-ES_tradnl" sz="1800" noProof="0" dirty="0"/>
          </a:p>
        </p:txBody>
      </p:sp>
      <p:sp>
        <p:nvSpPr>
          <p:cNvPr id="8" name="Text 5"/>
          <p:cNvSpPr/>
          <p:nvPr/>
        </p:nvSpPr>
        <p:spPr>
          <a:xfrm>
            <a:off x="812800" y="1918891"/>
            <a:ext cx="775891"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Semana 8:</a:t>
            </a:r>
            <a:endParaRPr lang="es-ES_tradnl" sz="1200" noProof="0" dirty="0"/>
          </a:p>
        </p:txBody>
      </p:sp>
      <p:sp>
        <p:nvSpPr>
          <p:cNvPr id="9" name="Text 6"/>
          <p:cNvSpPr/>
          <p:nvPr/>
        </p:nvSpPr>
        <p:spPr>
          <a:xfrm>
            <a:off x="1642666" y="1859855"/>
            <a:ext cx="2309019"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1 · </a:t>
            </a:r>
            <a:r>
              <a:rPr lang="es-ES_tradnl" sz="1200" noProof="0" dirty="0" err="1">
                <a:solidFill>
                  <a:srgbClr val="1D1D1B"/>
                </a:solidFill>
                <a:latin typeface="Roboto" pitchFamily="34" charset="0"/>
                <a:ea typeface="Roboto" pitchFamily="34" charset="-122"/>
                <a:cs typeface="Roboto" pitchFamily="34" charset="-120"/>
              </a:rPr>
              <a:t>Decuantizar</a:t>
            </a:r>
            <a:r>
              <a:rPr lang="es-ES_tradnl" sz="1200" noProof="0" dirty="0">
                <a:solidFill>
                  <a:srgbClr val="1D1D1B"/>
                </a:solidFill>
                <a:latin typeface="Roboto" pitchFamily="34" charset="0"/>
                <a:ea typeface="Roboto" pitchFamily="34" charset="-122"/>
                <a:cs typeface="Roboto" pitchFamily="34" charset="-120"/>
              </a:rPr>
              <a:t> → Actos II a IV</a:t>
            </a:r>
            <a:endParaRPr lang="es-ES_tradnl" sz="1200" noProof="0" dirty="0"/>
          </a:p>
        </p:txBody>
      </p:sp>
      <p:sp>
        <p:nvSpPr>
          <p:cNvPr id="10" name="Text 7"/>
          <p:cNvSpPr/>
          <p:nvPr/>
        </p:nvSpPr>
        <p:spPr>
          <a:xfrm>
            <a:off x="4059634" y="1859855"/>
            <a:ext cx="2782987"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2 · Ruidos en </a:t>
            </a:r>
            <a:r>
              <a:rPr lang="es-ES_tradnl" sz="1200" noProof="0" dirty="0" err="1">
                <a:solidFill>
                  <a:srgbClr val="1D1D1B"/>
                </a:solidFill>
                <a:latin typeface="Roboto" pitchFamily="34" charset="0"/>
                <a:ea typeface="Roboto" pitchFamily="34" charset="-122"/>
                <a:cs typeface="Roboto" pitchFamily="34" charset="-120"/>
              </a:rPr>
              <a:t>kernels</a:t>
            </a:r>
            <a:r>
              <a:rPr lang="es-ES_tradnl" sz="1200" noProof="0" dirty="0">
                <a:solidFill>
                  <a:srgbClr val="1D1D1B"/>
                </a:solidFill>
                <a:latin typeface="Roboto" pitchFamily="34" charset="0"/>
                <a:ea typeface="Roboto" pitchFamily="34" charset="-122"/>
                <a:cs typeface="Roboto" pitchFamily="34" charset="-120"/>
              </a:rPr>
              <a:t> reales → Acto V</a:t>
            </a:r>
            <a:endParaRPr lang="es-ES_tradnl" sz="1200" noProof="0" dirty="0"/>
          </a:p>
        </p:txBody>
      </p:sp>
      <p:sp>
        <p:nvSpPr>
          <p:cNvPr id="11" name="Text 8"/>
          <p:cNvSpPr/>
          <p:nvPr/>
        </p:nvSpPr>
        <p:spPr>
          <a:xfrm>
            <a:off x="6950571" y="1859855"/>
            <a:ext cx="1903512" cy="331391"/>
          </a:xfrm>
          <a:prstGeom prst="roundRect">
            <a:avLst>
              <a:gd name="adj" fmla="val 14371"/>
            </a:avLst>
          </a:prstGeom>
          <a:solidFill>
            <a:srgbClr val="FFFFFF"/>
          </a:solidFill>
          <a:ln w="6350">
            <a:solidFill>
              <a:srgbClr val="B9B9B5"/>
            </a:solidFill>
            <a:prstDash val="dash"/>
          </a:ln>
        </p:spPr>
        <p:txBody>
          <a:bodyPr wrap="none" lIns="0" tIns="0" rIns="0" bIns="0" rtlCol="0" anchor="ctr">
            <a:normAutofit/>
          </a:bodyPr>
          <a:lstStyle/>
          <a:p>
            <a:pPr marL="0" indent="0" algn="ctr">
              <a:lnSpc>
                <a:spcPts val="1560"/>
              </a:lnSpc>
              <a:buNone/>
            </a:pPr>
            <a:r>
              <a:rPr lang="es-ES_tradnl" sz="1200" noProof="0" dirty="0">
                <a:solidFill>
                  <a:srgbClr val="6E6E6C"/>
                </a:solidFill>
                <a:latin typeface="Roboto" pitchFamily="34" charset="0"/>
                <a:ea typeface="Roboto" pitchFamily="34" charset="-122"/>
                <a:cs typeface="Roboto" pitchFamily="34" charset="-120"/>
              </a:rPr>
              <a:t>3 · Documentar → cierre</a:t>
            </a:r>
            <a:endParaRPr lang="es-ES_tradnl" sz="1200" noProof="0" dirty="0"/>
          </a:p>
        </p:txBody>
      </p:sp>
      <p:sp>
        <p:nvSpPr>
          <p:cNvPr id="12" name="Shape 9"/>
          <p:cNvSpPr/>
          <p:nvPr/>
        </p:nvSpPr>
        <p:spPr>
          <a:xfrm>
            <a:off x="812800" y="2448421"/>
            <a:ext cx="1991320" cy="3517900"/>
          </a:xfrm>
          <a:prstGeom prst="roundRect">
            <a:avLst>
              <a:gd name="adj" fmla="val 5102"/>
            </a:avLst>
          </a:prstGeom>
          <a:solidFill>
            <a:srgbClr val="F4F4F2"/>
          </a:solidFill>
          <a:ln/>
        </p:spPr>
        <p:txBody>
          <a:bodyPr/>
          <a:lstStyle/>
          <a:p>
            <a:endParaRPr lang="es-ES_tradnl" noProof="0" dirty="0"/>
          </a:p>
        </p:txBody>
      </p:sp>
      <p:sp>
        <p:nvSpPr>
          <p:cNvPr id="13" name="Text 10"/>
          <p:cNvSpPr/>
          <p:nvPr/>
        </p:nvSpPr>
        <p:spPr>
          <a:xfrm>
            <a:off x="990600" y="2626221"/>
            <a:ext cx="608509"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a:t>
            </a:r>
            <a:endParaRPr lang="es-ES_tradnl" sz="1200" noProof="0" dirty="0"/>
          </a:p>
        </p:txBody>
      </p:sp>
      <p:sp>
        <p:nvSpPr>
          <p:cNvPr id="14" name="Text 11"/>
          <p:cNvSpPr/>
          <p:nvPr/>
        </p:nvSpPr>
        <p:spPr>
          <a:xfrm>
            <a:off x="99060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estábamos</a:t>
            </a:r>
            <a:endParaRPr lang="es-ES_tradnl" sz="1400" noProof="0" dirty="0"/>
          </a:p>
        </p:txBody>
      </p:sp>
      <p:sp>
        <p:nvSpPr>
          <p:cNvPr id="15" name="Text 12"/>
          <p:cNvSpPr/>
          <p:nvPr/>
        </p:nvSpPr>
        <p:spPr>
          <a:xfrm>
            <a:off x="990600" y="32512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 · La cota experimental en tres mecanismos</a:t>
            </a:r>
            <a:endParaRPr lang="es-ES_tradnl" sz="1200" noProof="0" dirty="0"/>
          </a:p>
        </p:txBody>
      </p:sp>
      <p:sp>
        <p:nvSpPr>
          <p:cNvPr id="16" name="Text 13"/>
          <p:cNvSpPr/>
          <p:nvPr/>
        </p:nvSpPr>
        <p:spPr>
          <a:xfrm>
            <a:off x="990600" y="37465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2 · La pregunta nueva: decuantizar = medir</a:t>
            </a:r>
            <a:endParaRPr lang="es-ES_tradnl" sz="1200" noProof="0" dirty="0"/>
          </a:p>
        </p:txBody>
      </p:sp>
      <p:sp>
        <p:nvSpPr>
          <p:cNvPr id="95" name="Text 13"/>
          <p:cNvSpPr/>
          <p:nvPr/>
        </p:nvSpPr>
        <p:spPr>
          <a:xfrm>
            <a:off x="990600" y="42418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3 · Introducción a la metodología local</a:t>
            </a:r>
            <a:endParaRPr lang="es-ES_tradnl" sz="1200" noProof="0" dirty="0"/>
          </a:p>
        </p:txBody>
      </p:sp>
      <p:sp>
        <p:nvSpPr>
          <p:cNvPr id="17" name="Shape 14"/>
          <p:cNvSpPr/>
          <p:nvPr/>
        </p:nvSpPr>
        <p:spPr>
          <a:xfrm>
            <a:off x="5102820" y="2448421"/>
            <a:ext cx="1991420" cy="3517900"/>
          </a:xfrm>
          <a:prstGeom prst="roundRect">
            <a:avLst>
              <a:gd name="adj" fmla="val 5102"/>
            </a:avLst>
          </a:prstGeom>
          <a:solidFill>
            <a:srgbClr val="F4F4F2"/>
          </a:solidFill>
          <a:ln/>
        </p:spPr>
        <p:txBody>
          <a:bodyPr/>
          <a:lstStyle/>
          <a:p>
            <a:endParaRPr lang="es-ES_tradnl" noProof="0" dirty="0"/>
          </a:p>
        </p:txBody>
      </p:sp>
      <p:sp>
        <p:nvSpPr>
          <p:cNvPr id="18" name="Text 15"/>
          <p:cNvSpPr/>
          <p:nvPr/>
        </p:nvSpPr>
        <p:spPr>
          <a:xfrm>
            <a:off x="5280620" y="2626221"/>
            <a:ext cx="650180"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III</a:t>
            </a:r>
            <a:endParaRPr lang="es-ES_tradnl" sz="1200" noProof="0" dirty="0"/>
          </a:p>
        </p:txBody>
      </p:sp>
      <p:sp>
        <p:nvSpPr>
          <p:cNvPr id="19" name="Text 16"/>
          <p:cNvSpPr/>
          <p:nvPr/>
        </p:nvSpPr>
        <p:spPr>
          <a:xfrm>
            <a:off x="5280620" y="2948781"/>
            <a:ext cx="1686620" cy="24130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Qué significa medir</a:t>
            </a:r>
            <a:endParaRPr lang="es-ES_tradnl" sz="1400" noProof="0" dirty="0"/>
          </a:p>
        </p:txBody>
      </p:sp>
      <p:sp>
        <p:nvSpPr>
          <p:cNvPr id="20" name="Text 17"/>
          <p:cNvSpPr/>
          <p:nvPr/>
        </p:nvSpPr>
        <p:spPr>
          <a:xfrm>
            <a:off x="5280620" y="32512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9 · Mezcla y por qué basta 1 qubit</a:t>
            </a:r>
            <a:endParaRPr lang="es-ES_tradnl" sz="1200" noProof="0" dirty="0"/>
          </a:p>
        </p:txBody>
      </p:sp>
      <p:sp>
        <p:nvSpPr>
          <p:cNvPr id="22" name="Shape 19"/>
          <p:cNvSpPr/>
          <p:nvPr/>
        </p:nvSpPr>
        <p:spPr>
          <a:xfrm>
            <a:off x="2954040" y="2448421"/>
            <a:ext cx="1991320" cy="3517900"/>
          </a:xfrm>
          <a:prstGeom prst="roundRect">
            <a:avLst>
              <a:gd name="adj" fmla="val 5102"/>
            </a:avLst>
          </a:prstGeom>
          <a:solidFill>
            <a:srgbClr val="F4F4F2"/>
          </a:solidFill>
          <a:ln/>
        </p:spPr>
        <p:txBody>
          <a:bodyPr/>
          <a:lstStyle/>
          <a:p>
            <a:endParaRPr lang="es-ES_tradnl" noProof="0" dirty="0"/>
          </a:p>
        </p:txBody>
      </p:sp>
      <p:sp>
        <p:nvSpPr>
          <p:cNvPr id="23" name="Text 20"/>
          <p:cNvSpPr/>
          <p:nvPr/>
        </p:nvSpPr>
        <p:spPr>
          <a:xfrm>
            <a:off x="3131840" y="2626221"/>
            <a:ext cx="691852"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a:t>
            </a:r>
            <a:endParaRPr lang="es-ES_tradnl" sz="1200" noProof="0" dirty="0"/>
          </a:p>
        </p:txBody>
      </p:sp>
      <p:sp>
        <p:nvSpPr>
          <p:cNvPr id="24" name="Text 21"/>
          <p:cNvSpPr/>
          <p:nvPr/>
        </p:nvSpPr>
        <p:spPr>
          <a:xfrm>
            <a:off x="3131840" y="2948781"/>
            <a:ext cx="1686520" cy="452041"/>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 la privacidad</a:t>
            </a:r>
            <a:endParaRPr lang="es-ES_tradnl" sz="1400" noProof="0" dirty="0"/>
          </a:p>
        </p:txBody>
      </p:sp>
      <p:sp>
        <p:nvSpPr>
          <p:cNvPr id="25" name="Text 22"/>
          <p:cNvSpPr/>
          <p:nvPr/>
        </p:nvSpPr>
        <p:spPr>
          <a:xfrm>
            <a:off x="3131840" y="34671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4 · Medir: copias y codificación</a:t>
            </a:r>
            <a:endParaRPr lang="es-ES_tradnl" sz="1200" noProof="0" dirty="0"/>
          </a:p>
        </p:txBody>
      </p:sp>
      <p:sp>
        <p:nvSpPr>
          <p:cNvPr id="26" name="Text 23"/>
          <p:cNvSpPr/>
          <p:nvPr/>
        </p:nvSpPr>
        <p:spPr>
          <a:xfrm>
            <a:off x="3131840" y="39624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5 · El ruido visto desde un qubit</a:t>
            </a:r>
            <a:endParaRPr lang="es-ES_tradnl" sz="1200" noProof="0" dirty="0"/>
          </a:p>
        </p:txBody>
      </p:sp>
      <p:sp>
        <p:nvSpPr>
          <p:cNvPr id="27" name="Text 24"/>
          <p:cNvSpPr/>
          <p:nvPr/>
        </p:nvSpPr>
        <p:spPr>
          <a:xfrm>
            <a:off x="3131840" y="44577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6 · Una medición contra muchas</a:t>
            </a:r>
            <a:endParaRPr lang="es-ES_tradnl" sz="1200" noProof="0" dirty="0"/>
          </a:p>
        </p:txBody>
      </p:sp>
      <p:sp>
        <p:nvSpPr>
          <p:cNvPr id="94" name="Text 24"/>
          <p:cNvSpPr/>
          <p:nvPr/>
        </p:nvSpPr>
        <p:spPr>
          <a:xfrm>
            <a:off x="3131840" y="5448300"/>
            <a:ext cx="1686520" cy="431800"/>
          </a:xfrm>
          <a:prstGeom prst="rect">
            <a:avLst/>
          </a:prstGeom>
          <a:noFill/>
          <a:ln/>
        </p:spPr>
        <p:txBody>
          <a:bodyPr wrap="square" lIns="0" tIns="0" rIns="0" bIns="0" rtlCol="0" anchor="t">
            <a:normAutofit fontScale="92500"/>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8 · La línea base B y el experimento de medición</a:t>
            </a:r>
            <a:endParaRPr lang="es-ES_tradnl" sz="1200" noProof="0" dirty="0"/>
          </a:p>
        </p:txBody>
      </p:sp>
      <p:sp>
        <p:nvSpPr>
          <p:cNvPr id="93" name="Text 24"/>
          <p:cNvSpPr/>
          <p:nvPr/>
        </p:nvSpPr>
        <p:spPr>
          <a:xfrm>
            <a:off x="3131840" y="49530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7 · Diseño C contra diseño L</a:t>
            </a:r>
            <a:endParaRPr lang="es-ES_tradnl" sz="1200" noProof="0" dirty="0"/>
          </a:p>
        </p:txBody>
      </p:sp>
      <p:sp>
        <p:nvSpPr>
          <p:cNvPr id="28" name="Shape 25"/>
          <p:cNvSpPr/>
          <p:nvPr/>
        </p:nvSpPr>
        <p:spPr>
          <a:xfrm>
            <a:off x="7244060" y="2448421"/>
            <a:ext cx="1991420" cy="3517900"/>
          </a:xfrm>
          <a:prstGeom prst="roundRect">
            <a:avLst>
              <a:gd name="adj" fmla="val 5102"/>
            </a:avLst>
          </a:prstGeom>
          <a:solidFill>
            <a:srgbClr val="F4F4F2"/>
          </a:solidFill>
          <a:ln/>
        </p:spPr>
        <p:txBody>
          <a:bodyPr/>
          <a:lstStyle/>
          <a:p>
            <a:endParaRPr lang="es-ES_tradnl" noProof="0" dirty="0"/>
          </a:p>
        </p:txBody>
      </p:sp>
      <p:sp>
        <p:nvSpPr>
          <p:cNvPr id="29" name="Text 26"/>
          <p:cNvSpPr/>
          <p:nvPr/>
        </p:nvSpPr>
        <p:spPr>
          <a:xfrm>
            <a:off x="7421860" y="2626221"/>
            <a:ext cx="716161"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IV</a:t>
            </a:r>
            <a:endParaRPr lang="es-ES_tradnl" sz="1200" noProof="0" dirty="0"/>
          </a:p>
        </p:txBody>
      </p:sp>
      <p:sp>
        <p:nvSpPr>
          <p:cNvPr id="30" name="Text 27"/>
          <p:cNvSpPr/>
          <p:nvPr/>
        </p:nvSpPr>
        <p:spPr>
          <a:xfrm>
            <a:off x="7421860" y="2948781"/>
            <a:ext cx="16866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Resultados</a:t>
            </a:r>
            <a:endParaRPr lang="es-ES_tradnl" sz="1400" noProof="0" dirty="0"/>
          </a:p>
        </p:txBody>
      </p:sp>
      <p:sp>
        <p:nvSpPr>
          <p:cNvPr id="31" name="Text 28"/>
          <p:cNvSpPr/>
          <p:nvPr/>
        </p:nvSpPr>
        <p:spPr>
          <a:xfrm>
            <a:off x="7421860" y="3251002"/>
            <a:ext cx="1686620" cy="642441"/>
          </a:xfrm>
          <a:prstGeom prst="rect">
            <a:avLst/>
          </a:prstGeom>
          <a:noFill/>
          <a:ln/>
        </p:spPr>
        <p:txBody>
          <a:bodyPr wrap="square" lIns="0" tIns="0" rIns="0" bIns="0" rtlCol="0" anchor="t">
            <a:normAutofit/>
          </a:bodyPr>
          <a:lstStyle/>
          <a:p>
            <a:pPr marL="0" indent="0" algn="l">
              <a:lnSpc>
                <a:spcPts val="1620"/>
              </a:lnSpc>
              <a:buNone/>
            </a:pPr>
            <a:r>
              <a:rPr lang="es-ES_tradnl" sz="1200" noProof="0">
                <a:solidFill>
                  <a:srgbClr val="3C3C3B"/>
                </a:solidFill>
                <a:latin typeface="Roboto" pitchFamily="34" charset="0"/>
                <a:ea typeface="Roboto" pitchFamily="34" charset="-122"/>
                <a:cs typeface="Roboto" pitchFamily="34" charset="-120"/>
              </a:rPr>
              <a:t>10 · K par contra K impar</a:t>
            </a:r>
            <a:endParaRPr lang="es-ES_tradnl" sz="1200" noProof="0" dirty="0"/>
          </a:p>
        </p:txBody>
      </p:sp>
      <p:sp>
        <p:nvSpPr>
          <p:cNvPr id="32" name="Text 29"/>
          <p:cNvSpPr/>
          <p:nvPr/>
        </p:nvSpPr>
        <p:spPr>
          <a:xfrm>
            <a:off x="7421860" y="37465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11 · Experimento L de collateral</a:t>
            </a:r>
            <a:endParaRPr lang="es-ES_tradnl" sz="1200" noProof="0" dirty="0"/>
          </a:p>
        </p:txBody>
      </p:sp>
      <p:sp>
        <p:nvSpPr>
          <p:cNvPr id="33" name="Shape 30"/>
          <p:cNvSpPr/>
          <p:nvPr/>
        </p:nvSpPr>
        <p:spPr>
          <a:xfrm>
            <a:off x="9387880" y="2448421"/>
            <a:ext cx="1991320" cy="3517900"/>
          </a:xfrm>
          <a:prstGeom prst="roundRect">
            <a:avLst>
              <a:gd name="adj" fmla="val 5102"/>
            </a:avLst>
          </a:prstGeom>
          <a:solidFill>
            <a:srgbClr val="F4F4F2"/>
          </a:solidFill>
          <a:ln/>
        </p:spPr>
        <p:txBody>
          <a:bodyPr/>
          <a:lstStyle/>
          <a:p>
            <a:endParaRPr lang="es-ES_tradnl" noProof="0" dirty="0"/>
          </a:p>
        </p:txBody>
      </p:sp>
      <p:sp>
        <p:nvSpPr>
          <p:cNvPr id="34" name="Text 31"/>
          <p:cNvSpPr/>
          <p:nvPr/>
        </p:nvSpPr>
        <p:spPr>
          <a:xfrm>
            <a:off x="9565680" y="2626221"/>
            <a:ext cx="674588"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V</a:t>
            </a:r>
            <a:endParaRPr lang="es-ES_tradnl" sz="1200" noProof="0" dirty="0"/>
          </a:p>
        </p:txBody>
      </p:sp>
      <p:sp>
        <p:nvSpPr>
          <p:cNvPr id="35" name="Text 32"/>
          <p:cNvSpPr/>
          <p:nvPr/>
        </p:nvSpPr>
        <p:spPr>
          <a:xfrm>
            <a:off x="956568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Hardware y cierre</a:t>
            </a:r>
            <a:endParaRPr lang="es-ES_tradnl" sz="1400" noProof="0" dirty="0"/>
          </a:p>
        </p:txBody>
      </p:sp>
      <p:sp>
        <p:nvSpPr>
          <p:cNvPr id="36" name="Text 33"/>
          <p:cNvSpPr/>
          <p:nvPr/>
        </p:nvSpPr>
        <p:spPr>
          <a:xfrm>
            <a:off x="9565680" y="3251002"/>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12 · GAD en hardware real</a:t>
            </a:r>
            <a:endParaRPr lang="es-ES_tradnl" sz="1200" noProof="0" dirty="0"/>
          </a:p>
        </p:txBody>
      </p:sp>
      <p:sp>
        <p:nvSpPr>
          <p:cNvPr id="37" name="Text 34"/>
          <p:cNvSpPr/>
          <p:nvPr/>
        </p:nvSpPr>
        <p:spPr>
          <a:xfrm>
            <a:off x="9565680" y="3751263"/>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13 · Conclusiones y pasos a seguir</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02</a:t>
            </a:r>
            <a:endParaRPr lang="es-ES_tradnl" sz="1200" noProof="0" dirty="0"/>
          </a:p>
        </p:txBody>
      </p:sp>
    </p:spTree>
    <p:extLst>
      <p:ext uri="{BB962C8B-B14F-4D97-AF65-F5344CB8AC3E}">
        <p14:creationId xmlns:p14="http://schemas.microsoft.com/office/powerpoint/2010/main" val="2197333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estábamos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 · La cota experimental en tres mecanismos</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2 · La pregunta nueva: decuantizar = medir</a:t>
            </a:r>
            <a:endParaRPr lang="es-ES_tradnl" sz="1800" noProof="0" dirty="0"/>
          </a:p>
        </p:txBody>
      </p:sp>
      <p:sp>
        <p:nvSpPr>
          <p:cNvPr id="9" name="Text 4">
            <a:extLst>
              <a:ext uri="{FF2B5EF4-FFF2-40B4-BE49-F238E27FC236}">
                <a16:creationId xmlns:a16="http://schemas.microsoft.com/office/drawing/2014/main" id="{B19BD400-2ADF-FD75-F718-5301A4BC3FE0}"/>
              </a:ext>
            </a:extLst>
          </p:cNvPr>
          <p:cNvSpPr/>
          <p:nvPr/>
        </p:nvSpPr>
        <p:spPr>
          <a:xfrm>
            <a:off x="812800" y="4462661"/>
            <a:ext cx="6409690" cy="322560"/>
          </a:xfrm>
          <a:prstGeom prst="rect">
            <a:avLst/>
          </a:prstGeom>
          <a:noFill/>
          <a:ln/>
        </p:spPr>
        <p:txBody>
          <a:bodyPr wrap="square" lIns="0" tIns="0" rIns="0" bIns="0" rtlCol="0" anchor="t">
            <a:normAutofit/>
          </a:bodyPr>
          <a:lstStyle/>
          <a:p>
            <a:pPr marL="0" indent="0" algn="l">
              <a:lnSpc>
                <a:spcPts val="2340"/>
              </a:lnSpc>
              <a:buNone/>
            </a:pPr>
            <a:r>
              <a:rPr lang="es-ES_tradnl" noProof="0">
                <a:solidFill>
                  <a:srgbClr val="1D1D1B"/>
                </a:solidFill>
                <a:latin typeface="Roboto" pitchFamily="34" charset="0"/>
                <a:ea typeface="Roboto" pitchFamily="34" charset="-122"/>
                <a:cs typeface="Roboto" pitchFamily="34" charset="-120"/>
              </a:rPr>
              <a:t>3 · Introducción a la metodología local</a:t>
            </a:r>
            <a:endParaRPr lang="es-ES_tradnl" sz="18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24CE-B43E-B1A8-BFD8-F4D26DFEB5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131A802F-DD19-3650-8F12-4D07CC9E35AB}"/>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central</a:t>
            </a:r>
          </a:p>
        </p:txBody>
      </p:sp>
      <p:grpSp>
        <p:nvGrpSpPr>
          <p:cNvPr id="300" name="Diagrama pipeline">
            <a:extLst>
              <a:ext uri="{FF2B5EF4-FFF2-40B4-BE49-F238E27FC236}">
                <a16:creationId xmlns:a16="http://schemas.microsoft.com/office/drawing/2014/main" id="{90F9E54D-1B6A-A0C9-D78C-FE6421396E5F}"/>
              </a:ext>
            </a:extLst>
          </p:cNvPr>
          <p:cNvGrpSpPr/>
          <p:nvPr/>
        </p:nvGrpSpPr>
        <p:grpSpPr>
          <a:xfrm>
            <a:off x="1003300" y="1944951"/>
            <a:ext cx="10566400" cy="4546541"/>
            <a:chOff x="548640" y="1325879"/>
            <a:chExt cx="11064240" cy="5076312"/>
          </a:xfrm>
        </p:grpSpPr>
        <p:sp>
          <p:nvSpPr>
            <p:cNvPr id="6" name="Shape 4">
              <a:extLst>
                <a:ext uri="{FF2B5EF4-FFF2-40B4-BE49-F238E27FC236}">
                  <a16:creationId xmlns:a16="http://schemas.microsoft.com/office/drawing/2014/main" id="{EE4B17DD-30BA-CB80-8F8A-6FD96DCF2D98}"/>
                </a:ext>
              </a:extLst>
            </p:cNvPr>
            <p:cNvSpPr/>
            <p:nvPr/>
          </p:nvSpPr>
          <p:spPr>
            <a:xfrm>
              <a:off x="548640" y="1325879"/>
              <a:ext cx="11064240" cy="5076312"/>
            </a:xfrm>
            <a:prstGeom prst="roundRect">
              <a:avLst>
                <a:gd name="adj" fmla="val 2243"/>
              </a:avLst>
            </a:prstGeom>
            <a:solidFill>
              <a:srgbClr val="F3F3F2"/>
            </a:solidFill>
            <a:ln w="12700">
              <a:noFill/>
              <a:prstDash val="solid"/>
            </a:ln>
          </p:spPr>
          <p:txBody>
            <a:bodyPr/>
            <a:lstStyle/>
            <a:p>
              <a:endParaRPr lang="es-ES_tradnl" noProof="0" dirty="0"/>
            </a:p>
          </p:txBody>
        </p:sp>
        <p:sp>
          <p:nvSpPr>
            <p:cNvPr id="19" name="Shape 17">
              <a:extLst>
                <a:ext uri="{FF2B5EF4-FFF2-40B4-BE49-F238E27FC236}">
                  <a16:creationId xmlns:a16="http://schemas.microsoft.com/office/drawing/2014/main" id="{640C0A2E-05E6-1A38-2B31-B0E57BE7B50B}"/>
                </a:ext>
              </a:extLst>
            </p:cNvPr>
            <p:cNvSpPr/>
            <p:nvPr/>
          </p:nvSpPr>
          <p:spPr>
            <a:xfrm>
              <a:off x="668325" y="3060700"/>
              <a:ext cx="10837875" cy="2387600"/>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5D20FFB9-D0A1-20CC-EAFC-D89019D1B9D7}"/>
                </a:ext>
              </a:extLst>
            </p:cNvPr>
            <p:cNvSpPr/>
            <p:nvPr/>
          </p:nvSpPr>
          <p:spPr>
            <a:xfrm>
              <a:off x="889000" y="3454400"/>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A76193D8-82F9-63E2-FBE9-3FE3EF6504E9}"/>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B3215EA6-972F-11C8-DBDF-62F9BBE6816B}"/>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504B3539-FB45-D06D-CBC6-D0E910DD02DF}"/>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mc:Choice xmlns:a14="http://schemas.microsoft.com/office/drawing/2010/main" Requires="a14">
            <p:sp>
              <p:nvSpPr>
                <p:cNvPr id="10" name="Text 8">
                  <a:extLst>
                    <a:ext uri="{FF2B5EF4-FFF2-40B4-BE49-F238E27FC236}">
                      <a16:creationId xmlns:a16="http://schemas.microsoft.com/office/drawing/2014/main" id="{3E395711-C4DE-CD6F-108C-5993751E5640}"/>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p:sp>
              <p:nvSpPr>
                <p:cNvPr id="10" name="Text 8">
                  <a:extLst>
                    <a:ext uri="{FF2B5EF4-FFF2-40B4-BE49-F238E27FC236}">
                      <a16:creationId xmlns:a16="http://schemas.microsoft.com/office/drawing/2014/main" id="{3E395711-C4DE-CD6F-108C-5993751E5640}"/>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t="-11538" b="-50000"/>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D5F477C7-E924-14DC-2F27-869F4AF6D706}"/>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79F7038F-4F44-7691-DCC9-6187392D0077}"/>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83F4C297-118B-1B1C-27E7-BA877EA0B2B5}"/>
                </a:ext>
              </a:extLst>
            </p:cNvPr>
            <p:cNvSpPr/>
            <p:nvPr/>
          </p:nvSpPr>
          <p:spPr>
            <a:xfrm>
              <a:off x="9683750" y="1892300"/>
              <a:ext cx="1717365"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468BF7ED-9E96-4FFD-5A23-C3B19369D3FC}"/>
                </a:ext>
              </a:extLst>
            </p:cNvPr>
            <p:cNvSpPr txBox="1"/>
            <p:nvPr/>
          </p:nvSpPr>
          <p:spPr>
            <a:xfrm>
              <a:off x="9734549" y="1985234"/>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18" name="Text 16">
                  <a:extLst>
                    <a:ext uri="{FF2B5EF4-FFF2-40B4-BE49-F238E27FC236}">
                      <a16:creationId xmlns:a16="http://schemas.microsoft.com/office/drawing/2014/main" id="{DCBD65FB-3A84-E9BA-5216-DECEC6178197}"/>
                    </a:ext>
                  </a:extLst>
                </p:cNvPr>
                <p:cNvSpPr txBox="1"/>
                <p:nvPr/>
              </p:nvSpPr>
              <p:spPr>
                <a:xfrm>
                  <a:off x="9734549" y="2342218"/>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18" name="Text 16">
                  <a:extLst>
                    <a:ext uri="{FF2B5EF4-FFF2-40B4-BE49-F238E27FC236}">
                      <a16:creationId xmlns:a16="http://schemas.microsoft.com/office/drawing/2014/main" id="{DCBD65FB-3A84-E9BA-5216-DECEC6178197}"/>
                    </a:ext>
                  </a:extLst>
                </p:cNvPr>
                <p:cNvSpPr txBox="1">
                  <a:spLocks noRot="1" noChangeAspect="1" noMove="1" noResize="1" noEditPoints="1" noAdjustHandles="1" noChangeArrowheads="1" noChangeShapeType="1" noTextEdit="1"/>
                </p:cNvSpPr>
                <p:nvPr/>
              </p:nvSpPr>
              <p:spPr>
                <a:xfrm>
                  <a:off x="9734549" y="2342218"/>
                  <a:ext cx="1656303" cy="355600"/>
                </a:xfrm>
                <a:prstGeom prst="rect">
                  <a:avLst/>
                </a:prstGeom>
                <a:blipFill>
                  <a:blip r:embed="rId4"/>
                  <a:stretch>
                    <a:fillRect/>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67BDF06C-CF78-6F4E-38C3-A616602D3E7A}"/>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BCDF038B-12C7-2CF2-CFD1-ADBE7CD6C968}"/>
                </a:ext>
              </a:extLst>
            </p:cNvPr>
            <p:cNvSpPr/>
            <p:nvPr/>
          </p:nvSpPr>
          <p:spPr>
            <a:xfrm>
              <a:off x="3441700" y="34544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DC183699-7EFA-CA26-7C8A-9E2283447F23}"/>
                </a:ext>
              </a:extLst>
            </p:cNvPr>
            <p:cNvSpPr txBox="1"/>
            <p:nvPr/>
          </p:nvSpPr>
          <p:spPr>
            <a:xfrm>
              <a:off x="3492328" y="35167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mc:Choice xmlns:a14="http://schemas.microsoft.com/office/drawing/2010/main" Requires="a14">
            <p:sp>
              <p:nvSpPr>
                <p:cNvPr id="27" name="Text 25">
                  <a:extLst>
                    <a:ext uri="{FF2B5EF4-FFF2-40B4-BE49-F238E27FC236}">
                      <a16:creationId xmlns:a16="http://schemas.microsoft.com/office/drawing/2014/main" id="{843F8AEE-18E5-3A3E-66EB-03F3A9B7E49C}"/>
                    </a:ext>
                  </a:extLst>
                </p:cNvPr>
                <p:cNvSpPr txBox="1"/>
                <p:nvPr/>
              </p:nvSpPr>
              <p:spPr>
                <a:xfrm>
                  <a:off x="3460578" y="37689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p:sp>
              <p:nvSpPr>
                <p:cNvPr id="27" name="Text 25">
                  <a:extLst>
                    <a:ext uri="{FF2B5EF4-FFF2-40B4-BE49-F238E27FC236}">
                      <a16:creationId xmlns:a16="http://schemas.microsoft.com/office/drawing/2014/main" id="{843F8AEE-18E5-3A3E-66EB-03F3A9B7E49C}"/>
                    </a:ext>
                  </a:extLst>
                </p:cNvPr>
                <p:cNvSpPr txBox="1">
                  <a:spLocks noRot="1" noChangeAspect="1" noMove="1" noResize="1" noEditPoints="1" noAdjustHandles="1" noChangeArrowheads="1" noChangeShapeType="1" noTextEdit="1"/>
                </p:cNvSpPr>
                <p:nvPr/>
              </p:nvSpPr>
              <p:spPr>
                <a:xfrm>
                  <a:off x="3460578" y="37689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9D14AD78-B813-0F9F-C794-658D075D5B8C}"/>
                </a:ext>
              </a:extLst>
            </p:cNvPr>
            <p:cNvSpPr/>
            <p:nvPr/>
          </p:nvSpPr>
          <p:spPr>
            <a:xfrm>
              <a:off x="3448050" y="4445000"/>
              <a:ext cx="1707103"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1C5C7C7F-9CA2-BBC3-187D-1EC721F990FB}"/>
                </a:ext>
              </a:extLst>
            </p:cNvPr>
            <p:cNvSpPr/>
            <p:nvPr/>
          </p:nvSpPr>
          <p:spPr>
            <a:xfrm>
              <a:off x="6254750" y="3454400"/>
              <a:ext cx="1717365" cy="863601"/>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776AEE4B-D664-0EDE-C7CB-FBF6836C3888}"/>
                </a:ext>
              </a:extLst>
            </p:cNvPr>
            <p:cNvSpPr txBox="1"/>
            <p:nvPr/>
          </p:nvSpPr>
          <p:spPr>
            <a:xfrm>
              <a:off x="6298993" y="3542636"/>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mc:Choice xmlns:a14="http://schemas.microsoft.com/office/drawing/2010/main" Requires="a14">
            <p:sp>
              <p:nvSpPr>
                <p:cNvPr id="35" name="Text 33">
                  <a:extLst>
                    <a:ext uri="{FF2B5EF4-FFF2-40B4-BE49-F238E27FC236}">
                      <a16:creationId xmlns:a16="http://schemas.microsoft.com/office/drawing/2014/main" id="{9A121369-1055-0C4E-8130-0336F8ABB583}"/>
                    </a:ext>
                  </a:extLst>
                </p:cNvPr>
                <p:cNvSpPr txBox="1"/>
                <p:nvPr/>
              </p:nvSpPr>
              <p:spPr>
                <a:xfrm>
                  <a:off x="6305550" y="3954529"/>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p:sp>
              <p:nvSpPr>
                <p:cNvPr id="35" name="Text 33">
                  <a:extLst>
                    <a:ext uri="{FF2B5EF4-FFF2-40B4-BE49-F238E27FC236}">
                      <a16:creationId xmlns:a16="http://schemas.microsoft.com/office/drawing/2014/main" id="{9A121369-1055-0C4E-8130-0336F8ABB583}"/>
                    </a:ext>
                  </a:extLst>
                </p:cNvPr>
                <p:cNvSpPr txBox="1">
                  <a:spLocks noRot="1" noChangeAspect="1" noMove="1" noResize="1" noEditPoints="1" noAdjustHandles="1" noChangeArrowheads="1" noChangeShapeType="1" noTextEdit="1"/>
                </p:cNvSpPr>
                <p:nvPr/>
              </p:nvSpPr>
              <p:spPr>
                <a:xfrm>
                  <a:off x="6305550" y="3954529"/>
                  <a:ext cx="1625772" cy="287270"/>
                </a:xfrm>
                <a:prstGeom prst="rect">
                  <a:avLst/>
                </a:prstGeom>
                <a:blipFill>
                  <a:blip r:embed="rId6"/>
                  <a:stretch>
                    <a:fillRect t="-4762" b="-19048"/>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999F6579-76EF-C32D-3CE2-A96374FB3ADE}"/>
                </a:ext>
              </a:extLst>
            </p:cNvPr>
            <p:cNvSpPr/>
            <p:nvPr/>
          </p:nvSpPr>
          <p:spPr>
            <a:xfrm>
              <a:off x="8407400" y="5588000"/>
              <a:ext cx="2540000"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16FB8596-5E36-EC51-058F-1036AF0D6BD2}"/>
                </a:ext>
              </a:extLst>
            </p:cNvPr>
            <p:cNvSpPr txBox="1"/>
            <p:nvPr/>
          </p:nvSpPr>
          <p:spPr>
            <a:xfrm>
              <a:off x="8596746" y="5649661"/>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Teórico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F0B04BC6-3F9F-5D57-83A4-2208B7D39D9E}"/>
                </a:ext>
              </a:extLst>
            </p:cNvPr>
            <p:cNvSpPr/>
            <p:nvPr/>
          </p:nvSpPr>
          <p:spPr>
            <a:xfrm>
              <a:off x="6032500" y="5588000"/>
              <a:ext cx="2159000"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mc:Choice xmlns:a14="http://schemas.microsoft.com/office/drawing/2010/main" Requires="a14">
            <p:sp>
              <p:nvSpPr>
                <p:cNvPr id="42" name="Text 40">
                  <a:extLst>
                    <a:ext uri="{FF2B5EF4-FFF2-40B4-BE49-F238E27FC236}">
                      <a16:creationId xmlns:a16="http://schemas.microsoft.com/office/drawing/2014/main" id="{16FDA11A-24BF-7BE4-CE9E-285345209CBD}"/>
                    </a:ext>
                  </a:extLst>
                </p:cNvPr>
                <p:cNvSpPr txBox="1"/>
                <p:nvPr/>
              </p:nvSpPr>
              <p:spPr>
                <a:xfrm>
                  <a:off x="8596745" y="5913061"/>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p:sp>
              <p:nvSpPr>
                <p:cNvPr id="42" name="Text 40">
                  <a:extLst>
                    <a:ext uri="{FF2B5EF4-FFF2-40B4-BE49-F238E27FC236}">
                      <a16:creationId xmlns:a16="http://schemas.microsoft.com/office/drawing/2014/main" id="{16FDA11A-24BF-7BE4-CE9E-285345209CBD}"/>
                    </a:ext>
                  </a:extLst>
                </p:cNvPr>
                <p:cNvSpPr txBox="1">
                  <a:spLocks noRot="1" noChangeAspect="1" noMove="1" noResize="1" noEditPoints="1" noAdjustHandles="1" noChangeArrowheads="1" noChangeShapeType="1" noTextEdit="1"/>
                </p:cNvSpPr>
                <p:nvPr/>
              </p:nvSpPr>
              <p:spPr>
                <a:xfrm>
                  <a:off x="8596745" y="5913061"/>
                  <a:ext cx="2161309" cy="261497"/>
                </a:xfrm>
                <a:prstGeom prst="rect">
                  <a:avLst/>
                </a:prstGeom>
                <a:blipFill>
                  <a:blip r:embed="rId7"/>
                  <a:stretch>
                    <a:fillRect b="-21053"/>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C9AE42F1-876D-8C35-FB32-1FCBA431F534}"/>
                </a:ext>
              </a:extLst>
            </p:cNvPr>
            <p:cNvSpPr txBox="1"/>
            <p:nvPr/>
          </p:nvSpPr>
          <p:spPr>
            <a:xfrm>
              <a:off x="6039944" y="5665213"/>
              <a:ext cx="2158620" cy="20164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mc:Choice xmlns:a14="http://schemas.microsoft.com/office/drawing/2010/main" Requires="a14">
            <p:sp>
              <p:nvSpPr>
                <p:cNvPr id="45" name="Text 43">
                  <a:extLst>
                    <a:ext uri="{FF2B5EF4-FFF2-40B4-BE49-F238E27FC236}">
                      <a16:creationId xmlns:a16="http://schemas.microsoft.com/office/drawing/2014/main" id="{872616C3-9CBF-E24D-FD15-866E4342ED4E}"/>
                    </a:ext>
                  </a:extLst>
                </p:cNvPr>
                <p:cNvSpPr txBox="1"/>
                <p:nvPr/>
              </p:nvSpPr>
              <p:spPr>
                <a:xfrm>
                  <a:off x="6079518" y="5891027"/>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p:sp>
              <p:nvSpPr>
                <p:cNvPr id="45" name="Text 43">
                  <a:extLst>
                    <a:ext uri="{FF2B5EF4-FFF2-40B4-BE49-F238E27FC236}">
                      <a16:creationId xmlns:a16="http://schemas.microsoft.com/office/drawing/2014/main" id="{872616C3-9CBF-E24D-FD15-866E4342ED4E}"/>
                    </a:ext>
                  </a:extLst>
                </p:cNvPr>
                <p:cNvSpPr txBox="1">
                  <a:spLocks noRot="1" noChangeAspect="1" noMove="1" noResize="1" noEditPoints="1" noAdjustHandles="1" noChangeArrowheads="1" noChangeShapeType="1" noTextEdit="1"/>
                </p:cNvSpPr>
                <p:nvPr/>
              </p:nvSpPr>
              <p:spPr>
                <a:xfrm>
                  <a:off x="6079518" y="5891027"/>
                  <a:ext cx="1990920" cy="259174"/>
                </a:xfrm>
                <a:prstGeom prst="rect">
                  <a:avLst/>
                </a:prstGeom>
                <a:blipFill>
                  <a:blip r:embed="rId8"/>
                  <a:stretch>
                    <a:fillRect b="-31579"/>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9" name="Text 25">
                  <a:extLst>
                    <a:ext uri="{FF2B5EF4-FFF2-40B4-BE49-F238E27FC236}">
                      <a16:creationId xmlns:a16="http://schemas.microsoft.com/office/drawing/2014/main" id="{1443D549-C6F4-8E6E-FA55-EDC9FDE5739E}"/>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p:sp>
              <p:nvSpPr>
                <p:cNvPr id="49" name="Text 25">
                  <a:extLst>
                    <a:ext uri="{FF2B5EF4-FFF2-40B4-BE49-F238E27FC236}">
                      <a16:creationId xmlns:a16="http://schemas.microsoft.com/office/drawing/2014/main" id="{1443D549-C6F4-8E6E-FA55-EDC9FDE5739E}"/>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8CC0B8E6-B5C3-BD54-B8E3-439DA0A443C0}"/>
                </a:ext>
              </a:extLst>
            </p:cNvPr>
            <p:cNvSpPr txBox="1"/>
            <p:nvPr/>
          </p:nvSpPr>
          <p:spPr>
            <a:xfrm>
              <a:off x="3573295" y="4553406"/>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51" name="Text 29">
                  <a:extLst>
                    <a:ext uri="{FF2B5EF4-FFF2-40B4-BE49-F238E27FC236}">
                      <a16:creationId xmlns:a16="http://schemas.microsoft.com/office/drawing/2014/main" id="{D1EA8812-4282-BA00-42AF-D858D32EF64A}"/>
                    </a:ext>
                  </a:extLst>
                </p:cNvPr>
                <p:cNvSpPr txBox="1"/>
                <p:nvPr/>
              </p:nvSpPr>
              <p:spPr>
                <a:xfrm>
                  <a:off x="3536206" y="4855541"/>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51" name="Text 29">
                  <a:extLst>
                    <a:ext uri="{FF2B5EF4-FFF2-40B4-BE49-F238E27FC236}">
                      <a16:creationId xmlns:a16="http://schemas.microsoft.com/office/drawing/2014/main" id="{D1EA8812-4282-BA00-42AF-D858D32EF64A}"/>
                    </a:ext>
                  </a:extLst>
                </p:cNvPr>
                <p:cNvSpPr txBox="1">
                  <a:spLocks noRot="1" noChangeAspect="1" noMove="1" noResize="1" noEditPoints="1" noAdjustHandles="1" noChangeArrowheads="1" noChangeShapeType="1" noTextEdit="1"/>
                </p:cNvSpPr>
                <p:nvPr/>
              </p:nvSpPr>
              <p:spPr>
                <a:xfrm>
                  <a:off x="3536206" y="4855541"/>
                  <a:ext cx="1581858" cy="355600"/>
                </a:xfrm>
                <a:prstGeom prst="rect">
                  <a:avLst/>
                </a:prstGeom>
                <a:blipFill>
                  <a:blip r:embed="rId10"/>
                  <a:stretch>
                    <a:fillRect/>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B99322F3-7D92-1AE8-23E8-D8D26719FB5B}"/>
                </a:ext>
              </a:extLst>
            </p:cNvPr>
            <p:cNvSpPr/>
            <p:nvPr/>
          </p:nvSpPr>
          <p:spPr>
            <a:xfrm>
              <a:off x="5765800" y="4394200"/>
              <a:ext cx="2692400" cy="9652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896FA65A-0B16-05EB-5D79-813204DB1F8A}"/>
                </a:ext>
              </a:extLst>
            </p:cNvPr>
            <p:cNvSpPr txBox="1"/>
            <p:nvPr/>
          </p:nvSpPr>
          <p:spPr>
            <a:xfrm>
              <a:off x="5816600" y="44958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mc:Choice xmlns:a14="http://schemas.microsoft.com/office/drawing/2010/main" Requires="a14">
            <p:sp>
              <p:nvSpPr>
                <p:cNvPr id="55" name="Text 29">
                  <a:extLst>
                    <a:ext uri="{FF2B5EF4-FFF2-40B4-BE49-F238E27FC236}">
                      <a16:creationId xmlns:a16="http://schemas.microsoft.com/office/drawing/2014/main" id="{F84FFEA9-471C-9482-63E9-A42419FF9447}"/>
                    </a:ext>
                  </a:extLst>
                </p:cNvPr>
                <p:cNvSpPr txBox="1"/>
                <p:nvPr/>
              </p:nvSpPr>
              <p:spPr>
                <a:xfrm>
                  <a:off x="5816600" y="48006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p:sp>
              <p:nvSpPr>
                <p:cNvPr id="55" name="Text 29">
                  <a:extLst>
                    <a:ext uri="{FF2B5EF4-FFF2-40B4-BE49-F238E27FC236}">
                      <a16:creationId xmlns:a16="http://schemas.microsoft.com/office/drawing/2014/main" id="{F84FFEA9-471C-9482-63E9-A42419FF9447}"/>
                    </a:ext>
                  </a:extLst>
                </p:cNvPr>
                <p:cNvSpPr txBox="1">
                  <a:spLocks noRot="1" noChangeAspect="1" noMove="1" noResize="1" noEditPoints="1" noAdjustHandles="1" noChangeArrowheads="1" noChangeShapeType="1" noTextEdit="1"/>
                </p:cNvSpPr>
                <p:nvPr/>
              </p:nvSpPr>
              <p:spPr>
                <a:xfrm>
                  <a:off x="5816600" y="4800600"/>
                  <a:ext cx="2590800" cy="660400"/>
                </a:xfrm>
                <a:prstGeom prst="rect">
                  <a:avLst/>
                </a:prstGeom>
                <a:blipFill>
                  <a:blip r:embed="rId11"/>
                  <a:stretch>
                    <a:fillRect t="-2128"/>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23" name="Text 21">
                  <a:extLst>
                    <a:ext uri="{FF2B5EF4-FFF2-40B4-BE49-F238E27FC236}">
                      <a16:creationId xmlns:a16="http://schemas.microsoft.com/office/drawing/2014/main" id="{DAF62675-D3CC-7581-8157-3B8EA2A846F4}"/>
                    </a:ext>
                  </a:extLst>
                </p:cNvPr>
                <p:cNvSpPr txBox="1"/>
                <p:nvPr/>
              </p:nvSpPr>
              <p:spPr>
                <a:xfrm>
                  <a:off x="939800" y="3825901"/>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419" sz="1300" b="0" i="1" noProof="0" smtClean="0">
                              <a:solidFill>
                                <a:srgbClr val="3C3C3B"/>
                              </a:solidFill>
                              <a:latin typeface="Cambria Math" panose="02040503050406030204" pitchFamily="18" charset="0"/>
                              <a:cs typeface="Roboto" pitchFamily="34" charset="-120"/>
                            </a:rPr>
                            <m:t>{</m:t>
                          </m:r>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r>
                        <a:rPr lang="es-419"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p:sp>
              <p:nvSpPr>
                <p:cNvPr id="23" name="Text 21">
                  <a:extLst>
                    <a:ext uri="{FF2B5EF4-FFF2-40B4-BE49-F238E27FC236}">
                      <a16:creationId xmlns:a16="http://schemas.microsoft.com/office/drawing/2014/main" id="{DAF62675-D3CC-7581-8157-3B8EA2A846F4}"/>
                    </a:ext>
                  </a:extLst>
                </p:cNvPr>
                <p:cNvSpPr txBox="1">
                  <a:spLocks noRot="1" noChangeAspect="1" noMove="1" noResize="1" noEditPoints="1" noAdjustHandles="1" noChangeArrowheads="1" noChangeShapeType="1" noTextEdit="1"/>
                </p:cNvSpPr>
                <p:nvPr/>
              </p:nvSpPr>
              <p:spPr>
                <a:xfrm>
                  <a:off x="939800" y="3825901"/>
                  <a:ext cx="1930400" cy="355600"/>
                </a:xfrm>
                <a:prstGeom prst="rect">
                  <a:avLst/>
                </a:prstGeom>
                <a:blipFill>
                  <a:blip r:embed="rId12"/>
                  <a:stretch>
                    <a:fillRect t="-7692"/>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49556F13-F840-78D2-FEA1-A10C0C034934}"/>
                </a:ext>
              </a:extLst>
            </p:cNvPr>
            <p:cNvSpPr txBox="1"/>
            <p:nvPr/>
          </p:nvSpPr>
          <p:spPr>
            <a:xfrm>
              <a:off x="939800" y="3556000"/>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cxnSp>
          <p:nvCxnSpPr>
            <p:cNvPr id="600" name="Flecha"/>
            <p:cNvCxnSpPr/>
            <p:nvPr/>
          </p:nvCxnSpPr>
          <p:spPr>
            <a:xfrm>
              <a:off x="2921000" y="2324100"/>
              <a:ext cx="266700" cy="0"/>
            </a:xfrm>
            <a:prstGeom prst="straightConnector1">
              <a:avLst/>
            </a:prstGeom>
            <a:ln w="15875">
              <a:solidFill>
                <a:srgbClr val="6E6E6C"/>
              </a:solidFill>
              <a:prstDash val="solid"/>
              <a:tailEnd type="triangle" w="med" len="med"/>
            </a:ln>
          </p:spPr>
        </p:cxnSp>
        <p:cxnSp>
          <p:nvCxnSpPr>
            <p:cNvPr id="601" name="Flecha"/>
            <p:cNvCxnSpPr/>
            <p:nvPr/>
          </p:nvCxnSpPr>
          <p:spPr>
            <a:xfrm>
              <a:off x="5410200" y="2324100"/>
              <a:ext cx="4273550" cy="0"/>
            </a:xfrm>
            <a:prstGeom prst="straightConnector1">
              <a:avLst/>
            </a:prstGeom>
            <a:ln w="15875">
              <a:solidFill>
                <a:srgbClr val="6E6E6C"/>
              </a:solidFill>
              <a:prstDash val="solid"/>
              <a:tailEnd type="triangle" w="med" len="med"/>
            </a:ln>
          </p:spPr>
        </p:cxnSp>
        <p:cxnSp>
          <p:nvCxnSpPr>
            <p:cNvPr id="602" name="Flecha"/>
            <p:cNvCxnSpPr/>
            <p:nvPr/>
          </p:nvCxnSpPr>
          <p:spPr>
            <a:xfrm>
              <a:off x="5410200" y="2324100"/>
              <a:ext cx="1701800" cy="1130300"/>
            </a:xfrm>
            <a:prstGeom prst="bentConnector2">
              <a:avLst/>
            </a:prstGeom>
            <a:ln w="15875">
              <a:solidFill>
                <a:srgbClr val="6E6E6C"/>
              </a:solidFill>
              <a:prstDash val="solid"/>
              <a:tailEnd type="triangle" w="med" len="med"/>
            </a:ln>
          </p:spPr>
        </p:cxnSp>
        <p:cxnSp>
          <p:nvCxnSpPr>
            <p:cNvPr id="603" name="Flecha"/>
            <p:cNvCxnSpPr/>
            <p:nvPr/>
          </p:nvCxnSpPr>
          <p:spPr>
            <a:xfrm>
              <a:off x="2921000" y="3886200"/>
              <a:ext cx="520700" cy="0"/>
            </a:xfrm>
            <a:prstGeom prst="straightConnector1">
              <a:avLst/>
            </a:prstGeom>
            <a:ln w="15875">
              <a:solidFill>
                <a:srgbClr val="6E6E6C"/>
              </a:solidFill>
              <a:prstDash val="solid"/>
              <a:tailEnd type="triangle" w="med" len="med"/>
            </a:ln>
          </p:spPr>
        </p:cxnSp>
        <p:cxnSp>
          <p:nvCxnSpPr>
            <p:cNvPr id="604" name="Flecha"/>
            <p:cNvCxnSpPr/>
            <p:nvPr/>
          </p:nvCxnSpPr>
          <p:spPr>
            <a:xfrm>
              <a:off x="5156200" y="3886200"/>
              <a:ext cx="1098550" cy="0"/>
            </a:xfrm>
            <a:prstGeom prst="straightConnector1">
              <a:avLst/>
            </a:prstGeom>
            <a:ln w="15875">
              <a:solidFill>
                <a:srgbClr val="6E6E6C"/>
              </a:solidFill>
              <a:prstDash val="solid"/>
              <a:tailEnd type="triangle" w="med" len="med"/>
            </a:ln>
          </p:spPr>
        </p:cxnSp>
        <p:cxnSp>
          <p:nvCxnSpPr>
            <p:cNvPr id="605" name="Flecha"/>
            <p:cNvCxnSpPr/>
            <p:nvPr/>
          </p:nvCxnSpPr>
          <p:spPr>
            <a:xfrm>
              <a:off x="4298950" y="4318000"/>
              <a:ext cx="0" cy="127000"/>
            </a:xfrm>
            <a:prstGeom prst="straightConnector1">
              <a:avLst/>
            </a:prstGeom>
            <a:ln w="15875">
              <a:solidFill>
                <a:srgbClr val="6E6E6C"/>
              </a:solidFill>
              <a:prstDash val="solid"/>
              <a:tailEnd type="triangle" w="med" len="med"/>
            </a:ln>
          </p:spPr>
        </p:cxnSp>
        <p:cxnSp>
          <p:nvCxnSpPr>
            <p:cNvPr id="606" name="Flecha"/>
            <p:cNvCxnSpPr/>
            <p:nvPr/>
          </p:nvCxnSpPr>
          <p:spPr>
            <a:xfrm>
              <a:off x="5149850" y="4876800"/>
              <a:ext cx="615950" cy="0"/>
            </a:xfrm>
            <a:prstGeom prst="straightConnector1">
              <a:avLst/>
            </a:prstGeom>
            <a:ln w="15875">
              <a:solidFill>
                <a:srgbClr val="6E6E6C"/>
              </a:solidFill>
              <a:prstDash val="solid"/>
              <a:tailEnd type="triangle" w="med" len="med"/>
            </a:ln>
          </p:spPr>
        </p:cxnSp>
        <p:cxnSp>
          <p:nvCxnSpPr>
            <p:cNvPr id="607" name="Flecha"/>
            <p:cNvCxnSpPr/>
            <p:nvPr/>
          </p:nvCxnSpPr>
          <p:spPr>
            <a:xfrm flipV="1">
              <a:off x="8458200" y="2755900"/>
              <a:ext cx="2082800" cy="2120900"/>
            </a:xfrm>
            <a:prstGeom prst="bentConnector2">
              <a:avLst/>
            </a:prstGeom>
            <a:ln w="15875">
              <a:solidFill>
                <a:srgbClr val="6E6E6C"/>
              </a:solidFill>
              <a:prstDash val="solid"/>
              <a:headEnd type="triangle" w="med" len="med"/>
            </a:ln>
          </p:spPr>
        </p:cxnSp>
        <p:cxnSp>
          <p:nvCxnSpPr>
            <p:cNvPr id="608" name="Flecha"/>
            <p:cNvCxnSpPr/>
            <p:nvPr/>
          </p:nvCxnSpPr>
          <p:spPr>
            <a:xfrm>
              <a:off x="7969250" y="3886200"/>
              <a:ext cx="920750" cy="1701800"/>
            </a:xfrm>
            <a:prstGeom prst="bentConnector2">
              <a:avLst/>
            </a:prstGeom>
            <a:ln w="15875">
              <a:solidFill>
                <a:srgbClr val="6E6E6C"/>
              </a:solidFill>
              <a:prstDash val="solid"/>
              <a:tailEnd type="triangle" w="med" len="med"/>
            </a:ln>
          </p:spPr>
        </p:cxnSp>
        <p:cxnSp>
          <p:nvCxnSpPr>
            <p:cNvPr id="609" name="Flecha"/>
            <p:cNvCxnSpPr/>
            <p:nvPr/>
          </p:nvCxnSpPr>
          <p:spPr>
            <a:xfrm>
              <a:off x="7112000" y="5359400"/>
              <a:ext cx="0" cy="228600"/>
            </a:xfrm>
            <a:prstGeom prst="straightConnector1">
              <a:avLst/>
            </a:prstGeom>
            <a:ln w="15875">
              <a:solidFill>
                <a:srgbClr val="6E6E6C"/>
              </a:solidFill>
              <a:prstDash val="solid"/>
              <a:tailEnd type="triangle" w="med" len="med"/>
            </a:ln>
          </p:spPr>
        </p:cxnSp>
      </p:grpSp>
      <p:sp>
        <p:nvSpPr>
          <p:cNvPr id="301" name="Barra superior">
            <a:extLst>
              <a:ext uri="{FF2B5EF4-FFF2-40B4-BE49-F238E27FC236}">
                <a16:creationId xmlns:a16="http://schemas.microsoft.com/office/drawing/2014/main" id="{92540437-DBC7-BADB-06E8-D4100916CFA3}"/>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FA248BE4-6A0E-94E9-549C-07541DC4DA9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A845D5EF-CE4E-E0A3-BE06-62249D38AD7E}"/>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a:extLst>
              <a:ext uri="{FF2B5EF4-FFF2-40B4-BE49-F238E27FC236}">
                <a16:creationId xmlns:a16="http://schemas.microsoft.com/office/drawing/2014/main" id="{FDEE80F7-86C5-6D45-093A-1E3528216901}"/>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a:extLst>
              <a:ext uri="{FF2B5EF4-FFF2-40B4-BE49-F238E27FC236}">
                <a16:creationId xmlns:a16="http://schemas.microsoft.com/office/drawing/2014/main" id="{4930D602-B60E-786A-230F-ED67DB7968C2}"/>
              </a:ext>
            </a:extLst>
          </p:cNvPr>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a:extLst>
              <a:ext uri="{FF2B5EF4-FFF2-40B4-BE49-F238E27FC236}">
                <a16:creationId xmlns:a16="http://schemas.microsoft.com/office/drawing/2014/main" id="{513A6C67-EE6A-A97A-8755-D76582A1BCFE}"/>
              </a:ext>
            </a:extLst>
          </p:cNvPr>
          <p:cNvSpPr/>
          <p:nvPr/>
        </p:nvSpPr>
        <p:spPr>
          <a:xfrm>
            <a:off x="10566400" y="66040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10</a:t>
            </a:r>
          </a:p>
        </p:txBody>
      </p:sp>
      <p:pic>
        <p:nvPicPr>
          <p:cNvPr id="307" name="Copied Picture 307" descr="Universidad de los Andes">
            <a:extLst>
              <a:ext uri="{FF2B5EF4-FFF2-40B4-BE49-F238E27FC236}">
                <a16:creationId xmlns:a16="http://schemas.microsoft.com/office/drawing/2014/main" id="{7645E20E-A7DA-0D0A-8387-05E9F824AAD8}"/>
              </a:ext>
            </a:extLst>
          </p:cNvPr>
          <p:cNvPicPr>
            <a:picLocks noChangeAspect="1"/>
          </p:cNvPicPr>
          <p:nvPr/>
        </p:nvPicPr>
        <p:blipFill>
          <a:blip r:embed="rId13"/>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20871144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cota experimental en tres mecanismos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los tres mecanismos,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por debajo de la cota teórica.</a:t>
            </a:r>
            <a:endParaRPr lang="es-ES_tradnl" sz="1800" noProof="0" dirty="0"/>
          </a:p>
        </p:txBody>
      </p:sp>
      <mc:AlternateContent xmlns:mc="http://schemas.openxmlformats.org/markup-compatibility/2006">
        <mc:Choice xmlns:a14="http://schemas.microsoft.com/office/drawing/2010/main" Requires="a14">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035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𝑡𝑒𝑜</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solidFill>
                              <a:schemeClr val="bg1"/>
                            </a:solidFill>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𝑒𝑥𝑝</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Choice>
        <mc:Fallback>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639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477778" t="-112766" r="-194444" b="-244681"/>
                          </a:stretch>
                        </a:blip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577778" t="-112766" r="-94444" b="-244681"/>
                          </a:stretch>
                        </a:blip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Fallback>
      </mc:AlternateContent>
      <p:sp>
        <p:nvSpPr>
          <p:cNvPr id="10" name="Shape 6"/>
          <p:cNvSpPr/>
          <p:nvPr/>
        </p:nvSpPr>
        <p:spPr>
          <a:xfrm>
            <a:off x="812800" y="4150816"/>
            <a:ext cx="50800" cy="482600"/>
          </a:xfrm>
          <a:prstGeom prst="rect">
            <a:avLst/>
          </a:prstGeom>
          <a:solidFill>
            <a:srgbClr val="FFEE00"/>
          </a:solidFill>
          <a:ln/>
        </p:spPr>
        <p:txBody>
          <a:bodyPr/>
          <a:lstStyle/>
          <a:p>
            <a:endParaRPr lang="es-ES_tradnl" noProof="0" dirty="0"/>
          </a:p>
        </p:txBody>
      </p:sp>
      <p:sp>
        <p:nvSpPr>
          <p:cNvPr id="11" name="Text 7"/>
          <p:cNvSpPr/>
          <p:nvPr/>
        </p:nvSpPr>
        <p:spPr>
          <a:xfrm>
            <a:off x="990600" y="4150816"/>
            <a:ext cx="112014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Por columna:</a:t>
            </a:r>
            <a:r>
              <a:rPr lang="es-ES_tradnl" sz="1400" noProof="0" dirty="0">
                <a:solidFill>
                  <a:srgbClr val="3C3C3B"/>
                </a:solidFill>
                <a:latin typeface="Roboto" pitchFamily="34" charset="0"/>
                <a:ea typeface="Roboto" pitchFamily="34" charset="-122"/>
                <a:cs typeface="Roboto" pitchFamily="34" charset="-120"/>
              </a:rPr>
              <a:t> cada atributo se agrega y recibe el ruido por separado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y los 7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se suman con el Teorema 4 (composición).</a:t>
            </a:r>
            <a:endParaRPr lang="es-ES_tradnl" sz="1400"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Tree>
    <p:extLst>
      <p:ext uri="{BB962C8B-B14F-4D97-AF65-F5344CB8AC3E}">
        <p14:creationId xmlns:p14="http://schemas.microsoft.com/office/powerpoint/2010/main" val="1260173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Conjunta contra por columna: el papel de 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diferencia entre 0.106 y 0.0068 viene de la dimensión D en la cota del Teorema 3.</a:t>
            </a:r>
            <a:endParaRPr lang="es-ES_tradnl" sz="1800" noProof="0" dirty="0"/>
          </a:p>
        </p:txBody>
      </p:sp>
      <p:pic>
        <p:nvPicPr>
          <p:cNvPr id="9" name="Image 1" descr="ε = ln[1 + ((1−p)/p)·d·D]"/>
          <p:cNvPicPr>
            <a:picLocks noChangeAspect="1"/>
          </p:cNvPicPr>
          <p:nvPr/>
        </p:nvPicPr>
        <p:blipFill>
          <a:blip r:embed="rId4"/>
          <a:srcRect t="-173" b="-173"/>
          <a:stretch/>
        </p:blipFill>
        <p:spPr>
          <a:xfrm>
            <a:off x="812800" y="1856680"/>
            <a:ext cx="2965450" cy="774700"/>
          </a:xfrm>
          <a:prstGeom prst="rect">
            <a:avLst/>
          </a:prstGeom>
        </p:spPr>
      </p:pic>
      <p:sp>
        <p:nvSpPr>
          <p:cNvPr id="10" name="Text 6"/>
          <p:cNvSpPr/>
          <p:nvPr/>
        </p:nvSpPr>
        <p:spPr>
          <a:xfrm>
            <a:off x="812800" y="27583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1" name="Text 7"/>
          <p:cNvSpPr/>
          <p:nvPr/>
        </p:nvSpPr>
        <p:spPr>
          <a:xfrm>
            <a:off x="1219200" y="2758380"/>
            <a:ext cx="572947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mezcla con I/D: ningún resultado de medición tiene probabilidad menor que p/D (el piso).</a:t>
            </a:r>
            <a:endParaRPr lang="es-ES_tradnl" sz="1400" noProof="0" dirty="0"/>
          </a:p>
        </p:txBody>
      </p:sp>
      <p:sp>
        <p:nvSpPr>
          <p:cNvPr id="12" name="Text 8"/>
          <p:cNvSpPr/>
          <p:nvPr/>
        </p:nvSpPr>
        <p:spPr>
          <a:xfrm>
            <a:off x="812800" y="33830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33830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vecinos difieren como mucho en (1 − p)·d.</a:t>
            </a:r>
            <a:endParaRPr lang="es-ES_tradnl" sz="1400" noProof="0" dirty="0"/>
          </a:p>
        </p:txBody>
      </p:sp>
      <p:sp>
        <p:nvSpPr>
          <p:cNvPr id="14" name="Text 10"/>
          <p:cNvSpPr/>
          <p:nvPr/>
        </p:nvSpPr>
        <p:spPr>
          <a:xfrm>
            <a:off x="812800" y="37894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7894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cociente queda acotado, y esa es exactamente la fórmula:</a:t>
            </a:r>
            <a:endParaRPr lang="es-ES_tradnl" sz="1400" noProof="0" dirty="0"/>
          </a:p>
        </p:txBody>
      </p:sp>
      <p:pic>
        <p:nvPicPr>
          <p:cNvPr id="16" name="Image 2" descr="P(resultado | vecino 1) / P(resultado | vecino 2) ≤ 1 + (1−p)·d / (p/D)"/>
          <p:cNvPicPr>
            <a:picLocks noChangeAspect="1"/>
          </p:cNvPicPr>
          <p:nvPr/>
        </p:nvPicPr>
        <p:blipFill>
          <a:blip r:embed="rId5"/>
          <a:srcRect l="-137" r="-137"/>
          <a:stretch/>
        </p:blipFill>
        <p:spPr>
          <a:xfrm>
            <a:off x="1219200" y="4114502"/>
            <a:ext cx="4565650" cy="660400"/>
          </a:xfrm>
          <a:prstGeom prst="rect">
            <a:avLst/>
          </a:prstGeom>
        </p:spPr>
      </p:pic>
      <p:sp>
        <p:nvSpPr>
          <p:cNvPr id="17" name="Shape 12"/>
          <p:cNvSpPr/>
          <p:nvPr/>
        </p:nvSpPr>
        <p:spPr>
          <a:xfrm>
            <a:off x="7188200" y="1856680"/>
            <a:ext cx="4191000" cy="1970881"/>
          </a:xfrm>
          <a:prstGeom prst="roundRect">
            <a:avLst>
              <a:gd name="adj" fmla="val 5155"/>
            </a:avLst>
          </a:prstGeom>
          <a:solidFill>
            <a:srgbClr val="F4F4F2"/>
          </a:solidFill>
          <a:ln/>
        </p:spPr>
        <p:txBody>
          <a:bodyPr/>
          <a:lstStyle/>
          <a:p>
            <a:endParaRPr lang="es-ES_tradnl" noProof="0" dirty="0"/>
          </a:p>
        </p:txBody>
      </p:sp>
      <p:sp>
        <p:nvSpPr>
          <p:cNvPr id="18" name="Text 13"/>
          <p:cNvSpPr/>
          <p:nvPr/>
        </p:nvSpPr>
        <p:spPr>
          <a:xfrm>
            <a:off x="7391400" y="2059880"/>
            <a:ext cx="389813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Con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sp>
        <p:nvSpPr>
          <p:cNvPr id="19" name="Text 14"/>
          <p:cNvSpPr/>
          <p:nvPr/>
        </p:nvSpPr>
        <p:spPr>
          <a:xfrm>
            <a:off x="73914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293470"/>
                </a:solidFill>
                <a:latin typeface="DM Sans" pitchFamily="34" charset="0"/>
                <a:ea typeface="DM Sans" pitchFamily="34" charset="-122"/>
                <a:cs typeface="DM Sans" pitchFamily="34" charset="-120"/>
              </a:rPr>
              <a:t>128</a:t>
            </a:r>
            <a:endParaRPr lang="es-ES_tradnl" sz="6000" noProof="0" dirty="0"/>
          </a:p>
        </p:txBody>
      </p:sp>
      <p:sp>
        <p:nvSpPr>
          <p:cNvPr id="20" name="Text 15"/>
          <p:cNvSpPr/>
          <p:nvPr/>
        </p:nvSpPr>
        <p:spPr>
          <a:xfrm>
            <a:off x="73914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Conjunta: D = 2⁷, crece como 2ⁿ (exponencial)</a:t>
            </a:r>
            <a:endParaRPr lang="es-ES_tradnl" sz="1200" noProof="0" dirty="0"/>
          </a:p>
        </p:txBody>
      </p:sp>
      <p:sp>
        <p:nvSpPr>
          <p:cNvPr id="21" name="Text 16"/>
          <p:cNvSpPr/>
          <p:nvPr/>
        </p:nvSpPr>
        <p:spPr>
          <a:xfrm>
            <a:off x="93853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1D1D1B"/>
                </a:solidFill>
                <a:latin typeface="DM Sans" pitchFamily="34" charset="0"/>
                <a:ea typeface="DM Sans" pitchFamily="34" charset="-122"/>
                <a:cs typeface="DM Sans" pitchFamily="34" charset="-120"/>
              </a:rPr>
              <a:t>14</a:t>
            </a:r>
            <a:endParaRPr lang="es-ES_tradnl" sz="6000" noProof="0" dirty="0"/>
          </a:p>
        </p:txBody>
      </p:sp>
      <p:sp>
        <p:nvSpPr>
          <p:cNvPr id="22" name="Text 17"/>
          <p:cNvSpPr/>
          <p:nvPr/>
        </p:nvSpPr>
        <p:spPr>
          <a:xfrm>
            <a:off x="93853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Por columnas: 7 × 2, crece como 2n (lineal)</a:t>
            </a:r>
            <a:endParaRPr lang="es-ES_tradnl" sz="1200" noProof="0" dirty="0"/>
          </a:p>
        </p:txBody>
      </p:sp>
      <p:sp>
        <p:nvSpPr>
          <p:cNvPr id="23" name="Text 18"/>
          <p:cNvSpPr/>
          <p:nvPr/>
        </p:nvSpPr>
        <p:spPr>
          <a:xfrm>
            <a:off x="7188200" y="3979962"/>
            <a:ext cx="431673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Publicar por columna cuesta menos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a:t>
            </a:r>
            <a:r>
              <a:rPr lang="es-ES_tradnl" sz="1400" b="1" noProof="0" dirty="0">
                <a:solidFill>
                  <a:srgbClr val="3C3C3B"/>
                </a:solidFill>
                <a:latin typeface="Roboto" pitchFamily="34" charset="0"/>
                <a:ea typeface="Roboto" pitchFamily="34" charset="-122"/>
                <a:cs typeface="Roboto" pitchFamily="34" charset="-120"/>
              </a:rPr>
              <a:t>se pierden las correlaciones</a:t>
            </a:r>
            <a:r>
              <a:rPr lang="es-ES_tradnl" sz="1400" noProof="0" dirty="0">
                <a:solidFill>
                  <a:srgbClr val="3C3C3B"/>
                </a:solidFill>
                <a:latin typeface="Roboto" pitchFamily="34" charset="0"/>
                <a:ea typeface="Roboto" pitchFamily="34" charset="-122"/>
                <a:cs typeface="Roboto" pitchFamily="34" charset="-120"/>
              </a:rPr>
              <a:t> entre atributos: no se pueden hacer estudios conjuntos.</a:t>
            </a:r>
            <a:endParaRPr lang="es-ES_tradnl" sz="1400" noProof="0" dirty="0"/>
          </a:p>
        </p:txBody>
      </p:sp>
      <p:sp>
        <p:nvSpPr>
          <p:cNvPr id="25" name="Text 2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06</a:t>
            </a:r>
            <a:endParaRPr lang="es-ES_tradnl" sz="1200" noProof="0" dirty="0"/>
          </a:p>
        </p:txBody>
      </p:sp>
      <p:pic>
        <p:nvPicPr>
          <p:cNvPr id="24" name="Picture 23">
            <a:extLst>
              <a:ext uri="{FF2B5EF4-FFF2-40B4-BE49-F238E27FC236}">
                <a16:creationId xmlns:a16="http://schemas.microsoft.com/office/drawing/2014/main" id="{6E05C371-5796-8BA4-32F5-AD6FA3EE6A27}"/>
              </a:ext>
            </a:extLst>
          </p:cNvPr>
          <p:cNvPicPr>
            <a:picLocks noChangeAspect="1"/>
          </p:cNvPicPr>
          <p:nvPr/>
        </p:nvPicPr>
        <p:blipFill>
          <a:blip r:embed="rId6"/>
          <a:stretch>
            <a:fillRect/>
          </a:stretch>
        </p:blipFill>
        <p:spPr>
          <a:xfrm>
            <a:off x="3927729" y="1907994"/>
            <a:ext cx="2906522" cy="672071"/>
          </a:xfrm>
          <a:prstGeom prst="rect">
            <a:avLst/>
          </a:prstGeom>
        </p:spPr>
      </p:pic>
    </p:spTree>
    <p:extLst>
      <p:ext uri="{BB962C8B-B14F-4D97-AF65-F5344CB8AC3E}">
        <p14:creationId xmlns:p14="http://schemas.microsoft.com/office/powerpoint/2010/main" val="1024689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p = </a:t>
            </a:r>
            <a:r>
              <a:rPr lang="es-ES_tradnl" sz="2800" b="1" i="0" kern="0" spc="-50" noProof="0" dirty="0" err="1">
                <a:solidFill>
                  <a:srgbClr val="1D1D1B"/>
                </a:solidFill>
                <a:latin typeface="DM Sans" pitchFamily="34" charset="0"/>
                <a:ea typeface="DM Sans" pitchFamily="34" charset="-122"/>
                <a:cs typeface="DM Sans" pitchFamily="34" charset="-120"/>
              </a:rPr>
              <a:t>γ</a:t>
            </a:r>
            <a:r>
              <a:rPr lang="es-ES_tradnl" sz="2800" b="1" i="0" kern="0" spc="-50" noProof="0" dirty="0">
                <a:solidFill>
                  <a:srgbClr val="1D1D1B"/>
                </a:solidFill>
                <a:latin typeface="DM Sans" pitchFamily="34" charset="0"/>
                <a:ea typeface="DM Sans" pitchFamily="34" charset="-122"/>
                <a:cs typeface="DM Sans" pitchFamily="34" charset="-120"/>
              </a:rPr>
              <a:t> = 0.5: </a:t>
            </a: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&lt; PAD &lt; GAD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orden lo explica cuánto encoge cada canal el vector de Bloch en x e y.</a:t>
            </a:r>
            <a:endParaRPr lang="es-ES_tradnl" sz="1800" noProof="0" dirty="0"/>
          </a:p>
        </p:txBody>
      </p:sp>
      <p:sp>
        <p:nvSpPr>
          <p:cNvPr id="9" name="Text 6"/>
          <p:cNvSpPr/>
          <p:nvPr/>
        </p:nvSpPr>
        <p:spPr>
          <a:xfrm>
            <a:off x="812800" y="1856680"/>
            <a:ext cx="196215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Canal</a:t>
            </a:r>
            <a:endParaRPr lang="es-ES_tradnl" sz="1200" noProof="0" dirty="0"/>
          </a:p>
        </p:txBody>
      </p:sp>
      <p:sp>
        <p:nvSpPr>
          <p:cNvPr id="10" name="Text 7"/>
          <p:cNvSpPr/>
          <p:nvPr/>
        </p:nvSpPr>
        <p:spPr>
          <a:xfrm>
            <a:off x="2921000" y="1856680"/>
            <a:ext cx="614807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Factor de encogimiento en x, y (de 0 a 1)</a:t>
            </a:r>
            <a:endParaRPr lang="es-ES_tradnl" sz="1200" noProof="0" dirty="0"/>
          </a:p>
        </p:txBody>
      </p:sp>
      <p:sp>
        <p:nvSpPr>
          <p:cNvPr id="11" name="Text 8"/>
          <p:cNvSpPr/>
          <p:nvPr/>
        </p:nvSpPr>
        <p:spPr>
          <a:xfrm>
            <a:off x="9024620" y="1856680"/>
            <a:ext cx="2354580" cy="238720"/>
          </a:xfrm>
          <a:prstGeom prst="rect">
            <a:avLst/>
          </a:prstGeom>
          <a:noFill/>
          <a:ln/>
        </p:spPr>
        <p:txBody>
          <a:bodyPr wrap="square" lIns="0" tIns="0" rIns="0" bIns="0" rtlCol="0" anchor="t">
            <a:normAutofit/>
          </a:bodyPr>
          <a:lstStyle/>
          <a:p>
            <a:pPr marL="0" indent="0" algn="r">
              <a:lnSpc>
                <a:spcPts val="1680"/>
              </a:lnSpc>
              <a:buNone/>
            </a:pPr>
            <a:r>
              <a:rPr lang="es-ES_tradnl" sz="1200" b="1" noProof="0" dirty="0" err="1">
                <a:solidFill>
                  <a:srgbClr val="6E6E6C"/>
                </a:solidFill>
                <a:latin typeface="Roboto" pitchFamily="34" charset="0"/>
                <a:ea typeface="Roboto" pitchFamily="34" charset="-122"/>
                <a:cs typeface="Roboto" pitchFamily="34" charset="-120"/>
              </a:rPr>
              <a:t>Σ</a:t>
            </a:r>
            <a:r>
              <a:rPr lang="es-ES_tradnl" sz="1200" b="1" noProof="0" dirty="0">
                <a:solidFill>
                  <a:srgbClr val="6E6E6C"/>
                </a:solidFill>
                <a:latin typeface="Roboto" pitchFamily="34" charset="0"/>
                <a:ea typeface="Roboto" pitchFamily="34" charset="-122"/>
                <a:cs typeface="Roboto" pitchFamily="34" charset="-120"/>
              </a:rPr>
              <a:t> </a:t>
            </a:r>
            <a:r>
              <a:rPr lang="es-ES_tradnl" sz="1200" b="1" noProof="0" dirty="0" err="1">
                <a:solidFill>
                  <a:srgbClr val="6E6E6C"/>
                </a:solidFill>
                <a:latin typeface="Roboto" pitchFamily="34" charset="0"/>
                <a:ea typeface="Roboto" pitchFamily="34" charset="-122"/>
                <a:cs typeface="Roboto" pitchFamily="34" charset="-120"/>
              </a:rPr>
              <a:t>ε</a:t>
            </a:r>
            <a:r>
              <a:rPr lang="es-ES_tradnl" sz="1200" b="1" noProof="0" dirty="0">
                <a:solidFill>
                  <a:srgbClr val="6E6E6C"/>
                </a:solidFill>
                <a:latin typeface="Roboto" pitchFamily="34" charset="0"/>
                <a:ea typeface="Roboto" pitchFamily="34" charset="-122"/>
                <a:cs typeface="Roboto" pitchFamily="34" charset="-120"/>
              </a:rPr>
              <a:t> experimental, por columna</a:t>
            </a:r>
            <a:endParaRPr lang="es-ES_tradnl" sz="1200" noProof="0" dirty="0"/>
          </a:p>
        </p:txBody>
      </p:sp>
      <p:sp>
        <p:nvSpPr>
          <p:cNvPr id="12" name="Text 9"/>
          <p:cNvSpPr/>
          <p:nvPr/>
        </p:nvSpPr>
        <p:spPr>
          <a:xfrm>
            <a:off x="812800" y="2207121"/>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1D1D1B"/>
                </a:solidFill>
                <a:latin typeface="Roboto" pitchFamily="34" charset="0"/>
                <a:ea typeface="Roboto" pitchFamily="34" charset="-122"/>
                <a:cs typeface="Roboto" pitchFamily="34" charset="-120"/>
              </a:rPr>
              <a:t>Depolarizante</a:t>
            </a:r>
            <a:endParaRPr lang="es-ES_tradnl" sz="1400" noProof="0" dirty="0"/>
          </a:p>
        </p:txBody>
      </p:sp>
      <p:sp>
        <p:nvSpPr>
          <p:cNvPr id="13" name="Shape 10"/>
          <p:cNvSpPr/>
          <p:nvPr/>
        </p:nvSpPr>
        <p:spPr>
          <a:xfrm>
            <a:off x="2921000" y="2179141"/>
            <a:ext cx="5969000" cy="304800"/>
          </a:xfrm>
          <a:prstGeom prst="rect">
            <a:avLst/>
          </a:prstGeom>
          <a:solidFill>
            <a:srgbClr val="F4F4F2"/>
          </a:solidFill>
          <a:ln/>
        </p:spPr>
        <p:txBody>
          <a:bodyPr/>
          <a:lstStyle/>
          <a:p>
            <a:endParaRPr lang="es-ES_tradnl" noProof="0" dirty="0"/>
          </a:p>
        </p:txBody>
      </p:sp>
      <p:sp>
        <p:nvSpPr>
          <p:cNvPr id="14" name="Shape 11"/>
          <p:cNvSpPr/>
          <p:nvPr/>
        </p:nvSpPr>
        <p:spPr>
          <a:xfrm>
            <a:off x="2921000" y="2179141"/>
            <a:ext cx="2984500" cy="304800"/>
          </a:xfrm>
          <a:prstGeom prst="rect">
            <a:avLst/>
          </a:prstGeom>
          <a:solidFill>
            <a:srgbClr val="293470"/>
          </a:solidFill>
          <a:ln/>
        </p:spPr>
        <p:txBody>
          <a:bodyPr/>
          <a:lstStyle/>
          <a:p>
            <a:endParaRPr lang="es-ES_tradnl" noProof="0" dirty="0"/>
          </a:p>
        </p:txBody>
      </p:sp>
      <p:sp>
        <p:nvSpPr>
          <p:cNvPr id="15" name="Text 12"/>
          <p:cNvSpPr/>
          <p:nvPr/>
        </p:nvSpPr>
        <p:spPr>
          <a:xfrm>
            <a:off x="6007100" y="2207121"/>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0.50</a:t>
            </a:r>
            <a:endParaRPr lang="es-ES_tradnl" sz="1400" noProof="0" dirty="0"/>
          </a:p>
        </p:txBody>
      </p:sp>
      <p:sp>
        <p:nvSpPr>
          <p:cNvPr id="16" name="Text 13"/>
          <p:cNvSpPr/>
          <p:nvPr/>
        </p:nvSpPr>
        <p:spPr>
          <a:xfrm>
            <a:off x="9024620" y="217160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0.00676</a:t>
            </a:r>
            <a:endParaRPr lang="es-ES_tradnl" sz="1800" noProof="0" dirty="0"/>
          </a:p>
        </p:txBody>
      </p:sp>
      <p:sp>
        <p:nvSpPr>
          <p:cNvPr id="17" name="Text 14"/>
          <p:cNvSpPr/>
          <p:nvPr/>
        </p:nvSpPr>
        <p:spPr>
          <a:xfrm>
            <a:off x="812800" y="262870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PAD (</a:t>
            </a:r>
            <a:r>
              <a:rPr lang="es-ES_tradnl" sz="1400" b="1" noProof="0" dirty="0" err="1">
                <a:solidFill>
                  <a:srgbClr val="1D1D1B"/>
                </a:solidFill>
                <a:latin typeface="Roboto" pitchFamily="34" charset="0"/>
                <a:ea typeface="Roboto" pitchFamily="34" charset="-122"/>
                <a:cs typeface="Roboto" pitchFamily="34" charset="-120"/>
              </a:rPr>
              <a:t>λ</a:t>
            </a:r>
            <a:r>
              <a:rPr lang="es-ES_tradnl" sz="1400" b="1" noProof="0" dirty="0">
                <a:solidFill>
                  <a:srgbClr val="1D1D1B"/>
                </a:solidFill>
                <a:latin typeface="Roboto" pitchFamily="34" charset="0"/>
                <a:ea typeface="Roboto" pitchFamily="34" charset="-122"/>
                <a:cs typeface="Roboto" pitchFamily="34" charset="-120"/>
              </a:rPr>
              <a:t> = 0.25)</a:t>
            </a:r>
            <a:endParaRPr lang="es-ES_tradnl" sz="1400" noProof="0" dirty="0"/>
          </a:p>
        </p:txBody>
      </p:sp>
      <p:sp>
        <p:nvSpPr>
          <p:cNvPr id="18" name="Shape 15"/>
          <p:cNvSpPr/>
          <p:nvPr/>
        </p:nvSpPr>
        <p:spPr>
          <a:xfrm>
            <a:off x="2921000" y="2600722"/>
            <a:ext cx="5969000" cy="304800"/>
          </a:xfrm>
          <a:prstGeom prst="rect">
            <a:avLst/>
          </a:prstGeom>
          <a:solidFill>
            <a:srgbClr val="F4F4F2"/>
          </a:solidFill>
          <a:ln/>
        </p:spPr>
        <p:txBody>
          <a:bodyPr/>
          <a:lstStyle/>
          <a:p>
            <a:endParaRPr lang="es-ES_tradnl" noProof="0" dirty="0"/>
          </a:p>
        </p:txBody>
      </p:sp>
      <p:sp>
        <p:nvSpPr>
          <p:cNvPr id="19" name="Shape 16"/>
          <p:cNvSpPr/>
          <p:nvPr/>
        </p:nvSpPr>
        <p:spPr>
          <a:xfrm>
            <a:off x="2921000" y="2600722"/>
            <a:ext cx="3638550" cy="304800"/>
          </a:xfrm>
          <a:prstGeom prst="rect">
            <a:avLst/>
          </a:prstGeom>
          <a:solidFill>
            <a:srgbClr val="293470"/>
          </a:solidFill>
          <a:ln/>
        </p:spPr>
        <p:txBody>
          <a:bodyPr/>
          <a:lstStyle/>
          <a:p>
            <a:endParaRPr lang="es-ES_tradnl" noProof="0" dirty="0"/>
          </a:p>
        </p:txBody>
      </p:sp>
      <p:sp>
        <p:nvSpPr>
          <p:cNvPr id="20" name="Text 17"/>
          <p:cNvSpPr/>
          <p:nvPr/>
        </p:nvSpPr>
        <p:spPr>
          <a:xfrm>
            <a:off x="6661150" y="262870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0.61</a:t>
            </a:r>
            <a:endParaRPr lang="es-ES_tradnl" sz="1400" noProof="0" dirty="0"/>
          </a:p>
        </p:txBody>
      </p:sp>
      <p:sp>
        <p:nvSpPr>
          <p:cNvPr id="21" name="Text 18"/>
          <p:cNvSpPr/>
          <p:nvPr/>
        </p:nvSpPr>
        <p:spPr>
          <a:xfrm>
            <a:off x="9024620" y="259318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0.00790</a:t>
            </a:r>
            <a:endParaRPr lang="es-ES_tradnl" sz="1800" noProof="0" dirty="0"/>
          </a:p>
        </p:txBody>
      </p:sp>
      <p:sp>
        <p:nvSpPr>
          <p:cNvPr id="22" name="Text 19"/>
          <p:cNvSpPr/>
          <p:nvPr/>
        </p:nvSpPr>
        <p:spPr>
          <a:xfrm>
            <a:off x="812800" y="305028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GAD</a:t>
            </a:r>
            <a:endParaRPr lang="es-ES_tradnl" sz="1400" noProof="0" dirty="0"/>
          </a:p>
        </p:txBody>
      </p:sp>
      <p:sp>
        <p:nvSpPr>
          <p:cNvPr id="23" name="Shape 20"/>
          <p:cNvSpPr/>
          <p:nvPr/>
        </p:nvSpPr>
        <p:spPr>
          <a:xfrm>
            <a:off x="2921000" y="3022302"/>
            <a:ext cx="5969000" cy="304800"/>
          </a:xfrm>
          <a:prstGeom prst="rect">
            <a:avLst/>
          </a:prstGeom>
          <a:solidFill>
            <a:srgbClr val="F4F4F2"/>
          </a:solidFill>
          <a:ln/>
        </p:spPr>
        <p:txBody>
          <a:bodyPr/>
          <a:lstStyle/>
          <a:p>
            <a:endParaRPr lang="es-ES_tradnl" noProof="0" dirty="0"/>
          </a:p>
        </p:txBody>
      </p:sp>
      <p:sp>
        <p:nvSpPr>
          <p:cNvPr id="24" name="Shape 21"/>
          <p:cNvSpPr/>
          <p:nvPr/>
        </p:nvSpPr>
        <p:spPr>
          <a:xfrm>
            <a:off x="2921000" y="3022302"/>
            <a:ext cx="4235450" cy="304800"/>
          </a:xfrm>
          <a:prstGeom prst="rect">
            <a:avLst/>
          </a:prstGeom>
          <a:solidFill>
            <a:srgbClr val="293470"/>
          </a:solidFill>
          <a:ln/>
        </p:spPr>
        <p:txBody>
          <a:bodyPr/>
          <a:lstStyle/>
          <a:p>
            <a:endParaRPr lang="es-ES_tradnl" noProof="0" dirty="0"/>
          </a:p>
        </p:txBody>
      </p:sp>
      <p:sp>
        <p:nvSpPr>
          <p:cNvPr id="25" name="Text 22"/>
          <p:cNvSpPr/>
          <p:nvPr/>
        </p:nvSpPr>
        <p:spPr>
          <a:xfrm>
            <a:off x="7258050" y="305028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0.71</a:t>
            </a:r>
            <a:endParaRPr lang="es-ES_tradnl" sz="1400" noProof="0" dirty="0"/>
          </a:p>
        </p:txBody>
      </p:sp>
      <p:sp>
        <p:nvSpPr>
          <p:cNvPr id="26" name="Text 23"/>
          <p:cNvSpPr/>
          <p:nvPr/>
        </p:nvSpPr>
        <p:spPr>
          <a:xfrm>
            <a:off x="9024620" y="3014762"/>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0.00897</a:t>
            </a:r>
            <a:endParaRPr lang="es-ES_tradnl" sz="1800" noProof="0" dirty="0"/>
          </a:p>
        </p:txBody>
      </p:sp>
      <p:sp>
        <p:nvSpPr>
          <p:cNvPr id="27" name="Text 24"/>
          <p:cNvSpPr/>
          <p:nvPr/>
        </p:nvSpPr>
        <p:spPr>
          <a:xfrm>
            <a:off x="812800" y="3487142"/>
            <a:ext cx="108833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Cuanto más encoge, menos distinguibles quedan los estados y menor es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El orden vale para estos parámetros</a:t>
            </a:r>
            <a:r>
              <a:rPr lang="es-ES_tradnl" sz="1400" noProof="0" dirty="0">
                <a:solidFill>
                  <a:srgbClr val="3C3C3B"/>
                </a:solidFill>
                <a:latin typeface="Roboto" pitchFamily="34" charset="0"/>
                <a:ea typeface="Roboto" pitchFamily="34" charset="-122"/>
                <a:cs typeface="Roboto" pitchFamily="34" charset="-120"/>
              </a:rPr>
              <a:t>, no como ranking general.</a:t>
            </a:r>
            <a:endParaRPr lang="es-ES_tradnl" sz="1400" noProof="0" dirty="0"/>
          </a:p>
        </p:txBody>
      </p:sp>
      <p:sp>
        <p:nvSpPr>
          <p:cNvPr id="28" name="Shape 25"/>
          <p:cNvSpPr/>
          <p:nvPr/>
        </p:nvSpPr>
        <p:spPr>
          <a:xfrm>
            <a:off x="812800" y="4238823"/>
            <a:ext cx="10566400" cy="1285081"/>
          </a:xfrm>
          <a:prstGeom prst="roundRect">
            <a:avLst>
              <a:gd name="adj" fmla="val 7906"/>
            </a:avLst>
          </a:prstGeom>
          <a:solidFill>
            <a:srgbClr val="F4F4F2"/>
          </a:solidFill>
          <a:ln/>
        </p:spPr>
        <p:txBody>
          <a:bodyPr/>
          <a:lstStyle/>
          <a:p>
            <a:endParaRPr lang="es-ES_tradnl" noProof="0" dirty="0"/>
          </a:p>
        </p:txBody>
      </p:sp>
      <p:sp>
        <p:nvSpPr>
          <p:cNvPr id="29" name="Text 26"/>
          <p:cNvSpPr/>
          <p:nvPr/>
        </p:nvSpPr>
        <p:spPr>
          <a:xfrm>
            <a:off x="1066800" y="4416623"/>
            <a:ext cx="366268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Elección de </a:t>
            </a:r>
            <a:r>
              <a:rPr lang="es-ES_tradnl" sz="1400" b="1" noProof="0" dirty="0" err="1">
                <a:solidFill>
                  <a:srgbClr val="1D1D1B"/>
                </a:solidFill>
                <a:latin typeface="DM Sans" pitchFamily="34" charset="0"/>
                <a:ea typeface="DM Sans" pitchFamily="34" charset="-122"/>
                <a:cs typeface="DM Sans" pitchFamily="34" charset="-120"/>
              </a:rPr>
              <a:t>λ</a:t>
            </a:r>
            <a:endParaRPr lang="es-ES_tradnl" sz="1400" noProof="0" dirty="0"/>
          </a:p>
        </p:txBody>
      </p:sp>
      <p:sp>
        <p:nvSpPr>
          <p:cNvPr id="30" name="Text 27"/>
          <p:cNvSpPr/>
          <p:nvPr/>
        </p:nvSpPr>
        <p:spPr>
          <a:xfrm>
            <a:off x="1066800" y="4706144"/>
            <a:ext cx="3662680"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PAD con p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 0.5 va de GAD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al </a:t>
            </a:r>
            <a:r>
              <a:rPr lang="es-ES_tradnl" sz="1200" noProof="0" dirty="0" err="1">
                <a:solidFill>
                  <a:srgbClr val="3C3C3B"/>
                </a:solidFill>
                <a:latin typeface="Roboto" pitchFamily="34" charset="0"/>
                <a:ea typeface="Roboto" pitchFamily="34" charset="-122"/>
                <a:cs typeface="Roboto" pitchFamily="34" charset="-120"/>
              </a:rPr>
              <a:t>depolarizante</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0.25 es el punto medio y cumple la hipótesis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del Teorema 2.</a:t>
            </a:r>
            <a:endParaRPr lang="es-ES_tradnl" sz="1200" noProof="0" dirty="0"/>
          </a:p>
        </p:txBody>
      </p:sp>
      <p:sp>
        <p:nvSpPr>
          <p:cNvPr id="31" name="Shape 28"/>
          <p:cNvSpPr/>
          <p:nvPr/>
        </p:nvSpPr>
        <p:spPr>
          <a:xfrm>
            <a:off x="5054600" y="4722614"/>
            <a:ext cx="5562600" cy="25400"/>
          </a:xfrm>
          <a:prstGeom prst="rect">
            <a:avLst/>
          </a:prstGeom>
          <a:solidFill>
            <a:srgbClr val="3C3C3B"/>
          </a:solidFill>
          <a:ln/>
        </p:spPr>
        <p:txBody>
          <a:bodyPr/>
          <a:lstStyle/>
          <a:p>
            <a:endParaRPr lang="es-ES_tradnl" noProof="0" dirty="0"/>
          </a:p>
        </p:txBody>
      </p:sp>
      <p:sp>
        <p:nvSpPr>
          <p:cNvPr id="32" name="Shape 29"/>
          <p:cNvSpPr/>
          <p:nvPr/>
        </p:nvSpPr>
        <p:spPr>
          <a:xfrm>
            <a:off x="4978400" y="4659114"/>
            <a:ext cx="152400" cy="152400"/>
          </a:xfrm>
          <a:prstGeom prst="roundRect">
            <a:avLst>
              <a:gd name="adj" fmla="val 50000"/>
            </a:avLst>
          </a:prstGeom>
          <a:solidFill>
            <a:srgbClr val="3C3C3B"/>
          </a:solidFill>
          <a:ln/>
        </p:spPr>
        <p:txBody>
          <a:bodyPr/>
          <a:lstStyle/>
          <a:p>
            <a:endParaRPr lang="es-ES_tradnl" noProof="0" dirty="0"/>
          </a:p>
        </p:txBody>
      </p:sp>
      <p:sp>
        <p:nvSpPr>
          <p:cNvPr id="33" name="Shape 30"/>
          <p:cNvSpPr/>
          <p:nvPr/>
        </p:nvSpPr>
        <p:spPr>
          <a:xfrm>
            <a:off x="7724775" y="4624189"/>
            <a:ext cx="222250" cy="2222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34" name="Shape 31"/>
          <p:cNvSpPr/>
          <p:nvPr/>
        </p:nvSpPr>
        <p:spPr>
          <a:xfrm>
            <a:off x="10541000" y="4659114"/>
            <a:ext cx="152400" cy="152400"/>
          </a:xfrm>
          <a:prstGeom prst="roundRect">
            <a:avLst>
              <a:gd name="adj" fmla="val 50000"/>
            </a:avLst>
          </a:prstGeom>
          <a:solidFill>
            <a:srgbClr val="3C3C3B"/>
          </a:solidFill>
          <a:ln/>
        </p:spPr>
        <p:txBody>
          <a:bodyPr/>
          <a:lstStyle/>
          <a:p>
            <a:endParaRPr lang="es-ES_tradnl" noProof="0" dirty="0"/>
          </a:p>
        </p:txBody>
      </p:sp>
      <p:sp>
        <p:nvSpPr>
          <p:cNvPr id="35" name="Text 32"/>
          <p:cNvSpPr/>
          <p:nvPr/>
        </p:nvSpPr>
        <p:spPr>
          <a:xfrm>
            <a:off x="4978400" y="4938514"/>
            <a:ext cx="196215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 GAD</a:t>
            </a:r>
            <a:endParaRPr lang="es-ES_tradnl" sz="1200" noProof="0" dirty="0"/>
          </a:p>
        </p:txBody>
      </p:sp>
      <p:sp>
        <p:nvSpPr>
          <p:cNvPr id="36" name="Text 33"/>
          <p:cNvSpPr/>
          <p:nvPr/>
        </p:nvSpPr>
        <p:spPr>
          <a:xfrm>
            <a:off x="6854825" y="4938514"/>
            <a:ext cx="1962150" cy="223441"/>
          </a:xfrm>
          <a:prstGeom prst="rect">
            <a:avLst/>
          </a:prstGeom>
          <a:noFill/>
          <a:ln/>
        </p:spPr>
        <p:txBody>
          <a:bodyPr wrap="square" lIns="0" tIns="0" rIns="0" bIns="0" rtlCol="0" anchor="t">
            <a:normAutofit/>
          </a:bodyPr>
          <a:lstStyle/>
          <a:p>
            <a:pPr marL="0" indent="0" algn="ctr">
              <a:lnSpc>
                <a:spcPts val="1560"/>
              </a:lnSpc>
              <a:buNone/>
            </a:pPr>
            <a:r>
              <a:rPr lang="es-ES_tradnl" sz="1200" b="1" noProof="0" dirty="0" err="1">
                <a:solidFill>
                  <a:srgbClr val="1D1D1B"/>
                </a:solidFill>
                <a:latin typeface="Roboto" pitchFamily="34" charset="0"/>
                <a:ea typeface="Roboto" pitchFamily="34" charset="-122"/>
                <a:cs typeface="Roboto" pitchFamily="34" charset="-120"/>
              </a:rPr>
              <a:t>λ</a:t>
            </a:r>
            <a:r>
              <a:rPr lang="es-ES_tradnl" sz="1200" b="1" noProof="0" dirty="0">
                <a:solidFill>
                  <a:srgbClr val="1D1D1B"/>
                </a:solidFill>
                <a:latin typeface="Roboto" pitchFamily="34" charset="0"/>
                <a:ea typeface="Roboto" pitchFamily="34" charset="-122"/>
                <a:cs typeface="Roboto" pitchFamily="34" charset="-120"/>
              </a:rPr>
              <a:t> = 0.25 · PAD</a:t>
            </a:r>
            <a:endParaRPr lang="es-ES_tradnl" sz="1200" noProof="0" dirty="0"/>
          </a:p>
        </p:txBody>
      </p:sp>
      <p:sp>
        <p:nvSpPr>
          <p:cNvPr id="37" name="Text 34"/>
          <p:cNvSpPr/>
          <p:nvPr/>
        </p:nvSpPr>
        <p:spPr>
          <a:xfrm>
            <a:off x="8731250" y="4938514"/>
            <a:ext cx="1962150" cy="223441"/>
          </a:xfrm>
          <a:prstGeom prst="rect">
            <a:avLst/>
          </a:prstGeom>
          <a:noFill/>
          <a:ln/>
        </p:spPr>
        <p:txBody>
          <a:bodyPr wrap="square" lIns="0" tIns="0" rIns="0" bIns="0" rtlCol="0" anchor="t">
            <a:normAutofit/>
          </a:bodyPr>
          <a:lstStyle/>
          <a:p>
            <a:pPr marL="0" indent="0" algn="r">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 </a:t>
            </a:r>
            <a:r>
              <a:rPr lang="es-ES_tradnl" sz="1200" noProof="0" dirty="0" err="1">
                <a:solidFill>
                  <a:srgbClr val="3C3C3B"/>
                </a:solidFill>
                <a:latin typeface="Roboto" pitchFamily="34" charset="0"/>
                <a:ea typeface="Roboto" pitchFamily="34" charset="-122"/>
                <a:cs typeface="Roboto" pitchFamily="34" charset="-120"/>
              </a:rPr>
              <a:t>depolarizante</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07</a:t>
            </a:r>
            <a:endParaRPr lang="es-ES_tradnl" sz="12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pregunta nueva</a:t>
            </a:r>
            <a:endParaRPr lang="es-ES_tradnl" sz="2800" noProof="0" dirty="0"/>
          </a:p>
        </p:txBody>
      </p:sp>
      <p:sp>
        <p:nvSpPr>
          <p:cNvPr id="8" name="Text 5"/>
          <p:cNvSpPr/>
          <p:nvPr/>
        </p:nvSpPr>
        <p:spPr>
          <a:xfrm>
            <a:off x="812800" y="1305520"/>
            <a:ext cx="1137920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Ya sabemos que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cumple la cota. ¿Cómo se ve esa privacidad en los datos que recibiría un analista?</a:t>
            </a:r>
            <a:endParaRPr lang="es-ES_tradnl" sz="1800" noProof="0" dirty="0"/>
          </a:p>
        </p:txBody>
      </p:sp>
      <p:sp>
        <p:nvSpPr>
          <p:cNvPr id="9" name="Shape 6"/>
          <p:cNvSpPr/>
          <p:nvPr/>
        </p:nvSpPr>
        <p:spPr>
          <a:xfrm>
            <a:off x="812800" y="1856680"/>
            <a:ext cx="4127500" cy="1528763"/>
          </a:xfrm>
          <a:prstGeom prst="roundRect">
            <a:avLst>
              <a:gd name="adj" fmla="val 6646"/>
            </a:avLst>
          </a:prstGeom>
          <a:solidFill>
            <a:srgbClr val="F4F4F2"/>
          </a:solidFill>
          <a:ln/>
        </p:spPr>
        <p:txBody>
          <a:bodyPr/>
          <a:lstStyle/>
          <a:p>
            <a:endParaRPr lang="es-ES_tradnl" noProof="0" dirty="0"/>
          </a:p>
        </p:txBody>
      </p:sp>
      <p:sp>
        <p:nvSpPr>
          <p:cNvPr id="10" name="Text 7"/>
          <p:cNvSpPr/>
          <p:nvPr/>
        </p:nvSpPr>
        <p:spPr>
          <a:xfrm>
            <a:off x="10668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simulación</a:t>
            </a:r>
            <a:endParaRPr lang="es-ES_tradnl" sz="1800" noProof="0" dirty="0"/>
          </a:p>
        </p:txBody>
      </p:sp>
      <p:sp>
        <p:nvSpPr>
          <p:cNvPr id="11" name="Text 8"/>
          <p:cNvSpPr/>
          <p:nvPr/>
        </p:nvSpPr>
        <p:spPr>
          <a:xfrm>
            <a:off x="10668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Tenemos la distribución de probabilidad completa de cada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la matriz de densidad.</a:t>
            </a:r>
            <a:endParaRPr lang="es-ES_tradnl" sz="1400" noProof="0" dirty="0"/>
          </a:p>
        </p:txBody>
      </p:sp>
      <p:sp>
        <p:nvSpPr>
          <p:cNvPr id="12" name="Text 9"/>
          <p:cNvSpPr/>
          <p:nvPr/>
        </p:nvSpPr>
        <p:spPr>
          <a:xfrm>
            <a:off x="5143500" y="2053431"/>
            <a:ext cx="1905000" cy="728861"/>
          </a:xfrm>
          <a:prstGeom prst="roundRect">
            <a:avLst>
              <a:gd name="adj" fmla="val 6970"/>
            </a:avLst>
          </a:prstGeom>
          <a:solidFill>
            <a:srgbClr val="FFEE00"/>
          </a:solidFill>
          <a:ln/>
        </p:spPr>
        <p:txBody>
          <a:bodyPr wrap="square" lIns="112121" tIns="86721" rIns="112121" bIns="61321" rtlCol="0" anchor="t">
            <a:normAutofit/>
          </a:bodyPr>
          <a:lstStyle/>
          <a:p>
            <a:pPr marL="0" indent="0" algn="ctr">
              <a:lnSpc>
                <a:spcPts val="2070"/>
              </a:lnSpc>
              <a:buNone/>
            </a:pPr>
            <a:r>
              <a:rPr lang="es-ES_tradnl" sz="1800" b="1" noProof="0" dirty="0" err="1">
                <a:solidFill>
                  <a:srgbClr val="1D1D1B"/>
                </a:solidFill>
                <a:latin typeface="DM Sans" pitchFamily="34" charset="0"/>
                <a:ea typeface="DM Sans" pitchFamily="34" charset="-122"/>
                <a:cs typeface="DM Sans" pitchFamily="34" charset="-120"/>
              </a:rPr>
              <a:t>Decuantizar</a:t>
            </a:r>
            <a:r>
              <a:rPr lang="es-ES_tradnl" sz="1800" b="1" noProof="0" dirty="0">
                <a:solidFill>
                  <a:srgbClr val="1D1D1B"/>
                </a:solidFill>
                <a:latin typeface="DM Sans" pitchFamily="34" charset="0"/>
                <a:ea typeface="DM Sans" pitchFamily="34" charset="-122"/>
                <a:cs typeface="DM Sans" pitchFamily="34" charset="-120"/>
              </a:rPr>
              <a:t> = medir</a:t>
            </a:r>
            <a:endParaRPr lang="es-ES_tradnl" sz="1800" noProof="0" dirty="0"/>
          </a:p>
        </p:txBody>
      </p:sp>
      <p:pic>
        <p:nvPicPr>
          <p:cNvPr id="13" name="Image 1" descr="arrow-right"/>
          <p:cNvPicPr>
            <a:picLocks noChangeAspect="1"/>
          </p:cNvPicPr>
          <p:nvPr/>
        </p:nvPicPr>
        <p:blipFill>
          <a:blip r:embed="rId4"/>
          <a:srcRect/>
          <a:stretch/>
        </p:blipFill>
        <p:spPr>
          <a:xfrm>
            <a:off x="5791200" y="2883892"/>
            <a:ext cx="609600" cy="304800"/>
          </a:xfrm>
          <a:prstGeom prst="rect">
            <a:avLst/>
          </a:prstGeom>
        </p:spPr>
      </p:pic>
      <p:sp>
        <p:nvSpPr>
          <p:cNvPr id="14" name="Shape 10"/>
          <p:cNvSpPr/>
          <p:nvPr/>
        </p:nvSpPr>
        <p:spPr>
          <a:xfrm>
            <a:off x="7251700" y="1856680"/>
            <a:ext cx="4127500" cy="1528763"/>
          </a:xfrm>
          <a:prstGeom prst="roundRect">
            <a:avLst>
              <a:gd name="adj" fmla="val 6646"/>
            </a:avLst>
          </a:prstGeom>
          <a:solidFill>
            <a:srgbClr val="F4F4F2"/>
          </a:solidFill>
          <a:ln/>
        </p:spPr>
        <p:txBody>
          <a:bodyPr/>
          <a:lstStyle/>
          <a:p>
            <a:endParaRPr lang="es-ES_tradnl" noProof="0" dirty="0"/>
          </a:p>
        </p:txBody>
      </p:sp>
      <p:sp>
        <p:nvSpPr>
          <p:cNvPr id="15" name="Text 11"/>
          <p:cNvSpPr/>
          <p:nvPr/>
        </p:nvSpPr>
        <p:spPr>
          <a:xfrm>
            <a:off x="75057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realidad</a:t>
            </a:r>
            <a:endParaRPr lang="es-ES_tradnl" sz="1800" noProof="0" dirty="0"/>
          </a:p>
        </p:txBody>
      </p:sp>
      <p:sp>
        <p:nvSpPr>
          <p:cNvPr id="16" name="Text 12"/>
          <p:cNvSpPr/>
          <p:nvPr/>
        </p:nvSpPr>
        <p:spPr>
          <a:xfrm>
            <a:off x="75057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Quien recibe los datos tiene que medir: el estado colapsa y entrega un solo resultado, 0 o 1.</a:t>
            </a:r>
            <a:endParaRPr lang="es-ES_tradnl" sz="1400" noProof="0" dirty="0"/>
          </a:p>
        </p:txBody>
      </p:sp>
      <p:sp>
        <p:nvSpPr>
          <p:cNvPr id="17" name="Shape 13"/>
          <p:cNvSpPr/>
          <p:nvPr/>
        </p:nvSpPr>
        <p:spPr>
          <a:xfrm>
            <a:off x="812800" y="3639443"/>
            <a:ext cx="10566400" cy="1793081"/>
          </a:xfrm>
          <a:prstGeom prst="roundRect">
            <a:avLst>
              <a:gd name="adj" fmla="val 5666"/>
            </a:avLst>
          </a:prstGeom>
          <a:solidFill>
            <a:srgbClr val="1D1D1B"/>
          </a:solidFill>
          <a:ln/>
        </p:spPr>
        <p:txBody>
          <a:bodyPr/>
          <a:lstStyle/>
          <a:p>
            <a:endParaRPr lang="es-ES_tradnl" noProof="0" dirty="0"/>
          </a:p>
        </p:txBody>
      </p:sp>
      <p:sp>
        <p:nvSpPr>
          <p:cNvPr id="18" name="Text 14"/>
          <p:cNvSpPr/>
          <p:nvPr/>
        </p:nvSpPr>
        <p:spPr>
          <a:xfrm>
            <a:off x="1066800" y="3842643"/>
            <a:ext cx="10360152"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50" noProof="0" dirty="0">
                <a:solidFill>
                  <a:srgbClr val="FFEE00"/>
                </a:solidFill>
                <a:latin typeface="Roboto" pitchFamily="34" charset="0"/>
                <a:ea typeface="Roboto" pitchFamily="34" charset="-122"/>
                <a:cs typeface="Roboto" pitchFamily="34" charset="-120"/>
              </a:rPr>
              <a:t>ADELANTO</a:t>
            </a:r>
            <a:endParaRPr lang="es-ES_tradnl" sz="1200" noProof="0" dirty="0"/>
          </a:p>
        </p:txBody>
      </p:sp>
      <p:sp>
        <p:nvSpPr>
          <p:cNvPr id="19" name="Text 15"/>
          <p:cNvSpPr/>
          <p:nvPr/>
        </p:nvSpPr>
        <p:spPr>
          <a:xfrm>
            <a:off x="1066800" y="4132163"/>
            <a:ext cx="1036015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F7F7F5"/>
                </a:solidFill>
                <a:latin typeface="DM Sans" pitchFamily="34" charset="0"/>
                <a:ea typeface="DM Sans" pitchFamily="34" charset="-122"/>
                <a:cs typeface="DM Sans" pitchFamily="34" charset="-120"/>
              </a:rPr>
              <a:t>La privacidad no se ve como un promedio que se mueve, sino como una estimación menos precisa.</a:t>
            </a:r>
            <a:endParaRPr lang="es-ES_tradnl" sz="1800" noProof="0" dirty="0"/>
          </a:p>
        </p:txBody>
      </p:sp>
      <p:sp>
        <p:nvSpPr>
          <p:cNvPr id="20" name="Text 16"/>
          <p:cNvSpPr/>
          <p:nvPr/>
        </p:nvSpPr>
        <p:spPr>
          <a:xfrm>
            <a:off x="1066800" y="4802684"/>
            <a:ext cx="10360152"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D4D4D0"/>
                </a:solidFill>
                <a:latin typeface="Roboto" pitchFamily="34" charset="0"/>
                <a:ea typeface="Roboto" pitchFamily="34" charset="-122"/>
                <a:cs typeface="Roboto" pitchFamily="34" charset="-120"/>
              </a:rPr>
              <a:t>Corregido el sesgo, el centro se mantiene y lo que crece es la dispersión: los valores quedan menos agrupados alrededor del centro. La evidencia es el histograma del Acto IV.</a:t>
            </a:r>
            <a:endParaRPr lang="es-ES_tradnl" sz="1200" noProof="0" dirty="0"/>
          </a:p>
        </p:txBody>
      </p:sp>
      <p:sp>
        <p:nvSpPr>
          <p:cNvPr id="22"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08</a:t>
            </a:r>
            <a:endParaRPr lang="es-ES_tradnl" sz="12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19" name="Shape 13"/>
          <p:cNvSpPr/>
          <p:nvPr/>
        </p:nvSpPr>
        <p:spPr>
          <a:xfrm>
            <a:off x="6197600" y="1856680"/>
            <a:ext cx="5181600" cy="3231753"/>
          </a:xfrm>
          <a:prstGeom prst="roundRect">
            <a:avLst>
              <a:gd name="adj" fmla="val 3327"/>
            </a:avLst>
          </a:prstGeom>
          <a:solidFill>
            <a:srgbClr val="F4F4F2"/>
          </a:solidFill>
          <a:ln/>
        </p:spPr>
        <p:txBody>
          <a:bodyPr/>
          <a:lstStyle/>
          <a:p>
            <a:endParaRPr lang="es-ES_tradnl" noProof="0" dirty="0"/>
          </a:p>
        </p:txBody>
      </p:sp>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Dos diseños para </a:t>
            </a: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C y 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C, A está </a:t>
            </a:r>
            <a:r>
              <a:rPr lang="es-ES_tradnl" sz="1800" b="1" noProof="0" dirty="0">
                <a:solidFill>
                  <a:srgbClr val="3C3C3B"/>
                </a:solidFill>
                <a:latin typeface="Roboto" pitchFamily="34" charset="0"/>
                <a:ea typeface="Roboto" pitchFamily="34" charset="-122"/>
                <a:cs typeface="Roboto" pitchFamily="34" charset="-120"/>
              </a:rPr>
              <a:t>un poco siempre</a:t>
            </a:r>
            <a:r>
              <a:rPr lang="es-ES_tradnl" sz="1800" noProof="0" dirty="0">
                <a:solidFill>
                  <a:srgbClr val="3C3C3B"/>
                </a:solidFill>
                <a:latin typeface="Roboto" pitchFamily="34" charset="0"/>
                <a:ea typeface="Roboto" pitchFamily="34" charset="-122"/>
                <a:cs typeface="Roboto" pitchFamily="34" charset="-120"/>
              </a:rPr>
              <a:t>; en L, A está </a:t>
            </a:r>
            <a:r>
              <a:rPr lang="es-ES_tradnl" sz="1800" b="1" noProof="0" dirty="0">
                <a:solidFill>
                  <a:srgbClr val="3C3C3B"/>
                </a:solidFill>
                <a:latin typeface="Roboto" pitchFamily="34" charset="0"/>
                <a:ea typeface="Roboto" pitchFamily="34" charset="-122"/>
                <a:cs typeface="Roboto" pitchFamily="34" charset="-120"/>
              </a:rPr>
              <a:t>mucho una vez</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5181600" cy="3231753"/>
          </a:xfrm>
          <a:prstGeom prst="roundRect">
            <a:avLst>
              <a:gd name="adj" fmla="val 3327"/>
            </a:avLst>
          </a:prstGeom>
          <a:solidFill>
            <a:srgbClr val="F4F4F2"/>
          </a:solidFill>
          <a:ln/>
        </p:spPr>
        <p:txBody>
          <a:bodyPr/>
          <a:lstStyle/>
          <a:p>
            <a:endParaRPr lang="es-ES_tradnl" noProof="0" dirty="0"/>
          </a:p>
        </p:txBody>
      </p:sp>
      <p:sp>
        <p:nvSpPr>
          <p:cNvPr id="10" name="Text 7"/>
          <p:cNvSpPr/>
          <p:nvPr/>
        </p:nvSpPr>
        <p:spPr>
          <a:xfrm>
            <a:off x="1066800" y="198422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02490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60" name="Individuo"/>
          <p:cNvSpPr/>
          <p:nvPr/>
        </p:nvSpPr>
        <p:spPr>
          <a:xfrm>
            <a:off x="1066800" y="2489200"/>
            <a:ext cx="7620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61" name="rho_i"/>
          <p:cNvSpPr/>
          <p:nvPr/>
        </p:nvSpPr>
        <p:spPr>
          <a:xfrm>
            <a:off x="1168400" y="2819400"/>
            <a:ext cx="558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62" name="Flecha" descr="connector"/>
          <p:cNvPicPr>
            <a:picLocks noChangeAspect="1"/>
          </p:cNvPicPr>
          <p:nvPr/>
        </p:nvPicPr>
        <p:blipFill>
          <a:blip r:embed="rId4"/>
          <a:srcRect/>
          <a:stretch/>
        </p:blipFill>
        <p:spPr>
          <a:xfrm>
            <a:off x="1879600" y="2997200"/>
            <a:ext cx="190500" cy="76200"/>
          </a:xfrm>
          <a:prstGeom prst="rect">
            <a:avLst/>
          </a:prstGeom>
        </p:spPr>
      </p:pic>
      <p:sp>
        <p:nvSpPr>
          <p:cNvPr id="63" name="Curador"/>
          <p:cNvSpPr/>
          <p:nvPr/>
        </p:nvSpPr>
        <p:spPr>
          <a:xfrm>
            <a:off x="2082800" y="2489200"/>
            <a:ext cx="37973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Curador</a:t>
            </a:r>
          </a:p>
        </p:txBody>
      </p:sp>
      <p:sp>
        <p:nvSpPr>
          <p:cNvPr id="80" name="rhos"/>
          <p:cNvSpPr/>
          <p:nvPr/>
        </p:nvSpPr>
        <p:spPr>
          <a:xfrm>
            <a:off x="2184400" y="2819400"/>
            <a:ext cx="7366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₀,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81" name="Flecha" descr="connector"/>
          <p:cNvPicPr>
            <a:picLocks noChangeAspect="1"/>
          </p:cNvPicPr>
          <p:nvPr/>
        </p:nvPicPr>
        <p:blipFill>
          <a:blip r:embed="rId4"/>
          <a:srcRect/>
          <a:stretch/>
        </p:blipFill>
        <p:spPr>
          <a:xfrm>
            <a:off x="2940050" y="3004820"/>
            <a:ext cx="152400" cy="60960"/>
          </a:xfrm>
          <a:prstGeom prst="rect">
            <a:avLst/>
          </a:prstGeom>
        </p:spPr>
      </p:pic>
      <p:sp>
        <p:nvSpPr>
          <p:cNvPr id="64" name="agrega"/>
          <p:cNvSpPr/>
          <p:nvPr/>
        </p:nvSpPr>
        <p:spPr>
          <a:xfrm>
            <a:off x="3086100" y="2819400"/>
            <a:ext cx="685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agrega</a:t>
            </a:r>
          </a:p>
        </p:txBody>
      </p:sp>
      <p:pic>
        <p:nvPicPr>
          <p:cNvPr id="65" name="Flecha" descr="connector"/>
          <p:cNvPicPr>
            <a:picLocks noChangeAspect="1"/>
          </p:cNvPicPr>
          <p:nvPr/>
        </p:nvPicPr>
        <p:blipFill>
          <a:blip r:embed="rId4"/>
          <a:srcRect/>
          <a:stretch/>
        </p:blipFill>
        <p:spPr>
          <a:xfrm>
            <a:off x="3790950" y="3004820"/>
            <a:ext cx="152400" cy="60960"/>
          </a:xfrm>
          <a:prstGeom prst="rect">
            <a:avLst/>
          </a:prstGeom>
        </p:spPr>
      </p:pic>
      <p:sp>
        <p:nvSpPr>
          <p:cNvPr id="66" name="ruido"/>
          <p:cNvSpPr/>
          <p:nvPr/>
        </p:nvSpPr>
        <p:spPr>
          <a:xfrm>
            <a:off x="3937000" y="2819400"/>
            <a:ext cx="9144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ruido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a:t>
            </a:r>
          </a:p>
        </p:txBody>
      </p:sp>
      <p:pic>
        <p:nvPicPr>
          <p:cNvPr id="67" name="Flecha" descr="connector"/>
          <p:cNvPicPr>
            <a:picLocks noChangeAspect="1"/>
          </p:cNvPicPr>
          <p:nvPr/>
        </p:nvPicPr>
        <p:blipFill>
          <a:blip r:embed="rId4"/>
          <a:srcRect/>
          <a:stretch/>
        </p:blipFill>
        <p:spPr>
          <a:xfrm>
            <a:off x="4870450" y="3004820"/>
            <a:ext cx="152400" cy="60960"/>
          </a:xfrm>
          <a:prstGeom prst="rect">
            <a:avLst/>
          </a:prstGeom>
        </p:spPr>
      </p:pic>
      <p:sp>
        <p:nvSpPr>
          <p:cNvPr id="68" name="copias"/>
          <p:cNvSpPr/>
          <p:nvPr/>
        </p:nvSpPr>
        <p:spPr>
          <a:xfrm>
            <a:off x="5016500" y="2819400"/>
            <a:ext cx="762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N copias medidas</a:t>
            </a:r>
          </a:p>
        </p:txBody>
      </p:sp>
      <p:sp>
        <p:nvSpPr>
          <p:cNvPr id="17" name="Text 12"/>
          <p:cNvSpPr/>
          <p:nvPr/>
        </p:nvSpPr>
        <p:spPr>
          <a:xfrm>
            <a:off x="10668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copia equivale a sortear una persona. Si se saca a A cambian las N copias, porque A está un poco en todas: composición (Teorema 4).</a:t>
            </a:r>
            <a:endParaRPr lang="es-ES_tradnl" sz="1400" noProof="0" dirty="0"/>
          </a:p>
        </p:txBody>
      </p:sp>
      <p:pic>
        <p:nvPicPr>
          <p:cNvPr id="18" name="Image 3" descr="ε total = N · ε por copia"/>
          <p:cNvPicPr>
            <a:picLocks noChangeAspect="1"/>
          </p:cNvPicPr>
          <p:nvPr/>
        </p:nvPicPr>
        <p:blipFill>
          <a:blip r:embed="rId5"/>
          <a:srcRect t="-388" b="-388"/>
          <a:stretch/>
        </p:blipFill>
        <p:spPr>
          <a:xfrm>
            <a:off x="1066800" y="4622800"/>
            <a:ext cx="2324100" cy="311150"/>
          </a:xfrm>
          <a:prstGeom prst="rect">
            <a:avLst/>
          </a:prstGeom>
        </p:spPr>
      </p:pic>
      <p:sp>
        <p:nvSpPr>
          <p:cNvPr id="20" name="Text 14"/>
          <p:cNvSpPr/>
          <p:nvPr/>
        </p:nvSpPr>
        <p:spPr>
          <a:xfrm>
            <a:off x="6451600" y="1974493"/>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6934200" y="2015173"/>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69" name="Individuo"/>
          <p:cNvSpPr/>
          <p:nvPr/>
        </p:nvSpPr>
        <p:spPr>
          <a:xfrm>
            <a:off x="6451600" y="2489200"/>
            <a:ext cx="37846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70" name="persona"/>
          <p:cNvSpPr/>
          <p:nvPr/>
        </p:nvSpPr>
        <p:spPr>
          <a:xfrm>
            <a:off x="6553200" y="2819400"/>
            <a:ext cx="1016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persona i: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71" name="Flecha" descr="connector"/>
          <p:cNvPicPr>
            <a:picLocks noChangeAspect="1"/>
          </p:cNvPicPr>
          <p:nvPr/>
        </p:nvPicPr>
        <p:blipFill>
          <a:blip r:embed="rId4"/>
          <a:srcRect/>
          <a:stretch/>
        </p:blipFill>
        <p:spPr>
          <a:xfrm>
            <a:off x="7620000" y="3009900"/>
            <a:ext cx="127000" cy="50800"/>
          </a:xfrm>
          <a:prstGeom prst="rect">
            <a:avLst/>
          </a:prstGeom>
        </p:spPr>
      </p:pic>
      <p:sp>
        <p:nvSpPr>
          <p:cNvPr id="72" name="ruido local"/>
          <p:cNvSpPr/>
          <p:nvPr/>
        </p:nvSpPr>
        <p:spPr>
          <a:xfrm>
            <a:off x="7797800" y="2819400"/>
            <a:ext cx="11430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su propio ruido</a:t>
            </a:r>
          </a:p>
        </p:txBody>
      </p:sp>
      <p:pic>
        <p:nvPicPr>
          <p:cNvPr id="73" name="Flecha" descr="connector"/>
          <p:cNvPicPr>
            <a:picLocks noChangeAspect="1"/>
          </p:cNvPicPr>
          <p:nvPr/>
        </p:nvPicPr>
        <p:blipFill>
          <a:blip r:embed="rId4"/>
          <a:srcRect/>
          <a:stretch/>
        </p:blipFill>
        <p:spPr>
          <a:xfrm>
            <a:off x="9029700" y="3009900"/>
            <a:ext cx="127000" cy="50800"/>
          </a:xfrm>
          <a:prstGeom prst="rect">
            <a:avLst/>
          </a:prstGeom>
        </p:spPr>
      </p:pic>
      <p:sp>
        <p:nvSpPr>
          <p:cNvPr id="74" name="medicion"/>
          <p:cNvSpPr/>
          <p:nvPr/>
        </p:nvSpPr>
        <p:spPr>
          <a:xfrm>
            <a:off x="9207500" y="2819400"/>
            <a:ext cx="9144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1 medición</a:t>
            </a:r>
          </a:p>
        </p:txBody>
      </p:sp>
      <p:pic>
        <p:nvPicPr>
          <p:cNvPr id="75" name="Flecha" descr="connector"/>
          <p:cNvPicPr>
            <a:picLocks noChangeAspect="1"/>
          </p:cNvPicPr>
          <p:nvPr/>
        </p:nvPicPr>
        <p:blipFill>
          <a:blip r:embed="rId4"/>
          <a:srcRect/>
          <a:stretch/>
        </p:blipFill>
        <p:spPr>
          <a:xfrm>
            <a:off x="10274300" y="3004820"/>
            <a:ext cx="152400" cy="60960"/>
          </a:xfrm>
          <a:prstGeom prst="rect">
            <a:avLst/>
          </a:prstGeom>
        </p:spPr>
      </p:pic>
      <p:sp>
        <p:nvSpPr>
          <p:cNvPr id="76" name="Curador"/>
          <p:cNvSpPr/>
          <p:nvPr/>
        </p:nvSpPr>
        <p:spPr>
          <a:xfrm>
            <a:off x="10477500" y="2489200"/>
            <a:ext cx="787400" cy="889000"/>
          </a:xfrm>
          <a:prstGeom prst="roundRect">
            <a:avLst>
              <a:gd name="adj" fmla="val 10000"/>
            </a:avLst>
          </a:prstGeom>
          <a:solidFill>
            <a:srgbClr val="1D1D1B"/>
          </a:solidFill>
          <a:ln w="12700">
            <a:solidFill>
              <a:srgbClr val="1D1D1B"/>
            </a:solidFill>
            <a:prstDash val="solid"/>
          </a:ln>
        </p:spPr>
        <p:txBody>
          <a:bodyPr wrap="square" lIns="25400" tIns="0" rIns="25400" bIns="0" rtlCol="0" anchor="ctr">
            <a:noAutofit/>
          </a:bodyPr>
          <a:lstStyle/>
          <a:p>
            <a:pPr marL="0" indent="0" algn="ctr">
              <a:lnSpc>
                <a:spcPct val="100000"/>
              </a:lnSpc>
              <a:buNone/>
            </a:pPr>
            <a:r>
              <a:rPr lang="es-ES_tradnl" sz="1200" b="1" noProof="0" dirty="0">
                <a:solidFill>
                  <a:srgbClr val="FFFFFF"/>
                </a:solidFill>
                <a:latin typeface="Roboto" pitchFamily="34" charset="0"/>
                <a:ea typeface="Roboto" pitchFamily="34" charset="-122"/>
                <a:cs typeface="Roboto" pitchFamily="34" charset="-120"/>
              </a:rPr>
              <a:t>Curador</a:t>
            </a:r>
          </a:p>
        </p:txBody>
      </p:sp>
      <p:sp>
        <p:nvSpPr>
          <p:cNvPr id="27" name="Text 19"/>
          <p:cNvSpPr/>
          <p:nvPr/>
        </p:nvSpPr>
        <p:spPr>
          <a:xfrm>
            <a:off x="64516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persona se codifica, recibe su ruido y se mide una vez. Si se saca a A cambia solo su resultado: composición paralela.</a:t>
            </a:r>
            <a:endParaRPr lang="es-ES_tradnl" sz="1400" noProof="0" dirty="0"/>
          </a:p>
        </p:txBody>
      </p:sp>
      <p:pic>
        <p:nvPicPr>
          <p:cNvPr id="28" name="Image 6" descr="ε total = ε de una persona"/>
          <p:cNvPicPr>
            <a:picLocks noChangeAspect="1"/>
          </p:cNvPicPr>
          <p:nvPr/>
        </p:nvPicPr>
        <p:blipFill>
          <a:blip r:embed="rId6"/>
          <a:srcRect l="-395" r="-395"/>
          <a:stretch/>
        </p:blipFill>
        <p:spPr>
          <a:xfrm>
            <a:off x="6451600" y="4660900"/>
            <a:ext cx="2425700" cy="241300"/>
          </a:xfrm>
          <a:prstGeom prst="rect">
            <a:avLst/>
          </a:prstGeom>
        </p:spPr>
      </p:pic>
      <p:sp>
        <p:nvSpPr>
          <p:cNvPr id="31"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09</a:t>
            </a:r>
            <a:endParaRPr lang="es-ES_tradnl" sz="1200" noProof="0" dirty="0"/>
          </a:p>
        </p:txBody>
      </p:sp>
      <p:sp>
        <p:nvSpPr>
          <p:cNvPr id="12" name="Curador">
            <a:extLst>
              <a:ext uri="{FF2B5EF4-FFF2-40B4-BE49-F238E27FC236}">
                <a16:creationId xmlns:a16="http://schemas.microsoft.com/office/drawing/2014/main" id="{12C08400-3573-394F-93D1-8BEA9A7D444C}"/>
              </a:ext>
            </a:extLst>
          </p:cNvPr>
          <p:cNvSpPr/>
          <p:nvPr/>
        </p:nvSpPr>
        <p:spPr>
          <a:xfrm>
            <a:off x="2120900" y="274468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3" name="Curador">
            <a:extLst>
              <a:ext uri="{FF2B5EF4-FFF2-40B4-BE49-F238E27FC236}">
                <a16:creationId xmlns:a16="http://schemas.microsoft.com/office/drawing/2014/main" id="{C1C3BA87-9A99-3270-8E0D-0EDAB455A77A}"/>
              </a:ext>
            </a:extLst>
          </p:cNvPr>
          <p:cNvSpPr/>
          <p:nvPr/>
        </p:nvSpPr>
        <p:spPr>
          <a:xfrm>
            <a:off x="6515100" y="274468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5" name="Curador">
            <a:extLst>
              <a:ext uri="{FF2B5EF4-FFF2-40B4-BE49-F238E27FC236}">
                <a16:creationId xmlns:a16="http://schemas.microsoft.com/office/drawing/2014/main" id="{20D9C45E-F4F9-04B3-561B-95491E00C390}"/>
              </a:ext>
            </a:extLst>
          </p:cNvPr>
          <p:cNvSpPr/>
          <p:nvPr/>
        </p:nvSpPr>
        <p:spPr>
          <a:xfrm>
            <a:off x="6451600" y="547899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local cuántica</a:t>
            </a:r>
          </a:p>
        </p:txBody>
      </p:sp>
      <p:sp>
        <p:nvSpPr>
          <p:cNvPr id="16" name="Curador">
            <a:extLst>
              <a:ext uri="{FF2B5EF4-FFF2-40B4-BE49-F238E27FC236}">
                <a16:creationId xmlns:a16="http://schemas.microsoft.com/office/drawing/2014/main" id="{F295336C-C894-520E-A432-8D6001DEDBF1}"/>
              </a:ext>
            </a:extLst>
          </p:cNvPr>
          <p:cNvSpPr/>
          <p:nvPr/>
        </p:nvSpPr>
        <p:spPr>
          <a:xfrm>
            <a:off x="3086100" y="547899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central cuántica</a:t>
            </a:r>
          </a:p>
        </p:txBody>
      </p:sp>
    </p:spTree>
    <p:extLst>
      <p:ext uri="{BB962C8B-B14F-4D97-AF65-F5344CB8AC3E}">
        <p14:creationId xmlns:p14="http://schemas.microsoft.com/office/powerpoint/2010/main" val="106926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A0E24-7113-B17B-A3E4-BCA08962C1C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8B36797-694E-6A24-D829-CA9444E66C99}"/>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central</a:t>
            </a:r>
          </a:p>
        </p:txBody>
      </p:sp>
      <p:grpSp>
        <p:nvGrpSpPr>
          <p:cNvPr id="300" name="Diagrama pipeline">
            <a:extLst>
              <a:ext uri="{FF2B5EF4-FFF2-40B4-BE49-F238E27FC236}">
                <a16:creationId xmlns:a16="http://schemas.microsoft.com/office/drawing/2014/main" id="{C1CEF55F-15C0-0519-560C-B58F0BCC09C3}"/>
              </a:ext>
            </a:extLst>
          </p:cNvPr>
          <p:cNvGrpSpPr/>
          <p:nvPr/>
        </p:nvGrpSpPr>
        <p:grpSpPr>
          <a:xfrm>
            <a:off x="1003300" y="1944951"/>
            <a:ext cx="10566400" cy="4546541"/>
            <a:chOff x="548640" y="1325879"/>
            <a:chExt cx="11064240" cy="5076312"/>
          </a:xfrm>
        </p:grpSpPr>
        <p:sp>
          <p:nvSpPr>
            <p:cNvPr id="6" name="Shape 4">
              <a:extLst>
                <a:ext uri="{FF2B5EF4-FFF2-40B4-BE49-F238E27FC236}">
                  <a16:creationId xmlns:a16="http://schemas.microsoft.com/office/drawing/2014/main" id="{A77E6838-2D08-57BF-A908-85A154CC0E2B}"/>
                </a:ext>
              </a:extLst>
            </p:cNvPr>
            <p:cNvSpPr/>
            <p:nvPr/>
          </p:nvSpPr>
          <p:spPr>
            <a:xfrm>
              <a:off x="548640" y="1325879"/>
              <a:ext cx="11064240" cy="5076312"/>
            </a:xfrm>
            <a:prstGeom prst="roundRect">
              <a:avLst>
                <a:gd name="adj" fmla="val 2243"/>
              </a:avLst>
            </a:prstGeom>
            <a:solidFill>
              <a:srgbClr val="F3F3F2"/>
            </a:solidFill>
            <a:ln w="12700">
              <a:noFill/>
              <a:prstDash val="solid"/>
            </a:ln>
          </p:spPr>
          <p:txBody>
            <a:bodyPr/>
            <a:lstStyle/>
            <a:p>
              <a:endParaRPr lang="es-ES_tradnl" noProof="0" dirty="0"/>
            </a:p>
          </p:txBody>
        </p:sp>
        <p:sp>
          <p:nvSpPr>
            <p:cNvPr id="19" name="Shape 17">
              <a:extLst>
                <a:ext uri="{FF2B5EF4-FFF2-40B4-BE49-F238E27FC236}">
                  <a16:creationId xmlns:a16="http://schemas.microsoft.com/office/drawing/2014/main" id="{13A503E3-9B46-7CD5-70E0-621963858636}"/>
                </a:ext>
              </a:extLst>
            </p:cNvPr>
            <p:cNvSpPr/>
            <p:nvPr/>
          </p:nvSpPr>
          <p:spPr>
            <a:xfrm>
              <a:off x="668325" y="3065640"/>
              <a:ext cx="10837875" cy="2248264"/>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2F9E90B1-940D-89CD-0D30-918BE31EB71A}"/>
                </a:ext>
              </a:extLst>
            </p:cNvPr>
            <p:cNvSpPr/>
            <p:nvPr/>
          </p:nvSpPr>
          <p:spPr>
            <a:xfrm>
              <a:off x="889000" y="358010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2D28E3C3-81E1-C79C-241F-B196F3CE18A9}"/>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43054291-170E-F061-BBB2-948DFBD1270E}"/>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8935081E-D0D9-93E4-D80A-7403066D9697}"/>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mc:Choice xmlns:a14="http://schemas.microsoft.com/office/drawing/2010/main" Requires="a14">
            <p:sp>
              <p:nvSpPr>
                <p:cNvPr id="10" name="Text 8">
                  <a:extLst>
                    <a:ext uri="{FF2B5EF4-FFF2-40B4-BE49-F238E27FC236}">
                      <a16:creationId xmlns:a16="http://schemas.microsoft.com/office/drawing/2014/main" id="{57B84B82-BBC8-A3F5-8625-698F84F48256}"/>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p:sp>
              <p:nvSpPr>
                <p:cNvPr id="10" name="Text 8">
                  <a:extLst>
                    <a:ext uri="{FF2B5EF4-FFF2-40B4-BE49-F238E27FC236}">
                      <a16:creationId xmlns:a16="http://schemas.microsoft.com/office/drawing/2014/main" id="{57B84B82-BBC8-A3F5-8625-698F84F48256}"/>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l="-2740" t="-11538" b="-50000"/>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514D929F-A5A8-72FE-1ECC-EDB4014156E6}"/>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65F24D8B-B13C-7FD1-190C-5301D8D1A299}"/>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5ACC1E75-9078-C724-5778-3FCE583BEA8C}"/>
                </a:ext>
              </a:extLst>
            </p:cNvPr>
            <p:cNvSpPr/>
            <p:nvPr/>
          </p:nvSpPr>
          <p:spPr>
            <a:xfrm>
              <a:off x="6578893" y="1888255"/>
              <a:ext cx="1717365"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82335239-82D8-9EA2-7785-1E916AF55D6D}"/>
                </a:ext>
              </a:extLst>
            </p:cNvPr>
            <p:cNvSpPr txBox="1"/>
            <p:nvPr/>
          </p:nvSpPr>
          <p:spPr>
            <a:xfrm>
              <a:off x="6629692" y="1981189"/>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18" name="Text 16">
                  <a:extLst>
                    <a:ext uri="{FF2B5EF4-FFF2-40B4-BE49-F238E27FC236}">
                      <a16:creationId xmlns:a16="http://schemas.microsoft.com/office/drawing/2014/main" id="{2CDF4994-AE98-6CC1-08EF-952D824381CB}"/>
                    </a:ext>
                  </a:extLst>
                </p:cNvPr>
                <p:cNvSpPr txBox="1"/>
                <p:nvPr/>
              </p:nvSpPr>
              <p:spPr>
                <a:xfrm>
                  <a:off x="6629692" y="2338173"/>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18" name="Text 16">
                  <a:extLst>
                    <a:ext uri="{FF2B5EF4-FFF2-40B4-BE49-F238E27FC236}">
                      <a16:creationId xmlns:a16="http://schemas.microsoft.com/office/drawing/2014/main" id="{2CDF4994-AE98-6CC1-08EF-952D824381CB}"/>
                    </a:ext>
                  </a:extLst>
                </p:cNvPr>
                <p:cNvSpPr txBox="1">
                  <a:spLocks noRot="1" noChangeAspect="1" noMove="1" noResize="1" noEditPoints="1" noAdjustHandles="1" noChangeArrowheads="1" noChangeShapeType="1" noTextEdit="1"/>
                </p:cNvSpPr>
                <p:nvPr/>
              </p:nvSpPr>
              <p:spPr>
                <a:xfrm>
                  <a:off x="6629692" y="2338173"/>
                  <a:ext cx="1656303" cy="355600"/>
                </a:xfrm>
                <a:prstGeom prst="rect">
                  <a:avLst/>
                </a:prstGeom>
                <a:blipFill>
                  <a:blip r:embed="rId4"/>
                  <a:stretch>
                    <a:fillRect t="-3846"/>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1BA8370D-77FC-6C26-A4EF-F3AE5457D626}"/>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CA1108B1-FBD0-9B5A-00FB-8C7A1D5D8183}"/>
                </a:ext>
              </a:extLst>
            </p:cNvPr>
            <p:cNvSpPr/>
            <p:nvPr/>
          </p:nvSpPr>
          <p:spPr>
            <a:xfrm>
              <a:off x="3193479" y="35560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4892E880-93C6-2CB7-4CE0-50CB9FDEE7F6}"/>
                </a:ext>
              </a:extLst>
            </p:cNvPr>
            <p:cNvSpPr txBox="1"/>
            <p:nvPr/>
          </p:nvSpPr>
          <p:spPr>
            <a:xfrm>
              <a:off x="3244107" y="36183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mc:Choice xmlns:a14="http://schemas.microsoft.com/office/drawing/2010/main" Requires="a14">
            <p:sp>
              <p:nvSpPr>
                <p:cNvPr id="27" name="Text 25">
                  <a:extLst>
                    <a:ext uri="{FF2B5EF4-FFF2-40B4-BE49-F238E27FC236}">
                      <a16:creationId xmlns:a16="http://schemas.microsoft.com/office/drawing/2014/main" id="{75D7A389-8F73-23BA-BAA2-7370D8DCA855}"/>
                    </a:ext>
                  </a:extLst>
                </p:cNvPr>
                <p:cNvSpPr txBox="1"/>
                <p:nvPr/>
              </p:nvSpPr>
              <p:spPr>
                <a:xfrm>
                  <a:off x="3212357" y="38705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p:sp>
              <p:nvSpPr>
                <p:cNvPr id="27" name="Text 25">
                  <a:extLst>
                    <a:ext uri="{FF2B5EF4-FFF2-40B4-BE49-F238E27FC236}">
                      <a16:creationId xmlns:a16="http://schemas.microsoft.com/office/drawing/2014/main" id="{75D7A389-8F73-23BA-BAA2-7370D8DCA855}"/>
                    </a:ext>
                  </a:extLst>
                </p:cNvPr>
                <p:cNvSpPr txBox="1">
                  <a:spLocks noRot="1" noChangeAspect="1" noMove="1" noResize="1" noEditPoints="1" noAdjustHandles="1" noChangeArrowheads="1" noChangeShapeType="1" noTextEdit="1"/>
                </p:cNvSpPr>
                <p:nvPr/>
              </p:nvSpPr>
              <p:spPr>
                <a:xfrm>
                  <a:off x="3212357" y="38705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853DC19E-75CB-02CC-4E34-BC96C005B415}"/>
                </a:ext>
              </a:extLst>
            </p:cNvPr>
            <p:cNvSpPr/>
            <p:nvPr/>
          </p:nvSpPr>
          <p:spPr>
            <a:xfrm>
              <a:off x="6578893" y="3281913"/>
              <a:ext cx="1707103"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63F31AE1-E80F-885D-21BB-22E54514E40F}"/>
                </a:ext>
              </a:extLst>
            </p:cNvPr>
            <p:cNvSpPr/>
            <p:nvPr/>
          </p:nvSpPr>
          <p:spPr>
            <a:xfrm>
              <a:off x="6606523" y="4339110"/>
              <a:ext cx="1717365" cy="863601"/>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6973FBFB-2C36-AD76-948E-E96B059829F7}"/>
                </a:ext>
              </a:extLst>
            </p:cNvPr>
            <p:cNvSpPr txBox="1"/>
            <p:nvPr/>
          </p:nvSpPr>
          <p:spPr>
            <a:xfrm>
              <a:off x="6650766" y="4427346"/>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mc:Choice xmlns:a14="http://schemas.microsoft.com/office/drawing/2010/main" Requires="a14">
            <p:sp>
              <p:nvSpPr>
                <p:cNvPr id="35" name="Text 33">
                  <a:extLst>
                    <a:ext uri="{FF2B5EF4-FFF2-40B4-BE49-F238E27FC236}">
                      <a16:creationId xmlns:a16="http://schemas.microsoft.com/office/drawing/2014/main" id="{C8830A30-45A0-D79F-F85A-D5AFA4002986}"/>
                    </a:ext>
                  </a:extLst>
                </p:cNvPr>
                <p:cNvSpPr txBox="1"/>
                <p:nvPr/>
              </p:nvSpPr>
              <p:spPr>
                <a:xfrm>
                  <a:off x="6657323" y="4839239"/>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p:sp>
              <p:nvSpPr>
                <p:cNvPr id="35" name="Text 33">
                  <a:extLst>
                    <a:ext uri="{FF2B5EF4-FFF2-40B4-BE49-F238E27FC236}">
                      <a16:creationId xmlns:a16="http://schemas.microsoft.com/office/drawing/2014/main" id="{C8830A30-45A0-D79F-F85A-D5AFA4002986}"/>
                    </a:ext>
                  </a:extLst>
                </p:cNvPr>
                <p:cNvSpPr txBox="1">
                  <a:spLocks noRot="1" noChangeAspect="1" noMove="1" noResize="1" noEditPoints="1" noAdjustHandles="1" noChangeArrowheads="1" noChangeShapeType="1" noTextEdit="1"/>
                </p:cNvSpPr>
                <p:nvPr/>
              </p:nvSpPr>
              <p:spPr>
                <a:xfrm>
                  <a:off x="6657323" y="4839239"/>
                  <a:ext cx="1625772" cy="287270"/>
                </a:xfrm>
                <a:prstGeom prst="rect">
                  <a:avLst/>
                </a:prstGeom>
                <a:blipFill>
                  <a:blip r:embed="rId6"/>
                  <a:stretch>
                    <a:fillRect b="-19048"/>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7C023E92-EC9F-B07E-C416-99B2B00592F1}"/>
                </a:ext>
              </a:extLst>
            </p:cNvPr>
            <p:cNvSpPr/>
            <p:nvPr/>
          </p:nvSpPr>
          <p:spPr>
            <a:xfrm>
              <a:off x="6535823" y="5516866"/>
              <a:ext cx="2312974"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9C82E522-9017-E0CD-415C-88A7EB248BB3}"/>
                </a:ext>
              </a:extLst>
            </p:cNvPr>
            <p:cNvSpPr txBox="1"/>
            <p:nvPr/>
          </p:nvSpPr>
          <p:spPr>
            <a:xfrm>
              <a:off x="6611656" y="5578527"/>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Teorico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0A2B0D48-BD2D-B5FA-8E51-684F6AAD7605}"/>
                </a:ext>
              </a:extLst>
            </p:cNvPr>
            <p:cNvSpPr/>
            <p:nvPr/>
          </p:nvSpPr>
          <p:spPr>
            <a:xfrm>
              <a:off x="9005260" y="5524806"/>
              <a:ext cx="2312974"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mc:Choice xmlns:a14="http://schemas.microsoft.com/office/drawing/2010/main" Requires="a14">
            <p:sp>
              <p:nvSpPr>
                <p:cNvPr id="42" name="Text 40">
                  <a:extLst>
                    <a:ext uri="{FF2B5EF4-FFF2-40B4-BE49-F238E27FC236}">
                      <a16:creationId xmlns:a16="http://schemas.microsoft.com/office/drawing/2014/main" id="{8C0B3E6A-0ADA-2454-38C7-7770D1A78833}"/>
                    </a:ext>
                  </a:extLst>
                </p:cNvPr>
                <p:cNvSpPr txBox="1"/>
                <p:nvPr/>
              </p:nvSpPr>
              <p:spPr>
                <a:xfrm>
                  <a:off x="6611655" y="5841927"/>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p:sp>
              <p:nvSpPr>
                <p:cNvPr id="42" name="Text 40">
                  <a:extLst>
                    <a:ext uri="{FF2B5EF4-FFF2-40B4-BE49-F238E27FC236}">
                      <a16:creationId xmlns:a16="http://schemas.microsoft.com/office/drawing/2014/main" id="{8C0B3E6A-0ADA-2454-38C7-7770D1A78833}"/>
                    </a:ext>
                  </a:extLst>
                </p:cNvPr>
                <p:cNvSpPr txBox="1">
                  <a:spLocks noRot="1" noChangeAspect="1" noMove="1" noResize="1" noEditPoints="1" noAdjustHandles="1" noChangeArrowheads="1" noChangeShapeType="1" noTextEdit="1"/>
                </p:cNvSpPr>
                <p:nvPr/>
              </p:nvSpPr>
              <p:spPr>
                <a:xfrm>
                  <a:off x="6611655" y="5841927"/>
                  <a:ext cx="2161309" cy="261497"/>
                </a:xfrm>
                <a:prstGeom prst="rect">
                  <a:avLst/>
                </a:prstGeom>
                <a:blipFill>
                  <a:blip r:embed="rId7"/>
                  <a:stretch>
                    <a:fillRect b="-15000"/>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38227DBC-22B9-BC1B-77C9-5C3B65765592}"/>
                </a:ext>
              </a:extLst>
            </p:cNvPr>
            <p:cNvSpPr txBox="1"/>
            <p:nvPr/>
          </p:nvSpPr>
          <p:spPr>
            <a:xfrm>
              <a:off x="9089691" y="5602019"/>
              <a:ext cx="2158620" cy="20164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mc:Choice xmlns:a14="http://schemas.microsoft.com/office/drawing/2010/main" Requires="a14">
            <p:sp>
              <p:nvSpPr>
                <p:cNvPr id="45" name="Text 43">
                  <a:extLst>
                    <a:ext uri="{FF2B5EF4-FFF2-40B4-BE49-F238E27FC236}">
                      <a16:creationId xmlns:a16="http://schemas.microsoft.com/office/drawing/2014/main" id="{0929A07E-69A1-24AF-628B-639BC901F436}"/>
                    </a:ext>
                  </a:extLst>
                </p:cNvPr>
                <p:cNvSpPr txBox="1"/>
                <p:nvPr/>
              </p:nvSpPr>
              <p:spPr>
                <a:xfrm>
                  <a:off x="9129265" y="5827833"/>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p:sp>
              <p:nvSpPr>
                <p:cNvPr id="45" name="Text 43">
                  <a:extLst>
                    <a:ext uri="{FF2B5EF4-FFF2-40B4-BE49-F238E27FC236}">
                      <a16:creationId xmlns:a16="http://schemas.microsoft.com/office/drawing/2014/main" id="{0929A07E-69A1-24AF-628B-639BC901F436}"/>
                    </a:ext>
                  </a:extLst>
                </p:cNvPr>
                <p:cNvSpPr txBox="1">
                  <a:spLocks noRot="1" noChangeAspect="1" noMove="1" noResize="1" noEditPoints="1" noAdjustHandles="1" noChangeArrowheads="1" noChangeShapeType="1" noTextEdit="1"/>
                </p:cNvSpPr>
                <p:nvPr/>
              </p:nvSpPr>
              <p:spPr>
                <a:xfrm>
                  <a:off x="9129265" y="5827833"/>
                  <a:ext cx="1990920" cy="259174"/>
                </a:xfrm>
                <a:prstGeom prst="rect">
                  <a:avLst/>
                </a:prstGeom>
                <a:blipFill>
                  <a:blip r:embed="rId8"/>
                  <a:stretch>
                    <a:fillRect b="-25000"/>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9" name="Text 25">
                  <a:extLst>
                    <a:ext uri="{FF2B5EF4-FFF2-40B4-BE49-F238E27FC236}">
                      <a16:creationId xmlns:a16="http://schemas.microsoft.com/office/drawing/2014/main" id="{E241BF3B-97CB-5463-00C7-5D230A8FAF21}"/>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p:sp>
              <p:nvSpPr>
                <p:cNvPr id="49" name="Text 25">
                  <a:extLst>
                    <a:ext uri="{FF2B5EF4-FFF2-40B4-BE49-F238E27FC236}">
                      <a16:creationId xmlns:a16="http://schemas.microsoft.com/office/drawing/2014/main" id="{E241BF3B-97CB-5463-00C7-5D230A8FAF21}"/>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2C10E700-FBA1-AAAB-E9FA-5949E8D5FC88}"/>
                </a:ext>
              </a:extLst>
            </p:cNvPr>
            <p:cNvSpPr txBox="1"/>
            <p:nvPr/>
          </p:nvSpPr>
          <p:spPr>
            <a:xfrm>
              <a:off x="6704138" y="3390319"/>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51" name="Text 29">
                  <a:extLst>
                    <a:ext uri="{FF2B5EF4-FFF2-40B4-BE49-F238E27FC236}">
                      <a16:creationId xmlns:a16="http://schemas.microsoft.com/office/drawing/2014/main" id="{18DEFCDD-3478-33BE-566B-C40DB9E0FFC9}"/>
                    </a:ext>
                  </a:extLst>
                </p:cNvPr>
                <p:cNvSpPr txBox="1"/>
                <p:nvPr/>
              </p:nvSpPr>
              <p:spPr>
                <a:xfrm>
                  <a:off x="6667049" y="3692454"/>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51" name="Text 29">
                  <a:extLst>
                    <a:ext uri="{FF2B5EF4-FFF2-40B4-BE49-F238E27FC236}">
                      <a16:creationId xmlns:a16="http://schemas.microsoft.com/office/drawing/2014/main" id="{18DEFCDD-3478-33BE-566B-C40DB9E0FFC9}"/>
                    </a:ext>
                  </a:extLst>
                </p:cNvPr>
                <p:cNvSpPr txBox="1">
                  <a:spLocks noRot="1" noChangeAspect="1" noMove="1" noResize="1" noEditPoints="1" noAdjustHandles="1" noChangeArrowheads="1" noChangeShapeType="1" noTextEdit="1"/>
                </p:cNvSpPr>
                <p:nvPr/>
              </p:nvSpPr>
              <p:spPr>
                <a:xfrm>
                  <a:off x="6667049" y="3692454"/>
                  <a:ext cx="1581858" cy="355600"/>
                </a:xfrm>
                <a:prstGeom prst="rect">
                  <a:avLst/>
                </a:prstGeom>
                <a:blipFill>
                  <a:blip r:embed="rId10"/>
                  <a:stretch>
                    <a:fillRect/>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1292FA0B-D8FA-ACFB-79D8-0A369566A927}"/>
                </a:ext>
              </a:extLst>
            </p:cNvPr>
            <p:cNvSpPr/>
            <p:nvPr/>
          </p:nvSpPr>
          <p:spPr>
            <a:xfrm>
              <a:off x="8664850" y="3149600"/>
              <a:ext cx="2692400" cy="11430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9B40A9E3-9C77-B51E-8ED3-B046CD02944D}"/>
                </a:ext>
              </a:extLst>
            </p:cNvPr>
            <p:cNvSpPr txBox="1"/>
            <p:nvPr/>
          </p:nvSpPr>
          <p:spPr>
            <a:xfrm>
              <a:off x="8715650" y="32512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mc:Choice xmlns:a14="http://schemas.microsoft.com/office/drawing/2010/main" Requires="a14">
            <p:sp>
              <p:nvSpPr>
                <p:cNvPr id="55" name="Text 29">
                  <a:extLst>
                    <a:ext uri="{FF2B5EF4-FFF2-40B4-BE49-F238E27FC236}">
                      <a16:creationId xmlns:a16="http://schemas.microsoft.com/office/drawing/2014/main" id="{2C61025B-90E0-5589-BBD2-494129154238}"/>
                    </a:ext>
                  </a:extLst>
                </p:cNvPr>
                <p:cNvSpPr txBox="1"/>
                <p:nvPr/>
              </p:nvSpPr>
              <p:spPr>
                <a:xfrm>
                  <a:off x="8715650" y="35560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p:sp>
              <p:nvSpPr>
                <p:cNvPr id="55" name="Text 29">
                  <a:extLst>
                    <a:ext uri="{FF2B5EF4-FFF2-40B4-BE49-F238E27FC236}">
                      <a16:creationId xmlns:a16="http://schemas.microsoft.com/office/drawing/2014/main" id="{2C61025B-90E0-5589-BBD2-494129154238}"/>
                    </a:ext>
                  </a:extLst>
                </p:cNvPr>
                <p:cNvSpPr txBox="1">
                  <a:spLocks noRot="1" noChangeAspect="1" noMove="1" noResize="1" noEditPoints="1" noAdjustHandles="1" noChangeArrowheads="1" noChangeShapeType="1" noTextEdit="1"/>
                </p:cNvSpPr>
                <p:nvPr/>
              </p:nvSpPr>
              <p:spPr>
                <a:xfrm>
                  <a:off x="8715650" y="3556000"/>
                  <a:ext cx="2590800" cy="660400"/>
                </a:xfrm>
                <a:prstGeom prst="rect">
                  <a:avLst/>
                </a:prstGeom>
                <a:blipFill>
                  <a:blip r:embed="rId11"/>
                  <a:stretch>
                    <a:fillRect t="-2083"/>
                  </a:stretch>
                </a:blipFill>
                <a:ln/>
              </p:spPr>
              <p:txBody>
                <a:bodyPr/>
                <a:lstStyle/>
                <a:p>
                  <a:r>
                    <a:rPr lang="en-CO">
                      <a:noFill/>
                    </a:rPr>
                    <a:t> </a:t>
                  </a:r>
                </a:p>
              </p:txBody>
            </p:sp>
          </mc:Fallback>
        </mc:AlternateContent>
        <p:cxnSp>
          <p:nvCxnSpPr>
            <p:cNvPr id="62" name="Elbow Connector 61">
              <a:extLst>
                <a:ext uri="{FF2B5EF4-FFF2-40B4-BE49-F238E27FC236}">
                  <a16:creationId xmlns:a16="http://schemas.microsoft.com/office/drawing/2014/main" id="{D599CBBC-DF15-5D45-9A57-8F2BB8C3630C}"/>
                </a:ext>
              </a:extLst>
            </p:cNvPr>
            <p:cNvCxnSpPr>
              <a:cxnSpLocks/>
              <a:stCxn id="25" idx="3"/>
              <a:endCxn id="33" idx="1"/>
            </p:cNvCxnSpPr>
            <p:nvPr/>
          </p:nvCxnSpPr>
          <p:spPr>
            <a:xfrm>
              <a:off x="4907978" y="3987801"/>
              <a:ext cx="1698545" cy="783109"/>
            </a:xfrm>
            <a:prstGeom prst="bentConnector3">
              <a:avLst>
                <a:gd name="adj1" fmla="val 68007"/>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B93F0B0-F107-04F6-4949-49DA3E83E592}"/>
                </a:ext>
              </a:extLst>
            </p:cNvPr>
            <p:cNvCxnSpPr>
              <a:cxnSpLocks/>
              <a:stCxn id="25" idx="3"/>
              <a:endCxn id="29" idx="1"/>
            </p:cNvCxnSpPr>
            <p:nvPr/>
          </p:nvCxnSpPr>
          <p:spPr>
            <a:xfrm flipV="1">
              <a:off x="4907978" y="3713714"/>
              <a:ext cx="1670914" cy="274087"/>
            </a:xfrm>
            <a:prstGeom prst="bentConnector3">
              <a:avLst>
                <a:gd name="adj1" fmla="val 6910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7870DC3D-11ED-79BE-6F8D-6F0CFF4CA90C}"/>
                </a:ext>
              </a:extLst>
            </p:cNvPr>
            <p:cNvCxnSpPr>
              <a:cxnSpLocks/>
              <a:stCxn id="8" idx="3"/>
              <a:endCxn id="12" idx="1"/>
            </p:cNvCxnSpPr>
            <p:nvPr/>
          </p:nvCxnSpPr>
          <p:spPr>
            <a:xfrm>
              <a:off x="2921000" y="2322944"/>
              <a:ext cx="266700" cy="2772"/>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9BA22C8-678D-E53D-1678-3D565132C5F9}"/>
                </a:ext>
              </a:extLst>
            </p:cNvPr>
            <p:cNvCxnSpPr>
              <a:cxnSpLocks/>
              <a:stCxn id="12" idx="3"/>
              <a:endCxn id="16" idx="1"/>
            </p:cNvCxnSpPr>
            <p:nvPr/>
          </p:nvCxnSpPr>
          <p:spPr>
            <a:xfrm flipV="1">
              <a:off x="5419718" y="2320056"/>
              <a:ext cx="1159175" cy="5661"/>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Elbow Connector 110">
              <a:extLst>
                <a:ext uri="{FF2B5EF4-FFF2-40B4-BE49-F238E27FC236}">
                  <a16:creationId xmlns:a16="http://schemas.microsoft.com/office/drawing/2014/main" id="{C477FA72-11BF-4257-A0C2-D6D0B83BC009}"/>
                </a:ext>
              </a:extLst>
            </p:cNvPr>
            <p:cNvCxnSpPr>
              <a:cxnSpLocks/>
              <a:stCxn id="16" idx="3"/>
              <a:endCxn id="53" idx="0"/>
            </p:cNvCxnSpPr>
            <p:nvPr/>
          </p:nvCxnSpPr>
          <p:spPr>
            <a:xfrm>
              <a:off x="8296257" y="2320056"/>
              <a:ext cx="1714793" cy="829544"/>
            </a:xfrm>
            <a:prstGeom prst="bentConnector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D57C44F0-D7FE-4937-7C15-1E5BCDED29B6}"/>
                </a:ext>
              </a:extLst>
            </p:cNvPr>
            <p:cNvCxnSpPr>
              <a:cxnSpLocks/>
              <a:stCxn id="29" idx="3"/>
              <a:endCxn id="53" idx="1"/>
            </p:cNvCxnSpPr>
            <p:nvPr/>
          </p:nvCxnSpPr>
          <p:spPr>
            <a:xfrm>
              <a:off x="8285995" y="3713714"/>
              <a:ext cx="378855" cy="7387"/>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C169791-64EC-3115-9B95-87297F9B10DC}"/>
                </a:ext>
              </a:extLst>
            </p:cNvPr>
            <p:cNvCxnSpPr>
              <a:cxnSpLocks/>
              <a:endCxn id="27" idx="1"/>
            </p:cNvCxnSpPr>
            <p:nvPr/>
          </p:nvCxnSpPr>
          <p:spPr>
            <a:xfrm>
              <a:off x="2960863" y="4041138"/>
              <a:ext cx="251494" cy="7186"/>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24" name="Elbow Connector 123">
              <a:extLst>
                <a:ext uri="{FF2B5EF4-FFF2-40B4-BE49-F238E27FC236}">
                  <a16:creationId xmlns:a16="http://schemas.microsoft.com/office/drawing/2014/main" id="{EB50C286-C3EB-2E72-C3B1-060C63FE7E53}"/>
                </a:ext>
              </a:extLst>
            </p:cNvPr>
            <p:cNvCxnSpPr>
              <a:cxnSpLocks/>
              <a:stCxn id="12" idx="3"/>
              <a:endCxn id="33" idx="1"/>
            </p:cNvCxnSpPr>
            <p:nvPr/>
          </p:nvCxnSpPr>
          <p:spPr>
            <a:xfrm>
              <a:off x="5419718" y="2325716"/>
              <a:ext cx="1186805" cy="2445194"/>
            </a:xfrm>
            <a:prstGeom prst="bentConnector3">
              <a:avLst>
                <a:gd name="adj1" fmla="val 1078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 21">
                  <a:extLst>
                    <a:ext uri="{FF2B5EF4-FFF2-40B4-BE49-F238E27FC236}">
                      <a16:creationId xmlns:a16="http://schemas.microsoft.com/office/drawing/2014/main" id="{202BF843-8277-127E-86BF-29BC2C9FA591}"/>
                    </a:ext>
                  </a:extLst>
                </p:cNvPr>
                <p:cNvSpPr txBox="1"/>
                <p:nvPr/>
              </p:nvSpPr>
              <p:spPr>
                <a:xfrm>
                  <a:off x="939800" y="3951605"/>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p:sp>
              <p:nvSpPr>
                <p:cNvPr id="23" name="Text 21">
                  <a:extLst>
                    <a:ext uri="{FF2B5EF4-FFF2-40B4-BE49-F238E27FC236}">
                      <a16:creationId xmlns:a16="http://schemas.microsoft.com/office/drawing/2014/main" id="{202BF843-8277-127E-86BF-29BC2C9FA591}"/>
                    </a:ext>
                  </a:extLst>
                </p:cNvPr>
                <p:cNvSpPr txBox="1">
                  <a:spLocks noRot="1" noChangeAspect="1" noMove="1" noResize="1" noEditPoints="1" noAdjustHandles="1" noChangeArrowheads="1" noChangeShapeType="1" noTextEdit="1"/>
                </p:cNvSpPr>
                <p:nvPr/>
              </p:nvSpPr>
              <p:spPr>
                <a:xfrm>
                  <a:off x="939800" y="3951605"/>
                  <a:ext cx="1930400" cy="355600"/>
                </a:xfrm>
                <a:prstGeom prst="rect">
                  <a:avLst/>
                </a:prstGeom>
                <a:blipFill>
                  <a:blip r:embed="rId12"/>
                  <a:stretch>
                    <a:fillRect t="-7692"/>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13A223BF-F33A-8935-8235-FD12E153BC3C}"/>
                </a:ext>
              </a:extLst>
            </p:cNvPr>
            <p:cNvSpPr txBox="1"/>
            <p:nvPr/>
          </p:nvSpPr>
          <p:spPr>
            <a:xfrm>
              <a:off x="939800" y="368170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grpSp>
      <p:sp>
        <p:nvSpPr>
          <p:cNvPr id="301" name="Barra superior">
            <a:extLst>
              <a:ext uri="{FF2B5EF4-FFF2-40B4-BE49-F238E27FC236}">
                <a16:creationId xmlns:a16="http://schemas.microsoft.com/office/drawing/2014/main" id="{CAB99F84-7892-FD71-8456-2D6FD88C96EF}"/>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4972EFCD-9117-6408-EE9E-6260F18D48F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BB20343E-177C-02A4-500A-EF60FBF63EC0}"/>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a:extLst>
              <a:ext uri="{FF2B5EF4-FFF2-40B4-BE49-F238E27FC236}">
                <a16:creationId xmlns:a16="http://schemas.microsoft.com/office/drawing/2014/main" id="{27F6EB80-C952-1A2B-D8DC-7A3BB8A6ACA0}"/>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a:extLst>
              <a:ext uri="{FF2B5EF4-FFF2-40B4-BE49-F238E27FC236}">
                <a16:creationId xmlns:a16="http://schemas.microsoft.com/office/drawing/2014/main" id="{31766873-11D4-D8AA-C257-ECB00E8C37A2}"/>
              </a:ext>
            </a:extLst>
          </p:cNvPr>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a:extLst>
              <a:ext uri="{FF2B5EF4-FFF2-40B4-BE49-F238E27FC236}">
                <a16:creationId xmlns:a16="http://schemas.microsoft.com/office/drawing/2014/main" id="{DE7A3B71-0C3D-78E8-7BF0-34495146EE34}"/>
              </a:ext>
            </a:extLst>
          </p:cNvPr>
          <p:cNvSpPr/>
          <p:nvPr/>
        </p:nvSpPr>
        <p:spPr>
          <a:xfrm>
            <a:off x="10566400" y="66040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10</a:t>
            </a:r>
          </a:p>
        </p:txBody>
      </p:sp>
      <p:pic>
        <p:nvPicPr>
          <p:cNvPr id="307" name="Copied Picture 307" descr="Universidad de los Andes">
            <a:extLst>
              <a:ext uri="{FF2B5EF4-FFF2-40B4-BE49-F238E27FC236}">
                <a16:creationId xmlns:a16="http://schemas.microsoft.com/office/drawing/2014/main" id="{D167A27B-8DC2-9072-DE27-704A0E202F79}"/>
              </a:ext>
            </a:extLst>
          </p:cNvPr>
          <p:cNvPicPr>
            <a:picLocks noChangeAspect="1"/>
          </p:cNvPicPr>
          <p:nvPr/>
        </p:nvPicPr>
        <p:blipFill>
          <a:blip r:embed="rId13"/>
          <a:srcRect t="-117" b="-117"/>
          <a:stretch/>
        </p:blipFill>
        <p:spPr>
          <a:xfrm>
            <a:off x="10121900" y="254000"/>
            <a:ext cx="1257300" cy="381000"/>
          </a:xfrm>
          <a:prstGeom prst="rect">
            <a:avLst/>
          </a:prstGeom>
        </p:spPr>
      </p:pic>
      <p:cxnSp>
        <p:nvCxnSpPr>
          <p:cNvPr id="37" name="Straight Arrow Connector 36">
            <a:extLst>
              <a:ext uri="{FF2B5EF4-FFF2-40B4-BE49-F238E27FC236}">
                <a16:creationId xmlns:a16="http://schemas.microsoft.com/office/drawing/2014/main" id="{1F01D7B6-093F-50C4-0ED1-F188411D0E80}"/>
              </a:ext>
            </a:extLst>
          </p:cNvPr>
          <p:cNvCxnSpPr>
            <a:stCxn id="33" idx="2"/>
          </p:cNvCxnSpPr>
          <p:nvPr/>
        </p:nvCxnSpPr>
        <p:spPr>
          <a:xfrm flipH="1">
            <a:off x="7608651" y="5417191"/>
            <a:ext cx="1" cy="28848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E65C641-4FF5-623A-2EAD-B5C77132B816}"/>
              </a:ext>
            </a:extLst>
          </p:cNvPr>
          <p:cNvCxnSpPr>
            <a:stCxn id="53" idx="2"/>
          </p:cNvCxnSpPr>
          <p:nvPr/>
        </p:nvCxnSpPr>
        <p:spPr>
          <a:xfrm>
            <a:off x="10039945" y="4602061"/>
            <a:ext cx="0" cy="110361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9136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ADD22-A01D-D3EF-7E10-A890DB5284E6}"/>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4E6DE08-8EEB-44EB-28CF-F31629C52DD1}"/>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local</a:t>
            </a:r>
          </a:p>
        </p:txBody>
      </p:sp>
      <p:grpSp>
        <p:nvGrpSpPr>
          <p:cNvPr id="300" name="Diagrama pipeline">
            <a:extLst>
              <a:ext uri="{FF2B5EF4-FFF2-40B4-BE49-F238E27FC236}">
                <a16:creationId xmlns:a16="http://schemas.microsoft.com/office/drawing/2014/main" id="{92A2C4CD-9F99-DE7D-1A08-429491F8AE60}"/>
              </a:ext>
            </a:extLst>
          </p:cNvPr>
          <p:cNvGrpSpPr/>
          <p:nvPr/>
        </p:nvGrpSpPr>
        <p:grpSpPr>
          <a:xfrm>
            <a:off x="812800" y="1803400"/>
            <a:ext cx="10566400" cy="4381500"/>
            <a:chOff x="548640" y="1325880"/>
            <a:chExt cx="11064240" cy="4892040"/>
          </a:xfrm>
        </p:grpSpPr>
        <p:sp>
          <p:nvSpPr>
            <p:cNvPr id="6" name="Shape 4">
              <a:extLst>
                <a:ext uri="{FF2B5EF4-FFF2-40B4-BE49-F238E27FC236}">
                  <a16:creationId xmlns:a16="http://schemas.microsoft.com/office/drawing/2014/main" id="{5B00778C-7602-3FDC-11EE-8881759D5703}"/>
                </a:ext>
              </a:extLst>
            </p:cNvPr>
            <p:cNvSpPr/>
            <p:nvPr/>
          </p:nvSpPr>
          <p:spPr>
            <a:xfrm>
              <a:off x="548640" y="1325880"/>
              <a:ext cx="11064240" cy="4892040"/>
            </a:xfrm>
            <a:prstGeom prst="roundRect">
              <a:avLst>
                <a:gd name="adj" fmla="val 2243"/>
              </a:avLst>
            </a:prstGeom>
            <a:solidFill>
              <a:srgbClr val="F3F3F2"/>
            </a:solidFill>
            <a:ln w="12700">
              <a:solidFill>
                <a:srgbClr val="F3F3F2"/>
              </a:solidFill>
              <a:prstDash val="solid"/>
            </a:ln>
          </p:spPr>
          <p:txBody>
            <a:bodyPr/>
            <a:lstStyle/>
            <a:p>
              <a:endParaRPr lang="es-ES_tradnl" noProof="0" dirty="0"/>
            </a:p>
          </p:txBody>
        </p:sp>
        <p:sp>
          <p:nvSpPr>
            <p:cNvPr id="19" name="Shape 17">
              <a:extLst>
                <a:ext uri="{FF2B5EF4-FFF2-40B4-BE49-F238E27FC236}">
                  <a16:creationId xmlns:a16="http://schemas.microsoft.com/office/drawing/2014/main" id="{ABF57545-909D-24BA-8DDE-1E5F32C62AC6}"/>
                </a:ext>
              </a:extLst>
            </p:cNvPr>
            <p:cNvSpPr/>
            <p:nvPr/>
          </p:nvSpPr>
          <p:spPr>
            <a:xfrm>
              <a:off x="548640" y="3175000"/>
              <a:ext cx="11064240" cy="1549400"/>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CF85E8FD-BE9A-45F9-4EC4-4ED07EC5106D}"/>
                </a:ext>
              </a:extLst>
            </p:cNvPr>
            <p:cNvSpPr txBox="1"/>
            <p:nvPr/>
          </p:nvSpPr>
          <p:spPr>
            <a:xfrm>
              <a:off x="774700" y="1397000"/>
              <a:ext cx="7620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variable K ∈ {3, 4, 5, 10}</a:t>
              </a:r>
              <a:endParaRPr lang="es-ES_tradnl" sz="1500" noProof="0" dirty="0"/>
            </a:p>
          </p:txBody>
        </p:sp>
        <p:sp>
          <p:nvSpPr>
            <p:cNvPr id="20" name="Text 18">
              <a:extLst>
                <a:ext uri="{FF2B5EF4-FFF2-40B4-BE49-F238E27FC236}">
                  <a16:creationId xmlns:a16="http://schemas.microsoft.com/office/drawing/2014/main" id="{8FBB7728-1463-85C3-34ED-8153586A3D82}"/>
                </a:ext>
              </a:extLst>
            </p:cNvPr>
            <p:cNvSpPr txBox="1"/>
            <p:nvPr/>
          </p:nvSpPr>
          <p:spPr>
            <a:xfrm>
              <a:off x="774700" y="3251200"/>
              <a:ext cx="3048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par {i, j}, i &lt; j</a:t>
              </a:r>
              <a:endParaRPr lang="es-ES_tradnl" sz="1400" noProof="0" dirty="0"/>
            </a:p>
          </p:txBody>
        </p:sp>
        <p:sp>
          <p:nvSpPr>
            <p:cNvPr id="400" name="Caja">
              <a:extLst>
                <a:ext uri="{FF2B5EF4-FFF2-40B4-BE49-F238E27FC236}">
                  <a16:creationId xmlns:a16="http://schemas.microsoft.com/office/drawing/2014/main" id="{35504B3C-9DBC-C591-B661-CDA6486F7694}"/>
                </a:ext>
              </a:extLst>
            </p:cNvPr>
            <p:cNvSpPr/>
            <p:nvPr/>
          </p:nvSpPr>
          <p:spPr>
            <a:xfrm>
              <a:off x="1651000" y="1803400"/>
              <a:ext cx="4318000" cy="11430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1" name="Titulo caja">
              <a:extLst>
                <a:ext uri="{FF2B5EF4-FFF2-40B4-BE49-F238E27FC236}">
                  <a16:creationId xmlns:a16="http://schemas.microsoft.com/office/drawing/2014/main" id="{7F815DA4-6399-F59F-16E1-1C17253922D0}"/>
                </a:ext>
              </a:extLst>
            </p:cNvPr>
            <p:cNvSpPr txBox="1"/>
            <p:nvPr/>
          </p:nvSpPr>
          <p:spPr>
            <a:xfrm>
              <a:off x="1651000" y="1892300"/>
              <a:ext cx="4318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p>
          </p:txBody>
        </p:sp>
        <p:sp>
          <p:nvSpPr>
            <p:cNvPr id="402" name="Caja">
              <a:extLst>
                <a:ext uri="{FF2B5EF4-FFF2-40B4-BE49-F238E27FC236}">
                  <a16:creationId xmlns:a16="http://schemas.microsoft.com/office/drawing/2014/main" id="{94930197-B6D4-3DFF-462C-3303D8B348B8}"/>
                </a:ext>
              </a:extLst>
            </p:cNvPr>
            <p:cNvSpPr/>
            <p:nvPr/>
          </p:nvSpPr>
          <p:spPr>
            <a:xfrm>
              <a:off x="6858000" y="1803400"/>
              <a:ext cx="3810000" cy="1143000"/>
            </a:xfrm>
            <a:prstGeom prst="roundRect">
              <a:avLst>
                <a:gd name="adj" fmla="val 8421"/>
              </a:avLst>
            </a:prstGeom>
            <a:solidFill>
              <a:srgbClr val="FFEE00"/>
            </a:solidFill>
            <a:ln w="12700">
              <a:solidFill>
                <a:srgbClr val="FFEE00"/>
              </a:solidFill>
              <a:prstDash val="solid"/>
            </a:ln>
          </p:spPr>
          <p:txBody>
            <a:bodyPr/>
            <a:lstStyle/>
            <a:p>
              <a:endParaRPr lang="es-ES_tradnl" noProof="0" dirty="0"/>
            </a:p>
          </p:txBody>
        </p:sp>
        <p:sp>
          <p:nvSpPr>
            <p:cNvPr id="403" name="Titulo caja">
              <a:extLst>
                <a:ext uri="{FF2B5EF4-FFF2-40B4-BE49-F238E27FC236}">
                  <a16:creationId xmlns:a16="http://schemas.microsoft.com/office/drawing/2014/main" id="{6F39F402-903A-4FB3-CC87-C3E32D97470A}"/>
                </a:ext>
              </a:extLst>
            </p:cNvPr>
            <p:cNvSpPr txBox="1"/>
            <p:nvPr/>
          </p:nvSpPr>
          <p:spPr>
            <a:xfrm>
              <a:off x="6858000" y="18923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Depolarizante</a:t>
              </a:r>
              <a:endParaRPr lang="es-ES_tradnl" sz="1200" b="1" noProof="0" dirty="0">
                <a:solidFill>
                  <a:srgbClr val="1D1D1B"/>
                </a:solidFill>
                <a:latin typeface="DM Sans" pitchFamily="34" charset="0"/>
                <a:ea typeface="DM Sans" pitchFamily="34" charset="-122"/>
                <a:cs typeface="DM Sans" pitchFamily="34" charset="-120"/>
              </a:endParaRPr>
            </a:p>
          </p:txBody>
        </p:sp>
        <p:cxnSp>
          <p:nvCxnSpPr>
            <p:cNvPr id="404" name="Flecha">
              <a:extLst>
                <a:ext uri="{FF2B5EF4-FFF2-40B4-BE49-F238E27FC236}">
                  <a16:creationId xmlns:a16="http://schemas.microsoft.com/office/drawing/2014/main" id="{2D46C395-F563-05B1-4AA2-BC5A666ABC95}"/>
                </a:ext>
              </a:extLst>
            </p:cNvPr>
            <p:cNvCxnSpPr/>
            <p:nvPr/>
          </p:nvCxnSpPr>
          <p:spPr>
            <a:xfrm>
              <a:off x="5969000" y="2374900"/>
              <a:ext cx="889000" cy="0"/>
            </a:xfrm>
            <a:prstGeom prst="straightConnector1">
              <a:avLst/>
            </a:prstGeom>
            <a:ln w="15875">
              <a:solidFill>
                <a:srgbClr val="6E6E6C"/>
              </a:solidFill>
              <a:prstDash val="solid"/>
              <a:tailEnd type="triangle" w="med" len="med"/>
            </a:ln>
          </p:spPr>
        </p:cxnSp>
        <p:sp>
          <p:nvSpPr>
            <p:cNvPr id="405" name="Caja">
              <a:extLst>
                <a:ext uri="{FF2B5EF4-FFF2-40B4-BE49-F238E27FC236}">
                  <a16:creationId xmlns:a16="http://schemas.microsoft.com/office/drawing/2014/main" id="{99FC7B36-8B1A-E3D2-AD51-556130055EFC}"/>
                </a:ext>
              </a:extLst>
            </p:cNvPr>
            <p:cNvSpPr/>
            <p:nvPr/>
          </p:nvSpPr>
          <p:spPr>
            <a:xfrm>
              <a:off x="2222500" y="3606800"/>
              <a:ext cx="3175000" cy="9144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6" name="Titulo caja">
              <a:extLst>
                <a:ext uri="{FF2B5EF4-FFF2-40B4-BE49-F238E27FC236}">
                  <a16:creationId xmlns:a16="http://schemas.microsoft.com/office/drawing/2014/main" id="{D63EB8E3-FB12-7A95-3C12-DD23EFC25BF1}"/>
                </a:ext>
              </a:extLst>
            </p:cNvPr>
            <p:cNvSpPr txBox="1"/>
            <p:nvPr/>
          </p:nvSpPr>
          <p:spPr>
            <a:xfrm>
              <a:off x="2222500" y="3695700"/>
              <a:ext cx="3175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Distancia de traza</a:t>
              </a:r>
            </a:p>
          </p:txBody>
        </p:sp>
        <p:sp>
          <p:nvSpPr>
            <p:cNvPr id="407" name="Caja">
              <a:extLst>
                <a:ext uri="{FF2B5EF4-FFF2-40B4-BE49-F238E27FC236}">
                  <a16:creationId xmlns:a16="http://schemas.microsoft.com/office/drawing/2014/main" id="{15556C07-A229-C1EB-D36C-6E2794222A0A}"/>
                </a:ext>
              </a:extLst>
            </p:cNvPr>
            <p:cNvSpPr/>
            <p:nvPr/>
          </p:nvSpPr>
          <p:spPr>
            <a:xfrm>
              <a:off x="6350000" y="3606800"/>
              <a:ext cx="4826000" cy="914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08" name="Titulo caja">
              <a:extLst>
                <a:ext uri="{FF2B5EF4-FFF2-40B4-BE49-F238E27FC236}">
                  <a16:creationId xmlns:a16="http://schemas.microsoft.com/office/drawing/2014/main" id="{F4106212-DE16-AAAD-7B17-22ADE49CCDD7}"/>
                </a:ext>
              </a:extLst>
            </p:cNvPr>
            <p:cNvSpPr txBox="1"/>
            <p:nvPr/>
          </p:nvSpPr>
          <p:spPr>
            <a:xfrm>
              <a:off x="6350000" y="3695700"/>
              <a:ext cx="4826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a:t>
              </a:r>
              <a:r>
                <a:rPr lang="es-ES_tradnl" sz="1200" b="1" noProof="0" dirty="0" err="1">
                  <a:solidFill>
                    <a:srgbClr val="293470"/>
                  </a:solidFill>
                  <a:latin typeface="DM Sans" pitchFamily="34" charset="0"/>
                  <a:ea typeface="DM Sans" pitchFamily="34" charset="-122"/>
                  <a:cs typeface="DM Sans" pitchFamily="34" charset="-120"/>
                </a:rPr>
                <a:t>ij</a:t>
              </a:r>
              <a:endParaRPr lang="es-ES_tradnl" sz="1200" b="1" noProof="0" dirty="0">
                <a:solidFill>
                  <a:srgbClr val="293470"/>
                </a:solidFill>
                <a:latin typeface="DM Sans" pitchFamily="34" charset="0"/>
                <a:ea typeface="DM Sans" pitchFamily="34" charset="-122"/>
                <a:cs typeface="DM Sans" pitchFamily="34" charset="-120"/>
              </a:endParaRPr>
            </a:p>
          </p:txBody>
        </p:sp>
        <p:cxnSp>
          <p:nvCxnSpPr>
            <p:cNvPr id="409" name="Flecha">
              <a:extLst>
                <a:ext uri="{FF2B5EF4-FFF2-40B4-BE49-F238E27FC236}">
                  <a16:creationId xmlns:a16="http://schemas.microsoft.com/office/drawing/2014/main" id="{696814A3-AEA4-DBE5-8150-46A1E8613CBE}"/>
                </a:ext>
              </a:extLst>
            </p:cNvPr>
            <p:cNvCxnSpPr/>
            <p:nvPr/>
          </p:nvCxnSpPr>
          <p:spPr>
            <a:xfrm>
              <a:off x="3810000" y="2946400"/>
              <a:ext cx="0" cy="660400"/>
            </a:xfrm>
            <a:prstGeom prst="straightConnector1">
              <a:avLst/>
            </a:prstGeom>
            <a:ln w="15875">
              <a:solidFill>
                <a:srgbClr val="6E6E6C"/>
              </a:solidFill>
              <a:prstDash val="solid"/>
              <a:tailEnd type="triangle" w="med" len="med"/>
            </a:ln>
          </p:spPr>
        </p:cxnSp>
        <p:cxnSp>
          <p:nvCxnSpPr>
            <p:cNvPr id="410" name="Flecha">
              <a:extLst>
                <a:ext uri="{FF2B5EF4-FFF2-40B4-BE49-F238E27FC236}">
                  <a16:creationId xmlns:a16="http://schemas.microsoft.com/office/drawing/2014/main" id="{D155078A-6B25-F3D6-C99A-F47A1EC56E7B}"/>
                </a:ext>
              </a:extLst>
            </p:cNvPr>
            <p:cNvCxnSpPr/>
            <p:nvPr/>
          </p:nvCxnSpPr>
          <p:spPr>
            <a:xfrm>
              <a:off x="8763000" y="2946400"/>
              <a:ext cx="0" cy="660400"/>
            </a:xfrm>
            <a:prstGeom prst="straightConnector1">
              <a:avLst/>
            </a:prstGeom>
            <a:ln w="15875">
              <a:solidFill>
                <a:srgbClr val="6E6E6C"/>
              </a:solidFill>
              <a:prstDash val="solid"/>
              <a:tailEnd type="triangle" w="med" len="med"/>
            </a:ln>
          </p:spPr>
        </p:cxnSp>
        <p:sp>
          <p:nvSpPr>
            <p:cNvPr id="411" name="Caja">
              <a:extLst>
                <a:ext uri="{FF2B5EF4-FFF2-40B4-BE49-F238E27FC236}">
                  <a16:creationId xmlns:a16="http://schemas.microsoft.com/office/drawing/2014/main" id="{38A6C98A-15FA-819F-E357-94CE4B0E0411}"/>
                </a:ext>
              </a:extLst>
            </p:cNvPr>
            <p:cNvSpPr/>
            <p:nvPr/>
          </p:nvSpPr>
          <p:spPr>
            <a:xfrm>
              <a:off x="1651000" y="4953000"/>
              <a:ext cx="4318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2" name="Titulo caja">
              <a:extLst>
                <a:ext uri="{FF2B5EF4-FFF2-40B4-BE49-F238E27FC236}">
                  <a16:creationId xmlns:a16="http://schemas.microsoft.com/office/drawing/2014/main" id="{C640AE18-F400-8302-B6BD-AE0D5B502608}"/>
                </a:ext>
              </a:extLst>
            </p:cNvPr>
            <p:cNvSpPr txBox="1"/>
            <p:nvPr/>
          </p:nvSpPr>
          <p:spPr>
            <a:xfrm>
              <a:off x="1651000" y="5029200"/>
              <a:ext cx="4318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Teórico K</a:t>
              </a:r>
            </a:p>
          </p:txBody>
        </p:sp>
        <p:sp>
          <p:nvSpPr>
            <p:cNvPr id="413" name="Caja">
              <a:extLst>
                <a:ext uri="{FF2B5EF4-FFF2-40B4-BE49-F238E27FC236}">
                  <a16:creationId xmlns:a16="http://schemas.microsoft.com/office/drawing/2014/main" id="{193D7B09-3F9B-1DFE-9400-AE95100A4435}"/>
                </a:ext>
              </a:extLst>
            </p:cNvPr>
            <p:cNvSpPr/>
            <p:nvPr/>
          </p:nvSpPr>
          <p:spPr>
            <a:xfrm>
              <a:off x="6858000" y="4953000"/>
              <a:ext cx="3810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4" name="Titulo caja">
              <a:extLst>
                <a:ext uri="{FF2B5EF4-FFF2-40B4-BE49-F238E27FC236}">
                  <a16:creationId xmlns:a16="http://schemas.microsoft.com/office/drawing/2014/main" id="{37089C00-7AEF-7512-D17F-A8AF55DBF823}"/>
                </a:ext>
              </a:extLst>
            </p:cNvPr>
            <p:cNvSpPr txBox="1"/>
            <p:nvPr/>
          </p:nvSpPr>
          <p:spPr>
            <a:xfrm>
              <a:off x="6858000" y="50292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K</a:t>
              </a:r>
            </a:p>
          </p:txBody>
        </p:sp>
        <p:cxnSp>
          <p:nvCxnSpPr>
            <p:cNvPr id="415" name="Flecha">
              <a:extLst>
                <a:ext uri="{FF2B5EF4-FFF2-40B4-BE49-F238E27FC236}">
                  <a16:creationId xmlns:a16="http://schemas.microsoft.com/office/drawing/2014/main" id="{748A00BE-88F9-F46C-D099-DE5688B78750}"/>
                </a:ext>
              </a:extLst>
            </p:cNvPr>
            <p:cNvCxnSpPr/>
            <p:nvPr/>
          </p:nvCxnSpPr>
          <p:spPr>
            <a:xfrm>
              <a:off x="3810000" y="4521200"/>
              <a:ext cx="0" cy="431800"/>
            </a:xfrm>
            <a:prstGeom prst="straightConnector1">
              <a:avLst/>
            </a:prstGeom>
            <a:ln w="15875">
              <a:solidFill>
                <a:srgbClr val="6E6E6C"/>
              </a:solidFill>
              <a:prstDash val="solid"/>
              <a:tailEnd type="triangle" w="med" len="med"/>
            </a:ln>
          </p:spPr>
        </p:cxnSp>
        <p:cxnSp>
          <p:nvCxnSpPr>
            <p:cNvPr id="416" name="Flecha">
              <a:extLst>
                <a:ext uri="{FF2B5EF4-FFF2-40B4-BE49-F238E27FC236}">
                  <a16:creationId xmlns:a16="http://schemas.microsoft.com/office/drawing/2014/main" id="{D8E08106-AA9F-B026-9336-45B9C4320BFB}"/>
                </a:ext>
              </a:extLst>
            </p:cNvPr>
            <p:cNvCxnSpPr/>
            <p:nvPr/>
          </p:nvCxnSpPr>
          <p:spPr>
            <a:xfrm>
              <a:off x="8763000" y="4521200"/>
              <a:ext cx="0" cy="431800"/>
            </a:xfrm>
            <a:prstGeom prst="straightConnector1">
              <a:avLst/>
            </a:prstGeom>
            <a:ln w="15875">
              <a:solidFill>
                <a:srgbClr val="6E6E6C"/>
              </a:solidFill>
              <a:prstDash val="solid"/>
              <a:tailEnd type="triangle" w="med" len="med"/>
            </a:ln>
          </p:spPr>
        </p:cxnSp>
        <mc:AlternateContent xmlns:mc="http://schemas.openxmlformats.org/markup-compatibility/2006">
          <mc:Choice xmlns:a14="http://schemas.microsoft.com/office/drawing/2010/main" Requires="a14">
            <p:sp>
              <p:nvSpPr>
                <p:cNvPr id="430" name="Formula">
                  <a:extLst>
                    <a:ext uri="{FF2B5EF4-FFF2-40B4-BE49-F238E27FC236}">
                      <a16:creationId xmlns:a16="http://schemas.microsoft.com/office/drawing/2014/main" id="{D58A1DE5-D3A8-4DCB-53FD-EAB33092FE98}"/>
                    </a:ext>
                  </a:extLst>
                </p:cNvPr>
                <p:cNvSpPr txBox="1"/>
                <p:nvPr/>
              </p:nvSpPr>
              <p:spPr>
                <a:xfrm>
                  <a:off x="1752600" y="2159000"/>
                  <a:ext cx="4114800" cy="736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𝐾</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estados</m:t>
                        </m:r>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𝑖</m:t>
                        </m:r>
                        <m:r>
                          <a:rPr lang="es-ES_tradnl" sz="1300" i="1" noProof="0" smtClean="0">
                            <a:solidFill>
                              <a:srgbClr val="3C3C3B"/>
                            </a:solidFill>
                            <a:latin typeface="Cambria Math" panose="02040503050406030204" pitchFamily="18" charset="0"/>
                          </a:rPr>
                          <m:t>∈</m:t>
                        </m:r>
                        <m:d>
                          <m:dPr>
                            <m:beg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r>
                              <a:rPr lang="es-ES_tradnl" sz="1300" i="1" noProof="0" smtClean="0">
                                <a:solidFill>
                                  <a:srgbClr val="3C3C3B"/>
                                </a:solidFill>
                                <a:latin typeface="Cambria Math" panose="02040503050406030204" pitchFamily="18" charset="0"/>
                              </a:rPr>
                              <m:t>𝐾</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𝑅</m:t>
                            </m:r>
                          </m:e>
                          <m:sub>
                            <m:r>
                              <a:rPr lang="es-ES_tradnl" sz="1300" i="1" noProof="0" smtClean="0">
                                <a:solidFill>
                                  <a:srgbClr val="3C3C3B"/>
                                </a:solidFill>
                                <a:latin typeface="Cambria Math" panose="02040503050406030204" pitchFamily="18" charset="0"/>
                              </a:rPr>
                              <m:t>𝑍</m:t>
                            </m:r>
                          </m:sub>
                        </m:sSub>
                        <m:d>
                          <m:dPr>
                            <m:ctrlPr>
                              <a:rPr lang="es-ES_tradnl" sz="1300" i="1" noProof="0" smtClean="0">
                                <a:solidFill>
                                  <a:srgbClr val="3C3C3B"/>
                                </a:solidFill>
                                <a:latin typeface="Cambria Math" panose="02040503050406030204" pitchFamily="18" charset="0"/>
                              </a:rPr>
                            </m:ctrlPr>
                          </m:dPr>
                          <m:e>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2</m:t>
                                </m:r>
                                <m:r>
                                  <a:rPr lang="es-ES_tradnl" sz="1300" i="1" noProof="0" smtClean="0">
                                    <a:solidFill>
                                      <a:srgbClr val="3C3C3B"/>
                                    </a:solidFill>
                                    <a:latin typeface="Cambria Math" panose="02040503050406030204" pitchFamily="18" charset="0"/>
                                  </a:rPr>
                                  <m:t>𝜋</m:t>
                                </m:r>
                                <m:r>
                                  <a:rPr lang="es-ES_tradnl" sz="1300" i="1" noProof="0" smtClean="0">
                                    <a:solidFill>
                                      <a:srgbClr val="3C3C3B"/>
                                    </a:solidFill>
                                    <a:latin typeface="Cambria Math" panose="02040503050406030204" pitchFamily="18" charset="0"/>
                                  </a:rPr>
                                  <m:t>𝑖</m:t>
                                </m:r>
                              </m:num>
                              <m:den>
                                <m:r>
                                  <a:rPr lang="es-ES_tradnl" sz="1300" i="1" noProof="0" smtClean="0">
                                    <a:solidFill>
                                      <a:srgbClr val="3C3C3B"/>
                                    </a:solidFill>
                                    <a:latin typeface="Cambria Math" panose="02040503050406030204" pitchFamily="18" charset="0"/>
                                  </a:rPr>
                                  <m:t>𝐾</m:t>
                                </m:r>
                              </m:den>
                            </m:f>
                          </m:e>
                        </m:d>
                        <m:r>
                          <a:rPr lang="es-ES_tradnl" sz="1300" i="1" noProof="0" smtClean="0">
                            <a:solidFill>
                              <a:srgbClr val="3C3C3B"/>
                            </a:solidFill>
                            <a:latin typeface="Cambria Math" panose="02040503050406030204" pitchFamily="18" charset="0"/>
                          </a:rPr>
                          <m:t>𝐻</m:t>
                        </m:r>
                        <m:d>
                          <m:dPr>
                            <m:begChr m:val="|"/>
                            <m:end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e>
                        </m:d>
                      </m:oMath>
                    </m:oMathPara>
                  </a14:m>
                  <a:endParaRPr lang="es-ES_tradnl" sz="1300" noProof="0" dirty="0"/>
                </a:p>
              </p:txBody>
            </p:sp>
          </mc:Choice>
          <mc:Fallback>
            <p:sp>
              <p:nvSpPr>
                <p:cNvPr id="430" name="Formula">
                  <a:extLst>
                    <a:ext uri="{FF2B5EF4-FFF2-40B4-BE49-F238E27FC236}">
                      <a16:creationId xmlns:a16="http://schemas.microsoft.com/office/drawing/2014/main" id="{D58A1DE5-D3A8-4DCB-53FD-EAB33092FE98}"/>
                    </a:ext>
                  </a:extLst>
                </p:cNvPr>
                <p:cNvSpPr txBox="1">
                  <a:spLocks noRot="1" noChangeAspect="1" noMove="1" noResize="1" noEditPoints="1" noAdjustHandles="1" noChangeArrowheads="1" noChangeShapeType="1" noTextEdit="1"/>
                </p:cNvSpPr>
                <p:nvPr/>
              </p:nvSpPr>
              <p:spPr>
                <a:xfrm>
                  <a:off x="1752600" y="2159000"/>
                  <a:ext cx="4114800" cy="736600"/>
                </a:xfrm>
                <a:prstGeom prst="rect">
                  <a:avLst/>
                </a:prstGeom>
                <a:blipFill>
                  <a:blip r:embed="rId3"/>
                  <a:stretch>
                    <a:fillRect t="-1887"/>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1" name="Formula">
                  <a:extLst>
                    <a:ext uri="{FF2B5EF4-FFF2-40B4-BE49-F238E27FC236}">
                      <a16:creationId xmlns:a16="http://schemas.microsoft.com/office/drawing/2014/main" id="{48AF5B3A-58A0-F48D-8E2D-DA493CC507DA}"/>
                    </a:ext>
                  </a:extLst>
                </p:cNvPr>
                <p:cNvSpPr txBox="1"/>
                <p:nvPr/>
              </p:nvSpPr>
              <p:spPr>
                <a:xfrm>
                  <a:off x="6959600" y="2235200"/>
                  <a:ext cx="3606800" cy="609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m:rPr>
                                <m:sty m:val="p"/>
                              </m:rPr>
                              <a:rPr lang="es-ES_tradnl" sz="1300" i="0" noProof="0" smtClean="0">
                                <a:solidFill>
                                  <a:srgbClr val="3C3C3B"/>
                                </a:solidFill>
                                <a:latin typeface="Cambria Math" panose="02040503050406030204" pitchFamily="18" charset="0"/>
                              </a:rPr>
                              <m:t>dep</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e>
                        </m:d>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𝐼</m:t>
                            </m:r>
                          </m:num>
                          <m:den>
                            <m:r>
                              <a:rPr lang="es-ES_tradnl" sz="1300" i="1" noProof="0" smtClean="0">
                                <a:solidFill>
                                  <a:srgbClr val="3C3C3B"/>
                                </a:solidFill>
                                <a:latin typeface="Cambria Math" panose="02040503050406030204" pitchFamily="18" charset="0"/>
                              </a:rPr>
                              <m:t>2</m:t>
                            </m:r>
                          </m:den>
                        </m:f>
                      </m:oMath>
                    </m:oMathPara>
                  </a14:m>
                  <a:endParaRPr lang="es-ES_tradnl" sz="1300" noProof="0" dirty="0"/>
                </a:p>
              </p:txBody>
            </p:sp>
          </mc:Choice>
          <mc:Fallback>
            <p:sp>
              <p:nvSpPr>
                <p:cNvPr id="431" name="Formula">
                  <a:extLst>
                    <a:ext uri="{FF2B5EF4-FFF2-40B4-BE49-F238E27FC236}">
                      <a16:creationId xmlns:a16="http://schemas.microsoft.com/office/drawing/2014/main" id="{48AF5B3A-58A0-F48D-8E2D-DA493CC507DA}"/>
                    </a:ext>
                  </a:extLst>
                </p:cNvPr>
                <p:cNvSpPr txBox="1">
                  <a:spLocks noRot="1" noChangeAspect="1" noMove="1" noResize="1" noEditPoints="1" noAdjustHandles="1" noChangeArrowheads="1" noChangeShapeType="1" noTextEdit="1"/>
                </p:cNvSpPr>
                <p:nvPr/>
              </p:nvSpPr>
              <p:spPr>
                <a:xfrm>
                  <a:off x="6959600" y="2235200"/>
                  <a:ext cx="3606800" cy="609600"/>
                </a:xfrm>
                <a:prstGeom prst="rect">
                  <a:avLst/>
                </a:prstGeom>
                <a:blipFill>
                  <a:blip r:embed="rId4"/>
                  <a:stretch>
                    <a:fillRect t="-2222"/>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2" name="Formula">
                  <a:extLst>
                    <a:ext uri="{FF2B5EF4-FFF2-40B4-BE49-F238E27FC236}">
                      <a16:creationId xmlns:a16="http://schemas.microsoft.com/office/drawing/2014/main" id="{8243876F-73CB-09A8-A198-461AF18066FE}"/>
                    </a:ext>
                  </a:extLst>
                </p:cNvPr>
                <p:cNvSpPr txBox="1"/>
                <p:nvPr/>
              </p:nvSpPr>
              <p:spPr>
                <a:xfrm>
                  <a:off x="2324100" y="4038600"/>
                  <a:ext cx="2971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𝜏</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𝑗</m:t>
                                </m:r>
                              </m:sub>
                            </m:sSub>
                          </m:e>
                        </m:d>
                      </m:oMath>
                    </m:oMathPara>
                  </a14:m>
                  <a:endParaRPr lang="es-ES_tradnl" sz="1300" noProof="0" dirty="0"/>
                </a:p>
              </p:txBody>
            </p:sp>
          </mc:Choice>
          <mc:Fallback>
            <p:sp>
              <p:nvSpPr>
                <p:cNvPr id="432" name="Formula">
                  <a:extLst>
                    <a:ext uri="{FF2B5EF4-FFF2-40B4-BE49-F238E27FC236}">
                      <a16:creationId xmlns:a16="http://schemas.microsoft.com/office/drawing/2014/main" id="{8243876F-73CB-09A8-A198-461AF18066FE}"/>
                    </a:ext>
                  </a:extLst>
                </p:cNvPr>
                <p:cNvSpPr txBox="1">
                  <a:spLocks noRot="1" noChangeAspect="1" noMove="1" noResize="1" noEditPoints="1" noAdjustHandles="1" noChangeArrowheads="1" noChangeShapeType="1" noTextEdit="1"/>
                </p:cNvSpPr>
                <p:nvPr/>
              </p:nvSpPr>
              <p:spPr>
                <a:xfrm>
                  <a:off x="2324100" y="4038600"/>
                  <a:ext cx="2971800" cy="381000"/>
                </a:xfrm>
                <a:prstGeom prst="rect">
                  <a:avLst/>
                </a:prstGeom>
                <a:blipFill>
                  <a:blip r:embed="rId5"/>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3" name="Formula">
                  <a:extLst>
                    <a:ext uri="{FF2B5EF4-FFF2-40B4-BE49-F238E27FC236}">
                      <a16:creationId xmlns:a16="http://schemas.microsoft.com/office/drawing/2014/main" id="{B432AB22-9069-5F8C-5B98-966235BEA9AA}"/>
                    </a:ext>
                  </a:extLst>
                </p:cNvPr>
                <p:cNvSpPr txBox="1"/>
                <p:nvPr/>
              </p:nvSpPr>
              <p:spPr>
                <a:xfrm>
                  <a:off x="6451600" y="4038600"/>
                  <a:ext cx="4622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max</m:t>
                        </m:r>
                        <m:d>
                          <m:dPr>
                            <m:ctrlPr>
                              <a:rPr lang="es-ES_tradnl" sz="1300" i="1" noProof="0" smtClean="0">
                                <a:solidFill>
                                  <a:srgbClr val="3C3C3B"/>
                                </a:solidFill>
                                <a:latin typeface="Cambria Math" panose="02040503050406030204" pitchFamily="18" charset="0"/>
                              </a:rPr>
                            </m:ctrlPr>
                          </m:dPr>
                          <m:e>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e>
                            </m:d>
                          </m:e>
                        </m:d>
                      </m:oMath>
                    </m:oMathPara>
                  </a14:m>
                  <a:endParaRPr lang="es-ES_tradnl" sz="1300" noProof="0" dirty="0"/>
                </a:p>
              </p:txBody>
            </p:sp>
          </mc:Choice>
          <mc:Fallback>
            <p:sp>
              <p:nvSpPr>
                <p:cNvPr id="433" name="Formula">
                  <a:extLst>
                    <a:ext uri="{FF2B5EF4-FFF2-40B4-BE49-F238E27FC236}">
                      <a16:creationId xmlns:a16="http://schemas.microsoft.com/office/drawing/2014/main" id="{B432AB22-9069-5F8C-5B98-966235BEA9AA}"/>
                    </a:ext>
                  </a:extLst>
                </p:cNvPr>
                <p:cNvSpPr txBox="1">
                  <a:spLocks noRot="1" noChangeAspect="1" noMove="1" noResize="1" noEditPoints="1" noAdjustHandles="1" noChangeArrowheads="1" noChangeShapeType="1" noTextEdit="1"/>
                </p:cNvSpPr>
                <p:nvPr/>
              </p:nvSpPr>
              <p:spPr>
                <a:xfrm>
                  <a:off x="6451600" y="4038600"/>
                  <a:ext cx="4622800" cy="381000"/>
                </a:xfrm>
                <a:prstGeom prst="rect">
                  <a:avLst/>
                </a:prstGeom>
                <a:blipFill>
                  <a:blip r:embed="rId6"/>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4" name="Formula">
                  <a:extLst>
                    <a:ext uri="{FF2B5EF4-FFF2-40B4-BE49-F238E27FC236}">
                      <a16:creationId xmlns:a16="http://schemas.microsoft.com/office/drawing/2014/main" id="{2C08228E-98DF-EFF6-9A3A-2C0FAC8D52DF}"/>
                    </a:ext>
                  </a:extLst>
                </p:cNvPr>
                <p:cNvSpPr txBox="1"/>
                <p:nvPr/>
              </p:nvSpPr>
              <p:spPr>
                <a:xfrm>
                  <a:off x="1752600" y="5283200"/>
                  <a:ext cx="4114800" cy="787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sSub>
                              <m:sSubPr>
                                <m:ctrlPr>
                                  <a:rPr lang="es-ES_tradnl" sz="1300" i="1" noProof="0" smtClean="0">
                                    <a:solidFill>
                                      <a:srgbClr val="3C3C3B"/>
                                    </a:solidFill>
                                    <a:latin typeface="Cambria Math" panose="02040503050406030204" pitchFamily="18" charset="0"/>
                                  </a:rPr>
                                </m:ctrlPr>
                              </m:sSubPr>
                              <m:e>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ln</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num>
                              <m:den>
                                <m:r>
                                  <a:rPr lang="es-ES_tradnl" sz="1300" i="1" noProof="0" smtClean="0">
                                    <a:solidFill>
                                      <a:srgbClr val="3C3C3B"/>
                                    </a:solidFill>
                                    <a:latin typeface="Cambria Math" panose="02040503050406030204" pitchFamily="18" charset="0"/>
                                  </a:rPr>
                                  <m:t>𝑝</m:t>
                                </m:r>
                              </m:den>
                            </m:f>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=2</m:t>
                        </m:r>
                      </m:oMath>
                    </m:oMathPara>
                  </a14:m>
                  <a:endParaRPr lang="es-ES_tradnl" sz="1300" noProof="0" dirty="0"/>
                </a:p>
              </p:txBody>
            </p:sp>
          </mc:Choice>
          <mc:Fallback>
            <p:sp>
              <p:nvSpPr>
                <p:cNvPr id="434" name="Formula">
                  <a:extLst>
                    <a:ext uri="{FF2B5EF4-FFF2-40B4-BE49-F238E27FC236}">
                      <a16:creationId xmlns:a16="http://schemas.microsoft.com/office/drawing/2014/main" id="{2C08228E-98DF-EFF6-9A3A-2C0FAC8D52DF}"/>
                    </a:ext>
                  </a:extLst>
                </p:cNvPr>
                <p:cNvSpPr txBox="1">
                  <a:spLocks noRot="1" noChangeAspect="1" noMove="1" noResize="1" noEditPoints="1" noAdjustHandles="1" noChangeArrowheads="1" noChangeShapeType="1" noTextEdit="1"/>
                </p:cNvSpPr>
                <p:nvPr/>
              </p:nvSpPr>
              <p:spPr>
                <a:xfrm>
                  <a:off x="1752600" y="5283200"/>
                  <a:ext cx="4114800" cy="787400"/>
                </a:xfrm>
                <a:prstGeom prst="rect">
                  <a:avLst/>
                </a:prstGeom>
                <a:blipFill>
                  <a:blip r:embed="rId7"/>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5" name="Formula">
                  <a:extLst>
                    <a:ext uri="{FF2B5EF4-FFF2-40B4-BE49-F238E27FC236}">
                      <a16:creationId xmlns:a16="http://schemas.microsoft.com/office/drawing/2014/main" id="{88CDBEE7-AA51-EB5D-736D-EA7A5BBFD33D}"/>
                    </a:ext>
                  </a:extLst>
                </p:cNvPr>
                <p:cNvSpPr txBox="1"/>
                <p:nvPr/>
              </p:nvSpPr>
              <p:spPr>
                <a:xfrm>
                  <a:off x="6959600" y="5435600"/>
                  <a:ext cx="3606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e>
                        </m:d>
                      </m:oMath>
                    </m:oMathPara>
                  </a14:m>
                  <a:endParaRPr lang="es-ES_tradnl" sz="1300" noProof="0" dirty="0"/>
                </a:p>
              </p:txBody>
            </p:sp>
          </mc:Choice>
          <mc:Fallback>
            <p:sp>
              <p:nvSpPr>
                <p:cNvPr id="435" name="Formula">
                  <a:extLst>
                    <a:ext uri="{FF2B5EF4-FFF2-40B4-BE49-F238E27FC236}">
                      <a16:creationId xmlns:a16="http://schemas.microsoft.com/office/drawing/2014/main" id="{88CDBEE7-AA51-EB5D-736D-EA7A5BBFD33D}"/>
                    </a:ext>
                  </a:extLst>
                </p:cNvPr>
                <p:cNvSpPr txBox="1">
                  <a:spLocks noRot="1" noChangeAspect="1" noMove="1" noResize="1" noEditPoints="1" noAdjustHandles="1" noChangeArrowheads="1" noChangeShapeType="1" noTextEdit="1"/>
                </p:cNvSpPr>
                <p:nvPr/>
              </p:nvSpPr>
              <p:spPr>
                <a:xfrm>
                  <a:off x="6959600" y="5435600"/>
                  <a:ext cx="3606800" cy="381000"/>
                </a:xfrm>
                <a:prstGeom prst="rect">
                  <a:avLst/>
                </a:prstGeom>
                <a:blipFill>
                  <a:blip r:embed="rId8"/>
                  <a:stretch>
                    <a:fillRect t="-7407"/>
                  </a:stretch>
                </a:blipFill>
                <a:ln/>
              </p:spPr>
              <p:txBody>
                <a:bodyPr/>
                <a:lstStyle/>
                <a:p>
                  <a:r>
                    <a:rPr lang="en-CO">
                      <a:noFill/>
                    </a:rPr>
                    <a:t> </a:t>
                  </a:r>
                </a:p>
              </p:txBody>
            </p:sp>
          </mc:Fallback>
        </mc:AlternateContent>
      </p:grpSp>
      <p:sp>
        <p:nvSpPr>
          <p:cNvPr id="301" name="Barra superior">
            <a:extLst>
              <a:ext uri="{FF2B5EF4-FFF2-40B4-BE49-F238E27FC236}">
                <a16:creationId xmlns:a16="http://schemas.microsoft.com/office/drawing/2014/main" id="{FB20CCA9-C447-6943-C8CD-269F71DC90B5}"/>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B9BB5E9B-93D7-6CE0-6565-4D41C34DC47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A020ACD4-155E-8EBE-15A1-13C7679184B2}"/>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b="1" noProof="0" dirty="0">
              <a:solidFill>
                <a:srgbClr val="1D1D1B"/>
              </a:solidFill>
              <a:latin typeface="DM Sans" pitchFamily="34" charset="0"/>
              <a:ea typeface="DM Sans" pitchFamily="34" charset="-122"/>
              <a:cs typeface="DM Sans" pitchFamily="34" charset="-120"/>
            </a:endParaRPr>
          </a:p>
        </p:txBody>
      </p:sp>
      <p:sp>
        <p:nvSpPr>
          <p:cNvPr id="304" name="Texto seccion">
            <a:extLst>
              <a:ext uri="{FF2B5EF4-FFF2-40B4-BE49-F238E27FC236}">
                <a16:creationId xmlns:a16="http://schemas.microsoft.com/office/drawing/2014/main" id="{518FF204-D58A-C748-DCAF-BA333596E8D6}"/>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kern="0" spc="150" noProof="0" dirty="0">
              <a:solidFill>
                <a:srgbClr val="6E6E6C"/>
              </a:solidFill>
              <a:latin typeface="Roboto" pitchFamily="34" charset="0"/>
              <a:ea typeface="Roboto" pitchFamily="34" charset="-122"/>
              <a:cs typeface="Roboto" pitchFamily="34" charset="-120"/>
            </a:endParaRPr>
          </a:p>
        </p:txBody>
      </p:sp>
      <p:sp>
        <p:nvSpPr>
          <p:cNvPr id="305" name="Subtitulo">
            <a:extLst>
              <a:ext uri="{FF2B5EF4-FFF2-40B4-BE49-F238E27FC236}">
                <a16:creationId xmlns:a16="http://schemas.microsoft.com/office/drawing/2014/main" id="{718FF3DE-81F0-3E62-E157-A6945CB5B842}"/>
              </a:ext>
            </a:extLst>
          </p:cNvPr>
          <p:cNvSpPr/>
          <p:nvPr/>
        </p:nvSpPr>
        <p:spPr>
          <a:xfrm>
            <a:off x="812800" y="1305520"/>
            <a:ext cx="10883392" cy="322560"/>
          </a:xfrm>
          <a:prstGeom prst="rect">
            <a:avLst/>
          </a:prstGeom>
          <a:noFill/>
          <a:ln/>
        </p:spPr>
        <p:txBody>
          <a:bodyPr wrap="square" lIns="0" tIns="0" rIns="0" bIns="0" rtlCol="0" anchor="t">
            <a:normAutofit fontScale="85000" lnSpcReduction="10000"/>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variable categórica en el diseño L (</a:t>
            </a:r>
            <a:r>
              <a:rPr lang="es-ES_tradnl" sz="1800" noProof="0" dirty="0" err="1">
                <a:solidFill>
                  <a:srgbClr val="3C3C3B"/>
                </a:solidFill>
                <a:latin typeface="Roboto" pitchFamily="34" charset="0"/>
                <a:ea typeface="Roboto" pitchFamily="34" charset="-122"/>
                <a:cs typeface="Roboto" pitchFamily="34" charset="-120"/>
              </a:rPr>
              <a:t>depolarizante</a:t>
            </a:r>
            <a:r>
              <a:rPr lang="es-ES_tradnl" sz="1800" noProof="0" dirty="0">
                <a:solidFill>
                  <a:srgbClr val="3C3C3B"/>
                </a:solidFill>
                <a:latin typeface="Roboto" pitchFamily="34" charset="0"/>
                <a:ea typeface="Roboto" pitchFamily="34" charset="-122"/>
                <a:cs typeface="Roboto" pitchFamily="34" charset="-120"/>
              </a:rPr>
              <a:t>, p = 0.5).</a:t>
            </a:r>
          </a:p>
        </p:txBody>
      </p:sp>
      <p:sp>
        <p:nvSpPr>
          <p:cNvPr id="306" name="Numero pagina">
            <a:extLst>
              <a:ext uri="{FF2B5EF4-FFF2-40B4-BE49-F238E27FC236}">
                <a16:creationId xmlns:a16="http://schemas.microsoft.com/office/drawing/2014/main" id="{3D26F80D-4FD9-B184-21D0-F0076FE9AA95}"/>
              </a:ext>
            </a:extLst>
          </p:cNvPr>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11</a:t>
            </a:r>
            <a:endParaRPr lang="es-ES_tradnl" sz="1200" b="1" noProof="0" dirty="0">
              <a:solidFill>
                <a:srgbClr val="1D1D1B"/>
              </a:solidFill>
              <a:latin typeface="Roboto" pitchFamily="34" charset="0"/>
              <a:ea typeface="Roboto" pitchFamily="34" charset="-122"/>
              <a:cs typeface="Roboto" pitchFamily="34" charset="-120"/>
            </a:endParaRPr>
          </a:p>
        </p:txBody>
      </p:sp>
      <p:pic>
        <p:nvPicPr>
          <p:cNvPr id="307" name="Copied Picture 307" descr="Universidad de los Andes">
            <a:extLst>
              <a:ext uri="{FF2B5EF4-FFF2-40B4-BE49-F238E27FC236}">
                <a16:creationId xmlns:a16="http://schemas.microsoft.com/office/drawing/2014/main" id="{B712667B-0EEB-6E38-7D17-07F676AEEC4A}"/>
              </a:ext>
            </a:extLst>
          </p:cNvPr>
          <p:cNvPicPr>
            <a:picLocks noChangeAspect="1"/>
          </p:cNvPicPr>
          <p:nvPr/>
        </p:nvPicPr>
        <p:blipFill>
          <a:blip r:embed="rId9"/>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3030970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del diseño L en las variables categóricas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Lo fija el par de categorías más separado.</a:t>
            </a:r>
            <a:endParaRPr lang="es-ES_tradnl" sz="1800" noProof="0" dirty="0"/>
          </a:p>
        </p:txBody>
      </p:sp>
      <p:graphicFrame>
        <p:nvGraphicFramePr>
          <p:cNvPr id="9" name="Table 0"/>
          <p:cNvGraphicFramePr>
            <a:graphicFrameLocks noGrp="1"/>
          </p:cNvGraphicFramePr>
          <p:nvPr/>
        </p:nvGraphicFramePr>
        <p:xfrm>
          <a:off x="825500" y="1843980"/>
          <a:ext cx="10553700" cy="222229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700000">
                  <a:extLst>
                    <a:ext uri="{9D8B030D-6E8A-4147-A177-3AD203B41FA5}">
                      <a16:colId xmlns:a16="http://schemas.microsoft.com/office/drawing/2014/main" val="20001"/>
                    </a:ext>
                  </a:extLst>
                </a:gridCol>
                <a:gridCol w="1900000">
                  <a:extLst>
                    <a:ext uri="{9D8B030D-6E8A-4147-A177-3AD203B41FA5}">
                      <a16:colId xmlns:a16="http://schemas.microsoft.com/office/drawing/2014/main" val="20002"/>
                    </a:ext>
                  </a:extLst>
                </a:gridCol>
                <a:gridCol w="1100000">
                  <a:extLst>
                    <a:ext uri="{9D8B030D-6E8A-4147-A177-3AD203B41FA5}">
                      <a16:colId xmlns:a16="http://schemas.microsoft.com/office/drawing/2014/main" val="20003"/>
                    </a:ext>
                  </a:extLst>
                </a:gridCol>
                <a:gridCol w="1700000">
                  <a:extLst>
                    <a:ext uri="{9D8B030D-6E8A-4147-A177-3AD203B41FA5}">
                      <a16:colId xmlns:a16="http://schemas.microsoft.com/office/drawing/2014/main" val="20004"/>
                    </a:ext>
                  </a:extLst>
                </a:gridCol>
                <a:gridCol w="1700000">
                  <a:extLst>
                    <a:ext uri="{9D8B030D-6E8A-4147-A177-3AD203B41FA5}">
                      <a16:colId xmlns:a16="http://schemas.microsoft.com/office/drawing/2014/main" val="20005"/>
                    </a:ext>
                  </a:extLst>
                </a:gridCol>
                <a:gridCol w="1153700">
                  <a:extLst>
                    <a:ext uri="{9D8B030D-6E8A-4147-A177-3AD203B41FA5}">
                      <a16:colId xmlns:a16="http://schemas.microsoft.com/office/drawing/2014/main" val="20006"/>
                    </a:ext>
                  </a:extLst>
                </a:gridCol>
              </a:tblGrid>
              <a:tr h="420000">
                <a:tc>
                  <a:txBody>
                    <a:bodyPr/>
                    <a:lstStyle/>
                    <a:p>
                      <a:pPr marL="0" indent="0" algn="l">
                        <a:lnSpc>
                          <a:spcPct val="100000"/>
                        </a:lnSpc>
                        <a:buNone/>
                      </a:pPr>
                      <a:r>
                        <a:rPr lang="es-CO" sz="1400" b="1" dirty="0">
                          <a:solidFill>
                            <a:srgbClr val="FFFFFF"/>
                          </a:solidFill>
                          <a:latin typeface="Roboto" pitchFamily="34" charset="0"/>
                          <a:ea typeface="Roboto" pitchFamily="34" charset="-122"/>
                          <a:cs typeface="Roboto" pitchFamily="34" charset="-120"/>
                        </a:rPr>
                        <a:t>Variable (qubit)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K</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Separación del peor par</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d</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Cota (Teorema 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ε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ctr">
                        <a:lnSpc>
                          <a:spcPct val="100000"/>
                        </a:lnSpc>
                        <a:buNone/>
                      </a:pPr>
                      <a:r>
                        <a:rPr lang="es-CO" sz="1400" b="1" dirty="0">
                          <a:solidFill>
                            <a:srgbClr val="FFFFFF"/>
                          </a:solidFill>
                          <a:latin typeface="Roboto" pitchFamily="34" charset="0"/>
                          <a:ea typeface="Roboto" pitchFamily="34" charset="-122"/>
                          <a:cs typeface="Roboto" pitchFamily="34" charset="-120"/>
                        </a:rPr>
                        <a:t>¿Se alcanza?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housing</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0.866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1.0051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0.9624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1"/>
                  </a:ext>
                </a:extLst>
              </a:tr>
              <a:tr h="420000">
                <a:tc>
                  <a:txBody>
                    <a:bodyPr/>
                    <a:lstStyle/>
                    <a:p>
                      <a:pPr marL="0" indent="0" algn="l">
                        <a:lnSpc>
                          <a:spcPct val="100000"/>
                        </a:lnSpc>
                        <a:buNone/>
                      </a:pPr>
                      <a:r>
                        <a:rPr lang="es-CO" sz="1400" b="1" dirty="0">
                          <a:solidFill>
                            <a:srgbClr val="1D1D1B"/>
                          </a:solidFill>
                          <a:latin typeface="Roboto" pitchFamily="34" charset="0"/>
                          <a:ea typeface="Roboto" pitchFamily="34" charset="-122"/>
                          <a:cs typeface="Roboto" pitchFamily="34" charset="-120"/>
                        </a:rPr>
                        <a:t>collateral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ctr">
                        <a:lnSpc>
                          <a:spcPct val="100000"/>
                        </a:lnSpc>
                        <a:buNone/>
                      </a:pPr>
                      <a:r>
                        <a:rPr lang="es-CO" sz="1400" b="1" dirty="0">
                          <a:solidFill>
                            <a:srgbClr val="1D1D1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2"/>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credit_history</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1.0654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1.0494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purpose</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12</a:t>
            </a:r>
            <a:endParaRPr lang="es-ES_tradnl" sz="1200" noProof="0" dirty="0"/>
          </a:p>
        </p:txBody>
      </p:sp>
    </p:spTree>
    <p:extLst>
      <p:ext uri="{BB962C8B-B14F-4D97-AF65-F5344CB8AC3E}">
        <p14:creationId xmlns:p14="http://schemas.microsoft.com/office/powerpoint/2010/main" val="229115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por columna: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en cada variable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las 7 columnas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bajo la cota; la suma da 0.00676 contra 0.00985.</a:t>
            </a:r>
            <a:endParaRPr lang="es-ES_tradnl" sz="1800" noProof="0" dirty="0"/>
          </a:p>
        </p:txBody>
      </p:sp>
      <p:graphicFrame>
        <p:nvGraphicFramePr>
          <p:cNvPr id="9" name="Table 0"/>
          <p:cNvGraphicFramePr>
            <a:graphicFrameLocks noGrp="1"/>
          </p:cNvGraphicFramePr>
          <p:nvPr/>
        </p:nvGraphicFramePr>
        <p:xfrm>
          <a:off x="825500" y="1869380"/>
          <a:ext cx="10553700" cy="3434890"/>
        </p:xfrm>
        <a:graphic>
          <a:graphicData uri="http://schemas.openxmlformats.org/drawingml/2006/table">
            <a:tbl>
              <a:tblPr firstRow="1"/>
              <a:tblGrid>
                <a:gridCol w="3700000">
                  <a:extLst>
                    <a:ext uri="{9D8B030D-6E8A-4147-A177-3AD203B41FA5}">
                      <a16:colId xmlns:a16="http://schemas.microsoft.com/office/drawing/2014/main" val="20000"/>
                    </a:ext>
                  </a:extLst>
                </a:gridCol>
                <a:gridCol w="1900000">
                  <a:extLst>
                    <a:ext uri="{9D8B030D-6E8A-4147-A177-3AD203B41FA5}">
                      <a16:colId xmlns:a16="http://schemas.microsoft.com/office/drawing/2014/main" val="20001"/>
                    </a:ext>
                  </a:extLst>
                </a:gridCol>
                <a:gridCol w="1600000">
                  <a:extLst>
                    <a:ext uri="{9D8B030D-6E8A-4147-A177-3AD203B41FA5}">
                      <a16:colId xmlns:a16="http://schemas.microsoft.com/office/drawing/2014/main" val="20002"/>
                    </a:ext>
                  </a:extLst>
                </a:gridCol>
                <a:gridCol w="1753700">
                  <a:extLst>
                    <a:ext uri="{9D8B030D-6E8A-4147-A177-3AD203B41FA5}">
                      <a16:colId xmlns:a16="http://schemas.microsoft.com/office/drawing/2014/main" val="20003"/>
                    </a:ext>
                  </a:extLst>
                </a:gridCol>
                <a:gridCol w="1600000">
                  <a:extLst>
                    <a:ext uri="{9D8B030D-6E8A-4147-A177-3AD203B41FA5}">
                      <a16:colId xmlns:a16="http://schemas.microsoft.com/office/drawing/2014/main" val="20004"/>
                    </a:ext>
                  </a:extLst>
                </a:gridCol>
              </a:tblGrid>
              <a:tr h="420000">
                <a:tc>
                  <a:txBody>
                    <a:bodyPr/>
                    <a:lstStyle/>
                    <a:p>
                      <a:pPr marL="0" indent="0" algn="l">
                        <a:lnSpc>
                          <a:spcPct val="100000"/>
                        </a:lnSpc>
                        <a:buNone/>
                      </a:pPr>
                      <a:r>
                        <a:rPr lang="es-ES_tradnl" sz="1400" b="1" noProof="0" dirty="0">
                          <a:solidFill>
                            <a:srgbClr val="FFFFFF"/>
                          </a:solidFill>
                          <a:latin typeface="Roboto" pitchFamily="34" charset="0"/>
                          <a:ea typeface="Roboto" pitchFamily="34" charset="-122"/>
                          <a:cs typeface="Roboto" pitchFamily="34" charset="-120"/>
                        </a:rPr>
                        <a:t>Variable (</a:t>
                      </a:r>
                      <a:r>
                        <a:rPr lang="es-ES_tradnl" sz="1400" b="1" noProof="0" dirty="0" err="1">
                          <a:solidFill>
                            <a:srgbClr val="FFFFFF"/>
                          </a:solidFill>
                          <a:latin typeface="Roboto" pitchFamily="34" charset="0"/>
                          <a:ea typeface="Roboto" pitchFamily="34" charset="-122"/>
                          <a:cs typeface="Roboto" pitchFamily="34" charset="-120"/>
                        </a:rPr>
                        <a:t>qubit</a:t>
                      </a:r>
                      <a:r>
                        <a:rPr lang="es-ES_tradnl" sz="1400" b="1" noProof="0" dirty="0">
                          <a:solidFill>
                            <a:srgbClr val="FFFFFF"/>
                          </a:solidFill>
                          <a:latin typeface="Roboto" pitchFamily="34" charset="0"/>
                          <a:ea typeface="Roboto" pitchFamily="34" charset="-122"/>
                          <a:cs typeface="Roboto" pitchFamily="34" charset="-120"/>
                        </a:rPr>
                        <a: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Máx. d de traza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teórico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Teo / </a:t>
                      </a:r>
                      <a:r>
                        <a:rPr lang="es-ES_tradnl" sz="1400" b="1" noProof="0" dirty="0" err="1">
                          <a:solidFill>
                            <a:srgbClr val="FFFFFF"/>
                          </a:solidFill>
                          <a:latin typeface="Roboto" pitchFamily="34" charset="0"/>
                          <a:ea typeface="Roboto" pitchFamily="34" charset="-122"/>
                          <a:cs typeface="Roboto" pitchFamily="34" charset="-120"/>
                        </a:rPr>
                        <a:t>exp</a:t>
                      </a:r>
                      <a:endParaRPr lang="es-ES_tradnl" sz="1400" b="1" noProof="0" dirty="0">
                        <a:solidFill>
                          <a:srgbClr val="FFFFFF"/>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75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collateral</a:t>
                      </a:r>
                      <a:endParaRPr lang="es-ES_tradnl" sz="1400" b="1" noProof="0" dirty="0">
                        <a:solidFill>
                          <a:srgbClr val="1D1D1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0.000567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0.00113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0.000608</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1.86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1"/>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purpose</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0.00103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1.97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2"/>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credit_history</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0.000675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0.00135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0.000817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housing</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0.000709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status_account</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month_duration</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0.000950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5"/>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status_savings</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years_employment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0.00129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6"/>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credit_amount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0.00184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1.12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7"/>
                  </a:ext>
                </a:extLst>
              </a:tr>
              <a:tr h="380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Σ</a:t>
                      </a:r>
                      <a:r>
                        <a:rPr lang="es-ES_tradnl" sz="1400" b="1" noProof="0" dirty="0">
                          <a:solidFill>
                            <a:srgbClr val="1D1D1B"/>
                          </a:solidFill>
                          <a:latin typeface="Roboto" pitchFamily="34" charset="0"/>
                          <a:ea typeface="Roboto" pitchFamily="34" charset="-122"/>
                          <a:cs typeface="Roboto" pitchFamily="34" charset="-120"/>
                        </a:rPr>
                        <a:t> (Teorema 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endParaRPr lang="es-ES_tradnl" noProof="0" dirty="0"/>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0.00985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0.00676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1.46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10" name="Shape 6"/>
          <p:cNvSpPr/>
          <p:nvPr/>
        </p:nvSpPr>
        <p:spPr>
          <a:xfrm>
            <a:off x="812800" y="5588000"/>
            <a:ext cx="50800" cy="482600"/>
          </a:xfrm>
          <a:prstGeom prst="rect">
            <a:avLst/>
          </a:prstGeom>
          <a:solidFill>
            <a:srgbClr val="FFEE00"/>
          </a:solidFill>
          <a:ln/>
        </p:spPr>
        <p:txBody>
          <a:bodyPr/>
          <a:lstStyle/>
          <a:p>
            <a:endParaRPr lang="es-ES_tradnl"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13</a:t>
            </a:r>
            <a:endParaRPr lang="es-ES_tradnl" sz="1200" noProof="0" dirty="0"/>
          </a:p>
        </p:txBody>
      </p:sp>
    </p:spTree>
    <p:extLst>
      <p:ext uri="{BB962C8B-B14F-4D97-AF65-F5344CB8AC3E}">
        <p14:creationId xmlns:p14="http://schemas.microsoft.com/office/powerpoint/2010/main" val="283119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196473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a:t>
            </a:r>
            <a:endParaRPr lang="es-ES_tradnl" sz="1400" noProof="0" dirty="0"/>
          </a:p>
        </p:txBody>
      </p:sp>
      <p:sp>
        <p:nvSpPr>
          <p:cNvPr id="6" name="Text 2"/>
          <p:cNvSpPr>
            <a:spLocks noGrp="1"/>
          </p:cNvSpPr>
          <p:nvPr>
            <p:ph type="title"/>
          </p:nvPr>
        </p:nvSpPr>
        <p:spPr>
          <a:xfrm>
            <a:off x="812800" y="2391370"/>
            <a:ext cx="6409690" cy="130552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 la privacidad</a:t>
            </a:r>
            <a:endParaRPr lang="es-ES_tradnl" sz="4800" noProof="0" dirty="0"/>
          </a:p>
        </p:txBody>
      </p:sp>
      <p:sp>
        <p:nvSpPr>
          <p:cNvPr id="7" name="Text 3"/>
          <p:cNvSpPr/>
          <p:nvPr/>
        </p:nvSpPr>
        <p:spPr>
          <a:xfrm>
            <a:off x="812800" y="384929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4 · Medir: copias y codificación</a:t>
            </a:r>
            <a:endParaRPr lang="es-ES_tradnl" sz="1800" noProof="0" dirty="0"/>
          </a:p>
        </p:txBody>
      </p:sp>
      <p:sp>
        <p:nvSpPr>
          <p:cNvPr id="8" name="Text 4"/>
          <p:cNvSpPr/>
          <p:nvPr/>
        </p:nvSpPr>
        <p:spPr>
          <a:xfrm>
            <a:off x="812800" y="422265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5 · El ruido visto desde un qubit</a:t>
            </a:r>
            <a:endParaRPr lang="es-ES_tradnl" sz="1800" noProof="0" dirty="0"/>
          </a:p>
        </p:txBody>
      </p:sp>
      <p:sp>
        <p:nvSpPr>
          <p:cNvPr id="9" name="Text 5"/>
          <p:cNvSpPr/>
          <p:nvPr/>
        </p:nvSpPr>
        <p:spPr>
          <a:xfrm>
            <a:off x="812800" y="459601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6 · Una medición contra muchas</a:t>
            </a:r>
            <a:endParaRPr lang="es-ES_tradnl" sz="1800" noProof="0" dirty="0"/>
          </a:p>
        </p:txBody>
      </p:sp>
      <p:sp>
        <p:nvSpPr>
          <p:cNvPr id="23" name="Text 5"/>
          <p:cNvSpPr/>
          <p:nvPr/>
        </p:nvSpPr>
        <p:spPr>
          <a:xfrm>
            <a:off x="812800" y="496937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7 · Diseño C contra diseño L</a:t>
            </a:r>
            <a:endParaRPr lang="es-ES_tradnl" sz="1800" noProof="0" dirty="0"/>
          </a:p>
        </p:txBody>
      </p:sp>
      <p:sp>
        <p:nvSpPr>
          <p:cNvPr id="24" name="Text 5"/>
          <p:cNvSpPr/>
          <p:nvPr/>
        </p:nvSpPr>
        <p:spPr>
          <a:xfrm>
            <a:off x="812800" y="534273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8 · La línea base B y el experimento de medición</a:t>
            </a:r>
            <a:endParaRPr lang="es-ES_tradnl" sz="1800" noProof="0" dirty="0"/>
          </a:p>
        </p:txBody>
      </p:sp>
    </p:spTree>
    <p:extLst>
      <p:ext uri="{BB962C8B-B14F-4D97-AF65-F5344CB8AC3E}">
        <p14:creationId xmlns:p14="http://schemas.microsoft.com/office/powerpoint/2010/main" val="3097587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Cada medición consume una copia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Una medición entrega un solo bit y gasta la copia del estado que midió.</a:t>
            </a:r>
            <a:endParaRPr lang="es-ES_tradnl" sz="1800" noProof="0" dirty="0"/>
          </a:p>
        </p:txBody>
      </p:sp>
      <p:sp>
        <p:nvSpPr>
          <p:cNvPr id="9" name="Shape 6"/>
          <p:cNvSpPr/>
          <p:nvPr/>
        </p:nvSpPr>
        <p:spPr>
          <a:xfrm>
            <a:off x="812800" y="1856680"/>
            <a:ext cx="5181600" cy="2838053"/>
          </a:xfrm>
          <a:prstGeom prst="roundRect">
            <a:avLst>
              <a:gd name="adj" fmla="val 3580"/>
            </a:avLst>
          </a:prstGeom>
          <a:solidFill>
            <a:srgbClr val="F4F4F2"/>
          </a:solidFill>
          <a:ln/>
        </p:spPr>
        <p:txBody>
          <a:bodyPr/>
          <a:lstStyle/>
          <a:p>
            <a:endParaRPr lang="es-ES_tradnl" noProof="0" dirty="0"/>
          </a:p>
        </p:txBody>
      </p:sp>
      <p:sp>
        <p:nvSpPr>
          <p:cNvPr id="10" name="Text 7"/>
          <p:cNvSpPr/>
          <p:nvPr/>
        </p:nvSpPr>
        <p:spPr>
          <a:xfrm>
            <a:off x="10668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Copias</a:t>
            </a:r>
            <a:endParaRPr lang="es-ES_tradnl" sz="1800" noProof="0" dirty="0"/>
          </a:p>
        </p:txBody>
      </p:sp>
      <p:sp>
        <p:nvSpPr>
          <p:cNvPr id="11" name="Text 8"/>
          <p:cNvSpPr/>
          <p:nvPr/>
        </p:nvSpPr>
        <p:spPr>
          <a:xfrm>
            <a:off x="1066800" y="2511921"/>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estado cuántico no se puede copiar (no clonación).</a:t>
            </a:r>
            <a:endParaRPr lang="es-ES_tradnl" sz="1400" noProof="0" dirty="0"/>
          </a:p>
        </p:txBody>
      </p:sp>
      <p:sp>
        <p:nvSpPr>
          <p:cNvPr id="12" name="Text 9"/>
          <p:cNvSpPr/>
          <p:nvPr/>
        </p:nvSpPr>
        <p:spPr>
          <a:xfrm>
            <a:off x="1066800" y="288776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Al medirlo colapsa al resultado obtenido: se pierde con qué probabilidad podía salir el otro.</a:t>
            </a:r>
            <a:endParaRPr lang="es-ES_tradnl" sz="1400" noProof="0" dirty="0"/>
          </a:p>
        </p:txBody>
      </p:sp>
      <p:sp>
        <p:nvSpPr>
          <p:cNvPr id="13" name="Shape 10"/>
          <p:cNvSpPr/>
          <p:nvPr/>
        </p:nvSpPr>
        <p:spPr>
          <a:xfrm>
            <a:off x="1092200" y="4191893"/>
            <a:ext cx="0" cy="248841"/>
          </a:xfrm>
          <a:prstGeom prst="line">
            <a:avLst/>
          </a:prstGeom>
          <a:noFill/>
          <a:ln w="50800">
            <a:solidFill>
              <a:srgbClr val="FFEE00"/>
            </a:solidFill>
            <a:prstDash val="solid"/>
          </a:ln>
        </p:spPr>
        <p:txBody>
          <a:bodyPr/>
          <a:lstStyle/>
          <a:p>
            <a:endParaRPr lang="es-ES_tradnl" noProof="0" dirty="0"/>
          </a:p>
        </p:txBody>
      </p:sp>
      <p:sp>
        <p:nvSpPr>
          <p:cNvPr id="14" name="Text 11"/>
          <p:cNvSpPr/>
          <p:nvPr/>
        </p:nvSpPr>
        <p:spPr>
          <a:xfrm>
            <a:off x="1244600" y="4191893"/>
            <a:ext cx="463067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Cada medición necesita una copia nueva del estado.</a:t>
            </a:r>
            <a:endParaRPr lang="es-ES_tradnl" sz="1400" noProof="0" dirty="0"/>
          </a:p>
        </p:txBody>
      </p:sp>
      <p:sp>
        <p:nvSpPr>
          <p:cNvPr id="15" name="Shape 12"/>
          <p:cNvSpPr/>
          <p:nvPr/>
        </p:nvSpPr>
        <p:spPr>
          <a:xfrm>
            <a:off x="6197600" y="1856680"/>
            <a:ext cx="5181600" cy="2838053"/>
          </a:xfrm>
          <a:prstGeom prst="roundRect">
            <a:avLst>
              <a:gd name="adj" fmla="val 3580"/>
            </a:avLst>
          </a:prstGeom>
          <a:solidFill>
            <a:srgbClr val="F4F4F2"/>
          </a:solidFill>
          <a:ln/>
        </p:spPr>
        <p:txBody>
          <a:bodyPr/>
          <a:lstStyle/>
          <a:p>
            <a:endParaRPr lang="es-ES_tradnl" noProof="0" dirty="0"/>
          </a:p>
        </p:txBody>
      </p:sp>
      <p:sp>
        <p:nvSpPr>
          <p:cNvPr id="16" name="Text 13"/>
          <p:cNvSpPr/>
          <p:nvPr/>
        </p:nvSpPr>
        <p:spPr>
          <a:xfrm>
            <a:off x="64516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Leer la matriz = infinitas copias</a:t>
            </a:r>
            <a:endParaRPr lang="es-ES_tradnl" sz="1800" noProof="0" dirty="0"/>
          </a:p>
        </p:txBody>
      </p:sp>
      <mc:AlternateContent xmlns:mc="http://schemas.openxmlformats.org/markup-compatibility/2006">
        <mc:Choice xmlns:a14="http://schemas.microsoft.com/office/drawing/2010/main" Requires="a14">
          <p:sp>
            <p:nvSpPr>
              <p:cNvPr id="17" name="Text 14"/>
              <p:cNvSpPr/>
              <p:nvPr/>
            </p:nvSpPr>
            <p:spPr>
              <a:xfrm>
                <a:off x="6451600" y="2511921"/>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simulación se lee </a:t>
                </a:r>
                <a14:m>
                  <m:oMath xmlns:m="http://schemas.openxmlformats.org/officeDocument/2006/math">
                    <m:r>
                      <a:rPr lang="es-419" sz="1400" b="0" i="1" noProof="0" smtClean="0">
                        <a:solidFill>
                          <a:srgbClr val="3C3C3B"/>
                        </a:solidFill>
                        <a:latin typeface="Cambria Math" panose="02040503050406030204" pitchFamily="18" charset="0"/>
                        <a:ea typeface="Roboto" pitchFamily="34" charset="-122"/>
                        <a:cs typeface="Roboto" pitchFamily="34" charset="-120"/>
                      </a:rPr>
                      <m:t>𝜌</m:t>
                    </m:r>
                    <m:r>
                      <a:rPr lang="es-419" sz="1400" b="0" i="1" noProof="0" smtClean="0">
                        <a:solidFill>
                          <a:srgbClr val="3C3C3B"/>
                        </a:solidFill>
                        <a:latin typeface="Cambria Math" panose="02040503050406030204" pitchFamily="18" charset="0"/>
                        <a:ea typeface="Roboto" pitchFamily="34" charset="-122"/>
                        <a:cs typeface="Roboto" pitchFamily="34" charset="-120"/>
                      </a:rPr>
                      <m:t>′</m:t>
                    </m:r>
                  </m:oMath>
                </a14:m>
                <a:r>
                  <a:rPr lang="es-ES_tradnl" sz="1400" noProof="0" dirty="0">
                    <a:solidFill>
                      <a:srgbClr val="3C3C3B"/>
                    </a:solidFill>
                    <a:latin typeface="Roboto" pitchFamily="34" charset="0"/>
                    <a:ea typeface="Roboto" pitchFamily="34" charset="-122"/>
                    <a:cs typeface="Roboto" pitchFamily="34" charset="-120"/>
                  </a:rPr>
                  <a:t> completa y se calculan probabilidades exactas (error cero). Con N mediciones:</a:t>
                </a:r>
                <a:endParaRPr lang="es-ES_tradnl" sz="1400" noProof="0" dirty="0"/>
              </a:p>
            </p:txBody>
          </p:sp>
        </mc:Choice>
        <mc:Fallback>
          <p:sp>
            <p:nvSpPr>
              <p:cNvPr id="17" name="Text 14"/>
              <p:cNvSpPr>
                <a:spLocks noRot="1" noChangeAspect="1" noMove="1" noResize="1" noEditPoints="1" noAdjustHandles="1" noChangeArrowheads="1" noChangeShapeType="1" noTextEdit="1"/>
              </p:cNvSpPr>
              <p:nvPr/>
            </p:nvSpPr>
            <p:spPr>
              <a:xfrm>
                <a:off x="6451600" y="2511921"/>
                <a:ext cx="4813808" cy="523081"/>
              </a:xfrm>
              <a:prstGeom prst="rect">
                <a:avLst/>
              </a:prstGeom>
              <a:blipFill>
                <a:blip r:embed="rId4"/>
                <a:stretch>
                  <a:fillRect l="-2100" t="-4651" b="-11628"/>
                </a:stretch>
              </a:blipFill>
              <a:ln/>
            </p:spPr>
            <p:txBody>
              <a:bodyPr/>
              <a:lstStyle/>
              <a:p>
                <a:r>
                  <a:rPr lang="en-CO">
                    <a:noFill/>
                  </a:rPr>
                  <a:t> </a:t>
                </a:r>
              </a:p>
            </p:txBody>
          </p:sp>
        </mc:Fallback>
      </mc:AlternateContent>
      <p:pic>
        <p:nvPicPr>
          <p:cNvPr id="18" name="Image 1" descr="error = raíz de P(1 − P)/N"/>
          <p:cNvPicPr>
            <a:picLocks noChangeAspect="1"/>
          </p:cNvPicPr>
          <p:nvPr/>
        </p:nvPicPr>
        <p:blipFill>
          <a:blip r:embed="rId5"/>
          <a:srcRect l="-201" r="-201"/>
          <a:stretch/>
        </p:blipFill>
        <p:spPr>
          <a:xfrm>
            <a:off x="6451600" y="3136602"/>
            <a:ext cx="2330450" cy="679450"/>
          </a:xfrm>
          <a:prstGeom prst="rect">
            <a:avLst/>
          </a:prstGeom>
        </p:spPr>
      </p:pic>
      <p:sp>
        <p:nvSpPr>
          <p:cNvPr id="19" name="Text 15"/>
          <p:cNvSpPr/>
          <p:nvPr/>
        </p:nvSpPr>
        <p:spPr>
          <a:xfrm>
            <a:off x="6451600" y="394305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es cero con N → ∞. Es una herramienta de análisis, </a:t>
            </a:r>
            <a:r>
              <a:rPr lang="es-ES_tradnl" sz="1400" b="1" noProof="0" dirty="0">
                <a:solidFill>
                  <a:srgbClr val="3C3C3B"/>
                </a:solidFill>
                <a:latin typeface="Roboto" pitchFamily="34" charset="0"/>
                <a:ea typeface="Roboto" pitchFamily="34" charset="-122"/>
                <a:cs typeface="Roboto" pitchFamily="34" charset="-120"/>
              </a:rPr>
              <a:t>no algo que tenga quien recibe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21"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15</a:t>
            </a:r>
            <a:endParaRPr lang="es-ES_tradnl" sz="1200" noProof="0" dirty="0"/>
          </a:p>
        </p:txBody>
      </p:sp>
    </p:spTree>
    <p:extLst>
      <p:ext uri="{BB962C8B-B14F-4D97-AF65-F5344CB8AC3E}">
        <p14:creationId xmlns:p14="http://schemas.microsoft.com/office/powerpoint/2010/main" val="4037142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Medir el estado agregado = sortear una persona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estado agregado es la mezcla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 = (1/n)·</a:t>
            </a:r>
            <a:r>
              <a:rPr lang="es-ES_tradnl" sz="1800" noProof="0" dirty="0" err="1">
                <a:solidFill>
                  <a:srgbClr val="3C3C3B"/>
                </a:solidFill>
                <a:latin typeface="Roboto" pitchFamily="34" charset="0"/>
                <a:ea typeface="Roboto" pitchFamily="34" charset="-122"/>
                <a:cs typeface="Roboto" pitchFamily="34" charset="-120"/>
              </a:rPr>
              <a:t>Σ</a:t>
            </a:r>
            <a:r>
              <a:rPr lang="es-ES_tradnl" sz="1800" noProof="0" dirty="0">
                <a:solidFill>
                  <a:srgbClr val="3C3C3B"/>
                </a:solidFill>
                <a:latin typeface="Roboto" pitchFamily="34" charset="0"/>
                <a:ea typeface="Roboto" pitchFamily="34" charset="-122"/>
                <a:cs typeface="Roboto" pitchFamily="34" charset="-120"/>
              </a:rPr>
              <a:t>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ᵢ. Para cualquier resultado </a:t>
            </a:r>
            <a:r>
              <a:rPr lang="es-ES_tradnl" sz="1800" noProof="0" dirty="0" err="1">
                <a:solidFill>
                  <a:srgbClr val="3C3C3B"/>
                </a:solidFill>
                <a:latin typeface="Roboto" pitchFamily="34" charset="0"/>
                <a:ea typeface="Roboto" pitchFamily="34" charset="-122"/>
                <a:cs typeface="Roboto" pitchFamily="34" charset="-120"/>
              </a:rPr>
              <a:t>Π</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10566400" cy="1181100"/>
          </a:xfrm>
          <a:prstGeom prst="roundRect">
            <a:avLst>
              <a:gd name="adj" fmla="val 8602"/>
            </a:avLst>
          </a:prstGeom>
          <a:solidFill>
            <a:srgbClr val="F4F4F2"/>
          </a:solidFill>
          <a:ln/>
        </p:spPr>
        <p:txBody>
          <a:bodyPr/>
          <a:lstStyle/>
          <a:p>
            <a:endParaRPr lang="es-ES_tradnl" noProof="0" dirty="0"/>
          </a:p>
        </p:txBody>
      </p:sp>
      <p:pic>
        <p:nvPicPr>
          <p:cNvPr id="10" name="Image 1" descr="Tr(Πρ) = Σᵢ (1/n)·Tr(Πρᵢ) = Σᵢ P(persona i)·P(resultado | persona i)"/>
          <p:cNvPicPr>
            <a:picLocks noChangeAspect="1"/>
          </p:cNvPicPr>
          <p:nvPr/>
        </p:nvPicPr>
        <p:blipFill>
          <a:blip r:embed="rId4"/>
          <a:srcRect t="-147" b="-147"/>
          <a:stretch/>
        </p:blipFill>
        <p:spPr>
          <a:xfrm>
            <a:off x="2292350" y="2085280"/>
            <a:ext cx="7607300" cy="723900"/>
          </a:xfrm>
          <a:prstGeom prst="rect">
            <a:avLst/>
          </a:prstGeom>
        </p:spPr>
      </p:pic>
      <p:sp>
        <p:nvSpPr>
          <p:cNvPr id="11" name="Text 7"/>
          <p:cNvSpPr/>
          <p:nvPr/>
        </p:nvSpPr>
        <p:spPr>
          <a:xfrm>
            <a:off x="819150" y="3298130"/>
            <a:ext cx="2781300" cy="396180"/>
          </a:xfrm>
          <a:prstGeom prst="roundRect">
            <a:avLst>
              <a:gd name="adj" fmla="val 11220"/>
            </a:avLst>
          </a:prstGeom>
          <a:solidFill>
            <a:srgbClr val="FFFFFF"/>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Estado agregado </a:t>
            </a:r>
            <a:r>
              <a:rPr lang="es-ES_tradnl" sz="1400" noProof="0" dirty="0" err="1">
                <a:solidFill>
                  <a:srgbClr val="1D1D1B"/>
                </a:solidFill>
                <a:latin typeface="Roboto" pitchFamily="34" charset="0"/>
                <a:ea typeface="Roboto" pitchFamily="34" charset="-122"/>
                <a:cs typeface="Roboto" pitchFamily="34" charset="-120"/>
              </a:rPr>
              <a:t>ρ</a:t>
            </a:r>
            <a:endParaRPr lang="es-ES_tradnl" sz="1400" noProof="0" dirty="0"/>
          </a:p>
        </p:txBody>
      </p:sp>
      <p:pic>
        <p:nvPicPr>
          <p:cNvPr id="12" name="Image 2" descr="connector"/>
          <p:cNvPicPr>
            <a:picLocks noChangeAspect="1"/>
          </p:cNvPicPr>
          <p:nvPr/>
        </p:nvPicPr>
        <p:blipFill>
          <a:blip r:embed="rId5"/>
          <a:srcRect/>
          <a:stretch/>
        </p:blipFill>
        <p:spPr>
          <a:xfrm>
            <a:off x="3708400" y="3445371"/>
            <a:ext cx="355600" cy="101600"/>
          </a:xfrm>
          <a:prstGeom prst="rect">
            <a:avLst/>
          </a:prstGeom>
        </p:spPr>
      </p:pic>
      <p:sp>
        <p:nvSpPr>
          <p:cNvPr id="13" name="Text 8"/>
          <p:cNvSpPr/>
          <p:nvPr/>
        </p:nvSpPr>
        <p:spPr>
          <a:xfrm>
            <a:off x="4171950" y="3298130"/>
            <a:ext cx="2273300" cy="396180"/>
          </a:xfrm>
          <a:prstGeom prst="roundRect">
            <a:avLst>
              <a:gd name="adj" fmla="val 11220"/>
            </a:avLst>
          </a:prstGeom>
          <a:solidFill>
            <a:srgbClr val="FFFFFF"/>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una copia</a:t>
            </a:r>
            <a:endParaRPr lang="es-ES_tradnl" sz="1400" noProof="0" dirty="0"/>
          </a:p>
        </p:txBody>
      </p:sp>
      <p:pic>
        <p:nvPicPr>
          <p:cNvPr id="14" name="Image 3" descr="connector"/>
          <p:cNvPicPr>
            <a:picLocks noChangeAspect="1"/>
          </p:cNvPicPr>
          <p:nvPr/>
        </p:nvPicPr>
        <p:blipFill>
          <a:blip r:embed="rId5"/>
          <a:srcRect/>
          <a:stretch/>
        </p:blipFill>
        <p:spPr>
          <a:xfrm>
            <a:off x="6553200" y="3445371"/>
            <a:ext cx="355600" cy="101600"/>
          </a:xfrm>
          <a:prstGeom prst="rect">
            <a:avLst/>
          </a:prstGeom>
        </p:spPr>
      </p:pic>
      <p:sp>
        <p:nvSpPr>
          <p:cNvPr id="15" name="Text 9"/>
          <p:cNvSpPr/>
          <p:nvPr/>
        </p:nvSpPr>
        <p:spPr>
          <a:xfrm>
            <a:off x="7016750" y="3298130"/>
            <a:ext cx="2451100" cy="396180"/>
          </a:xfrm>
          <a:prstGeom prst="roundRect">
            <a:avLst>
              <a:gd name="adj" fmla="val 11220"/>
            </a:avLst>
          </a:prstGeom>
          <a:solidFill>
            <a:srgbClr val="FFFFFF"/>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16" name="Text 10"/>
          <p:cNvSpPr/>
          <p:nvPr/>
        </p:nvSpPr>
        <p:spPr>
          <a:xfrm>
            <a:off x="819150" y="3808611"/>
            <a:ext cx="2781300" cy="396180"/>
          </a:xfrm>
          <a:prstGeom prst="roundRect">
            <a:avLst>
              <a:gd name="adj" fmla="val 11220"/>
            </a:avLst>
          </a:prstGeom>
          <a:solidFill>
            <a:srgbClr val="F4F4F2"/>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sortear una persona i (1/n)</a:t>
            </a:r>
            <a:endParaRPr lang="es-ES_tradnl" sz="1400" noProof="0" dirty="0"/>
          </a:p>
        </p:txBody>
      </p:sp>
      <p:pic>
        <p:nvPicPr>
          <p:cNvPr id="17" name="Image 4" descr="connector"/>
          <p:cNvPicPr>
            <a:picLocks noChangeAspect="1"/>
          </p:cNvPicPr>
          <p:nvPr/>
        </p:nvPicPr>
        <p:blipFill>
          <a:blip r:embed="rId5"/>
          <a:srcRect/>
          <a:stretch/>
        </p:blipFill>
        <p:spPr>
          <a:xfrm>
            <a:off x="3708400" y="3955852"/>
            <a:ext cx="355600" cy="101600"/>
          </a:xfrm>
          <a:prstGeom prst="rect">
            <a:avLst/>
          </a:prstGeom>
        </p:spPr>
      </p:pic>
      <p:sp>
        <p:nvSpPr>
          <p:cNvPr id="18" name="Text 11"/>
          <p:cNvSpPr/>
          <p:nvPr/>
        </p:nvSpPr>
        <p:spPr>
          <a:xfrm>
            <a:off x="4171950" y="3808611"/>
            <a:ext cx="2273300" cy="396180"/>
          </a:xfrm>
          <a:prstGeom prst="roundRect">
            <a:avLst>
              <a:gd name="adj" fmla="val 11220"/>
            </a:avLst>
          </a:prstGeom>
          <a:solidFill>
            <a:srgbClr val="F4F4F2"/>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su estado </a:t>
            </a:r>
            <a:r>
              <a:rPr lang="es-ES_tradnl" sz="1400" noProof="0" dirty="0" err="1">
                <a:solidFill>
                  <a:srgbClr val="1D1D1B"/>
                </a:solidFill>
                <a:latin typeface="Roboto" pitchFamily="34" charset="0"/>
                <a:ea typeface="Roboto" pitchFamily="34" charset="-122"/>
                <a:cs typeface="Roboto" pitchFamily="34" charset="-120"/>
              </a:rPr>
              <a:t>ρ</a:t>
            </a:r>
            <a:r>
              <a:rPr lang="es-ES_tradnl" sz="1400" noProof="0" dirty="0">
                <a:solidFill>
                  <a:srgbClr val="1D1D1B"/>
                </a:solidFill>
                <a:latin typeface="Roboto" pitchFamily="34" charset="0"/>
                <a:ea typeface="Roboto" pitchFamily="34" charset="-122"/>
                <a:cs typeface="Roboto" pitchFamily="34" charset="-120"/>
              </a:rPr>
              <a:t>ᵢ</a:t>
            </a:r>
            <a:endParaRPr lang="es-ES_tradnl" sz="1400" noProof="0" dirty="0"/>
          </a:p>
        </p:txBody>
      </p:sp>
      <p:pic>
        <p:nvPicPr>
          <p:cNvPr id="19" name="Image 5" descr="connector"/>
          <p:cNvPicPr>
            <a:picLocks noChangeAspect="1"/>
          </p:cNvPicPr>
          <p:nvPr/>
        </p:nvPicPr>
        <p:blipFill>
          <a:blip r:embed="rId5"/>
          <a:srcRect/>
          <a:stretch/>
        </p:blipFill>
        <p:spPr>
          <a:xfrm>
            <a:off x="6553200" y="3955852"/>
            <a:ext cx="355600" cy="101600"/>
          </a:xfrm>
          <a:prstGeom prst="rect">
            <a:avLst/>
          </a:prstGeom>
        </p:spPr>
      </p:pic>
      <p:sp>
        <p:nvSpPr>
          <p:cNvPr id="20" name="Text 12"/>
          <p:cNvSpPr/>
          <p:nvPr/>
        </p:nvSpPr>
        <p:spPr>
          <a:xfrm>
            <a:off x="7016750" y="3808611"/>
            <a:ext cx="2451100" cy="396180"/>
          </a:xfrm>
          <a:prstGeom prst="roundRect">
            <a:avLst>
              <a:gd name="adj" fmla="val 11220"/>
            </a:avLst>
          </a:prstGeom>
          <a:solidFill>
            <a:srgbClr val="F4F4F2"/>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21" name="Text 13"/>
          <p:cNvSpPr/>
          <p:nvPr/>
        </p:nvSpPr>
        <p:spPr>
          <a:xfrm>
            <a:off x="9728200" y="3402211"/>
            <a:ext cx="1651000" cy="698500"/>
          </a:xfrm>
          <a:prstGeom prst="roundRect">
            <a:avLst>
              <a:gd name="adj" fmla="val 7273"/>
            </a:avLst>
          </a:prstGeom>
          <a:solidFill>
            <a:srgbClr val="FFEE00"/>
          </a:solidFill>
          <a:ln/>
        </p:spPr>
        <p:txBody>
          <a:bodyPr wrap="square" lIns="61321" tIns="112121" rIns="61321" bIns="86721" rtlCol="0" anchor="t">
            <a:normAutofit/>
          </a:bodyPr>
          <a:lstStyle/>
          <a:p>
            <a:pPr marL="0" indent="0" algn="ctr">
              <a:lnSpc>
                <a:spcPts val="1750"/>
              </a:lnSpc>
              <a:buNone/>
            </a:pPr>
            <a:r>
              <a:rPr lang="es-ES_tradnl" sz="1400" b="1" noProof="0" dirty="0">
                <a:solidFill>
                  <a:srgbClr val="1D1D1B"/>
                </a:solidFill>
                <a:latin typeface="DM Sans" pitchFamily="34" charset="0"/>
                <a:ea typeface="DM Sans" pitchFamily="34" charset="-122"/>
                <a:cs typeface="DM Sans" pitchFamily="34" charset="-120"/>
              </a:rPr>
              <a:t>Mismas probabilidades</a:t>
            </a:r>
            <a:endParaRPr lang="es-ES_tradnl" sz="1400" noProof="0" dirty="0"/>
          </a:p>
        </p:txBody>
      </p:sp>
      <p:sp>
        <p:nvSpPr>
          <p:cNvPr id="22" name="Text 14"/>
          <p:cNvSpPr/>
          <p:nvPr/>
        </p:nvSpPr>
        <p:spPr>
          <a:xfrm>
            <a:off x="812800" y="4465141"/>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la </a:t>
            </a:r>
            <a:r>
              <a:rPr lang="es-ES_tradnl" sz="1400" b="1" noProof="0" dirty="0">
                <a:solidFill>
                  <a:srgbClr val="3C3C3B"/>
                </a:solidFill>
                <a:latin typeface="Roboto" pitchFamily="34" charset="0"/>
                <a:ea typeface="Roboto" pitchFamily="34" charset="-122"/>
                <a:cs typeface="Roboto" pitchFamily="34" charset="-120"/>
              </a:rPr>
              <a:t>ley de probabilidad total</a:t>
            </a:r>
            <a:r>
              <a:rPr lang="es-ES_tradnl" sz="1400" noProof="0" dirty="0">
                <a:solidFill>
                  <a:srgbClr val="3C3C3B"/>
                </a:solidFill>
                <a:latin typeface="Roboto" pitchFamily="34" charset="0"/>
                <a:ea typeface="Roboto" pitchFamily="34" charset="-122"/>
                <a:cs typeface="Roboto" pitchFamily="34" charset="-120"/>
              </a:rPr>
              <a:t>: medir una copia de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da las mismas probabilidades que sortear una persona y medir su estado.</a:t>
            </a:r>
            <a:endParaRPr lang="es-ES_tradnl" sz="1400" noProof="0" dirty="0"/>
          </a:p>
        </p:txBody>
      </p:sp>
      <p:sp>
        <p:nvSpPr>
          <p:cNvPr id="24" name="Text 1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17</a:t>
            </a:r>
            <a:endParaRPr lang="es-ES_tradnl" sz="1200" noProof="0" dirty="0"/>
          </a:p>
        </p:txBody>
      </p:sp>
    </p:spTree>
    <p:extLst>
      <p:ext uri="{BB962C8B-B14F-4D97-AF65-F5344CB8AC3E}">
        <p14:creationId xmlns:p14="http://schemas.microsoft.com/office/powerpoint/2010/main" val="21570813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límite de la codificación</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Aun sin ruido, una medición no recupera la categoría: en un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caben como mucho 2 estados ortogonales.</a:t>
            </a:r>
            <a:endParaRPr lang="es-ES_tradnl" sz="1800" noProof="0" dirty="0"/>
          </a:p>
        </p:txBody>
      </p:sp>
      <p:pic>
        <p:nvPicPr>
          <p:cNvPr id="9" name="Image 1" descr="Ecuador de la esfera de Bloch: car en +x, none en +y, real estate en −x y savings en −y, separados 90°; la medición en X es el eje horizontal"/>
          <p:cNvPicPr>
            <a:picLocks noChangeAspect="1"/>
          </p:cNvPicPr>
          <p:nvPr/>
        </p:nvPicPr>
        <p:blipFill>
          <a:blip r:embed="rId4"/>
          <a:srcRect/>
          <a:stretch/>
        </p:blipFill>
        <p:spPr>
          <a:xfrm>
            <a:off x="812800" y="2153841"/>
            <a:ext cx="4064000" cy="2794000"/>
          </a:xfrm>
          <a:prstGeom prst="rect">
            <a:avLst/>
          </a:prstGeom>
        </p:spPr>
      </p:pic>
      <p:sp>
        <p:nvSpPr>
          <p:cNvPr id="10" name="Text 6"/>
          <p:cNvSpPr/>
          <p:nvPr/>
        </p:nvSpPr>
        <p:spPr>
          <a:xfrm>
            <a:off x="4013200" y="3449538"/>
            <a:ext cx="267593"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pic>
        <p:nvPicPr>
          <p:cNvPr id="11" name="Image 2" descr="|+⟩"/>
          <p:cNvPicPr>
            <a:picLocks noChangeAspect="1"/>
          </p:cNvPicPr>
          <p:nvPr/>
        </p:nvPicPr>
        <p:blipFill>
          <a:blip r:embed="rId5"/>
          <a:srcRect t="-355" b="-355"/>
          <a:stretch/>
        </p:blipFill>
        <p:spPr>
          <a:xfrm>
            <a:off x="4280793" y="3439716"/>
            <a:ext cx="298450" cy="222250"/>
          </a:xfrm>
          <a:prstGeom prst="rect">
            <a:avLst/>
          </a:prstGeom>
        </p:spPr>
      </p:pic>
      <p:sp>
        <p:nvSpPr>
          <p:cNvPr id="12" name="Text 7"/>
          <p:cNvSpPr/>
          <p:nvPr/>
        </p:nvSpPr>
        <p:spPr>
          <a:xfrm>
            <a:off x="985044" y="3334941"/>
            <a:ext cx="869156"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pic>
        <p:nvPicPr>
          <p:cNvPr id="13" name="Image 3" descr="|−⟩"/>
          <p:cNvPicPr>
            <a:picLocks noChangeAspect="1"/>
          </p:cNvPicPr>
          <p:nvPr/>
        </p:nvPicPr>
        <p:blipFill>
          <a:blip r:embed="rId6"/>
          <a:srcRect t="-355" b="-355"/>
          <a:stretch/>
        </p:blipFill>
        <p:spPr>
          <a:xfrm>
            <a:off x="1555750" y="3537545"/>
            <a:ext cx="298450" cy="222250"/>
          </a:xfrm>
          <a:prstGeom prst="rect">
            <a:avLst/>
          </a:prstGeom>
        </p:spPr>
      </p:pic>
      <p:sp>
        <p:nvSpPr>
          <p:cNvPr id="14" name="Text 8"/>
          <p:cNvSpPr/>
          <p:nvPr/>
        </p:nvSpPr>
        <p:spPr>
          <a:xfrm>
            <a:off x="2532261" y="2255738"/>
            <a:ext cx="390128"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endParaRPr lang="es-ES_tradnl" sz="1200" noProof="0" dirty="0"/>
          </a:p>
        </p:txBody>
      </p:sp>
      <p:pic>
        <p:nvPicPr>
          <p:cNvPr id="15" name="Image 4" descr="|+i⟩"/>
          <p:cNvPicPr>
            <a:picLocks noChangeAspect="1"/>
          </p:cNvPicPr>
          <p:nvPr/>
        </p:nvPicPr>
        <p:blipFill>
          <a:blip r:embed="rId7"/>
          <a:srcRect/>
          <a:stretch/>
        </p:blipFill>
        <p:spPr>
          <a:xfrm>
            <a:off x="2922389" y="2245916"/>
            <a:ext cx="361950" cy="222250"/>
          </a:xfrm>
          <a:prstGeom prst="rect">
            <a:avLst/>
          </a:prstGeom>
        </p:spPr>
      </p:pic>
      <p:sp>
        <p:nvSpPr>
          <p:cNvPr id="16" name="Text 9"/>
          <p:cNvSpPr/>
          <p:nvPr/>
        </p:nvSpPr>
        <p:spPr>
          <a:xfrm>
            <a:off x="2438400" y="4668738"/>
            <a:ext cx="57785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pic>
        <p:nvPicPr>
          <p:cNvPr id="17" name="Image 5" descr="|−i⟩"/>
          <p:cNvPicPr>
            <a:picLocks noChangeAspect="1"/>
          </p:cNvPicPr>
          <p:nvPr/>
        </p:nvPicPr>
        <p:blipFill>
          <a:blip r:embed="rId8"/>
          <a:srcRect/>
          <a:stretch/>
        </p:blipFill>
        <p:spPr>
          <a:xfrm>
            <a:off x="3016250" y="4658916"/>
            <a:ext cx="361950" cy="222250"/>
          </a:xfrm>
          <a:prstGeom prst="rect">
            <a:avLst/>
          </a:prstGeom>
        </p:spPr>
      </p:pic>
      <p:sp>
        <p:nvSpPr>
          <p:cNvPr id="18" name="Text 10"/>
          <p:cNvSpPr/>
          <p:nvPr/>
        </p:nvSpPr>
        <p:spPr>
          <a:xfrm>
            <a:off x="812800" y="5049441"/>
            <a:ext cx="418592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4 puntos en el ecuador, separados 90°. La medición en base X es el eje horizontal (azul).</a:t>
            </a:r>
            <a:endParaRPr lang="es-ES_tradnl" sz="1200" noProof="0" dirty="0"/>
          </a:p>
        </p:txBody>
      </p:sp>
      <p:sp>
        <p:nvSpPr>
          <p:cNvPr id="19" name="Shape 11"/>
          <p:cNvSpPr/>
          <p:nvPr/>
        </p:nvSpPr>
        <p:spPr>
          <a:xfrm>
            <a:off x="5184775" y="2157016"/>
            <a:ext cx="6191250" cy="1771650"/>
          </a:xfrm>
          <a:prstGeom prst="rect">
            <a:avLst/>
          </a:prstGeom>
          <a:noFill/>
          <a:ln w="6350">
            <a:solidFill>
              <a:srgbClr val="E3E3DF"/>
            </a:solidFill>
            <a:prstDash val="solid"/>
          </a:ln>
        </p:spPr>
        <p:txBody>
          <a:bodyPr/>
          <a:lstStyle/>
          <a:p>
            <a:endParaRPr lang="es-ES_tradnl" noProof="0" dirty="0"/>
          </a:p>
        </p:txBody>
      </p:sp>
      <p:sp>
        <p:nvSpPr>
          <p:cNvPr id="20" name="Shape 12"/>
          <p:cNvSpPr/>
          <p:nvPr/>
        </p:nvSpPr>
        <p:spPr>
          <a:xfrm>
            <a:off x="5187950" y="2160191"/>
            <a:ext cx="6184900" cy="342900"/>
          </a:xfrm>
          <a:prstGeom prst="rect">
            <a:avLst/>
          </a:prstGeom>
          <a:solidFill>
            <a:srgbClr val="3C3C3B"/>
          </a:solidFill>
          <a:ln/>
        </p:spPr>
        <p:txBody>
          <a:bodyPr/>
          <a:lstStyle/>
          <a:p>
            <a:endParaRPr lang="es-ES_tradnl" noProof="0" dirty="0"/>
          </a:p>
        </p:txBody>
      </p:sp>
      <p:sp>
        <p:nvSpPr>
          <p:cNvPr id="21" name="Text 13"/>
          <p:cNvSpPr/>
          <p:nvPr/>
        </p:nvSpPr>
        <p:spPr>
          <a:xfrm>
            <a:off x="5289550" y="2216051"/>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Categoría</a:t>
            </a:r>
            <a:endParaRPr lang="es-ES_tradnl" sz="1300" noProof="0" dirty="0"/>
          </a:p>
        </p:txBody>
      </p:sp>
      <p:sp>
        <p:nvSpPr>
          <p:cNvPr id="22" name="Text 14"/>
          <p:cNvSpPr/>
          <p:nvPr/>
        </p:nvSpPr>
        <p:spPr>
          <a:xfrm>
            <a:off x="7385050" y="2216051"/>
            <a:ext cx="1092200"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Estado</a:t>
            </a:r>
            <a:endParaRPr lang="es-ES_tradnl" sz="1300" noProof="0" dirty="0"/>
          </a:p>
        </p:txBody>
      </p:sp>
      <p:sp>
        <p:nvSpPr>
          <p:cNvPr id="23" name="Text 15"/>
          <p:cNvSpPr/>
          <p:nvPr/>
        </p:nvSpPr>
        <p:spPr>
          <a:xfrm>
            <a:off x="8578850" y="2216051"/>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Proporción</a:t>
            </a:r>
            <a:endParaRPr lang="es-ES_tradnl" sz="1300" noProof="0" dirty="0"/>
          </a:p>
        </p:txBody>
      </p:sp>
      <p:sp>
        <p:nvSpPr>
          <p:cNvPr id="24" name="Text 16"/>
          <p:cNvSpPr/>
          <p:nvPr/>
        </p:nvSpPr>
        <p:spPr>
          <a:xfrm>
            <a:off x="10191750" y="2216051"/>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a:t>
            </a:r>
            <a:endParaRPr lang="es-ES_tradnl" sz="1300" noProof="0" dirty="0"/>
          </a:p>
        </p:txBody>
      </p:sp>
      <p:sp>
        <p:nvSpPr>
          <p:cNvPr id="25" name="Shape 17"/>
          <p:cNvSpPr/>
          <p:nvPr/>
        </p:nvSpPr>
        <p:spPr>
          <a:xfrm>
            <a:off x="5187950" y="2503091"/>
            <a:ext cx="6184900" cy="355600"/>
          </a:xfrm>
          <a:prstGeom prst="rect">
            <a:avLst/>
          </a:prstGeom>
          <a:solidFill>
            <a:srgbClr val="FFFFFF"/>
          </a:solidFill>
          <a:ln/>
        </p:spPr>
        <p:txBody>
          <a:bodyPr/>
          <a:lstStyle/>
          <a:p>
            <a:endParaRPr lang="es-ES_tradnl" noProof="0" dirty="0"/>
          </a:p>
        </p:txBody>
      </p:sp>
      <p:sp>
        <p:nvSpPr>
          <p:cNvPr id="26" name="Shape 18"/>
          <p:cNvSpPr/>
          <p:nvPr/>
        </p:nvSpPr>
        <p:spPr>
          <a:xfrm>
            <a:off x="5187950" y="2506266"/>
            <a:ext cx="6184900" cy="0"/>
          </a:xfrm>
          <a:prstGeom prst="line">
            <a:avLst/>
          </a:prstGeom>
          <a:noFill/>
          <a:ln w="6350">
            <a:solidFill>
              <a:srgbClr val="E3E3DF"/>
            </a:solidFill>
            <a:prstDash val="solid"/>
          </a:ln>
        </p:spPr>
        <p:txBody>
          <a:bodyPr/>
          <a:lstStyle/>
          <a:p>
            <a:endParaRPr lang="es-ES_tradnl" noProof="0" dirty="0"/>
          </a:p>
        </p:txBody>
      </p:sp>
      <p:sp>
        <p:nvSpPr>
          <p:cNvPr id="27" name="Text 19"/>
          <p:cNvSpPr/>
          <p:nvPr/>
        </p:nvSpPr>
        <p:spPr>
          <a:xfrm>
            <a:off x="5289550" y="25684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car</a:t>
            </a:r>
            <a:endParaRPr lang="es-ES_tradnl" sz="1300" noProof="0" dirty="0"/>
          </a:p>
        </p:txBody>
      </p:sp>
      <p:pic>
        <p:nvPicPr>
          <p:cNvPr id="28" name="Image 6" descr="|+⟩"/>
          <p:cNvPicPr>
            <a:picLocks noChangeAspect="1"/>
          </p:cNvPicPr>
          <p:nvPr/>
        </p:nvPicPr>
        <p:blipFill>
          <a:blip r:embed="rId5"/>
          <a:srcRect t="-355" b="-355"/>
          <a:stretch/>
        </p:blipFill>
        <p:spPr>
          <a:xfrm>
            <a:off x="7385050" y="2572941"/>
            <a:ext cx="298450" cy="222250"/>
          </a:xfrm>
          <a:prstGeom prst="rect">
            <a:avLst/>
          </a:prstGeom>
        </p:spPr>
      </p:pic>
      <p:sp>
        <p:nvSpPr>
          <p:cNvPr id="29" name="Text 20"/>
          <p:cNvSpPr/>
          <p:nvPr/>
        </p:nvSpPr>
        <p:spPr>
          <a:xfrm>
            <a:off x="8578850" y="25684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0.232</a:t>
            </a:r>
            <a:endParaRPr lang="es-ES_tradnl" sz="1300" noProof="0" dirty="0"/>
          </a:p>
        </p:txBody>
      </p:sp>
      <p:sp>
        <p:nvSpPr>
          <p:cNvPr id="30" name="Text 21"/>
          <p:cNvSpPr/>
          <p:nvPr/>
        </p:nvSpPr>
        <p:spPr>
          <a:xfrm>
            <a:off x="10191750" y="25684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p>
        </p:txBody>
      </p:sp>
      <p:sp>
        <p:nvSpPr>
          <p:cNvPr id="31" name="Shape 22"/>
          <p:cNvSpPr/>
          <p:nvPr/>
        </p:nvSpPr>
        <p:spPr>
          <a:xfrm>
            <a:off x="5187950" y="2858691"/>
            <a:ext cx="6184900" cy="355600"/>
          </a:xfrm>
          <a:prstGeom prst="rect">
            <a:avLst/>
          </a:prstGeom>
          <a:solidFill>
            <a:srgbClr val="F4F4F2"/>
          </a:solidFill>
          <a:ln/>
        </p:spPr>
        <p:txBody>
          <a:bodyPr/>
          <a:lstStyle/>
          <a:p>
            <a:endParaRPr lang="es-ES_tradnl" noProof="0" dirty="0"/>
          </a:p>
        </p:txBody>
      </p:sp>
      <p:sp>
        <p:nvSpPr>
          <p:cNvPr id="32" name="Shape 23"/>
          <p:cNvSpPr/>
          <p:nvPr/>
        </p:nvSpPr>
        <p:spPr>
          <a:xfrm>
            <a:off x="5187950" y="2861866"/>
            <a:ext cx="6184900" cy="0"/>
          </a:xfrm>
          <a:prstGeom prst="line">
            <a:avLst/>
          </a:prstGeom>
          <a:noFill/>
          <a:ln w="6350">
            <a:solidFill>
              <a:srgbClr val="E3E3DF"/>
            </a:solidFill>
            <a:prstDash val="solid"/>
          </a:ln>
        </p:spPr>
        <p:txBody>
          <a:bodyPr/>
          <a:lstStyle/>
          <a:p>
            <a:endParaRPr lang="es-ES_tradnl" noProof="0" dirty="0"/>
          </a:p>
        </p:txBody>
      </p:sp>
      <p:sp>
        <p:nvSpPr>
          <p:cNvPr id="33" name="Text 24"/>
          <p:cNvSpPr/>
          <p:nvPr/>
        </p:nvSpPr>
        <p:spPr>
          <a:xfrm>
            <a:off x="5289550" y="29240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none</a:t>
            </a:r>
            <a:endParaRPr lang="es-ES_tradnl" sz="1300" noProof="0" dirty="0"/>
          </a:p>
        </p:txBody>
      </p:sp>
      <p:pic>
        <p:nvPicPr>
          <p:cNvPr id="34" name="Image 7" descr="|+i⟩"/>
          <p:cNvPicPr>
            <a:picLocks noChangeAspect="1"/>
          </p:cNvPicPr>
          <p:nvPr/>
        </p:nvPicPr>
        <p:blipFill>
          <a:blip r:embed="rId7"/>
          <a:srcRect/>
          <a:stretch/>
        </p:blipFill>
        <p:spPr>
          <a:xfrm>
            <a:off x="7385050" y="2928541"/>
            <a:ext cx="361950" cy="222250"/>
          </a:xfrm>
          <a:prstGeom prst="rect">
            <a:avLst/>
          </a:prstGeom>
        </p:spPr>
      </p:pic>
      <p:sp>
        <p:nvSpPr>
          <p:cNvPr id="35" name="Text 25"/>
          <p:cNvSpPr/>
          <p:nvPr/>
        </p:nvSpPr>
        <p:spPr>
          <a:xfrm>
            <a:off x="8578850" y="29240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0.282</a:t>
            </a:r>
            <a:endParaRPr lang="es-ES_tradnl" sz="1300" noProof="0" dirty="0"/>
          </a:p>
        </p:txBody>
      </p:sp>
      <p:sp>
        <p:nvSpPr>
          <p:cNvPr id="36" name="Text 26"/>
          <p:cNvSpPr/>
          <p:nvPr/>
        </p:nvSpPr>
        <p:spPr>
          <a:xfrm>
            <a:off x="10191750" y="29240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37" name="Shape 27"/>
          <p:cNvSpPr/>
          <p:nvPr/>
        </p:nvSpPr>
        <p:spPr>
          <a:xfrm>
            <a:off x="5187950" y="3214291"/>
            <a:ext cx="6184900" cy="355600"/>
          </a:xfrm>
          <a:prstGeom prst="rect">
            <a:avLst/>
          </a:prstGeom>
          <a:solidFill>
            <a:srgbClr val="FFFFFF"/>
          </a:solidFill>
          <a:ln/>
        </p:spPr>
        <p:txBody>
          <a:bodyPr/>
          <a:lstStyle/>
          <a:p>
            <a:endParaRPr lang="es-ES_tradnl" noProof="0" dirty="0"/>
          </a:p>
        </p:txBody>
      </p:sp>
      <p:sp>
        <p:nvSpPr>
          <p:cNvPr id="38" name="Shape 28"/>
          <p:cNvSpPr/>
          <p:nvPr/>
        </p:nvSpPr>
        <p:spPr>
          <a:xfrm>
            <a:off x="5187950" y="3217466"/>
            <a:ext cx="6184900" cy="0"/>
          </a:xfrm>
          <a:prstGeom prst="line">
            <a:avLst/>
          </a:prstGeom>
          <a:noFill/>
          <a:ln w="6350">
            <a:solidFill>
              <a:srgbClr val="E3E3DF"/>
            </a:solidFill>
            <a:prstDash val="solid"/>
          </a:ln>
        </p:spPr>
        <p:txBody>
          <a:bodyPr/>
          <a:lstStyle/>
          <a:p>
            <a:endParaRPr lang="es-ES_tradnl" noProof="0" dirty="0"/>
          </a:p>
        </p:txBody>
      </p:sp>
      <p:sp>
        <p:nvSpPr>
          <p:cNvPr id="39" name="Text 29"/>
          <p:cNvSpPr/>
          <p:nvPr/>
        </p:nvSpPr>
        <p:spPr>
          <a:xfrm>
            <a:off x="5289550" y="32796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real estate</a:t>
            </a:r>
            <a:endParaRPr lang="es-ES_tradnl" sz="1300" noProof="0" dirty="0"/>
          </a:p>
        </p:txBody>
      </p:sp>
      <p:pic>
        <p:nvPicPr>
          <p:cNvPr id="40" name="Image 8" descr="|−⟩"/>
          <p:cNvPicPr>
            <a:picLocks noChangeAspect="1"/>
          </p:cNvPicPr>
          <p:nvPr/>
        </p:nvPicPr>
        <p:blipFill>
          <a:blip r:embed="rId6"/>
          <a:srcRect t="-355" b="-355"/>
          <a:stretch/>
        </p:blipFill>
        <p:spPr>
          <a:xfrm>
            <a:off x="7385050" y="3284141"/>
            <a:ext cx="298450" cy="222250"/>
          </a:xfrm>
          <a:prstGeom prst="rect">
            <a:avLst/>
          </a:prstGeom>
        </p:spPr>
      </p:pic>
      <p:sp>
        <p:nvSpPr>
          <p:cNvPr id="41" name="Text 30"/>
          <p:cNvSpPr/>
          <p:nvPr/>
        </p:nvSpPr>
        <p:spPr>
          <a:xfrm>
            <a:off x="8578850" y="32796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0.332</a:t>
            </a:r>
            <a:endParaRPr lang="es-ES_tradnl" sz="1300" noProof="0" dirty="0"/>
          </a:p>
        </p:txBody>
      </p:sp>
      <p:sp>
        <p:nvSpPr>
          <p:cNvPr id="42" name="Text 31"/>
          <p:cNvSpPr/>
          <p:nvPr/>
        </p:nvSpPr>
        <p:spPr>
          <a:xfrm>
            <a:off x="10191750" y="32796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a:t>
            </a:r>
            <a:endParaRPr lang="es-ES_tradnl" sz="1300" noProof="0" dirty="0"/>
          </a:p>
        </p:txBody>
      </p:sp>
      <p:sp>
        <p:nvSpPr>
          <p:cNvPr id="43" name="Shape 32"/>
          <p:cNvSpPr/>
          <p:nvPr/>
        </p:nvSpPr>
        <p:spPr>
          <a:xfrm>
            <a:off x="5187950" y="3569891"/>
            <a:ext cx="6184900" cy="355600"/>
          </a:xfrm>
          <a:prstGeom prst="rect">
            <a:avLst/>
          </a:prstGeom>
          <a:solidFill>
            <a:srgbClr val="F4F4F2"/>
          </a:solidFill>
          <a:ln/>
        </p:spPr>
        <p:txBody>
          <a:bodyPr/>
          <a:lstStyle/>
          <a:p>
            <a:endParaRPr lang="es-ES_tradnl" noProof="0" dirty="0"/>
          </a:p>
        </p:txBody>
      </p:sp>
      <p:sp>
        <p:nvSpPr>
          <p:cNvPr id="44" name="Shape 33"/>
          <p:cNvSpPr/>
          <p:nvPr/>
        </p:nvSpPr>
        <p:spPr>
          <a:xfrm>
            <a:off x="5187950" y="3573066"/>
            <a:ext cx="6184900" cy="0"/>
          </a:xfrm>
          <a:prstGeom prst="line">
            <a:avLst/>
          </a:prstGeom>
          <a:noFill/>
          <a:ln w="6350">
            <a:solidFill>
              <a:srgbClr val="E3E3DF"/>
            </a:solidFill>
            <a:prstDash val="solid"/>
          </a:ln>
        </p:spPr>
        <p:txBody>
          <a:bodyPr/>
          <a:lstStyle/>
          <a:p>
            <a:endParaRPr lang="es-ES_tradnl" noProof="0" dirty="0"/>
          </a:p>
        </p:txBody>
      </p:sp>
      <p:sp>
        <p:nvSpPr>
          <p:cNvPr id="45" name="Text 34"/>
          <p:cNvSpPr/>
          <p:nvPr/>
        </p:nvSpPr>
        <p:spPr>
          <a:xfrm>
            <a:off x="5289550" y="36352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savings</a:t>
            </a:r>
            <a:endParaRPr lang="es-ES_tradnl" sz="1300" noProof="0" dirty="0"/>
          </a:p>
        </p:txBody>
      </p:sp>
      <p:pic>
        <p:nvPicPr>
          <p:cNvPr id="46" name="Image 9" descr="|−i⟩"/>
          <p:cNvPicPr>
            <a:picLocks noChangeAspect="1"/>
          </p:cNvPicPr>
          <p:nvPr/>
        </p:nvPicPr>
        <p:blipFill>
          <a:blip r:embed="rId8"/>
          <a:srcRect/>
          <a:stretch/>
        </p:blipFill>
        <p:spPr>
          <a:xfrm>
            <a:off x="7385050" y="3639741"/>
            <a:ext cx="361950" cy="222250"/>
          </a:xfrm>
          <a:prstGeom prst="rect">
            <a:avLst/>
          </a:prstGeom>
        </p:spPr>
      </p:pic>
      <p:sp>
        <p:nvSpPr>
          <p:cNvPr id="47" name="Text 35"/>
          <p:cNvSpPr/>
          <p:nvPr/>
        </p:nvSpPr>
        <p:spPr>
          <a:xfrm>
            <a:off x="8578850" y="36352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0.154</a:t>
            </a:r>
            <a:endParaRPr lang="es-ES_tradnl" sz="1300" noProof="0" dirty="0"/>
          </a:p>
        </p:txBody>
      </p:sp>
      <p:sp>
        <p:nvSpPr>
          <p:cNvPr id="48" name="Text 36"/>
          <p:cNvSpPr/>
          <p:nvPr/>
        </p:nvSpPr>
        <p:spPr>
          <a:xfrm>
            <a:off x="10191750" y="36352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49" name="Text 37"/>
          <p:cNvSpPr/>
          <p:nvPr/>
        </p:nvSpPr>
        <p:spPr>
          <a:xfrm>
            <a:off x="5181600" y="4084241"/>
            <a:ext cx="638352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Lo que estima F, sin ruido:</a:t>
            </a:r>
            <a:endParaRPr lang="es-ES_tradnl" sz="1200" noProof="0" dirty="0"/>
          </a:p>
        </p:txBody>
      </p:sp>
      <p:pic>
        <p:nvPicPr>
          <p:cNvPr id="50" name="Image 10" descr="E[F] = 0.232·1 + 0.282·½ + 0.332·0 + 0.154·½ = 0.45"/>
          <p:cNvPicPr>
            <a:picLocks noChangeAspect="1"/>
          </p:cNvPicPr>
          <p:nvPr/>
        </p:nvPicPr>
        <p:blipFill>
          <a:blip r:embed="rId9"/>
          <a:srcRect t="-343" b="-343"/>
          <a:stretch/>
        </p:blipFill>
        <p:spPr>
          <a:xfrm>
            <a:off x="5181600" y="4399161"/>
            <a:ext cx="5346700" cy="311150"/>
          </a:xfrm>
          <a:prstGeom prst="rect">
            <a:avLst/>
          </a:prstGeom>
        </p:spPr>
      </p:pic>
      <p:sp>
        <p:nvSpPr>
          <p:cNvPr id="51" name="Text 38"/>
          <p:cNvSpPr/>
          <p:nvPr/>
        </p:nvSpPr>
        <p:spPr>
          <a:xfrm>
            <a:off x="5181600" y="4811911"/>
            <a:ext cx="638352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a:t>
            </a:r>
            <a:r>
              <a:rPr lang="es-ES_tradnl" sz="1400" b="1" noProof="0" dirty="0">
                <a:solidFill>
                  <a:srgbClr val="3C3C3B"/>
                </a:solidFill>
                <a:latin typeface="Roboto" pitchFamily="34" charset="0"/>
                <a:ea typeface="Roboto" pitchFamily="34" charset="-122"/>
                <a:cs typeface="Roboto" pitchFamily="34" charset="-120"/>
              </a:rPr>
              <a:t>una sola combinación</a:t>
            </a:r>
            <a:r>
              <a:rPr lang="es-ES_tradnl" sz="1400" noProof="0" dirty="0">
                <a:solidFill>
                  <a:srgbClr val="3C3C3B"/>
                </a:solidFill>
                <a:latin typeface="Roboto" pitchFamily="34" charset="0"/>
                <a:ea typeface="Roboto" pitchFamily="34" charset="-122"/>
                <a:cs typeface="Roboto" pitchFamily="34" charset="-120"/>
              </a:rPr>
              <a:t> de las proporciones, no los 4 conteos: un número para 3 incógnitas, y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entran con el mismo peso.</a:t>
            </a:r>
            <a:endParaRPr lang="es-ES_tradnl" sz="1400" noProof="0" dirty="0"/>
          </a:p>
        </p:txBody>
      </p:sp>
      <p:sp>
        <p:nvSpPr>
          <p:cNvPr id="53" name="Text 4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18</a:t>
            </a:r>
            <a:endParaRPr lang="es-ES_tradnl" sz="1200" noProof="0" dirty="0"/>
          </a:p>
        </p:txBody>
      </p:sp>
    </p:spTree>
    <p:extLst>
      <p:ext uri="{BB962C8B-B14F-4D97-AF65-F5344CB8AC3E}">
        <p14:creationId xmlns:p14="http://schemas.microsoft.com/office/powerpoint/2010/main" val="2536082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ruido visto desde un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ruido corre el promedio hacia ½, y lo hace de forma determinista.</a:t>
            </a:r>
            <a:endParaRPr lang="es-ES_tradnl" sz="1800" noProof="0" dirty="0"/>
          </a:p>
        </p:txBody>
      </p:sp>
      <p:sp>
        <p:nvSpPr>
          <p:cNvPr id="9" name="Text 6"/>
          <p:cNvSpPr/>
          <p:nvPr/>
        </p:nvSpPr>
        <p:spPr>
          <a:xfrm>
            <a:off x="812800" y="1856680"/>
            <a:ext cx="497078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UNA PERSONA</a:t>
            </a:r>
            <a:endParaRPr lang="es-ES_tradnl" sz="1200" noProof="0" dirty="0"/>
          </a:p>
        </p:txBody>
      </p:sp>
      <p:pic>
        <p:nvPicPr>
          <p:cNvPr id="10" name="Image 1" descr="P″(+) = (1−p)·P(+) + p/2"/>
          <p:cNvPicPr>
            <a:picLocks noChangeAspect="1"/>
          </p:cNvPicPr>
          <p:nvPr/>
        </p:nvPicPr>
        <p:blipFill>
          <a:blip r:embed="rId4"/>
          <a:srcRect t="-218" b="-218"/>
          <a:stretch/>
        </p:blipFill>
        <p:spPr>
          <a:xfrm>
            <a:off x="812800" y="2146201"/>
            <a:ext cx="3321050" cy="571500"/>
          </a:xfrm>
          <a:prstGeom prst="rect">
            <a:avLst/>
          </a:prstGeom>
        </p:spPr>
      </p:pic>
      <p:sp>
        <p:nvSpPr>
          <p:cNvPr id="11" name="Text 7"/>
          <p:cNvSpPr/>
          <p:nvPr/>
        </p:nvSpPr>
        <p:spPr>
          <a:xfrm>
            <a:off x="812800" y="2882801"/>
            <a:ext cx="132080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sp>
        <p:nvSpPr>
          <p:cNvPr id="12" name="Text 8"/>
          <p:cNvSpPr/>
          <p:nvPr/>
        </p:nvSpPr>
        <p:spPr>
          <a:xfrm>
            <a:off x="2438400" y="2882801"/>
            <a:ext cx="1574800" cy="228005"/>
          </a:xfrm>
          <a:prstGeom prst="rect">
            <a:avLst/>
          </a:prstGeom>
          <a:noFill/>
          <a:ln/>
        </p:spPr>
        <p:txBody>
          <a:bodyPr wrap="square" lIns="0" tIns="0" rIns="0" bIns="0" rtlCol="0" anchor="t">
            <a:normAutofit/>
          </a:bodyPr>
          <a:lstStyle/>
          <a:p>
            <a:pPr marL="0" indent="0" algn="ctr">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r>
              <a:rPr lang="es-ES_tradnl" sz="1200" b="1" noProof="0" dirty="0">
                <a:solidFill>
                  <a:srgbClr val="1D1D1B"/>
                </a:solidFill>
                <a:latin typeface="Roboto" pitchFamily="34" charset="0"/>
                <a:ea typeface="Roboto" pitchFamily="34" charset="-122"/>
                <a:cs typeface="Roboto" pitchFamily="34" charset="-120"/>
              </a:rPr>
              <a:t>, </a:t>
            </a: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sp>
        <p:nvSpPr>
          <p:cNvPr id="13" name="Text 9"/>
          <p:cNvSpPr/>
          <p:nvPr/>
        </p:nvSpPr>
        <p:spPr>
          <a:xfrm>
            <a:off x="4318000" y="2882801"/>
            <a:ext cx="1320800"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sp>
        <p:nvSpPr>
          <p:cNvPr id="14" name="Shape 10"/>
          <p:cNvSpPr/>
          <p:nvPr/>
        </p:nvSpPr>
        <p:spPr>
          <a:xfrm>
            <a:off x="990600" y="3162201"/>
            <a:ext cx="152400" cy="152400"/>
          </a:xfrm>
          <a:prstGeom prst="roundRect">
            <a:avLst>
              <a:gd name="adj" fmla="val 50000"/>
            </a:avLst>
          </a:prstGeom>
          <a:solidFill>
            <a:srgbClr val="3C3C3B"/>
          </a:solidFill>
          <a:ln/>
        </p:spPr>
        <p:txBody>
          <a:bodyPr/>
          <a:lstStyle/>
          <a:p>
            <a:endParaRPr lang="es-ES_tradnl" noProof="0" dirty="0"/>
          </a:p>
        </p:txBody>
      </p:sp>
      <p:sp>
        <p:nvSpPr>
          <p:cNvPr id="15" name="Shape 11"/>
          <p:cNvSpPr/>
          <p:nvPr/>
        </p:nvSpPr>
        <p:spPr>
          <a:xfrm>
            <a:off x="3149600" y="3162201"/>
            <a:ext cx="152400" cy="152400"/>
          </a:xfrm>
          <a:prstGeom prst="roundRect">
            <a:avLst>
              <a:gd name="adj" fmla="val 50000"/>
            </a:avLst>
          </a:prstGeom>
          <a:solidFill>
            <a:srgbClr val="3C3C3B"/>
          </a:solidFill>
          <a:ln/>
        </p:spPr>
        <p:txBody>
          <a:bodyPr/>
          <a:lstStyle/>
          <a:p>
            <a:endParaRPr lang="es-ES_tradnl" noProof="0" dirty="0"/>
          </a:p>
        </p:txBody>
      </p:sp>
      <p:sp>
        <p:nvSpPr>
          <p:cNvPr id="16" name="Shape 12"/>
          <p:cNvSpPr/>
          <p:nvPr/>
        </p:nvSpPr>
        <p:spPr>
          <a:xfrm>
            <a:off x="5308600" y="3162201"/>
            <a:ext cx="152400" cy="152400"/>
          </a:xfrm>
          <a:prstGeom prst="roundRect">
            <a:avLst>
              <a:gd name="adj" fmla="val 50000"/>
            </a:avLst>
          </a:prstGeom>
          <a:solidFill>
            <a:srgbClr val="3C3C3B"/>
          </a:solidFill>
          <a:ln/>
        </p:spPr>
        <p:txBody>
          <a:bodyPr/>
          <a:lstStyle/>
          <a:p>
            <a:endParaRPr lang="es-ES_tradnl" noProof="0" dirty="0"/>
          </a:p>
        </p:txBody>
      </p:sp>
      <p:sp>
        <p:nvSpPr>
          <p:cNvPr id="17" name="Shape 13"/>
          <p:cNvSpPr/>
          <p:nvPr/>
        </p:nvSpPr>
        <p:spPr>
          <a:xfrm>
            <a:off x="1066800" y="3860701"/>
            <a:ext cx="4318000" cy="25400"/>
          </a:xfrm>
          <a:prstGeom prst="rect">
            <a:avLst/>
          </a:prstGeom>
          <a:solidFill>
            <a:srgbClr val="3C3C3B"/>
          </a:solidFill>
          <a:ln/>
        </p:spPr>
        <p:txBody>
          <a:bodyPr/>
          <a:lstStyle/>
          <a:p>
            <a:endParaRPr lang="es-ES_tradnl" noProof="0" dirty="0"/>
          </a:p>
        </p:txBody>
      </p:sp>
      <p:pic>
        <p:nvPicPr>
          <p:cNvPr id="18" name="Image 2" descr="connector"/>
          <p:cNvPicPr>
            <a:picLocks noChangeAspect="1"/>
          </p:cNvPicPr>
          <p:nvPr/>
        </p:nvPicPr>
        <p:blipFill>
          <a:blip r:embed="rId5"/>
          <a:srcRect/>
          <a:stretch/>
        </p:blipFill>
        <p:spPr>
          <a:xfrm>
            <a:off x="1092200" y="3225701"/>
            <a:ext cx="990600" cy="641350"/>
          </a:xfrm>
          <a:prstGeom prst="rect">
            <a:avLst/>
          </a:prstGeom>
        </p:spPr>
      </p:pic>
      <p:pic>
        <p:nvPicPr>
          <p:cNvPr id="19" name="Image 3" descr="connector"/>
          <p:cNvPicPr>
            <a:picLocks noChangeAspect="1"/>
          </p:cNvPicPr>
          <p:nvPr/>
        </p:nvPicPr>
        <p:blipFill>
          <a:blip r:embed="rId6"/>
          <a:srcRect/>
          <a:stretch/>
        </p:blipFill>
        <p:spPr>
          <a:xfrm>
            <a:off x="3175000" y="3276501"/>
            <a:ext cx="101600" cy="520700"/>
          </a:xfrm>
          <a:prstGeom prst="rect">
            <a:avLst/>
          </a:prstGeom>
        </p:spPr>
      </p:pic>
      <p:pic>
        <p:nvPicPr>
          <p:cNvPr id="20" name="Image 4" descr="connector"/>
          <p:cNvPicPr>
            <a:picLocks noChangeAspect="1"/>
          </p:cNvPicPr>
          <p:nvPr/>
        </p:nvPicPr>
        <p:blipFill>
          <a:blip r:embed="rId7"/>
          <a:srcRect/>
          <a:stretch/>
        </p:blipFill>
        <p:spPr>
          <a:xfrm>
            <a:off x="4368800" y="3225701"/>
            <a:ext cx="990600" cy="641350"/>
          </a:xfrm>
          <a:prstGeom prst="rect">
            <a:avLst/>
          </a:prstGeom>
        </p:spPr>
      </p:pic>
      <p:sp>
        <p:nvSpPr>
          <p:cNvPr id="21" name="Shape 14"/>
          <p:cNvSpPr/>
          <p:nvPr/>
        </p:nvSpPr>
        <p:spPr>
          <a:xfrm>
            <a:off x="2047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2" name="Shape 15"/>
          <p:cNvSpPr/>
          <p:nvPr/>
        </p:nvSpPr>
        <p:spPr>
          <a:xfrm>
            <a:off x="31273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3" name="Shape 16"/>
          <p:cNvSpPr/>
          <p:nvPr/>
        </p:nvSpPr>
        <p:spPr>
          <a:xfrm>
            <a:off x="4206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4" name="Text 17"/>
          <p:cNvSpPr/>
          <p:nvPr/>
        </p:nvSpPr>
        <p:spPr>
          <a:xfrm>
            <a:off x="787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a:t>
            </a:r>
            <a:endParaRPr lang="es-ES_tradnl" sz="1200" noProof="0" dirty="0"/>
          </a:p>
        </p:txBody>
      </p:sp>
      <p:sp>
        <p:nvSpPr>
          <p:cNvPr id="25" name="Text 18"/>
          <p:cNvSpPr/>
          <p:nvPr/>
        </p:nvSpPr>
        <p:spPr>
          <a:xfrm>
            <a:off x="1866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0.25</a:t>
            </a:r>
            <a:endParaRPr lang="es-ES_tradnl" sz="1200" noProof="0" dirty="0"/>
          </a:p>
        </p:txBody>
      </p:sp>
      <p:sp>
        <p:nvSpPr>
          <p:cNvPr id="26" name="Text 19"/>
          <p:cNvSpPr/>
          <p:nvPr/>
        </p:nvSpPr>
        <p:spPr>
          <a:xfrm>
            <a:off x="2946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
        <p:nvSpPr>
          <p:cNvPr id="27" name="Text 20"/>
          <p:cNvSpPr/>
          <p:nvPr/>
        </p:nvSpPr>
        <p:spPr>
          <a:xfrm>
            <a:off x="4025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0.75</a:t>
            </a:r>
            <a:endParaRPr lang="es-ES_tradnl" sz="1200" noProof="0" dirty="0"/>
          </a:p>
        </p:txBody>
      </p:sp>
      <p:sp>
        <p:nvSpPr>
          <p:cNvPr id="28" name="Text 21"/>
          <p:cNvSpPr/>
          <p:nvPr/>
        </p:nvSpPr>
        <p:spPr>
          <a:xfrm>
            <a:off x="5105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1</a:t>
            </a:r>
            <a:endParaRPr lang="es-ES_tradnl" sz="1200" noProof="0" dirty="0"/>
          </a:p>
        </p:txBody>
      </p:sp>
      <p:sp>
        <p:nvSpPr>
          <p:cNvPr id="29" name="Text 22"/>
          <p:cNvSpPr/>
          <p:nvPr/>
        </p:nvSpPr>
        <p:spPr>
          <a:xfrm>
            <a:off x="812800" y="4229001"/>
            <a:ext cx="4970780"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Arriba, P(+) sin ruido; abajo, con p = 0.5. Con p = 1, todas dan ½.</a:t>
            </a:r>
            <a:endParaRPr lang="es-ES_tradnl" sz="1200" noProof="0" dirty="0"/>
          </a:p>
        </p:txBody>
      </p:sp>
      <p:sp>
        <p:nvSpPr>
          <p:cNvPr id="30" name="Text 23"/>
          <p:cNvSpPr/>
          <p:nvPr/>
        </p:nvSpPr>
        <p:spPr>
          <a:xfrm>
            <a:off x="6045200" y="1856680"/>
            <a:ext cx="549402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PROMEDIANDO SOBRE LAS PERSONAS</a:t>
            </a:r>
            <a:endParaRPr lang="es-ES_tradnl" sz="1200" noProof="0" dirty="0"/>
          </a:p>
        </p:txBody>
      </p:sp>
      <p:pic>
        <p:nvPicPr>
          <p:cNvPr id="31" name="Image 5" descr="E[F_C] − ½ = (1−p)·(E[F_B] − ½)"/>
          <p:cNvPicPr>
            <a:picLocks noChangeAspect="1"/>
          </p:cNvPicPr>
          <p:nvPr/>
        </p:nvPicPr>
        <p:blipFill>
          <a:blip r:embed="rId8"/>
          <a:srcRect t="-318" b="-318"/>
          <a:stretch/>
        </p:blipFill>
        <p:spPr>
          <a:xfrm>
            <a:off x="6045200" y="2146201"/>
            <a:ext cx="3740150" cy="368300"/>
          </a:xfrm>
          <a:prstGeom prst="rect">
            <a:avLst/>
          </a:prstGeom>
        </p:spPr>
      </p:pic>
      <p:sp>
        <p:nvSpPr>
          <p:cNvPr id="32" name="Shape 24"/>
          <p:cNvSpPr/>
          <p:nvPr/>
        </p:nvSpPr>
        <p:spPr>
          <a:xfrm>
            <a:off x="6064250" y="2666901"/>
            <a:ext cx="0" cy="746522"/>
          </a:xfrm>
          <a:prstGeom prst="line">
            <a:avLst/>
          </a:prstGeom>
          <a:noFill/>
          <a:ln w="38100">
            <a:solidFill>
              <a:srgbClr val="FFEE00"/>
            </a:solidFill>
            <a:prstDash val="solid"/>
          </a:ln>
        </p:spPr>
        <p:txBody>
          <a:bodyPr/>
          <a:lstStyle/>
          <a:p>
            <a:endParaRPr lang="es-ES_tradnl" noProof="0" dirty="0"/>
          </a:p>
        </p:txBody>
      </p:sp>
      <p:sp>
        <p:nvSpPr>
          <p:cNvPr id="33" name="Text 25"/>
          <p:cNvSpPr/>
          <p:nvPr/>
        </p:nvSpPr>
        <p:spPr>
          <a:xfrm>
            <a:off x="6210300" y="2666901"/>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multiplica la distancia a ½ por (1 − p): empuja hacia ½, el valor del estado totalmente mezclado, </a:t>
            </a:r>
            <a:r>
              <a:rPr lang="es-ES_tradnl" sz="1400" b="1" noProof="0" dirty="0">
                <a:solidFill>
                  <a:srgbClr val="3C3C3B"/>
                </a:solidFill>
                <a:latin typeface="Roboto" pitchFamily="34" charset="0"/>
                <a:ea typeface="Roboto" pitchFamily="34" charset="-122"/>
                <a:cs typeface="Roboto" pitchFamily="34" charset="-120"/>
              </a:rPr>
              <a:t>no hacia el promedio de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34" name="Shape 26"/>
          <p:cNvSpPr/>
          <p:nvPr/>
        </p:nvSpPr>
        <p:spPr>
          <a:xfrm>
            <a:off x="6064250" y="3515023"/>
            <a:ext cx="0" cy="497681"/>
          </a:xfrm>
          <a:prstGeom prst="line">
            <a:avLst/>
          </a:prstGeom>
          <a:noFill/>
          <a:ln w="38100">
            <a:solidFill>
              <a:srgbClr val="FFEE00"/>
            </a:solidFill>
            <a:prstDash val="solid"/>
          </a:ln>
        </p:spPr>
        <p:txBody>
          <a:bodyPr/>
          <a:lstStyle/>
          <a:p>
            <a:endParaRPr lang="es-ES_tradnl" noProof="0" dirty="0"/>
          </a:p>
        </p:txBody>
      </p:sp>
      <p:sp>
        <p:nvSpPr>
          <p:cNvPr id="35" name="Text 27"/>
          <p:cNvSpPr/>
          <p:nvPr/>
        </p:nvSpPr>
        <p:spPr>
          <a:xfrm>
            <a:off x="6210300" y="3515023"/>
            <a:ext cx="5323967"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(1 − p) es el mismo factor con que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encoge el vector de Bloch.</a:t>
            </a:r>
            <a:endParaRPr lang="es-ES_tradnl" sz="1400" noProof="0" dirty="0"/>
          </a:p>
        </p:txBody>
      </p:sp>
      <p:sp>
        <p:nvSpPr>
          <p:cNvPr id="36" name="Shape 28"/>
          <p:cNvSpPr/>
          <p:nvPr/>
        </p:nvSpPr>
        <p:spPr>
          <a:xfrm>
            <a:off x="6064250" y="4114304"/>
            <a:ext cx="0" cy="746522"/>
          </a:xfrm>
          <a:prstGeom prst="line">
            <a:avLst/>
          </a:prstGeom>
          <a:noFill/>
          <a:ln w="38100">
            <a:solidFill>
              <a:srgbClr val="FFEE00"/>
            </a:solidFill>
            <a:prstDash val="solid"/>
          </a:ln>
        </p:spPr>
        <p:txBody>
          <a:bodyPr/>
          <a:lstStyle/>
          <a:p>
            <a:endParaRPr lang="es-ES_tradnl" noProof="0" dirty="0"/>
          </a:p>
        </p:txBody>
      </p:sp>
      <p:sp>
        <p:nvSpPr>
          <p:cNvPr id="37" name="Text 29"/>
          <p:cNvSpPr/>
          <p:nvPr/>
        </p:nvSpPr>
        <p:spPr>
          <a:xfrm>
            <a:off x="6210300" y="4114304"/>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Con </a:t>
            </a:r>
            <a:r>
              <a:rPr lang="es-ES_tradnl" sz="1400" noProof="0" dirty="0" err="1">
                <a:solidFill>
                  <a:srgbClr val="293470"/>
                </a:solidFill>
                <a:latin typeface="Roboto" pitchFamily="34" charset="0"/>
                <a:ea typeface="Roboto" pitchFamily="34" charset="-122"/>
                <a:cs typeface="Roboto" pitchFamily="34" charset="-120"/>
              </a:rPr>
              <a:t>collateral</a:t>
            </a:r>
            <a:r>
              <a:rPr lang="es-ES_tradnl" sz="1400" noProof="0" dirty="0">
                <a:solidFill>
                  <a:srgbClr val="3C3C3B"/>
                </a:solidFill>
                <a:latin typeface="Roboto" pitchFamily="34" charset="0"/>
                <a:ea typeface="Roboto" pitchFamily="34" charset="-122"/>
                <a:cs typeface="Roboto" pitchFamily="34" charset="-120"/>
              </a:rPr>
              <a:t> el corrimiento es chico (0.45 → 0.475) porque 0.45 ya estaba cerca de ½. Si el centro fuera 0.9, el mismo ruido lo llevaría a 0.7.</a:t>
            </a:r>
            <a:endParaRPr lang="es-ES_tradnl" sz="1400" noProof="0" dirty="0"/>
          </a:p>
        </p:txBody>
      </p:sp>
      <p:sp>
        <p:nvSpPr>
          <p:cNvPr id="39" name="Text 3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19</a:t>
            </a:r>
            <a:endParaRPr lang="es-ES_tradnl" sz="1200" noProof="0" dirty="0"/>
          </a:p>
        </p:txBody>
      </p:sp>
    </p:spTree>
    <p:extLst>
      <p:ext uri="{BB962C8B-B14F-4D97-AF65-F5344CB8AC3E}">
        <p14:creationId xmlns:p14="http://schemas.microsoft.com/office/powerpoint/2010/main" val="853756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Corregir el centro, no la dispersión</a:t>
            </a:r>
            <a:endParaRPr lang="es-ES_tradnl" sz="2800" noProof="0" dirty="0"/>
          </a:p>
        </p:txBody>
      </p:sp>
      <mc:AlternateContent xmlns:mc="http://schemas.openxmlformats.org/markup-compatibility/2006">
        <mc:Choice xmlns:a14="http://schemas.microsoft.com/office/drawing/2010/main" Requires="a14">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14:m>
                  <m:oMath xmlns:m="http://schemas.openxmlformats.org/officeDocument/2006/math">
                    <m:acc>
                      <m:accPr>
                        <m:chr m:val="̂"/>
                        <m:ctrlPr>
                          <a:rPr lang="es-ES_tradnl" sz="1800" b="0" i="1" noProof="0" smtClean="0">
                            <a:solidFill>
                              <a:srgbClr val="3C3C3B"/>
                            </a:solidFill>
                            <a:latin typeface="Cambria Math" panose="02040503050406030204" pitchFamily="18" charset="0"/>
                            <a:ea typeface="Roboto" pitchFamily="34" charset="-122"/>
                          </a:rPr>
                        </m:ctrlPr>
                      </m:accPr>
                      <m:e>
                        <m:r>
                          <a:rPr lang="es-ES_tradnl" sz="1800" b="0" i="1" noProof="0" smtClean="0">
                            <a:solidFill>
                              <a:srgbClr val="3C3C3B"/>
                            </a:solidFill>
                            <a:latin typeface="Cambria Math" panose="02040503050406030204" pitchFamily="18" charset="0"/>
                            <a:ea typeface="Roboto" pitchFamily="34" charset="-122"/>
                          </a:rPr>
                          <m:t>𝐹</m:t>
                        </m:r>
                      </m:e>
                    </m:acc>
                    <m:r>
                      <a:rPr lang="es-ES_tradnl" sz="1800" b="0" i="1" noProof="0" smtClean="0">
                        <a:solidFill>
                          <a:srgbClr val="3C3C3B"/>
                        </a:solidFill>
                        <a:latin typeface="Cambria Math" panose="02040503050406030204" pitchFamily="18" charset="0"/>
                        <a:ea typeface="Roboto" pitchFamily="34" charset="-122"/>
                      </a:rPr>
                      <m:t> </m:t>
                    </m:r>
                  </m:oMath>
                </a14:m>
                <a:r>
                  <a:rPr lang="es-ES_tradnl" sz="1800" noProof="0" dirty="0">
                    <a:solidFill>
                      <a:srgbClr val="3C3C3B"/>
                    </a:solidFill>
                    <a:latin typeface="Roboto" pitchFamily="34" charset="0"/>
                    <a:ea typeface="Roboto" pitchFamily="34" charset="-122"/>
                    <a:cs typeface="Roboto" pitchFamily="34" charset="-120"/>
                  </a:rPr>
                  <a:t>queda centrada en el valor verdadero, pero unas 2.8 veces más ancha.</a:t>
                </a:r>
                <a:endParaRPr lang="es-ES_tradnl" sz="1800" noProof="0" dirty="0"/>
              </a:p>
            </p:txBody>
          </p:sp>
        </mc:Choice>
        <mc:Fallback>
          <p:sp>
            <p:nvSpPr>
              <p:cNvPr id="8" name="Text 5"/>
              <p:cNvSpPr>
                <a:spLocks noRot="1" noChangeAspect="1" noMove="1" noResize="1" noEditPoints="1" noAdjustHandles="1" noChangeArrowheads="1" noChangeShapeType="1" noTextEdit="1"/>
              </p:cNvSpPr>
              <p:nvPr/>
            </p:nvSpPr>
            <p:spPr>
              <a:xfrm>
                <a:off x="812800" y="1305520"/>
                <a:ext cx="10883392" cy="322560"/>
              </a:xfrm>
              <a:prstGeom prst="rect">
                <a:avLst/>
              </a:prstGeom>
              <a:blipFill>
                <a:blip r:embed="rId4"/>
                <a:stretch>
                  <a:fillRect l="-698" t="-22222" b="-22222"/>
                </a:stretch>
              </a:blipFill>
              <a:ln/>
            </p:spPr>
            <p:txBody>
              <a:bodyPr/>
              <a:lstStyle/>
              <a:p>
                <a:r>
                  <a:rPr lang="en-CO">
                    <a:noFill/>
                  </a:rPr>
                  <a:t> </a:t>
                </a:r>
              </a:p>
            </p:txBody>
          </p:sp>
        </mc:Fallback>
      </mc:AlternateContent>
      <p:pic>
        <p:nvPicPr>
          <p:cNvPr id="9" name="Image 1" descr="F̂ = (F_C − p/2)/(1 − p)"/>
          <p:cNvPicPr>
            <a:picLocks noChangeAspect="1"/>
          </p:cNvPicPr>
          <p:nvPr/>
        </p:nvPicPr>
        <p:blipFill>
          <a:blip r:embed="rId5"/>
          <a:srcRect l="-149" r="-149"/>
          <a:stretch/>
        </p:blipFill>
        <p:spPr>
          <a:xfrm>
            <a:off x="812800" y="1805880"/>
            <a:ext cx="1854200" cy="711200"/>
          </a:xfrm>
          <a:prstGeom prst="rect">
            <a:avLst/>
          </a:prstGeom>
        </p:spPr>
      </p:pic>
      <p:sp>
        <p:nvSpPr>
          <p:cNvPr id="10" name="Text 6"/>
          <p:cNvSpPr/>
          <p:nvPr/>
        </p:nvSpPr>
        <p:spPr>
          <a:xfrm>
            <a:off x="812800" y="2618680"/>
            <a:ext cx="457835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usa lo medido y el parámetro público p, no el valor verdadero. Es un estimador insesgado, como en el </a:t>
            </a:r>
            <a:r>
              <a:rPr lang="es-ES_tradnl" sz="1400" i="1" noProof="0" dirty="0" err="1">
                <a:solidFill>
                  <a:srgbClr val="3C3C3B"/>
                </a:solidFill>
                <a:latin typeface="Roboto" pitchFamily="34" charset="0"/>
                <a:ea typeface="Roboto" pitchFamily="34" charset="-122"/>
                <a:cs typeface="Roboto" pitchFamily="34" charset="-120"/>
              </a:rPr>
              <a:t>randomized</a:t>
            </a:r>
            <a:r>
              <a:rPr lang="es-ES_tradnl" sz="1400" i="1" noProof="0" dirty="0">
                <a:solidFill>
                  <a:srgbClr val="3C3C3B"/>
                </a:solidFill>
                <a:latin typeface="Roboto" pitchFamily="34" charset="0"/>
                <a:ea typeface="Roboto" pitchFamily="34" charset="-122"/>
                <a:cs typeface="Roboto" pitchFamily="34" charset="-120"/>
              </a:rPr>
              <a:t> response</a:t>
            </a:r>
            <a:r>
              <a:rPr lang="es-ES_tradnl" sz="1400" noProof="0" dirty="0">
                <a:solidFill>
                  <a:srgbClr val="3C3C3B"/>
                </a:solidFill>
                <a:latin typeface="Roboto" pitchFamily="34" charset="0"/>
                <a:ea typeface="Roboto" pitchFamily="34" charset="-122"/>
                <a:cs typeface="Roboto" pitchFamily="34" charset="-120"/>
              </a:rPr>
              <a:t> clásico.</a:t>
            </a:r>
            <a:endParaRPr lang="es-ES_tradnl" sz="1400" noProof="0" dirty="0"/>
          </a:p>
        </p:txBody>
      </p:sp>
      <p:sp>
        <p:nvSpPr>
          <p:cNvPr id="11" name="Shape 7"/>
          <p:cNvSpPr/>
          <p:nvPr/>
        </p:nvSpPr>
        <p:spPr>
          <a:xfrm>
            <a:off x="5562600" y="1805880"/>
            <a:ext cx="2832100" cy="1612702"/>
          </a:xfrm>
          <a:prstGeom prst="roundRect">
            <a:avLst>
              <a:gd name="adj" fmla="val 6300"/>
            </a:avLst>
          </a:prstGeom>
          <a:solidFill>
            <a:srgbClr val="F4F4F2"/>
          </a:solidFill>
          <a:ln/>
        </p:spPr>
        <p:txBody>
          <a:bodyPr/>
          <a:lstStyle/>
          <a:p>
            <a:endParaRPr lang="es-ES_tradnl" noProof="0" dirty="0"/>
          </a:p>
        </p:txBody>
      </p:sp>
      <p:sp>
        <p:nvSpPr>
          <p:cNvPr id="12" name="Text 8"/>
          <p:cNvSpPr/>
          <p:nvPr/>
        </p:nvSpPr>
        <p:spPr>
          <a:xfrm>
            <a:off x="57404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Centro</a:t>
            </a:r>
            <a:endParaRPr lang="es-ES_tradnl" sz="1400" noProof="0" dirty="0"/>
          </a:p>
        </p:txBody>
      </p:sp>
      <p:sp>
        <p:nvSpPr>
          <p:cNvPr id="13" name="Text 9"/>
          <p:cNvSpPr/>
          <p:nvPr/>
        </p:nvSpPr>
        <p:spPr>
          <a:xfrm>
            <a:off x="5740400" y="2235101"/>
            <a:ext cx="2550795"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corre hacia ½ de forma determinista.</a:t>
            </a:r>
            <a:endParaRPr lang="es-ES_tradnl" sz="1200" noProof="0" dirty="0"/>
          </a:p>
        </p:txBody>
      </p:sp>
      <p:sp>
        <p:nvSpPr>
          <p:cNvPr id="14" name="Text 10"/>
          <p:cNvSpPr/>
          <p:nvPr/>
        </p:nvSpPr>
        <p:spPr>
          <a:xfrm>
            <a:off x="5740400" y="3002062"/>
            <a:ext cx="863104" cy="264120"/>
          </a:xfrm>
          <a:prstGeom prst="roundRect">
            <a:avLst>
              <a:gd name="adj" fmla="val 14425"/>
            </a:avLst>
          </a:prstGeom>
          <a:solidFill>
            <a:srgbClr val="293470"/>
          </a:solidFill>
          <a:ln/>
        </p:spPr>
        <p:txBody>
          <a:bodyPr wrap="none" lIns="0" tIns="0" rIns="0" bIns="0" rtlCol="0" anchor="ctr">
            <a:normAutofit/>
          </a:bodyPr>
          <a:lstStyle/>
          <a:p>
            <a:pPr marL="0" indent="0" algn="ctr">
              <a:lnSpc>
                <a:spcPts val="1680"/>
              </a:lnSpc>
              <a:buNone/>
            </a:pPr>
            <a:r>
              <a:rPr lang="es-ES_tradnl" sz="1200" b="1" noProof="0" dirty="0">
                <a:solidFill>
                  <a:srgbClr val="FFFFFF"/>
                </a:solidFill>
                <a:latin typeface="Roboto" pitchFamily="34" charset="0"/>
                <a:ea typeface="Roboto" pitchFamily="34" charset="-122"/>
                <a:cs typeface="Roboto" pitchFamily="34" charset="-120"/>
              </a:rPr>
              <a:t>se corrige</a:t>
            </a:r>
            <a:endParaRPr lang="es-ES_tradnl" sz="1200" noProof="0" dirty="0"/>
          </a:p>
        </p:txBody>
      </p:sp>
      <p:sp>
        <p:nvSpPr>
          <p:cNvPr id="15" name="Shape 11"/>
          <p:cNvSpPr/>
          <p:nvPr/>
        </p:nvSpPr>
        <p:spPr>
          <a:xfrm>
            <a:off x="8547100" y="1805880"/>
            <a:ext cx="2832100" cy="1612702"/>
          </a:xfrm>
          <a:prstGeom prst="roundRect">
            <a:avLst>
              <a:gd name="adj" fmla="val 6300"/>
            </a:avLst>
          </a:prstGeom>
          <a:solidFill>
            <a:srgbClr val="F4F4F2"/>
          </a:solidFill>
          <a:ln/>
        </p:spPr>
        <p:txBody>
          <a:bodyPr/>
          <a:lstStyle/>
          <a:p>
            <a:endParaRPr lang="es-ES_tradnl" noProof="0" dirty="0"/>
          </a:p>
        </p:txBody>
      </p:sp>
      <p:sp>
        <p:nvSpPr>
          <p:cNvPr id="16" name="Text 12"/>
          <p:cNvSpPr/>
          <p:nvPr/>
        </p:nvSpPr>
        <p:spPr>
          <a:xfrm>
            <a:off x="87249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Dispersión</a:t>
            </a:r>
            <a:endParaRPr lang="es-ES_tradnl" sz="1400" noProof="0" dirty="0"/>
          </a:p>
        </p:txBody>
      </p:sp>
      <p:sp>
        <p:nvSpPr>
          <p:cNvPr id="17" name="Text 13"/>
          <p:cNvSpPr/>
          <p:nvPr/>
        </p:nvSpPr>
        <p:spPr>
          <a:xfrm>
            <a:off x="8724900" y="2235101"/>
            <a:ext cx="2550795"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Aumenta: cada persona es una moneda más impredecible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varianza de 0 a 0.1875).</a:t>
            </a:r>
            <a:endParaRPr lang="es-ES_tradnl" sz="1200" noProof="0" dirty="0"/>
          </a:p>
        </p:txBody>
      </p:sp>
      <p:sp>
        <p:nvSpPr>
          <p:cNvPr id="18" name="Text 14"/>
          <p:cNvSpPr/>
          <p:nvPr/>
        </p:nvSpPr>
        <p:spPr>
          <a:xfrm>
            <a:off x="8724900" y="3002062"/>
            <a:ext cx="1072455" cy="264120"/>
          </a:xfrm>
          <a:prstGeom prst="roundRect">
            <a:avLst>
              <a:gd name="adj" fmla="val 14425"/>
            </a:avLst>
          </a:prstGeom>
          <a:solidFill>
            <a:srgbClr val="FFEE00"/>
          </a:solidFill>
          <a:ln/>
        </p:spPr>
        <p:txBody>
          <a:bodyPr wrap="none" lIns="0" tIns="0" rIns="0" bIns="0" rtlCol="0" anchor="ctr">
            <a:normAutofit/>
          </a:bodyPr>
          <a:lstStyle/>
          <a:p>
            <a:pPr marL="0" indent="0" algn="ctr">
              <a:lnSpc>
                <a:spcPts val="1680"/>
              </a:lnSpc>
              <a:buNone/>
            </a:pPr>
            <a:r>
              <a:rPr lang="es-ES_tradnl" sz="1200" b="1" noProof="0" dirty="0">
                <a:solidFill>
                  <a:srgbClr val="1D1D1B"/>
                </a:solidFill>
                <a:latin typeface="Roboto" pitchFamily="34" charset="0"/>
                <a:ea typeface="Roboto" pitchFamily="34" charset="-122"/>
                <a:cs typeface="Roboto" pitchFamily="34" charset="-120"/>
              </a:rPr>
              <a:t>no se corrige</a:t>
            </a:r>
            <a:endParaRPr lang="es-ES_tradnl" sz="1200" noProof="0" dirty="0"/>
          </a:p>
        </p:txBody>
      </p:sp>
      <p:sp>
        <p:nvSpPr>
          <p:cNvPr id="19" name="Shape 15"/>
          <p:cNvSpPr/>
          <p:nvPr/>
        </p:nvSpPr>
        <p:spPr>
          <a:xfrm>
            <a:off x="5467350" y="3621782"/>
            <a:ext cx="0" cy="1435100"/>
          </a:xfrm>
          <a:prstGeom prst="line">
            <a:avLst/>
          </a:prstGeom>
          <a:noFill/>
          <a:ln w="12700">
            <a:solidFill>
              <a:srgbClr val="6E6E6C"/>
            </a:solidFill>
            <a:prstDash val="dash"/>
          </a:ln>
        </p:spPr>
        <p:txBody>
          <a:bodyPr/>
          <a:lstStyle/>
          <a:p>
            <a:endParaRPr lang="es-ES_tradnl" noProof="0" dirty="0"/>
          </a:p>
        </p:txBody>
      </p:sp>
      <p:sp>
        <p:nvSpPr>
          <p:cNvPr id="20" name="Shape 16"/>
          <p:cNvSpPr/>
          <p:nvPr/>
        </p:nvSpPr>
        <p:spPr>
          <a:xfrm>
            <a:off x="2844800" y="5069582"/>
            <a:ext cx="5994400" cy="12700"/>
          </a:xfrm>
          <a:prstGeom prst="rect">
            <a:avLst/>
          </a:prstGeom>
          <a:solidFill>
            <a:srgbClr val="B9B9B5"/>
          </a:solidFill>
          <a:ln/>
        </p:spPr>
        <p:txBody>
          <a:bodyPr/>
          <a:lstStyle/>
          <a:p>
            <a:endParaRPr lang="es-ES_tradnl" noProof="0" dirty="0"/>
          </a:p>
        </p:txBody>
      </p:sp>
      <p:sp>
        <p:nvSpPr>
          <p:cNvPr id="21" name="Text 17"/>
          <p:cNvSpPr/>
          <p:nvPr/>
        </p:nvSpPr>
        <p:spPr>
          <a:xfrm>
            <a:off x="812800" y="3761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B · sin ruido</a:t>
            </a:r>
            <a:endParaRPr lang="es-ES_tradnl" sz="1400" noProof="0" dirty="0"/>
          </a:p>
        </p:txBody>
      </p:sp>
      <p:sp>
        <p:nvSpPr>
          <p:cNvPr id="22" name="Shape 18"/>
          <p:cNvSpPr/>
          <p:nvPr/>
        </p:nvSpPr>
        <p:spPr>
          <a:xfrm>
            <a:off x="4692650" y="3831332"/>
            <a:ext cx="1549400" cy="88900"/>
          </a:xfrm>
          <a:prstGeom prst="rect">
            <a:avLst/>
          </a:prstGeom>
          <a:solidFill>
            <a:srgbClr val="3C3C3B"/>
          </a:solidFill>
          <a:ln/>
        </p:spPr>
        <p:txBody>
          <a:bodyPr/>
          <a:lstStyle/>
          <a:p>
            <a:endParaRPr lang="es-ES_tradnl" noProof="0" dirty="0"/>
          </a:p>
        </p:txBody>
      </p:sp>
      <p:sp>
        <p:nvSpPr>
          <p:cNvPr id="23" name="Shape 19"/>
          <p:cNvSpPr/>
          <p:nvPr/>
        </p:nvSpPr>
        <p:spPr>
          <a:xfrm>
            <a:off x="5391150" y="3799582"/>
            <a:ext cx="152400" cy="152400"/>
          </a:xfrm>
          <a:prstGeom prst="roundRect">
            <a:avLst>
              <a:gd name="adj" fmla="val 50000"/>
            </a:avLst>
          </a:prstGeom>
          <a:solidFill>
            <a:srgbClr val="3C3C3B"/>
          </a:solidFill>
          <a:ln/>
        </p:spPr>
        <p:txBody>
          <a:bodyPr/>
          <a:lstStyle/>
          <a:p>
            <a:endParaRPr lang="es-ES_tradnl" noProof="0" dirty="0"/>
          </a:p>
        </p:txBody>
      </p:sp>
      <p:sp>
        <p:nvSpPr>
          <p:cNvPr id="24" name="Text 20"/>
          <p:cNvSpPr/>
          <p:nvPr/>
        </p:nvSpPr>
        <p:spPr>
          <a:xfrm>
            <a:off x="9004300" y="3774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0.450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0.0103</a:t>
            </a:r>
            <a:endParaRPr lang="es-ES_tradnl" sz="1300" noProof="0" dirty="0"/>
          </a:p>
        </p:txBody>
      </p:sp>
      <p:sp>
        <p:nvSpPr>
          <p:cNvPr id="25" name="Text 21"/>
          <p:cNvSpPr/>
          <p:nvPr/>
        </p:nvSpPr>
        <p:spPr>
          <a:xfrm>
            <a:off x="812800" y="4269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C · sin corregir</a:t>
            </a:r>
            <a:endParaRPr lang="es-ES_tradnl" sz="1400" noProof="0" dirty="0"/>
          </a:p>
        </p:txBody>
      </p:sp>
      <p:sp>
        <p:nvSpPr>
          <p:cNvPr id="26" name="Shape 22"/>
          <p:cNvSpPr/>
          <p:nvPr/>
        </p:nvSpPr>
        <p:spPr>
          <a:xfrm>
            <a:off x="5340350" y="4332982"/>
            <a:ext cx="2127250" cy="101600"/>
          </a:xfrm>
          <a:prstGeom prst="rect">
            <a:avLst/>
          </a:prstGeom>
          <a:solidFill>
            <a:srgbClr val="FFEE00"/>
          </a:solidFill>
          <a:ln w="12700">
            <a:solidFill>
              <a:srgbClr val="1D1D1B"/>
            </a:solidFill>
            <a:prstDash val="solid"/>
          </a:ln>
        </p:spPr>
        <p:txBody>
          <a:bodyPr/>
          <a:lstStyle/>
          <a:p>
            <a:endParaRPr lang="es-ES_tradnl" noProof="0" dirty="0"/>
          </a:p>
        </p:txBody>
      </p:sp>
      <p:sp>
        <p:nvSpPr>
          <p:cNvPr id="27" name="Shape 23"/>
          <p:cNvSpPr/>
          <p:nvPr/>
        </p:nvSpPr>
        <p:spPr>
          <a:xfrm>
            <a:off x="6321425" y="4298057"/>
            <a:ext cx="171450" cy="1714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8" name="Text 24"/>
          <p:cNvSpPr/>
          <p:nvPr/>
        </p:nvSpPr>
        <p:spPr>
          <a:xfrm>
            <a:off x="9004300" y="4282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0.475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0.0143 · ×1.4</a:t>
            </a:r>
            <a:endParaRPr lang="es-ES_tradnl" sz="1300" noProof="0" dirty="0"/>
          </a:p>
        </p:txBody>
      </p:sp>
      <p:sp>
        <p:nvSpPr>
          <p:cNvPr id="29" name="Text 25"/>
          <p:cNvSpPr/>
          <p:nvPr/>
        </p:nvSpPr>
        <p:spPr>
          <a:xfrm>
            <a:off x="812800" y="4777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F̂ · C corregida</a:t>
            </a:r>
            <a:endParaRPr lang="es-ES_tradnl" sz="1400" noProof="0" dirty="0"/>
          </a:p>
        </p:txBody>
      </p:sp>
      <p:sp>
        <p:nvSpPr>
          <p:cNvPr id="30" name="Shape 26"/>
          <p:cNvSpPr/>
          <p:nvPr/>
        </p:nvSpPr>
        <p:spPr>
          <a:xfrm>
            <a:off x="3333750" y="4847332"/>
            <a:ext cx="4267200" cy="88900"/>
          </a:xfrm>
          <a:prstGeom prst="rect">
            <a:avLst/>
          </a:prstGeom>
          <a:solidFill>
            <a:srgbClr val="293470"/>
          </a:solidFill>
          <a:ln/>
        </p:spPr>
        <p:txBody>
          <a:bodyPr/>
          <a:lstStyle/>
          <a:p>
            <a:endParaRPr lang="es-ES_tradnl" noProof="0" dirty="0"/>
          </a:p>
        </p:txBody>
      </p:sp>
      <p:sp>
        <p:nvSpPr>
          <p:cNvPr id="31" name="Shape 27"/>
          <p:cNvSpPr/>
          <p:nvPr/>
        </p:nvSpPr>
        <p:spPr>
          <a:xfrm>
            <a:off x="5391150" y="4815582"/>
            <a:ext cx="152400" cy="152400"/>
          </a:xfrm>
          <a:prstGeom prst="roundRect">
            <a:avLst>
              <a:gd name="adj" fmla="val 50000"/>
            </a:avLst>
          </a:prstGeom>
          <a:solidFill>
            <a:srgbClr val="293470"/>
          </a:solidFill>
          <a:ln/>
        </p:spPr>
        <p:txBody>
          <a:bodyPr/>
          <a:lstStyle/>
          <a:p>
            <a:endParaRPr lang="es-ES_tradnl" noProof="0" dirty="0"/>
          </a:p>
        </p:txBody>
      </p:sp>
      <p:sp>
        <p:nvSpPr>
          <p:cNvPr id="32" name="Text 28"/>
          <p:cNvSpPr/>
          <p:nvPr/>
        </p:nvSpPr>
        <p:spPr>
          <a:xfrm>
            <a:off x="9004300" y="4790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b="1" noProof="0" dirty="0">
                <a:solidFill>
                  <a:srgbClr val="1D1D1B"/>
                </a:solidFill>
                <a:latin typeface="Roboto" pitchFamily="34" charset="0"/>
                <a:ea typeface="Roboto" pitchFamily="34" charset="-122"/>
                <a:cs typeface="Roboto" pitchFamily="34" charset="-120"/>
              </a:rPr>
              <a:t>0.450 · </a:t>
            </a:r>
            <a:r>
              <a:rPr lang="es-ES_tradnl" sz="1300" b="1" noProof="0" dirty="0" err="1">
                <a:solidFill>
                  <a:srgbClr val="1D1D1B"/>
                </a:solidFill>
                <a:latin typeface="Roboto" pitchFamily="34" charset="0"/>
                <a:ea typeface="Roboto" pitchFamily="34" charset="-122"/>
                <a:cs typeface="Roboto" pitchFamily="34" charset="-120"/>
              </a:rPr>
              <a:t>std</a:t>
            </a:r>
            <a:r>
              <a:rPr lang="es-ES_tradnl" sz="1300" b="1" noProof="0" dirty="0">
                <a:solidFill>
                  <a:srgbClr val="1D1D1B"/>
                </a:solidFill>
                <a:latin typeface="Roboto" pitchFamily="34" charset="0"/>
                <a:ea typeface="Roboto" pitchFamily="34" charset="-122"/>
                <a:cs typeface="Roboto" pitchFamily="34" charset="-120"/>
              </a:rPr>
              <a:t> 0.0285 · ×2.8</a:t>
            </a:r>
            <a:endParaRPr lang="es-ES_tradnl" sz="1300" noProof="0" dirty="0"/>
          </a:p>
        </p:txBody>
      </p:sp>
      <p:sp>
        <p:nvSpPr>
          <p:cNvPr id="33" name="Text 29"/>
          <p:cNvSpPr/>
          <p:nvPr/>
        </p:nvSpPr>
        <p:spPr>
          <a:xfrm>
            <a:off x="33147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0.40</a:t>
            </a:r>
            <a:endParaRPr lang="es-ES_tradnl" sz="1200" noProof="0" dirty="0"/>
          </a:p>
        </p:txBody>
      </p:sp>
      <p:sp>
        <p:nvSpPr>
          <p:cNvPr id="34" name="Text 30"/>
          <p:cNvSpPr/>
          <p:nvPr/>
        </p:nvSpPr>
        <p:spPr>
          <a:xfrm>
            <a:off x="518795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0.45</a:t>
            </a:r>
            <a:endParaRPr lang="es-ES_tradnl" sz="1200" noProof="0" dirty="0"/>
          </a:p>
        </p:txBody>
      </p:sp>
      <p:sp>
        <p:nvSpPr>
          <p:cNvPr id="35" name="Text 31"/>
          <p:cNvSpPr/>
          <p:nvPr/>
        </p:nvSpPr>
        <p:spPr>
          <a:xfrm>
            <a:off x="70612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0.50</a:t>
            </a:r>
            <a:endParaRPr lang="es-ES_tradnl" sz="1200" noProof="0" dirty="0"/>
          </a:p>
        </p:txBody>
      </p:sp>
      <p:sp>
        <p:nvSpPr>
          <p:cNvPr id="36" name="Text 32"/>
          <p:cNvSpPr/>
          <p:nvPr/>
        </p:nvSpPr>
        <p:spPr>
          <a:xfrm>
            <a:off x="9004300" y="5145782"/>
            <a:ext cx="2446147"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barras: centro ± 2·std</a:t>
            </a:r>
            <a:endParaRPr lang="es-ES_tradnl" sz="1200" noProof="0" dirty="0"/>
          </a:p>
        </p:txBody>
      </p:sp>
      <p:sp>
        <p:nvSpPr>
          <p:cNvPr id="38" name="Text 3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20</a:t>
            </a:r>
            <a:endParaRPr lang="es-ES_tradnl" sz="1200" noProof="0" dirty="0"/>
          </a:p>
        </p:txBody>
      </p:sp>
    </p:spTree>
    <p:extLst>
      <p:ext uri="{BB962C8B-B14F-4D97-AF65-F5344CB8AC3E}">
        <p14:creationId xmlns:p14="http://schemas.microsoft.com/office/powerpoint/2010/main" val="987384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lo que aprende el atacante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atacante sabe que A tiene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o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y ve un solo resultado: «+».</a:t>
            </a:r>
            <a:endParaRPr lang="es-ES_tradnl" sz="1800" noProof="0" dirty="0"/>
          </a:p>
        </p:txBody>
      </p:sp>
      <p:sp>
        <p:nvSpPr>
          <p:cNvPr id="9" name="Text 6"/>
          <p:cNvSpPr/>
          <p:nvPr/>
        </p:nvSpPr>
        <p:spPr>
          <a:xfrm>
            <a:off x="812800" y="18566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0" name="Text 7"/>
          <p:cNvSpPr/>
          <p:nvPr/>
        </p:nvSpPr>
        <p:spPr>
          <a:xfrm>
            <a:off x="1219200" y="1856680"/>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Con ruido</a:t>
            </a:r>
            <a:r>
              <a:rPr lang="es-ES_tradnl" sz="1400" noProof="0" dirty="0">
                <a:solidFill>
                  <a:srgbClr val="3C3C3B"/>
                </a:solidFill>
                <a:latin typeface="Roboto" pitchFamily="34" charset="0"/>
                <a:ea typeface="Roboto" pitchFamily="34" charset="-122"/>
                <a:cs typeface="Roboto" pitchFamily="34" charset="-120"/>
              </a:rPr>
              <a:t> (p = 0.5):</a:t>
            </a:r>
            <a:endParaRPr lang="es-ES_tradnl" sz="1400" noProof="0" dirty="0"/>
          </a:p>
        </p:txBody>
      </p:sp>
      <p:pic>
        <p:nvPicPr>
          <p:cNvPr id="11" name="Image 1" descr="P(+ | car) / P(+ | real estate) = 0.75 / 0.25 = 3"/>
          <p:cNvPicPr>
            <a:picLocks noChangeAspect="1"/>
          </p:cNvPicPr>
          <p:nvPr/>
        </p:nvPicPr>
        <p:blipFill>
          <a:blip r:embed="rId4"/>
          <a:srcRect l="-192" r="-192"/>
          <a:stretch/>
        </p:blipFill>
        <p:spPr>
          <a:xfrm>
            <a:off x="1219200" y="2156321"/>
            <a:ext cx="3390900" cy="660400"/>
          </a:xfrm>
          <a:prstGeom prst="rect">
            <a:avLst/>
          </a:prstGeom>
        </p:spPr>
      </p:pic>
      <p:sp>
        <p:nvSpPr>
          <p:cNvPr id="12" name="Text 8"/>
          <p:cNvSpPr/>
          <p:nvPr/>
        </p:nvSpPr>
        <p:spPr>
          <a:xfrm>
            <a:off x="812800" y="299452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2994521"/>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Sin ruido:</a:t>
            </a:r>
            <a:r>
              <a:rPr lang="es-ES_tradnl" sz="1400" noProof="0" dirty="0">
                <a:solidFill>
                  <a:srgbClr val="3C3C3B"/>
                </a:solidFill>
                <a:latin typeface="Roboto" pitchFamily="34" charset="0"/>
                <a:ea typeface="Roboto" pitchFamily="34" charset="-122"/>
                <a:cs typeface="Roboto" pitchFamily="34" charset="-120"/>
              </a:rPr>
              <a:t> P(+ | car) = 1 y P(+ | real estate) = 0. El cociente es ∞: un «+» revela con certeza que A tiene car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a:t>
            </a:r>
            <a:endParaRPr lang="es-ES_tradnl" sz="1400" noProof="0" dirty="0"/>
          </a:p>
        </p:txBody>
      </p:sp>
      <p:sp>
        <p:nvSpPr>
          <p:cNvPr id="14" name="Text 10"/>
          <p:cNvSpPr/>
          <p:nvPr/>
        </p:nvSpPr>
        <p:spPr>
          <a:xfrm>
            <a:off x="812800" y="367000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670002"/>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Teorema 3 para un </a:t>
            </a:r>
            <a:r>
              <a:rPr lang="es-ES_tradnl" sz="1400" b="1" noProof="0" dirty="0" err="1">
                <a:solidFill>
                  <a:srgbClr val="3C3C3B"/>
                </a:solidFill>
                <a:latin typeface="Roboto" pitchFamily="34" charset="0"/>
                <a:ea typeface="Roboto" pitchFamily="34" charset="-122"/>
                <a:cs typeface="Roboto" pitchFamily="34" charset="-120"/>
              </a:rPr>
              <a:t>qubit</a:t>
            </a:r>
            <a:r>
              <a:rPr lang="es-ES_tradnl" sz="1400" b="1" noProof="0" dirty="0">
                <a:solidFill>
                  <a:srgbClr val="3C3C3B"/>
                </a:solidFill>
                <a:latin typeface="Roboto" pitchFamily="34" charset="0"/>
                <a:ea typeface="Roboto" pitchFamily="34" charset="-122"/>
                <a:cs typeface="Roboto" pitchFamily="34" charset="-120"/>
              </a:rPr>
              <a:t>:</a:t>
            </a:r>
            <a:r>
              <a:rPr lang="es-ES_tradnl" sz="1400" noProof="0" dirty="0">
                <a:solidFill>
                  <a:srgbClr val="3C3C3B"/>
                </a:solidFill>
                <a:latin typeface="Roboto" pitchFamily="34" charset="0"/>
                <a:ea typeface="Roboto" pitchFamily="34" charset="-122"/>
                <a:cs typeface="Roboto" pitchFamily="34" charset="-120"/>
              </a:rPr>
              <a:t> D = 2, d = 1 (los estados de </a:t>
            </a:r>
            <a:r>
              <a:rPr lang="es-ES_tradnl" sz="1400" noProof="0" dirty="0">
                <a:solidFill>
                  <a:srgbClr val="293470"/>
                </a:solidFill>
                <a:latin typeface="Roboto" pitchFamily="34" charset="0"/>
                <a:ea typeface="Roboto" pitchFamily="34" charset="-122"/>
                <a:cs typeface="Roboto" pitchFamily="34" charset="-120"/>
              </a:rPr>
              <a:t>car</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a:solidFill>
                  <a:srgbClr val="293470"/>
                </a:solidFill>
                <a:latin typeface="Roboto" pitchFamily="34" charset="0"/>
                <a:ea typeface="Roboto" pitchFamily="34" charset="-122"/>
                <a:cs typeface="Roboto" pitchFamily="34" charset="-120"/>
              </a:rPr>
              <a:t>real estate</a:t>
            </a:r>
            <a:r>
              <a:rPr lang="es-ES_tradnl" sz="1400" noProof="0" dirty="0">
                <a:solidFill>
                  <a:srgbClr val="3C3C3B"/>
                </a:solidFill>
                <a:latin typeface="Roboto" pitchFamily="34" charset="0"/>
                <a:ea typeface="Roboto" pitchFamily="34" charset="-122"/>
                <a:cs typeface="Roboto" pitchFamily="34" charset="-120"/>
              </a:rPr>
              <a:t> son ortogonales), p = 0.5.</a:t>
            </a:r>
            <a:endParaRPr lang="es-ES_tradnl" sz="1400" noProof="0" dirty="0"/>
          </a:p>
        </p:txBody>
      </p:sp>
      <p:pic>
        <p:nvPicPr>
          <p:cNvPr id="16" name="Image 2" descr="ε = ln(1 + 1·1·2) = ln 3 ≈ 1.10, e^ε = 3"/>
          <p:cNvPicPr>
            <a:picLocks noChangeAspect="1"/>
          </p:cNvPicPr>
          <p:nvPr/>
        </p:nvPicPr>
        <p:blipFill>
          <a:blip r:embed="rId5"/>
          <a:srcRect t="-357" b="-357"/>
          <a:stretch/>
        </p:blipFill>
        <p:spPr>
          <a:xfrm>
            <a:off x="1219200" y="4218484"/>
            <a:ext cx="4933950" cy="317500"/>
          </a:xfrm>
          <a:prstGeom prst="rect">
            <a:avLst/>
          </a:prstGeom>
        </p:spPr>
      </p:pic>
      <p:sp>
        <p:nvSpPr>
          <p:cNvPr id="17" name="Text 12"/>
          <p:cNvSpPr/>
          <p:nvPr/>
        </p:nvSpPr>
        <p:spPr>
          <a:xfrm>
            <a:off x="1219200" y="4586784"/>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Coincide con el cociente: </a:t>
            </a:r>
            <a:r>
              <a:rPr lang="es-ES_tradnl" sz="1400" b="1" noProof="0" dirty="0">
                <a:solidFill>
                  <a:srgbClr val="3C3C3B"/>
                </a:solidFill>
                <a:latin typeface="Roboto" pitchFamily="34" charset="0"/>
                <a:ea typeface="Roboto" pitchFamily="34" charset="-122"/>
                <a:cs typeface="Roboto" pitchFamily="34" charset="-120"/>
              </a:rPr>
              <a:t>para este par, la cota se alcanza.</a:t>
            </a:r>
            <a:endParaRPr lang="es-ES_tradnl" sz="1400" noProof="0" dirty="0"/>
          </a:p>
        </p:txBody>
      </p:sp>
      <p:sp>
        <p:nvSpPr>
          <p:cNvPr id="18" name="Shape 13"/>
          <p:cNvSpPr/>
          <p:nvPr/>
        </p:nvSpPr>
        <p:spPr>
          <a:xfrm>
            <a:off x="8585200" y="1856680"/>
            <a:ext cx="2794000" cy="2979341"/>
          </a:xfrm>
          <a:prstGeom prst="roundRect">
            <a:avLst>
              <a:gd name="adj" fmla="val 3636"/>
            </a:avLst>
          </a:prstGeom>
          <a:solidFill>
            <a:srgbClr val="1D1D1B"/>
          </a:solidFill>
          <a:ln/>
        </p:spPr>
        <p:txBody>
          <a:bodyPr/>
          <a:lstStyle/>
          <a:p>
            <a:endParaRPr lang="es-ES_tradnl" noProof="0" dirty="0"/>
          </a:p>
        </p:txBody>
      </p:sp>
      <p:sp>
        <p:nvSpPr>
          <p:cNvPr id="19" name="Text 14"/>
          <p:cNvSpPr/>
          <p:nvPr/>
        </p:nvSpPr>
        <p:spPr>
          <a:xfrm>
            <a:off x="8839200" y="2110680"/>
            <a:ext cx="2354580" cy="1295400"/>
          </a:xfrm>
          <a:prstGeom prst="rect">
            <a:avLst/>
          </a:prstGeom>
          <a:noFill/>
          <a:ln/>
        </p:spPr>
        <p:txBody>
          <a:bodyPr wrap="square" lIns="0" tIns="0" rIns="0" bIns="0" rtlCol="0" anchor="t">
            <a:normAutofit fontScale="92500"/>
          </a:bodyPr>
          <a:lstStyle/>
          <a:p>
            <a:pPr marL="0" indent="0" algn="l">
              <a:lnSpc>
                <a:spcPts val="10000"/>
              </a:lnSpc>
              <a:buNone/>
            </a:pPr>
            <a:r>
              <a:rPr lang="es-ES_tradnl" sz="10000" b="1" kern="0" spc="-300" noProof="0" dirty="0">
                <a:solidFill>
                  <a:srgbClr val="FFEE00"/>
                </a:solidFill>
                <a:latin typeface="DM Sans" pitchFamily="34" charset="0"/>
                <a:ea typeface="DM Sans" pitchFamily="34" charset="-122"/>
                <a:cs typeface="DM Sans" pitchFamily="34" charset="-120"/>
              </a:rPr>
              <a:t>×3</a:t>
            </a:r>
            <a:endParaRPr lang="es-ES_tradnl" sz="10000" noProof="0" dirty="0"/>
          </a:p>
        </p:txBody>
      </p:sp>
      <p:sp>
        <p:nvSpPr>
          <p:cNvPr id="20" name="Text 15"/>
          <p:cNvSpPr/>
          <p:nvPr/>
        </p:nvSpPr>
        <p:spPr>
          <a:xfrm>
            <a:off x="8839200" y="3482280"/>
            <a:ext cx="2354580" cy="596900"/>
          </a:xfrm>
          <a:prstGeom prst="rect">
            <a:avLst/>
          </a:prstGeom>
          <a:noFill/>
          <a:ln/>
        </p:spPr>
        <p:txBody>
          <a:bodyPr wrap="square" lIns="0" tIns="0" rIns="0" bIns="0" rtlCol="0" anchor="t">
            <a:normAutofit/>
          </a:bodyPr>
          <a:lstStyle/>
          <a:p>
            <a:pPr marL="0" indent="0" algn="l">
              <a:lnSpc>
                <a:spcPts val="2250"/>
              </a:lnSpc>
              <a:buNone/>
            </a:pPr>
            <a:r>
              <a:rPr lang="es-ES_tradnl" sz="1800" noProof="0" dirty="0">
                <a:solidFill>
                  <a:srgbClr val="F7F7F5"/>
                </a:solidFill>
                <a:latin typeface="DM Sans" pitchFamily="34" charset="0"/>
                <a:ea typeface="DM Sans" pitchFamily="34" charset="-122"/>
                <a:cs typeface="DM Sans" pitchFamily="34" charset="-120"/>
              </a:rPr>
              <a:t>como máximo en las </a:t>
            </a:r>
            <a:r>
              <a:rPr lang="es-ES_tradnl" sz="1800" noProof="0" dirty="0" err="1">
                <a:solidFill>
                  <a:srgbClr val="F7F7F5"/>
                </a:solidFill>
                <a:latin typeface="DM Sans" pitchFamily="34" charset="0"/>
                <a:ea typeface="DM Sans" pitchFamily="34" charset="-122"/>
                <a:cs typeface="DM Sans" pitchFamily="34" charset="-120"/>
              </a:rPr>
              <a:t>odds</a:t>
            </a:r>
            <a:r>
              <a:rPr lang="es-ES_tradnl" sz="1800" noProof="0" dirty="0">
                <a:solidFill>
                  <a:srgbClr val="F7F7F5"/>
                </a:solidFill>
                <a:latin typeface="DM Sans" pitchFamily="34" charset="0"/>
                <a:ea typeface="DM Sans" pitchFamily="34" charset="-122"/>
                <a:cs typeface="DM Sans" pitchFamily="34" charset="-120"/>
              </a:rPr>
              <a:t> del atacante</a:t>
            </a:r>
            <a:endParaRPr lang="es-ES_tradnl" sz="1800" noProof="0" dirty="0"/>
          </a:p>
        </p:txBody>
      </p:sp>
      <p:sp>
        <p:nvSpPr>
          <p:cNvPr id="21" name="Text 16"/>
          <p:cNvSpPr/>
          <p:nvPr/>
        </p:nvSpPr>
        <p:spPr>
          <a:xfrm>
            <a:off x="8839200" y="4155380"/>
            <a:ext cx="235458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D4D4D0"/>
                </a:solidFill>
                <a:latin typeface="Roboto" pitchFamily="34" charset="0"/>
                <a:ea typeface="Roboto" pitchFamily="34" charset="-122"/>
                <a:cs typeface="Roboto" pitchFamily="34" charset="-120"/>
              </a:rPr>
              <a:t>e^ε</a:t>
            </a:r>
            <a:r>
              <a:rPr lang="es-ES_tradnl" sz="1200" noProof="0" dirty="0">
                <a:solidFill>
                  <a:srgbClr val="D4D4D0"/>
                </a:solidFill>
                <a:latin typeface="Roboto" pitchFamily="34" charset="0"/>
                <a:ea typeface="Roboto" pitchFamily="34" charset="-122"/>
                <a:cs typeface="Roboto" pitchFamily="34" charset="-120"/>
              </a:rPr>
              <a:t> con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 </a:t>
            </a:r>
            <a:r>
              <a:rPr lang="es-ES_tradnl" sz="1200" noProof="0" dirty="0" err="1">
                <a:solidFill>
                  <a:srgbClr val="D4D4D0"/>
                </a:solidFill>
                <a:latin typeface="Roboto" pitchFamily="34" charset="0"/>
                <a:ea typeface="Roboto" pitchFamily="34" charset="-122"/>
                <a:cs typeface="Roboto" pitchFamily="34" charset="-120"/>
              </a:rPr>
              <a:t>ln</a:t>
            </a:r>
            <a:r>
              <a:rPr lang="es-ES_tradnl" sz="1200" noProof="0" dirty="0">
                <a:solidFill>
                  <a:srgbClr val="D4D4D0"/>
                </a:solidFill>
                <a:latin typeface="Roboto" pitchFamily="34" charset="0"/>
                <a:ea typeface="Roboto" pitchFamily="34" charset="-122"/>
                <a:cs typeface="Roboto" pitchFamily="34" charset="-120"/>
              </a:rPr>
              <a:t> 3, sepa lo que sepa de antemano.</a:t>
            </a:r>
            <a:endParaRPr lang="es-ES_tradnl" sz="1200" noProof="0" dirty="0"/>
          </a:p>
        </p:txBody>
      </p:sp>
      <p:sp>
        <p:nvSpPr>
          <p:cNvPr id="23"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21</a:t>
            </a:r>
            <a:endParaRPr lang="es-ES_tradnl" sz="1200" noProof="0" dirty="0"/>
          </a:p>
        </p:txBody>
      </p:sp>
    </p:spTree>
    <p:extLst>
      <p:ext uri="{BB962C8B-B14F-4D97-AF65-F5344CB8AC3E}">
        <p14:creationId xmlns:p14="http://schemas.microsoft.com/office/powerpoint/2010/main" val="440650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inclina, pero no decide</a:t>
            </a:r>
            <a:endParaRPr lang="es-ES_tradnl" sz="2800" noProof="0" dirty="0"/>
          </a:p>
        </p:txBody>
      </p:sp>
      <p:sp>
        <p:nvSpPr>
          <p:cNvPr id="8" name="Shape 5"/>
          <p:cNvSpPr/>
          <p:nvPr/>
        </p:nvSpPr>
        <p:spPr>
          <a:xfrm>
            <a:off x="812800" y="1407120"/>
            <a:ext cx="10566400" cy="965200"/>
          </a:xfrm>
          <a:prstGeom prst="roundRect">
            <a:avLst>
              <a:gd name="adj" fmla="val 10526"/>
            </a:avLst>
          </a:prstGeom>
          <a:solidFill>
            <a:srgbClr val="F4F4F2"/>
          </a:solidFill>
          <a:ln/>
        </p:spPr>
        <p:txBody>
          <a:bodyPr/>
          <a:lstStyle/>
          <a:p>
            <a:endParaRPr lang="es-ES_tradnl" noProof="0" dirty="0"/>
          </a:p>
        </p:txBody>
      </p:sp>
      <p:sp>
        <p:nvSpPr>
          <p:cNvPr id="9" name="Text 6"/>
          <p:cNvSpPr/>
          <p:nvPr/>
        </p:nvSpPr>
        <p:spPr>
          <a:xfrm>
            <a:off x="1066800" y="1658640"/>
            <a:ext cx="1962150" cy="487561"/>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Bayes, para cualquier atacante:</a:t>
            </a:r>
            <a:endParaRPr lang="es-ES_tradnl" sz="1400" noProof="0" dirty="0"/>
          </a:p>
        </p:txBody>
      </p:sp>
      <p:pic>
        <p:nvPicPr>
          <p:cNvPr id="10" name="Image 1" descr="odds después = odds antes × P(+ | car) / P(+ | real estate)"/>
          <p:cNvPicPr>
            <a:picLocks noChangeAspect="1"/>
          </p:cNvPicPr>
          <p:nvPr/>
        </p:nvPicPr>
        <p:blipFill>
          <a:blip r:embed="rId4"/>
          <a:srcRect l="-139" r="-139"/>
          <a:stretch/>
        </p:blipFill>
        <p:spPr>
          <a:xfrm>
            <a:off x="3276600" y="1559520"/>
            <a:ext cx="4914900" cy="660400"/>
          </a:xfrm>
          <a:prstGeom prst="rect">
            <a:avLst/>
          </a:prstGeom>
        </p:spPr>
      </p:pic>
      <p:sp>
        <p:nvSpPr>
          <p:cNvPr id="11" name="Shape 7"/>
          <p:cNvSpPr/>
          <p:nvPr/>
        </p:nvSpPr>
        <p:spPr>
          <a:xfrm>
            <a:off x="8191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2" name="Text 8"/>
          <p:cNvSpPr/>
          <p:nvPr/>
        </p:nvSpPr>
        <p:spPr>
          <a:xfrm>
            <a:off x="1028700" y="2791420"/>
            <a:ext cx="3087116" cy="238720"/>
          </a:xfrm>
          <a:prstGeom prst="rect">
            <a:avLst/>
          </a:prstGeom>
          <a:noFill/>
          <a:ln/>
        </p:spPr>
        <p:txBody>
          <a:bodyPr wrap="square" lIns="0" tIns="0" rIns="0" bIns="0" rtlCol="0" anchor="t">
            <a:normAutofit fontScale="92500"/>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SIN INFORMACIÓN (IGUAL PROPORCION)</a:t>
            </a:r>
            <a:endParaRPr lang="es-ES_tradnl" sz="1200" noProof="0" dirty="0"/>
          </a:p>
        </p:txBody>
      </p:sp>
      <p:sp>
        <p:nvSpPr>
          <p:cNvPr id="13" name="Text 9"/>
          <p:cNvSpPr/>
          <p:nvPr/>
        </p:nvSpPr>
        <p:spPr>
          <a:xfrm>
            <a:off x="1028700" y="30682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1</a:t>
            </a:r>
            <a:endParaRPr lang="es-ES_tradnl" sz="1200" noProof="0" dirty="0"/>
          </a:p>
        </p:txBody>
      </p:sp>
      <p:sp>
        <p:nvSpPr>
          <p:cNvPr id="14" name="Text 10"/>
          <p:cNvSpPr/>
          <p:nvPr/>
        </p:nvSpPr>
        <p:spPr>
          <a:xfrm>
            <a:off x="1028700" y="33450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3</a:t>
            </a:r>
            <a:endParaRPr lang="es-ES_tradnl" sz="4800" noProof="0" dirty="0"/>
          </a:p>
        </p:txBody>
      </p:sp>
      <p:sp>
        <p:nvSpPr>
          <p:cNvPr id="15" name="Text 11"/>
          <p:cNvSpPr/>
          <p:nvPr/>
        </p:nvSpPr>
        <p:spPr>
          <a:xfrm>
            <a:off x="1028700" y="404862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16" name="Shape 12"/>
          <p:cNvSpPr/>
          <p:nvPr/>
        </p:nvSpPr>
        <p:spPr>
          <a:xfrm>
            <a:off x="44005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7" name="Text 13"/>
          <p:cNvSpPr/>
          <p:nvPr/>
        </p:nvSpPr>
        <p:spPr>
          <a:xfrm>
            <a:off x="4610100" y="2791420"/>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CON LAS PROPORCIONES DEL DATASET</a:t>
            </a:r>
            <a:endParaRPr lang="es-ES_tradnl" sz="1200" noProof="0" dirty="0"/>
          </a:p>
        </p:txBody>
      </p:sp>
      <p:sp>
        <p:nvSpPr>
          <p:cNvPr id="18" name="Text 14"/>
          <p:cNvSpPr/>
          <p:nvPr/>
        </p:nvSpPr>
        <p:spPr>
          <a:xfrm>
            <a:off x="4610100" y="32815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0.232 / 0.332 = 0.70</a:t>
            </a:r>
            <a:endParaRPr lang="es-ES_tradnl" sz="1200" noProof="0" dirty="0"/>
          </a:p>
        </p:txBody>
      </p:sp>
      <p:sp>
        <p:nvSpPr>
          <p:cNvPr id="19" name="Text 15"/>
          <p:cNvSpPr/>
          <p:nvPr/>
        </p:nvSpPr>
        <p:spPr>
          <a:xfrm>
            <a:off x="4610100" y="355838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 2.1</a:t>
            </a:r>
            <a:endParaRPr lang="es-ES_tradnl" sz="4800" noProof="0" dirty="0"/>
          </a:p>
        </p:txBody>
      </p:sp>
      <p:sp>
        <p:nvSpPr>
          <p:cNvPr id="20" name="Text 16"/>
          <p:cNvSpPr/>
          <p:nvPr/>
        </p:nvSpPr>
        <p:spPr>
          <a:xfrm>
            <a:off x="4610100" y="42619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21" name="Shape 17"/>
          <p:cNvSpPr/>
          <p:nvPr/>
        </p:nvSpPr>
        <p:spPr>
          <a:xfrm>
            <a:off x="7975600" y="2575520"/>
            <a:ext cx="3403600" cy="2115641"/>
          </a:xfrm>
          <a:prstGeom prst="roundRect">
            <a:avLst>
              <a:gd name="adj" fmla="val 4802"/>
            </a:avLst>
          </a:prstGeom>
          <a:solidFill>
            <a:srgbClr val="1D1D1B"/>
          </a:solidFill>
          <a:ln/>
        </p:spPr>
        <p:txBody>
          <a:bodyPr/>
          <a:lstStyle/>
          <a:p>
            <a:endParaRPr lang="es-ES_tradnl" noProof="0" dirty="0"/>
          </a:p>
        </p:txBody>
      </p:sp>
      <p:sp>
        <p:nvSpPr>
          <p:cNvPr id="22" name="Text 18"/>
          <p:cNvSpPr/>
          <p:nvPr/>
        </p:nvSpPr>
        <p:spPr>
          <a:xfrm>
            <a:off x="8178800" y="277872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FFEE00"/>
                </a:solidFill>
                <a:latin typeface="Roboto" pitchFamily="34" charset="0"/>
                <a:ea typeface="Roboto" pitchFamily="34" charset="-122"/>
                <a:cs typeface="Roboto" pitchFamily="34" charset="-120"/>
              </a:rPr>
              <a:t>LA MISMA PERSONA, 10 VECES</a:t>
            </a:r>
            <a:endParaRPr lang="es-ES_tradnl" sz="1200" noProof="0" dirty="0"/>
          </a:p>
        </p:txBody>
      </p:sp>
      <p:sp>
        <p:nvSpPr>
          <p:cNvPr id="23" name="Text 19"/>
          <p:cNvSpPr/>
          <p:nvPr/>
        </p:nvSpPr>
        <p:spPr>
          <a:xfrm>
            <a:off x="8178800" y="30555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F7F7F5"/>
                </a:solidFill>
                <a:latin typeface="Roboto" pitchFamily="34" charset="0"/>
                <a:ea typeface="Roboto" pitchFamily="34" charset="-122"/>
                <a:cs typeface="Roboto" pitchFamily="34" charset="-120"/>
              </a:rPr>
              <a:t>10 resultados «+»</a:t>
            </a:r>
            <a:endParaRPr lang="es-ES_tradnl" sz="1200" noProof="0" dirty="0"/>
          </a:p>
        </p:txBody>
      </p:sp>
      <p:sp>
        <p:nvSpPr>
          <p:cNvPr id="24" name="Text 20"/>
          <p:cNvSpPr/>
          <p:nvPr/>
        </p:nvSpPr>
        <p:spPr>
          <a:xfrm>
            <a:off x="8178800" y="33323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FFEE00"/>
                </a:solidFill>
                <a:latin typeface="DM Sans" pitchFamily="34" charset="0"/>
                <a:ea typeface="DM Sans" pitchFamily="34" charset="-122"/>
                <a:cs typeface="DM Sans" pitchFamily="34" charset="-120"/>
              </a:rPr>
              <a:t>≈ 59 000</a:t>
            </a:r>
            <a:endParaRPr lang="es-ES_tradnl" sz="4800" noProof="0" dirty="0"/>
          </a:p>
        </p:txBody>
      </p:sp>
      <p:sp>
        <p:nvSpPr>
          <p:cNvPr id="25" name="Text 21"/>
          <p:cNvSpPr/>
          <p:nvPr/>
        </p:nvSpPr>
        <p:spPr>
          <a:xfrm>
            <a:off x="8178800" y="403592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D4D4D0"/>
                </a:solidFill>
                <a:latin typeface="Roboto" pitchFamily="34" charset="0"/>
                <a:ea typeface="Roboto" pitchFamily="34" charset="-122"/>
                <a:cs typeface="Roboto" pitchFamily="34" charset="-120"/>
              </a:rPr>
              <a:t>3¹⁰: queda prácticamente seguro. Equivale a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total = 10·ln 3 ≈ 11 (Teorema 4).</a:t>
            </a:r>
            <a:endParaRPr lang="es-ES_tradnl" sz="1200" noProof="0" dirty="0"/>
          </a:p>
        </p:txBody>
      </p:sp>
      <p:sp>
        <p:nvSpPr>
          <p:cNvPr id="26" name="Shape 22"/>
          <p:cNvSpPr/>
          <p:nvPr/>
        </p:nvSpPr>
        <p:spPr>
          <a:xfrm>
            <a:off x="838200" y="4894362"/>
            <a:ext cx="0" cy="497681"/>
          </a:xfrm>
          <a:prstGeom prst="line">
            <a:avLst/>
          </a:prstGeom>
          <a:noFill/>
          <a:ln w="50800">
            <a:solidFill>
              <a:srgbClr val="FFEE00"/>
            </a:solidFill>
            <a:prstDash val="solid"/>
          </a:ln>
        </p:spPr>
        <p:txBody>
          <a:bodyPr/>
          <a:lstStyle/>
          <a:p>
            <a:endParaRPr lang="es-ES_tradnl" noProof="0" dirty="0"/>
          </a:p>
        </p:txBody>
      </p:sp>
      <p:sp>
        <p:nvSpPr>
          <p:cNvPr id="27" name="Text 23"/>
          <p:cNvSpPr/>
          <p:nvPr/>
        </p:nvSpPr>
        <p:spPr>
          <a:xfrm>
            <a:off x="990600" y="4894362"/>
            <a:ext cx="1070025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resultado multiplica las </a:t>
            </a:r>
            <a:r>
              <a:rPr lang="es-ES_tradnl" sz="1400" noProof="0" dirty="0" err="1">
                <a:solidFill>
                  <a:srgbClr val="3C3C3B"/>
                </a:solidFill>
                <a:latin typeface="Roboto" pitchFamily="34" charset="0"/>
                <a:ea typeface="Roboto" pitchFamily="34" charset="-122"/>
                <a:cs typeface="Roboto" pitchFamily="34" charset="-120"/>
              </a:rPr>
              <a:t>odds</a:t>
            </a:r>
            <a:r>
              <a:rPr lang="es-ES_tradnl" sz="1400" noProof="0" dirty="0">
                <a:solidFill>
                  <a:srgbClr val="3C3C3B"/>
                </a:solidFill>
                <a:latin typeface="Roboto" pitchFamily="34" charset="0"/>
                <a:ea typeface="Roboto" pitchFamily="34" charset="-122"/>
                <a:cs typeface="Roboto" pitchFamily="34" charset="-120"/>
              </a:rPr>
              <a:t> como máximo por 3, sepa lo que sepa el atacante. </a:t>
            </a:r>
            <a:r>
              <a:rPr lang="es-ES_tradnl" sz="1400" b="1" noProof="0" dirty="0">
                <a:solidFill>
                  <a:srgbClr val="3C3C3B"/>
                </a:solidFill>
                <a:latin typeface="Roboto" pitchFamily="34" charset="0"/>
                <a:ea typeface="Roboto" pitchFamily="34" charset="-122"/>
                <a:cs typeface="Roboto" pitchFamily="34" charset="-120"/>
              </a:rPr>
              <a:t>Lo que rompe la garantía es medir varias veces a la misma persona:</a:t>
            </a:r>
            <a:r>
              <a:rPr lang="es-ES_tradnl" sz="1400" noProof="0" dirty="0">
                <a:solidFill>
                  <a:srgbClr val="3C3C3B"/>
                </a:solidFill>
                <a:latin typeface="Roboto" pitchFamily="34" charset="0"/>
                <a:ea typeface="Roboto" pitchFamily="34" charset="-122"/>
                <a:cs typeface="Roboto" pitchFamily="34" charset="-120"/>
              </a:rPr>
              <a:t> cada lectura vuelve a multiplicar.</a:t>
            </a:r>
            <a:endParaRPr lang="es-ES_tradnl" sz="1400" noProof="0" dirty="0"/>
          </a:p>
        </p:txBody>
      </p:sp>
      <p:sp>
        <p:nvSpPr>
          <p:cNvPr id="29" name="Text 2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22</a:t>
            </a:r>
            <a:endParaRPr lang="es-ES_tradnl" sz="1200" noProof="0" dirty="0"/>
          </a:p>
        </p:txBody>
      </p:sp>
    </p:spTree>
    <p:extLst>
      <p:ext uri="{BB962C8B-B14F-4D97-AF65-F5344CB8AC3E}">
        <p14:creationId xmlns:p14="http://schemas.microsoft.com/office/powerpoint/2010/main" val="10872366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persona 10 veces contra 1000 personas una vez</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Medir a personas distintas una vez cada una no rompe la garantía.</a:t>
            </a:r>
            <a:endParaRPr lang="es-ES_tradnl" sz="1800" noProof="0" dirty="0"/>
          </a:p>
        </p:txBody>
      </p:sp>
      <p:graphicFrame>
        <p:nvGraphicFramePr>
          <p:cNvPr id="9" name="Table 0"/>
          <p:cNvGraphicFramePr>
            <a:graphicFrameLocks noGrp="1"/>
          </p:cNvGraphicFramePr>
          <p:nvPr/>
        </p:nvGraphicFramePr>
        <p:xfrm>
          <a:off x="825500" y="1843980"/>
          <a:ext cx="10553700" cy="2353250"/>
        </p:xfrm>
        <a:graphic>
          <a:graphicData uri="http://schemas.openxmlformats.org/drawingml/2006/table">
            <a:tbl>
              <a:tblPr/>
              <a:tblGrid>
                <a:gridCol w="3166110">
                  <a:extLst>
                    <a:ext uri="{9D8B030D-6E8A-4147-A177-3AD203B41FA5}">
                      <a16:colId xmlns:a16="http://schemas.microsoft.com/office/drawing/2014/main" val="20000"/>
                    </a:ext>
                  </a:extLst>
                </a:gridCol>
                <a:gridCol w="3693795">
                  <a:extLst>
                    <a:ext uri="{9D8B030D-6E8A-4147-A177-3AD203B41FA5}">
                      <a16:colId xmlns:a16="http://schemas.microsoft.com/office/drawing/2014/main" val="20001"/>
                    </a:ext>
                  </a:extLst>
                </a:gridCol>
                <a:gridCol w="3693795">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La misma persona,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1000 personas,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monedas (Bernoulli) se tiran?</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misma moneda P_A,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1000 monedas distintas (una P_i por persona),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99"/>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Resultados que dependen de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ε</a:t>
                      </a:r>
                      <a:r>
                        <a:rPr lang="es-ES_tradnl" sz="1300" noProof="0" dirty="0">
                          <a:solidFill>
                            <a:srgbClr val="1D1D1B"/>
                          </a:solidFill>
                          <a:latin typeface="Roboto" pitchFamily="34" charset="0"/>
                          <a:ea typeface="Roboto" pitchFamily="34" charset="-122"/>
                          <a:cs typeface="Roboto" pitchFamily="34" charset="-120"/>
                        </a:rPr>
                        <a:t> sobre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10·ln 3 ≈ 11 (composición, Teorema 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(composición paralela)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atacante?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categoría de A, casi con certeza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un factor 3 como máximo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analista?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estadística de la población (F̂), std ≈ 0.029</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4400429"/>
            <a:ext cx="5207000" cy="1272381"/>
          </a:xfrm>
          <a:prstGeom prst="roundRect">
            <a:avLst>
              <a:gd name="adj" fmla="val 7985"/>
            </a:avLst>
          </a:prstGeom>
          <a:solidFill>
            <a:srgbClr val="F4F4F2"/>
          </a:solidFill>
          <a:ln/>
        </p:spPr>
        <p:txBody>
          <a:bodyPr/>
          <a:lstStyle/>
          <a:p>
            <a:endParaRPr lang="es-ES_tradnl" noProof="0" dirty="0"/>
          </a:p>
        </p:txBody>
      </p:sp>
      <p:sp>
        <p:nvSpPr>
          <p:cNvPr id="11" name="Text 7"/>
          <p:cNvSpPr/>
          <p:nvPr/>
        </p:nvSpPr>
        <p:spPr>
          <a:xfrm>
            <a:off x="10160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Composición paralela</a:t>
            </a:r>
            <a:endParaRPr lang="es-ES_tradnl" sz="1400" noProof="0" dirty="0"/>
          </a:p>
        </p:txBody>
      </p:sp>
      <p:sp>
        <p:nvSpPr>
          <p:cNvPr id="12" name="Text 8"/>
          <p:cNvSpPr/>
          <p:nvPr/>
        </p:nvSpPr>
        <p:spPr>
          <a:xfrm>
            <a:off x="1016000" y="4855049"/>
            <a:ext cx="4944618"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Mecanismos sobre datos disjuntos (uno por persona) no acumulan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Si se saca a A, cambia solo su resultado: los otros 999 no dependen de A.</a:t>
            </a:r>
            <a:endParaRPr lang="es-ES_tradnl" sz="1200" noProof="0" dirty="0"/>
          </a:p>
        </p:txBody>
      </p:sp>
      <p:sp>
        <p:nvSpPr>
          <p:cNvPr id="13" name="Shape 9"/>
          <p:cNvSpPr/>
          <p:nvPr/>
        </p:nvSpPr>
        <p:spPr>
          <a:xfrm>
            <a:off x="6172200" y="4400429"/>
            <a:ext cx="5207000" cy="1272381"/>
          </a:xfrm>
          <a:prstGeom prst="roundRect">
            <a:avLst>
              <a:gd name="adj" fmla="val 7985"/>
            </a:avLst>
          </a:prstGeom>
          <a:solidFill>
            <a:srgbClr val="F4F4F2"/>
          </a:solidFill>
          <a:ln/>
        </p:spPr>
        <p:txBody>
          <a:bodyPr/>
          <a:lstStyle/>
          <a:p>
            <a:endParaRPr lang="es-ES_tradnl" noProof="0" dirty="0"/>
          </a:p>
        </p:txBody>
      </p:sp>
      <p:sp>
        <p:nvSpPr>
          <p:cNvPr id="14" name="Text 10"/>
          <p:cNvSpPr/>
          <p:nvPr/>
        </p:nvSpPr>
        <p:spPr>
          <a:xfrm>
            <a:off x="63754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A en la población</a:t>
            </a:r>
            <a:endParaRPr lang="es-ES_tradnl" sz="1400" noProof="0" dirty="0"/>
          </a:p>
        </p:txBody>
      </p:sp>
      <p:sp>
        <p:nvSpPr>
          <p:cNvPr id="15" name="Text 11"/>
          <p:cNvSpPr/>
          <p:nvPr/>
        </p:nvSpPr>
        <p:spPr>
          <a:xfrm>
            <a:off x="6375400" y="4855049"/>
            <a:ext cx="494461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 aporta 1/1000 = 0.001 a F, que queda enterrado en una dispersión de ≈ 0.015, la suma del azar de las 1000 monedas.</a:t>
            </a:r>
            <a:endParaRPr lang="es-ES_tradnl" sz="1200" noProof="0" dirty="0"/>
          </a:p>
        </p:txBody>
      </p:sp>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23</a:t>
            </a:r>
            <a:endParaRPr lang="es-ES_tradnl" sz="1200" noProof="0" dirty="0"/>
          </a:p>
        </p:txBody>
      </p:sp>
    </p:spTree>
    <p:extLst>
      <p:ext uri="{BB962C8B-B14F-4D97-AF65-F5344CB8AC3E}">
        <p14:creationId xmlns:p14="http://schemas.microsoft.com/office/powerpoint/2010/main" val="863605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1 </a:t>
            </a:r>
            <a:r>
              <a:rPr lang="es-ES_tradnl" sz="2800" b="1" i="0" kern="0" spc="-50" noProof="0" dirty="0" err="1">
                <a:solidFill>
                  <a:srgbClr val="1D1D1B"/>
                </a:solidFill>
                <a:latin typeface="DM Sans" pitchFamily="34" charset="0"/>
                <a:ea typeface="DM Sans" pitchFamily="34" charset="-122"/>
                <a:cs typeface="DM Sans" pitchFamily="34" charset="-120"/>
              </a:rPr>
              <a:t>qubit</a:t>
            </a:r>
            <a:r>
              <a:rPr lang="es-ES_tradnl" sz="2800" b="1" i="0" kern="0" spc="-50" noProof="0" dirty="0">
                <a:solidFill>
                  <a:srgbClr val="1D1D1B"/>
                </a:solidFill>
                <a:latin typeface="DM Sans" pitchFamily="34" charset="0"/>
                <a:ea typeface="DM Sans" pitchFamily="34" charset="-122"/>
                <a:cs typeface="DM Sans" pitchFamily="34" charset="-120"/>
              </a:rPr>
              <a:t>, ninguno domina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(coherente con el histograma), N = 1000.</a:t>
            </a:r>
            <a:endParaRPr lang="es-ES_tradnl" sz="1800" noProof="0" dirty="0"/>
          </a:p>
        </p:txBody>
      </p:sp>
      <p:sp>
        <p:nvSpPr>
          <p:cNvPr id="9" name="Shape 6"/>
          <p:cNvSpPr/>
          <p:nvPr/>
        </p:nvSpPr>
        <p:spPr>
          <a:xfrm>
            <a:off x="812800" y="1831280"/>
            <a:ext cx="5181600" cy="2097881"/>
          </a:xfrm>
          <a:prstGeom prst="roundRect">
            <a:avLst>
              <a:gd name="adj" fmla="val 4843"/>
            </a:avLst>
          </a:prstGeom>
          <a:solidFill>
            <a:srgbClr val="F4F4F2"/>
          </a:solidFill>
          <a:ln/>
        </p:spPr>
        <p:txBody>
          <a:bodyPr/>
          <a:lstStyle/>
          <a:p>
            <a:endParaRPr lang="es-ES_tradnl" noProof="0" dirty="0"/>
          </a:p>
        </p:txBody>
      </p:sp>
      <p:sp>
        <p:nvSpPr>
          <p:cNvPr id="10" name="Text 7"/>
          <p:cNvSpPr/>
          <p:nvPr/>
        </p:nvSpPr>
        <p:spPr>
          <a:xfrm>
            <a:off x="10668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10056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12" name="Text 9"/>
          <p:cNvSpPr/>
          <p:nvPr/>
        </p:nvSpPr>
        <p:spPr>
          <a:xfrm>
            <a:off x="10668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COPIA X 1000</a:t>
            </a:r>
            <a:endParaRPr lang="es-ES_tradnl" sz="1200" noProof="0" dirty="0"/>
          </a:p>
        </p:txBody>
      </p:sp>
      <p:sp>
        <p:nvSpPr>
          <p:cNvPr id="13" name="Text 10"/>
          <p:cNvSpPr/>
          <p:nvPr/>
        </p:nvSpPr>
        <p:spPr>
          <a:xfrm>
            <a:off x="10668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0.61</a:t>
            </a:r>
            <a:endParaRPr lang="es-ES_tradnl" sz="2800" noProof="0" dirty="0"/>
          </a:p>
        </p:txBody>
      </p:sp>
      <p:sp>
        <p:nvSpPr>
          <p:cNvPr id="14" name="Text 11"/>
          <p:cNvSpPr/>
          <p:nvPr/>
        </p:nvSpPr>
        <p:spPr>
          <a:xfrm>
            <a:off x="1066800" y="3273921"/>
            <a:ext cx="153670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0.000608 </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0.00113)</a:t>
            </a:r>
            <a:endParaRPr lang="es-ES_tradnl" sz="1200" noProof="0" dirty="0"/>
          </a:p>
        </p:txBody>
      </p:sp>
      <p:sp>
        <p:nvSpPr>
          <p:cNvPr id="15" name="Text 12"/>
          <p:cNvSpPr/>
          <p:nvPr/>
        </p:nvSpPr>
        <p:spPr>
          <a:xfrm>
            <a:off x="35052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16" name="Text 13"/>
          <p:cNvSpPr/>
          <p:nvPr/>
        </p:nvSpPr>
        <p:spPr>
          <a:xfrm>
            <a:off x="35052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0.0316</a:t>
            </a:r>
            <a:endParaRPr lang="es-ES_tradnl" sz="2800" noProof="0" dirty="0"/>
          </a:p>
        </p:txBody>
      </p:sp>
      <p:sp>
        <p:nvSpPr>
          <p:cNvPr id="17" name="Shape 14"/>
          <p:cNvSpPr/>
          <p:nvPr/>
        </p:nvSpPr>
        <p:spPr>
          <a:xfrm>
            <a:off x="6197600" y="1831280"/>
            <a:ext cx="5181600" cy="2097881"/>
          </a:xfrm>
          <a:prstGeom prst="roundRect">
            <a:avLst>
              <a:gd name="adj" fmla="val 4843"/>
            </a:avLst>
          </a:prstGeom>
          <a:solidFill>
            <a:srgbClr val="F4F4F2"/>
          </a:solidFill>
          <a:ln/>
        </p:spPr>
        <p:txBody>
          <a:bodyPr/>
          <a:lstStyle/>
          <a:p>
            <a:endParaRPr lang="es-ES_tradnl" noProof="0" dirty="0"/>
          </a:p>
        </p:txBody>
      </p:sp>
      <p:sp>
        <p:nvSpPr>
          <p:cNvPr id="18" name="Text 15"/>
          <p:cNvSpPr/>
          <p:nvPr/>
        </p:nvSpPr>
        <p:spPr>
          <a:xfrm>
            <a:off x="64516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19" name="Text 16"/>
          <p:cNvSpPr/>
          <p:nvPr/>
        </p:nvSpPr>
        <p:spPr>
          <a:xfrm>
            <a:off x="6934200" y="2100560"/>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20" name="Text 17"/>
          <p:cNvSpPr/>
          <p:nvPr/>
        </p:nvSpPr>
        <p:spPr>
          <a:xfrm>
            <a:off x="64516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a:t>
            </a:r>
            <a:endParaRPr lang="es-ES_tradnl" sz="1200" noProof="0" dirty="0"/>
          </a:p>
        </p:txBody>
      </p:sp>
      <p:sp>
        <p:nvSpPr>
          <p:cNvPr id="21" name="Text 18"/>
          <p:cNvSpPr/>
          <p:nvPr/>
        </p:nvSpPr>
        <p:spPr>
          <a:xfrm>
            <a:off x="64516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1.10</a:t>
            </a:r>
            <a:endParaRPr lang="es-ES_tradnl" sz="2800" noProof="0" dirty="0"/>
          </a:p>
        </p:txBody>
      </p:sp>
      <p:sp>
        <p:nvSpPr>
          <p:cNvPr id="22" name="Text 19"/>
          <p:cNvSpPr/>
          <p:nvPr/>
        </p:nvSpPr>
        <p:spPr>
          <a:xfrm>
            <a:off x="6451600" y="3273920"/>
            <a:ext cx="2302256" cy="416519"/>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1.09861</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23" name="Text 20"/>
          <p:cNvSpPr/>
          <p:nvPr/>
        </p:nvSpPr>
        <p:spPr>
          <a:xfrm>
            <a:off x="88900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24" name="Text 21"/>
          <p:cNvSpPr/>
          <p:nvPr/>
        </p:nvSpPr>
        <p:spPr>
          <a:xfrm>
            <a:off x="88900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0.0293</a:t>
            </a:r>
            <a:endParaRPr lang="es-ES_tradnl" sz="2800" noProof="0" dirty="0"/>
          </a:p>
        </p:txBody>
      </p:sp>
      <p:sp>
        <p:nvSpPr>
          <p:cNvPr id="25" name="Text 22"/>
          <p:cNvSpPr/>
          <p:nvPr/>
        </p:nvSpPr>
        <p:spPr>
          <a:xfrm>
            <a:off x="812800" y="4157762"/>
            <a:ext cx="5181600" cy="434280"/>
          </a:xfrm>
          <a:prstGeom prst="roundRect">
            <a:avLst>
              <a:gd name="adj" fmla="val 11698"/>
            </a:avLst>
          </a:prstGeom>
          <a:solidFill>
            <a:srgbClr val="293470"/>
          </a:solidFill>
          <a:ln/>
        </p:spPr>
        <p:txBody>
          <a:bodyPr wrap="square" lIns="137521" tIns="86721" rIns="0" bIns="61321" rtlCol="0" anchor="t">
            <a:normAutofit/>
          </a:bodyPr>
          <a:lstStyle/>
          <a:p>
            <a:pPr marL="0" indent="0" algn="l">
              <a:lnSpc>
                <a:spcPts val="1820"/>
              </a:lnSpc>
              <a:buNone/>
            </a:pPr>
            <a:r>
              <a:rPr lang="es-ES_tradnl" sz="1400" b="1" noProof="0" dirty="0">
                <a:solidFill>
                  <a:srgbClr val="FFFFFF"/>
                </a:solidFill>
                <a:latin typeface="DM Sans" pitchFamily="34" charset="0"/>
                <a:ea typeface="DM Sans" pitchFamily="34" charset="-122"/>
                <a:cs typeface="DM Sans" pitchFamily="34" charset="-120"/>
              </a:rPr>
              <a:t>C gasta menos </a:t>
            </a:r>
            <a:r>
              <a:rPr lang="es-ES_tradnl" sz="1400" b="1" noProof="0" dirty="0" err="1">
                <a:solidFill>
                  <a:srgbClr val="FFFFFF"/>
                </a:solidFill>
                <a:latin typeface="DM Sans" pitchFamily="34" charset="0"/>
                <a:ea typeface="DM Sans" pitchFamily="34" charset="-122"/>
                <a:cs typeface="DM Sans" pitchFamily="34" charset="-120"/>
              </a:rPr>
              <a:t>ε</a:t>
            </a:r>
            <a:r>
              <a:rPr lang="es-ES_tradnl" sz="1400" b="1" noProof="0" dirty="0">
                <a:solidFill>
                  <a:srgbClr val="FFFFFF"/>
                </a:solidFill>
                <a:latin typeface="DM Sans" pitchFamily="34" charset="0"/>
                <a:ea typeface="DM Sans" pitchFamily="34" charset="-122"/>
                <a:cs typeface="DM Sans" pitchFamily="34" charset="-120"/>
              </a:rPr>
              <a:t> medido.</a:t>
            </a:r>
            <a:endParaRPr lang="es-ES_tradnl" sz="1400" noProof="0" dirty="0"/>
          </a:p>
        </p:txBody>
      </p:sp>
      <p:sp>
        <p:nvSpPr>
          <p:cNvPr id="26" name="Text 23"/>
          <p:cNvSpPr/>
          <p:nvPr/>
        </p:nvSpPr>
        <p:spPr>
          <a:xfrm>
            <a:off x="6197600" y="4157762"/>
            <a:ext cx="5181600" cy="434280"/>
          </a:xfrm>
          <a:prstGeom prst="roundRect">
            <a:avLst>
              <a:gd name="adj" fmla="val 11698"/>
            </a:avLst>
          </a:prstGeom>
          <a:solidFill>
            <a:srgbClr val="FFEE00"/>
          </a:solidFill>
          <a:ln/>
        </p:spPr>
        <p:txBody>
          <a:bodyPr wrap="square" lIns="137521" tIns="86721" rIns="0" bIns="61321" rtlCol="0" anchor="t">
            <a:normAutofit/>
          </a:bodyPr>
          <a:lstStyle/>
          <a:p>
            <a:pPr marL="0" indent="0" algn="l">
              <a:lnSpc>
                <a:spcPts val="1820"/>
              </a:lnSpc>
              <a:buNone/>
            </a:pPr>
            <a:r>
              <a:rPr lang="es-ES_tradnl" sz="1400" b="1" noProof="0" dirty="0">
                <a:solidFill>
                  <a:srgbClr val="1D1D1B"/>
                </a:solidFill>
                <a:latin typeface="DM Sans" pitchFamily="34" charset="0"/>
                <a:ea typeface="DM Sans" pitchFamily="34" charset="-122"/>
                <a:cs typeface="DM Sans" pitchFamily="34" charset="-120"/>
              </a:rPr>
              <a:t>L es un poco más preciso.</a:t>
            </a:r>
            <a:endParaRPr lang="es-ES_tradnl" sz="1400" noProof="0" dirty="0"/>
          </a:p>
        </p:txBody>
      </p:sp>
      <p:sp>
        <p:nvSpPr>
          <p:cNvPr id="27" name="Text 24"/>
          <p:cNvSpPr/>
          <p:nvPr/>
        </p:nvSpPr>
        <p:spPr>
          <a:xfrm>
            <a:off x="812800" y="4820642"/>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 C la línea base también es más ancha (</a:t>
            </a:r>
            <a:r>
              <a:rPr lang="es-ES_tradnl" sz="1200" noProof="0" dirty="0" err="1">
                <a:solidFill>
                  <a:srgbClr val="6E6E6C"/>
                </a:solidFill>
                <a:latin typeface="Roboto" pitchFamily="34" charset="0"/>
                <a:ea typeface="Roboto" pitchFamily="34" charset="-122"/>
                <a:cs typeface="Roboto" pitchFamily="34" charset="-120"/>
              </a:rPr>
              <a:t>std</a:t>
            </a:r>
            <a:r>
              <a:rPr lang="es-ES_tradnl" sz="1200" noProof="0" dirty="0">
                <a:solidFill>
                  <a:srgbClr val="6E6E6C"/>
                </a:solidFill>
                <a:latin typeface="Roboto" pitchFamily="34" charset="0"/>
                <a:ea typeface="Roboto" pitchFamily="34" charset="-122"/>
                <a:cs typeface="Roboto" pitchFamily="34" charset="-120"/>
              </a:rPr>
              <a:t> de B ≈ 0.0157 contra 0.0104 en L), porque el sorteo con reposición agrega varianza.</a:t>
            </a:r>
            <a:endParaRPr lang="es-ES_tradnl" sz="1200" noProof="0" dirty="0"/>
          </a:p>
        </p:txBody>
      </p:sp>
      <p:sp>
        <p:nvSpPr>
          <p:cNvPr id="29" name="Text 2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24</a:t>
            </a:r>
            <a:endParaRPr lang="es-ES_tradnl" sz="1200" noProof="0" dirty="0"/>
          </a:p>
        </p:txBody>
      </p:sp>
    </p:spTree>
    <p:extLst>
      <p:ext uri="{BB962C8B-B14F-4D97-AF65-F5344CB8AC3E}">
        <p14:creationId xmlns:p14="http://schemas.microsoft.com/office/powerpoint/2010/main" val="4053198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7 </a:t>
            </a:r>
            <a:r>
              <a:rPr lang="es-ES_tradnl" sz="2800" b="1" i="0" kern="0" spc="-50" noProof="0" dirty="0" err="1">
                <a:solidFill>
                  <a:srgbClr val="1D1D1B"/>
                </a:solidFill>
                <a:latin typeface="DM Sans" pitchFamily="34" charset="0"/>
                <a:ea typeface="DM Sans" pitchFamily="34" charset="-122"/>
                <a:cs typeface="DM Sans" pitchFamily="34" charset="-120"/>
              </a:rPr>
              <a:t>qubits</a:t>
            </a:r>
            <a:r>
              <a:rPr lang="es-ES_tradnl" sz="2800" b="1" i="0" kern="0" spc="-50" noProof="0" dirty="0">
                <a:solidFill>
                  <a:srgbClr val="1D1D1B"/>
                </a:solidFill>
                <a:latin typeface="DM Sans" pitchFamily="34" charset="0"/>
                <a:ea typeface="DM Sans" pitchFamily="34" charset="-122"/>
                <a:cs typeface="DM Sans" pitchFamily="34" charset="-120"/>
              </a:rPr>
              <a:t>, C se vuelve inutilizable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Publicación conjunta (D = 128):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por copia = 0.106 (Acto I).</a:t>
            </a:r>
            <a:endParaRPr lang="es-ES_tradnl" sz="1800" noProof="0" dirty="0"/>
          </a:p>
        </p:txBody>
      </p:sp>
      <p:sp>
        <p:nvSpPr>
          <p:cNvPr id="9" name="Shape 6"/>
          <p:cNvSpPr/>
          <p:nvPr/>
        </p:nvSpPr>
        <p:spPr>
          <a:xfrm>
            <a:off x="8191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0" name="Text 7"/>
          <p:cNvSpPr/>
          <p:nvPr/>
        </p:nvSpPr>
        <p:spPr>
          <a:xfrm>
            <a:off x="10287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N = 1000 COPIAS</a:t>
            </a:r>
            <a:endParaRPr lang="es-ES_tradnl" sz="1200" noProof="0" dirty="0"/>
          </a:p>
        </p:txBody>
      </p:sp>
      <p:sp>
        <p:nvSpPr>
          <p:cNvPr id="11" name="Text 8"/>
          <p:cNvSpPr/>
          <p:nvPr/>
        </p:nvSpPr>
        <p:spPr>
          <a:xfrm>
            <a:off x="10287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err="1">
                <a:solidFill>
                  <a:srgbClr val="1D1D1B"/>
                </a:solidFill>
                <a:latin typeface="DM Sans" pitchFamily="34" charset="0"/>
                <a:ea typeface="DM Sans" pitchFamily="34" charset="-122"/>
                <a:cs typeface="DM Sans" pitchFamily="34" charset="-120"/>
              </a:rPr>
              <a:t>ε</a:t>
            </a:r>
            <a:r>
              <a:rPr lang="es-ES_tradnl" sz="4800" b="1" kern="0" spc="-100" noProof="0" dirty="0">
                <a:solidFill>
                  <a:srgbClr val="1D1D1B"/>
                </a:solidFill>
                <a:latin typeface="DM Sans" pitchFamily="34" charset="0"/>
                <a:ea typeface="DM Sans" pitchFamily="34" charset="-122"/>
                <a:cs typeface="DM Sans" pitchFamily="34" charset="-120"/>
              </a:rPr>
              <a:t> = 106</a:t>
            </a:r>
            <a:endParaRPr lang="es-ES_tradnl" sz="4800" noProof="0" dirty="0"/>
          </a:p>
        </p:txBody>
      </p:sp>
      <p:sp>
        <p:nvSpPr>
          <p:cNvPr id="12" name="Text 9"/>
          <p:cNvSpPr/>
          <p:nvPr/>
        </p:nvSpPr>
        <p:spPr>
          <a:xfrm>
            <a:off x="1028700" y="30783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e¹⁰⁶ ≈ 10⁴⁶: no queda garantía.</a:t>
            </a:r>
            <a:endParaRPr lang="es-ES_tradnl" sz="1200" noProof="0" dirty="0"/>
          </a:p>
        </p:txBody>
      </p:sp>
      <p:sp>
        <p:nvSpPr>
          <p:cNvPr id="13" name="Shape 10"/>
          <p:cNvSpPr/>
          <p:nvPr/>
        </p:nvSpPr>
        <p:spPr>
          <a:xfrm>
            <a:off x="44005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4" name="Text 11"/>
          <p:cNvSpPr/>
          <p:nvPr/>
        </p:nvSpPr>
        <p:spPr>
          <a:xfrm>
            <a:off x="46101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PARA </a:t>
            </a: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1</a:t>
            </a:r>
            <a:endParaRPr lang="es-ES_tradnl" sz="1200" noProof="0" dirty="0"/>
          </a:p>
        </p:txBody>
      </p:sp>
      <p:sp>
        <p:nvSpPr>
          <p:cNvPr id="15" name="Text 12"/>
          <p:cNvSpPr/>
          <p:nvPr/>
        </p:nvSpPr>
        <p:spPr>
          <a:xfrm>
            <a:off x="46101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9</a:t>
            </a:r>
            <a:endParaRPr lang="es-ES_tradnl" sz="4800" noProof="0" dirty="0"/>
          </a:p>
        </p:txBody>
      </p:sp>
      <p:sp>
        <p:nvSpPr>
          <p:cNvPr id="16" name="Text 13"/>
          <p:cNvSpPr/>
          <p:nvPr/>
        </p:nvSpPr>
        <p:spPr>
          <a:xfrm>
            <a:off x="4610100" y="307836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(F̂) ≈ 0.33: el intervalo 0.45 ± 2·std cubre todos los valores posibles. Inútil.</a:t>
            </a:r>
            <a:endParaRPr lang="es-ES_tradnl" sz="1200" noProof="0" dirty="0"/>
          </a:p>
        </p:txBody>
      </p:sp>
      <p:sp>
        <p:nvSpPr>
          <p:cNvPr id="17" name="Shape 14"/>
          <p:cNvSpPr/>
          <p:nvPr/>
        </p:nvSpPr>
        <p:spPr>
          <a:xfrm>
            <a:off x="7975600" y="1856680"/>
            <a:ext cx="3403600" cy="2052141"/>
          </a:xfrm>
          <a:prstGeom prst="roundRect">
            <a:avLst>
              <a:gd name="adj" fmla="val 4951"/>
            </a:avLst>
          </a:prstGeom>
          <a:solidFill>
            <a:srgbClr val="FFEE00"/>
          </a:solidFill>
          <a:ln/>
        </p:spPr>
        <p:txBody>
          <a:bodyPr/>
          <a:lstStyle/>
          <a:p>
            <a:endParaRPr lang="es-ES_tradnl" noProof="0" dirty="0"/>
          </a:p>
        </p:txBody>
      </p:sp>
      <p:sp>
        <p:nvSpPr>
          <p:cNvPr id="18" name="Text 15"/>
          <p:cNvSpPr/>
          <p:nvPr/>
        </p:nvSpPr>
        <p:spPr>
          <a:xfrm>
            <a:off x="8178800" y="20598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A IGUAL </a:t>
            </a:r>
            <a:r>
              <a:rPr lang="es-ES_tradnl" sz="1200" b="1" kern="0" spc="100" noProof="0" dirty="0" err="1">
                <a:solidFill>
                  <a:srgbClr val="1D1D1B"/>
                </a:solidFill>
                <a:latin typeface="Roboto" pitchFamily="34" charset="0"/>
                <a:ea typeface="Roboto" pitchFamily="34" charset="-122"/>
                <a:cs typeface="Roboto" pitchFamily="34" charset="-120"/>
              </a:rPr>
              <a:t>Ε</a:t>
            </a:r>
            <a:r>
              <a:rPr lang="es-ES_tradnl" sz="1200" b="1" kern="0" spc="100" noProof="0" dirty="0">
                <a:solidFill>
                  <a:srgbClr val="1D1D1B"/>
                </a:solidFill>
                <a:latin typeface="Roboto" pitchFamily="34" charset="0"/>
                <a:ea typeface="Roboto" pitchFamily="34" charset="-122"/>
                <a:cs typeface="Roboto" pitchFamily="34" charset="-120"/>
              </a:rPr>
              <a:t> QUE L</a:t>
            </a:r>
            <a:endParaRPr lang="es-ES_tradnl" sz="1200" noProof="0" dirty="0"/>
          </a:p>
        </p:txBody>
      </p:sp>
      <p:sp>
        <p:nvSpPr>
          <p:cNvPr id="19" name="Text 16"/>
          <p:cNvSpPr/>
          <p:nvPr/>
        </p:nvSpPr>
        <p:spPr>
          <a:xfrm>
            <a:off x="8178800" y="23494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46</a:t>
            </a:r>
            <a:endParaRPr lang="es-ES_tradnl" sz="4800" noProof="0" dirty="0"/>
          </a:p>
        </p:txBody>
      </p:sp>
      <p:sp>
        <p:nvSpPr>
          <p:cNvPr id="20" name="Text 17"/>
          <p:cNvSpPr/>
          <p:nvPr/>
        </p:nvSpPr>
        <p:spPr>
          <a:xfrm>
            <a:off x="8178800" y="3065661"/>
            <a:ext cx="3087116"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1D1D1B"/>
                </a:solidFill>
                <a:latin typeface="Roboto" pitchFamily="34" charset="0"/>
                <a:ea typeface="Roboto" pitchFamily="34" charset="-122"/>
                <a:cs typeface="Roboto" pitchFamily="34" charset="-120"/>
              </a:rPr>
              <a:t>Cota de L: </a:t>
            </a: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129 ≈ 4.86. </a:t>
            </a:r>
            <a:r>
              <a:rPr lang="es-ES_tradnl" sz="1200" noProof="0" dirty="0" err="1">
                <a:solidFill>
                  <a:srgbClr val="1D1D1B"/>
                </a:solidFill>
                <a:latin typeface="Roboto" pitchFamily="34" charset="0"/>
                <a:ea typeface="Roboto" pitchFamily="34" charset="-122"/>
                <a:cs typeface="Roboto" pitchFamily="34" charset="-120"/>
              </a:rPr>
              <a:t>std</a:t>
            </a:r>
            <a:r>
              <a:rPr lang="es-ES_tradnl" sz="1200" noProof="0" dirty="0">
                <a:solidFill>
                  <a:srgbClr val="1D1D1B"/>
                </a:solidFill>
                <a:latin typeface="Roboto" pitchFamily="34" charset="0"/>
                <a:ea typeface="Roboto" pitchFamily="34" charset="-122"/>
                <a:cs typeface="Roboto" pitchFamily="34" charset="-120"/>
              </a:rPr>
              <a:t>(F̂) ≈ 0.15 contra 0.029 en L: </a:t>
            </a:r>
            <a:r>
              <a:rPr lang="es-ES_tradnl" sz="1200" b="1" noProof="0" dirty="0">
                <a:solidFill>
                  <a:srgbClr val="1D1D1B"/>
                </a:solidFill>
                <a:latin typeface="Roboto" pitchFamily="34" charset="0"/>
                <a:ea typeface="Roboto" pitchFamily="34" charset="-122"/>
                <a:cs typeface="Roboto" pitchFamily="34" charset="-120"/>
              </a:rPr>
              <a:t>L es unas 5 veces más preciso.</a:t>
            </a:r>
            <a:endParaRPr lang="es-ES_tradnl" sz="1200" noProof="0" dirty="0"/>
          </a:p>
        </p:txBody>
      </p:sp>
      <p:sp>
        <p:nvSpPr>
          <p:cNvPr id="21" name="Shape 18"/>
          <p:cNvSpPr/>
          <p:nvPr/>
        </p:nvSpPr>
        <p:spPr>
          <a:xfrm>
            <a:off x="819150" y="4169172"/>
            <a:ext cx="10553700" cy="571500"/>
          </a:xfrm>
          <a:prstGeom prst="roundRect">
            <a:avLst>
              <a:gd name="adj" fmla="val 12222"/>
            </a:avLst>
          </a:prstGeom>
          <a:noFill/>
          <a:ln w="12700">
            <a:solidFill>
              <a:srgbClr val="B9B9B5"/>
            </a:solidFill>
            <a:prstDash val="dash"/>
          </a:ln>
        </p:spPr>
        <p:txBody>
          <a:bodyPr/>
          <a:lstStyle/>
          <a:p>
            <a:endParaRPr lang="es-ES_tradnl" noProof="0" dirty="0"/>
          </a:p>
        </p:txBody>
      </p:sp>
      <p:pic>
        <p:nvPicPr>
          <p:cNvPr id="22" name="Image 1" descr="Warning"/>
          <p:cNvPicPr>
            <a:picLocks noChangeAspect="1"/>
          </p:cNvPicPr>
          <p:nvPr/>
        </p:nvPicPr>
        <p:blipFill>
          <a:blip r:embed="rId4"/>
          <a:srcRect/>
          <a:stretch/>
        </p:blipFill>
        <p:spPr>
          <a:xfrm>
            <a:off x="1003300" y="4302522"/>
            <a:ext cx="304800" cy="304800"/>
          </a:xfrm>
          <a:prstGeom prst="rect">
            <a:avLst/>
          </a:prstGeom>
        </p:spPr>
      </p:pic>
      <p:sp>
        <p:nvSpPr>
          <p:cNvPr id="23" name="Text 19"/>
          <p:cNvSpPr/>
          <p:nvPr/>
        </p:nvSpPr>
        <p:spPr>
          <a:xfrm>
            <a:off x="1435100" y="4330502"/>
            <a:ext cx="1004620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Nota honesta:</a:t>
            </a:r>
            <a:r>
              <a:rPr lang="es-ES_tradnl" sz="1400" noProof="0" dirty="0">
                <a:solidFill>
                  <a:srgbClr val="3C3C3B"/>
                </a:solidFill>
                <a:latin typeface="Roboto" pitchFamily="34" charset="0"/>
                <a:ea typeface="Roboto" pitchFamily="34" charset="-122"/>
                <a:cs typeface="Roboto" pitchFamily="34" charset="-120"/>
              </a:rPr>
              <a:t>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de L con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es solo la cota (</a:t>
            </a:r>
            <a:r>
              <a:rPr lang="es-ES_tradnl" sz="1400" noProof="0" dirty="0" err="1">
                <a:solidFill>
                  <a:srgbClr val="3C3C3B"/>
                </a:solidFill>
                <a:latin typeface="Roboto" pitchFamily="34" charset="0"/>
                <a:ea typeface="Roboto" pitchFamily="34" charset="-122"/>
                <a:cs typeface="Roboto" pitchFamily="34" charset="-120"/>
              </a:rPr>
              <a:t>ln</a:t>
            </a:r>
            <a:r>
              <a:rPr lang="es-ES_tradnl" sz="1400" noProof="0" dirty="0">
                <a:solidFill>
                  <a:srgbClr val="3C3C3B"/>
                </a:solidFill>
                <a:latin typeface="Roboto" pitchFamily="34" charset="0"/>
                <a:ea typeface="Roboto" pitchFamily="34" charset="-122"/>
                <a:cs typeface="Roboto" pitchFamily="34" charset="-120"/>
              </a:rPr>
              <a:t> 129). Su cálculo experimental queda fuera de alcance.</a:t>
            </a:r>
            <a:endParaRPr lang="es-ES_tradnl" sz="1400" noProof="0" dirty="0"/>
          </a:p>
        </p:txBody>
      </p:sp>
      <p:sp>
        <p:nvSpPr>
          <p:cNvPr id="25"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25</a:t>
            </a:r>
            <a:endParaRPr lang="es-ES_tradnl" sz="1200" noProof="0" dirty="0"/>
          </a:p>
        </p:txBody>
      </p:sp>
    </p:spTree>
    <p:extLst>
      <p:ext uri="{BB962C8B-B14F-4D97-AF65-F5344CB8AC3E}">
        <p14:creationId xmlns:p14="http://schemas.microsoft.com/office/powerpoint/2010/main" val="67373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escalan distinto</a:t>
            </a:r>
            <a:endParaRPr lang="es-ES_tradnl" sz="2800" noProof="0" dirty="0"/>
          </a:p>
        </p:txBody>
      </p:sp>
      <p:sp>
        <p:nvSpPr>
          <p:cNvPr id="500" name="Texto"/>
          <p:cNvSpPr txBox="1"/>
          <p:nvPr/>
        </p:nvSpPr>
        <p:spPr>
          <a:xfrm>
            <a:off x="812800" y="1308100"/>
            <a:ext cx="10883900" cy="317500"/>
          </a:xfrm>
          <a:prstGeom prst="rect">
            <a:avLst/>
          </a:prstGeom>
          <a:noFill/>
          <a:ln/>
        </p:spPr>
        <p:txBody>
          <a:bodyPr wrap="square" lIns="0" tIns="0" rIns="0" bIns="0" rtlCol="0" anchor="t">
            <a:noAutofit/>
          </a:bodyPr>
          <a:lstStyle/>
          <a:p>
            <a:pPr marL="0" indent="0" algn="l">
              <a:lnSpc>
                <a:spcPct val="100000"/>
              </a:lnSpc>
              <a:spcAft>
                <a:spcPts val="0"/>
              </a:spcAft>
              <a:buNone/>
            </a:pPr>
            <a:r>
              <a:rPr lang="es-CO" sz="1800" dirty="0">
                <a:solidFill>
                  <a:srgbClr val="3C3C3B"/>
                </a:solidFill>
                <a:latin typeface="Roboto" pitchFamily="34" charset="0"/>
                <a:ea typeface="Roboto" pitchFamily="34" charset="-122"/>
                <a:cs typeface="Roboto" pitchFamily="34" charset="-120"/>
              </a:rPr>
              <a:t>Los dos diseños parten de la misma cota del Teorema 3; cambian d y el número de mediciones.</a:t>
            </a:r>
          </a:p>
        </p:txBody>
      </p:sp>
      <p:sp>
        <p:nvSpPr>
          <p:cNvPr id="501" name="Tarjeta"/>
          <p:cNvSpPr/>
          <p:nvPr/>
        </p:nvSpPr>
        <p:spPr>
          <a:xfrm>
            <a:off x="812800" y="1778000"/>
            <a:ext cx="10566400" cy="1270000"/>
          </a:xfrm>
          <a:prstGeom prst="roundRect">
            <a:avLst>
              <a:gd name="adj" fmla="val 6000"/>
            </a:avLst>
          </a:prstGeom>
          <a:solidFill>
            <a:srgbClr val="F3F3F2"/>
          </a:solidFill>
          <a:ln>
            <a:noFill/>
          </a:ln>
        </p:spPr>
        <p:txBody>
          <a:bodyPr/>
          <a:lstStyle/>
          <a:p>
            <a:endParaRPr lang="es-CO"/>
          </a:p>
        </p:txBody>
      </p:sp>
      <p:sp>
        <p:nvSpPr>
          <p:cNvPr id="502" name="Texto"/>
          <p:cNvSpPr txBox="1"/>
          <p:nvPr/>
        </p:nvSpPr>
        <p:spPr>
          <a:xfrm>
            <a:off x="1066800" y="1930400"/>
            <a:ext cx="5080000" cy="254000"/>
          </a:xfrm>
          <a:prstGeom prst="rect">
            <a:avLst/>
          </a:prstGeom>
          <a:noFill/>
          <a:ln/>
        </p:spPr>
        <p:txBody>
          <a:bodyPr wrap="square" lIns="0" tIns="0" rIns="0" bIns="0" rtlCol="0" anchor="t">
            <a:noAutofit/>
          </a:bodyPr>
          <a:lstStyle/>
          <a:p>
            <a:pPr marL="0" indent="0" algn="l">
              <a:lnSpc>
                <a:spcPct val="100000"/>
              </a:lnSpc>
              <a:spcAft>
                <a:spcPts val="600"/>
              </a:spcAft>
              <a:buNone/>
            </a:pPr>
            <a:r>
              <a:rPr lang="es-CO" sz="1400" b="1" dirty="0">
                <a:solidFill>
                  <a:srgbClr val="1D1D1B"/>
                </a:solidFill>
                <a:latin typeface="DM Sans" pitchFamily="34" charset="0"/>
                <a:ea typeface="DM Sans" pitchFamily="34" charset="-122"/>
                <a:cs typeface="DM Sans" pitchFamily="34" charset="-120"/>
              </a:rPr>
              <a:t>Ecuación de partida (Teorema 3)</a:t>
            </a:r>
          </a:p>
        </p:txBody>
      </p:sp>
      <mc:AlternateContent xmlns:mc="http://schemas.openxmlformats.org/markup-compatibility/2006">
        <mc:Choice xmlns:a14="http://schemas.microsoft.com/office/drawing/2010/main" Requires="a14">
          <p:sp>
            <p:nvSpPr>
              <p:cNvPr id="503" name="Texto"/>
              <p:cNvSpPr txBox="1"/>
              <p:nvPr/>
            </p:nvSpPr>
            <p:spPr>
              <a:xfrm>
                <a:off x="1066800" y="2286000"/>
                <a:ext cx="4826000" cy="660400"/>
              </a:xfrm>
              <a:prstGeom prst="rect">
                <a:avLst/>
              </a:prstGeom>
              <a:noFill/>
              <a:ln/>
            </p:spPr>
            <p:txBody>
              <a:bodyPr wrap="square" lIns="0" tIns="0" rIns="0" bIns="0" rtlCol="0" anchor="ctr">
                <a:noAutofit/>
              </a:bodyPr>
              <a:lstStyle/>
              <a:p>
                <a:pPr marL="0" indent="0" algn="l">
                  <a:lnSpc>
                    <a:spcPct val="100000"/>
                  </a:lnSpc>
                  <a:spcAft>
                    <a:spcPts val="0"/>
                  </a:spcAft>
                  <a:buNone/>
                </a:pPr>
                <a14:m>
                  <m:oMathPara xmlns:m="http://schemas.openxmlformats.org/officeDocument/2006/math">
                    <m:oMathParaPr>
                      <m:jc m:val="centerGroup"/>
                    </m:oMathParaPr>
                    <m:oMath xmlns:m="http://schemas.openxmlformats.org/officeDocument/2006/math">
                      <m:r>
                        <a:rPr lang="es-CO" sz="2000" i="1">
                          <a:solidFill>
                            <a:srgbClr val="1D1D1B"/>
                          </a:solidFill>
                          <a:latin typeface="Cambria Math" panose="02040503050406030204" pitchFamily="18" charset="0"/>
                        </a:rPr>
                        <m:t>𝜀</m:t>
                      </m:r>
                      <m:r>
                        <a:rPr lang="es-CO" sz="2000" i="1">
                          <a:solidFill>
                            <a:srgbClr val="1D1D1B"/>
                          </a:solidFill>
                          <a:latin typeface="Cambria Math" panose="02040503050406030204" pitchFamily="18" charset="0"/>
                        </a:rPr>
                        <m:t>=</m:t>
                      </m:r>
                      <m:r>
                        <m:rPr>
                          <m:sty m:val="p"/>
                        </m:rPr>
                        <a:rPr lang="es-CO" sz="2000" i="0">
                          <a:solidFill>
                            <a:srgbClr val="1D1D1B"/>
                          </a:solidFill>
                          <a:latin typeface="Cambria Math" panose="02040503050406030204" pitchFamily="18" charset="0"/>
                        </a:rPr>
                        <m:t>ln</m:t>
                      </m:r>
                      <m:d>
                        <m:dPr>
                          <m:ctrlPr>
                            <a:rPr lang="es-CO" sz="2000" i="1">
                              <a:solidFill>
                                <a:srgbClr val="1D1D1B"/>
                              </a:solidFill>
                              <a:latin typeface="Cambria Math" panose="02040503050406030204" pitchFamily="18" charset="0"/>
                            </a:rPr>
                          </m:ctrlPr>
                        </m:dPr>
                        <m:e>
                          <m:r>
                            <a:rPr lang="es-CO" sz="2000" i="1">
                              <a:solidFill>
                                <a:srgbClr val="1D1D1B"/>
                              </a:solidFill>
                              <a:latin typeface="Cambria Math" panose="02040503050406030204" pitchFamily="18" charset="0"/>
                            </a:rPr>
                            <m:t>1+</m:t>
                          </m:r>
                          <m:f>
                            <m:fPr>
                              <m:ctrlPr>
                                <a:rPr lang="es-CO" sz="2000" i="1">
                                  <a:solidFill>
                                    <a:srgbClr val="1D1D1B"/>
                                  </a:solidFill>
                                  <a:latin typeface="Cambria Math" panose="02040503050406030204" pitchFamily="18" charset="0"/>
                                </a:rPr>
                              </m:ctrlPr>
                            </m:fPr>
                            <m:num>
                              <m:r>
                                <a:rPr lang="es-CO" sz="2000" i="1">
                                  <a:solidFill>
                                    <a:srgbClr val="1D1D1B"/>
                                  </a:solidFill>
                                  <a:latin typeface="Cambria Math" panose="02040503050406030204" pitchFamily="18" charset="0"/>
                                </a:rPr>
                                <m:t>1−</m:t>
                              </m:r>
                              <m:r>
                                <a:rPr lang="es-CO" sz="2000" i="1">
                                  <a:solidFill>
                                    <a:srgbClr val="1D1D1B"/>
                                  </a:solidFill>
                                  <a:latin typeface="Cambria Math" panose="02040503050406030204" pitchFamily="18" charset="0"/>
                                </a:rPr>
                                <m:t>𝑝</m:t>
                              </m:r>
                            </m:num>
                            <m:den>
                              <m:r>
                                <a:rPr lang="es-CO" sz="2000" i="1">
                                  <a:solidFill>
                                    <a:srgbClr val="1D1D1B"/>
                                  </a:solidFill>
                                  <a:latin typeface="Cambria Math" panose="02040503050406030204" pitchFamily="18" charset="0"/>
                                </a:rPr>
                                <m:t>𝑝</m:t>
                              </m:r>
                            </m:den>
                          </m:f>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𝑑</m:t>
                          </m:r>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𝐷</m:t>
                          </m:r>
                        </m:e>
                      </m:d>
                    </m:oMath>
                  </m:oMathPara>
                </a14:m>
                <a:endParaRPr/>
              </a:p>
            </p:txBody>
          </p:sp>
        </mc:Choice>
        <mc:Fallback>
          <p:sp>
            <p:nvSpPr>
              <p:cNvPr id="503" name="Texto"/>
              <p:cNvSpPr txBox="1">
                <a:spLocks noRot="1" noChangeAspect="1" noMove="1" noResize="1" noEditPoints="1" noAdjustHandles="1" noChangeArrowheads="1" noChangeShapeType="1" noTextEdit="1"/>
              </p:cNvSpPr>
              <p:nvPr/>
            </p:nvSpPr>
            <p:spPr>
              <a:xfrm>
                <a:off x="1066800" y="2286000"/>
                <a:ext cx="4826000" cy="660400"/>
              </a:xfrm>
              <a:prstGeom prst="rect">
                <a:avLst/>
              </a:prstGeom>
              <a:blipFill>
                <a:blip r:embed="rId4"/>
                <a:stretch>
                  <a:fillRect b="-13462"/>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504" name="Texto"/>
              <p:cNvSpPr txBox="1"/>
              <p:nvPr/>
            </p:nvSpPr>
            <p:spPr>
              <a:xfrm>
                <a:off x="6350000" y="2032000"/>
                <a:ext cx="4826000" cy="914400"/>
              </a:xfrm>
              <a:prstGeom prst="rect">
                <a:avLst/>
              </a:prstGeom>
              <a:noFill/>
              <a:ln/>
            </p:spPr>
            <p:txBody>
              <a:bodyPr wrap="square" lIns="0" tIns="0" rIns="0" bIns="0" rtlCol="0" anchor="ctr">
                <a:noAutofit/>
              </a:bodyPr>
              <a:lstStyle/>
              <a:p>
                <a:pPr marL="0" indent="0" algn="l">
                  <a:lnSpc>
                    <a:spcPct val="100000"/>
                  </a:lnSpc>
                  <a:spcAft>
                    <a:spcPts val="400"/>
                  </a:spcAft>
                  <a:buNone/>
                </a:pPr>
                <a:r>
                  <a:rPr lang="es-CO" sz="1600" dirty="0">
                    <a:solidFill>
                      <a:srgbClr val="3C3C3B"/>
                    </a:solidFill>
                    <a:latin typeface="Roboto" pitchFamily="34" charset="0"/>
                    <a:ea typeface="Roboto" pitchFamily="34" charset="-122"/>
                    <a:cs typeface="Roboto" pitchFamily="34" charset="-120"/>
                  </a:rPr>
                  <a:t>Con p = 0.5:  </a:t>
                </a:r>
                <a14:m>
                  <m:oMath xmlns:m="http://schemas.openxmlformats.org/officeDocument/2006/math">
                    <m:f>
                      <m:fPr>
                        <m:ctrlPr>
                          <a:rPr lang="es-CO" sz="1600" i="1">
                            <a:solidFill>
                              <a:srgbClr val="3C3C3B"/>
                            </a:solidFill>
                            <a:latin typeface="Cambria Math" panose="02040503050406030204" pitchFamily="18" charset="0"/>
                          </a:rPr>
                        </m:ctrlPr>
                      </m:fPr>
                      <m:num>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𝑝</m:t>
                        </m:r>
                      </m:num>
                      <m:den>
                        <m:r>
                          <a:rPr lang="es-CO" sz="1600" i="1">
                            <a:solidFill>
                              <a:srgbClr val="3C3C3B"/>
                            </a:solidFill>
                            <a:latin typeface="Cambria Math" panose="02040503050406030204" pitchFamily="18" charset="0"/>
                          </a:rPr>
                          <m:t>𝑝</m:t>
                        </m:r>
                      </m:den>
                    </m:f>
                    <m:r>
                      <a:rPr lang="es-CO" sz="1600" i="1">
                        <a:solidFill>
                          <a:srgbClr val="3C3C3B"/>
                        </a:solidFill>
                        <a:latin typeface="Cambria Math" panose="02040503050406030204" pitchFamily="18" charset="0"/>
                      </a:rPr>
                      <m:t>=1</m:t>
                    </m:r>
                  </m:oMath>
                </a14:m>
                <a:endParaRPr lang="es-CO" sz="1600" dirty="0">
                  <a:solidFill>
                    <a:srgbClr val="3C3C3B"/>
                  </a:solidFill>
                  <a:latin typeface="Roboto" pitchFamily="34" charset="0"/>
                  <a:ea typeface="Roboto" pitchFamily="34" charset="-122"/>
                  <a:cs typeface="Roboto" pitchFamily="34" charset="-120"/>
                </a:endParaRPr>
              </a:p>
              <a:p>
                <a:pPr marL="0" indent="0" algn="l">
                  <a:lnSpc>
                    <a:spcPct val="100000"/>
                  </a:lnSpc>
                  <a:spcAft>
                    <a:spcPts val="0"/>
                  </a:spcAft>
                  <a:buNone/>
                </a:pPr>
                <a:r>
                  <a:rPr lang="es-CO" sz="1600" dirty="0">
                    <a:solidFill>
                      <a:srgbClr val="3C3C3B"/>
                    </a:solidFill>
                    <a:latin typeface="Roboto" pitchFamily="34" charset="0"/>
                    <a:ea typeface="Roboto" pitchFamily="34" charset="-122"/>
                    <a:cs typeface="Roboto" pitchFamily="34" charset="-120"/>
                  </a:rPr>
                  <a:t>entonces  </a:t>
                </a:r>
                <a14:m>
                  <m:oMath xmlns:m="http://schemas.openxmlformats.org/officeDocument/2006/math">
                    <m:r>
                      <a:rPr lang="es-CO" sz="1600" i="1">
                        <a:solidFill>
                          <a:srgbClr val="3C3C3B"/>
                        </a:solidFill>
                        <a:latin typeface="Cambria Math" panose="02040503050406030204" pitchFamily="18" charset="0"/>
                      </a:rPr>
                      <m:t>𝜀</m:t>
                    </m:r>
                    <m:r>
                      <a:rPr lang="es-CO" sz="1600" i="1">
                        <a:solidFill>
                          <a:srgbClr val="3C3C3B"/>
                        </a:solidFill>
                        <a:latin typeface="Cambria Math" panose="02040503050406030204" pitchFamily="18" charset="0"/>
                      </a:rPr>
                      <m:t>=</m:t>
                    </m:r>
                    <m:r>
                      <m:rPr>
                        <m:sty m:val="p"/>
                      </m:rPr>
                      <a:rPr lang="es-CO" sz="1600" i="0">
                        <a:solidFill>
                          <a:srgbClr val="3C3C3B"/>
                        </a:solidFill>
                        <a:latin typeface="Cambria Math" panose="02040503050406030204" pitchFamily="18" charset="0"/>
                      </a:rPr>
                      <m:t>ln</m:t>
                    </m:r>
                    <m:d>
                      <m:dPr>
                        <m:ctrlPr>
                          <a:rPr lang="es-CO" sz="1600" i="1">
                            <a:solidFill>
                              <a:srgbClr val="3C3C3B"/>
                            </a:solidFill>
                            <a:latin typeface="Cambria Math" panose="02040503050406030204" pitchFamily="18" charset="0"/>
                          </a:rPr>
                        </m:ctrlPr>
                      </m:dPr>
                      <m:e>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𝑑</m:t>
                        </m:r>
                        <m:r>
                          <a:rPr lang="es-CO" sz="1600" i="1">
                            <a:solidFill>
                              <a:srgbClr val="3C3C3B"/>
                            </a:solidFill>
                            <a:latin typeface="Cambria Math" panose="02040503050406030204" pitchFamily="18" charset="0"/>
                          </a:rPr>
                          <m:t>⋅</m:t>
                        </m:r>
                        <m:r>
                          <a:rPr lang="es-CO" sz="1600" i="1">
                            <a:solidFill>
                              <a:srgbClr val="3C3C3B"/>
                            </a:solidFill>
                            <a:latin typeface="Cambria Math" panose="02040503050406030204" pitchFamily="18" charset="0"/>
                          </a:rPr>
                          <m:t>𝐷</m:t>
                        </m:r>
                      </m:e>
                    </m:d>
                  </m:oMath>
                </a14:m>
                <a:endParaRPr lang="es-CO" sz="1600" dirty="0">
                  <a:solidFill>
                    <a:srgbClr val="3C3C3B"/>
                  </a:solidFill>
                  <a:latin typeface="Roboto" pitchFamily="34" charset="0"/>
                  <a:ea typeface="Roboto" pitchFamily="34" charset="-122"/>
                  <a:cs typeface="Roboto" pitchFamily="34" charset="-120"/>
                </a:endParaRPr>
              </a:p>
            </p:txBody>
          </p:sp>
        </mc:Choice>
        <mc:Fallback>
          <p:sp>
            <p:nvSpPr>
              <p:cNvPr id="504" name="Texto"/>
              <p:cNvSpPr txBox="1">
                <a:spLocks noRot="1" noChangeAspect="1" noMove="1" noResize="1" noEditPoints="1" noAdjustHandles="1" noChangeArrowheads="1" noChangeShapeType="1" noTextEdit="1"/>
              </p:cNvSpPr>
              <p:nvPr/>
            </p:nvSpPr>
            <p:spPr>
              <a:xfrm>
                <a:off x="6350000" y="2032000"/>
                <a:ext cx="4826000" cy="914400"/>
              </a:xfrm>
              <a:prstGeom prst="rect">
                <a:avLst/>
              </a:prstGeom>
              <a:blipFill>
                <a:blip r:embed="rId5"/>
                <a:stretch>
                  <a:fillRect l="-2632" b="-1370"/>
                </a:stretch>
              </a:blipFill>
              <a:ln/>
            </p:spPr>
            <p:txBody>
              <a:bodyPr/>
              <a:lstStyle/>
              <a:p>
                <a:r>
                  <a:rPr lang="en-CO">
                    <a:noFill/>
                  </a:rPr>
                  <a:t> </a:t>
                </a:r>
              </a:p>
            </p:txBody>
          </p:sp>
        </mc:Fallback>
      </mc:AlternateContent>
      <p:sp>
        <p:nvSpPr>
          <p:cNvPr id="505" name="Tarjeta"/>
          <p:cNvSpPr/>
          <p:nvPr/>
        </p:nvSpPr>
        <p:spPr>
          <a:xfrm>
            <a:off x="812800" y="3251200"/>
            <a:ext cx="5181600" cy="2946400"/>
          </a:xfrm>
          <a:prstGeom prst="roundRect">
            <a:avLst>
              <a:gd name="adj" fmla="val 6000"/>
            </a:avLst>
          </a:prstGeom>
          <a:solidFill>
            <a:srgbClr val="F3F3F2"/>
          </a:solidFill>
          <a:ln>
            <a:noFill/>
          </a:ln>
        </p:spPr>
        <p:txBody>
          <a:bodyPr/>
          <a:lstStyle/>
          <a:p>
            <a:endParaRPr lang="es-CO"/>
          </a:p>
        </p:txBody>
      </p:sp>
      <p:sp>
        <p:nvSpPr>
          <p:cNvPr id="506" name="Texto"/>
          <p:cNvSpPr txBox="1"/>
          <p:nvPr/>
        </p:nvSpPr>
        <p:spPr>
          <a:xfrm>
            <a:off x="15494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central</a:t>
            </a:r>
          </a:p>
        </p:txBody>
      </p:sp>
      <mc:AlternateContent xmlns:mc="http://schemas.openxmlformats.org/markup-compatibility/2006">
        <mc:Choice xmlns:a14="http://schemas.microsoft.com/office/drawing/2010/main" Requires="a14">
          <p:sp>
            <p:nvSpPr>
              <p:cNvPr id="507" name="Texto"/>
              <p:cNvSpPr txBox="1"/>
              <p:nvPr/>
            </p:nvSpPr>
            <p:spPr>
              <a:xfrm>
                <a:off x="10668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participantes</a:t>
                </a:r>
              </a:p>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mediciones (copias de ρ″)</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m:t>
                    </m:r>
                    <m:f>
                      <m:fPr>
                        <m:ctrlPr>
                          <a:rPr lang="es-CO" sz="1500" i="1">
                            <a:solidFill>
                              <a:srgbClr val="3C3C3B"/>
                            </a:solidFill>
                            <a:latin typeface="Cambria Math" panose="02040503050406030204" pitchFamily="18" charset="0"/>
                          </a:rPr>
                        </m:ctrlPr>
                      </m:fPr>
                      <m:num>
                        <m:r>
                          <a:rPr lang="es-CO" sz="1500" i="1">
                            <a:solidFill>
                              <a:srgbClr val="3C3C3B"/>
                            </a:solidFill>
                            <a:latin typeface="Cambria Math" panose="02040503050406030204" pitchFamily="18" charset="0"/>
                          </a:rPr>
                          <m:t>1</m:t>
                        </m:r>
                      </m:num>
                      <m:den>
                        <m:r>
                          <a:rPr lang="es-CO" sz="1500" i="1">
                            <a:solidFill>
                              <a:srgbClr val="3C3C3B"/>
                            </a:solidFill>
                            <a:latin typeface="Cambria Math" panose="02040503050406030204" pitchFamily="18" charset="0"/>
                          </a:rPr>
                          <m:t>𝑛</m:t>
                        </m:r>
                      </m:den>
                    </m:f>
                  </m:oMath>
                </a14:m>
                <a:r>
                  <a:rPr lang="es-CO" sz="1500" dirty="0">
                    <a:solidFill>
                      <a:srgbClr val="3C3C3B"/>
                    </a:solidFill>
                    <a:latin typeface="Roboto" pitchFamily="34" charset="0"/>
                    <a:ea typeface="Roboto" pitchFamily="34" charset="-122"/>
                    <a:cs typeface="Roboto" pitchFamily="34" charset="-120"/>
                  </a:rPr>
                  <a:t>  porque A es solo 1/n del estado agregado</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medición suma ε (Teorema 4)</a:t>
                </a:r>
              </a:p>
            </p:txBody>
          </p:sp>
        </mc:Choice>
        <mc:Fallback>
          <p:sp>
            <p:nvSpPr>
              <p:cNvPr id="507" name="Texto"/>
              <p:cNvSpPr txBox="1">
                <a:spLocks noRot="1" noChangeAspect="1" noMove="1" noResize="1" noEditPoints="1" noAdjustHandles="1" noChangeArrowheads="1" noChangeShapeType="1" noTextEdit="1"/>
              </p:cNvSpPr>
              <p:nvPr/>
            </p:nvSpPr>
            <p:spPr>
              <a:xfrm>
                <a:off x="1066800" y="3860800"/>
                <a:ext cx="4724400" cy="1270000"/>
              </a:xfrm>
              <a:prstGeom prst="rect">
                <a:avLst/>
              </a:prstGeom>
              <a:blipFill>
                <a:blip r:embed="rId6"/>
                <a:stretch>
                  <a:fillRect l="-2681" t="-3922"/>
                </a:stretch>
              </a:blipFill>
              <a:ln/>
            </p:spPr>
            <p:txBody>
              <a:bodyPr/>
              <a:lstStyle/>
              <a:p>
                <a:r>
                  <a:rPr lang="en-CO">
                    <a:noFill/>
                  </a:rPr>
                  <a:t> </a:t>
                </a:r>
              </a:p>
            </p:txBody>
          </p:sp>
        </mc:Fallback>
      </mc:AlternateContent>
      <p:sp>
        <p:nvSpPr>
          <p:cNvPr id="508" name="Tarjeta"/>
          <p:cNvSpPr/>
          <p:nvPr/>
        </p:nvSpPr>
        <p:spPr>
          <a:xfrm>
            <a:off x="10160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mc:Choice xmlns:a14="http://schemas.microsoft.com/office/drawing/2010/main" Requires="a14">
          <p:sp>
            <p:nvSpPr>
              <p:cNvPr id="509" name="Texto"/>
              <p:cNvSpPr txBox="1"/>
              <p:nvPr/>
            </p:nvSpPr>
            <p:spPr>
              <a:xfrm>
                <a:off x="11176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sSub>
                        <m:sSubPr>
                          <m:ctrlPr>
                            <a:rPr lang="es-CO" sz="1600" i="1">
                              <a:solidFill>
                                <a:srgbClr val="1D1D1B"/>
                              </a:solidFill>
                              <a:latin typeface="Cambria Math" panose="02040503050406030204" pitchFamily="18" charset="0"/>
                            </a:rPr>
                          </m:ctrlPr>
                        </m:sSubPr>
                        <m:e>
                          <m:r>
                            <a:rPr lang="es-CO" sz="1600" i="1">
                              <a:solidFill>
                                <a:srgbClr val="1D1D1B"/>
                              </a:solidFill>
                              <a:latin typeface="Cambria Math" panose="02040503050406030204" pitchFamily="18" charset="0"/>
                            </a:rPr>
                            <m:t>𝜀</m:t>
                          </m:r>
                        </m:e>
                        <m:sub>
                          <m:r>
                            <m:rPr>
                              <m:sty m:val="p"/>
                            </m:rPr>
                            <a:rPr lang="es-CO" sz="1600" i="0">
                              <a:solidFill>
                                <a:srgbClr val="1D1D1B"/>
                              </a:solidFill>
                              <a:latin typeface="Cambria Math" panose="02040503050406030204" pitchFamily="18" charset="0"/>
                            </a:rPr>
                            <m:t>total</m:t>
                          </m:r>
                        </m:sub>
                      </m:sSub>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𝑁</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f>
                            <m:fPr>
                              <m:type m:val="lin"/>
                              <m:ctrlPr>
                                <a:rPr lang="es-CO" sz="1600" i="1">
                                  <a:solidFill>
                                    <a:srgbClr val="1D1D1B"/>
                                  </a:solidFill>
                                  <a:latin typeface="Cambria Math" panose="02040503050406030204" pitchFamily="18" charset="0"/>
                                </a:rPr>
                              </m:ctrlPr>
                            </m:fPr>
                            <m:num>
                              <m:r>
                                <a:rPr lang="es-CO" sz="1600" i="1">
                                  <a:solidFill>
                                    <a:srgbClr val="1D1D1B"/>
                                  </a:solidFill>
                                  <a:latin typeface="Cambria Math" panose="02040503050406030204" pitchFamily="18" charset="0"/>
                                </a:rPr>
                                <m:t>𝐷</m:t>
                              </m:r>
                            </m:num>
                            <m:den>
                              <m:r>
                                <a:rPr lang="es-CO" sz="1600" i="1">
                                  <a:solidFill>
                                    <a:srgbClr val="1D1D1B"/>
                                  </a:solidFill>
                                  <a:latin typeface="Cambria Math" panose="02040503050406030204" pitchFamily="18" charset="0"/>
                                </a:rPr>
                                <m:t>𝑛</m:t>
                              </m:r>
                            </m:den>
                          </m:f>
                        </m:e>
                      </m:d>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oMath>
                  </m:oMathPara>
                </a14:m>
                <a:endParaRPr/>
              </a:p>
            </p:txBody>
          </p:sp>
        </mc:Choice>
        <mc:Fallback>
          <p:sp>
            <p:nvSpPr>
              <p:cNvPr id="509" name="Texto"/>
              <p:cNvSpPr txBox="1">
                <a:spLocks noRot="1" noChangeAspect="1" noMove="1" noResize="1" noEditPoints="1" noAdjustHandles="1" noChangeArrowheads="1" noChangeShapeType="1" noTextEdit="1"/>
              </p:cNvSpPr>
              <p:nvPr/>
            </p:nvSpPr>
            <p:spPr>
              <a:xfrm>
                <a:off x="1117600" y="5245100"/>
                <a:ext cx="4572000" cy="355600"/>
              </a:xfrm>
              <a:prstGeom prst="rect">
                <a:avLst/>
              </a:prstGeom>
              <a:blipFill>
                <a:blip r:embed="rId7"/>
                <a:stretch>
                  <a:fillRect t="-96667" b="-160000"/>
                </a:stretch>
              </a:blipFill>
              <a:ln/>
            </p:spPr>
            <p:txBody>
              <a:bodyPr/>
              <a:lstStyle/>
              <a:p>
                <a:r>
                  <a:rPr lang="en-CO">
                    <a:noFill/>
                  </a:rPr>
                  <a:t> </a:t>
                </a:r>
              </a:p>
            </p:txBody>
          </p:sp>
        </mc:Fallback>
      </mc:AlternateContent>
      <p:sp>
        <p:nvSpPr>
          <p:cNvPr id="510" name="Texto"/>
          <p:cNvSpPr txBox="1"/>
          <p:nvPr/>
        </p:nvSpPr>
        <p:spPr>
          <a:xfrm>
            <a:off x="11176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con N = n y D ≪ n: crece con D, exponencial en el número de qubits</a:t>
            </a:r>
          </a:p>
        </p:txBody>
      </p:sp>
      <p:sp>
        <p:nvSpPr>
          <p:cNvPr id="511" name="Tarjeta"/>
          <p:cNvSpPr/>
          <p:nvPr/>
        </p:nvSpPr>
        <p:spPr>
          <a:xfrm>
            <a:off x="6197600" y="3251200"/>
            <a:ext cx="5181600" cy="2946400"/>
          </a:xfrm>
          <a:prstGeom prst="roundRect">
            <a:avLst>
              <a:gd name="adj" fmla="val 6000"/>
            </a:avLst>
          </a:prstGeom>
          <a:solidFill>
            <a:srgbClr val="F3F3F2"/>
          </a:solidFill>
          <a:ln>
            <a:noFill/>
          </a:ln>
        </p:spPr>
        <p:txBody>
          <a:bodyPr/>
          <a:lstStyle/>
          <a:p>
            <a:endParaRPr lang="es-CO"/>
          </a:p>
        </p:txBody>
      </p:sp>
      <p:sp>
        <p:nvSpPr>
          <p:cNvPr id="512" name="Texto"/>
          <p:cNvSpPr txBox="1"/>
          <p:nvPr/>
        </p:nvSpPr>
        <p:spPr>
          <a:xfrm>
            <a:off x="69342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local</a:t>
            </a:r>
          </a:p>
        </p:txBody>
      </p:sp>
      <mc:AlternateContent xmlns:mc="http://schemas.openxmlformats.org/markup-compatibility/2006">
        <mc:Choice xmlns:a14="http://schemas.microsoft.com/office/drawing/2010/main" Requires="a14">
          <p:sp>
            <p:nvSpPr>
              <p:cNvPr id="513" name="Texto"/>
              <p:cNvSpPr txBox="1"/>
              <p:nvPr/>
            </p:nvSpPr>
            <p:spPr>
              <a:xfrm>
                <a:off x="64516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persona se mide una sola vez</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Composición paralela: sacar a A cambia solo su resultado</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≤1</m:t>
                    </m:r>
                  </m:oMath>
                </a14:m>
                <a:r>
                  <a:rPr lang="es-CO" sz="1500" dirty="0">
                    <a:solidFill>
                      <a:srgbClr val="3C3C3B"/>
                    </a:solidFill>
                    <a:latin typeface="Roboto" pitchFamily="34" charset="0"/>
                    <a:ea typeface="Roboto" pitchFamily="34" charset="-122"/>
                    <a:cs typeface="Roboto" pitchFamily="34" charset="-120"/>
                  </a:rPr>
                  <a:t>  (d = 1 para estados ortogonales)</a:t>
                </a:r>
              </a:p>
            </p:txBody>
          </p:sp>
        </mc:Choice>
        <mc:Fallback>
          <p:sp>
            <p:nvSpPr>
              <p:cNvPr id="513" name="Texto"/>
              <p:cNvSpPr txBox="1">
                <a:spLocks noRot="1" noChangeAspect="1" noMove="1" noResize="1" noEditPoints="1" noAdjustHandles="1" noChangeArrowheads="1" noChangeShapeType="1" noTextEdit="1"/>
              </p:cNvSpPr>
              <p:nvPr/>
            </p:nvSpPr>
            <p:spPr>
              <a:xfrm>
                <a:off x="6451600" y="3860800"/>
                <a:ext cx="4724400" cy="1270000"/>
              </a:xfrm>
              <a:prstGeom prst="rect">
                <a:avLst/>
              </a:prstGeom>
              <a:blipFill>
                <a:blip r:embed="rId8"/>
                <a:stretch>
                  <a:fillRect l="-2413" t="-3922"/>
                </a:stretch>
              </a:blipFill>
              <a:ln/>
            </p:spPr>
            <p:txBody>
              <a:bodyPr/>
              <a:lstStyle/>
              <a:p>
                <a:r>
                  <a:rPr lang="en-CO">
                    <a:noFill/>
                  </a:rPr>
                  <a:t> </a:t>
                </a:r>
              </a:p>
            </p:txBody>
          </p:sp>
        </mc:Fallback>
      </mc:AlternateContent>
      <p:sp>
        <p:nvSpPr>
          <p:cNvPr id="514" name="Tarjeta"/>
          <p:cNvSpPr/>
          <p:nvPr/>
        </p:nvSpPr>
        <p:spPr>
          <a:xfrm>
            <a:off x="64008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mc:Choice xmlns:a14="http://schemas.microsoft.com/office/drawing/2010/main" Requires="a14">
          <p:sp>
            <p:nvSpPr>
              <p:cNvPr id="515" name="Texto"/>
              <p:cNvSpPr txBox="1"/>
              <p:nvPr/>
            </p:nvSpPr>
            <p:spPr>
              <a:xfrm>
                <a:off x="65024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r>
                        <a:rPr lang="es-CO" sz="1600" i="1">
                          <a:solidFill>
                            <a:srgbClr val="1D1D1B"/>
                          </a:solidFill>
                          <a:latin typeface="Cambria Math" panose="02040503050406030204" pitchFamily="18" charset="0"/>
                        </a:rPr>
                        <m:t>𝜀</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𝑑</m:t>
                          </m:r>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e>
                      </m:d>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𝐷</m:t>
                          </m:r>
                        </m:e>
                      </m:d>
                    </m:oMath>
                  </m:oMathPara>
                </a14:m>
                <a:endParaRPr/>
              </a:p>
            </p:txBody>
          </p:sp>
        </mc:Choice>
        <mc:Fallback>
          <p:sp>
            <p:nvSpPr>
              <p:cNvPr id="515" name="Texto"/>
              <p:cNvSpPr txBox="1">
                <a:spLocks noRot="1" noChangeAspect="1" noMove="1" noResize="1" noEditPoints="1" noAdjustHandles="1" noChangeArrowheads="1" noChangeShapeType="1" noTextEdit="1"/>
              </p:cNvSpPr>
              <p:nvPr/>
            </p:nvSpPr>
            <p:spPr>
              <a:xfrm>
                <a:off x="6502400" y="5245100"/>
                <a:ext cx="4572000" cy="355600"/>
              </a:xfrm>
              <a:prstGeom prst="rect">
                <a:avLst/>
              </a:prstGeom>
              <a:blipFill>
                <a:blip r:embed="rId9"/>
                <a:stretch>
                  <a:fillRect/>
                </a:stretch>
              </a:blipFill>
              <a:ln/>
            </p:spPr>
            <p:txBody>
              <a:bodyPr/>
              <a:lstStyle/>
              <a:p>
                <a:r>
                  <a:rPr lang="en-CO">
                    <a:noFill/>
                  </a:rPr>
                  <a:t> </a:t>
                </a:r>
              </a:p>
            </p:txBody>
          </p:sp>
        </mc:Fallback>
      </mc:AlternateContent>
      <p:sp>
        <p:nvSpPr>
          <p:cNvPr id="516" name="Texto"/>
          <p:cNvSpPr txBox="1"/>
          <p:nvPr/>
        </p:nvSpPr>
        <p:spPr>
          <a:xfrm>
            <a:off x="65024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crece con ln D: lineal en el número de qubits</a:t>
            </a:r>
          </a:p>
        </p:txBody>
      </p:sp>
      <p:sp>
        <p:nvSpPr>
          <p:cNvPr id="10" name="Text 7"/>
          <p:cNvSpPr/>
          <p:nvPr/>
        </p:nvSpPr>
        <p:spPr>
          <a:xfrm>
            <a:off x="10668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4" name="Text 10"/>
          <p:cNvSpPr/>
          <p:nvPr/>
        </p:nvSpPr>
        <p:spPr>
          <a:xfrm>
            <a:off x="64516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26</a:t>
            </a:r>
            <a:endParaRPr lang="es-ES_tradnl" sz="1200" noProof="0" dirty="0"/>
          </a:p>
        </p:txBody>
      </p:sp>
    </p:spTree>
    <p:extLst>
      <p:ext uri="{BB962C8B-B14F-4D97-AF65-F5344CB8AC3E}">
        <p14:creationId xmlns:p14="http://schemas.microsoft.com/office/powerpoint/2010/main" val="25213775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D1D1B"/>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BDBDB8"/>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l="-349" r="-349"/>
          <a:stretch/>
        </p:blipFill>
        <p:spPr>
          <a:xfrm>
            <a:off x="10121900" y="254000"/>
            <a:ext cx="1257300" cy="393700"/>
          </a:xfrm>
          <a:prstGeom prst="rect">
            <a:avLst/>
          </a:prstGeom>
        </p:spPr>
      </p:pic>
      <p:sp>
        <p:nvSpPr>
          <p:cNvPr id="7" name="Text 4"/>
          <p:cNvSpPr/>
          <p:nvPr/>
        </p:nvSpPr>
        <p:spPr>
          <a:xfrm>
            <a:off x="812800" y="1999555"/>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FFEE00"/>
                </a:solidFill>
                <a:latin typeface="Roboto" pitchFamily="34" charset="0"/>
                <a:ea typeface="Roboto" pitchFamily="34" charset="-122"/>
                <a:cs typeface="Roboto" pitchFamily="34" charset="-120"/>
              </a:rPr>
              <a:t>CUÁNDO C SIGUE SIENDO BUENO</a:t>
            </a:r>
            <a:endParaRPr lang="es-ES_tradnl" sz="1400" noProof="0" dirty="0"/>
          </a:p>
        </p:txBody>
      </p:sp>
      <p:sp>
        <p:nvSpPr>
          <p:cNvPr id="8" name="Text 5"/>
          <p:cNvSpPr>
            <a:spLocks noGrp="1"/>
          </p:cNvSpPr>
          <p:nvPr>
            <p:ph type="title"/>
          </p:nvPr>
        </p:nvSpPr>
        <p:spPr>
          <a:xfrm>
            <a:off x="812800" y="2553196"/>
            <a:ext cx="10883392" cy="1049338"/>
          </a:xfrm>
          <a:prstGeom prst="rect">
            <a:avLst/>
          </a:prstGeom>
          <a:noFill/>
          <a:ln/>
        </p:spPr>
        <p:txBody>
          <a:bodyPr wrap="square" lIns="0" tIns="0" rIns="0" bIns="0" rtlCol="0" anchor="t">
            <a:normAutofit/>
          </a:bodyPr>
          <a:lstStyle/>
          <a:p>
            <a:pPr marL="0" indent="0" algn="l">
              <a:lnSpc>
                <a:spcPts val="4032"/>
              </a:lnSpc>
              <a:buNone/>
            </a:pPr>
            <a:r>
              <a:rPr lang="es-ES_tradnl" sz="3600" b="1" i="0" kern="0" spc="-75" noProof="0" dirty="0">
                <a:solidFill>
                  <a:srgbClr val="F7F7F5"/>
                </a:solidFill>
                <a:latin typeface="DM Sans" pitchFamily="34" charset="0"/>
                <a:ea typeface="DM Sans" pitchFamily="34" charset="-122"/>
                <a:cs typeface="DM Sans" pitchFamily="34" charset="-120"/>
              </a:rPr>
              <a:t>Lo que decide no es cuántico contra clásico: es </a:t>
            </a:r>
            <a:r>
              <a:rPr lang="es-ES_tradnl" sz="3600" b="1" i="0" kern="0" spc="-75" noProof="0" dirty="0">
                <a:solidFill>
                  <a:srgbClr val="FFEE00"/>
                </a:solidFill>
                <a:latin typeface="DM Sans" pitchFamily="34" charset="0"/>
                <a:ea typeface="DM Sans" pitchFamily="34" charset="-122"/>
                <a:cs typeface="DM Sans" pitchFamily="34" charset="-120"/>
              </a:rPr>
              <a:t>cuántas copias consume</a:t>
            </a:r>
            <a:r>
              <a:rPr lang="es-ES_tradnl" sz="3600" b="1" i="0" kern="0" spc="-75" noProof="0" dirty="0">
                <a:solidFill>
                  <a:srgbClr val="F7F7F5"/>
                </a:solidFill>
                <a:latin typeface="DM Sans" pitchFamily="34" charset="0"/>
                <a:ea typeface="DM Sans" pitchFamily="34" charset="-122"/>
                <a:cs typeface="DM Sans" pitchFamily="34" charset="-120"/>
              </a:rPr>
              <a:t> quien recibe el estado.</a:t>
            </a:r>
            <a:endParaRPr lang="es-ES_tradnl" sz="3600" noProof="0" dirty="0"/>
          </a:p>
        </p:txBody>
      </p:sp>
      <p:sp>
        <p:nvSpPr>
          <p:cNvPr id="9" name="Shape 6"/>
          <p:cNvSpPr/>
          <p:nvPr/>
        </p:nvSpPr>
        <p:spPr>
          <a:xfrm>
            <a:off x="825500" y="3881934"/>
            <a:ext cx="0" cy="773311"/>
          </a:xfrm>
          <a:prstGeom prst="line">
            <a:avLst/>
          </a:prstGeom>
          <a:noFill/>
          <a:ln w="25400">
            <a:solidFill>
              <a:srgbClr val="FFEE00"/>
            </a:solidFill>
            <a:prstDash val="solid"/>
          </a:ln>
        </p:spPr>
        <p:txBody>
          <a:bodyPr/>
          <a:lstStyle/>
          <a:p>
            <a:endParaRPr lang="es-ES_tradnl" noProof="0" dirty="0"/>
          </a:p>
        </p:txBody>
      </p:sp>
      <p:sp>
        <p:nvSpPr>
          <p:cNvPr id="10" name="Text 7"/>
          <p:cNvSpPr/>
          <p:nvPr/>
        </p:nvSpPr>
        <p:spPr>
          <a:xfrm>
            <a:off x="9906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Si un proceso cuántico consume una sola copia de </a:t>
            </a:r>
            <a:r>
              <a:rPr lang="es-ES_tradnl" sz="1400" noProof="0" dirty="0" err="1">
                <a:solidFill>
                  <a:srgbClr val="D4D4D0"/>
                </a:solidFill>
                <a:latin typeface="Roboto" pitchFamily="34" charset="0"/>
                <a:ea typeface="Roboto" pitchFamily="34" charset="-122"/>
                <a:cs typeface="Roboto" pitchFamily="34" charset="-120"/>
              </a:rPr>
              <a:t>ρ</a:t>
            </a:r>
            <a:r>
              <a:rPr lang="es-ES_tradnl" sz="1400" noProof="0" dirty="0">
                <a:solidFill>
                  <a:srgbClr val="D4D4D0"/>
                </a:solidFill>
                <a:latin typeface="Roboto" pitchFamily="34" charset="0"/>
                <a:ea typeface="Roboto" pitchFamily="34" charset="-122"/>
                <a:cs typeface="Roboto" pitchFamily="34" charset="-120"/>
              </a:rPr>
              <a:t>″ sin </a:t>
            </a:r>
            <a:r>
              <a:rPr lang="es-ES_tradnl" sz="1400" noProof="0" dirty="0" err="1">
                <a:solidFill>
                  <a:srgbClr val="D4D4D0"/>
                </a:solidFill>
                <a:latin typeface="Roboto" pitchFamily="34" charset="0"/>
                <a:ea typeface="Roboto" pitchFamily="34" charset="-122"/>
                <a:cs typeface="Roboto" pitchFamily="34" charset="-120"/>
              </a:rPr>
              <a:t>decuantizar</a:t>
            </a:r>
            <a:r>
              <a:rPr lang="es-ES_tradnl" sz="1400" noProof="0" dirty="0">
                <a:solidFill>
                  <a:srgbClr val="D4D4D0"/>
                </a:solidFill>
                <a:latin typeface="Roboto" pitchFamily="34" charset="0"/>
                <a:ea typeface="Roboto" pitchFamily="34" charset="-122"/>
                <a:cs typeface="Roboto" pitchFamily="34" charset="-120"/>
              </a:rPr>
              <a:t>, la garantía es el </a:t>
            </a:r>
            <a:r>
              <a:rPr lang="es-ES_tradnl" sz="1400" noProof="0" dirty="0" err="1">
                <a:solidFill>
                  <a:srgbClr val="D4D4D0"/>
                </a:solidFill>
                <a:latin typeface="Roboto" pitchFamily="34" charset="0"/>
                <a:ea typeface="Roboto" pitchFamily="34" charset="-122"/>
                <a:cs typeface="Roboto" pitchFamily="34" charset="-120"/>
              </a:rPr>
              <a:t>ε</a:t>
            </a:r>
            <a:r>
              <a:rPr lang="es-ES_tradnl" sz="1400" noProof="0" dirty="0">
                <a:solidFill>
                  <a:srgbClr val="D4D4D0"/>
                </a:solidFill>
                <a:latin typeface="Roboto" pitchFamily="34" charset="0"/>
                <a:ea typeface="Roboto" pitchFamily="34" charset="-122"/>
                <a:cs typeface="Roboto" pitchFamily="34" charset="-120"/>
              </a:rPr>
              <a:t> por copia: 0.106 con 7 </a:t>
            </a:r>
            <a:r>
              <a:rPr lang="es-ES_tradnl" sz="1400" noProof="0" dirty="0" err="1">
                <a:solidFill>
                  <a:srgbClr val="D4D4D0"/>
                </a:solidFill>
                <a:latin typeface="Roboto" pitchFamily="34" charset="0"/>
                <a:ea typeface="Roboto" pitchFamily="34" charset="-122"/>
                <a:cs typeface="Roboto" pitchFamily="34" charset="-120"/>
              </a:rPr>
              <a:t>qubits</a:t>
            </a:r>
            <a:r>
              <a:rPr lang="es-ES_tradnl" sz="1400" noProof="0" dirty="0">
                <a:solidFill>
                  <a:srgbClr val="D4D4D0"/>
                </a:solidFill>
                <a:latin typeface="Roboto" pitchFamily="34" charset="0"/>
                <a:ea typeface="Roboto" pitchFamily="34" charset="-122"/>
                <a:cs typeface="Roboto" pitchFamily="34" charset="-120"/>
              </a:rPr>
              <a:t>, mucho mejor que la de L.</a:t>
            </a:r>
            <a:endParaRPr lang="es-ES_tradnl" sz="1400" noProof="0" dirty="0"/>
          </a:p>
        </p:txBody>
      </p:sp>
      <p:sp>
        <p:nvSpPr>
          <p:cNvPr id="11" name="Shape 8"/>
          <p:cNvSpPr/>
          <p:nvPr/>
        </p:nvSpPr>
        <p:spPr>
          <a:xfrm>
            <a:off x="6261100" y="3881934"/>
            <a:ext cx="0" cy="773311"/>
          </a:xfrm>
          <a:prstGeom prst="line">
            <a:avLst/>
          </a:prstGeom>
          <a:noFill/>
          <a:ln w="25400">
            <a:solidFill>
              <a:srgbClr val="6E6E6C"/>
            </a:solidFill>
            <a:prstDash val="solid"/>
          </a:ln>
        </p:spPr>
        <p:txBody>
          <a:bodyPr/>
          <a:lstStyle/>
          <a:p>
            <a:endParaRPr lang="es-ES_tradnl" noProof="0" dirty="0"/>
          </a:p>
        </p:txBody>
      </p:sp>
      <p:sp>
        <p:nvSpPr>
          <p:cNvPr id="12" name="Text 9"/>
          <p:cNvSpPr/>
          <p:nvPr/>
        </p:nvSpPr>
        <p:spPr>
          <a:xfrm>
            <a:off x="64262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Un algoritmo cuántico que necesite estimar algo con precisión también consume muchas copias, y paga </a:t>
            </a:r>
            <a:r>
              <a:rPr lang="es-ES_tradnl" sz="1400" noProof="0" dirty="0" err="1">
                <a:solidFill>
                  <a:srgbClr val="D4D4D0"/>
                </a:solidFill>
                <a:latin typeface="Roboto" pitchFamily="34" charset="0"/>
                <a:ea typeface="Roboto" pitchFamily="34" charset="-122"/>
                <a:cs typeface="Roboto" pitchFamily="34" charset="-120"/>
              </a:rPr>
              <a:t>N·ε</a:t>
            </a:r>
            <a:r>
              <a:rPr lang="es-ES_tradnl" sz="1400" noProof="0" dirty="0">
                <a:solidFill>
                  <a:srgbClr val="D4D4D0"/>
                </a:solidFill>
                <a:latin typeface="Roboto" pitchFamily="34" charset="0"/>
                <a:ea typeface="Roboto" pitchFamily="34" charset="-122"/>
                <a:cs typeface="Roboto" pitchFamily="34" charset="-120"/>
              </a:rPr>
              <a:t>.</a:t>
            </a:r>
            <a:endParaRPr lang="es-ES_tradnl" sz="1400" noProof="0" dirty="0"/>
          </a:p>
        </p:txBody>
      </p:sp>
      <p:sp>
        <p:nvSpPr>
          <p:cNvPr id="14" name="Text 1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F7F7F5"/>
                </a:solidFill>
                <a:latin typeface="Roboto" pitchFamily="34" charset="0"/>
                <a:ea typeface="Roboto" pitchFamily="34" charset="-122"/>
                <a:cs typeface="Roboto" pitchFamily="34" charset="-120"/>
              </a:rPr>
              <a:t>27</a:t>
            </a:r>
            <a:endParaRPr lang="es-ES_tradnl" sz="1200" noProof="0" dirty="0"/>
          </a:p>
        </p:txBody>
      </p:sp>
    </p:spTree>
    <p:extLst>
      <p:ext uri="{BB962C8B-B14F-4D97-AF65-F5344CB8AC3E}">
        <p14:creationId xmlns:p14="http://schemas.microsoft.com/office/powerpoint/2010/main" val="12202530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referencia es B, no el CSV</a:t>
            </a:r>
            <a:endParaRPr lang="es-ES_tradnl" sz="2800" noProof="0" dirty="0"/>
          </a:p>
        </p:txBody>
      </p:sp>
      <p:sp>
        <p:nvSpPr>
          <p:cNvPr id="8" name="Shape 5"/>
          <p:cNvSpPr/>
          <p:nvPr/>
        </p:nvSpPr>
        <p:spPr>
          <a:xfrm>
            <a:off x="812800" y="1407120"/>
            <a:ext cx="10566400" cy="1115020"/>
          </a:xfrm>
          <a:prstGeom prst="roundRect">
            <a:avLst>
              <a:gd name="adj" fmla="val 9112"/>
            </a:avLst>
          </a:prstGeom>
          <a:solidFill>
            <a:srgbClr val="F4F4F2"/>
          </a:solidFill>
          <a:ln/>
        </p:spPr>
        <p:txBody>
          <a:bodyPr/>
          <a:lstStyle/>
          <a:p>
            <a:endParaRPr lang="es-ES_tradnl" noProof="0" dirty="0"/>
          </a:p>
        </p:txBody>
      </p:sp>
      <p:sp>
        <p:nvSpPr>
          <p:cNvPr id="9" name="Text 6"/>
          <p:cNvSpPr/>
          <p:nvPr/>
        </p:nvSpPr>
        <p:spPr>
          <a:xfrm>
            <a:off x="1066800" y="1559520"/>
            <a:ext cx="3217926"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Incertidumbre sin ruido (Bayes)</a:t>
            </a:r>
            <a:endParaRPr lang="es-ES_tradnl" sz="1200" noProof="0" dirty="0"/>
          </a:p>
        </p:txBody>
      </p:sp>
      <p:pic>
        <p:nvPicPr>
          <p:cNvPr id="10" name="Image 1" descr="P(car | +) = 1·0.232 / 0.45 ≈ 0.52"/>
          <p:cNvPicPr>
            <a:picLocks noChangeAspect="1"/>
          </p:cNvPicPr>
          <p:nvPr/>
        </p:nvPicPr>
        <p:blipFill>
          <a:blip r:embed="rId4"/>
          <a:srcRect t="-161" b="-161"/>
          <a:stretch/>
        </p:blipFill>
        <p:spPr>
          <a:xfrm>
            <a:off x="1066800" y="1823641"/>
            <a:ext cx="3124200" cy="546100"/>
          </a:xfrm>
          <a:prstGeom prst="rect">
            <a:avLst/>
          </a:prstGeom>
        </p:spPr>
      </p:pic>
      <p:sp>
        <p:nvSpPr>
          <p:cNvPr id="11" name="Text 7"/>
          <p:cNvSpPr/>
          <p:nvPr/>
        </p:nvSpPr>
        <p:spPr>
          <a:xfrm>
            <a:off x="4495800" y="1715790"/>
            <a:ext cx="682828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Casi una moneda. Viene de la codificación: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también dan «+» la mitad de las veces.</a:t>
            </a:r>
            <a:endParaRPr lang="es-ES_tradnl" sz="1400" noProof="0" dirty="0"/>
          </a:p>
        </p:txBody>
      </p:sp>
      <p:sp>
        <p:nvSpPr>
          <p:cNvPr id="12" name="Shape 8"/>
          <p:cNvSpPr/>
          <p:nvPr/>
        </p:nvSpPr>
        <p:spPr>
          <a:xfrm>
            <a:off x="819150" y="2731691"/>
            <a:ext cx="3407767"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3" name="Text 9"/>
          <p:cNvSpPr/>
          <p:nvPr/>
        </p:nvSpPr>
        <p:spPr>
          <a:xfrm>
            <a:off x="1003300"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3C3C3B"/>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A</a:t>
            </a:r>
            <a:endParaRPr lang="es-ES_tradnl" sz="1600" noProof="0" dirty="0"/>
          </a:p>
        </p:txBody>
      </p:sp>
      <p:sp>
        <p:nvSpPr>
          <p:cNvPr id="14" name="Text 10"/>
          <p:cNvSpPr/>
          <p:nvPr/>
        </p:nvSpPr>
        <p:spPr>
          <a:xfrm>
            <a:off x="1485900" y="2890441"/>
            <a:ext cx="2633573"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CSV</a:t>
            </a:r>
            <a:endParaRPr lang="es-ES_tradnl" sz="1400" noProof="0" dirty="0"/>
          </a:p>
        </p:txBody>
      </p:sp>
      <p:sp>
        <p:nvSpPr>
          <p:cNvPr id="15" name="Text 11"/>
          <p:cNvSpPr/>
          <p:nvPr/>
        </p:nvSpPr>
        <p:spPr>
          <a:xfrm>
            <a:off x="1485900" y="3146921"/>
            <a:ext cx="2633573"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datos originales</a:t>
            </a:r>
            <a:endParaRPr lang="es-ES_tradnl" sz="1200" noProof="0" dirty="0"/>
          </a:p>
        </p:txBody>
      </p:sp>
      <p:sp>
        <p:nvSpPr>
          <p:cNvPr id="16" name="Shape 12"/>
          <p:cNvSpPr/>
          <p:nvPr/>
        </p:nvSpPr>
        <p:spPr>
          <a:xfrm>
            <a:off x="4392017"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7" name="Text 13"/>
          <p:cNvSpPr/>
          <p:nvPr/>
        </p:nvSpPr>
        <p:spPr>
          <a:xfrm>
            <a:off x="4576167"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B</a:t>
            </a:r>
            <a:endParaRPr lang="es-ES_tradnl" sz="1600" noProof="0" dirty="0"/>
          </a:p>
        </p:txBody>
      </p:sp>
      <p:sp>
        <p:nvSpPr>
          <p:cNvPr id="18" name="Text 14"/>
          <p:cNvSpPr/>
          <p:nvPr/>
        </p:nvSpPr>
        <p:spPr>
          <a:xfrm>
            <a:off x="5058767"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sin ruido</a:t>
            </a:r>
            <a:endParaRPr lang="es-ES_tradnl" sz="1400" noProof="0" dirty="0"/>
          </a:p>
        </p:txBody>
      </p:sp>
      <p:sp>
        <p:nvSpPr>
          <p:cNvPr id="19" name="Text 15"/>
          <p:cNvSpPr/>
          <p:nvPr/>
        </p:nvSpPr>
        <p:spPr>
          <a:xfrm>
            <a:off x="5058767"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a:t>
            </a:r>
            <a:endParaRPr lang="es-ES_tradnl" sz="1200" noProof="0" dirty="0"/>
          </a:p>
        </p:txBody>
      </p:sp>
      <p:sp>
        <p:nvSpPr>
          <p:cNvPr id="20" name="Shape 16"/>
          <p:cNvSpPr/>
          <p:nvPr/>
        </p:nvSpPr>
        <p:spPr>
          <a:xfrm>
            <a:off x="7964984"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21" name="Text 17"/>
          <p:cNvSpPr/>
          <p:nvPr/>
        </p:nvSpPr>
        <p:spPr>
          <a:xfrm>
            <a:off x="8149134"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C</a:t>
            </a:r>
            <a:endParaRPr lang="es-ES_tradnl" sz="1600" noProof="0" dirty="0"/>
          </a:p>
        </p:txBody>
      </p:sp>
      <p:sp>
        <p:nvSpPr>
          <p:cNvPr id="22" name="Text 18"/>
          <p:cNvSpPr/>
          <p:nvPr/>
        </p:nvSpPr>
        <p:spPr>
          <a:xfrm>
            <a:off x="8631734"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con ruido</a:t>
            </a:r>
            <a:endParaRPr lang="es-ES_tradnl" sz="1400" noProof="0" dirty="0"/>
          </a:p>
        </p:txBody>
      </p:sp>
      <p:sp>
        <p:nvSpPr>
          <p:cNvPr id="23" name="Text 19"/>
          <p:cNvSpPr/>
          <p:nvPr/>
        </p:nvSpPr>
        <p:spPr>
          <a:xfrm>
            <a:off x="8631734"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0.5</a:t>
            </a:r>
            <a:endParaRPr lang="es-ES_tradnl" sz="1200" noProof="0" dirty="0"/>
          </a:p>
        </p:txBody>
      </p:sp>
      <p:sp>
        <p:nvSpPr>
          <p:cNvPr id="24" name="Text 20"/>
          <p:cNvSpPr/>
          <p:nvPr/>
        </p:nvSpPr>
        <p:spPr>
          <a:xfrm>
            <a:off x="939800" y="379710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A – B</a:t>
            </a:r>
            <a:endParaRPr lang="es-ES_tradnl" sz="1400" noProof="0" dirty="0"/>
          </a:p>
        </p:txBody>
      </p:sp>
      <p:sp>
        <p:nvSpPr>
          <p:cNvPr id="25" name="Text 21"/>
          <p:cNvSpPr/>
          <p:nvPr/>
        </p:nvSpPr>
        <p:spPr>
          <a:xfrm>
            <a:off x="1854200" y="379710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aísla el costo de la codificación y la medición.</a:t>
            </a:r>
            <a:endParaRPr lang="es-ES_tradnl" sz="1400" noProof="0" dirty="0"/>
          </a:p>
        </p:txBody>
      </p:sp>
      <p:sp>
        <p:nvSpPr>
          <p:cNvPr id="26" name="Shape 22"/>
          <p:cNvSpPr/>
          <p:nvPr/>
        </p:nvSpPr>
        <p:spPr>
          <a:xfrm>
            <a:off x="812800" y="4172942"/>
            <a:ext cx="10566400" cy="401241"/>
          </a:xfrm>
          <a:prstGeom prst="roundRect">
            <a:avLst>
              <a:gd name="adj" fmla="val 12661"/>
            </a:avLst>
          </a:prstGeom>
          <a:solidFill>
            <a:srgbClr val="FFEE00"/>
          </a:solidFill>
          <a:ln/>
        </p:spPr>
        <p:txBody>
          <a:bodyPr/>
          <a:lstStyle/>
          <a:p>
            <a:endParaRPr lang="es-ES_tradnl" noProof="0" dirty="0"/>
          </a:p>
        </p:txBody>
      </p:sp>
      <p:sp>
        <p:nvSpPr>
          <p:cNvPr id="27" name="Text 23"/>
          <p:cNvSpPr/>
          <p:nvPr/>
        </p:nvSpPr>
        <p:spPr>
          <a:xfrm>
            <a:off x="939800" y="424914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B – C</a:t>
            </a:r>
            <a:endParaRPr lang="es-ES_tradnl" sz="1400" noProof="0" dirty="0"/>
          </a:p>
        </p:txBody>
      </p:sp>
      <p:sp>
        <p:nvSpPr>
          <p:cNvPr id="28" name="Text 24"/>
          <p:cNvSpPr/>
          <p:nvPr/>
        </p:nvSpPr>
        <p:spPr>
          <a:xfrm>
            <a:off x="1854200" y="424914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aísla el efecto del ruido de privacidad. </a:t>
            </a:r>
            <a:r>
              <a:rPr lang="es-ES_tradnl" sz="1400" b="1" noProof="0" dirty="0">
                <a:solidFill>
                  <a:srgbClr val="1D1D1B"/>
                </a:solidFill>
                <a:latin typeface="Roboto" pitchFamily="34" charset="0"/>
                <a:ea typeface="Roboto" pitchFamily="34" charset="-122"/>
                <a:cs typeface="Roboto" pitchFamily="34" charset="-120"/>
              </a:rPr>
              <a:t>Es la comparación del histograma.</a:t>
            </a:r>
            <a:endParaRPr lang="es-ES_tradnl" sz="1400" noProof="0" dirty="0"/>
          </a:p>
        </p:txBody>
      </p:sp>
      <p:sp>
        <p:nvSpPr>
          <p:cNvPr id="29" name="Text 25"/>
          <p:cNvSpPr/>
          <p:nvPr/>
        </p:nvSpPr>
        <p:spPr>
          <a:xfrm>
            <a:off x="939800" y="4701183"/>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6E6E6C"/>
                </a:solidFill>
                <a:latin typeface="DM Sans" pitchFamily="34" charset="0"/>
                <a:ea typeface="DM Sans" pitchFamily="34" charset="-122"/>
                <a:cs typeface="DM Sans" pitchFamily="34" charset="-120"/>
              </a:rPr>
              <a:t>A – C</a:t>
            </a:r>
            <a:endParaRPr lang="es-ES_tradnl" sz="1400" noProof="0" dirty="0"/>
          </a:p>
        </p:txBody>
      </p:sp>
      <p:sp>
        <p:nvSpPr>
          <p:cNvPr id="30" name="Text 26"/>
          <p:cNvSpPr/>
          <p:nvPr/>
        </p:nvSpPr>
        <p:spPr>
          <a:xfrm>
            <a:off x="1854200" y="4701183"/>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6E6E6C"/>
                </a:solidFill>
                <a:latin typeface="Roboto" pitchFamily="34" charset="0"/>
                <a:ea typeface="Roboto" pitchFamily="34" charset="-122"/>
                <a:cs typeface="Roboto" pitchFamily="34" charset="-120"/>
              </a:rPr>
              <a:t>mezcla los dos efectos: le atribuiría a la privacidad un error que viene de la codificación.</a:t>
            </a:r>
            <a:endParaRPr lang="es-ES_tradnl" sz="1400" noProof="0" dirty="0"/>
          </a:p>
        </p:txBody>
      </p:sp>
      <p:sp>
        <p:nvSpPr>
          <p:cNvPr id="32" name="Text 2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28</a:t>
            </a:r>
            <a:endParaRPr lang="es-ES_tradnl" sz="1200" noProof="0" dirty="0"/>
          </a:p>
        </p:txBody>
      </p:sp>
    </p:spTree>
    <p:extLst>
      <p:ext uri="{BB962C8B-B14F-4D97-AF65-F5344CB8AC3E}">
        <p14:creationId xmlns:p14="http://schemas.microsoft.com/office/powerpoint/2010/main" val="992514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noProof="0" dirty="0"/>
              <a:t>Experimento de medición de ruido</a:t>
            </a:r>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Cada repetición es una publicación posible: cada persona se mide una sola vez.</a:t>
            </a:r>
            <a:endParaRPr lang="es-ES_tradnl" sz="1800" noProof="0" dirty="0"/>
          </a:p>
        </p:txBody>
      </p:sp>
      <p:sp>
        <p:nvSpPr>
          <p:cNvPr id="9" name="Shape 6"/>
          <p:cNvSpPr/>
          <p:nvPr/>
        </p:nvSpPr>
        <p:spPr>
          <a:xfrm>
            <a:off x="4810125" y="1866205"/>
            <a:ext cx="6559550" cy="2774950"/>
          </a:xfrm>
          <a:prstGeom prst="roundRect">
            <a:avLst>
              <a:gd name="adj" fmla="val 3318"/>
            </a:avLst>
          </a:prstGeom>
          <a:noFill/>
          <a:ln w="19050">
            <a:solidFill>
              <a:srgbClr val="293470"/>
            </a:solidFill>
            <a:prstDash val="dash"/>
          </a:ln>
        </p:spPr>
        <p:txBody>
          <a:bodyPr/>
          <a:lstStyle/>
          <a:p>
            <a:endParaRPr lang="es-ES_tradnl" noProof="0" dirty="0"/>
          </a:p>
        </p:txBody>
      </p:sp>
      <p:sp>
        <p:nvSpPr>
          <p:cNvPr id="10" name="Shape 7"/>
          <p:cNvSpPr/>
          <p:nvPr/>
        </p:nvSpPr>
        <p:spPr>
          <a:xfrm>
            <a:off x="819150" y="2625030"/>
            <a:ext cx="1574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1" name="Text 8"/>
          <p:cNvSpPr/>
          <p:nvPr/>
        </p:nvSpPr>
        <p:spPr>
          <a:xfrm>
            <a:off x="952500" y="2732980"/>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1 · Datos</a:t>
            </a:r>
            <a:endParaRPr lang="es-ES_tradnl" sz="1300" noProof="0" dirty="0"/>
          </a:p>
        </p:txBody>
      </p:sp>
      <p:sp>
        <p:nvSpPr>
          <p:cNvPr id="12" name="Text 9"/>
          <p:cNvSpPr/>
          <p:nvPr/>
        </p:nvSpPr>
        <p:spPr>
          <a:xfrm>
            <a:off x="952500" y="2969121"/>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293470"/>
                </a:solidFill>
                <a:latin typeface="Roboto" pitchFamily="34" charset="0"/>
                <a:ea typeface="Roboto" pitchFamily="34" charset="-122"/>
                <a:cs typeface="Roboto" pitchFamily="34" charset="-120"/>
              </a:rPr>
              <a:t>collateral</a:t>
            </a:r>
            <a:endParaRPr lang="es-ES_tradnl" sz="1200" noProof="0" dirty="0"/>
          </a:p>
        </p:txBody>
      </p:sp>
      <p:sp>
        <p:nvSpPr>
          <p:cNvPr id="13" name="Text 10"/>
          <p:cNvSpPr/>
          <p:nvPr/>
        </p:nvSpPr>
        <p:spPr>
          <a:xfrm>
            <a:off x="952500" y="3205262"/>
            <a:ext cx="13589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1000 personas, 4 categorías</a:t>
            </a:r>
            <a:endParaRPr lang="es-ES_tradnl" sz="1200" noProof="0" dirty="0"/>
          </a:p>
        </p:txBody>
      </p:sp>
      <p:sp>
        <p:nvSpPr>
          <p:cNvPr id="14" name="Shape 11"/>
          <p:cNvSpPr/>
          <p:nvPr/>
        </p:nvSpPr>
        <p:spPr>
          <a:xfrm>
            <a:off x="2787650" y="2625030"/>
            <a:ext cx="1701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5" name="Text 12"/>
          <p:cNvSpPr/>
          <p:nvPr/>
        </p:nvSpPr>
        <p:spPr>
          <a:xfrm>
            <a:off x="2921000" y="2732980"/>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2 · Codificar</a:t>
            </a:r>
            <a:endParaRPr lang="es-ES_tradnl" sz="1300" noProof="0" dirty="0"/>
          </a:p>
        </p:txBody>
      </p:sp>
      <p:sp>
        <p:nvSpPr>
          <p:cNvPr id="16" name="Text 13"/>
          <p:cNvSpPr/>
          <p:nvPr/>
        </p:nvSpPr>
        <p:spPr>
          <a:xfrm>
            <a:off x="2921000" y="2969121"/>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por persona</a:t>
            </a:r>
            <a:endParaRPr lang="es-ES_tradnl" sz="1200" noProof="0" dirty="0"/>
          </a:p>
        </p:txBody>
      </p:sp>
      <mc:AlternateContent xmlns:mc="http://schemas.openxmlformats.org/markup-compatibility/2006">
        <mc:Choice xmlns:a14="http://schemas.microsoft.com/office/drawing/2010/main" Requires="a14">
          <p:sp>
            <p:nvSpPr>
              <p:cNvPr id="17" name="Text 14"/>
              <p:cNvSpPr/>
              <p:nvPr/>
            </p:nvSpPr>
            <p:spPr>
              <a:xfrm>
                <a:off x="2921000" y="3205262"/>
                <a:ext cx="1485900" cy="330000"/>
              </a:xfrm>
              <a:prstGeom prst="rect">
                <a:avLst/>
              </a:prstGeom>
              <a:noFill/>
              <a:ln/>
            </p:spPr>
            <p:txBody>
              <a:bodyPr wrap="square" lIns="0" tIns="0" rIns="0" bIns="0" rtlCol="0" anchor="t">
                <a:noAutofit/>
              </a:bodyPr>
              <a:lstStyle/>
              <a:p>
                <a:pPr marL="0" indent="0" algn="l">
                  <a:lnSpc>
                    <a:spcPct val="100000"/>
                  </a:lnSpc>
                  <a:buNone/>
                </a:pPr>
                <a14:m>
                  <m:oMathPara xmlns:m="http://schemas.openxmlformats.org/officeDocument/2006/math">
                    <m:oMathParaPr>
                      <m:jc m:val="centerGroup"/>
                    </m:oMathParaPr>
                    <m:oMath xmlns:m="http://schemas.openxmlformats.org/officeDocument/2006/math">
                      <m:r>
                        <a:rPr lang="es-ES_tradnl" sz="1200" i="1" noProof="0" smtClean="0">
                          <a:solidFill>
                            <a:srgbClr val="3C3C3B"/>
                          </a:solidFill>
                          <a:latin typeface="Cambria Math" panose="02040503050406030204" pitchFamily="18" charset="0"/>
                        </a:rPr>
                        <m:t>𝐻</m:t>
                      </m:r>
                      <m:r>
                        <a:rPr lang="es-ES_tradnl" sz="1200" i="1" noProof="0" smtClean="0">
                          <a:solidFill>
                            <a:srgbClr val="3C3C3B"/>
                          </a:solidFill>
                          <a:latin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𝑅</m:t>
                          </m:r>
                        </m:e>
                        <m:sub>
                          <m:r>
                            <a:rPr lang="es-ES_tradnl" sz="1200" i="1" noProof="0" smtClean="0">
                              <a:solidFill>
                                <a:srgbClr val="3C3C3B"/>
                              </a:solidFill>
                              <a:latin typeface="Cambria Math" panose="02040503050406030204" pitchFamily="18" charset="0"/>
                            </a:rPr>
                            <m:t>𝑍</m:t>
                          </m:r>
                        </m:sub>
                      </m:sSub>
                      <m:d>
                        <m:dPr>
                          <m:ctrlPr>
                            <a:rPr lang="es-ES_tradnl" sz="1200" i="1" noProof="0" smtClean="0">
                              <a:solidFill>
                                <a:srgbClr val="3C3C3B"/>
                              </a:solidFill>
                              <a:latin typeface="Cambria Math" panose="02040503050406030204" pitchFamily="18" charset="0"/>
                            </a:rPr>
                          </m:ctrlPr>
                        </m:dPr>
                        <m:e>
                          <m:f>
                            <m:fPr>
                              <m:ctrlPr>
                                <a:rPr lang="es-ES_tradnl" sz="1200" i="1" noProof="0" smtClean="0">
                                  <a:solidFill>
                                    <a:srgbClr val="3C3C3B"/>
                                  </a:solidFill>
                                  <a:latin typeface="Cambria Math" panose="02040503050406030204" pitchFamily="18" charset="0"/>
                                </a:rPr>
                              </m:ctrlPr>
                            </m:fPr>
                            <m:num>
                              <m:r>
                                <a:rPr lang="es-ES_tradnl" sz="1200" i="1" noProof="0" smtClean="0">
                                  <a:solidFill>
                                    <a:srgbClr val="3C3C3B"/>
                                  </a:solidFill>
                                  <a:latin typeface="Cambria Math" panose="02040503050406030204" pitchFamily="18" charset="0"/>
                                </a:rPr>
                                <m:t>2</m:t>
                              </m:r>
                              <m:r>
                                <a:rPr lang="es-ES_tradnl" sz="1200" i="1" noProof="0" smtClean="0">
                                  <a:solidFill>
                                    <a:srgbClr val="3C3C3B"/>
                                  </a:solidFill>
                                  <a:latin typeface="Cambria Math" panose="02040503050406030204" pitchFamily="18" charset="0"/>
                                </a:rPr>
                                <m:t>𝜋</m:t>
                              </m:r>
                              <m:r>
                                <a:rPr lang="es-ES_tradnl" sz="1200" i="1" noProof="0" smtClean="0">
                                  <a:solidFill>
                                    <a:srgbClr val="3C3C3B"/>
                                  </a:solidFill>
                                  <a:latin typeface="Cambria Math" panose="02040503050406030204" pitchFamily="18" charset="0"/>
                                </a:rPr>
                                <m:t>𝑘</m:t>
                              </m:r>
                            </m:num>
                            <m:den>
                              <m:r>
                                <a:rPr lang="es-ES_tradnl" sz="1200" i="1" noProof="0" smtClean="0">
                                  <a:solidFill>
                                    <a:srgbClr val="3C3C3B"/>
                                  </a:solidFill>
                                  <a:latin typeface="Cambria Math" panose="02040503050406030204" pitchFamily="18" charset="0"/>
                                </a:rPr>
                                <m:t>4</m:t>
                              </m:r>
                            </m:den>
                          </m:f>
                        </m:e>
                      </m:d>
                    </m:oMath>
                  </m:oMathPara>
                </a14:m>
                <a:endParaRPr lang="es-ES_tradnl" sz="1200" noProof="0" dirty="0"/>
              </a:p>
            </p:txBody>
          </p:sp>
        </mc:Choice>
        <mc:Fallback>
          <p:sp>
            <p:nvSpPr>
              <p:cNvPr id="17" name="Text 14"/>
              <p:cNvSpPr>
                <a:spLocks noRot="1" noChangeAspect="1" noMove="1" noResize="1" noEditPoints="1" noAdjustHandles="1" noChangeArrowheads="1" noChangeShapeType="1" noTextEdit="1"/>
              </p:cNvSpPr>
              <p:nvPr/>
            </p:nvSpPr>
            <p:spPr>
              <a:xfrm>
                <a:off x="2921000" y="3205262"/>
                <a:ext cx="1485900" cy="330000"/>
              </a:xfrm>
              <a:prstGeom prst="rect">
                <a:avLst/>
              </a:prstGeom>
              <a:blipFill>
                <a:blip r:embed="rId4"/>
                <a:stretch>
                  <a:fillRect b="-18519"/>
                </a:stretch>
              </a:blipFill>
              <a:ln/>
            </p:spPr>
            <p:txBody>
              <a:bodyPr/>
              <a:lstStyle/>
              <a:p>
                <a:r>
                  <a:rPr lang="en-CO">
                    <a:noFill/>
                  </a:rPr>
                  <a:t> </a:t>
                </a:r>
              </a:p>
            </p:txBody>
          </p:sp>
        </mc:Fallback>
      </mc:AlternateContent>
      <p:sp>
        <p:nvSpPr>
          <p:cNvPr id="18" name="Shape 15"/>
          <p:cNvSpPr/>
          <p:nvPr/>
        </p:nvSpPr>
        <p:spPr>
          <a:xfrm>
            <a:off x="4946650" y="2053530"/>
            <a:ext cx="1892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19" name="Text 16"/>
          <p:cNvSpPr/>
          <p:nvPr/>
        </p:nvSpPr>
        <p:spPr>
          <a:xfrm>
            <a:off x="5080000" y="21614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B</a:t>
            </a:r>
            <a:endParaRPr lang="es-ES_tradnl" sz="1300" noProof="0" dirty="0"/>
          </a:p>
        </p:txBody>
      </p:sp>
      <p:sp>
        <p:nvSpPr>
          <p:cNvPr id="20" name="Text 17"/>
          <p:cNvSpPr/>
          <p:nvPr/>
        </p:nvSpPr>
        <p:spPr>
          <a:xfrm>
            <a:off x="5080000" y="2397621"/>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sin ruido, p = 0</a:t>
            </a:r>
            <a:endParaRPr lang="es-ES_tradnl" sz="1200" noProof="0" dirty="0"/>
          </a:p>
        </p:txBody>
      </p:sp>
      <p:sp>
        <p:nvSpPr>
          <p:cNvPr id="21" name="Text 18"/>
          <p:cNvSpPr/>
          <p:nvPr/>
        </p:nvSpPr>
        <p:spPr>
          <a:xfrm>
            <a:off x="5080000" y="2633762"/>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(referencia)</a:t>
            </a:r>
            <a:endParaRPr lang="es-ES_tradnl" sz="1200" noProof="0" dirty="0"/>
          </a:p>
        </p:txBody>
      </p:sp>
      <p:sp>
        <p:nvSpPr>
          <p:cNvPr id="22" name="Shape 19"/>
          <p:cNvSpPr/>
          <p:nvPr/>
        </p:nvSpPr>
        <p:spPr>
          <a:xfrm>
            <a:off x="4946650" y="3387030"/>
            <a:ext cx="1892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3" name="Text 20"/>
          <p:cNvSpPr/>
          <p:nvPr/>
        </p:nvSpPr>
        <p:spPr>
          <a:xfrm>
            <a:off x="5080000" y="34949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C</a:t>
            </a:r>
            <a:endParaRPr lang="es-ES_tradnl" sz="1300" noProof="0" dirty="0"/>
          </a:p>
        </p:txBody>
      </p:sp>
      <p:sp>
        <p:nvSpPr>
          <p:cNvPr id="24" name="Text 21"/>
          <p:cNvSpPr/>
          <p:nvPr/>
        </p:nvSpPr>
        <p:spPr>
          <a:xfrm>
            <a:off x="5080000" y="3731121"/>
            <a:ext cx="1676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1D1D1B"/>
                </a:solidFill>
                <a:latin typeface="Roboto" pitchFamily="34" charset="0"/>
                <a:ea typeface="Roboto" pitchFamily="34" charset="-122"/>
                <a:cs typeface="Roboto" pitchFamily="34" charset="-120"/>
              </a:rPr>
              <a:t>depolarizante</a:t>
            </a:r>
            <a:r>
              <a:rPr lang="es-ES_tradnl" sz="1200" noProof="0" dirty="0">
                <a:solidFill>
                  <a:srgbClr val="1D1D1B"/>
                </a:solidFill>
                <a:latin typeface="Roboto" pitchFamily="34" charset="0"/>
                <a:ea typeface="Roboto" pitchFamily="34" charset="-122"/>
                <a:cs typeface="Roboto" pitchFamily="34" charset="-120"/>
              </a:rPr>
              <a:t> de 1 </a:t>
            </a:r>
            <a:r>
              <a:rPr lang="es-ES_tradnl" sz="1200" noProof="0" dirty="0" err="1">
                <a:solidFill>
                  <a:srgbClr val="1D1D1B"/>
                </a:solidFill>
                <a:latin typeface="Roboto" pitchFamily="34" charset="0"/>
                <a:ea typeface="Roboto" pitchFamily="34" charset="-122"/>
                <a:cs typeface="Roboto" pitchFamily="34" charset="-120"/>
              </a:rPr>
              <a:t>qubit</a:t>
            </a:r>
            <a:r>
              <a:rPr lang="es-ES_tradnl" sz="1200" noProof="0" dirty="0">
                <a:solidFill>
                  <a:srgbClr val="1D1D1B"/>
                </a:solidFill>
                <a:latin typeface="Roboto" pitchFamily="34" charset="0"/>
                <a:ea typeface="Roboto" pitchFamily="34" charset="-122"/>
                <a:cs typeface="Roboto" pitchFamily="34" charset="-120"/>
              </a:rPr>
              <a:t>, p = 0.5</a:t>
            </a:r>
            <a:endParaRPr lang="es-ES_tradnl" sz="1200" noProof="0" dirty="0"/>
          </a:p>
        </p:txBody>
      </p:sp>
      <p:sp>
        <p:nvSpPr>
          <p:cNvPr id="25" name="Shape 22"/>
          <p:cNvSpPr/>
          <p:nvPr/>
        </p:nvSpPr>
        <p:spPr>
          <a:xfrm>
            <a:off x="7232650" y="2053530"/>
            <a:ext cx="1765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26" name="Text 23"/>
          <p:cNvSpPr/>
          <p:nvPr/>
        </p:nvSpPr>
        <p:spPr>
          <a:xfrm>
            <a:off x="7366000" y="21614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27" name="Text 24"/>
          <p:cNvSpPr/>
          <p:nvPr/>
        </p:nvSpPr>
        <p:spPr>
          <a:xfrm>
            <a:off x="7366000" y="23976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una vez por persona: «+» o «−»</a:t>
            </a:r>
            <a:endParaRPr lang="es-ES_tradnl" sz="1200" noProof="0" dirty="0"/>
          </a:p>
        </p:txBody>
      </p:sp>
      <p:sp>
        <p:nvSpPr>
          <p:cNvPr id="28" name="Shape 25"/>
          <p:cNvSpPr/>
          <p:nvPr/>
        </p:nvSpPr>
        <p:spPr>
          <a:xfrm>
            <a:off x="7232650" y="3387030"/>
            <a:ext cx="1765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9" name="Text 26"/>
          <p:cNvSpPr/>
          <p:nvPr/>
        </p:nvSpPr>
        <p:spPr>
          <a:xfrm>
            <a:off x="7366000" y="34949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30" name="Text 27"/>
          <p:cNvSpPr/>
          <p:nvPr/>
        </p:nvSpPr>
        <p:spPr>
          <a:xfrm>
            <a:off x="7366000" y="37311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1D1D1B"/>
                </a:solidFill>
                <a:latin typeface="Roboto" pitchFamily="34" charset="0"/>
                <a:ea typeface="Roboto" pitchFamily="34" charset="-122"/>
                <a:cs typeface="Roboto" pitchFamily="34" charset="-120"/>
              </a:rPr>
              <a:t>una vez por persona: «+» o «−»</a:t>
            </a:r>
            <a:endParaRPr lang="es-ES_tradnl" sz="1200" noProof="0" dirty="0"/>
          </a:p>
        </p:txBody>
      </p:sp>
      <p:sp>
        <p:nvSpPr>
          <p:cNvPr id="31" name="Shape 28"/>
          <p:cNvSpPr/>
          <p:nvPr/>
        </p:nvSpPr>
        <p:spPr>
          <a:xfrm>
            <a:off x="9391650" y="2053530"/>
            <a:ext cx="18288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32" name="Text 29"/>
          <p:cNvSpPr/>
          <p:nvPr/>
        </p:nvSpPr>
        <p:spPr>
          <a:xfrm>
            <a:off x="9525000" y="21614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Estadística</a:t>
            </a:r>
            <a:endParaRPr lang="es-ES_tradnl" sz="1300" noProof="0" dirty="0"/>
          </a:p>
        </p:txBody>
      </p:sp>
      <p:sp>
        <p:nvSpPr>
          <p:cNvPr id="33" name="Text 30"/>
          <p:cNvSpPr/>
          <p:nvPr/>
        </p:nvSpPr>
        <p:spPr>
          <a:xfrm>
            <a:off x="9525000" y="2397621"/>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F = fracción de «+»</a:t>
            </a:r>
            <a:endParaRPr lang="es-ES_tradnl" sz="1200" noProof="0" dirty="0"/>
          </a:p>
        </p:txBody>
      </p:sp>
      <p:sp>
        <p:nvSpPr>
          <p:cNvPr id="34" name="Shape 31"/>
          <p:cNvSpPr/>
          <p:nvPr/>
        </p:nvSpPr>
        <p:spPr>
          <a:xfrm>
            <a:off x="9391650" y="3387030"/>
            <a:ext cx="18288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35" name="Text 32"/>
          <p:cNvSpPr/>
          <p:nvPr/>
        </p:nvSpPr>
        <p:spPr>
          <a:xfrm>
            <a:off x="9525000" y="34949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Corregir</a:t>
            </a:r>
            <a:endParaRPr lang="es-ES_tradnl" sz="1300" noProof="0" dirty="0"/>
          </a:p>
        </p:txBody>
      </p:sp>
      <mc:AlternateContent xmlns:mc="http://schemas.openxmlformats.org/markup-compatibility/2006">
        <mc:Choice xmlns:a14="http://schemas.microsoft.com/office/drawing/2010/main" Requires="a14">
          <p:sp>
            <p:nvSpPr>
              <p:cNvPr id="36" name="Ecuacion F corregida"/>
              <p:cNvSpPr txBox="1"/>
              <p:nvPr/>
            </p:nvSpPr>
            <p:spPr>
              <a:xfrm>
                <a:off x="9525000" y="3760000"/>
                <a:ext cx="1625600" cy="571500"/>
              </a:xfrm>
              <a:prstGeom prst="rect">
                <a:avLst/>
              </a:prstGeom>
              <a:noFill/>
              <a:ln/>
            </p:spPr>
            <p:txBody>
              <a:bodyPr wrap="square" lIns="0" tIns="0" rIns="0" bIns="0" rtlCol="0" anchor="t">
                <a:noAutofit/>
              </a:bodyPr>
              <a:lstStyle/>
              <a:p>
                <a:pPr marL="0" indent="0" algn="l">
                  <a:buNone/>
                </a:pPr>
                <a14:m>
                  <m:oMathPara xmlns:m="http://schemas.openxmlformats.org/officeDocument/2006/math">
                    <m:oMathParaPr>
                      <m:jc m:val="centerGroup"/>
                    </m:oMathParaPr>
                    <m:oMath xmlns:m="http://schemas.openxmlformats.org/officeDocument/2006/math">
                      <m:acc>
                        <m:accPr>
                          <m:chr m:val="̂"/>
                          <m:ctrlPr>
                            <a:rPr lang="es-ES_tradnl" sz="1400" i="1" noProof="0" smtClean="0">
                              <a:solidFill>
                                <a:srgbClr val="1D1D1B"/>
                              </a:solidFill>
                              <a:latin typeface="Cambria Math" panose="02040503050406030204" pitchFamily="18" charset="0"/>
                            </a:rPr>
                          </m:ctrlPr>
                        </m:accPr>
                        <m:e>
                          <m:r>
                            <a:rPr lang="es-ES_tradnl" sz="1400" i="1" noProof="0" smtClean="0">
                              <a:solidFill>
                                <a:srgbClr val="1D1D1B"/>
                              </a:solidFill>
                              <a:latin typeface="Cambria Math" panose="02040503050406030204" pitchFamily="18" charset="0"/>
                            </a:rPr>
                            <m:t>𝐹</m:t>
                          </m:r>
                        </m:e>
                      </m:acc>
                      <m:r>
                        <a:rPr lang="es-ES_tradnl" sz="1400" i="1" noProof="0" smtClean="0">
                          <a:solidFill>
                            <a:srgbClr val="1D1D1B"/>
                          </a:solidFill>
                          <a:latin typeface="Cambria Math" panose="02040503050406030204" pitchFamily="18" charset="0"/>
                        </a:rPr>
                        <m:t>=</m:t>
                      </m:r>
                      <m:f>
                        <m:fPr>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𝐹</m:t>
                          </m:r>
                          <m:r>
                            <a:rPr lang="es-ES_tradnl" sz="1400" i="1" noProof="0" smtClean="0">
                              <a:solidFill>
                                <a:srgbClr val="1D1D1B"/>
                              </a:solidFill>
                              <a:latin typeface="Cambria Math" panose="02040503050406030204" pitchFamily="18" charset="0"/>
                            </a:rPr>
                            <m:t>−</m:t>
                          </m:r>
                          <m:f>
                            <m:fPr>
                              <m:type m:val="lin"/>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𝑝</m:t>
                              </m:r>
                            </m:num>
                            <m:den>
                              <m:r>
                                <a:rPr lang="es-ES_tradnl" sz="1400" i="1" noProof="0" smtClean="0">
                                  <a:solidFill>
                                    <a:srgbClr val="1D1D1B"/>
                                  </a:solidFill>
                                  <a:latin typeface="Cambria Math" panose="02040503050406030204" pitchFamily="18" charset="0"/>
                                </a:rPr>
                                <m:t>2</m:t>
                              </m:r>
                            </m:den>
                          </m:f>
                        </m:num>
                        <m:den>
                          <m:r>
                            <a:rPr lang="es-ES_tradnl" sz="1400" i="1" noProof="0" smtClean="0">
                              <a:solidFill>
                                <a:srgbClr val="1D1D1B"/>
                              </a:solidFill>
                              <a:latin typeface="Cambria Math" panose="02040503050406030204" pitchFamily="18" charset="0"/>
                            </a:rPr>
                            <m:t>1−</m:t>
                          </m:r>
                          <m:r>
                            <a:rPr lang="es-ES_tradnl" sz="1400" i="1" noProof="0" smtClean="0">
                              <a:solidFill>
                                <a:srgbClr val="1D1D1B"/>
                              </a:solidFill>
                              <a:latin typeface="Cambria Math" panose="02040503050406030204" pitchFamily="18" charset="0"/>
                            </a:rPr>
                            <m:t>𝑝</m:t>
                          </m:r>
                        </m:den>
                      </m:f>
                    </m:oMath>
                  </m:oMathPara>
                </a14:m>
                <a:endParaRPr lang="es-ES_tradnl" sz="1400" noProof="0" dirty="0"/>
              </a:p>
            </p:txBody>
          </p:sp>
        </mc:Choice>
        <mc:Fallback>
          <p:sp>
            <p:nvSpPr>
              <p:cNvPr id="36" name="Ecuacion F corregida"/>
              <p:cNvSpPr txBox="1">
                <a:spLocks noRot="1" noChangeAspect="1" noMove="1" noResize="1" noEditPoints="1" noAdjustHandles="1" noChangeArrowheads="1" noChangeShapeType="1" noTextEdit="1"/>
              </p:cNvSpPr>
              <p:nvPr/>
            </p:nvSpPr>
            <p:spPr>
              <a:xfrm>
                <a:off x="9525000" y="3760000"/>
                <a:ext cx="1625600" cy="571500"/>
              </a:xfrm>
              <a:prstGeom prst="rect">
                <a:avLst/>
              </a:prstGeom>
              <a:blipFill>
                <a:blip r:embed="rId5"/>
                <a:stretch>
                  <a:fillRect t="-67391" b="-34783"/>
                </a:stretch>
              </a:blipFill>
              <a:ln/>
            </p:spPr>
            <p:txBody>
              <a:bodyPr/>
              <a:lstStyle/>
              <a:p>
                <a:r>
                  <a:rPr lang="en-CO">
                    <a:noFill/>
                  </a:rPr>
                  <a:t> </a:t>
                </a:r>
              </a:p>
            </p:txBody>
          </p:sp>
        </mc:Fallback>
      </mc:AlternateContent>
      <p:pic>
        <p:nvPicPr>
          <p:cNvPr id="37" name="Image 2" descr="connector"/>
          <p:cNvPicPr>
            <a:picLocks noChangeAspect="1"/>
          </p:cNvPicPr>
          <p:nvPr/>
        </p:nvPicPr>
        <p:blipFill>
          <a:blip r:embed="rId6"/>
          <a:srcRect/>
          <a:stretch/>
        </p:blipFill>
        <p:spPr>
          <a:xfrm>
            <a:off x="2349500" y="3202880"/>
            <a:ext cx="482600" cy="101600"/>
          </a:xfrm>
          <a:prstGeom prst="rect">
            <a:avLst/>
          </a:prstGeom>
        </p:spPr>
      </p:pic>
      <p:pic>
        <p:nvPicPr>
          <p:cNvPr id="38" name="Image 3" descr="connector"/>
          <p:cNvPicPr>
            <a:picLocks noChangeAspect="1"/>
          </p:cNvPicPr>
          <p:nvPr/>
        </p:nvPicPr>
        <p:blipFill>
          <a:blip r:embed="rId7"/>
          <a:srcRect/>
          <a:stretch/>
        </p:blipFill>
        <p:spPr>
          <a:xfrm>
            <a:off x="4445000" y="3202880"/>
            <a:ext cx="260350" cy="101600"/>
          </a:xfrm>
          <a:prstGeom prst="rect">
            <a:avLst/>
          </a:prstGeom>
        </p:spPr>
      </p:pic>
      <p:pic>
        <p:nvPicPr>
          <p:cNvPr id="39" name="Image 4" descr="connector"/>
          <p:cNvPicPr>
            <a:picLocks noChangeAspect="1"/>
          </p:cNvPicPr>
          <p:nvPr/>
        </p:nvPicPr>
        <p:blipFill>
          <a:blip r:embed="rId8"/>
          <a:srcRect/>
          <a:stretch/>
        </p:blipFill>
        <p:spPr>
          <a:xfrm>
            <a:off x="4603750" y="2536130"/>
            <a:ext cx="101600" cy="768350"/>
          </a:xfrm>
          <a:prstGeom prst="rect">
            <a:avLst/>
          </a:prstGeom>
        </p:spPr>
      </p:pic>
      <p:pic>
        <p:nvPicPr>
          <p:cNvPr id="40" name="Image 5" descr="connector"/>
          <p:cNvPicPr>
            <a:picLocks noChangeAspect="1"/>
          </p:cNvPicPr>
          <p:nvPr/>
        </p:nvPicPr>
        <p:blipFill>
          <a:blip r:embed="rId9"/>
          <a:srcRect/>
          <a:stretch/>
        </p:blipFill>
        <p:spPr>
          <a:xfrm>
            <a:off x="4603750" y="2536130"/>
            <a:ext cx="387350" cy="101600"/>
          </a:xfrm>
          <a:prstGeom prst="rect">
            <a:avLst/>
          </a:prstGeom>
        </p:spPr>
      </p:pic>
      <p:pic>
        <p:nvPicPr>
          <p:cNvPr id="41" name="Image 6" descr="connector"/>
          <p:cNvPicPr>
            <a:picLocks noChangeAspect="1"/>
          </p:cNvPicPr>
          <p:nvPr/>
        </p:nvPicPr>
        <p:blipFill>
          <a:blip r:embed="rId8"/>
          <a:srcRect/>
          <a:stretch/>
        </p:blipFill>
        <p:spPr>
          <a:xfrm>
            <a:off x="4603750" y="3202880"/>
            <a:ext cx="101600" cy="768350"/>
          </a:xfrm>
          <a:prstGeom prst="rect">
            <a:avLst/>
          </a:prstGeom>
        </p:spPr>
      </p:pic>
      <p:pic>
        <p:nvPicPr>
          <p:cNvPr id="42" name="Image 7" descr="connector"/>
          <p:cNvPicPr>
            <a:picLocks noChangeAspect="1"/>
          </p:cNvPicPr>
          <p:nvPr/>
        </p:nvPicPr>
        <p:blipFill>
          <a:blip r:embed="rId9"/>
          <a:srcRect/>
          <a:stretch/>
        </p:blipFill>
        <p:spPr>
          <a:xfrm>
            <a:off x="4603750" y="3869630"/>
            <a:ext cx="387350" cy="101600"/>
          </a:xfrm>
          <a:prstGeom prst="rect">
            <a:avLst/>
          </a:prstGeom>
        </p:spPr>
      </p:pic>
      <p:pic>
        <p:nvPicPr>
          <p:cNvPr id="43" name="Image 8" descr="connector"/>
          <p:cNvPicPr>
            <a:picLocks noChangeAspect="1"/>
          </p:cNvPicPr>
          <p:nvPr/>
        </p:nvPicPr>
        <p:blipFill>
          <a:blip r:embed="rId6"/>
          <a:srcRect/>
          <a:stretch/>
        </p:blipFill>
        <p:spPr>
          <a:xfrm>
            <a:off x="6794500" y="2536130"/>
            <a:ext cx="482600" cy="101600"/>
          </a:xfrm>
          <a:prstGeom prst="rect">
            <a:avLst/>
          </a:prstGeom>
        </p:spPr>
      </p:pic>
      <p:pic>
        <p:nvPicPr>
          <p:cNvPr id="44" name="Image 9" descr="connector"/>
          <p:cNvPicPr>
            <a:picLocks noChangeAspect="1"/>
          </p:cNvPicPr>
          <p:nvPr/>
        </p:nvPicPr>
        <p:blipFill>
          <a:blip r:embed="rId6"/>
          <a:srcRect/>
          <a:stretch/>
        </p:blipFill>
        <p:spPr>
          <a:xfrm>
            <a:off x="6794500" y="3869630"/>
            <a:ext cx="482600" cy="101600"/>
          </a:xfrm>
          <a:prstGeom prst="rect">
            <a:avLst/>
          </a:prstGeom>
        </p:spPr>
      </p:pic>
      <p:pic>
        <p:nvPicPr>
          <p:cNvPr id="45" name="Image 10" descr="connector"/>
          <p:cNvPicPr>
            <a:picLocks noChangeAspect="1"/>
          </p:cNvPicPr>
          <p:nvPr/>
        </p:nvPicPr>
        <p:blipFill>
          <a:blip r:embed="rId6"/>
          <a:srcRect/>
          <a:stretch/>
        </p:blipFill>
        <p:spPr>
          <a:xfrm>
            <a:off x="8953500" y="2536130"/>
            <a:ext cx="482600" cy="101600"/>
          </a:xfrm>
          <a:prstGeom prst="rect">
            <a:avLst/>
          </a:prstGeom>
        </p:spPr>
      </p:pic>
      <p:pic>
        <p:nvPicPr>
          <p:cNvPr id="46" name="Image 11" descr="connector"/>
          <p:cNvPicPr>
            <a:picLocks noChangeAspect="1"/>
          </p:cNvPicPr>
          <p:nvPr/>
        </p:nvPicPr>
        <p:blipFill>
          <a:blip r:embed="rId6"/>
          <a:srcRect/>
          <a:stretch/>
        </p:blipFill>
        <p:spPr>
          <a:xfrm>
            <a:off x="8953500" y="3869630"/>
            <a:ext cx="482600" cy="101600"/>
          </a:xfrm>
          <a:prstGeom prst="rect">
            <a:avLst/>
          </a:prstGeom>
        </p:spPr>
      </p:pic>
      <mc:AlternateContent xmlns:mc="http://schemas.openxmlformats.org/markup-compatibility/2006">
        <mc:Choice xmlns:a14="http://schemas.microsoft.com/office/drawing/2010/main" Requires="a14">
          <p:sp>
            <p:nvSpPr>
              <p:cNvPr id="47" name="Text 33"/>
              <p:cNvSpPr/>
              <p:nvPr/>
            </p:nvSpPr>
            <p:spPr>
              <a:xfrm>
                <a:off x="4800600" y="4764980"/>
                <a:ext cx="6775958" cy="505420"/>
              </a:xfrm>
              <a:prstGeom prst="rect">
                <a:avLst/>
              </a:prstGeom>
              <a:noFill/>
              <a:ln/>
            </p:spPr>
            <p:txBody>
              <a:bodyPr wrap="square" lIns="0" tIns="0" rIns="0" bIns="0" rtlCol="0" anchor="t">
                <a:normAutofit/>
              </a:bodyPr>
              <a:lstStyle/>
              <a:p>
                <a:pPr marL="0" indent="0" algn="l">
                  <a:lnSpc>
                    <a:spcPct val="100000"/>
                  </a:lnSpc>
                  <a:buNone/>
                </a:pPr>
                <a:r>
                  <a:rPr lang="es-ES_tradnl" sz="1400" b="1" noProof="0" dirty="0">
                    <a:solidFill>
                      <a:srgbClr val="293470"/>
                    </a:solidFill>
                    <a:latin typeface="Roboto" pitchFamily="34" charset="0"/>
                    <a:ea typeface="Roboto" pitchFamily="34" charset="-122"/>
                    <a:cs typeface="Roboto" pitchFamily="34" charset="-120"/>
                  </a:rPr>
                  <a:t>6 · Repetir el experimento 2000 veces → distribución de F en B y de </a:t>
                </a:r>
                <a14:m>
                  <m:oMath xmlns:m="http://schemas.openxmlformats.org/officeDocument/2006/math">
                    <m:acc>
                      <m:accPr>
                        <m:chr m:val="̂"/>
                        <m:ctrlPr>
                          <a:rPr lang="es-ES_tradnl" sz="1400" b="1" i="1" noProof="0" smtClean="0">
                            <a:solidFill>
                              <a:srgbClr val="293470"/>
                            </a:solidFill>
                            <a:latin typeface="Cambria Math" panose="02040503050406030204" pitchFamily="18" charset="0"/>
                          </a:rPr>
                        </m:ctrlPr>
                      </m:accPr>
                      <m:e>
                        <m:r>
                          <a:rPr lang="es-ES_tradnl" sz="1400" b="1" i="1" noProof="0" smtClean="0">
                            <a:solidFill>
                              <a:srgbClr val="293470"/>
                            </a:solidFill>
                            <a:latin typeface="Cambria Math" panose="02040503050406030204" pitchFamily="18" charset="0"/>
                          </a:rPr>
                          <m:t>𝐹</m:t>
                        </m:r>
                      </m:e>
                    </m:acc>
                  </m:oMath>
                </a14:m>
                <a:r>
                  <a:rPr lang="es-ES_tradnl" sz="1400" b="1" noProof="0" dirty="0">
                    <a:solidFill>
                      <a:srgbClr val="293470"/>
                    </a:solidFill>
                    <a:latin typeface="Roboto" pitchFamily="34" charset="0"/>
                    <a:ea typeface="Roboto" pitchFamily="34" charset="-122"/>
                    <a:cs typeface="Roboto" pitchFamily="34" charset="-120"/>
                  </a:rPr>
                  <a:t> → histograma (Acto IV)</a:t>
                </a:r>
                <a:endParaRPr lang="es-ES_tradnl" sz="1400" noProof="0" dirty="0"/>
              </a:p>
            </p:txBody>
          </p:sp>
        </mc:Choice>
        <mc:Fallback>
          <p:sp>
            <p:nvSpPr>
              <p:cNvPr id="47" name="Text 33"/>
              <p:cNvSpPr>
                <a:spLocks noRot="1" noChangeAspect="1" noMove="1" noResize="1" noEditPoints="1" noAdjustHandles="1" noChangeArrowheads="1" noChangeShapeType="1" noTextEdit="1"/>
              </p:cNvSpPr>
              <p:nvPr/>
            </p:nvSpPr>
            <p:spPr>
              <a:xfrm>
                <a:off x="4800600" y="4764980"/>
                <a:ext cx="6775958" cy="505420"/>
              </a:xfrm>
              <a:prstGeom prst="rect">
                <a:avLst/>
              </a:prstGeom>
              <a:blipFill>
                <a:blip r:embed="rId10"/>
                <a:stretch>
                  <a:fillRect l="-1685" t="-12195" r="-1498" b="-7317"/>
                </a:stretch>
              </a:blipFill>
              <a:ln/>
            </p:spPr>
            <p:txBody>
              <a:bodyPr/>
              <a:lstStyle/>
              <a:p>
                <a:r>
                  <a:rPr lang="en-CO">
                    <a:noFill/>
                  </a:rPr>
                  <a:t> </a:t>
                </a:r>
              </a:p>
            </p:txBody>
          </p:sp>
        </mc:Fallback>
      </mc:AlternateContent>
      <p:sp>
        <p:nvSpPr>
          <p:cNvPr id="48" name="Shape 34"/>
          <p:cNvSpPr/>
          <p:nvPr/>
        </p:nvSpPr>
        <p:spPr>
          <a:xfrm>
            <a:off x="812800" y="4218880"/>
            <a:ext cx="3683000" cy="1270000"/>
          </a:xfrm>
          <a:prstGeom prst="rect">
            <a:avLst/>
          </a:prstGeom>
          <a:solidFill>
            <a:srgbClr val="F4F4F2"/>
          </a:solidFill>
          <a:ln/>
        </p:spPr>
        <p:txBody>
          <a:bodyPr/>
          <a:lstStyle/>
          <a:p>
            <a:endParaRPr lang="es-ES_tradnl" noProof="0" dirty="0"/>
          </a:p>
        </p:txBody>
      </p:sp>
      <p:sp>
        <p:nvSpPr>
          <p:cNvPr id="49" name="Shape 35"/>
          <p:cNvSpPr/>
          <p:nvPr/>
        </p:nvSpPr>
        <p:spPr>
          <a:xfrm>
            <a:off x="831850" y="4218880"/>
            <a:ext cx="0" cy="1270000"/>
          </a:xfrm>
          <a:prstGeom prst="line">
            <a:avLst/>
          </a:prstGeom>
          <a:noFill/>
          <a:ln w="38100">
            <a:solidFill>
              <a:srgbClr val="FFEE00"/>
            </a:solidFill>
            <a:prstDash val="solid"/>
          </a:ln>
        </p:spPr>
        <p:txBody>
          <a:bodyPr/>
          <a:lstStyle/>
          <a:p>
            <a:endParaRPr lang="es-ES_tradnl" noProof="0" dirty="0"/>
          </a:p>
        </p:txBody>
      </p:sp>
      <p:sp>
        <p:nvSpPr>
          <p:cNvPr id="50" name="Text 36"/>
          <p:cNvSpPr/>
          <p:nvPr/>
        </p:nvSpPr>
        <p:spPr>
          <a:xfrm>
            <a:off x="1003300" y="4320480"/>
            <a:ext cx="3440303"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Terminología</a:t>
            </a:r>
            <a:endParaRPr lang="es-ES_tradnl" sz="1200" noProof="0" dirty="0"/>
          </a:p>
        </p:txBody>
      </p:sp>
      <p:sp>
        <p:nvSpPr>
          <p:cNvPr id="51" name="Text 37"/>
          <p:cNvSpPr/>
          <p:nvPr/>
        </p:nvSpPr>
        <p:spPr>
          <a:xfrm>
            <a:off x="1003300" y="4571901"/>
            <a:ext cx="3440303" cy="64244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«Repeticiones del experimento», no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se lee como medir muchas veces a la misma persona, justo lo que rompe la privacidad.</a:t>
            </a:r>
            <a:endParaRPr lang="es-ES_tradnl" sz="1200" noProof="0" dirty="0"/>
          </a:p>
        </p:txBody>
      </p:sp>
      <p:sp>
        <p:nvSpPr>
          <p:cNvPr id="53" name="Text 3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29</a:t>
            </a:r>
            <a:endParaRPr lang="es-ES_tradnl" sz="1200" noProof="0" dirty="0"/>
          </a:p>
        </p:txBody>
      </p:sp>
    </p:spTree>
    <p:extLst>
      <p:ext uri="{BB962C8B-B14F-4D97-AF65-F5344CB8AC3E}">
        <p14:creationId xmlns:p14="http://schemas.microsoft.com/office/powerpoint/2010/main" val="21657763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8">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Qué significa medir</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9 · Mezcla y por qué basta 1 qubit</a:t>
            </a:r>
            <a:endParaRPr lang="es-ES_tradnl" sz="1800" noProof="0" dirty="0"/>
          </a:p>
        </p:txBody>
      </p:sp>
    </p:spTree>
    <p:extLst>
      <p:ext uri="{BB962C8B-B14F-4D97-AF65-F5344CB8AC3E}">
        <p14:creationId xmlns:p14="http://schemas.microsoft.com/office/powerpoint/2010/main" val="14664424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Mezcla no es superposición</a:t>
            </a:r>
            <a:endParaRPr lang="es-ES_tradnl" sz="2800" noProof="0" dirty="0"/>
          </a:p>
        </p:txBody>
      </p:sp>
      <p:sp>
        <p:nvSpPr>
          <p:cNvPr id="8" name="Text 5"/>
          <p:cNvSpPr/>
          <p:nvPr/>
        </p:nvSpPr>
        <p:spPr>
          <a:xfrm>
            <a:off x="812800" y="1315641"/>
            <a:ext cx="3403104"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Ejemplo con dos personas: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9" name="Image 1" descr="|+⟩"/>
          <p:cNvPicPr>
            <a:picLocks noChangeAspect="1"/>
          </p:cNvPicPr>
          <p:nvPr/>
        </p:nvPicPr>
        <p:blipFill>
          <a:blip r:embed="rId4"/>
          <a:srcRect t="-89" b="-89"/>
          <a:stretch/>
        </p:blipFill>
        <p:spPr>
          <a:xfrm>
            <a:off x="4192984" y="1305520"/>
            <a:ext cx="431800" cy="317500"/>
          </a:xfrm>
          <a:prstGeom prst="rect">
            <a:avLst/>
          </a:prstGeom>
        </p:spPr>
      </p:pic>
      <p:sp>
        <p:nvSpPr>
          <p:cNvPr id="10" name="Text 6"/>
          <p:cNvSpPr/>
          <p:nvPr/>
        </p:nvSpPr>
        <p:spPr>
          <a:xfrm>
            <a:off x="4700984" y="1315641"/>
            <a:ext cx="1465461"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11" name="Image 2" descr="|−⟩"/>
          <p:cNvPicPr>
            <a:picLocks noChangeAspect="1"/>
          </p:cNvPicPr>
          <p:nvPr/>
        </p:nvPicPr>
        <p:blipFill>
          <a:blip r:embed="rId5"/>
          <a:srcRect t="-89" b="-89"/>
          <a:stretch/>
        </p:blipFill>
        <p:spPr>
          <a:xfrm>
            <a:off x="6191845" y="1305520"/>
            <a:ext cx="431800" cy="317500"/>
          </a:xfrm>
          <a:prstGeom prst="rect">
            <a:avLst/>
          </a:prstGeom>
        </p:spPr>
      </p:pic>
      <p:sp>
        <p:nvSpPr>
          <p:cNvPr id="12" name="Shape 7"/>
          <p:cNvSpPr/>
          <p:nvPr/>
        </p:nvSpPr>
        <p:spPr>
          <a:xfrm>
            <a:off x="812800" y="1877020"/>
            <a:ext cx="5181600" cy="3371453"/>
          </a:xfrm>
          <a:prstGeom prst="roundRect">
            <a:avLst>
              <a:gd name="adj" fmla="val 3014"/>
            </a:avLst>
          </a:prstGeom>
          <a:solidFill>
            <a:srgbClr val="F4F4F2"/>
          </a:solidFill>
          <a:ln/>
        </p:spPr>
        <p:txBody>
          <a:bodyPr/>
          <a:lstStyle/>
          <a:p>
            <a:endParaRPr lang="es-ES_tradnl" noProof="0" dirty="0"/>
          </a:p>
        </p:txBody>
      </p:sp>
      <p:sp>
        <p:nvSpPr>
          <p:cNvPr id="13" name="Text 8"/>
          <p:cNvSpPr/>
          <p:nvPr/>
        </p:nvSpPr>
        <p:spPr>
          <a:xfrm>
            <a:off x="10668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LO QUE HACE LA AGREGACIÓN</a:t>
            </a:r>
            <a:endParaRPr lang="es-ES_tradnl" sz="1200" noProof="0" dirty="0"/>
          </a:p>
        </p:txBody>
      </p:sp>
      <p:sp>
        <p:nvSpPr>
          <p:cNvPr id="14" name="Text 9"/>
          <p:cNvSpPr/>
          <p:nvPr/>
        </p:nvSpPr>
        <p:spPr>
          <a:xfrm>
            <a:off x="10668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Mezcla: suma de matrices</a:t>
            </a:r>
            <a:endParaRPr lang="es-ES_tradnl" sz="1800" noProof="0" dirty="0"/>
          </a:p>
        </p:txBody>
      </p:sp>
      <p:pic>
        <p:nvPicPr>
          <p:cNvPr id="15" name="Image 3" descr="½|+⟩⟨+| + ½|−⟩⟨−| = I/2"/>
          <p:cNvPicPr>
            <a:picLocks noChangeAspect="1"/>
          </p:cNvPicPr>
          <p:nvPr/>
        </p:nvPicPr>
        <p:blipFill>
          <a:blip r:embed="rId6"/>
          <a:srcRect t="-131" b="-131"/>
          <a:stretch/>
        </p:blipFill>
        <p:spPr>
          <a:xfrm>
            <a:off x="1066800" y="2834481"/>
            <a:ext cx="3060700" cy="641350"/>
          </a:xfrm>
          <a:prstGeom prst="rect">
            <a:avLst/>
          </a:prstGeom>
        </p:spPr>
      </p:pic>
      <p:sp>
        <p:nvSpPr>
          <p:cNvPr id="16" name="Text 10"/>
          <p:cNvSpPr/>
          <p:nvPr/>
        </p:nvSpPr>
        <p:spPr>
          <a:xfrm>
            <a:off x="10668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17" name="Text 11"/>
          <p:cNvSpPr/>
          <p:nvPr/>
        </p:nvSpPr>
        <p:spPr>
          <a:xfrm>
            <a:off x="10668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18" name="Shape 12"/>
          <p:cNvSpPr/>
          <p:nvPr/>
        </p:nvSpPr>
        <p:spPr>
          <a:xfrm>
            <a:off x="1625600" y="4029472"/>
            <a:ext cx="3048000" cy="228600"/>
          </a:xfrm>
          <a:prstGeom prst="rect">
            <a:avLst/>
          </a:prstGeom>
          <a:solidFill>
            <a:srgbClr val="FFFFFF"/>
          </a:solidFill>
          <a:ln/>
        </p:spPr>
        <p:txBody>
          <a:bodyPr/>
          <a:lstStyle/>
          <a:p>
            <a:endParaRPr lang="es-ES_tradnl" noProof="0" dirty="0"/>
          </a:p>
        </p:txBody>
      </p:sp>
      <p:sp>
        <p:nvSpPr>
          <p:cNvPr id="19" name="Shape 13"/>
          <p:cNvSpPr/>
          <p:nvPr/>
        </p:nvSpPr>
        <p:spPr>
          <a:xfrm>
            <a:off x="1625600" y="4029472"/>
            <a:ext cx="1524000" cy="228600"/>
          </a:xfrm>
          <a:prstGeom prst="rect">
            <a:avLst/>
          </a:prstGeom>
          <a:solidFill>
            <a:srgbClr val="293470"/>
          </a:solidFill>
          <a:ln/>
        </p:spPr>
        <p:txBody>
          <a:bodyPr/>
          <a:lstStyle/>
          <a:p>
            <a:endParaRPr lang="es-ES_tradnl" noProof="0" dirty="0"/>
          </a:p>
        </p:txBody>
      </p:sp>
      <p:sp>
        <p:nvSpPr>
          <p:cNvPr id="20" name="Text 14"/>
          <p:cNvSpPr/>
          <p:nvPr/>
        </p:nvSpPr>
        <p:spPr>
          <a:xfrm>
            <a:off x="4775200" y="401935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1" name="Text 15"/>
          <p:cNvSpPr/>
          <p:nvPr/>
        </p:nvSpPr>
        <p:spPr>
          <a:xfrm>
            <a:off x="10668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22" name="Shape 16"/>
          <p:cNvSpPr/>
          <p:nvPr/>
        </p:nvSpPr>
        <p:spPr>
          <a:xfrm>
            <a:off x="1625600" y="4405313"/>
            <a:ext cx="3048000" cy="228600"/>
          </a:xfrm>
          <a:prstGeom prst="rect">
            <a:avLst/>
          </a:prstGeom>
          <a:solidFill>
            <a:srgbClr val="FFFFFF"/>
          </a:solidFill>
          <a:ln/>
        </p:spPr>
        <p:txBody>
          <a:bodyPr/>
          <a:lstStyle/>
          <a:p>
            <a:endParaRPr lang="es-ES_tradnl" noProof="0" dirty="0"/>
          </a:p>
        </p:txBody>
      </p:sp>
      <p:sp>
        <p:nvSpPr>
          <p:cNvPr id="23" name="Shape 17"/>
          <p:cNvSpPr/>
          <p:nvPr/>
        </p:nvSpPr>
        <p:spPr>
          <a:xfrm>
            <a:off x="1625600" y="4405313"/>
            <a:ext cx="1524000" cy="228600"/>
          </a:xfrm>
          <a:prstGeom prst="rect">
            <a:avLst/>
          </a:prstGeom>
          <a:solidFill>
            <a:srgbClr val="293470"/>
          </a:solidFill>
          <a:ln/>
        </p:spPr>
        <p:txBody>
          <a:bodyPr/>
          <a:lstStyle/>
          <a:p>
            <a:endParaRPr lang="es-ES_tradnl" noProof="0" dirty="0"/>
          </a:p>
        </p:txBody>
      </p:sp>
      <p:sp>
        <p:nvSpPr>
          <p:cNvPr id="24" name="Text 18"/>
          <p:cNvSpPr/>
          <p:nvPr/>
        </p:nvSpPr>
        <p:spPr>
          <a:xfrm>
            <a:off x="4775200" y="439519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5" name="Text 19"/>
          <p:cNvSpPr/>
          <p:nvPr/>
        </p:nvSpPr>
        <p:spPr>
          <a:xfrm>
            <a:off x="10668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50 / 50: igual que sortear entre las dos personas.</a:t>
            </a:r>
            <a:endParaRPr lang="es-ES_tradnl" sz="1400" noProof="0" dirty="0"/>
          </a:p>
        </p:txBody>
      </p:sp>
      <p:sp>
        <p:nvSpPr>
          <p:cNvPr id="26" name="Shape 20"/>
          <p:cNvSpPr/>
          <p:nvPr/>
        </p:nvSpPr>
        <p:spPr>
          <a:xfrm>
            <a:off x="6197600" y="1877020"/>
            <a:ext cx="5181600" cy="3371453"/>
          </a:xfrm>
          <a:prstGeom prst="roundRect">
            <a:avLst>
              <a:gd name="adj" fmla="val 3014"/>
            </a:avLst>
          </a:prstGeom>
          <a:solidFill>
            <a:srgbClr val="F4F4F2"/>
          </a:solidFill>
          <a:ln/>
        </p:spPr>
        <p:txBody>
          <a:bodyPr/>
          <a:lstStyle/>
          <a:p>
            <a:endParaRPr lang="es-ES_tradnl" noProof="0" dirty="0"/>
          </a:p>
        </p:txBody>
      </p:sp>
      <p:sp>
        <p:nvSpPr>
          <p:cNvPr id="27" name="Text 21"/>
          <p:cNvSpPr/>
          <p:nvPr/>
        </p:nvSpPr>
        <p:spPr>
          <a:xfrm>
            <a:off x="64516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OTRO ESTADO</a:t>
            </a:r>
            <a:endParaRPr lang="es-ES_tradnl" sz="1200" noProof="0" dirty="0"/>
          </a:p>
        </p:txBody>
      </p:sp>
      <p:sp>
        <p:nvSpPr>
          <p:cNvPr id="28" name="Text 22"/>
          <p:cNvSpPr/>
          <p:nvPr/>
        </p:nvSpPr>
        <p:spPr>
          <a:xfrm>
            <a:off x="64516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Superposición: suma de vectores</a:t>
            </a:r>
            <a:endParaRPr lang="es-ES_tradnl" sz="1800" noProof="0" dirty="0"/>
          </a:p>
        </p:txBody>
      </p:sp>
      <p:pic>
        <p:nvPicPr>
          <p:cNvPr id="29" name="Image 4" descr="(|+⟩ + |−⟩)/√2 = |0⟩"/>
          <p:cNvPicPr>
            <a:picLocks noChangeAspect="1"/>
          </p:cNvPicPr>
          <p:nvPr/>
        </p:nvPicPr>
        <p:blipFill>
          <a:blip r:embed="rId7"/>
          <a:srcRect l="-93" r="-93"/>
          <a:stretch/>
        </p:blipFill>
        <p:spPr>
          <a:xfrm>
            <a:off x="6451600" y="2793206"/>
            <a:ext cx="1981200" cy="723900"/>
          </a:xfrm>
          <a:prstGeom prst="rect">
            <a:avLst/>
          </a:prstGeom>
        </p:spPr>
      </p:pic>
      <p:sp>
        <p:nvSpPr>
          <p:cNvPr id="30" name="Text 23"/>
          <p:cNvSpPr/>
          <p:nvPr/>
        </p:nvSpPr>
        <p:spPr>
          <a:xfrm>
            <a:off x="64516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31" name="Text 24"/>
          <p:cNvSpPr/>
          <p:nvPr/>
        </p:nvSpPr>
        <p:spPr>
          <a:xfrm>
            <a:off x="64516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32" name="Shape 25"/>
          <p:cNvSpPr/>
          <p:nvPr/>
        </p:nvSpPr>
        <p:spPr>
          <a:xfrm>
            <a:off x="7010400" y="4029472"/>
            <a:ext cx="3048000" cy="228600"/>
          </a:xfrm>
          <a:prstGeom prst="rect">
            <a:avLst/>
          </a:prstGeom>
          <a:solidFill>
            <a:srgbClr val="FFFFFF"/>
          </a:solidFill>
          <a:ln/>
        </p:spPr>
        <p:txBody>
          <a:bodyPr/>
          <a:lstStyle/>
          <a:p>
            <a:endParaRPr lang="es-ES_tradnl" noProof="0" dirty="0"/>
          </a:p>
        </p:txBody>
      </p:sp>
      <p:sp>
        <p:nvSpPr>
          <p:cNvPr id="33" name="Shape 26"/>
          <p:cNvSpPr/>
          <p:nvPr/>
        </p:nvSpPr>
        <p:spPr>
          <a:xfrm>
            <a:off x="7010400" y="4029472"/>
            <a:ext cx="3048000" cy="228600"/>
          </a:xfrm>
          <a:prstGeom prst="rect">
            <a:avLst/>
          </a:prstGeom>
          <a:solidFill>
            <a:srgbClr val="293470"/>
          </a:solidFill>
          <a:ln/>
        </p:spPr>
        <p:txBody>
          <a:bodyPr/>
          <a:lstStyle/>
          <a:p>
            <a:endParaRPr lang="es-ES_tradnl" noProof="0" dirty="0"/>
          </a:p>
        </p:txBody>
      </p:sp>
      <p:sp>
        <p:nvSpPr>
          <p:cNvPr id="34" name="Text 27"/>
          <p:cNvSpPr/>
          <p:nvPr/>
        </p:nvSpPr>
        <p:spPr>
          <a:xfrm>
            <a:off x="10160000" y="401935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1</a:t>
            </a:r>
            <a:endParaRPr lang="es-ES_tradnl" sz="1400" noProof="0" dirty="0"/>
          </a:p>
        </p:txBody>
      </p:sp>
      <p:sp>
        <p:nvSpPr>
          <p:cNvPr id="35" name="Text 28"/>
          <p:cNvSpPr/>
          <p:nvPr/>
        </p:nvSpPr>
        <p:spPr>
          <a:xfrm>
            <a:off x="64516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36" name="Shape 29"/>
          <p:cNvSpPr/>
          <p:nvPr/>
        </p:nvSpPr>
        <p:spPr>
          <a:xfrm>
            <a:off x="7010400" y="4405313"/>
            <a:ext cx="3048000" cy="228600"/>
          </a:xfrm>
          <a:prstGeom prst="rect">
            <a:avLst/>
          </a:prstGeom>
          <a:solidFill>
            <a:srgbClr val="FFFFFF"/>
          </a:solidFill>
          <a:ln/>
        </p:spPr>
        <p:txBody>
          <a:bodyPr/>
          <a:lstStyle/>
          <a:p>
            <a:endParaRPr lang="es-ES_tradnl" noProof="0" dirty="0"/>
          </a:p>
        </p:txBody>
      </p:sp>
      <p:sp>
        <p:nvSpPr>
          <p:cNvPr id="37" name="Text 30"/>
          <p:cNvSpPr/>
          <p:nvPr/>
        </p:nvSpPr>
        <p:spPr>
          <a:xfrm>
            <a:off x="10160000" y="439519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a:t>
            </a:r>
            <a:endParaRPr lang="es-ES_tradnl" sz="1400" noProof="0" dirty="0"/>
          </a:p>
        </p:txBody>
      </p:sp>
      <p:sp>
        <p:nvSpPr>
          <p:cNvPr id="38" name="Text 31"/>
          <p:cNvSpPr/>
          <p:nvPr/>
        </p:nvSpPr>
        <p:spPr>
          <a:xfrm>
            <a:off x="64516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Siempre «0». No es «50 % cada persona».</a:t>
            </a:r>
            <a:endParaRPr lang="es-ES_tradnl" sz="1400" noProof="0" dirty="0"/>
          </a:p>
        </p:txBody>
      </p:sp>
      <p:sp>
        <p:nvSpPr>
          <p:cNvPr id="40" name="Text 3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31</a:t>
            </a:r>
            <a:endParaRPr lang="es-ES_tradnl" sz="1200" noProof="0" dirty="0"/>
          </a:p>
        </p:txBody>
      </p:sp>
    </p:spTree>
    <p:extLst>
      <p:ext uri="{BB962C8B-B14F-4D97-AF65-F5344CB8AC3E}">
        <p14:creationId xmlns:p14="http://schemas.microsoft.com/office/powerpoint/2010/main" val="36399619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alcanza con simular 1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se mide y publica el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de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la traza parcial descarta los otros 6.</a:t>
            </a:r>
            <a:endParaRPr lang="es-ES_tradnl" sz="1800" noProof="0" dirty="0"/>
          </a:p>
        </p:txBody>
      </p:sp>
      <p:sp>
        <p:nvSpPr>
          <p:cNvPr id="9" name="Shape 6"/>
          <p:cNvSpPr/>
          <p:nvPr/>
        </p:nvSpPr>
        <p:spPr>
          <a:xfrm>
            <a:off x="812800" y="1856680"/>
            <a:ext cx="5181600" cy="2306042"/>
          </a:xfrm>
          <a:prstGeom prst="roundRect">
            <a:avLst>
              <a:gd name="adj" fmla="val 4406"/>
            </a:avLst>
          </a:prstGeom>
          <a:solidFill>
            <a:srgbClr val="F4F4F2"/>
          </a:solidFill>
          <a:ln/>
        </p:spPr>
        <p:txBody>
          <a:bodyPr/>
          <a:lstStyle/>
          <a:p>
            <a:endParaRPr lang="es-ES_tradnl" noProof="0" dirty="0"/>
          </a:p>
        </p:txBody>
      </p:sp>
      <p:sp>
        <p:nvSpPr>
          <p:cNvPr id="10" name="Text 7"/>
          <p:cNvSpPr/>
          <p:nvPr/>
        </p:nvSpPr>
        <p:spPr>
          <a:xfrm>
            <a:off x="10668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err="1">
                <a:solidFill>
                  <a:srgbClr val="1D1D1B"/>
                </a:solidFill>
                <a:latin typeface="DM Sans" pitchFamily="34" charset="0"/>
                <a:ea typeface="DM Sans" pitchFamily="34" charset="-122"/>
                <a:cs typeface="DM Sans" pitchFamily="34" charset="-120"/>
              </a:rPr>
              <a:t>Depolarizante</a:t>
            </a:r>
            <a:r>
              <a:rPr lang="es-ES_tradnl" sz="1400" b="1" noProof="0" dirty="0">
                <a:solidFill>
                  <a:srgbClr val="1D1D1B"/>
                </a:solidFill>
                <a:latin typeface="DM Sans" pitchFamily="34" charset="0"/>
                <a:ea typeface="DM Sans" pitchFamily="34" charset="-122"/>
                <a:cs typeface="DM Sans" pitchFamily="34" charset="-120"/>
              </a:rPr>
              <a:t> global de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pic>
        <p:nvPicPr>
          <p:cNvPr id="11" name="Image 1" descr="ρ″₀ = Tr_resto[ρ″] = (1−p)·ρ₀ + p·I/2"/>
          <p:cNvPicPr>
            <a:picLocks noChangeAspect="1"/>
          </p:cNvPicPr>
          <p:nvPr/>
        </p:nvPicPr>
        <p:blipFill>
          <a:blip r:embed="rId4"/>
          <a:srcRect t="-210" b="-210"/>
          <a:stretch/>
        </p:blipFill>
        <p:spPr>
          <a:xfrm>
            <a:off x="1066800" y="2451001"/>
            <a:ext cx="3829050" cy="584200"/>
          </a:xfrm>
          <a:prstGeom prst="rect">
            <a:avLst/>
          </a:prstGeom>
        </p:spPr>
      </p:pic>
      <p:sp>
        <p:nvSpPr>
          <p:cNvPr id="12" name="Text 8"/>
          <p:cNvSpPr/>
          <p:nvPr/>
        </p:nvSpPr>
        <p:spPr>
          <a:xfrm>
            <a:off x="10668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un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de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con el mismo p. Solo usa la linealidad de la traza parcial y </a:t>
            </a:r>
            <a:r>
              <a:rPr lang="es-ES_tradnl" sz="1400" noProof="0" dirty="0" err="1">
                <a:solidFill>
                  <a:srgbClr val="3C3C3B"/>
                </a:solidFill>
                <a:latin typeface="Roboto" pitchFamily="34" charset="0"/>
                <a:ea typeface="Roboto" pitchFamily="34" charset="-122"/>
                <a:cs typeface="Roboto" pitchFamily="34" charset="-120"/>
              </a:rPr>
              <a:t>Tr</a:t>
            </a:r>
            <a:r>
              <a:rPr lang="es-ES_tradnl" sz="1400" noProof="0" dirty="0">
                <a:solidFill>
                  <a:srgbClr val="3C3C3B"/>
                </a:solidFill>
                <a:latin typeface="Roboto" pitchFamily="34" charset="0"/>
                <a:ea typeface="Roboto" pitchFamily="34" charset="-122"/>
                <a:cs typeface="Roboto" pitchFamily="34" charset="-120"/>
              </a:rPr>
              <a:t>(I/2) = 1: vale para cualquier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aunque haya correlaciones o entrelazamiento.</a:t>
            </a:r>
            <a:endParaRPr lang="es-ES_tradnl" sz="1400" noProof="0" dirty="0"/>
          </a:p>
        </p:txBody>
      </p:sp>
      <p:sp>
        <p:nvSpPr>
          <p:cNvPr id="13" name="Shape 9"/>
          <p:cNvSpPr/>
          <p:nvPr/>
        </p:nvSpPr>
        <p:spPr>
          <a:xfrm>
            <a:off x="6197600" y="1856680"/>
            <a:ext cx="5181600" cy="2306042"/>
          </a:xfrm>
          <a:prstGeom prst="roundRect">
            <a:avLst>
              <a:gd name="adj" fmla="val 4406"/>
            </a:avLst>
          </a:prstGeom>
          <a:solidFill>
            <a:srgbClr val="F4F4F2"/>
          </a:solidFill>
          <a:ln/>
        </p:spPr>
        <p:txBody>
          <a:bodyPr/>
          <a:lstStyle/>
          <a:p>
            <a:endParaRPr lang="es-ES_tradnl" noProof="0" dirty="0"/>
          </a:p>
        </p:txBody>
      </p:sp>
      <p:sp>
        <p:nvSpPr>
          <p:cNvPr id="14" name="Text 10"/>
          <p:cNvSpPr/>
          <p:nvPr/>
        </p:nvSpPr>
        <p:spPr>
          <a:xfrm>
            <a:off x="64516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GAD y PAD: canal producto, </a:t>
            </a:r>
            <a:r>
              <a:rPr lang="es-ES_tradnl" sz="1400" b="1" noProof="0" dirty="0" err="1">
                <a:solidFill>
                  <a:srgbClr val="1D1D1B"/>
                </a:solidFill>
                <a:latin typeface="DM Sans" pitchFamily="34" charset="0"/>
                <a:ea typeface="DM Sans" pitchFamily="34" charset="-122"/>
                <a:cs typeface="DM Sans" pitchFamily="34" charset="-120"/>
              </a:rPr>
              <a:t>qubit</a:t>
            </a:r>
            <a:r>
              <a:rPr lang="es-ES_tradnl" sz="1400" b="1" noProof="0" dirty="0">
                <a:solidFill>
                  <a:srgbClr val="1D1D1B"/>
                </a:solidFill>
                <a:latin typeface="DM Sans" pitchFamily="34" charset="0"/>
                <a:ea typeface="DM Sans" pitchFamily="34" charset="-122"/>
                <a:cs typeface="DM Sans" pitchFamily="34" charset="-120"/>
              </a:rPr>
              <a:t> por </a:t>
            </a:r>
            <a:r>
              <a:rPr lang="es-ES_tradnl" sz="1400" b="1" noProof="0" dirty="0" err="1">
                <a:solidFill>
                  <a:srgbClr val="1D1D1B"/>
                </a:solidFill>
                <a:latin typeface="DM Sans" pitchFamily="34" charset="0"/>
                <a:ea typeface="DM Sans" pitchFamily="34" charset="-122"/>
                <a:cs typeface="DM Sans" pitchFamily="34" charset="-120"/>
              </a:rPr>
              <a:t>qubit</a:t>
            </a:r>
            <a:endParaRPr lang="es-ES_tradnl" sz="1400" noProof="0" dirty="0"/>
          </a:p>
        </p:txBody>
      </p:sp>
      <p:pic>
        <p:nvPicPr>
          <p:cNvPr id="15" name="Image 2" descr="Tr_resto[(E₀ ⊗ E₁ ⊗ … ⊗ E₆)(ρ)] = E₀(ρ₀)"/>
          <p:cNvPicPr>
            <a:picLocks noChangeAspect="1"/>
          </p:cNvPicPr>
          <p:nvPr/>
        </p:nvPicPr>
        <p:blipFill>
          <a:blip r:embed="rId5"/>
          <a:srcRect t="-312" b="-312"/>
          <a:stretch/>
        </p:blipFill>
        <p:spPr>
          <a:xfrm>
            <a:off x="6451600" y="2558951"/>
            <a:ext cx="4546600" cy="368300"/>
          </a:xfrm>
          <a:prstGeom prst="rect">
            <a:avLst/>
          </a:prstGeom>
        </p:spPr>
      </p:pic>
      <p:sp>
        <p:nvSpPr>
          <p:cNvPr id="16" name="Text 11"/>
          <p:cNvSpPr/>
          <p:nvPr/>
        </p:nvSpPr>
        <p:spPr>
          <a:xfrm>
            <a:off x="64516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Los canales de los otros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preservan la traza. Tampoco requiere que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sea producto (demostración de la semana 8).</a:t>
            </a:r>
            <a:endParaRPr lang="es-ES_tradnl" sz="1400" noProof="0" dirty="0"/>
          </a:p>
        </p:txBody>
      </p:sp>
      <p:sp>
        <p:nvSpPr>
          <p:cNvPr id="17" name="Text 12"/>
          <p:cNvSpPr/>
          <p:nvPr/>
        </p:nvSpPr>
        <p:spPr>
          <a:xfrm>
            <a:off x="812800" y="4416723"/>
            <a:ext cx="3810000" cy="642541"/>
          </a:xfrm>
          <a:prstGeom prst="roundRect">
            <a:avLst>
              <a:gd name="adj" fmla="val 7906"/>
            </a:avLst>
          </a:prstGeom>
          <a:solidFill>
            <a:srgbClr val="FFEE00"/>
          </a:solidFill>
          <a:ln/>
        </p:spPr>
        <p:txBody>
          <a:bodyPr wrap="square" lIns="162921" tIns="112121" rIns="59289" bIns="86721"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El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se calcula con D = 2</a:t>
            </a:r>
            <a:endParaRPr lang="es-ES_tradnl" sz="1800" noProof="0" dirty="0"/>
          </a:p>
        </p:txBody>
      </p:sp>
      <p:sp>
        <p:nvSpPr>
          <p:cNvPr id="18" name="Text 13"/>
          <p:cNvSpPr/>
          <p:nvPr/>
        </p:nvSpPr>
        <p:spPr>
          <a:xfrm>
            <a:off x="4778375" y="4419898"/>
            <a:ext cx="6597650" cy="636191"/>
          </a:xfrm>
          <a:prstGeom prst="roundRect">
            <a:avLst>
              <a:gd name="adj" fmla="val 7486"/>
            </a:avLst>
          </a:prstGeom>
          <a:noFill/>
          <a:ln w="6350">
            <a:solidFill>
              <a:srgbClr val="E3E3DF"/>
            </a:solidFill>
            <a:prstDash val="solid"/>
          </a:ln>
        </p:spPr>
        <p:txBody>
          <a:bodyPr wrap="square" lIns="141626" tIns="90826" rIns="0" bIns="65426"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Útil para el Acto V: en el computador de 2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aplicar GAD a cada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y medir uno equivale a GAD de 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0"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32</a:t>
            </a:r>
            <a:endParaRPr lang="es-ES_tradnl" sz="1200" noProof="0" dirty="0"/>
          </a:p>
        </p:txBody>
      </p:sp>
    </p:spTree>
    <p:extLst>
      <p:ext uri="{BB962C8B-B14F-4D97-AF65-F5344CB8AC3E}">
        <p14:creationId xmlns:p14="http://schemas.microsoft.com/office/powerpoint/2010/main" val="35156501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Resultados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10 · K par contra K impar</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11 · Experimento L de collateral: teoría contra simulación</a:t>
            </a:r>
            <a:endParaRPr lang="es-ES_tradnl" sz="1800" noProof="0" dirty="0"/>
          </a:p>
        </p:txBody>
      </p:sp>
    </p:spTree>
    <p:extLst>
      <p:ext uri="{BB962C8B-B14F-4D97-AF65-F5344CB8AC3E}">
        <p14:creationId xmlns:p14="http://schemas.microsoft.com/office/powerpoint/2010/main" val="242497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K par contra K impar</a:t>
            </a:r>
            <a:endParaRPr lang="es-ES_tradnl" sz="2800" noProof="0" dirty="0"/>
          </a:p>
        </p:txBody>
      </p:sp>
      <p:sp>
        <p:nvSpPr>
          <p:cNvPr id="8" name="Text 5"/>
          <p:cNvSpPr/>
          <p:nvPr/>
        </p:nvSpPr>
        <p:spPr>
          <a:xfrm>
            <a:off x="812800" y="1457325"/>
            <a:ext cx="3553321"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estados del ecuador separados por </a:t>
            </a:r>
            <a:r>
              <a:rPr lang="es-ES_tradnl" sz="1400" noProof="0" dirty="0" err="1">
                <a:solidFill>
                  <a:srgbClr val="3C3C3B"/>
                </a:solidFill>
                <a:latin typeface="Roboto" pitchFamily="34" charset="0"/>
                <a:ea typeface="Roboto" pitchFamily="34" charset="-122"/>
                <a:cs typeface="Roboto" pitchFamily="34" charset="-120"/>
              </a:rPr>
              <a:t>Δ</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pic>
        <p:nvPicPr>
          <p:cNvPr id="9" name="Image 1" descr="|⟨ψ|φ⟩|² = cos²(Δ/2) ⇒ d = sin(Δ/2)"/>
          <p:cNvPicPr>
            <a:picLocks noChangeAspect="1"/>
          </p:cNvPicPr>
          <p:nvPr/>
        </p:nvPicPr>
        <p:blipFill>
          <a:blip r:embed="rId4"/>
          <a:srcRect l="-200" r="-200"/>
          <a:stretch/>
        </p:blipFill>
        <p:spPr>
          <a:xfrm>
            <a:off x="4366121" y="1280120"/>
            <a:ext cx="4356100" cy="603250"/>
          </a:xfrm>
          <a:prstGeom prst="rect">
            <a:avLst/>
          </a:prstGeom>
        </p:spPr>
      </p:pic>
      <p:sp>
        <p:nvSpPr>
          <p:cNvPr id="10" name="Shape 6"/>
          <p:cNvSpPr/>
          <p:nvPr/>
        </p:nvSpPr>
        <p:spPr>
          <a:xfrm>
            <a:off x="812800" y="2035770"/>
            <a:ext cx="2527300" cy="2697361"/>
          </a:xfrm>
          <a:prstGeom prst="roundRect">
            <a:avLst>
              <a:gd name="adj" fmla="val 4020"/>
            </a:avLst>
          </a:prstGeom>
          <a:solidFill>
            <a:srgbClr val="F4F4F2"/>
          </a:solidFill>
          <a:ln/>
        </p:spPr>
        <p:txBody>
          <a:bodyPr/>
          <a:lstStyle/>
          <a:p>
            <a:endParaRPr lang="es-ES_tradnl" noProof="0" dirty="0"/>
          </a:p>
        </p:txBody>
      </p:sp>
      <p:pic>
        <p:nvPicPr>
          <p:cNvPr id="11" name="Image 2" descr="Ecuador con K = 3 categorías; el par más separado, a 120°, unido por una cuerda"/>
          <p:cNvPicPr>
            <a:picLocks noChangeAspect="1"/>
          </p:cNvPicPr>
          <p:nvPr/>
        </p:nvPicPr>
        <p:blipFill>
          <a:blip r:embed="rId5"/>
          <a:srcRect/>
          <a:stretch/>
        </p:blipFill>
        <p:spPr>
          <a:xfrm>
            <a:off x="1123950" y="2162770"/>
            <a:ext cx="1905000" cy="1905000"/>
          </a:xfrm>
          <a:prstGeom prst="rect">
            <a:avLst/>
          </a:prstGeom>
        </p:spPr>
      </p:pic>
      <p:sp>
        <p:nvSpPr>
          <p:cNvPr id="12" name="Text 7"/>
          <p:cNvSpPr/>
          <p:nvPr/>
        </p:nvSpPr>
        <p:spPr>
          <a:xfrm>
            <a:off x="15225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3 · 120°</a:t>
            </a:r>
            <a:endParaRPr lang="es-ES_tradnl" sz="1400" noProof="0" dirty="0"/>
          </a:p>
        </p:txBody>
      </p:sp>
      <p:sp>
        <p:nvSpPr>
          <p:cNvPr id="13" name="Text 8"/>
          <p:cNvSpPr/>
          <p:nvPr/>
        </p:nvSpPr>
        <p:spPr>
          <a:xfrm>
            <a:off x="13229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0.962 &lt; cota 1.005</a:t>
            </a:r>
            <a:endParaRPr lang="es-ES_tradnl" sz="1200" noProof="0" dirty="0"/>
          </a:p>
        </p:txBody>
      </p:sp>
      <p:sp>
        <p:nvSpPr>
          <p:cNvPr id="14" name="Shape 9"/>
          <p:cNvSpPr/>
          <p:nvPr/>
        </p:nvSpPr>
        <p:spPr>
          <a:xfrm>
            <a:off x="35020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15" name="Image 3" descr="Ecuador con K = 4 categorías; el par opuesto, a 180°, unido por una cuerda"/>
          <p:cNvPicPr>
            <a:picLocks noChangeAspect="1"/>
          </p:cNvPicPr>
          <p:nvPr/>
        </p:nvPicPr>
        <p:blipFill>
          <a:blip r:embed="rId6"/>
          <a:srcRect/>
          <a:stretch/>
        </p:blipFill>
        <p:spPr>
          <a:xfrm>
            <a:off x="3803650" y="2162770"/>
            <a:ext cx="1905000" cy="1905000"/>
          </a:xfrm>
          <a:prstGeom prst="rect">
            <a:avLst/>
          </a:prstGeom>
        </p:spPr>
      </p:pic>
      <p:sp>
        <p:nvSpPr>
          <p:cNvPr id="16" name="Text 10"/>
          <p:cNvSpPr/>
          <p:nvPr/>
        </p:nvSpPr>
        <p:spPr>
          <a:xfrm>
            <a:off x="42022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4 · 180°</a:t>
            </a:r>
            <a:endParaRPr lang="es-ES_tradnl" sz="1400" noProof="0" dirty="0"/>
          </a:p>
        </p:txBody>
      </p:sp>
      <p:sp>
        <p:nvSpPr>
          <p:cNvPr id="17" name="Text 11"/>
          <p:cNvSpPr/>
          <p:nvPr/>
        </p:nvSpPr>
        <p:spPr>
          <a:xfrm>
            <a:off x="38339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18" name="Shape 12"/>
          <p:cNvSpPr/>
          <p:nvPr/>
        </p:nvSpPr>
        <p:spPr>
          <a:xfrm>
            <a:off x="6172200" y="2035770"/>
            <a:ext cx="2527300" cy="2697361"/>
          </a:xfrm>
          <a:prstGeom prst="roundRect">
            <a:avLst>
              <a:gd name="adj" fmla="val 4020"/>
            </a:avLst>
          </a:prstGeom>
          <a:solidFill>
            <a:srgbClr val="F4F4F2"/>
          </a:solidFill>
          <a:ln/>
        </p:spPr>
        <p:txBody>
          <a:bodyPr/>
          <a:lstStyle/>
          <a:p>
            <a:endParaRPr lang="es-ES_tradnl" noProof="0" dirty="0"/>
          </a:p>
        </p:txBody>
      </p:sp>
      <p:pic>
        <p:nvPicPr>
          <p:cNvPr id="19" name="Image 4" descr="Ecuador con K = 5 categorías; el par más separado, a 144°, unido por una cuerda"/>
          <p:cNvPicPr>
            <a:picLocks noChangeAspect="1"/>
          </p:cNvPicPr>
          <p:nvPr/>
        </p:nvPicPr>
        <p:blipFill>
          <a:blip r:embed="rId7"/>
          <a:srcRect/>
          <a:stretch/>
        </p:blipFill>
        <p:spPr>
          <a:xfrm>
            <a:off x="6483350" y="2162770"/>
            <a:ext cx="1905000" cy="1905000"/>
          </a:xfrm>
          <a:prstGeom prst="rect">
            <a:avLst/>
          </a:prstGeom>
        </p:spPr>
      </p:pic>
      <p:sp>
        <p:nvSpPr>
          <p:cNvPr id="20" name="Text 13"/>
          <p:cNvSpPr/>
          <p:nvPr/>
        </p:nvSpPr>
        <p:spPr>
          <a:xfrm>
            <a:off x="68819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5 · 144°</a:t>
            </a:r>
            <a:endParaRPr lang="es-ES_tradnl" sz="1400" noProof="0" dirty="0"/>
          </a:p>
        </p:txBody>
      </p:sp>
      <p:sp>
        <p:nvSpPr>
          <p:cNvPr id="21" name="Text 14"/>
          <p:cNvSpPr/>
          <p:nvPr/>
        </p:nvSpPr>
        <p:spPr>
          <a:xfrm>
            <a:off x="66823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1.049 &lt; cota 1.065</a:t>
            </a:r>
            <a:endParaRPr lang="es-ES_tradnl" sz="1200" noProof="0" dirty="0"/>
          </a:p>
        </p:txBody>
      </p:sp>
      <p:sp>
        <p:nvSpPr>
          <p:cNvPr id="22" name="Shape 15"/>
          <p:cNvSpPr/>
          <p:nvPr/>
        </p:nvSpPr>
        <p:spPr>
          <a:xfrm>
            <a:off x="88614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23" name="Image 5" descr="Ecuador con K = 10 categorías; el par opuesto, a 180°, unido por una cuerda"/>
          <p:cNvPicPr>
            <a:picLocks noChangeAspect="1"/>
          </p:cNvPicPr>
          <p:nvPr/>
        </p:nvPicPr>
        <p:blipFill>
          <a:blip r:embed="rId8"/>
          <a:srcRect/>
          <a:stretch/>
        </p:blipFill>
        <p:spPr>
          <a:xfrm>
            <a:off x="9163050" y="2162770"/>
            <a:ext cx="1905000" cy="1905000"/>
          </a:xfrm>
          <a:prstGeom prst="rect">
            <a:avLst/>
          </a:prstGeom>
        </p:spPr>
      </p:pic>
      <p:sp>
        <p:nvSpPr>
          <p:cNvPr id="24" name="Text 16"/>
          <p:cNvSpPr/>
          <p:nvPr/>
        </p:nvSpPr>
        <p:spPr>
          <a:xfrm>
            <a:off x="9500364" y="4118570"/>
            <a:ext cx="1230273"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10 · 180°</a:t>
            </a:r>
            <a:endParaRPr lang="es-ES_tradnl" sz="1400" noProof="0" dirty="0"/>
          </a:p>
        </p:txBody>
      </p:sp>
      <p:sp>
        <p:nvSpPr>
          <p:cNvPr id="25" name="Text 17"/>
          <p:cNvSpPr/>
          <p:nvPr/>
        </p:nvSpPr>
        <p:spPr>
          <a:xfrm>
            <a:off x="91933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26" name="Shape 18"/>
          <p:cNvSpPr/>
          <p:nvPr/>
        </p:nvSpPr>
        <p:spPr>
          <a:xfrm>
            <a:off x="831850" y="4885531"/>
            <a:ext cx="0" cy="426641"/>
          </a:xfrm>
          <a:prstGeom prst="line">
            <a:avLst/>
          </a:prstGeom>
          <a:noFill/>
          <a:ln w="38100">
            <a:solidFill>
              <a:srgbClr val="293470"/>
            </a:solidFill>
            <a:prstDash val="solid"/>
          </a:ln>
        </p:spPr>
        <p:txBody>
          <a:bodyPr/>
          <a:lstStyle/>
          <a:p>
            <a:endParaRPr lang="es-ES_tradnl" noProof="0" dirty="0"/>
          </a:p>
        </p:txBody>
      </p:sp>
      <p:sp>
        <p:nvSpPr>
          <p:cNvPr id="27" name="Text 19"/>
          <p:cNvSpPr/>
          <p:nvPr/>
        </p:nvSpPr>
        <p:spPr>
          <a:xfrm>
            <a:off x="9779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Opuestos (180°) = ortogonales: d = 1 y hay una medición que los separa perfectamente antes del ruido. Por eso ahí la cota se alcanza.</a:t>
            </a:r>
            <a:endParaRPr lang="es-ES_tradnl" sz="1200" noProof="0" dirty="0"/>
          </a:p>
        </p:txBody>
      </p:sp>
      <p:sp>
        <p:nvSpPr>
          <p:cNvPr id="28" name="Shape 20"/>
          <p:cNvSpPr/>
          <p:nvPr/>
        </p:nvSpPr>
        <p:spPr>
          <a:xfrm>
            <a:off x="6267450" y="4885531"/>
            <a:ext cx="0" cy="426641"/>
          </a:xfrm>
          <a:prstGeom prst="line">
            <a:avLst/>
          </a:prstGeom>
          <a:noFill/>
          <a:ln w="38100">
            <a:solidFill>
              <a:srgbClr val="FFEE00"/>
            </a:solidFill>
            <a:prstDash val="solid"/>
          </a:ln>
        </p:spPr>
        <p:txBody>
          <a:bodyPr/>
          <a:lstStyle/>
          <a:p>
            <a:endParaRPr lang="es-ES_tradnl" noProof="0" dirty="0"/>
          </a:p>
        </p:txBody>
      </p:sp>
      <p:sp>
        <p:nvSpPr>
          <p:cNvPr id="29" name="Text 21"/>
          <p:cNvSpPr/>
          <p:nvPr/>
        </p:nvSpPr>
        <p:spPr>
          <a:xfrm>
            <a:off x="64135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K par: K/2 pasos de 2π/K dan exactamente π. K impar: el máximo es (K − 1)/K · 180°. Con K = 21 ya son 171.4° y el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tiende a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31" name="Text 2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34</a:t>
            </a:r>
            <a:endParaRPr lang="es-ES_tradnl" sz="120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Privacidad contra utilidad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privacidad la fija el par más separado; la utilidad, los pares vecinos (separación 360°/K).</a:t>
            </a:r>
            <a:endParaRPr lang="es-ES_tradnl" sz="1800" noProof="0" dirty="0"/>
          </a:p>
        </p:txBody>
      </p:sp>
      <p:sp>
        <p:nvSpPr>
          <p:cNvPr id="9" name="Shape 6"/>
          <p:cNvSpPr/>
          <p:nvPr/>
        </p:nvSpPr>
        <p:spPr>
          <a:xfrm>
            <a:off x="812800" y="1831280"/>
            <a:ext cx="5181600" cy="2260600"/>
          </a:xfrm>
          <a:prstGeom prst="roundRect">
            <a:avLst>
              <a:gd name="adj" fmla="val 4494"/>
            </a:avLst>
          </a:prstGeom>
          <a:solidFill>
            <a:srgbClr val="F4F4F2"/>
          </a:solidFill>
          <a:ln/>
        </p:spPr>
        <p:txBody>
          <a:bodyPr/>
          <a:lstStyle/>
          <a:p>
            <a:endParaRPr lang="es-ES_tradnl" noProof="0" dirty="0"/>
          </a:p>
        </p:txBody>
      </p:sp>
      <p:pic>
        <p:nvPicPr>
          <p:cNvPr id="10" name="Image 1" descr="Ecuador con K = 4 categorías; dos vecinas separadas 90° marcadas con un arco"/>
          <p:cNvPicPr>
            <a:picLocks noChangeAspect="1"/>
          </p:cNvPicPr>
          <p:nvPr/>
        </p:nvPicPr>
        <p:blipFill>
          <a:blip r:embed="rId4"/>
          <a:srcRect/>
          <a:stretch/>
        </p:blipFill>
        <p:spPr>
          <a:xfrm>
            <a:off x="1041400" y="2009080"/>
            <a:ext cx="1905000" cy="1905000"/>
          </a:xfrm>
          <a:prstGeom prst="rect">
            <a:avLst/>
          </a:prstGeom>
        </p:spPr>
      </p:pic>
      <p:sp>
        <p:nvSpPr>
          <p:cNvPr id="11" name="Text 7"/>
          <p:cNvSpPr/>
          <p:nvPr/>
        </p:nvSpPr>
        <p:spPr>
          <a:xfrm>
            <a:off x="31496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collateral</a:t>
            </a:r>
            <a:r>
              <a:rPr lang="es-ES_tradnl" sz="1400" b="1" noProof="0" dirty="0">
                <a:solidFill>
                  <a:srgbClr val="1D1D1B"/>
                </a:solidFill>
                <a:latin typeface="Roboto" pitchFamily="34" charset="0"/>
                <a:ea typeface="Roboto" pitchFamily="34" charset="-122"/>
                <a:cs typeface="Roboto" pitchFamily="34" charset="-120"/>
              </a:rPr>
              <a:t> · K = 4</a:t>
            </a:r>
            <a:endParaRPr lang="es-ES_tradnl" sz="1400" noProof="0" dirty="0"/>
          </a:p>
        </p:txBody>
      </p:sp>
      <p:sp>
        <p:nvSpPr>
          <p:cNvPr id="12" name="Text 8"/>
          <p:cNvSpPr/>
          <p:nvPr/>
        </p:nvSpPr>
        <p:spPr>
          <a:xfrm>
            <a:off x="31496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13" name="Text 9"/>
          <p:cNvSpPr/>
          <p:nvPr/>
        </p:nvSpPr>
        <p:spPr>
          <a:xfrm>
            <a:off x="31496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14" name="Text 10"/>
          <p:cNvSpPr/>
          <p:nvPr/>
        </p:nvSpPr>
        <p:spPr>
          <a:xfrm>
            <a:off x="31496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15" name="Text 11"/>
          <p:cNvSpPr/>
          <p:nvPr/>
        </p:nvSpPr>
        <p:spPr>
          <a:xfrm>
            <a:off x="31496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90°</a:t>
            </a:r>
            <a:endParaRPr lang="es-ES_tradnl" sz="1800" noProof="0" dirty="0"/>
          </a:p>
        </p:txBody>
      </p:sp>
      <p:sp>
        <p:nvSpPr>
          <p:cNvPr id="16" name="Shape 12"/>
          <p:cNvSpPr/>
          <p:nvPr/>
        </p:nvSpPr>
        <p:spPr>
          <a:xfrm>
            <a:off x="6197600" y="1831280"/>
            <a:ext cx="5181600" cy="2260600"/>
          </a:xfrm>
          <a:prstGeom prst="roundRect">
            <a:avLst>
              <a:gd name="adj" fmla="val 4494"/>
            </a:avLst>
          </a:prstGeom>
          <a:solidFill>
            <a:srgbClr val="F4F4F2"/>
          </a:solidFill>
          <a:ln/>
        </p:spPr>
        <p:txBody>
          <a:bodyPr/>
          <a:lstStyle/>
          <a:p>
            <a:endParaRPr lang="es-ES_tradnl" noProof="0" dirty="0"/>
          </a:p>
        </p:txBody>
      </p:sp>
      <p:pic>
        <p:nvPicPr>
          <p:cNvPr id="17" name="Image 2" descr="Ecuador con K = 10 categorías; dos vecinas separadas 36° marcadas con un arco"/>
          <p:cNvPicPr>
            <a:picLocks noChangeAspect="1"/>
          </p:cNvPicPr>
          <p:nvPr/>
        </p:nvPicPr>
        <p:blipFill>
          <a:blip r:embed="rId5"/>
          <a:srcRect/>
          <a:stretch/>
        </p:blipFill>
        <p:spPr>
          <a:xfrm>
            <a:off x="6426200" y="2009080"/>
            <a:ext cx="1905000" cy="1905000"/>
          </a:xfrm>
          <a:prstGeom prst="rect">
            <a:avLst/>
          </a:prstGeom>
        </p:spPr>
      </p:pic>
      <p:sp>
        <p:nvSpPr>
          <p:cNvPr id="18" name="Text 13"/>
          <p:cNvSpPr/>
          <p:nvPr/>
        </p:nvSpPr>
        <p:spPr>
          <a:xfrm>
            <a:off x="85344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purpose</a:t>
            </a:r>
            <a:r>
              <a:rPr lang="es-ES_tradnl" sz="1400" b="1" noProof="0" dirty="0">
                <a:solidFill>
                  <a:srgbClr val="1D1D1B"/>
                </a:solidFill>
                <a:latin typeface="Roboto" pitchFamily="34" charset="0"/>
                <a:ea typeface="Roboto" pitchFamily="34" charset="-122"/>
                <a:cs typeface="Roboto" pitchFamily="34" charset="-120"/>
              </a:rPr>
              <a:t> · K = 10</a:t>
            </a:r>
            <a:endParaRPr lang="es-ES_tradnl" sz="1400" noProof="0" dirty="0"/>
          </a:p>
        </p:txBody>
      </p:sp>
      <p:sp>
        <p:nvSpPr>
          <p:cNvPr id="19" name="Text 14"/>
          <p:cNvSpPr/>
          <p:nvPr/>
        </p:nvSpPr>
        <p:spPr>
          <a:xfrm>
            <a:off x="85344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20" name="Text 15"/>
          <p:cNvSpPr/>
          <p:nvPr/>
        </p:nvSpPr>
        <p:spPr>
          <a:xfrm>
            <a:off x="85344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21" name="Text 16"/>
          <p:cNvSpPr/>
          <p:nvPr/>
        </p:nvSpPr>
        <p:spPr>
          <a:xfrm>
            <a:off x="85344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22" name="Text 17"/>
          <p:cNvSpPr/>
          <p:nvPr/>
        </p:nvSpPr>
        <p:spPr>
          <a:xfrm>
            <a:off x="85344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36°</a:t>
            </a:r>
            <a:endParaRPr lang="es-ES_tradnl" sz="1800" noProof="0" dirty="0"/>
          </a:p>
        </p:txBody>
      </p:sp>
      <p:sp>
        <p:nvSpPr>
          <p:cNvPr id="23" name="Shape 18"/>
          <p:cNvSpPr/>
          <p:nvPr/>
        </p:nvSpPr>
        <p:spPr>
          <a:xfrm>
            <a:off x="831850" y="4320480"/>
            <a:ext cx="0" cy="746522"/>
          </a:xfrm>
          <a:prstGeom prst="line">
            <a:avLst/>
          </a:prstGeom>
          <a:noFill/>
          <a:ln w="38100">
            <a:solidFill>
              <a:srgbClr val="FFEE00"/>
            </a:solidFill>
            <a:prstDash val="solid"/>
          </a:ln>
        </p:spPr>
        <p:txBody>
          <a:bodyPr/>
          <a:lstStyle/>
          <a:p>
            <a:endParaRPr lang="es-ES_tradnl" noProof="0" dirty="0"/>
          </a:p>
        </p:txBody>
      </p:sp>
      <p:sp>
        <p:nvSpPr>
          <p:cNvPr id="24" name="Text 19"/>
          <p:cNvSpPr/>
          <p:nvPr/>
        </p:nvSpPr>
        <p:spPr>
          <a:xfrm>
            <a:off x="977900" y="4320480"/>
            <a:ext cx="519969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Más categorías en un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no cambia el </a:t>
            </a:r>
            <a:r>
              <a:rPr lang="es-ES_tradnl" sz="1400" b="1"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empeora la lectura: baja la probabilidad de acertar la categoría. Misma privacidad, peor utilidad.</a:t>
            </a:r>
            <a:endParaRPr lang="es-ES_tradnl" sz="1400" noProof="0" dirty="0"/>
          </a:p>
        </p:txBody>
      </p:sp>
      <p:sp>
        <p:nvSpPr>
          <p:cNvPr id="25" name="Text 20"/>
          <p:cNvSpPr/>
          <p:nvPr/>
        </p:nvSpPr>
        <p:spPr>
          <a:xfrm>
            <a:off x="6330950" y="4345880"/>
            <a:ext cx="5199698" cy="746522"/>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Entre vecinas no existe una medición que las separe perfectamente, y el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real queda bajo la cota: a 90° en </a:t>
            </a:r>
            <a:r>
              <a:rPr lang="es-ES_tradnl" sz="1200" noProof="0" dirty="0" err="1">
                <a:solidFill>
                  <a:srgbClr val="293470"/>
                </a:solidFill>
                <a:latin typeface="Roboto" pitchFamily="34" charset="0"/>
                <a:ea typeface="Roboto" pitchFamily="34" charset="-122"/>
                <a:cs typeface="Roboto" pitchFamily="34" charset="-120"/>
              </a:rPr>
              <a:t>collateral</a:t>
            </a:r>
            <a:r>
              <a:rPr lang="es-ES_tradnl" sz="1200" noProof="0" dirty="0">
                <a:solidFill>
                  <a:srgbClr val="6E6E6C"/>
                </a:solidFill>
                <a:latin typeface="Roboto" pitchFamily="34" charset="0"/>
                <a:ea typeface="Roboto" pitchFamily="34" charset="-122"/>
                <a:cs typeface="Roboto" pitchFamily="34" charset="-120"/>
              </a:rPr>
              <a:t>, 0.7954 contra 0.8814.</a:t>
            </a:r>
            <a:endParaRPr lang="es-ES_tradnl" sz="1200" noProof="0" dirty="0"/>
          </a:p>
        </p:txBody>
      </p:sp>
      <p:sp>
        <p:nvSpPr>
          <p:cNvPr id="27"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35</a:t>
            </a:r>
            <a:endParaRPr lang="es-ES_tradnl" sz="12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Experimento L de </a:t>
            </a:r>
            <a:r>
              <a:rPr lang="es-ES_tradnl" sz="2800" b="1" i="0" kern="0" spc="-50" noProof="0" dirty="0" err="1">
                <a:solidFill>
                  <a:srgbClr val="1D1D1B"/>
                </a:solidFill>
                <a:latin typeface="DM Sans" pitchFamily="34" charset="0"/>
                <a:ea typeface="DM Sans" pitchFamily="34" charset="-122"/>
                <a:cs typeface="DM Sans" pitchFamily="34" charset="-120"/>
              </a:rPr>
              <a:t>collateral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simuló, y qué se comprobó antes de mirar resultados.</a:t>
            </a:r>
            <a:endParaRPr lang="es-ES_tradnl" sz="1800" noProof="0" dirty="0"/>
          </a:p>
        </p:txBody>
      </p:sp>
      <p:sp>
        <p:nvSpPr>
          <p:cNvPr id="9" name="Text 6"/>
          <p:cNvSpPr/>
          <p:nvPr/>
        </p:nvSpPr>
        <p:spPr>
          <a:xfrm>
            <a:off x="812800" y="1856680"/>
            <a:ext cx="606958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IMPLEMENTACIÓN</a:t>
            </a:r>
            <a:endParaRPr lang="es-ES_tradnl" sz="1200" noProof="0" dirty="0"/>
          </a:p>
        </p:txBody>
      </p:sp>
      <p:sp>
        <p:nvSpPr>
          <p:cNvPr id="10" name="Text 7"/>
          <p:cNvSpPr/>
          <p:nvPr/>
        </p:nvSpPr>
        <p:spPr>
          <a:xfrm>
            <a:off x="812800" y="22097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mc:AlternateContent xmlns:mc="http://schemas.openxmlformats.org/markup-compatibility/2006">
        <mc:Choice xmlns:a14="http://schemas.microsoft.com/office/drawing/2010/main" Requires="a14">
          <p:sp>
            <p:nvSpPr>
              <p:cNvPr id="11" name="Text 8"/>
              <p:cNvSpPr/>
              <p:nvPr/>
            </p:nvSpPr>
            <p:spPr>
              <a:xfrm>
                <a:off x="1219200" y="2209701"/>
                <a:ext cx="5650992" cy="274241"/>
              </a:xfrm>
              <a:prstGeom prst="rect">
                <a:avLst/>
              </a:prstGeom>
              <a:noFill/>
              <a:ln/>
            </p:spPr>
            <p:txBody>
              <a:bodyPr wrap="square" lIns="0" tIns="0" rIns="0" bIns="0" rtlCol="0" anchor="t">
                <a:normAutofit/>
              </a:bodyPr>
              <a:lstStyle/>
              <a:p>
                <a:pPr>
                  <a:lnSpc>
                    <a:spcPts val="1960"/>
                  </a:lnSpc>
                </a:pPr>
                <a:r>
                  <a:rPr lang="es-ES_tradnl" sz="1400" noProof="0" dirty="0">
                    <a:solidFill>
                      <a:srgbClr val="3C3C3B"/>
                    </a:solidFill>
                    <a:latin typeface="Roboto" pitchFamily="34" charset="0"/>
                    <a:ea typeface="Roboto" pitchFamily="34" charset="-122"/>
                    <a:cs typeface="Roboto" pitchFamily="34" charset="-120"/>
                  </a:rPr>
                  <a:t>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por persona: H + RZ(</a:t>
                </a:r>
                <a14:m>
                  <m:oMath xmlns:m="http://schemas.openxmlformats.org/officeDocument/2006/math">
                    <m:f>
                      <m:fPr>
                        <m:ctrlPr>
                          <a:rPr lang="es-ES_tradnl" sz="1400" i="1" noProof="0" smtClean="0">
                            <a:solidFill>
                              <a:srgbClr val="3C3C3B"/>
                            </a:solidFill>
                            <a:latin typeface="Cambria Math" panose="02040503050406030204" pitchFamily="18" charset="0"/>
                            <a:ea typeface="Roboto" pitchFamily="34" charset="-122"/>
                          </a:rPr>
                        </m:ctrlPr>
                      </m:fPr>
                      <m:num>
                        <m:r>
                          <a:rPr lang="es-ES_tradnl" sz="1400" i="1" noProof="0" smtClean="0">
                            <a:solidFill>
                              <a:srgbClr val="3C3C3B"/>
                            </a:solidFill>
                            <a:latin typeface="Cambria Math" panose="02040503050406030204" pitchFamily="18" charset="0"/>
                            <a:ea typeface="Roboto" pitchFamily="34" charset="-122"/>
                          </a:rPr>
                          <m:t>2</m:t>
                        </m:r>
                        <m:r>
                          <a:rPr lang="es-ES_tradnl" sz="1400" i="1" noProof="0" smtClean="0">
                            <a:solidFill>
                              <a:srgbClr val="3C3C3B"/>
                            </a:solidFill>
                            <a:latin typeface="Cambria Math" panose="02040503050406030204" pitchFamily="18" charset="0"/>
                            <a:ea typeface="Cambria Math" panose="02040503050406030204" pitchFamily="18" charset="0"/>
                          </a:rPr>
                          <m:t>𝜋</m:t>
                        </m:r>
                        <m:r>
                          <a:rPr lang="es-ES_tradnl" sz="1400" i="1" noProof="0" smtClean="0">
                            <a:solidFill>
                              <a:srgbClr val="3C3C3B"/>
                            </a:solidFill>
                            <a:latin typeface="Cambria Math" panose="02040503050406030204" pitchFamily="18" charset="0"/>
                            <a:ea typeface="Cambria Math" panose="02040503050406030204" pitchFamily="18" charset="0"/>
                          </a:rPr>
                          <m:t>𝑘</m:t>
                        </m:r>
                      </m:num>
                      <m:den>
                        <m:r>
                          <a:rPr lang="es-ES_tradnl" sz="1400" b="0" i="1" noProof="0" smtClean="0">
                            <a:solidFill>
                              <a:srgbClr val="3C3C3B"/>
                            </a:solidFill>
                            <a:latin typeface="Cambria Math" panose="02040503050406030204" pitchFamily="18" charset="0"/>
                            <a:ea typeface="Cambria Math" panose="02040503050406030204" pitchFamily="18" charset="0"/>
                          </a:rPr>
                          <m:t>4</m:t>
                        </m:r>
                      </m:den>
                    </m:f>
                  </m:oMath>
                </a14:m>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mc:Choice>
        <mc:Fallback>
          <p:sp>
            <p:nvSpPr>
              <p:cNvPr id="11" name="Text 8"/>
              <p:cNvSpPr>
                <a:spLocks noRot="1" noChangeAspect="1" noMove="1" noResize="1" noEditPoints="1" noAdjustHandles="1" noChangeArrowheads="1" noChangeShapeType="1" noTextEdit="1"/>
              </p:cNvSpPr>
              <p:nvPr/>
            </p:nvSpPr>
            <p:spPr>
              <a:xfrm>
                <a:off x="1219200" y="2209701"/>
                <a:ext cx="5650992" cy="274241"/>
              </a:xfrm>
              <a:prstGeom prst="rect">
                <a:avLst/>
              </a:prstGeom>
              <a:blipFill>
                <a:blip r:embed="rId4"/>
                <a:stretch>
                  <a:fillRect l="-2022" t="-13043" b="-17391"/>
                </a:stretch>
              </a:blipFill>
              <a:ln/>
            </p:spPr>
            <p:txBody>
              <a:bodyPr/>
              <a:lstStyle/>
              <a:p>
                <a:r>
                  <a:rPr lang="en-CO">
                    <a:noFill/>
                  </a:rPr>
                  <a:t> </a:t>
                </a:r>
              </a:p>
            </p:txBody>
          </p:sp>
        </mc:Fallback>
      </mc:AlternateContent>
      <p:sp>
        <p:nvSpPr>
          <p:cNvPr id="12" name="Text 9"/>
          <p:cNvSpPr/>
          <p:nvPr/>
        </p:nvSpPr>
        <p:spPr>
          <a:xfrm>
            <a:off x="812800" y="26288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10"/>
          <p:cNvSpPr/>
          <p:nvPr/>
        </p:nvSpPr>
        <p:spPr>
          <a:xfrm>
            <a:off x="1219200" y="26288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con p = 0.5.</a:t>
            </a:r>
            <a:endParaRPr lang="es-ES_tradnl" sz="1400" noProof="0" dirty="0"/>
          </a:p>
        </p:txBody>
      </p:sp>
      <p:sp>
        <p:nvSpPr>
          <p:cNvPr id="14" name="Text 11"/>
          <p:cNvSpPr/>
          <p:nvPr/>
        </p:nvSpPr>
        <p:spPr>
          <a:xfrm>
            <a:off x="812800" y="30479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2"/>
          <p:cNvSpPr/>
          <p:nvPr/>
        </p:nvSpPr>
        <p:spPr>
          <a:xfrm>
            <a:off x="1219200" y="30479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Probabilidad de «+» por la regla de Born:</a:t>
            </a:r>
            <a:endParaRPr lang="es-ES_tradnl" sz="1400" noProof="0" dirty="0"/>
          </a:p>
        </p:txBody>
      </p:sp>
      <p:pic>
        <p:nvPicPr>
          <p:cNvPr id="16" name="Image 1" descr="Pᵢ(+) = ⟨+| ρᵢ″ |+⟩"/>
          <p:cNvPicPr>
            <a:picLocks noChangeAspect="1"/>
          </p:cNvPicPr>
          <p:nvPr/>
        </p:nvPicPr>
        <p:blipFill>
          <a:blip r:embed="rId5"/>
          <a:srcRect t="-50" b="-50"/>
          <a:stretch/>
        </p:blipFill>
        <p:spPr>
          <a:xfrm>
            <a:off x="1219200" y="3347541"/>
            <a:ext cx="2120900" cy="330200"/>
          </a:xfrm>
          <a:prstGeom prst="rect">
            <a:avLst/>
          </a:prstGeom>
        </p:spPr>
      </p:pic>
      <p:sp>
        <p:nvSpPr>
          <p:cNvPr id="17" name="Text 13"/>
          <p:cNvSpPr/>
          <p:nvPr/>
        </p:nvSpPr>
        <p:spPr>
          <a:xfrm>
            <a:off x="812800" y="38174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4</a:t>
            </a:r>
            <a:endParaRPr lang="es-ES_tradnl" sz="1200" noProof="0" dirty="0"/>
          </a:p>
        </p:txBody>
      </p:sp>
      <p:sp>
        <p:nvSpPr>
          <p:cNvPr id="18" name="Text 14"/>
          <p:cNvSpPr/>
          <p:nvPr/>
        </p:nvSpPr>
        <p:spPr>
          <a:xfrm>
            <a:off x="1219200" y="3817441"/>
            <a:ext cx="56509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Muestreo de 2000 × 1000 mediciones con </a:t>
            </a:r>
            <a:r>
              <a:rPr lang="es-ES_tradnl" sz="1400" noProof="0" dirty="0" err="1">
                <a:solidFill>
                  <a:srgbClr val="3C3C3B"/>
                </a:solidFill>
                <a:latin typeface="Roboto" pitchFamily="34" charset="0"/>
                <a:ea typeface="Roboto" pitchFamily="34" charset="-122"/>
                <a:cs typeface="Roboto" pitchFamily="34" charset="-120"/>
              </a:rPr>
              <a:t>numpy</a:t>
            </a:r>
            <a:r>
              <a:rPr lang="es-ES_tradnl" sz="1400" noProof="0" dirty="0">
                <a:solidFill>
                  <a:srgbClr val="3C3C3B"/>
                </a:solidFill>
                <a:latin typeface="Roboto" pitchFamily="34" charset="0"/>
                <a:ea typeface="Roboto" pitchFamily="34" charset="-122"/>
                <a:cs typeface="Roboto" pitchFamily="34" charset="-120"/>
              </a:rPr>
              <a:t> (semilla 8; la misma matriz de uniformes para B y C).</a:t>
            </a:r>
            <a:endParaRPr lang="es-ES_tradnl" sz="1400" noProof="0" dirty="0"/>
          </a:p>
        </p:txBody>
      </p:sp>
      <p:sp>
        <p:nvSpPr>
          <p:cNvPr id="19" name="Shape 15"/>
          <p:cNvSpPr/>
          <p:nvPr/>
        </p:nvSpPr>
        <p:spPr>
          <a:xfrm>
            <a:off x="7061200" y="1856680"/>
            <a:ext cx="4318000" cy="1749822"/>
          </a:xfrm>
          <a:prstGeom prst="roundRect">
            <a:avLst>
              <a:gd name="adj" fmla="val 5806"/>
            </a:avLst>
          </a:prstGeom>
          <a:solidFill>
            <a:srgbClr val="F4F4F2"/>
          </a:solidFill>
          <a:ln/>
        </p:spPr>
        <p:txBody>
          <a:bodyPr/>
          <a:lstStyle/>
          <a:p>
            <a:endParaRPr lang="es-ES_tradnl" noProof="0" dirty="0"/>
          </a:p>
        </p:txBody>
      </p:sp>
      <p:sp>
        <p:nvSpPr>
          <p:cNvPr id="20" name="Text 16"/>
          <p:cNvSpPr/>
          <p:nvPr/>
        </p:nvSpPr>
        <p:spPr>
          <a:xfrm>
            <a:off x="7264400" y="2034480"/>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Comprobación previa</a:t>
            </a:r>
            <a:endParaRPr lang="es-ES_tradnl" sz="1400" noProof="0" dirty="0"/>
          </a:p>
        </p:txBody>
      </p:sp>
      <p:sp>
        <p:nvSpPr>
          <p:cNvPr id="21" name="Text 17"/>
          <p:cNvSpPr/>
          <p:nvPr/>
        </p:nvSpPr>
        <p:spPr>
          <a:xfrm>
            <a:off x="7264400" y="2336701"/>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Valores únicos de Pᵢ(+):</a:t>
            </a:r>
            <a:endParaRPr lang="es-ES_tradnl" sz="1200" noProof="0" dirty="0"/>
          </a:p>
        </p:txBody>
      </p:sp>
      <p:sp>
        <p:nvSpPr>
          <p:cNvPr id="22" name="Text 18"/>
          <p:cNvSpPr/>
          <p:nvPr/>
        </p:nvSpPr>
        <p:spPr>
          <a:xfrm>
            <a:off x="7264400" y="2707481"/>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sin ruido</a:t>
            </a:r>
            <a:endParaRPr lang="es-ES_tradnl" sz="1200" noProof="0" dirty="0"/>
          </a:p>
        </p:txBody>
      </p:sp>
      <p:sp>
        <p:nvSpPr>
          <p:cNvPr id="23" name="Text 19"/>
          <p:cNvSpPr/>
          <p:nvPr/>
        </p:nvSpPr>
        <p:spPr>
          <a:xfrm>
            <a:off x="8324850" y="2645271"/>
            <a:ext cx="919559" cy="337741"/>
          </a:xfrm>
          <a:prstGeom prst="roundRect">
            <a:avLst>
              <a:gd name="adj" fmla="val 13161"/>
            </a:avLst>
          </a:prstGeom>
          <a:solidFill>
            <a:srgbClr val="FFFFFF"/>
          </a:solidFill>
          <a:ln w="12700">
            <a:solidFill>
              <a:srgbClr val="3C3C3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 0.5, 1}</a:t>
            </a:r>
            <a:endParaRPr lang="es-ES_tradnl" sz="1400" noProof="0" dirty="0"/>
          </a:p>
        </p:txBody>
      </p:sp>
      <p:sp>
        <p:nvSpPr>
          <p:cNvPr id="24" name="Text 20"/>
          <p:cNvSpPr/>
          <p:nvPr/>
        </p:nvSpPr>
        <p:spPr>
          <a:xfrm>
            <a:off x="7264400" y="3146822"/>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con ruido</a:t>
            </a:r>
            <a:endParaRPr lang="es-ES_tradnl" sz="1200" noProof="0" dirty="0"/>
          </a:p>
        </p:txBody>
      </p:sp>
      <p:sp>
        <p:nvSpPr>
          <p:cNvPr id="25" name="Text 21"/>
          <p:cNvSpPr/>
          <p:nvPr/>
        </p:nvSpPr>
        <p:spPr>
          <a:xfrm>
            <a:off x="8324850" y="3084612"/>
            <a:ext cx="1588095" cy="337741"/>
          </a:xfrm>
          <a:prstGeom prst="roundRect">
            <a:avLst>
              <a:gd name="adj" fmla="val 13161"/>
            </a:avLst>
          </a:prstGeom>
          <a:solidFill>
            <a:srgbClr val="FFEE00"/>
          </a:solidFill>
          <a:ln w="12700">
            <a:solidFill>
              <a:srgbClr val="1D1D1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{0.25, 0.5, 0.75}</a:t>
            </a:r>
            <a:endParaRPr lang="es-ES_tradnl" sz="1400" noProof="0" dirty="0"/>
          </a:p>
        </p:txBody>
      </p:sp>
      <p:sp>
        <p:nvSpPr>
          <p:cNvPr id="26" name="Shape 22"/>
          <p:cNvSpPr/>
          <p:nvPr/>
        </p:nvSpPr>
        <p:spPr>
          <a:xfrm>
            <a:off x="7061200" y="3758902"/>
            <a:ext cx="4318000" cy="1059061"/>
          </a:xfrm>
          <a:prstGeom prst="roundRect">
            <a:avLst>
              <a:gd name="adj" fmla="val 9593"/>
            </a:avLst>
          </a:prstGeom>
          <a:solidFill>
            <a:srgbClr val="F4F4F2"/>
          </a:solidFill>
          <a:ln/>
        </p:spPr>
        <p:txBody>
          <a:bodyPr/>
          <a:lstStyle/>
          <a:p>
            <a:endParaRPr lang="es-ES_tradnl" noProof="0" dirty="0"/>
          </a:p>
        </p:txBody>
      </p:sp>
      <p:sp>
        <p:nvSpPr>
          <p:cNvPr id="27" name="Text 23"/>
          <p:cNvSpPr/>
          <p:nvPr/>
        </p:nvSpPr>
        <p:spPr>
          <a:xfrm>
            <a:off x="7264400" y="3936702"/>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¿Por qué 2000 repeticiones?</a:t>
            </a:r>
            <a:endParaRPr lang="es-ES_tradnl" sz="1400" noProof="0" dirty="0"/>
          </a:p>
        </p:txBody>
      </p:sp>
      <p:sp>
        <p:nvSpPr>
          <p:cNvPr id="28" name="Text 24"/>
          <p:cNvSpPr/>
          <p:nvPr/>
        </p:nvSpPr>
        <p:spPr>
          <a:xfrm>
            <a:off x="7264400" y="4213523"/>
            <a:ext cx="402894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El error relativo de una </a:t>
            </a: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estimada con R repeticiones es ≈ 1/√(2R): </a:t>
            </a:r>
            <a:r>
              <a:rPr lang="es-ES_tradnl" sz="1200" b="1" noProof="0" dirty="0">
                <a:solidFill>
                  <a:srgbClr val="3C3C3B"/>
                </a:solidFill>
                <a:latin typeface="Roboto" pitchFamily="34" charset="0"/>
                <a:ea typeface="Roboto" pitchFamily="34" charset="-122"/>
                <a:cs typeface="Roboto" pitchFamily="34" charset="-120"/>
              </a:rPr>
              <a:t>1.6 % con R = 2000</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9" name="Text 25"/>
          <p:cNvSpPr/>
          <p:nvPr/>
        </p:nvSpPr>
        <p:spPr>
          <a:xfrm>
            <a:off x="812800" y="5071963"/>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Archivo: </a:t>
            </a:r>
            <a:r>
              <a:rPr lang="es-ES_tradnl" sz="1200" noProof="0" dirty="0" err="1">
                <a:solidFill>
                  <a:srgbClr val="6E6E6C"/>
                </a:solidFill>
                <a:latin typeface="Roboto" pitchFamily="34" charset="0"/>
                <a:ea typeface="Roboto" pitchFamily="34" charset="-122"/>
                <a:cs typeface="Roboto" pitchFamily="34" charset="-120"/>
              </a:rPr>
              <a:t>Experiment</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tests</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DequantCollateral.py</a:t>
            </a:r>
            <a:endParaRPr lang="es-ES_tradnl" sz="1200" noProof="0" dirty="0"/>
          </a:p>
        </p:txBody>
      </p:sp>
      <p:sp>
        <p:nvSpPr>
          <p:cNvPr id="31" name="Text 2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36</a:t>
            </a:r>
            <a:endParaRPr lang="es-ES_tradnl" sz="1200"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Teoría contra simulación</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simulación reproduce los valores teóricos de centro y dispersión.</a:t>
            </a:r>
            <a:endParaRPr lang="es-ES_tradnl" sz="1800" noProof="0" dirty="0"/>
          </a:p>
        </p:txBody>
      </p:sp>
      <p:graphicFrame>
        <p:nvGraphicFramePr>
          <p:cNvPr id="9" name="Table 0"/>
          <p:cNvGraphicFramePr>
            <a:graphicFrameLocks noGrp="1"/>
          </p:cNvGraphicFramePr>
          <p:nvPr>
            <p:extLst>
              <p:ext uri="{D42A27DB-BD31-4B8C-83A1-F6EECF244321}">
                <p14:modId xmlns:p14="http://schemas.microsoft.com/office/powerpoint/2010/main" val="2222876787"/>
              </p:ext>
            </p:extLst>
          </p:nvPr>
        </p:nvGraphicFramePr>
        <p:xfrm>
          <a:off x="825500" y="1818580"/>
          <a:ext cx="6210300" cy="2514897"/>
        </p:xfrm>
        <a:graphic>
          <a:graphicData uri="http://schemas.openxmlformats.org/drawingml/2006/table">
            <a:tbl>
              <a:tblPr/>
              <a:tblGrid>
                <a:gridCol w="2732532">
                  <a:extLst>
                    <a:ext uri="{9D8B030D-6E8A-4147-A177-3AD203B41FA5}">
                      <a16:colId xmlns:a16="http://schemas.microsoft.com/office/drawing/2014/main" val="20000"/>
                    </a:ext>
                  </a:extLst>
                </a:gridCol>
                <a:gridCol w="1366266">
                  <a:extLst>
                    <a:ext uri="{9D8B030D-6E8A-4147-A177-3AD203B41FA5}">
                      <a16:colId xmlns:a16="http://schemas.microsoft.com/office/drawing/2014/main" val="20001"/>
                    </a:ext>
                  </a:extLst>
                </a:gridCol>
                <a:gridCol w="2111502">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Teoría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Simulación (2000 </a:t>
                      </a:r>
                      <a:r>
                        <a:rPr lang="es-ES_tradnl" sz="1300" b="1" noProof="0" dirty="0" err="1">
                          <a:solidFill>
                            <a:srgbClr val="FFFFFF"/>
                          </a:solidFill>
                          <a:latin typeface="Roboto" pitchFamily="34" charset="0"/>
                          <a:ea typeface="Roboto" pitchFamily="34" charset="-122"/>
                          <a:cs typeface="Roboto" pitchFamily="34" charset="-120"/>
                        </a:rPr>
                        <a:t>rep.</a:t>
                      </a:r>
                      <a:r>
                        <a:rPr lang="es-ES_tradnl" sz="1300" b="1" noProof="0" dirty="0">
                          <a:solidFill>
                            <a:srgbClr val="FFFFFF"/>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0.4751</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0.0103</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0.0293</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0.0285</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6"/>
                  </a:ext>
                </a:extLst>
              </a:tr>
            </a:tbl>
          </a:graphicData>
        </a:graphic>
      </p:graphicFrame>
      <p:sp>
        <p:nvSpPr>
          <p:cNvPr id="10" name="Text 6"/>
          <p:cNvSpPr/>
          <p:nvPr/>
        </p:nvSpPr>
        <p:spPr>
          <a:xfrm>
            <a:off x="7391400" y="1805880"/>
            <a:ext cx="410743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DE DÓNDE SALE LA STD TEÓRICA</a:t>
            </a:r>
            <a:endParaRPr lang="es-ES_tradnl" sz="1200" noProof="0" dirty="0"/>
          </a:p>
        </p:txBody>
      </p:sp>
      <p:pic>
        <p:nvPicPr>
          <p:cNvPr id="11" name="Image 1" descr="Var(F) = (1/n²)·Σₖ nₖ·Pₖ·(1 − Pₖ)"/>
          <p:cNvPicPr>
            <a:picLocks noChangeAspect="1"/>
          </p:cNvPicPr>
          <p:nvPr/>
        </p:nvPicPr>
        <p:blipFill>
          <a:blip r:embed="rId4"/>
          <a:srcRect t="-175" b="-175"/>
          <a:stretch/>
        </p:blipFill>
        <p:spPr>
          <a:xfrm>
            <a:off x="7391400" y="2120801"/>
            <a:ext cx="3543300" cy="730250"/>
          </a:xfrm>
          <a:prstGeom prst="rect">
            <a:avLst/>
          </a:prstGeom>
        </p:spPr>
      </p:pic>
      <p:sp>
        <p:nvSpPr>
          <p:cNvPr id="12" name="Text 7"/>
          <p:cNvSpPr/>
          <p:nvPr/>
        </p:nvSpPr>
        <p:spPr>
          <a:xfrm>
            <a:off x="7391400" y="2952651"/>
            <a:ext cx="4107434"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Sin ruido,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a:solidFill>
                  <a:srgbClr val="293470"/>
                </a:solidFill>
                <a:latin typeface="Roboto" pitchFamily="34" charset="0"/>
                <a:ea typeface="Roboto" pitchFamily="34" charset="-122"/>
                <a:cs typeface="Roboto" pitchFamily="34" charset="-120"/>
              </a:rPr>
              <a:t>real estate</a:t>
            </a:r>
            <a:r>
              <a:rPr lang="es-ES_tradnl" sz="1200" noProof="0" dirty="0">
                <a:solidFill>
                  <a:srgbClr val="3C3C3B"/>
                </a:solidFill>
                <a:latin typeface="Roboto" pitchFamily="34" charset="0"/>
                <a:ea typeface="Roboto" pitchFamily="34" charset="-122"/>
                <a:cs typeface="Roboto" pitchFamily="34" charset="-120"/>
              </a:rPr>
              <a:t> son deterministas y no aportan: solo cuentan </a:t>
            </a:r>
            <a:r>
              <a:rPr lang="es-ES_tradnl" sz="1200" noProof="0" dirty="0" err="1">
                <a:solidFill>
                  <a:srgbClr val="293470"/>
                </a:solidFill>
                <a:latin typeface="Roboto" pitchFamily="34" charset="0"/>
                <a:ea typeface="Roboto" pitchFamily="34" charset="-122"/>
                <a:cs typeface="Roboto" pitchFamily="34" charset="-120"/>
              </a:rPr>
              <a:t>none</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err="1">
                <a:solidFill>
                  <a:srgbClr val="293470"/>
                </a:solidFill>
                <a:latin typeface="Roboto" pitchFamily="34" charset="0"/>
                <a:ea typeface="Roboto" pitchFamily="34" charset="-122"/>
                <a:cs typeface="Roboto" pitchFamily="34" charset="-120"/>
              </a:rPr>
              <a:t>savings</a:t>
            </a:r>
            <a:r>
              <a:rPr lang="es-ES_tradnl" sz="1200" noProof="0" dirty="0">
                <a:solidFill>
                  <a:srgbClr val="3C3C3B"/>
                </a:solidFill>
                <a:latin typeface="Roboto" pitchFamily="34" charset="0"/>
                <a:ea typeface="Roboto" pitchFamily="34" charset="-122"/>
                <a:cs typeface="Roboto" pitchFamily="34" charset="-120"/>
              </a:rPr>
              <a:t> (P = ½).</a:t>
            </a:r>
            <a:endParaRPr lang="es-ES_tradnl" sz="1200" noProof="0" dirty="0"/>
          </a:p>
        </p:txBody>
      </p:sp>
      <p:sp>
        <p:nvSpPr>
          <p:cNvPr id="13" name="Shape 8"/>
          <p:cNvSpPr/>
          <p:nvPr/>
        </p:nvSpPr>
        <p:spPr>
          <a:xfrm>
            <a:off x="7410450" y="3480891"/>
            <a:ext cx="0" cy="426641"/>
          </a:xfrm>
          <a:prstGeom prst="line">
            <a:avLst/>
          </a:prstGeom>
          <a:noFill/>
          <a:ln w="38100">
            <a:solidFill>
              <a:srgbClr val="FFEE00"/>
            </a:solidFill>
            <a:prstDash val="solid"/>
          </a:ln>
        </p:spPr>
        <p:txBody>
          <a:bodyPr/>
          <a:lstStyle/>
          <a:p>
            <a:endParaRPr lang="es-ES_tradnl" noProof="0" dirty="0"/>
          </a:p>
        </p:txBody>
      </p:sp>
      <p:sp>
        <p:nvSpPr>
          <p:cNvPr id="14" name="Text 9"/>
          <p:cNvSpPr/>
          <p:nvPr/>
        </p:nvSpPr>
        <p:spPr>
          <a:xfrm>
            <a:off x="7531100" y="3480891"/>
            <a:ext cx="3963543"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Diferencias de 1.6 % a 2.7 %: fluctuación normal, del orden de 1/√(2R).</a:t>
            </a:r>
            <a:endParaRPr lang="es-ES_tradnl" sz="1200" noProof="0" dirty="0"/>
          </a:p>
        </p:txBody>
      </p:sp>
      <p:sp>
        <p:nvSpPr>
          <p:cNvPr id="15" name="Shape 10"/>
          <p:cNvSpPr/>
          <p:nvPr/>
        </p:nvSpPr>
        <p:spPr>
          <a:xfrm>
            <a:off x="812800" y="4536678"/>
            <a:ext cx="10566400" cy="825500"/>
          </a:xfrm>
          <a:prstGeom prst="roundRect">
            <a:avLst>
              <a:gd name="adj" fmla="val 12308"/>
            </a:avLst>
          </a:prstGeom>
          <a:solidFill>
            <a:srgbClr val="F4F4F2"/>
          </a:solidFill>
          <a:ln/>
        </p:spPr>
        <p:txBody>
          <a:bodyPr/>
          <a:lstStyle/>
          <a:p>
            <a:endParaRPr lang="es-ES_tradnl" noProof="0" dirty="0"/>
          </a:p>
        </p:txBody>
      </p:sp>
      <p:sp>
        <p:nvSpPr>
          <p:cNvPr id="16" name="Text 11"/>
          <p:cNvSpPr/>
          <p:nvPr/>
        </p:nvSpPr>
        <p:spPr>
          <a:xfrm>
            <a:off x="1066800" y="4842768"/>
            <a:ext cx="818356"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Ejemplo, B:</a:t>
            </a:r>
            <a:endParaRPr lang="es-ES_tradnl" sz="1200" noProof="0" dirty="0"/>
          </a:p>
        </p:txBody>
      </p:sp>
      <p:pic>
        <p:nvPicPr>
          <p:cNvPr id="17" name="Image 2" descr="Var(F_B) = (282 + 154)·¼ / 1000² = 1.09·10⁻⁴ ⇒ std = 0.0104"/>
          <p:cNvPicPr>
            <a:picLocks noChangeAspect="1"/>
          </p:cNvPicPr>
          <p:nvPr/>
        </p:nvPicPr>
        <p:blipFill>
          <a:blip r:embed="rId5"/>
          <a:srcRect l="-168" r="-168"/>
          <a:stretch/>
        </p:blipFill>
        <p:spPr>
          <a:xfrm>
            <a:off x="2088356" y="4663678"/>
            <a:ext cx="6115050" cy="571500"/>
          </a:xfrm>
          <a:prstGeom prst="rect">
            <a:avLst/>
          </a:prstGeom>
        </p:spPr>
      </p:pic>
      <p:sp>
        <p:nvSpPr>
          <p:cNvPr id="19"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37</a:t>
            </a:r>
            <a:endParaRPr lang="es-ES_tradnl" sz="120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histograma: mismo centro, más ancho</a:t>
            </a:r>
            <a:endParaRPr lang="es-ES_tradnl" sz="2800" noProof="0" dirty="0"/>
          </a:p>
        </p:txBody>
      </p:sp>
      <p:sp>
        <p:nvSpPr>
          <p:cNvPr id="9" name="Text 6"/>
          <p:cNvSpPr/>
          <p:nvPr/>
        </p:nvSpPr>
        <p:spPr>
          <a:xfrm>
            <a:off x="812800" y="5191720"/>
            <a:ext cx="680212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B y F̂ con los mismos bordes de </a:t>
            </a:r>
            <a:r>
              <a:rPr lang="es-ES_tradnl" sz="1200" noProof="0" dirty="0" err="1">
                <a:solidFill>
                  <a:srgbClr val="6E6E6C"/>
                </a:solidFill>
                <a:latin typeface="Roboto" pitchFamily="34" charset="0"/>
                <a:ea typeface="Roboto" pitchFamily="34" charset="-122"/>
                <a:cs typeface="Roboto" pitchFamily="34" charset="-120"/>
              </a:rPr>
              <a:t>bins</a:t>
            </a:r>
            <a:r>
              <a:rPr lang="es-ES_tradnl" sz="1200" noProof="0" dirty="0">
                <a:solidFill>
                  <a:srgbClr val="6E6E6C"/>
                </a:solidFill>
                <a:latin typeface="Roboto" pitchFamily="34" charset="0"/>
                <a:ea typeface="Roboto" pitchFamily="34" charset="-122"/>
                <a:cs typeface="Roboto" pitchFamily="34" charset="-120"/>
              </a:rPr>
              <a:t> (ancho 0.004); línea en 0.45, el valor esperado sin ruido;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 1.10, p = 0.5.</a:t>
            </a:r>
            <a:endParaRPr lang="es-ES_tradnl" sz="1200" noProof="0" dirty="0"/>
          </a:p>
        </p:txBody>
      </p:sp>
      <p:sp>
        <p:nvSpPr>
          <p:cNvPr id="10" name="Text 7"/>
          <p:cNvSpPr/>
          <p:nvPr/>
        </p:nvSpPr>
        <p:spPr>
          <a:xfrm>
            <a:off x="7772400" y="1457920"/>
            <a:ext cx="3715004" cy="1168400"/>
          </a:xfrm>
          <a:prstGeom prst="rect">
            <a:avLst/>
          </a:prstGeom>
          <a:noFill/>
          <a:ln/>
        </p:spPr>
        <p:txBody>
          <a:bodyPr wrap="square" lIns="0" tIns="0" rIns="0" bIns="0" rtlCol="0" anchor="t">
            <a:normAutofit/>
          </a:bodyPr>
          <a:lstStyle/>
          <a:p>
            <a:pPr marL="0" indent="0" algn="l">
              <a:lnSpc>
                <a:spcPts val="2250"/>
              </a:lnSpc>
              <a:buNone/>
            </a:pPr>
            <a:r>
              <a:rPr lang="es-ES_tradnl" sz="1800" b="1" noProof="0" dirty="0">
                <a:solidFill>
                  <a:srgbClr val="1D1D1B"/>
                </a:solidFill>
                <a:latin typeface="DM Sans" pitchFamily="34" charset="0"/>
                <a:ea typeface="DM Sans" pitchFamily="34" charset="-122"/>
                <a:cs typeface="DM Sans" pitchFamily="34" charset="-120"/>
              </a:rPr>
              <a:t>Con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la privacidad no sesga la estadística de la población: la vuelve menos precisa.</a:t>
            </a:r>
            <a:endParaRPr lang="es-ES_tradnl" sz="1800" noProof="0" dirty="0"/>
          </a:p>
        </p:txBody>
      </p:sp>
      <p:sp>
        <p:nvSpPr>
          <p:cNvPr id="11" name="Text 8"/>
          <p:cNvSpPr/>
          <p:nvPr/>
        </p:nvSpPr>
        <p:spPr>
          <a:xfrm>
            <a:off x="77724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CENTRO</a:t>
            </a:r>
            <a:endParaRPr lang="es-ES_tradnl" sz="1200" noProof="0" dirty="0"/>
          </a:p>
        </p:txBody>
      </p:sp>
      <p:sp>
        <p:nvSpPr>
          <p:cNvPr id="12" name="Text 9"/>
          <p:cNvSpPr/>
          <p:nvPr/>
        </p:nvSpPr>
        <p:spPr>
          <a:xfrm>
            <a:off x="77724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0.45</a:t>
            </a:r>
            <a:endParaRPr lang="es-ES_tradnl" sz="2800" noProof="0" dirty="0"/>
          </a:p>
        </p:txBody>
      </p:sp>
      <p:sp>
        <p:nvSpPr>
          <p:cNvPr id="13" name="Text 10"/>
          <p:cNvSpPr/>
          <p:nvPr/>
        </p:nvSpPr>
        <p:spPr>
          <a:xfrm>
            <a:off x="7772400" y="3433961"/>
            <a:ext cx="1779016"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F̂ 0.4502 · B 0.4500</a:t>
            </a:r>
            <a:endParaRPr lang="es-ES_tradnl" sz="1200" noProof="0" dirty="0"/>
          </a:p>
        </p:txBody>
      </p:sp>
      <p:sp>
        <p:nvSpPr>
          <p:cNvPr id="14" name="Text 11"/>
          <p:cNvSpPr/>
          <p:nvPr/>
        </p:nvSpPr>
        <p:spPr>
          <a:xfrm>
            <a:off x="96520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ANCHO</a:t>
            </a:r>
            <a:endParaRPr lang="es-ES_tradnl" sz="1200" noProof="0" dirty="0"/>
          </a:p>
        </p:txBody>
      </p:sp>
      <p:sp>
        <p:nvSpPr>
          <p:cNvPr id="15" name="Text 12"/>
          <p:cNvSpPr/>
          <p:nvPr/>
        </p:nvSpPr>
        <p:spPr>
          <a:xfrm>
            <a:off x="96520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×2.8</a:t>
            </a:r>
            <a:endParaRPr lang="es-ES_tradnl" sz="2800" noProof="0" dirty="0"/>
          </a:p>
        </p:txBody>
      </p:sp>
      <p:sp>
        <p:nvSpPr>
          <p:cNvPr id="16" name="Text 13"/>
          <p:cNvSpPr/>
          <p:nvPr/>
        </p:nvSpPr>
        <p:spPr>
          <a:xfrm>
            <a:off x="9652000" y="3433961"/>
            <a:ext cx="2072640"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0.0285 contra 0.0103</a:t>
            </a:r>
            <a:endParaRPr lang="es-ES_tradnl" sz="1200" noProof="0" dirty="0"/>
          </a:p>
        </p:txBody>
      </p:sp>
      <p:sp>
        <p:nvSpPr>
          <p:cNvPr id="17" name="Shape 14"/>
          <p:cNvSpPr/>
          <p:nvPr/>
        </p:nvSpPr>
        <p:spPr>
          <a:xfrm>
            <a:off x="7791450" y="3817441"/>
            <a:ext cx="0" cy="639961"/>
          </a:xfrm>
          <a:prstGeom prst="line">
            <a:avLst/>
          </a:prstGeom>
          <a:noFill/>
          <a:ln w="38100">
            <a:solidFill>
              <a:srgbClr val="FFEE00"/>
            </a:solidFill>
            <a:prstDash val="solid"/>
          </a:ln>
        </p:spPr>
        <p:txBody>
          <a:bodyPr/>
          <a:lstStyle/>
          <a:p>
            <a:endParaRPr lang="es-ES_tradnl" noProof="0" dirty="0"/>
          </a:p>
        </p:txBody>
      </p:sp>
      <p:sp>
        <p:nvSpPr>
          <p:cNvPr id="18" name="Text 15"/>
          <p:cNvSpPr/>
          <p:nvPr/>
        </p:nvSpPr>
        <p:spPr>
          <a:xfrm>
            <a:off x="7912100" y="3817441"/>
            <a:ext cx="3571113"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Cada valor del histograma es la estadística de la población en una repetición, no una persona. El efecto sobre un individuo es el del Acto II.</a:t>
            </a:r>
            <a:endParaRPr lang="es-ES_tradnl" sz="1200" noProof="0" dirty="0"/>
          </a:p>
        </p:txBody>
      </p:sp>
      <p:sp>
        <p:nvSpPr>
          <p:cNvPr id="20"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38</a:t>
            </a:r>
            <a:endParaRPr lang="es-ES_tradnl" sz="1200" noProof="0" dirty="0"/>
          </a:p>
        </p:txBody>
      </p:sp>
      <p:pic>
        <p:nvPicPr>
          <p:cNvPr id="22" name="Picture 21" descr="A graph of a number of numbers&#10;&#10;AI-generated content may be incorrect.">
            <a:extLst>
              <a:ext uri="{FF2B5EF4-FFF2-40B4-BE49-F238E27FC236}">
                <a16:creationId xmlns:a16="http://schemas.microsoft.com/office/drawing/2014/main" id="{EFFF2B44-0ADE-0BB0-DD60-08037135F239}"/>
              </a:ext>
            </a:extLst>
          </p:cNvPr>
          <p:cNvPicPr>
            <a:picLocks noChangeAspect="1"/>
          </p:cNvPicPr>
          <p:nvPr/>
        </p:nvPicPr>
        <p:blipFill>
          <a:blip r:embed="rId4"/>
          <a:stretch>
            <a:fillRect/>
          </a:stretch>
        </p:blipFill>
        <p:spPr>
          <a:xfrm>
            <a:off x="1703020" y="1327390"/>
            <a:ext cx="5021679" cy="3766259"/>
          </a:xfrm>
          <a:prstGeom prst="rect">
            <a:avLst/>
          </a:prstGeom>
        </p:spPr>
      </p:pic>
    </p:spTree>
    <p:extLst>
      <p:ext uri="{BB962C8B-B14F-4D97-AF65-F5344CB8AC3E}">
        <p14:creationId xmlns:p14="http://schemas.microsoft.com/office/powerpoint/2010/main" val="34514789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Hardware y cierre</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12 · GAD en hardware real</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13 · Conclusiones y pasos a seguir</a:t>
            </a:r>
            <a:endParaRPr lang="es-ES_tradnl" sz="1800" noProof="0" dirty="0"/>
          </a:p>
        </p:txBody>
      </p:sp>
    </p:spTree>
    <p:extLst>
      <p:ext uri="{BB962C8B-B14F-4D97-AF65-F5344CB8AC3E}">
        <p14:creationId xmlns:p14="http://schemas.microsoft.com/office/powerpoint/2010/main" val="292338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En hardware, el ruido hay que construirlo</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hay compuertas unitarias y mediciones. Un canal no unitario se construye con una dilatación de </a:t>
            </a:r>
            <a:r>
              <a:rPr lang="es-ES_tradnl" sz="1800" noProof="0" dirty="0" err="1">
                <a:solidFill>
                  <a:srgbClr val="3C3C3B"/>
                </a:solidFill>
                <a:latin typeface="Roboto" pitchFamily="34" charset="0"/>
                <a:ea typeface="Roboto" pitchFamily="34" charset="-122"/>
                <a:cs typeface="Roboto" pitchFamily="34" charset="-120"/>
              </a:rPr>
              <a:t>Stinespring</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2717800" y="2712641"/>
            <a:ext cx="2159000" cy="25400"/>
          </a:xfrm>
          <a:prstGeom prst="rect">
            <a:avLst/>
          </a:prstGeom>
          <a:solidFill>
            <a:srgbClr val="1D1D1B"/>
          </a:solidFill>
          <a:ln/>
        </p:spPr>
        <p:txBody>
          <a:bodyPr/>
          <a:lstStyle/>
          <a:p>
            <a:endParaRPr lang="es-ES_tradnl" noProof="0" dirty="0"/>
          </a:p>
        </p:txBody>
      </p:sp>
      <p:sp>
        <p:nvSpPr>
          <p:cNvPr id="10" name="Shape 7"/>
          <p:cNvSpPr/>
          <p:nvPr/>
        </p:nvSpPr>
        <p:spPr>
          <a:xfrm>
            <a:off x="6527800" y="2712641"/>
            <a:ext cx="2032000" cy="25400"/>
          </a:xfrm>
          <a:prstGeom prst="rect">
            <a:avLst/>
          </a:prstGeom>
          <a:solidFill>
            <a:srgbClr val="1D1D1B"/>
          </a:solidFill>
          <a:ln/>
        </p:spPr>
        <p:txBody>
          <a:bodyPr/>
          <a:lstStyle/>
          <a:p>
            <a:endParaRPr lang="es-ES_tradnl" noProof="0" dirty="0"/>
          </a:p>
        </p:txBody>
      </p:sp>
      <p:sp>
        <p:nvSpPr>
          <p:cNvPr id="11" name="Shape 8"/>
          <p:cNvSpPr/>
          <p:nvPr/>
        </p:nvSpPr>
        <p:spPr>
          <a:xfrm>
            <a:off x="2717800" y="3855641"/>
            <a:ext cx="2159000" cy="25400"/>
          </a:xfrm>
          <a:prstGeom prst="rect">
            <a:avLst/>
          </a:prstGeom>
          <a:solidFill>
            <a:srgbClr val="1D1D1B"/>
          </a:solidFill>
          <a:ln/>
        </p:spPr>
        <p:txBody>
          <a:bodyPr/>
          <a:lstStyle/>
          <a:p>
            <a:endParaRPr lang="es-ES_tradnl" noProof="0" dirty="0"/>
          </a:p>
        </p:txBody>
      </p:sp>
      <p:sp>
        <p:nvSpPr>
          <p:cNvPr id="12" name="Shape 9"/>
          <p:cNvSpPr/>
          <p:nvPr/>
        </p:nvSpPr>
        <p:spPr>
          <a:xfrm>
            <a:off x="6527800" y="3855641"/>
            <a:ext cx="1016000" cy="25400"/>
          </a:xfrm>
          <a:prstGeom prst="rect">
            <a:avLst/>
          </a:prstGeom>
          <a:solidFill>
            <a:srgbClr val="1D1D1B"/>
          </a:solidFill>
          <a:ln/>
        </p:spPr>
        <p:txBody>
          <a:bodyPr/>
          <a:lstStyle/>
          <a:p>
            <a:endParaRPr lang="es-ES_tradnl" noProof="0" dirty="0"/>
          </a:p>
        </p:txBody>
      </p:sp>
      <p:sp>
        <p:nvSpPr>
          <p:cNvPr id="13" name="Shape 10"/>
          <p:cNvSpPr/>
          <p:nvPr/>
        </p:nvSpPr>
        <p:spPr>
          <a:xfrm>
            <a:off x="4876800" y="2344341"/>
            <a:ext cx="1651000" cy="1905000"/>
          </a:xfrm>
          <a:prstGeom prst="roundRect">
            <a:avLst>
              <a:gd name="adj" fmla="val 4615"/>
            </a:avLst>
          </a:prstGeom>
          <a:solidFill>
            <a:srgbClr val="293470"/>
          </a:solidFill>
          <a:ln/>
        </p:spPr>
        <p:txBody>
          <a:bodyPr/>
          <a:lstStyle/>
          <a:p>
            <a:endParaRPr lang="es-ES_tradnl" noProof="0" dirty="0"/>
          </a:p>
        </p:txBody>
      </p:sp>
      <p:sp>
        <p:nvSpPr>
          <p:cNvPr id="14" name="Text 11"/>
          <p:cNvSpPr/>
          <p:nvPr/>
        </p:nvSpPr>
        <p:spPr>
          <a:xfrm>
            <a:off x="5451921" y="2880320"/>
            <a:ext cx="500658" cy="635000"/>
          </a:xfrm>
          <a:prstGeom prst="rect">
            <a:avLst/>
          </a:prstGeom>
          <a:noFill/>
          <a:ln/>
        </p:spPr>
        <p:txBody>
          <a:bodyPr wrap="square" lIns="0" tIns="0" rIns="0" bIns="0" rtlCol="0" anchor="t">
            <a:normAutofit/>
          </a:bodyPr>
          <a:lstStyle/>
          <a:p>
            <a:pPr marL="0" indent="0" algn="ctr">
              <a:lnSpc>
                <a:spcPts val="4800"/>
              </a:lnSpc>
              <a:buNone/>
            </a:pPr>
            <a:r>
              <a:rPr lang="es-ES_tradnl" sz="4800" b="1" noProof="0" dirty="0">
                <a:solidFill>
                  <a:srgbClr val="FFFFFF"/>
                </a:solidFill>
                <a:latin typeface="DM Sans" pitchFamily="34" charset="0"/>
                <a:ea typeface="DM Sans" pitchFamily="34" charset="-122"/>
                <a:cs typeface="DM Sans" pitchFamily="34" charset="-120"/>
              </a:rPr>
              <a:t>U</a:t>
            </a:r>
            <a:endParaRPr lang="es-ES_tradnl" sz="4800" noProof="0" dirty="0"/>
          </a:p>
        </p:txBody>
      </p:sp>
      <p:sp>
        <p:nvSpPr>
          <p:cNvPr id="15" name="Text 12"/>
          <p:cNvSpPr/>
          <p:nvPr/>
        </p:nvSpPr>
        <p:spPr>
          <a:xfrm>
            <a:off x="5016976" y="3515320"/>
            <a:ext cx="1370648" cy="223441"/>
          </a:xfrm>
          <a:prstGeom prst="rect">
            <a:avLst/>
          </a:prstGeom>
          <a:noFill/>
          <a:ln/>
        </p:spPr>
        <p:txBody>
          <a:bodyPr wrap="square" lIns="0" tIns="0" rIns="0" bIns="0" rtlCol="0" anchor="t">
            <a:normAutofit/>
          </a:bodyPr>
          <a:lstStyle/>
          <a:p>
            <a:pPr marL="0" indent="0" algn="ctr">
              <a:lnSpc>
                <a:spcPts val="1560"/>
              </a:lnSpc>
              <a:buNone/>
            </a:pPr>
            <a:r>
              <a:rPr lang="es-ES_tradnl" sz="1200" noProof="0" dirty="0">
                <a:solidFill>
                  <a:srgbClr val="FFFFFF"/>
                </a:solidFill>
                <a:latin typeface="Roboto" pitchFamily="34" charset="0"/>
                <a:ea typeface="Roboto" pitchFamily="34" charset="-122"/>
                <a:cs typeface="Roboto" pitchFamily="34" charset="-120"/>
              </a:rPr>
              <a:t>unitario conjunto</a:t>
            </a:r>
            <a:endParaRPr lang="es-ES_tradnl" sz="1200" noProof="0" dirty="0"/>
          </a:p>
        </p:txBody>
      </p:sp>
      <p:sp>
        <p:nvSpPr>
          <p:cNvPr id="16" name="Text 13"/>
          <p:cNvSpPr/>
          <p:nvPr/>
        </p:nvSpPr>
        <p:spPr>
          <a:xfrm>
            <a:off x="7550150" y="3582591"/>
            <a:ext cx="1892300" cy="571500"/>
          </a:xfrm>
          <a:prstGeom prst="roundRect">
            <a:avLst>
              <a:gd name="adj" fmla="val 7778"/>
            </a:avLst>
          </a:prstGeom>
          <a:solidFill>
            <a:srgbClr val="F4F4F2"/>
          </a:solidFill>
          <a:ln w="12700">
            <a:solidFill>
              <a:srgbClr val="6E6E6C"/>
            </a:solidFill>
            <a:prstDash val="dash"/>
          </a:ln>
        </p:spPr>
        <p:txBody>
          <a:bodyPr wrap="square" lIns="94931" tIns="69531" rIns="44131" bIns="69531" rtlCol="0" anchor="ctr">
            <a:normAutofit/>
          </a:bodyPr>
          <a:lstStyle/>
          <a:p>
            <a:pPr marL="0" indent="0" algn="l">
              <a:lnSpc>
                <a:spcPts val="1500"/>
              </a:lnSpc>
              <a:buNone/>
            </a:pPr>
            <a:r>
              <a:rPr lang="es-ES_tradnl" sz="1200" noProof="0" dirty="0">
                <a:solidFill>
                  <a:srgbClr val="1D1D1B"/>
                </a:solidFill>
                <a:latin typeface="Roboto" pitchFamily="34" charset="0"/>
                <a:ea typeface="Roboto" pitchFamily="34" charset="-122"/>
                <a:cs typeface="Roboto" pitchFamily="34" charset="-120"/>
              </a:rPr>
              <a:t>descartar sin medir (traza parcial)</a:t>
            </a:r>
            <a:endParaRPr lang="es-ES_tradnl" sz="1200" noProof="0" dirty="0"/>
          </a:p>
        </p:txBody>
      </p:sp>
      <p:sp>
        <p:nvSpPr>
          <p:cNvPr id="17" name="Text 14"/>
          <p:cNvSpPr/>
          <p:nvPr/>
        </p:nvSpPr>
        <p:spPr>
          <a:xfrm>
            <a:off x="759460" y="2598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Sistema Q: </a:t>
            </a:r>
            <a:r>
              <a:rPr lang="es-ES_tradnl" sz="1400" b="1" noProof="0" dirty="0" err="1">
                <a:solidFill>
                  <a:srgbClr val="1D1D1B"/>
                </a:solidFill>
                <a:latin typeface="Roboto" pitchFamily="34" charset="0"/>
                <a:ea typeface="Roboto" pitchFamily="34" charset="-122"/>
                <a:cs typeface="Roboto" pitchFamily="34" charset="-120"/>
              </a:rPr>
              <a:t>ρ</a:t>
            </a:r>
            <a:endParaRPr lang="es-ES_tradnl" sz="1400" noProof="0" dirty="0"/>
          </a:p>
        </p:txBody>
      </p:sp>
      <p:sp>
        <p:nvSpPr>
          <p:cNvPr id="18" name="Text 15"/>
          <p:cNvSpPr/>
          <p:nvPr/>
        </p:nvSpPr>
        <p:spPr>
          <a:xfrm>
            <a:off x="759460" y="3741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Entorno E: puro</a:t>
            </a:r>
            <a:endParaRPr lang="es-ES_tradnl" sz="1400" noProof="0" dirty="0"/>
          </a:p>
        </p:txBody>
      </p:sp>
      <p:sp>
        <p:nvSpPr>
          <p:cNvPr id="19" name="Text 16"/>
          <p:cNvSpPr/>
          <p:nvPr/>
        </p:nvSpPr>
        <p:spPr>
          <a:xfrm>
            <a:off x="8686800" y="2445941"/>
            <a:ext cx="2489200" cy="332680"/>
          </a:xfrm>
          <a:prstGeom prst="roundRect">
            <a:avLst>
              <a:gd name="adj" fmla="val 15270"/>
            </a:avLst>
          </a:prstGeom>
          <a:solidFill>
            <a:srgbClr val="FFEE00"/>
          </a:solidFill>
          <a:ln/>
        </p:spPr>
        <p:txBody>
          <a:bodyPr wrap="square" lIns="86721" tIns="35921" rIns="18141" bIns="10521" rtlCol="0" anchor="t">
            <a:normAutofit/>
          </a:bodyPr>
          <a:lstStyle/>
          <a:p>
            <a:pPr marL="0" indent="0" algn="l">
              <a:lnSpc>
                <a:spcPts val="1820"/>
              </a:lnSpc>
              <a:buNone/>
            </a:pPr>
            <a:r>
              <a:rPr lang="es-ES_tradnl" sz="1400" b="1" noProof="0" dirty="0" err="1">
                <a:solidFill>
                  <a:srgbClr val="1D1D1B"/>
                </a:solidFill>
                <a:latin typeface="Roboto" pitchFamily="34" charset="0"/>
                <a:ea typeface="Roboto" pitchFamily="34" charset="-122"/>
                <a:cs typeface="Roboto" pitchFamily="34" charset="-120"/>
              </a:rPr>
              <a:t>ρ</a:t>
            </a:r>
            <a:r>
              <a:rPr lang="es-ES_tradnl" sz="1400" b="1" noProof="0" dirty="0">
                <a:solidFill>
                  <a:srgbClr val="1D1D1B"/>
                </a:solidFill>
                <a:latin typeface="Roboto" pitchFamily="34" charset="0"/>
                <a:ea typeface="Roboto" pitchFamily="34" charset="-122"/>
                <a:cs typeface="Roboto" pitchFamily="34" charset="-120"/>
              </a:rPr>
              <a:t>″: estado mixto con ruido</a:t>
            </a:r>
            <a:endParaRPr lang="es-ES_tradnl" sz="1400" noProof="0" dirty="0"/>
          </a:p>
        </p:txBody>
      </p:sp>
      <p:sp>
        <p:nvSpPr>
          <p:cNvPr id="20" name="Text 17"/>
          <p:cNvSpPr/>
          <p:nvPr/>
        </p:nvSpPr>
        <p:spPr>
          <a:xfrm>
            <a:off x="812800"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21" name="Text 18"/>
          <p:cNvSpPr/>
          <p:nvPr/>
        </p:nvSpPr>
        <p:spPr>
          <a:xfrm>
            <a:off x="1219200" y="4693841"/>
            <a:ext cx="2628463"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Sistema + entorno en un estado puro.</a:t>
            </a:r>
            <a:endParaRPr lang="es-ES_tradnl" sz="1400" noProof="0" dirty="0"/>
          </a:p>
        </p:txBody>
      </p:sp>
      <p:sp>
        <p:nvSpPr>
          <p:cNvPr id="22" name="Text 19"/>
          <p:cNvSpPr/>
          <p:nvPr/>
        </p:nvSpPr>
        <p:spPr>
          <a:xfrm>
            <a:off x="4025106"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23" name="Text 20"/>
          <p:cNvSpPr/>
          <p:nvPr/>
        </p:nvSpPr>
        <p:spPr>
          <a:xfrm>
            <a:off x="4431506" y="4693841"/>
            <a:ext cx="262856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unitario conjunto sobre los dos.</a:t>
            </a:r>
            <a:endParaRPr lang="es-ES_tradnl" sz="1400" noProof="0" dirty="0"/>
          </a:p>
        </p:txBody>
      </p:sp>
      <p:sp>
        <p:nvSpPr>
          <p:cNvPr id="24" name="Text 21"/>
          <p:cNvSpPr/>
          <p:nvPr/>
        </p:nvSpPr>
        <p:spPr>
          <a:xfrm>
            <a:off x="7237512"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25" name="Text 22"/>
          <p:cNvSpPr/>
          <p:nvPr/>
        </p:nvSpPr>
        <p:spPr>
          <a:xfrm>
            <a:off x="7643912" y="4693841"/>
            <a:ext cx="384734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Se descarta el entorno sin medirlo (traza parcial): el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queda en el estado mixto con ruido.</a:t>
            </a:r>
            <a:endParaRPr lang="es-ES_tradnl" sz="1400" noProof="0" dirty="0"/>
          </a:p>
        </p:txBody>
      </p:sp>
      <p:sp>
        <p:nvSpPr>
          <p:cNvPr id="27" name="Text 2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40</a:t>
            </a:r>
            <a:endParaRPr lang="es-ES_tradnl" sz="120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 · TRABAJO EN CURSO</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 circuito probado y un computador de 2 </a:t>
            </a:r>
            <a:r>
              <a:rPr lang="es-ES_tradnl" sz="2800" b="1" i="0" kern="0" spc="-50" noProof="0" dirty="0" err="1">
                <a:solidFill>
                  <a:srgbClr val="1D1D1B"/>
                </a:solidFill>
                <a:latin typeface="DM Sans" pitchFamily="34" charset="0"/>
                <a:ea typeface="DM Sans" pitchFamily="34" charset="-122"/>
                <a:cs typeface="DM Sans" pitchFamily="34" charset="-120"/>
              </a:rPr>
              <a:t>qubits</a:t>
            </a:r>
            <a:endParaRPr lang="es-ES_tradnl" sz="2800" noProof="0" dirty="0"/>
          </a:p>
        </p:txBody>
      </p:sp>
      <p:sp>
        <p:nvSpPr>
          <p:cNvPr id="8" name="Shape 5"/>
          <p:cNvSpPr/>
          <p:nvPr/>
        </p:nvSpPr>
        <p:spPr>
          <a:xfrm>
            <a:off x="812800" y="1432520"/>
            <a:ext cx="5700911" cy="3574653"/>
          </a:xfrm>
          <a:prstGeom prst="roundRect">
            <a:avLst>
              <a:gd name="adj" fmla="val 2842"/>
            </a:avLst>
          </a:prstGeom>
          <a:solidFill>
            <a:srgbClr val="F4F4F2"/>
          </a:solidFill>
          <a:ln/>
        </p:spPr>
        <p:txBody>
          <a:bodyPr/>
          <a:lstStyle/>
          <a:p>
            <a:endParaRPr lang="es-ES_tradnl" noProof="0" dirty="0"/>
          </a:p>
        </p:txBody>
      </p:sp>
      <p:sp>
        <p:nvSpPr>
          <p:cNvPr id="9" name="Text 6"/>
          <p:cNvSpPr/>
          <p:nvPr/>
        </p:nvSpPr>
        <p:spPr>
          <a:xfrm>
            <a:off x="1066800" y="1635720"/>
            <a:ext cx="534869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Chapeau-Blondeau</a:t>
            </a:r>
            <a:r>
              <a:rPr lang="es-ES_tradnl" sz="1800" b="1" noProof="0" dirty="0">
                <a:solidFill>
                  <a:srgbClr val="1D1D1B"/>
                </a:solidFill>
                <a:latin typeface="DM Sans" pitchFamily="34" charset="0"/>
                <a:ea typeface="DM Sans" pitchFamily="34" charset="-122"/>
                <a:cs typeface="DM Sans" pitchFamily="34" charset="-120"/>
              </a:rPr>
              <a:t> (2022)</a:t>
            </a:r>
            <a:endParaRPr lang="es-ES_tradnl" sz="1800" noProof="0" dirty="0"/>
          </a:p>
        </p:txBody>
      </p:sp>
      <p:sp>
        <p:nvSpPr>
          <p:cNvPr id="10" name="Text 7"/>
          <p:cNvSpPr/>
          <p:nvPr/>
        </p:nvSpPr>
        <p:spPr>
          <a:xfrm>
            <a:off x="1066800" y="1998861"/>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i="1" noProof="0" dirty="0" err="1">
                <a:solidFill>
                  <a:srgbClr val="6E6E6C"/>
                </a:solidFill>
                <a:latin typeface="Roboto" pitchFamily="34" charset="0"/>
                <a:ea typeface="Roboto" pitchFamily="34" charset="-122"/>
                <a:cs typeface="Roboto" pitchFamily="34" charset="-120"/>
              </a:rPr>
              <a:t>Modeling</a:t>
            </a:r>
            <a:r>
              <a:rPr lang="es-ES_tradnl" sz="1200" i="1" noProof="0" dirty="0">
                <a:solidFill>
                  <a:srgbClr val="6E6E6C"/>
                </a:solidFill>
                <a:latin typeface="Roboto" pitchFamily="34" charset="0"/>
                <a:ea typeface="Roboto" pitchFamily="34" charset="-122"/>
                <a:cs typeface="Roboto" pitchFamily="34" charset="-120"/>
              </a:rPr>
              <a:t> and </a:t>
            </a:r>
            <a:r>
              <a:rPr lang="es-ES_tradnl" sz="1200" i="1" noProof="0" dirty="0" err="1">
                <a:solidFill>
                  <a:srgbClr val="6E6E6C"/>
                </a:solidFill>
                <a:latin typeface="Roboto" pitchFamily="34" charset="0"/>
                <a:ea typeface="Roboto" pitchFamily="34" charset="-122"/>
                <a:cs typeface="Roboto" pitchFamily="34" charset="-120"/>
              </a:rPr>
              <a:t>simulation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of</a:t>
            </a:r>
            <a:r>
              <a:rPr lang="es-ES_tradnl" sz="1200" i="1" noProof="0" dirty="0">
                <a:solidFill>
                  <a:srgbClr val="6E6E6C"/>
                </a:solidFill>
                <a:latin typeface="Roboto" pitchFamily="34" charset="0"/>
                <a:ea typeface="Roboto" pitchFamily="34" charset="-122"/>
                <a:cs typeface="Roboto" pitchFamily="34" charset="-120"/>
              </a:rPr>
              <a:t> a quantum </a:t>
            </a:r>
            <a:r>
              <a:rPr lang="es-ES_tradnl" sz="1200" i="1" noProof="0" dirty="0" err="1">
                <a:solidFill>
                  <a:srgbClr val="6E6E6C"/>
                </a:solidFill>
                <a:latin typeface="Roboto" pitchFamily="34" charset="0"/>
                <a:ea typeface="Roboto" pitchFamily="34" charset="-122"/>
                <a:cs typeface="Roboto" pitchFamily="34" charset="-120"/>
              </a:rPr>
              <a:t>thermal</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noise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the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qubit</a:t>
            </a:r>
            <a:r>
              <a:rPr lang="es-ES_tradnl" sz="1200" i="1" noProof="0" dirty="0">
                <a:solidFill>
                  <a:srgbClr val="6E6E6C"/>
                </a:solidFill>
                <a:latin typeface="Roboto" pitchFamily="34" charset="0"/>
                <a:ea typeface="Roboto" pitchFamily="34" charset="-122"/>
                <a:cs typeface="Roboto" pitchFamily="34" charset="-120"/>
              </a:rPr>
              <a:t>.</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Fluctuation</a:t>
            </a:r>
            <a:r>
              <a:rPr lang="es-ES_tradnl" sz="1200" noProof="0" dirty="0">
                <a:solidFill>
                  <a:srgbClr val="6E6E6C"/>
                </a:solidFill>
                <a:latin typeface="Roboto" pitchFamily="34" charset="0"/>
                <a:ea typeface="Roboto" pitchFamily="34" charset="-122"/>
                <a:cs typeface="Roboto" pitchFamily="34" charset="-120"/>
              </a:rPr>
              <a:t> and </a:t>
            </a:r>
            <a:r>
              <a:rPr lang="es-ES_tradnl" sz="1200" noProof="0" dirty="0" err="1">
                <a:solidFill>
                  <a:srgbClr val="6E6E6C"/>
                </a:solidFill>
                <a:latin typeface="Roboto" pitchFamily="34" charset="0"/>
                <a:ea typeface="Roboto" pitchFamily="34" charset="-122"/>
                <a:cs typeface="Roboto" pitchFamily="34" charset="-120"/>
              </a:rPr>
              <a:t>Noise</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Letters</a:t>
            </a:r>
            <a:r>
              <a:rPr lang="es-ES_tradnl" sz="1200" noProof="0" dirty="0">
                <a:solidFill>
                  <a:srgbClr val="6E6E6C"/>
                </a:solidFill>
                <a:latin typeface="Roboto" pitchFamily="34" charset="0"/>
                <a:ea typeface="Roboto" pitchFamily="34" charset="-122"/>
                <a:cs typeface="Roboto" pitchFamily="34" charset="-120"/>
              </a:rPr>
              <a:t> 21, 2250060 · arXiv:2212.03582</a:t>
            </a:r>
            <a:endParaRPr lang="es-ES_tradnl" sz="1200" noProof="0" dirty="0"/>
          </a:p>
        </p:txBody>
      </p:sp>
      <p:sp>
        <p:nvSpPr>
          <p:cNvPr id="11" name="Text 8"/>
          <p:cNvSpPr/>
          <p:nvPr/>
        </p:nvSpPr>
        <p:spPr>
          <a:xfrm>
            <a:off x="1066800" y="255250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3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Q, un entorno E y un auxiliar que deja a E en el estado térmico</a:t>
            </a:r>
            <a:endParaRPr lang="es-ES_tradnl" sz="1200" noProof="0" dirty="0"/>
          </a:p>
        </p:txBody>
      </p:sp>
      <p:pic>
        <p:nvPicPr>
          <p:cNvPr id="12" name="Image 1" descr="ρ_E = p|0⟩⟨0| + (1−p)|1⟩⟨1|"/>
          <p:cNvPicPr>
            <a:picLocks noChangeAspect="1"/>
          </p:cNvPicPr>
          <p:nvPr/>
        </p:nvPicPr>
        <p:blipFill>
          <a:blip r:embed="rId4"/>
          <a:srcRect t="-373" b="-373"/>
          <a:stretch/>
        </p:blipFill>
        <p:spPr>
          <a:xfrm>
            <a:off x="1066800" y="2803922"/>
            <a:ext cx="2857500" cy="285750"/>
          </a:xfrm>
          <a:prstGeom prst="rect">
            <a:avLst/>
          </a:prstGeom>
        </p:spPr>
      </p:pic>
      <p:sp>
        <p:nvSpPr>
          <p:cNvPr id="13" name="Text 9"/>
          <p:cNvSpPr/>
          <p:nvPr/>
        </p:nvSpPr>
        <p:spPr>
          <a:xfrm>
            <a:off x="1066800" y="3243362"/>
            <a:ext cx="776585" cy="238720"/>
          </a:xfrm>
          <a:prstGeom prst="rect">
            <a:avLst/>
          </a:prstGeom>
          <a:noFill/>
          <a:ln/>
        </p:spPr>
        <p:txBody>
          <a:bodyPr wrap="non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prepara</a:t>
            </a:r>
            <a:endParaRPr lang="es-ES_tradnl" sz="1200" noProof="0" dirty="0"/>
          </a:p>
        </p:txBody>
      </p:sp>
      <p:pic>
        <p:nvPicPr>
          <p:cNvPr id="14" name="Image 2" descr="|p⟩ = √p|0⟩ + √(1−p)|1⟩"/>
          <p:cNvPicPr>
            <a:picLocks noChangeAspect="1"/>
          </p:cNvPicPr>
          <p:nvPr/>
        </p:nvPicPr>
        <p:blipFill>
          <a:blip r:embed="rId5"/>
          <a:srcRect t="-311" b="-311"/>
          <a:stretch/>
        </p:blipFill>
        <p:spPr>
          <a:xfrm>
            <a:off x="1894185" y="3178572"/>
            <a:ext cx="2635250" cy="342900"/>
          </a:xfrm>
          <a:prstGeom prst="rect">
            <a:avLst/>
          </a:prstGeom>
        </p:spPr>
      </p:pic>
      <p:sp>
        <p:nvSpPr>
          <p:cNvPr id="15" name="Text 10"/>
          <p:cNvSpPr/>
          <p:nvPr/>
        </p:nvSpPr>
        <p:spPr>
          <a:xfrm>
            <a:off x="1066800" y="355957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Una CNOT los entrelaza y se descarta uno.</a:t>
            </a:r>
            <a:endParaRPr lang="es-ES_tradnl" sz="1200" noProof="0" dirty="0"/>
          </a:p>
        </p:txBody>
      </p:sp>
      <p:sp>
        <p:nvSpPr>
          <p:cNvPr id="16" name="Text 11"/>
          <p:cNvSpPr/>
          <p:nvPr/>
        </p:nvSpPr>
        <p:spPr>
          <a:xfrm>
            <a:off x="1066800" y="3861792"/>
            <a:ext cx="3912752"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5 CNOT y rotaciones RY: p se controla con ese estado y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con el ángulo</a:t>
            </a:r>
            <a:endParaRPr lang="es-ES_tradnl" sz="1200" noProof="0" dirty="0"/>
          </a:p>
        </p:txBody>
      </p:sp>
      <p:pic>
        <p:nvPicPr>
          <p:cNvPr id="17" name="Image 3" descr="ξ = −arcsin √γ"/>
          <p:cNvPicPr>
            <a:picLocks noChangeAspect="1"/>
          </p:cNvPicPr>
          <p:nvPr/>
        </p:nvPicPr>
        <p:blipFill>
          <a:blip r:embed="rId6"/>
          <a:srcRect t="-12676" b="-12676"/>
          <a:stretch/>
        </p:blipFill>
        <p:spPr>
          <a:xfrm>
            <a:off x="4967188" y="3929063"/>
            <a:ext cx="1292523" cy="292100"/>
          </a:xfrm>
          <a:prstGeom prst="rect">
            <a:avLst/>
          </a:prstGeom>
        </p:spPr>
      </p:pic>
      <p:sp>
        <p:nvSpPr>
          <p:cNvPr id="18" name="Text 12"/>
          <p:cNvSpPr/>
          <p:nvPr/>
        </p:nvSpPr>
        <p:spPr>
          <a:xfrm>
            <a:off x="1066800" y="4377333"/>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Probado en </a:t>
            </a:r>
            <a:r>
              <a:rPr lang="es-ES_tradnl" sz="1200" noProof="0" dirty="0" err="1">
                <a:solidFill>
                  <a:srgbClr val="3C3C3B"/>
                </a:solidFill>
                <a:latin typeface="Roboto" pitchFamily="34" charset="0"/>
                <a:ea typeface="Roboto" pitchFamily="34" charset="-122"/>
                <a:cs typeface="Roboto" pitchFamily="34" charset="-120"/>
              </a:rPr>
              <a:t>ibmq_bogota</a:t>
            </a:r>
            <a:r>
              <a:rPr lang="es-ES_tradnl" sz="1200" noProof="0" dirty="0">
                <a:solidFill>
                  <a:srgbClr val="3C3C3B"/>
                </a:solidFill>
                <a:latin typeface="Roboto" pitchFamily="34" charset="0"/>
                <a:ea typeface="Roboto" pitchFamily="34" charset="-122"/>
                <a:cs typeface="Roboto" pitchFamily="34" charset="-120"/>
              </a:rPr>
              <a:t> con 10⁴ mediciones por punto: coincide con la teoría, con desviaciones atribuibles al ruido propio del procesador.</a:t>
            </a:r>
            <a:endParaRPr lang="es-ES_tradnl" sz="1200" noProof="0" dirty="0"/>
          </a:p>
        </p:txBody>
      </p:sp>
      <p:sp>
        <p:nvSpPr>
          <p:cNvPr id="19" name="Shape 13"/>
          <p:cNvSpPr/>
          <p:nvPr/>
        </p:nvSpPr>
        <p:spPr>
          <a:xfrm>
            <a:off x="6716911" y="1432520"/>
            <a:ext cx="4662289" cy="3574653"/>
          </a:xfrm>
          <a:prstGeom prst="roundRect">
            <a:avLst>
              <a:gd name="adj" fmla="val 2842"/>
            </a:avLst>
          </a:prstGeom>
          <a:solidFill>
            <a:srgbClr val="FFEE00"/>
          </a:solidFill>
          <a:ln/>
        </p:spPr>
        <p:txBody>
          <a:bodyPr/>
          <a:lstStyle/>
          <a:p>
            <a:endParaRPr lang="es-ES_tradnl" noProof="0" dirty="0"/>
          </a:p>
        </p:txBody>
      </p:sp>
      <p:sp>
        <p:nvSpPr>
          <p:cNvPr id="20" name="Text 14"/>
          <p:cNvSpPr/>
          <p:nvPr/>
        </p:nvSpPr>
        <p:spPr>
          <a:xfrm>
            <a:off x="6970911" y="1635720"/>
            <a:ext cx="4278918"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NUESTRA RESTRICCIÓN</a:t>
            </a:r>
            <a:endParaRPr lang="es-ES_tradnl" sz="1200" noProof="0" dirty="0"/>
          </a:p>
        </p:txBody>
      </p:sp>
      <p:sp>
        <p:nvSpPr>
          <p:cNvPr id="21" name="Text 15"/>
          <p:cNvSpPr/>
          <p:nvPr/>
        </p:nvSpPr>
        <p:spPr>
          <a:xfrm>
            <a:off x="6970911" y="1950641"/>
            <a:ext cx="4278918"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2 </a:t>
            </a:r>
            <a:r>
              <a:rPr lang="es-ES_tradnl" sz="4800" b="1" kern="0" spc="-100" noProof="0" dirty="0" err="1">
                <a:solidFill>
                  <a:srgbClr val="1D1D1B"/>
                </a:solidFill>
                <a:latin typeface="DM Sans" pitchFamily="34" charset="0"/>
                <a:ea typeface="DM Sans" pitchFamily="34" charset="-122"/>
                <a:cs typeface="DM Sans" pitchFamily="34" charset="-120"/>
              </a:rPr>
              <a:t>qubits</a:t>
            </a:r>
            <a:endParaRPr lang="es-ES_tradnl" sz="4800" noProof="0" dirty="0"/>
          </a:p>
        </p:txBody>
      </p:sp>
      <p:sp>
        <p:nvSpPr>
          <p:cNvPr id="22" name="Text 16"/>
          <p:cNvSpPr/>
          <p:nvPr/>
        </p:nvSpPr>
        <p:spPr>
          <a:xfrm>
            <a:off x="6970911" y="2692301"/>
            <a:ext cx="427891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en el computador cuántico de la universidad.</a:t>
            </a:r>
            <a:endParaRPr lang="es-ES_tradnl" sz="1400" noProof="0" dirty="0"/>
          </a:p>
        </p:txBody>
      </p:sp>
      <p:sp>
        <p:nvSpPr>
          <p:cNvPr id="23" name="Text 17"/>
          <p:cNvSpPr/>
          <p:nvPr/>
        </p:nvSpPr>
        <p:spPr>
          <a:xfrm>
            <a:off x="6970911" y="3042741"/>
            <a:ext cx="4278918"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Pregunta abierta:</a:t>
            </a:r>
            <a:r>
              <a:rPr lang="es-ES_tradnl" sz="1400" noProof="0" dirty="0">
                <a:solidFill>
                  <a:srgbClr val="1D1D1B"/>
                </a:solidFill>
                <a:latin typeface="Roboto" pitchFamily="34" charset="0"/>
                <a:ea typeface="Roboto" pitchFamily="34" charset="-122"/>
                <a:cs typeface="Roboto" pitchFamily="34" charset="-120"/>
              </a:rPr>
              <a:t> cómo implementar GAD (y el </a:t>
            </a:r>
            <a:r>
              <a:rPr lang="es-ES_tradnl" sz="1400" noProof="0" dirty="0" err="1">
                <a:solidFill>
                  <a:srgbClr val="1D1D1B"/>
                </a:solidFill>
                <a:latin typeface="Roboto" pitchFamily="34" charset="0"/>
                <a:ea typeface="Roboto" pitchFamily="34" charset="-122"/>
                <a:cs typeface="Roboto" pitchFamily="34" charset="-120"/>
              </a:rPr>
              <a:t>depolarizante</a:t>
            </a:r>
            <a:r>
              <a:rPr lang="es-ES_tradnl" sz="1400" noProof="0" dirty="0">
                <a:solidFill>
                  <a:srgbClr val="1D1D1B"/>
                </a:solidFill>
                <a:latin typeface="Roboto" pitchFamily="34" charset="0"/>
                <a:ea typeface="Roboto" pitchFamily="34" charset="-122"/>
                <a:cs typeface="Roboto" pitchFamily="34" charset="-120"/>
              </a:rPr>
              <a:t>) con p = 0.5 dentro de ese límite.</a:t>
            </a:r>
            <a:endParaRPr lang="es-ES_tradnl" sz="1400" noProof="0" dirty="0"/>
          </a:p>
        </p:txBody>
      </p:sp>
      <p:sp>
        <p:nvSpPr>
          <p:cNvPr id="24" name="Shape 18"/>
          <p:cNvSpPr/>
          <p:nvPr/>
        </p:nvSpPr>
        <p:spPr>
          <a:xfrm>
            <a:off x="6970911" y="4282083"/>
            <a:ext cx="4154289" cy="0"/>
          </a:xfrm>
          <a:prstGeom prst="line">
            <a:avLst/>
          </a:prstGeom>
          <a:noFill/>
          <a:ln w="12700">
            <a:solidFill>
              <a:srgbClr val="1D1D1B"/>
            </a:solidFill>
            <a:prstDash val="solid"/>
          </a:ln>
        </p:spPr>
        <p:txBody>
          <a:bodyPr/>
          <a:lstStyle/>
          <a:p>
            <a:endParaRPr lang="es-ES_tradnl" noProof="0" dirty="0"/>
          </a:p>
        </p:txBody>
      </p:sp>
      <p:sp>
        <p:nvSpPr>
          <p:cNvPr id="25" name="Text 19"/>
          <p:cNvSpPr/>
          <p:nvPr/>
        </p:nvSpPr>
        <p:spPr>
          <a:xfrm>
            <a:off x="6970911" y="4377333"/>
            <a:ext cx="4278918" cy="452041"/>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Esta semana:</a:t>
            </a:r>
            <a:r>
              <a:rPr lang="es-ES_tradnl" sz="1200" noProof="0" dirty="0">
                <a:solidFill>
                  <a:srgbClr val="1D1D1B"/>
                </a:solidFill>
                <a:latin typeface="Roboto" pitchFamily="34" charset="0"/>
                <a:ea typeface="Roboto" pitchFamily="34" charset="-122"/>
                <a:cs typeface="Roboto" pitchFamily="34" charset="-120"/>
              </a:rPr>
              <a:t> prueba de concepto, comparando las probabilidades medidas contra las teóricas.</a:t>
            </a:r>
            <a:endParaRPr lang="es-ES_tradnl" sz="1200" noProof="0" dirty="0"/>
          </a:p>
        </p:txBody>
      </p:sp>
      <p:sp>
        <p:nvSpPr>
          <p:cNvPr id="27"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41</a:t>
            </a:r>
            <a:endParaRPr lang="es-ES_tradnl" sz="1200" noProof="0" dirty="0"/>
          </a:p>
        </p:txBody>
      </p:sp>
    </p:spTree>
    <p:extLst>
      <p:ext uri="{BB962C8B-B14F-4D97-AF65-F5344CB8AC3E}">
        <p14:creationId xmlns:p14="http://schemas.microsoft.com/office/powerpoint/2010/main" val="30559371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Conclusiones</a:t>
            </a:r>
            <a:endParaRPr lang="es-ES_tradnl" sz="2800" noProof="0" dirty="0"/>
          </a:p>
        </p:txBody>
      </p:sp>
      <p:sp>
        <p:nvSpPr>
          <p:cNvPr id="8" name="Shape 5"/>
          <p:cNvSpPr/>
          <p:nvPr/>
        </p:nvSpPr>
        <p:spPr>
          <a:xfrm>
            <a:off x="812800" y="1464270"/>
            <a:ext cx="10566400" cy="0"/>
          </a:xfrm>
          <a:prstGeom prst="line">
            <a:avLst/>
          </a:prstGeom>
          <a:noFill/>
          <a:ln w="12700">
            <a:solidFill>
              <a:srgbClr val="1D1D1B"/>
            </a:solidFill>
            <a:prstDash val="solid"/>
          </a:ln>
        </p:spPr>
        <p:txBody>
          <a:bodyPr/>
          <a:lstStyle/>
          <a:p>
            <a:endParaRPr lang="es-ES_tradnl" noProof="0" dirty="0"/>
          </a:p>
        </p:txBody>
      </p:sp>
      <p:sp>
        <p:nvSpPr>
          <p:cNvPr id="9" name="Text 6"/>
          <p:cNvSpPr/>
          <p:nvPr/>
        </p:nvSpPr>
        <p:spPr>
          <a:xfrm>
            <a:off x="812800" y="1648420"/>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1</a:t>
            </a:r>
            <a:endParaRPr lang="es-ES_tradnl" sz="2200" noProof="0" dirty="0"/>
          </a:p>
        </p:txBody>
      </p:sp>
      <p:sp>
        <p:nvSpPr>
          <p:cNvPr id="10" name="Text 7"/>
          <p:cNvSpPr/>
          <p:nvPr/>
        </p:nvSpPr>
        <p:spPr>
          <a:xfrm>
            <a:off x="1524000" y="1648420"/>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Los mecanismos cumplen la teoría</a:t>
            </a:r>
            <a:endParaRPr lang="es-ES_tradnl" sz="1800" noProof="0" dirty="0"/>
          </a:p>
        </p:txBody>
      </p:sp>
      <p:sp>
        <p:nvSpPr>
          <p:cNvPr id="11" name="Text 8"/>
          <p:cNvSpPr/>
          <p:nvPr/>
        </p:nvSpPr>
        <p:spPr>
          <a:xfrm>
            <a:off x="1524000" y="1973461"/>
            <a:ext cx="10150856"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PAD y GAD,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experimental quedó bajo la cota en todas las columnas y en las dos formas de publicar. La cota se alcanza solo para pares de estados ortogonales. El ruido cuántico puede proteger datos clásicos codificados en estados cuánticos con la garantía que predice la teoría.</a:t>
            </a:r>
            <a:endParaRPr lang="es-ES_tradnl" sz="1400" noProof="0" dirty="0"/>
          </a:p>
        </p:txBody>
      </p:sp>
      <p:sp>
        <p:nvSpPr>
          <p:cNvPr id="12" name="Shape 9"/>
          <p:cNvSpPr/>
          <p:nvPr/>
        </p:nvSpPr>
        <p:spPr>
          <a:xfrm>
            <a:off x="812800" y="2900958"/>
            <a:ext cx="10566400" cy="0"/>
          </a:xfrm>
          <a:prstGeom prst="line">
            <a:avLst/>
          </a:prstGeom>
          <a:noFill/>
          <a:ln w="6350">
            <a:solidFill>
              <a:srgbClr val="D4D4D0"/>
            </a:solidFill>
            <a:prstDash val="solid"/>
          </a:ln>
        </p:spPr>
        <p:txBody>
          <a:bodyPr/>
          <a:lstStyle/>
          <a:p>
            <a:endParaRPr lang="es-ES_tradnl" noProof="0" dirty="0"/>
          </a:p>
        </p:txBody>
      </p:sp>
      <p:sp>
        <p:nvSpPr>
          <p:cNvPr id="13" name="Text 10"/>
          <p:cNvSpPr/>
          <p:nvPr/>
        </p:nvSpPr>
        <p:spPr>
          <a:xfrm>
            <a:off x="812800" y="3081933"/>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2</a:t>
            </a:r>
            <a:endParaRPr lang="es-ES_tradnl" sz="2200" noProof="0" dirty="0"/>
          </a:p>
        </p:txBody>
      </p:sp>
      <p:sp>
        <p:nvSpPr>
          <p:cNvPr id="14" name="Text 11"/>
          <p:cNvSpPr/>
          <p:nvPr/>
        </p:nvSpPr>
        <p:spPr>
          <a:xfrm>
            <a:off x="1524000" y="3081933"/>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Consumo cuántico</a:t>
            </a:r>
            <a:endParaRPr lang="es-ES_tradnl" sz="1800" noProof="0" dirty="0"/>
          </a:p>
        </p:txBody>
      </p:sp>
      <p:sp>
        <p:nvSpPr>
          <p:cNvPr id="15" name="Text 12"/>
          <p:cNvSpPr/>
          <p:nvPr/>
        </p:nvSpPr>
        <p:spPr>
          <a:xfrm>
            <a:off x="1524000" y="3406973"/>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 un proceso cuántico consume una o pocas copias del estado privatizado, la garantía del modelo central es muy fuerte: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0.1 por copia con los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6" name="Shape 13"/>
          <p:cNvSpPr/>
          <p:nvPr/>
        </p:nvSpPr>
        <p:spPr>
          <a:xfrm>
            <a:off x="812800" y="4085630"/>
            <a:ext cx="10566400" cy="0"/>
          </a:xfrm>
          <a:prstGeom prst="line">
            <a:avLst/>
          </a:prstGeom>
          <a:noFill/>
          <a:ln w="6350">
            <a:solidFill>
              <a:srgbClr val="D4D4D0"/>
            </a:solidFill>
            <a:prstDash val="solid"/>
          </a:ln>
        </p:spPr>
        <p:txBody>
          <a:bodyPr/>
          <a:lstStyle/>
          <a:p>
            <a:endParaRPr lang="es-ES_tradnl" noProof="0" dirty="0"/>
          </a:p>
        </p:txBody>
      </p:sp>
      <p:sp>
        <p:nvSpPr>
          <p:cNvPr id="17" name="Shape 14"/>
          <p:cNvSpPr/>
          <p:nvPr/>
        </p:nvSpPr>
        <p:spPr>
          <a:xfrm>
            <a:off x="812800" y="5270302"/>
            <a:ext cx="10566400" cy="0"/>
          </a:xfrm>
          <a:prstGeom prst="line">
            <a:avLst/>
          </a:prstGeom>
          <a:noFill/>
          <a:ln w="6350">
            <a:solidFill>
              <a:srgbClr val="D4D4D0"/>
            </a:solidFill>
            <a:prstDash val="solid"/>
          </a:ln>
        </p:spPr>
        <p:txBody>
          <a:bodyPr/>
          <a:lstStyle/>
          <a:p>
            <a:endParaRPr lang="es-ES_tradnl" noProof="0" dirty="0"/>
          </a:p>
        </p:txBody>
      </p:sp>
      <p:sp>
        <p:nvSpPr>
          <p:cNvPr id="18" name="Text 15"/>
          <p:cNvSpPr/>
          <p:nvPr/>
        </p:nvSpPr>
        <p:spPr>
          <a:xfrm>
            <a:off x="812800" y="4266605"/>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3</a:t>
            </a:r>
            <a:endParaRPr lang="es-ES_tradnl" sz="2200" noProof="0" dirty="0"/>
          </a:p>
        </p:txBody>
      </p:sp>
      <p:sp>
        <p:nvSpPr>
          <p:cNvPr id="19" name="Text 16"/>
          <p:cNvSpPr/>
          <p:nvPr/>
        </p:nvSpPr>
        <p:spPr>
          <a:xfrm>
            <a:off x="1524000" y="4266605"/>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Decuantización</a:t>
            </a:r>
            <a:endParaRPr lang="es-ES_tradnl" sz="1800" noProof="0" dirty="0"/>
          </a:p>
        </p:txBody>
      </p:sp>
      <p:sp>
        <p:nvSpPr>
          <p:cNvPr id="20" name="Text 17"/>
          <p:cNvSpPr/>
          <p:nvPr/>
        </p:nvSpPr>
        <p:spPr>
          <a:xfrm>
            <a:off x="1524000" y="4591645"/>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Volver al mundo clásico exige medir, y la forma de hacerlo determina el costo en privacidad. Los dos diseños, a continuación.</a:t>
            </a:r>
            <a:endParaRPr lang="es-ES_tradnl" sz="1400" noProof="0" dirty="0"/>
          </a:p>
        </p:txBody>
      </p:sp>
      <p:sp>
        <p:nvSpPr>
          <p:cNvPr id="22" name="Text 1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42</a:t>
            </a:r>
            <a:endParaRPr lang="es-ES_tradnl" sz="1200"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diseño C contra diseño L</a:t>
            </a:r>
            <a:endParaRPr lang="es-ES_tradnl" sz="2800" noProof="0" dirty="0"/>
          </a:p>
        </p:txBody>
      </p:sp>
      <p:graphicFrame>
        <p:nvGraphicFramePr>
          <p:cNvPr id="8" name="Table 0"/>
          <p:cNvGraphicFramePr>
            <a:graphicFrameLocks noGrp="1"/>
          </p:cNvGraphicFramePr>
          <p:nvPr>
            <p:extLst>
              <p:ext uri="{D42A27DB-BD31-4B8C-83A1-F6EECF244321}">
                <p14:modId xmlns:p14="http://schemas.microsoft.com/office/powerpoint/2010/main" val="411128441"/>
              </p:ext>
            </p:extLst>
          </p:nvPr>
        </p:nvGraphicFramePr>
        <p:xfrm>
          <a:off x="825500" y="1394420"/>
          <a:ext cx="10553700" cy="3054649"/>
        </p:xfrm>
        <a:graphic>
          <a:graphicData uri="http://schemas.openxmlformats.org/drawingml/2006/table">
            <a:tbl>
              <a:tblPr/>
              <a:tblGrid>
                <a:gridCol w="1688592">
                  <a:extLst>
                    <a:ext uri="{9D8B030D-6E8A-4147-A177-3AD203B41FA5}">
                      <a16:colId xmlns:a16="http://schemas.microsoft.com/office/drawing/2014/main" val="20000"/>
                    </a:ext>
                  </a:extLst>
                </a:gridCol>
                <a:gridCol w="4432554">
                  <a:extLst>
                    <a:ext uri="{9D8B030D-6E8A-4147-A177-3AD203B41FA5}">
                      <a16:colId xmlns:a16="http://schemas.microsoft.com/office/drawing/2014/main" val="20001"/>
                    </a:ext>
                  </a:extLst>
                </a:gridCol>
                <a:gridCol w="4432554">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C · central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 · local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A favor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muy pequeño: con una copia, el atacante gana muy poca certeza adicional.</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Cada persona aparece en un solo resultado (composición paralela):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no crece con el número de personas ni de publicaciones. Su costo crece con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D (lineal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No necesita un curador de confianza.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En contra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Decuantizar</a:t>
                      </a:r>
                      <a:r>
                        <a:rPr lang="es-ES_tradnl" sz="1300" noProof="0" dirty="0">
                          <a:solidFill>
                            <a:srgbClr val="3C3C3B"/>
                          </a:solidFill>
                          <a:latin typeface="Roboto" pitchFamily="34" charset="0"/>
                          <a:ea typeface="Roboto" pitchFamily="34" charset="-122"/>
                          <a:cs typeface="Roboto" pitchFamily="34" charset="-120"/>
                        </a:rPr>
                        <a:t> exige muchas copias y cada una suma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N·ε</a:t>
                      </a:r>
                      <a:r>
                        <a:rPr lang="es-ES_tradnl" sz="1300" noProof="0" dirty="0">
                          <a:solidFill>
                            <a:srgbClr val="3C3C3B"/>
                          </a:solidFill>
                          <a:latin typeface="Roboto" pitchFamily="34" charset="0"/>
                          <a:ea typeface="Roboto" pitchFamily="34" charset="-122"/>
                          <a:cs typeface="Roboto" pitchFamily="34" charset="-120"/>
                        </a:rPr>
                        <a:t>). El costo crece con D (exponencial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con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total = 106 con N = 1000. Requiere un curador que reúna los estados; el sorteo agrega varianza.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persona es más alto que 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del central (con 1 </a:t>
                      </a:r>
                      <a:r>
                        <a:rPr lang="es-ES_tradnl" sz="1300" noProof="0" dirty="0" err="1">
                          <a:solidFill>
                            <a:srgbClr val="3C3C3B"/>
                          </a:solidFill>
                          <a:latin typeface="Roboto" pitchFamily="34" charset="0"/>
                          <a:ea typeface="Roboto" pitchFamily="34" charset="-122"/>
                          <a:cs typeface="Roboto" pitchFamily="34" charset="-120"/>
                        </a:rPr>
                        <a:t>qubit</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contra 0.0006).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590352">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Cuándo conviene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consumen pocas copias, o se sigue trabajando con los datos en el mundo cuántico.</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necesitan estadísticas sobre datos clásicos (muchas muestras).</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3"/>
                  </a:ext>
                </a:extLst>
              </a:tr>
            </a:tbl>
          </a:graphicData>
        </a:graphic>
      </p:graphicFrame>
      <p:sp>
        <p:nvSpPr>
          <p:cNvPr id="9" name="Shape 5"/>
          <p:cNvSpPr/>
          <p:nvPr/>
        </p:nvSpPr>
        <p:spPr>
          <a:xfrm>
            <a:off x="838200" y="4626868"/>
            <a:ext cx="0" cy="248841"/>
          </a:xfrm>
          <a:prstGeom prst="line">
            <a:avLst/>
          </a:prstGeom>
          <a:noFill/>
          <a:ln w="50800">
            <a:solidFill>
              <a:srgbClr val="FFEE00"/>
            </a:solidFill>
            <a:prstDash val="solid"/>
          </a:ln>
        </p:spPr>
        <p:txBody>
          <a:bodyPr/>
          <a:lstStyle/>
          <a:p>
            <a:endParaRPr lang="es-ES_tradnl" noProof="0" dirty="0"/>
          </a:p>
        </p:txBody>
      </p:sp>
      <p:sp>
        <p:nvSpPr>
          <p:cNvPr id="10" name="Text 6"/>
          <p:cNvSpPr/>
          <p:nvPr/>
        </p:nvSpPr>
        <p:spPr>
          <a:xfrm>
            <a:off x="990600" y="4626868"/>
            <a:ext cx="1070025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Matiz:</a:t>
            </a:r>
            <a:r>
              <a:rPr lang="es-ES_tradnl" sz="1400" noProof="0" dirty="0">
                <a:solidFill>
                  <a:srgbClr val="3C3C3B"/>
                </a:solidFill>
                <a:latin typeface="Roboto" pitchFamily="34" charset="0"/>
                <a:ea typeface="Roboto" pitchFamily="34" charset="-122"/>
                <a:cs typeface="Roboto" pitchFamily="34" charset="-120"/>
              </a:rPr>
              <a:t> con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los dos diseños son comparables. La ventaja de L aparece y crece con la dimensión.</a:t>
            </a:r>
            <a:endParaRPr lang="es-ES_tradnl" sz="1400" noProof="0" dirty="0"/>
          </a:p>
        </p:txBody>
      </p:sp>
      <p:sp>
        <p:nvSpPr>
          <p:cNvPr id="12" name="Text 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43</a:t>
            </a:r>
            <a:endParaRPr lang="es-ES_tradnl" sz="1200" noProof="0" dirty="0"/>
          </a:p>
        </p:txBody>
      </p:sp>
    </p:spTree>
    <p:extLst>
      <p:ext uri="{BB962C8B-B14F-4D97-AF65-F5344CB8AC3E}">
        <p14:creationId xmlns:p14="http://schemas.microsoft.com/office/powerpoint/2010/main" val="4144578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Pasos a seguir</a:t>
            </a:r>
            <a:endParaRPr lang="es-ES_tradnl" sz="2800" noProof="0" dirty="0"/>
          </a:p>
        </p:txBody>
      </p:sp>
      <p:sp>
        <p:nvSpPr>
          <p:cNvPr id="8" name="Shape 5"/>
          <p:cNvSpPr/>
          <p:nvPr/>
        </p:nvSpPr>
        <p:spPr>
          <a:xfrm>
            <a:off x="812800" y="1457920"/>
            <a:ext cx="5207000" cy="1516063"/>
          </a:xfrm>
          <a:prstGeom prst="roundRect">
            <a:avLst>
              <a:gd name="adj" fmla="val 6702"/>
            </a:avLst>
          </a:prstGeom>
          <a:solidFill>
            <a:srgbClr val="F4F4F2"/>
          </a:solidFill>
          <a:ln/>
        </p:spPr>
        <p:txBody>
          <a:bodyPr/>
          <a:lstStyle/>
          <a:p>
            <a:endParaRPr lang="es-ES_tradnl" noProof="0" dirty="0"/>
          </a:p>
        </p:txBody>
      </p:sp>
      <p:sp>
        <p:nvSpPr>
          <p:cNvPr id="9" name="Text 6"/>
          <p:cNvSpPr/>
          <p:nvPr/>
        </p:nvSpPr>
        <p:spPr>
          <a:xfrm>
            <a:off x="10414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1</a:t>
            </a:r>
            <a:endParaRPr lang="es-ES_tradnl" sz="1800" noProof="0" dirty="0"/>
          </a:p>
        </p:txBody>
      </p:sp>
      <p:sp>
        <p:nvSpPr>
          <p:cNvPr id="10" name="Text 7"/>
          <p:cNvSpPr/>
          <p:nvPr/>
        </p:nvSpPr>
        <p:spPr>
          <a:xfrm>
            <a:off x="1625600" y="1661120"/>
            <a:ext cx="4290568" cy="57388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Prueba de concepto en hardware real</a:t>
            </a:r>
            <a:endParaRPr lang="es-ES_tradnl" sz="1800" noProof="0" dirty="0"/>
          </a:p>
        </p:txBody>
      </p:sp>
      <p:sp>
        <p:nvSpPr>
          <p:cNvPr id="11" name="Text 8"/>
          <p:cNvSpPr/>
          <p:nvPr/>
        </p:nvSpPr>
        <p:spPr>
          <a:xfrm>
            <a:off x="1625600" y="227310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el computador de 2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de la universidad: GAD y, posiblemente,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2" name="Shape 9"/>
          <p:cNvSpPr/>
          <p:nvPr/>
        </p:nvSpPr>
        <p:spPr>
          <a:xfrm>
            <a:off x="6172200" y="1457920"/>
            <a:ext cx="5207000" cy="1516063"/>
          </a:xfrm>
          <a:prstGeom prst="roundRect">
            <a:avLst>
              <a:gd name="adj" fmla="val 6702"/>
            </a:avLst>
          </a:prstGeom>
          <a:solidFill>
            <a:srgbClr val="F4F4F2"/>
          </a:solidFill>
          <a:ln/>
        </p:spPr>
        <p:txBody>
          <a:bodyPr/>
          <a:lstStyle/>
          <a:p>
            <a:endParaRPr lang="es-ES_tradnl" noProof="0" dirty="0"/>
          </a:p>
        </p:txBody>
      </p:sp>
      <p:sp>
        <p:nvSpPr>
          <p:cNvPr id="13" name="Text 10"/>
          <p:cNvSpPr/>
          <p:nvPr/>
        </p:nvSpPr>
        <p:spPr>
          <a:xfrm>
            <a:off x="64008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2</a:t>
            </a:r>
            <a:endParaRPr lang="es-ES_tradnl" sz="1800" noProof="0" dirty="0"/>
          </a:p>
        </p:txBody>
      </p:sp>
      <p:sp>
        <p:nvSpPr>
          <p:cNvPr id="14" name="Text 11"/>
          <p:cNvSpPr/>
          <p:nvPr/>
        </p:nvSpPr>
        <p:spPr>
          <a:xfrm>
            <a:off x="6985000" y="1661120"/>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Variables numéricas</a:t>
            </a:r>
            <a:endParaRPr lang="es-ES_tradnl" sz="1800" noProof="0" dirty="0"/>
          </a:p>
        </p:txBody>
      </p:sp>
      <p:sp>
        <p:nvSpPr>
          <p:cNvPr id="15" name="Text 12"/>
          <p:cNvSpPr/>
          <p:nvPr/>
        </p:nvSpPr>
        <p:spPr>
          <a:xfrm>
            <a:off x="6985000" y="1998861"/>
            <a:ext cx="429056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Qué estadística entrega la medición en </a:t>
            </a:r>
            <a:r>
              <a:rPr lang="es-ES_tradnl" sz="1400" noProof="0" dirty="0" err="1">
                <a:solidFill>
                  <a:srgbClr val="293470"/>
                </a:solidFill>
                <a:latin typeface="Roboto" pitchFamily="34" charset="0"/>
                <a:ea typeface="Roboto" pitchFamily="34" charset="-122"/>
                <a:cs typeface="Roboto" pitchFamily="34" charset="-120"/>
              </a:rPr>
              <a:t>credit_amount</a:t>
            </a:r>
            <a:r>
              <a:rPr lang="es-ES_tradnl" sz="1400" noProof="0" dirty="0">
                <a:solidFill>
                  <a:srgbClr val="3C3C3B"/>
                </a:solidFill>
                <a:latin typeface="Roboto" pitchFamily="34" charset="0"/>
                <a:ea typeface="Roboto" pitchFamily="34" charset="-122"/>
                <a:cs typeface="Roboto" pitchFamily="34" charset="-120"/>
              </a:rPr>
              <a:t>: RY(</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 medido en Z da sin²(</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/2), no el valor original. </a:t>
            </a:r>
            <a:endParaRPr lang="es-ES_tradnl" sz="1400" noProof="0" dirty="0"/>
          </a:p>
        </p:txBody>
      </p:sp>
      <p:sp>
        <p:nvSpPr>
          <p:cNvPr id="20" name="Shape 17"/>
          <p:cNvSpPr/>
          <p:nvPr/>
        </p:nvSpPr>
        <p:spPr>
          <a:xfrm>
            <a:off x="812800" y="3126383"/>
            <a:ext cx="10566400" cy="1241822"/>
          </a:xfrm>
          <a:prstGeom prst="roundRect">
            <a:avLst>
              <a:gd name="adj" fmla="val 8182"/>
            </a:avLst>
          </a:prstGeom>
          <a:solidFill>
            <a:srgbClr val="F4F4F2"/>
          </a:solidFill>
          <a:ln/>
        </p:spPr>
        <p:txBody>
          <a:bodyPr/>
          <a:lstStyle/>
          <a:p>
            <a:endParaRPr lang="es-ES_tradnl" noProof="0" dirty="0"/>
          </a:p>
        </p:txBody>
      </p:sp>
      <p:sp>
        <p:nvSpPr>
          <p:cNvPr id="21" name="Text 18"/>
          <p:cNvSpPr/>
          <p:nvPr/>
        </p:nvSpPr>
        <p:spPr>
          <a:xfrm>
            <a:off x="1041400" y="3329583"/>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b="1" noProof="0" dirty="0">
                <a:solidFill>
                  <a:srgbClr val="1D1D1B"/>
                </a:solidFill>
                <a:latin typeface="DM Sans" pitchFamily="34" charset="0"/>
              </a:rPr>
              <a:t>3</a:t>
            </a:r>
            <a:endParaRPr lang="es-ES_tradnl" sz="1800" noProof="0" dirty="0"/>
          </a:p>
        </p:txBody>
      </p:sp>
      <p:sp>
        <p:nvSpPr>
          <p:cNvPr id="22" name="Text 19"/>
          <p:cNvSpPr/>
          <p:nvPr/>
        </p:nvSpPr>
        <p:spPr>
          <a:xfrm>
            <a:off x="1625600" y="3411701"/>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Documentar</a:t>
            </a:r>
            <a:endParaRPr lang="es-ES_tradnl" sz="1800" noProof="0" dirty="0"/>
          </a:p>
        </p:txBody>
      </p:sp>
      <p:sp>
        <p:nvSpPr>
          <p:cNvPr id="23" name="Text 20"/>
          <p:cNvSpPr/>
          <p:nvPr/>
        </p:nvSpPr>
        <p:spPr>
          <a:xfrm>
            <a:off x="1625600" y="371134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tesis, los dos modelos de publicación (conjunto y por columna) y por qué se usa cada uno.</a:t>
            </a:r>
            <a:endParaRPr lang="es-ES_tradnl" sz="1400" noProof="0" dirty="0"/>
          </a:p>
        </p:txBody>
      </p:sp>
      <p:sp>
        <p:nvSpPr>
          <p:cNvPr id="25"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44</a:t>
            </a:r>
            <a:endParaRPr lang="es-ES_tradnl" sz="1200" noProof="0" dirty="0"/>
          </a:p>
        </p:txBody>
      </p:sp>
    </p:spTree>
  </p:cSld>
  <p:clrMapOvr>
    <a:masterClrMapping/>
  </p:clrMapOvr>
</p:sld>
</file>

<file path=ppt/theme/theme1.xml><?xml version="1.0" encoding="utf-8"?>
<a:theme xmlns:a="http://schemas.openxmlformats.org/drawingml/2006/main" name="Avances semana 9">
  <a:themeElements>
    <a:clrScheme name="Avances semana 9">
      <a:dk1>
        <a:srgbClr val="3C3C3B"/>
      </a:dk1>
      <a:lt1>
        <a:srgbClr val="FFFFFF"/>
      </a:lt1>
      <a:dk2>
        <a:srgbClr val="6D6D6C"/>
      </a:dk2>
      <a:lt2>
        <a:srgbClr val="ECECEB"/>
      </a:lt2>
      <a:accent1>
        <a:srgbClr val="FFEE00"/>
      </a:accent1>
      <a:accent2>
        <a:srgbClr val="293470"/>
      </a:accent2>
      <a:accent3>
        <a:srgbClr val="1D1D1B"/>
      </a:accent3>
      <a:accent4>
        <a:srgbClr val="6E6E6C"/>
      </a:accent4>
      <a:accent5>
        <a:srgbClr val="D4D4D0"/>
      </a:accent5>
      <a:accent6>
        <a:srgbClr val="B9B9B5"/>
      </a:accent6>
      <a:hlink>
        <a:srgbClr val="0563C1"/>
      </a:hlink>
      <a:folHlink>
        <a:srgbClr val="954F72"/>
      </a:folHlink>
    </a:clrScheme>
    <a:fontScheme name="Avances semana 9">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53DAF12-6D63-A94A-83F6-0AC0886F7DE8}">
  <we:reference id="wa200010001" version="1.0.0.1" store="en-US" storeType="OMEX"/>
  <we:alternateReferences>
    <we:reference id="wa200010001" version="1.0.0.1" store="en-US" storeType="OMEX"/>
  </we:alternateReferences>
  <we:properties>
    <we:property name="claude.fileId" value="&quot;4e18fe39-1550-4941-8f81-ad81de2fa9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846</TotalTime>
  <Words>11995</Words>
  <Application>Microsoft Macintosh PowerPoint</Application>
  <PresentationFormat>Widescreen</PresentationFormat>
  <Paragraphs>901</Paragraphs>
  <Slides>43</Slides>
  <Notes>43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Cambria Math</vt:lpstr>
      <vt:lpstr>DM Sans</vt:lpstr>
      <vt:lpstr>Roboto</vt:lpstr>
      <vt:lpstr>Avances semana 9</vt:lpstr>
      <vt:lpstr>Avances Semana 10 REMASTERIZADO</vt:lpstr>
      <vt:lpstr>Hoja de ruta</vt:lpstr>
      <vt:lpstr>Dónde estábamos</vt:lpstr>
      <vt:lpstr>PowerPoint Presentation</vt:lpstr>
      <vt:lpstr>La cota experimental en tres mecanismos</vt:lpstr>
      <vt:lpstr>Conjunta contra por columna: el papel de D</vt:lpstr>
      <vt:lpstr>Con p = γ = 0.5: depolarizante &lt; PAD &lt; GAD</vt:lpstr>
      <vt:lpstr>La pregunta nueva</vt:lpstr>
      <vt:lpstr>Dos diseños para decuantizar: C y L</vt:lpstr>
      <vt:lpstr>PowerPoint Presentation</vt:lpstr>
      <vt:lpstr>PowerPoint Presentation</vt:lpstr>
      <vt:lpstr>El ε del diseño L en las variables categóricas</vt:lpstr>
      <vt:lpstr>Depolarizante por columna: ε en cada variable</vt:lpstr>
      <vt:lpstr>Dónde está la privacidad</vt:lpstr>
      <vt:lpstr>Cada medición consume una copia</vt:lpstr>
      <vt:lpstr>Medir el estado agregado = sortear una persona</vt:lpstr>
      <vt:lpstr>El límite de la codificación</vt:lpstr>
      <vt:lpstr>El ruido visto desde un qubit</vt:lpstr>
      <vt:lpstr>Corregir el centro, no la dispersión</vt:lpstr>
      <vt:lpstr>Una medición: lo que aprende el atacante</vt:lpstr>
      <vt:lpstr>Una medición inclina, pero no decide</vt:lpstr>
      <vt:lpstr>Una persona 10 veces contra 1000 personas una vez</vt:lpstr>
      <vt:lpstr>Con 1 qubit, ninguno domina</vt:lpstr>
      <vt:lpstr>Con 7 qubits, C se vuelve inutilizable</vt:lpstr>
      <vt:lpstr>Por qué escalan distinto</vt:lpstr>
      <vt:lpstr>Lo que decide no es cuántico contra clásico: es cuántas copias consume quien recibe el estado.</vt:lpstr>
      <vt:lpstr>La referencia es B, no el CSV</vt:lpstr>
      <vt:lpstr>Experimento de medición de ruido</vt:lpstr>
      <vt:lpstr>Qué significa medir</vt:lpstr>
      <vt:lpstr>Mezcla no es superposición</vt:lpstr>
      <vt:lpstr>Por qué alcanza con simular 1 qubit</vt:lpstr>
      <vt:lpstr>Resultados</vt:lpstr>
      <vt:lpstr>K par contra K impar</vt:lpstr>
      <vt:lpstr>Privacidad contra utilidad</vt:lpstr>
      <vt:lpstr>Experimento L de collateral</vt:lpstr>
      <vt:lpstr>Teoría contra simulación</vt:lpstr>
      <vt:lpstr>El histograma: mismo centro, más ancho</vt:lpstr>
      <vt:lpstr>Hardware y cierre</vt:lpstr>
      <vt:lpstr>En hardware, el ruido hay que construirlo</vt:lpstr>
      <vt:lpstr>Un circuito probado y un computador de 2 qubits</vt:lpstr>
      <vt:lpstr>Conclusiones</vt:lpstr>
      <vt:lpstr>Decuantizar: diseño C contra diseño L</vt:lpstr>
      <vt:lpstr>Pasos a seguir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Avances semana 9</dc:title>
  <dc:subject/>
  <dc:creator/>
  <cp:lastModifiedBy>Tomas Sierra Sanchez</cp:lastModifiedBy>
  <cp:revision>10</cp:revision>
  <dcterms:created xsi:type="dcterms:W3CDTF">2026-10-14T00:32:46Z</dcterms:created>
  <dcterms:modified xsi:type="dcterms:W3CDTF">2026-10-20T22:37:41Z</dcterms:modified>
</cp:coreProperties>
</file>