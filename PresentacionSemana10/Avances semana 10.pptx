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5"/>
  </p:notesMasterIdLst>
  <p:sldIdLst>
    <p:sldId id="256" r:id="rId2"/>
    <p:sldId id="420" r:id="rId3"/>
    <p:sldId id="258" r:id="rId4"/>
    <p:sldId id="348" r:id="rId5"/>
    <p:sldId id="349" r:id="rId6"/>
    <p:sldId id="357" r:id="rId7"/>
    <p:sldId id="261" r:id="rId8"/>
    <p:sldId id="262" r:id="rId9"/>
    <p:sldId id="364" r:id="rId10"/>
    <p:sldId id="401" r:id="rId11"/>
    <p:sldId id="400" r:id="rId12"/>
    <p:sldId id="418" r:id="rId13"/>
    <p:sldId id="417" r:id="rId14"/>
    <p:sldId id="389" r:id="rId15"/>
    <p:sldId id="383" r:id="rId16"/>
    <p:sldId id="384" r:id="rId17"/>
    <p:sldId id="386" r:id="rId18"/>
    <p:sldId id="359" r:id="rId19"/>
    <p:sldId id="360" r:id="rId20"/>
    <p:sldId id="361" r:id="rId21"/>
    <p:sldId id="362" r:id="rId22"/>
    <p:sldId id="419" r:id="rId23"/>
    <p:sldId id="365" r:id="rId24"/>
    <p:sldId id="366" r:id="rId25"/>
    <p:sldId id="413" r:id="rId26"/>
    <p:sldId id="368" r:id="rId27"/>
    <p:sldId id="387" r:id="rId28"/>
    <p:sldId id="404" r:id="rId29"/>
    <p:sldId id="390" r:id="rId30"/>
    <p:sldId id="372" r:id="rId31"/>
    <p:sldId id="373" r:id="rId32"/>
    <p:sldId id="391" r:id="rId33"/>
    <p:sldId id="284" r:id="rId34"/>
    <p:sldId id="285" r:id="rId35"/>
    <p:sldId id="286" r:id="rId36"/>
    <p:sldId id="287" r:id="rId37"/>
    <p:sldId id="377" r:id="rId38"/>
    <p:sldId id="392" r:id="rId39"/>
    <p:sldId id="290" r:id="rId40"/>
    <p:sldId id="378" r:id="rId41"/>
    <p:sldId id="292" r:id="rId42"/>
    <p:sldId id="379" r:id="rId43"/>
    <p:sldId id="294" r:id="rId4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3160"/>
    <p:restoredTop sz="81647"/>
  </p:normalViewPr>
  <p:slideViewPr>
    <p:cSldViewPr snapToGrid="0" snapToObjects="1">
      <p:cViewPr>
        <p:scale>
          <a:sx n="101" d="100"/>
          <a:sy n="101" d="100"/>
        </p:scale>
        <p:origin x="424" y="61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93872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Presentación de avance para los asesores. Es la continuación directa de la semana 8, que terminó con tres pasos a seguir: decuantizar, ruidos medidos en kernels reales y documentar. Hoy cubrimos los dos primeros. Recordatorio del marco: privacidad diferencial cuántica sobre German Credit (1000 filas), 7 qubits por persona, ε estimado con el Algoritmo 2 (dPD) y comparado con las cotas del paper de Zhou y Ying, "Differential Privacy in Quantum Computation".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semana 8 terminó con "Pasos a seguir: 1. Decuantizar, 2. Ruidos medidos en kernels reales, 3. Documentar". Esta presentación retoma exactamente eso. Cinco actos: I. Dónde estábamos: recordatorio de la cota experimental en los tres mecanismos (depolarizante, PAD y GAD) y la pregunta nueva: cómo se ve la privacidad en datos clásicos. Decuantizar = medir. III. Qué significa medir: copias, mezcla, el pipeline del diseño L, el límite de la codificación y la línea base B. II. Dónde está la privacidad: el ruido visto desde un qubit, una medición contra muchas (e^ε y composición), y diseño C contra diseño L. IV. Resultados: ε del diseño L en las variables categóricas (K par contra K impar) y el experimento L de collateral, con teoría contra simulación y el histograma al final. V. Hardware y cierre: GAD en hardware real (pregunta abierta, trabajo de esta semana), conclusiones y pasos a seguir. Fuera de alcance hoy (quedan como pasos a seguir): credit_amount y las variables numéricas, y el ε del diseño L con los 7 qubits completos.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Primero, dónde quedamos: la cota experimental en los tres mecanismos. Después, la pregunta que abre el trabajo de esta semana.</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C02512-CF00-4204-4CCC-42410665405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F7D76A-0E79-EA50-0387-E19EC513E97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2F0A51B-05D4-3539-FCCF-D43EB48915D1}"/>
              </a:ext>
            </a:extLst>
          </p:cNvPr>
          <p:cNvSpPr>
            <a:spLocks noGrp="1"/>
          </p:cNvSpPr>
          <p:nvPr>
            <p:ph type="body" idx="1"/>
          </p:nvPr>
        </p:nvSpPr>
        <p:spPr/>
        <p:txBody>
          <a:bodyPr/>
          <a:lstStyle/>
          <a:p>
            <a:r>
              <a:rPr lang="en-US"/>
              <a:t>Ciclo externo por columna, ciclo interno leave-one-out por fila. Cada caja corresponde a una función de Encoder.py, QuantProcesses.py, NoiseMechanisms.py o ProportionalDistance.py.</a:t>
            </a:r>
          </a:p>
        </p:txBody>
      </p:sp>
      <p:sp>
        <p:nvSpPr>
          <p:cNvPr id="4" name="Slide Number Placeholder 3">
            <a:extLst>
              <a:ext uri="{FF2B5EF4-FFF2-40B4-BE49-F238E27FC236}">
                <a16:creationId xmlns:a16="http://schemas.microsoft.com/office/drawing/2014/main" id="{2B5A02FD-CDD4-7995-58EC-870D23825C22}"/>
              </a:ext>
            </a:extLst>
          </p:cNvPr>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215124423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Mensaje: en los tres mecanismos el ε experimental queda por debajo de la cota teórica. Son tres mecanismos. El depolarizante se probó de dos formas: sobre el estado conjunto de 7 qubits (D = 128) y columna por columna (D = 2). "Por columna" significa que cada atributo se agrega y se le aplica el ruido por separado (1 qubit), y los 7 ε se suman con el Teorema 4 (composición). La última columna es el cociente cota teórica / ε experimental: 1.13 en la publicación conjunta, 1.46 en el depolarizante por columna, 1.97 en PAD y 2.65 en GAD. En todos los casos es mayor que 1: el experimento nunca supera la cota. Lo que sigue explica dos cosas de esta tabla: por qué la publicación conjunta cuesta tanto más que la publicación por columna, y por qué el orden es depolarizante &lt; PAD &lt; GAD.</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diferencia entre las dos formas de publicar el depolarizante (0.106 contra 0.0068) viene de la dimensión D en la cota del Teorema 3: ε = ln[1 + ((1−p)/p)·d·D]. Intuición, paso a paso: 1. El ruido mezcla con I/D, así que ningún resultado de medición tiene probabilidad menor que p/D. Ese es el "piso". 2. Dos vecinos difieren como mucho en (1−p)·d. 3. El cociente entre sus probabilidades queda acotado por 1 + (1−p)·d / (p/D), que es exactamente lo que está dentro del logaritmo. La dimensión conjunta crece como 2ⁿ (exponencial en el número de qubits), mientras que la suma por columnas crece como 2n (lineal). Con 7 qubits: 128 contra 14. Costo: publicar por columna cuesta menos ε, pero se pierden las correlaciones entre atributos, así que no se pueden hacer estudios conjuntos. Este mismo patrón (exponencial contra lineal) va a reaparecer en el Acto II cuando comparemos el diseño C con el diseño L.</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p = γ = 0.5, el orden es depolarizante &lt; PAD (λ = 0.25) &lt; GAD. Se explica por cuánto encoge cada canal el vector de Bloch en x e y: 0.5, 0.61 y 0.71. Cuanto más encoge, menos distinguibles quedan los estados y menor es ε. Las barras muestran el largo que le queda al vector (1 = no encoge): la más corta es la del depolarizante, que es también la de menor ε. Ojo: el orden vale para estos parámetros, no como ranking general de los mecanismos. Elección de λ: PAD con p = γ = 0.5 va desde GAD (λ = 0) hasta el depolarizante (λ = 0.5). λ = 0.25 es el punto medio y cumple la hipótesis λ ≤ γ del Teorema 2 del paper. Respaldo, por si preguntan: PAD con λ = γ = p = 0.5 coincide exactamente con el depolarizante de 1 qubit con p = 0.5. Ambos encogen el vector de Bloch por 0.5 en todas las direcciones, y las cotas también coinciden (ln(1 + 2d)). Dos implementaciones independientes dieron los mismos números hasta el decimal 15.</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Mensaje: la cota es solo un número. Queremos ver qué significa ε en datos concretos, y para eso hay que volver al mundo clásico. Motivación: ya sabemos que ε cumple la cota. ¿Cómo se ve esa privacidad en los datos que recibiría un analista? Decuantizar = medir. En la simulación tenemos la distribución de probabilidad completa de cada qubit (la matriz de densidad). Quien recibe los datos en la realidad tiene que medir: el estado colapsa y entrega un solo resultado, 0 o 1. Gancho, adelantando la respuesta: la privacidad no se ve como un promedio que se mueve, sino como una estimación menos precisa. Una vez corregido el sesgo, el centro se mantiene y lo que crece es la dispersión: los valores quedan menos agrupados alrededor del centro. El histograma del Acto IV es la evidencia.</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Mensaje del bloque: en C, A aparece un poco en cada copia, así que estimar una estadística con N copias cuesta N·ε. En L, A aparece entera en un solo resultado y cuesta un solo ε. El costo de C crece con D y el de L con ln D: con 1 qubit son comparables, y con 7 qubits C es inutilizable (ε_total = 106) mientras L es unas 5 veces más preciso a igual ε. Si quien recibe el estado consume una sola copia sin decuantizar, el ε por copia del modelo central es mucho mejor que el de L. Lo que decide es cuántas copias se consumen. Los dos diseños: - C (central): se miden N copias del estado agregado con ruido ρ″. Cada copia equivale a sortear una persona (Acto III). Si se saca a A, cambian las N copias, porque A está un poco en todas: composición (Teorema 4), ε_total = N·ε_por_copia. - L (local): cada persona se codifica, recibe su ruido y se mide una vez. Si se saca a A, cambia solo su resultado: composición paralela, ε_total = ε de una persona. Frase para recordar: "en C, A está un poco siempre; en L, A está mucho una vez". Decisión: solo se simuló L. C se reporta con cálculos analíticos.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6B9D2A-77FC-357F-BF3C-B9EA31FBA0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0BD7F4-12BC-3F71-5454-DEEC04581E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8CFD78A-5C66-04FF-F623-74822DD73502}"/>
              </a:ext>
            </a:extLst>
          </p:cNvPr>
          <p:cNvSpPr>
            <a:spLocks noGrp="1"/>
          </p:cNvSpPr>
          <p:nvPr>
            <p:ph type="body" idx="1"/>
          </p:nvPr>
        </p:nvSpPr>
        <p:spPr/>
        <p:txBody>
          <a:bodyPr/>
          <a:lstStyle/>
          <a:p>
            <a:r>
              <a:rPr lang="en-US"/>
              <a:t>Ciclo externo por columna, ciclo interno leave-one-out por fila. Cada caja corresponde a una función de Encoder.py, QuantProcesses.py, NoiseMechanisms.py o ProportionalDistance.py.</a:t>
            </a:r>
          </a:p>
        </p:txBody>
      </p:sp>
      <p:sp>
        <p:nvSpPr>
          <p:cNvPr id="4" name="Slide Number Placeholder 3">
            <a:extLst>
              <a:ext uri="{FF2B5EF4-FFF2-40B4-BE49-F238E27FC236}">
                <a16:creationId xmlns:a16="http://schemas.microsoft.com/office/drawing/2014/main" id="{2037D94A-9855-543F-3833-2E17E2CF3C15}"/>
              </a:ext>
            </a:extLst>
          </p:cNvPr>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43818741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D8073F-FE51-0D38-0D8B-B0AFEFD871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7520EC-A38B-DD81-9D2B-AA0AC152B9A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1A850E-EC2A-7548-CBF8-1CC519473371}"/>
              </a:ext>
            </a:extLst>
          </p:cNvPr>
          <p:cNvSpPr>
            <a:spLocks noGrp="1"/>
          </p:cNvSpPr>
          <p:nvPr>
            <p:ph type="body" idx="1"/>
          </p:nvPr>
        </p:nvSpPr>
        <p:spPr/>
        <p:txBody>
          <a:bodyPr/>
          <a:lstStyle/>
          <a:p>
            <a:r>
              <a:rPr lang="en-US"/>
              <a:t>Ciclo externo por columna, ciclo interno leave-one-out por fila. Cada caja corresponde a una función de Encoder.py, QuantProcesses.py, NoiseMechanisms.py o ProportionalDistance.py.</a:t>
            </a:r>
          </a:p>
        </p:txBody>
      </p:sp>
      <p:sp>
        <p:nvSpPr>
          <p:cNvPr id="4" name="Slide Number Placeholder 3">
            <a:extLst>
              <a:ext uri="{FF2B5EF4-FFF2-40B4-BE49-F238E27FC236}">
                <a16:creationId xmlns:a16="http://schemas.microsoft.com/office/drawing/2014/main" id="{29539475-85D3-584F-C380-838747283443}"/>
              </a:ext>
            </a:extLst>
          </p:cNvPr>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407834900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Mensaje del bloque: el ε del diseño L de una variable categórica lo fija su par de categorías más separado. Con K par siempre hay un par opuesto, y ε = ln 3 con la cota alcanzada. Con K impar queda algo por debajo, pero esa ventaja desaparece al crecer K. La utilidad, en cambio, la fijan los pares vecinos: al meter más categorías en un qubit quedan más apretadas y una medición dice menos. purpose (K = 10) tiene la misma privacidad que collateral, pero peor utilidad. Método: diseño L, 1 qubit por variable (D = 2), depolarizante p = 0.5. Para cada variable se codifican sus K categorías (φₖ = 2πk/K en el ecuador), se calculan todos los pares (k, j), y para cada uno ε_exp = máx(dPD en las dos direcciones), comparado con la cota del Teorema 3. El ε de la variable es el máximo sobre los pares. Se comprobó en todos los pares que ε_exp ≤ ε_teo. Archivo: Experiment/tests/LocalDepolarizingFull.py. Tabla: housing (K = 3, 120°, d = 0.866): cota 1.0051, experimental 0.9624, no se alcanza. collateral (K = 4, 180°, d = 1): 1.0986 y 1.0986, se alcanza. credit_history (K = 5, 144°, d = 0.951): 1.0654 y 1.0494, no. purpose (K = 10, 180°, d = 1): 1.0986 y 1.0986, sí. Se reporta la separación y no el par (i, j): en K = 3 y K = 10 hay pares empatados, y cuál gana depende del ruido numérico de dPD.</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Mensaje: en los tres mecanismos el ε experimental queda por debajo de la cota teórica. Son tres mecanismos. El depolarizante se probó de dos formas: sobre el estado conjunto de 7 qubits (D = 128) y columna por columna (D = 2). "Por columna" significa que cada atributo se agrega y se le aplica el ruido por separado (1 qubit), y los 7 ε se suman con el Teorema 4 (composición). La última columna es el cociente cota teórica / ε experimental: 1.13 en la publicación conjunta, 1.46 en el depolarizante por columna, 1.97 en PAD y 2.65 en GAD. En todos los casos es mayor que 1: el experimento nunca supera la cota. Lo que sigue explica dos cosas de esta tabla: por qué la publicación conjunta cuesta tanto más que la publicación por columna, y por qué el orden es depolarizante &lt; PAD &lt; GAD.</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la medición entendida, buscamos dónde aparece la privacidad: primero en un solo qubit, después en lo que aprende un atacante con una o muchas mediciones, y al final en los dos diseños posibles para decuantizar.</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Mensaje del bloque: cada medición consume una copia del estado y entrega un solo bit. Medir una copia del estado agregado equivale a sortear una persona y medirla (siguiente diapositiva). Copias. Un estado cuántico no se puede copiar (teorema de no clonación), y al medirlo colapsa al resultado obtenido: se pierde la información sobre con qué probabilidad podía salir el otro. Por eso cada medición necesita una copia nueva del estado. Leer la matriz = infinitas copias. En la simulación se lee ρ″ completa y se calculan probabilidades exactas, con error cero. Con N mediciones el error es √(P(1−P)/N), que solo es cero con N → ∞. Leer la matriz es una herramienta de análisis, no algo que tenga quien recibe los datos.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Mezcla = sortear una persona. El estado agregado es ρ = (1/n)·Σᵢ ρᵢ. Para cualquier resultado Π: Tr(Π·ρ) = Σᵢ (1/n)·Tr(Π·ρᵢ) = Σᵢ P(persona i)·P(resultado | persona i). Es la ley de probabilidad total: medir una copia de ρ da exactamente las mismas probabilidades que sortear una persona al azar (cada una con probabilidad 1/n) y medir su estado. Esto es lo que justifica, más adelante, decir que en el diseño C cada copia medida "equivale a sortear una persona".</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Mensaje del bloque: aun sin ruido, una medición no recupera la categoría de collateral. Esa pérdida viene de la codificación, no de la privacidad. Por eso la referencia es B (codificado y medido sin ruido) y no el CSV. Codificación: car → |+⟩, none → |+i⟩, real estate → |−⟩, savings → |−i⟩. Son 4 puntos en el ecuador, separados 90°. En un qubit (dimensión 2) caben como mucho 2 estados ortogonales entre sí. Con 4 categorías, ninguna medición las distingue sin error. Medición en base X, sin ruido: car da "+" siempre (P(+) = 1), real estate nunca (0), y none y savings dan "+" la mitad de las veces (½). Lo que estima F: E[F] = P(car)·1 + P(none)·½ + P(real estate)·0 + P(savings)·½ = 0.45. Es una sola combinación de las proporciones, no los 4 conteos: un número para 3 incógnitas, y none y savings entran con el mismo peso.</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Mensaje del bloque: el ruido corre el promedio hacia ½, pero ese corrimiento es determinista y se corrige conociendo p. Lo que no se puede corregir es la dispersión (siguiente diapositiva). Una persona: P″(+) = (1−p)·P(+) + p/2. Con p = 0.5: car pasa de 1 a 0.75, none y savings se quedan en ½, real estate pasa de 0 a 0.25. Con p = 1, todas dan ½. Promediando sobre las personas: E[F_C] = (1−p)·E[F_B] + p/2. Restando ½ a ambos lados: E[F_C] − ½ = (1−p)·(E[F_B] − ½). - El ruido multiplica la distancia a ½ por (1−p): empuja hacia ½, que es el valor del estado totalmente mezclado (no hacia el promedio de los datos). - (1−p) es el mismo factor con que el depolarizante encoge el vector de Bloch. - Con collateral el corrimiento es chico (0.45 → 0.475) porque 0.45 ya estaba cerca de ½. Si E[F_B] fuera 0.9, el mismo ruido lo llevaría a 0.7.</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Mensaje: el ruido corre el promedio hacia ½, pero ese corrimiento es determinista y se corrige conociendo p. Lo que no se puede corregir es la dispersión: la estimación corregida F̂ queda centrada en el valor verdadero, pero unas 2.8 veces más ancha. Ese ancho es el costo en utilidad de la privacidad. Corrección: F̂ = (F_C − p/2)/(1−p). Solo usa lo medido (F_C) y el parámetro público p, no el valor verdadero. Es un estimador insesgado, como en el randomized response clásico. Dos efectos del mismo ruido: - Centro: se corre hacia ½, de forma determinista, y se corrige. - Dispersión: aumenta, y no se corrige. Cada persona se vuelve una moneda más impredecible: la varianza P(1−P) de car pasa de 0 a 0.1875, y la de real estate igual. El ancho extra tiene dos fuentes (números de la simulación, diseño L): - F_B (sin ruido): centro 0.450, std 0.0103. - F_C (con ruido, sin corregir): centro 0.475, std 0.0143, ×1.4 respecto de F_B (el ruido). - F̂ (corregido): centro 0.450, std 0.0285, ×2.8 (ruido × corrección, que multiplica por 1/(1−p) = 2). Frase clave: F̂ no devuelve el mismo número que F_B. Apunta en promedio al mismo valor, pero en cada repetición cae más lejos. Las barras del gráfico van de centro − 2·std a centro + 2·std; la línea punteada marca 0.45, el valor esperado sin ruido.</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Mensaje del bloque: ε dice cuánto puede cambiar la creencia de un atacante al ver un resultado: como máximo un factor e^ε en sus odds, sepa lo que sepa de antemano. Con collateral y p = 0.5, un factor 3. La garantía se rompe al medir varias veces a la misma persona (siguientes diapositivas). Construcción paso a paso. El atacante sabe que A tiene car o real estate, y ve un solo resultado "+". 1. Con ruido (p = 0.5): P(+ | car) = 0.75 y P(+ | real estate) = 0.25. El cociente es 3. 2. Sin ruido: P(+ | car) = 1 y P(+ | real estate) = 0. El cociente es ∞: un "+" revela con certeza que A tiene car (ε = ∞). 3. Teorema 3 para un qubit: D = 2, d = 1 porque |+⟩ y |−⟩ son ortogonales, p = 0.5. ε = ln(1 + 2) = ln 3 ≈ 1.10, y e^ε = 3. Coincide con el cociente: para este par la cota se alcanza.</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Bayes: odds después = odds antes × cociente. La garantía no depende de lo que sepa el atacante: - Sin información (odds 1): tras un "+" las odds pasan a 3. - Con las proporciones del dataset (0.232/0.332 = 0.70): tras un "+" quedan en ≈ 2.1. - En cualquier caso, un resultado multiplica las odds como máximo por 3. Inclina, pero no decide. 5. La misma persona medida 10 veces, con 10 "+": las odds se multiplican por 3¹⁰ ≈ 59 000, y el atacante queda prácticamente seguro. Equivale a ε_total = 10·ln 3 ≈ 11 (composición, Teorema 4). La garantía se rompe al medir varias veces a la misma persona, porque cada lectura vuelve a multiplicar: k mediciones cuestan k·ε.</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Contraste entre medir a la misma persona muchas veces y medir a muchas personas una vez cada una. La misma persona, 10 veces: 10 resultados dependen de A; ε sobre A = 10·ln 3 ≈ 11 por composición (Teorema 4); el atacante aprende la categoría de A casi con certeza; el analista no gana nada útil. 1000 personas, una vez cada una: solo 1 resultado depende de A; ε sobre A = ln 3 ≈ 1.10 por composición paralela; el atacante aprende un factor 3 como máximo; el analista recupera la estadística de la población (F̂). Composición paralela: mecanismos sobre datos disjuntos (uno por persona) no acumulan ε. Si se saca a A, cambia solo su resultado; los otros 999 no dependen de A. En la población, A aporta 1/1000 = 0.001 a F, que queda enterrado en una dispersión de ≈ 0.014.</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Caso 1 qubit (solo collateral, coherente con el histograma), N = 1000. Diseño C: ε total 0.61 experimental y 1.13 de cota, con ε por copia 0.000608 (exp) y 0.00113 (cota). std(F̂) = 0.0316. Diseño L: ε total 1.10 (experimental = cota, ln 3). std(F̂) = 0.0293. Ninguno domina: C gasta menos ε medido, L es un poco más preciso. Detalle: en C la línea base también es más ancha, std(F_B) ≈ 0.0157 contra 0.0104 en L, porque el sorteo con reposición agrega varianza. Recordatorio: C se reporta con cálculos analíticos; solo L se simuló.</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Caso 7 qubits (publicación conjunta, D = 128). El ε por copia es 0.106 (Acto I). - Con N = 1000: ε_total = 106, y e^106 ≈ 10⁴⁶. No queda garantía. - Para ε_total ≈ 1 harían falta N ≈ 9 copias, y entonces std(F̂) ≈ 0.33: el intervalo 0.45 ± 2·std cubre todos los valores posibles. Inútil. - A igual ε que L (cota ln 129 ≈ 4.86): N ≈ 46 copias, y std(F̂) ≈ 0.15, contra 0.029 en L. L es unas 5 veces más preciso. Nota honesta: el ε de L con 7 qubits es solo la cota (ln 129). Su cálculo experimental queda fuera de alcance y está en los pasos a seguir.</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 qué escalan distinto. Supuestos: d ≈ 1/n en C (A pesa 1/n en el estado agregado), d = 1 en L, (1−p)/p = 1 con p = 0.5, y N = n. C: ε_total ≈ N·ln(1 + D/n) ≈ D. L: ε = ln(1 + D). D = 2 (1 qubit): C ≈ 2 (con el d real, 1.13); L = 1.10. Cociente ≈ 1–2×. D = 128 (7 qubits): C ≈ 120 (con el d real, 106); L = 4.86 (cota). Cociente ≈ 25×. Con D = 2ⁿ, el costo de C crece exponencialmente con el número de qubits y el de L linealmente (ln 2ⁿ = n·ln 2). Es el mismo patrón del Acto I: estado conjunto contra suma por columnas.</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Cuándo C sigue siendo bueno: si un proceso cuántico consume una sola copia de ρ″ sin decuantizar, la garantía es el ε por copia (0.106 con 7 qubits), mucho mejor que la de L. La línea divisoria no es cuántico contra clásico, sino cuántas copias consume quien recibe el estado. Un algoritmo cuántico que necesite estimar algo con precisión también consume muchas copias y paga N·ε. Con esto cierra el Acto II: sabemos dónde está la privacidad (en la dispersión, no en el centro), qué la rompe (medir varias veces a la misma persona) y por qué L escala mejor que C cuando hay que decuantizar.</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Incertidumbre sin ruido (Bayes): si una persona da "+", P(car | +) = 1 · 0.232 / 0.45 ≈ 0.52. Casi una moneda. Y esto es sin ningún ruido de privacidad: viene de la codificación, porque none y savings también dan "+" la mitad de las veces. Por eso trabajamos con tres versiones de los datos: A = CSV (datos originales). B = codificado y medido sin ruido (p = 0). C = codificado y medido con ruido (p = 0.5). A–B aísla el costo de la codificación y la medición. B–C aísla el efecto del ruido de privacidad. Es la comparación del histograma. A–C mezcla los dos efectos, y le atribuiría a la privacidad un error que en realidad viene de la codificación.</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Diagrama nuevo: pipeline del diseño L (reemplaza al "Pipeline completo" de la semana 8). 1. Datos: columna collateral, 1000 personas, 4 categorías. 2. Codificar: cada persona → 1 qubit en el ecuador (H + RZ(2πk/4)). 3. Dos ramas: B sin ruido (p = 0, referencia) y C con depolarizante de 1 qubit (p = 0.5). 4. Medir en base X, una vez por persona: cada persona entrega "+" o "−". 5. Estadística por repetición: F = fracción de "+". En C se corrige: F̂ = (F_C − p/2)/(1 − p). 6. Repetir el experimento 2000 veces → distribución de F_B y de F̂ → histograma. Terminología: hablo de "repeticiones del experimento". Cada repetición es una publicación posible, donde cada persona se mide una sola vez. No uso "shots", porque se lee como medir muchas veces a la misma persona, que es justo lo que rompe la privacidad (lo vemos en el Acto II).</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 hablar de privacidad en datos clásicos hay que entender qué hace exactamente la medición: qué se gasta, qué se obtiene y qué se pierde ya desde la codificación.</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Mezcla contra superposición, con un ejemplo de dos personas: car = |+⟩ y real estate = |−⟩. Mezcla (lo que hace la agregación, suma de matrices): ½|+⟩⟨+| + ½|−⟩⟨−| = I/2. Medida en Z da 50/50, igual que sortear entre las dos personas. Superposición (suma de vectores, normalizada): (|+⟩ + |−⟩)/√2 = |0⟩. Medida en Z da siempre "0". Es otro estado, no "50 % cada persona". El punto: cuando agregamos personas sumamos matrices de densidad, no vectores de estado. Por eso la agregación se comporta como un sorteo clásico de personas, y no como una superposición coherente.</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 qué alcanza con simular 1 qubit. Con el depolarizante global de 7 qubits, la traza parcial sobre los otros 6 da ρ″₀ = (1−p)·ρ₀ + p·I/2: un depolarizante de 1 qubit con el mismo p. La cuenta solo usa la linealidad de la traza parcial y que Tr(I/2) = 1, así que vale para cualquier ρ, aunque haya correlaciones o entrelazamiento. Como solo se mide y publica el qubit de collateral, el ε se calcula con D = 2. Lo mismo vale para GAD y PAD, que se aplican qubit por qubit (canal producto E₀ ⊗ … ⊗ E₆, ver la demostración de la semana 8): Tr_resto[(E₀ ⊗ … ⊗ E₆)(ρ)] = E₀(ρ₀), porque los canales de los otros qubits preservan la traza. Tampoco requiere que ρ sea producto. Esto será útil en el Acto V: en el computador de 2 qubits, aplicar GAD a cada qubit y medir uno equivale a GAD de 1 qubit.</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Ahora los resultados: primero el ε del diseño L para todas las variables categóricas, y después el experimento completo de collateral, que termina en el histograma.</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Explicación paso a paso. Para dos estados del ecuador separados por Δ: |⟨ψ|φ⟩|² = cos²(Δ/2), así que d = sin(Δ/2), que crece con Δ hasta 180°. El peor caso es el par más separado (la cuerda azul en cada dibujo). En la esfera de Bloch, dos puntos opuestos (180°) son estados ortogonales: d = 1, y existe una medición que los separa perfectamente antes del ruido. Por eso ahí la cota se alcanza. Con menos de 180° esa medición no existe y el ε real queda por debajo de la cota (como los vecinos a 90° de collateral: 0.7954 contra 0.8814). K par: avanzar K/2 pasos de 2π/K da exactamente π, así que siempre hay un par opuesto (K = 4 y K = 10, marcos negros). K impar: el máximo son (K−1)/2 pasos, un ángulo de (K−1)/K · 180° &lt; 180° (K = 3 y K = 5). Al crecer K impar, el peor par se acerca a 180° (K = 21 → 171.4°) y el ε tiende a ln 3: la ventaja de K impar desaparece.</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Privacidad contra utilidad: la privacidad depende del par más separado; la utilidad, de los pares vecinos (separación 360°/K). collateral (K = 4) y purpose (K = 10) tienen exactamente el mismo ε, ln 3 ≈ 1.10, porque las dos tienen un par opuesto. Pero en collateral las vecinas están a 90° y en purpose a 36°: más apretadas, y una medición dice menos sobre cuál de ellas era. Meter más categorías en un qubit no cambia el ε, pero empeora la lectura: la probabilidad condicional de acertar la categoría baja. Detalle: con menos de 180° no existe una medición que separe perfectamente los dos estados, y el ε real queda por debajo de la cota. Por ejemplo, los vecinos a 90° de collateral: 0.7954 contra 0.8814.</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Mensaje del bloque: la simulación reproduce los valores teóricos de centro y dispersión. En el histograma, la estimación corregida F̂ queda centrada en el mismo valor que la referencia sin ruido (0.45), pero unas 2.8 veces más ancha: con ε = ln 3, la privacidad no sesga la estadística de la población, la vuelve menos precisa. Implementación (Experiment/tests/DequantCollateral.py): 1 qubit por persona (H + RZ(2πk/4)), depolarizante p = 0.5, Pᵢ(+) = ⟨+|ρᵢ″|+⟩ por regla de Born, muestreo de 2000 × 1000 mediciones con numpy (semilla 8, la misma matriz de uniformes para B y C). Comprobación previa: los valores únicos de Pᵢ(+) son {0, ½, 1} sin ruido y {0.25, 0.5, 0.75} con ruido, como predice P″(+) = (1−p)·P(+) + p/2. Por qué 2000 repeticiones: el error relativo de una std estimada con R repeticiones es ≈ 1/√(2R) = 1.6 % con R = 2000. Las diferencias que vamos a ver entre teoría y simulación (1.6 % a 2.7 %) son fluctuación normal.</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Teoría contra simulación (2000 repeticiones): - Centro de F_B: teoría 0.45, simulación 0.4500. - Centro de F_C: teoría 0.475, simulación 0.4751. - Centro de F̂: teoría 0.45, simulación 0.4502. - std de F_B: teoría 0.0104, simulación 0.0103. - std de F_C: teoría 0.0147, simulación 0.0143. - std de F̂: teoría 0.0293, simulación 0.0285. De dónde sale la std teórica: Var(F) = (1/n²)·Σₖ nₖ·Pₖ·(1−Pₖ). Sin ruido, car y real estate son deterministas y no aportan; solo none y savings (P = ½): Var = (282 + 154)·¼ / 1000² = 1.09·10⁻⁴, y std = 0.0104. Por qué 2000 repeticiones: el error relativo de una std estimada con R repeticiones es ≈ 1/√(2R) = 1.6 % con R = 2000. Las diferencias observadas (1.6 % a 2.7 %) son fluctuación normal.</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histograma (Experiment/imgs/histograma_collateral.png): F_B y F̂ con los mismos bordes de bins (ancho 0.004, desplazado 0.0005), con una línea en el valor esperado sin ruido (0.45), y ε = 1.10 y p = 0.5 en el título. Mensaje: la simulación reproduce los valores teóricos de centro y dispersión. La estimación corregida F̂ queda centrada en el mismo valor que la referencia sin ruido (0.45), pero unas 2.8 veces más ancha. Con ε = ln 3, la privacidad no sesga la estadística de la población: la vuelve menos precisa. Esta es la evidencia del adelanto del Acto I: la privacidad no se ve como un promedio que se mueve, sino como una estimación menos precisa. Ojo al leerlo: cada valor del histograma es la estadística de la población en una repetición, no una persona. El histograma muestra la precisión de la estimación poblacional; el efecto sobre un individuo es el del Acto II (una medición contra muchas).</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Último acto: el segundo paso que quedó de la semana 8 (ruidos en hardware real), que es trabajo en curso, y el cierre con conclusiones y pasos a seguir.</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Mensaje del bloque (versión resumida, trabajo en curso): en hardware solo hay compuertas unitarias y mediciones. Para aplicar ruido hay que construirlo con una dilatación de Stinespring. Existe un circuito probado para GAD, pero usa 3 qubits y el computador de la universidad tiene 2: esa es la pregunta abierta de esta semana. En la simulación los canales se aplican como matrices. En hardware, un canal no unitario se construye así: sistema + entorno en un estado puro → unitario conjunto → se descarta el entorno sin medirlo (traza parcial). El qubit resultante queda en el estado mixto con ruido. Por si un asesor pregunta: un estado mixto no siempre requiere Stinespring. El depolarizante es una mezcla de Paulis al azar (1 qubit + aleatoriedad clásica). Stinespring es necesario cuando el canal no es una mezcla de unitarios (GAD con p genérico).</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Referencia: F. Chapeau-Blondeau, "Modeling and simulation of a quantum thermal noise on the qubit", Fluctuation and Noise Letters 21 (2022) 2250060 (arXiv:2212.03582). - Circuito de 3 qubits: el qubit Q, un qubit de entorno E y un auxiliar. El auxiliar deja a E en el estado térmico p|0⟩⟨0| + (1−p)|1⟩⟨1|: se prepara |p⟩ = √p|0⟩ + √(1−p)|1⟩, una CNOT los entrelaza y se descarta uno. - 5 CNOT y rotaciones RY. p se controla con el estado |p⟩ y γ con el ángulo ξ = −arcsin √γ. - Probado en ibmq_bogota con 10⁴ mediciones por punto: coincide con la teoría, con desviaciones atribuibles al ruido propio del procesador. Restricción propia: el computador cuántico de la universidad tiene 2 qubits. Pregunta abierta: cómo implementar GAD (y el depolarizante) con p = 0.5 dentro de ese límite. Recordar del Acto III: aplicar GAD a cada qubit y medir uno equivale a GAD de 1 qubit. Esta semana: prueba de concepto, comparando las probabilidades medidas contra las teóricas. Por si preguntan: si el computador es de resonancia magnética nuclear (ensamble), la lectura entrega probabilidades directamente y no resultados uno por uno. Para la prueba de concepto de GAD sirve igual, pero hay que mencionarlo.</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Conclusiones, en tono de cierre de tesis. 1. Los mecanismos cumplen la teoría. En los tres mecanismos de privacidad diferencial cuántica (depolarizante, PAD y GAD), el ε experimental quedó por debajo de la cota teórica, en todas las columnas y en las dos formas de publicar. La cota se alcanza solo para pares de estados ortogonales. El ruido cuántico puede proteger datos clásicos codificados en estados cuánticos con la garantía que predice la teoría. 2. Consumo cuántico. Si un proceso cuántico consume una o pocas copias del estado privatizado, la garantía del modelo central es muy fuerte (ε ≈ 0.1 por copia con los 7 qubits). 3. Decuantización: volver al mundo clásico exige medir, y la forma de hacerlo determina el costo en privacidad. La siguiente diapositiva compara los dos diseños. Decidido: la pregunta de por qué la cota es más holgada en GAD que en el depolarizante queda fuera de la presentación. Si los asesores la plantean, anotarla como pregunta abierta.</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Decuantización: volver al mundo clásico exige medir, y la forma de hacerlo determina el costo en privacidad. Diseño C (central) - A favor: ε por copia muy pequeño. Con una copia, el atacante gana muy poca certeza adicional. - En contra: decuantizar exige muchas copias y cada una suma ε (N·ε). N es una perilla: más copias dan más utilidad y menos privacidad. El costo crece con D (exponencial en el número de qubits): con 7 qubits es inutilizable (ε_total = 106 con N = 1000). Requiere un curador que reúna todos los estados para agregarlos. El sorteo de personas agrega varianza. - Cuándo conviene: cuando se consumen pocas copias, o se sigue trabajando con los datos en el mundo cuántico. Diseño L (local) - A favor: cada persona aparece en un solo resultado (composición paralela), así que el ε no crece con el número de personas ni de publicaciones. Su costo crece con ln D (lineal en el número de qubits). No necesita un curador de confianza: cada persona puede aplicar su ruido, medir y entregar solo el resultado. - En contra: el ε por persona es más alto que el ε por copia del central (con 1 qubit: ln 3 ≈ 1.10 contra 0.0006). - Cuándo conviene: cuando se necesitan estadísticas sobre datos clásicos (muchas muestras). Matiz: con 1 qubit los dos diseños son comparables (Acto II). La ventaja de L aparece y crece con la dimensión.</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Pasos a seguir: 1. Prueba de concepto en hardware real (computador de 2 qubits de la universidad): GAD y, posiblemente, el depolarizante. 2. Variables numéricas (credit_amount): qué estadística entrega realmente la medición. RY(θ) medido en Z da sin²(θ/2), no el valor original. 3. ε del diseño L experimental con los 7 qubits completos (hoy solo se tiene la cota ln 129). 4. Documentar en la tesis los dos modelos de publicación (conjunto y por columna) y por qué se usa cada uno. Quedaron fuera de alcance de esta presentación: credit_amount y las variables numéricas, y el ε del diseño L con los 7 qubits completos. Por eso aparecen aquí.</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FFFFF"/>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812800"/>
            <a:ext cx="10566400" cy="391120"/>
          </a:xfrm>
          <a:prstGeom prst="rect">
            <a:avLst/>
          </a:prstGeom>
          <a:noFill/>
          <a:ln/>
        </p:spPr>
        <p:txBody>
          <a:bodyPr wrap="square" lIns="0" tIns="0" rIns="0" bIns="0" rtlCol="0" anchor="t"/>
          <a:lstStyle>
            <a:lvl1pPr marL="0" indent="0" algn="l">
              <a:lnSpc>
                <a:spcPct val="115000"/>
              </a:lnSpc>
              <a:buNone/>
              <a:defRPr lang="en-US" sz="2800" dirty="0">
                <a:solidFill>
                  <a:srgbClr val="1D1D1B"/>
                </a:solidFill>
                <a:latin typeface="DM Sans" pitchFamily="34" charset="0"/>
                <a:ea typeface="DM Sans" pitchFamily="34" charset="-122"/>
                <a:cs typeface="DM Sans" pitchFamily="34" charset="-120"/>
              </a:defRPr>
            </a:lvl1pPr>
          </a:lstStyle>
          <a:p>
            <a:pPr marL="0" indent="0" algn="l">
              <a:lnSpc>
                <a:spcPct val="115000"/>
              </a:lnSpc>
              <a:buNone/>
            </a:pPr>
            <a:endParaRPr lang="en-US" sz="2800" dirty="0"/>
          </a:p>
        </p:txBody>
      </p:sp>
      <p:sp>
        <p:nvSpPr>
          <p:cNvPr id="3" name="Text Placeholder 2"/>
          <p:cNvSpPr>
            <a:spLocks noGrp="1"/>
          </p:cNvSpPr>
          <p:nvPr>
            <p:ph type="body" idx="101"/>
          </p:nvPr>
        </p:nvSpPr>
        <p:spPr>
          <a:xfrm>
            <a:off x="812800" y="1508720"/>
            <a:ext cx="10566400" cy="4536480"/>
          </a:xfrm>
          <a:prstGeom prst="rect">
            <a:avLst/>
          </a:prstGeom>
          <a:noFill/>
          <a:ln/>
        </p:spPr>
        <p:txBody>
          <a:bodyPr wrap="square" lIns="0" tIns="0" rIns="0" bIns="0" rtlCol="0" anchor="t"/>
          <a:lstStyle>
            <a:lvl1pPr marL="0" indent="0" algn="l">
              <a:lnSpc>
                <a:spcPct val="140000"/>
              </a:lnSpc>
              <a:buNone/>
              <a:defRPr lang="en-US" sz="1600" dirty="0">
                <a:solidFill>
                  <a:srgbClr val="3C3C3B"/>
                </a:solidFill>
                <a:latin typeface="Roboto" pitchFamily="34" charset="0"/>
                <a:ea typeface="Roboto" pitchFamily="34" charset="-122"/>
                <a:cs typeface="Roboto" pitchFamily="34" charset="-120"/>
              </a:defRPr>
            </a:lvl1pPr>
          </a:lstStyle>
          <a:p>
            <a:pPr marL="0" indent="0" algn="l">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812800"/>
            <a:ext cx="10566400" cy="391120"/>
          </a:xfrm>
          <a:prstGeom prst="rect">
            <a:avLst/>
          </a:prstGeom>
          <a:noFill/>
          <a:ln/>
        </p:spPr>
        <p:txBody>
          <a:bodyPr wrap="square" lIns="0" tIns="0" rIns="0" bIns="0" rtlCol="0" anchor="t"/>
          <a:lstStyle>
            <a:lvl1pPr marL="0" indent="0" algn="l">
              <a:lnSpc>
                <a:spcPct val="115000"/>
              </a:lnSpc>
              <a:buNone/>
              <a:defRPr lang="en-US" sz="2800" dirty="0">
                <a:solidFill>
                  <a:srgbClr val="1D1D1B"/>
                </a:solidFill>
                <a:latin typeface="DM Sans" pitchFamily="34" charset="0"/>
                <a:ea typeface="DM Sans" pitchFamily="34" charset="-122"/>
                <a:cs typeface="DM Sans" pitchFamily="34" charset="-120"/>
              </a:defRPr>
            </a:lvl1pPr>
          </a:lstStyle>
          <a:p>
            <a:pPr marL="0" indent="0" algn="l">
              <a:lnSpc>
                <a:spcPct val="115000"/>
              </a:lnSpc>
              <a:buNone/>
            </a:pPr>
            <a:endParaRPr lang="en-US" sz="2800" dirty="0"/>
          </a:p>
        </p:txBody>
      </p:sp>
      <p:sp>
        <p:nvSpPr>
          <p:cNvPr id="3" name="Text Placeholder 2"/>
          <p:cNvSpPr>
            <a:spLocks noGrp="1"/>
          </p:cNvSpPr>
          <p:nvPr>
            <p:ph type="body" idx="101"/>
          </p:nvPr>
        </p:nvSpPr>
        <p:spPr>
          <a:xfrm>
            <a:off x="812800" y="1508720"/>
            <a:ext cx="10566400" cy="4536480"/>
          </a:xfrm>
          <a:prstGeom prst="rect">
            <a:avLst/>
          </a:prstGeom>
          <a:noFill/>
          <a:ln/>
        </p:spPr>
        <p:txBody>
          <a:bodyPr wrap="square" lIns="0" tIns="0" rIns="0" bIns="0" rtlCol="0" anchor="t"/>
          <a:lstStyle>
            <a:lvl1pPr marL="0" indent="0" algn="l">
              <a:lnSpc>
                <a:spcPct val="140000"/>
              </a:lnSpc>
              <a:buNone/>
              <a:defRPr lang="en-US" sz="1600" dirty="0">
                <a:solidFill>
                  <a:srgbClr val="3C3C3B"/>
                </a:solidFill>
                <a:latin typeface="Roboto" pitchFamily="34" charset="0"/>
                <a:ea typeface="Roboto" pitchFamily="34" charset="-122"/>
                <a:cs typeface="Roboto" pitchFamily="34" charset="-120"/>
              </a:defRPr>
            </a:lvl1pPr>
          </a:lstStyle>
          <a:p>
            <a:pPr marL="0" indent="0" algn="l">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8" Type="http://schemas.openxmlformats.org/officeDocument/2006/relationships/image" Target="../media/image10.png"/><Relationship Id="rId13" Type="http://schemas.openxmlformats.org/officeDocument/2006/relationships/image" Target="../media/image2.png"/><Relationship Id="rId3" Type="http://schemas.openxmlformats.org/officeDocument/2006/relationships/image" Target="../media/image5.png"/><Relationship Id="rId7" Type="http://schemas.openxmlformats.org/officeDocument/2006/relationships/image" Target="../media/image9.png"/><Relationship Id="rId12" Type="http://schemas.openxmlformats.org/officeDocument/2006/relationships/image" Target="../media/image14.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8.png"/><Relationship Id="rId11" Type="http://schemas.openxmlformats.org/officeDocument/2006/relationships/image" Target="../media/image13.png"/><Relationship Id="rId5" Type="http://schemas.openxmlformats.org/officeDocument/2006/relationships/image" Target="../media/image7.png"/><Relationship Id="rId10" Type="http://schemas.openxmlformats.org/officeDocument/2006/relationships/image" Target="../media/image12.png"/><Relationship Id="rId4" Type="http://schemas.openxmlformats.org/officeDocument/2006/relationships/image" Target="../media/image6.png"/><Relationship Id="rId9" Type="http://schemas.openxmlformats.org/officeDocument/2006/relationships/image" Target="../media/image11.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10.xml.rels><?xml version="1.0" encoding="UTF-8" standalone="yes"?>
<Relationships xmlns="http://schemas.openxmlformats.org/package/2006/relationships"><Relationship Id="rId8" Type="http://schemas.openxmlformats.org/officeDocument/2006/relationships/image" Target="../media/image28.png"/><Relationship Id="rId13" Type="http://schemas.openxmlformats.org/officeDocument/2006/relationships/image" Target="../media/image2.png"/><Relationship Id="rId3" Type="http://schemas.openxmlformats.org/officeDocument/2006/relationships/image" Target="../media/image23.png"/><Relationship Id="rId7" Type="http://schemas.openxmlformats.org/officeDocument/2006/relationships/image" Target="../media/image27.png"/><Relationship Id="rId12" Type="http://schemas.openxmlformats.org/officeDocument/2006/relationships/image" Target="../media/image32.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26.png"/><Relationship Id="rId11" Type="http://schemas.openxmlformats.org/officeDocument/2006/relationships/image" Target="../media/image31.png"/><Relationship Id="rId5" Type="http://schemas.openxmlformats.org/officeDocument/2006/relationships/image" Target="../media/image25.png"/><Relationship Id="rId10" Type="http://schemas.openxmlformats.org/officeDocument/2006/relationships/image" Target="../media/image30.png"/><Relationship Id="rId4" Type="http://schemas.openxmlformats.org/officeDocument/2006/relationships/image" Target="../media/image24.png"/><Relationship Id="rId9" Type="http://schemas.openxmlformats.org/officeDocument/2006/relationships/image" Target="../media/image29.png"/></Relationships>
</file>

<file path=ppt/slides/_rels/slide11.xml.rels><?xml version="1.0" encoding="UTF-8" standalone="yes"?>
<Relationships xmlns="http://schemas.openxmlformats.org/package/2006/relationships"><Relationship Id="rId8" Type="http://schemas.openxmlformats.org/officeDocument/2006/relationships/image" Target="../media/image38.png"/><Relationship Id="rId3" Type="http://schemas.openxmlformats.org/officeDocument/2006/relationships/image" Target="../media/image33.png"/><Relationship Id="rId7" Type="http://schemas.openxmlformats.org/officeDocument/2006/relationships/image" Target="../media/image37.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36.png"/><Relationship Id="rId5" Type="http://schemas.openxmlformats.org/officeDocument/2006/relationships/image" Target="../media/image35.png"/><Relationship Id="rId4" Type="http://schemas.openxmlformats.org/officeDocument/2006/relationships/image" Target="../media/image34.png"/><Relationship Id="rId9"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39.png"/></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2.xml"/><Relationship Id="rId5" Type="http://schemas.openxmlformats.org/officeDocument/2006/relationships/image" Target="../media/image41.png"/><Relationship Id="rId4" Type="http://schemas.openxmlformats.org/officeDocument/2006/relationships/image" Target="../media/image40.png"/></Relationships>
</file>

<file path=ppt/slides/_rels/slide17.xml.rels><?xml version="1.0" encoding="UTF-8" standalone="yes"?>
<Relationships xmlns="http://schemas.openxmlformats.org/package/2006/relationships"><Relationship Id="rId8" Type="http://schemas.openxmlformats.org/officeDocument/2006/relationships/image" Target="../media/image46.png"/><Relationship Id="rId3" Type="http://schemas.openxmlformats.org/officeDocument/2006/relationships/image" Target="../media/image2.png"/><Relationship Id="rId7" Type="http://schemas.openxmlformats.org/officeDocument/2006/relationships/image" Target="../media/image45.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44.png"/><Relationship Id="rId5" Type="http://schemas.openxmlformats.org/officeDocument/2006/relationships/image" Target="../media/image43.png"/><Relationship Id="rId4" Type="http://schemas.openxmlformats.org/officeDocument/2006/relationships/image" Target="../media/image42.png"/><Relationship Id="rId9" Type="http://schemas.openxmlformats.org/officeDocument/2006/relationships/image" Target="../media/image47.png"/></Relationships>
</file>

<file path=ppt/slides/_rels/slide18.xml.rels><?xml version="1.0" encoding="UTF-8" standalone="yes"?>
<Relationships xmlns="http://schemas.openxmlformats.org/package/2006/relationships"><Relationship Id="rId8" Type="http://schemas.openxmlformats.org/officeDocument/2006/relationships/image" Target="../media/image52.png"/><Relationship Id="rId3" Type="http://schemas.openxmlformats.org/officeDocument/2006/relationships/image" Target="../media/image2.png"/><Relationship Id="rId7" Type="http://schemas.openxmlformats.org/officeDocument/2006/relationships/image" Target="../media/image51.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50.png"/><Relationship Id="rId5" Type="http://schemas.openxmlformats.org/officeDocument/2006/relationships/image" Target="../media/image49.png"/><Relationship Id="rId4" Type="http://schemas.openxmlformats.org/officeDocument/2006/relationships/image" Target="../media/image48.png"/></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54.png"/><Relationship Id="rId4" Type="http://schemas.openxmlformats.org/officeDocument/2006/relationships/image" Target="../media/image53.png"/></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image" Target="../media/image56.png"/><Relationship Id="rId4" Type="http://schemas.openxmlformats.org/officeDocument/2006/relationships/image" Target="../media/image55.png"/></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57.png"/></Relationships>
</file>

<file path=ppt/slides/_rels/slide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58.png"/></Relationships>
</file>

<file path=ppt/slides/_rels/slide25.xml.rels><?xml version="1.0" encoding="UTF-8" standalone="yes"?>
<Relationships xmlns="http://schemas.openxmlformats.org/package/2006/relationships"><Relationship Id="rId8" Type="http://schemas.openxmlformats.org/officeDocument/2006/relationships/image" Target="../media/image63.png"/><Relationship Id="rId3" Type="http://schemas.openxmlformats.org/officeDocument/2006/relationships/image" Target="../media/image2.png"/><Relationship Id="rId7" Type="http://schemas.openxmlformats.org/officeDocument/2006/relationships/image" Target="../media/image62.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61.png"/><Relationship Id="rId5" Type="http://schemas.openxmlformats.org/officeDocument/2006/relationships/image" Target="../media/image60.png"/><Relationship Id="rId4" Type="http://schemas.openxmlformats.org/officeDocument/2006/relationships/image" Target="../media/image59.png"/><Relationship Id="rId9" Type="http://schemas.openxmlformats.org/officeDocument/2006/relationships/image" Target="../media/image64.png"/></Relationships>
</file>

<file path=ppt/slides/_rels/slide26.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66.png"/></Relationships>
</file>

<file path=ppt/slides/_rels/slide28.xml.rels><?xml version="1.0" encoding="UTF-8" standalone="yes"?>
<Relationships xmlns="http://schemas.openxmlformats.org/package/2006/relationships"><Relationship Id="rId8" Type="http://schemas.openxmlformats.org/officeDocument/2006/relationships/image" Target="../media/image71.png"/><Relationship Id="rId3" Type="http://schemas.openxmlformats.org/officeDocument/2006/relationships/image" Target="../media/image2.png"/><Relationship Id="rId7" Type="http://schemas.openxmlformats.org/officeDocument/2006/relationships/image" Target="../media/image70.png"/><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image" Target="../media/image69.png"/><Relationship Id="rId5" Type="http://schemas.openxmlformats.org/officeDocument/2006/relationships/image" Target="../media/image68.png"/><Relationship Id="rId10" Type="http://schemas.openxmlformats.org/officeDocument/2006/relationships/image" Target="../media/image73.png"/><Relationship Id="rId4" Type="http://schemas.openxmlformats.org/officeDocument/2006/relationships/image" Target="../media/image67.png"/><Relationship Id="rId9" Type="http://schemas.openxmlformats.org/officeDocument/2006/relationships/image" Target="../media/image72.png"/></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30.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77.pn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76.png"/><Relationship Id="rId5" Type="http://schemas.openxmlformats.org/officeDocument/2006/relationships/image" Target="../media/image75.png"/><Relationship Id="rId4" Type="http://schemas.openxmlformats.org/officeDocument/2006/relationships/image" Target="../media/image74.png"/></Relationships>
</file>

<file path=ppt/slides/_rels/slide3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1.xml"/><Relationship Id="rId1" Type="http://schemas.openxmlformats.org/officeDocument/2006/relationships/slideLayout" Target="../slideLayouts/slideLayout2.xml"/><Relationship Id="rId5" Type="http://schemas.openxmlformats.org/officeDocument/2006/relationships/image" Target="../media/image79.png"/><Relationship Id="rId4" Type="http://schemas.openxmlformats.org/officeDocument/2006/relationships/image" Target="../media/image78.png"/></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33.xml.rels><?xml version="1.0" encoding="UTF-8" standalone="yes"?>
<Relationships xmlns="http://schemas.openxmlformats.org/package/2006/relationships"><Relationship Id="rId8" Type="http://schemas.openxmlformats.org/officeDocument/2006/relationships/image" Target="../media/image84.png"/><Relationship Id="rId3" Type="http://schemas.openxmlformats.org/officeDocument/2006/relationships/image" Target="../media/image2.png"/><Relationship Id="rId7" Type="http://schemas.openxmlformats.org/officeDocument/2006/relationships/image" Target="../media/image83.png"/><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image" Target="../media/image82.png"/><Relationship Id="rId5" Type="http://schemas.openxmlformats.org/officeDocument/2006/relationships/image" Target="../media/image81.png"/><Relationship Id="rId4" Type="http://schemas.openxmlformats.org/officeDocument/2006/relationships/image" Target="../media/image80.png"/></Relationships>
</file>

<file path=ppt/slides/_rels/slide3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4.xml"/><Relationship Id="rId1" Type="http://schemas.openxmlformats.org/officeDocument/2006/relationships/slideLayout" Target="../slideLayouts/slideLayout2.xml"/><Relationship Id="rId5" Type="http://schemas.openxmlformats.org/officeDocument/2006/relationships/image" Target="../media/image86.png"/><Relationship Id="rId4" Type="http://schemas.openxmlformats.org/officeDocument/2006/relationships/image" Target="../media/image85.png"/></Relationships>
</file>

<file path=ppt/slides/_rels/slide3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image" Target="../media/image88.png"/><Relationship Id="rId4" Type="http://schemas.openxmlformats.org/officeDocument/2006/relationships/image" Target="../media/image87.png"/></Relationships>
</file>

<file path=ppt/slides/_rels/slide3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6.xml"/><Relationship Id="rId1" Type="http://schemas.openxmlformats.org/officeDocument/2006/relationships/slideLayout" Target="../slideLayouts/slideLayout2.xml"/><Relationship Id="rId5" Type="http://schemas.openxmlformats.org/officeDocument/2006/relationships/image" Target="../media/image90.png"/><Relationship Id="rId4" Type="http://schemas.openxmlformats.org/officeDocument/2006/relationships/image" Target="../media/image89.png"/></Relationships>
</file>

<file path=ppt/slides/_rels/slide3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91.png"/></Relationships>
</file>

<file path=ppt/slides/_rels/slide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3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image" Target="../media/image94.png"/><Relationship Id="rId5" Type="http://schemas.openxmlformats.org/officeDocument/2006/relationships/image" Target="../media/image93.png"/><Relationship Id="rId4" Type="http://schemas.openxmlformats.org/officeDocument/2006/relationships/image" Target="../media/image92.png"/></Relationships>
</file>

<file path=ppt/slides/_rels/slide4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a:stretch/>
        </p:blipFill>
        <p:spPr>
          <a:xfrm>
            <a:off x="0" y="0"/>
            <a:ext cx="12192000" cy="4191000"/>
          </a:xfrm>
          <a:prstGeom prst="rect">
            <a:avLst/>
          </a:prstGeom>
        </p:spPr>
      </p:pic>
      <p:sp>
        <p:nvSpPr>
          <p:cNvPr id="4" name="Text 1"/>
          <p:cNvSpPr>
            <a:spLocks noGrp="1"/>
          </p:cNvSpPr>
          <p:nvPr>
            <p:ph type="title"/>
          </p:nvPr>
        </p:nvSpPr>
        <p:spPr>
          <a:xfrm>
            <a:off x="3582924" y="1422400"/>
            <a:ext cx="7796276" cy="947341"/>
          </a:xfrm>
          <a:prstGeom prst="rect">
            <a:avLst/>
          </a:prstGeom>
          <a:noFill/>
          <a:ln/>
        </p:spPr>
        <p:txBody>
          <a:bodyPr wrap="square" lIns="0" tIns="0" rIns="0" bIns="0" rtlCol="0" anchor="t">
            <a:normAutofit fontScale="90000"/>
          </a:bodyPr>
          <a:lstStyle/>
          <a:p>
            <a:pPr marL="0" indent="0" algn="r">
              <a:lnSpc>
                <a:spcPts val="7260"/>
              </a:lnSpc>
              <a:buNone/>
            </a:pPr>
            <a:r>
              <a:rPr lang="es-ES_tradnl" sz="6600" b="1" i="0" kern="0" spc="-150" noProof="0" dirty="0">
                <a:solidFill>
                  <a:srgbClr val="1D1D1B"/>
                </a:solidFill>
                <a:latin typeface="DM Sans" pitchFamily="34" charset="0"/>
                <a:ea typeface="DM Sans" pitchFamily="34" charset="-122"/>
                <a:cs typeface="DM Sans" pitchFamily="34" charset="-120"/>
              </a:rPr>
              <a:t>Avances Semana 10 REMASTERIZADO</a:t>
            </a:r>
            <a:endParaRPr lang="es-ES_tradnl" sz="6600" noProof="0" dirty="0"/>
          </a:p>
        </p:txBody>
      </p:sp>
      <p:sp>
        <p:nvSpPr>
          <p:cNvPr id="5" name="Text 2"/>
          <p:cNvSpPr/>
          <p:nvPr/>
        </p:nvSpPr>
        <p:spPr>
          <a:xfrm>
            <a:off x="3582924" y="3251200"/>
            <a:ext cx="7796276" cy="360660"/>
          </a:xfrm>
          <a:prstGeom prst="rect">
            <a:avLst/>
          </a:prstGeom>
          <a:noFill/>
          <a:ln/>
        </p:spPr>
        <p:txBody>
          <a:bodyPr wrap="square" lIns="0" tIns="0" rIns="0" bIns="0" rtlCol="0" anchor="t">
            <a:normAutofit/>
          </a:bodyPr>
          <a:lstStyle/>
          <a:p>
            <a:pPr marL="0" indent="0" algn="r">
              <a:lnSpc>
                <a:spcPts val="2640"/>
              </a:lnSpc>
              <a:buNone/>
            </a:pPr>
            <a:r>
              <a:rPr lang="es-ES_tradnl" sz="2200" noProof="0" dirty="0" err="1">
                <a:solidFill>
                  <a:srgbClr val="1D1D1B"/>
                </a:solidFill>
                <a:latin typeface="DM Sans" pitchFamily="34" charset="0"/>
                <a:ea typeface="DM Sans" pitchFamily="34" charset="-122"/>
                <a:cs typeface="DM Sans" pitchFamily="34" charset="-120"/>
              </a:rPr>
              <a:t>Decuantización</a:t>
            </a:r>
            <a:r>
              <a:rPr lang="es-ES_tradnl" sz="2200" noProof="0" dirty="0">
                <a:solidFill>
                  <a:srgbClr val="1D1D1B"/>
                </a:solidFill>
                <a:latin typeface="DM Sans" pitchFamily="34" charset="0"/>
                <a:ea typeface="DM Sans" pitchFamily="34" charset="-122"/>
                <a:cs typeface="DM Sans" pitchFamily="34" charset="-120"/>
              </a:rPr>
              <a:t> y hardware real</a:t>
            </a:r>
            <a:endParaRPr lang="es-ES_tradnl" sz="2200" noProof="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s-ES_tradnl" noProof="0" dirty="0"/>
          </a:p>
        </p:txBody>
      </p:sp>
      <p:sp>
        <p:nvSpPr>
          <p:cNvPr id="3" name="Shape 1"/>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4" name="Text 2"/>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dirty="0">
                <a:solidFill>
                  <a:srgbClr val="6E6E6C"/>
                </a:solidFill>
                <a:latin typeface="Roboto" pitchFamily="34" charset="0"/>
                <a:ea typeface="Roboto" pitchFamily="34" charset="-122"/>
                <a:cs typeface="Roboto" pitchFamily="34" charset="-120"/>
              </a:rPr>
              <a:t>AVANCES SEMANA 10</a:t>
            </a:r>
            <a:endParaRPr lang="es-ES_tradnl" sz="1200" noProof="0" dirty="0"/>
          </a:p>
        </p:txBody>
      </p:sp>
      <p:pic>
        <p:nvPicPr>
          <p:cNvPr id="5"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6" name="Text 3"/>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s-ES_tradnl" sz="2800" b="1" i="0" kern="0" spc="-50" noProof="0" dirty="0">
                <a:solidFill>
                  <a:srgbClr val="1D1D1B"/>
                </a:solidFill>
                <a:latin typeface="DM Sans" pitchFamily="34" charset="0"/>
                <a:ea typeface="DM Sans" pitchFamily="34" charset="-122"/>
                <a:cs typeface="DM Sans" pitchFamily="34" charset="-120"/>
              </a:rPr>
              <a:t>Hoja de ruta</a:t>
            </a:r>
            <a:endParaRPr lang="es-ES_tradnl" sz="2800" noProof="0" dirty="0"/>
          </a:p>
        </p:txBody>
      </p:sp>
      <p:sp>
        <p:nvSpPr>
          <p:cNvPr id="7" name="Text 4"/>
          <p:cNvSpPr/>
          <p:nvPr/>
        </p:nvSpPr>
        <p:spPr>
          <a:xfrm>
            <a:off x="812800" y="1305520"/>
            <a:ext cx="10883392" cy="322560"/>
          </a:xfrm>
          <a:prstGeom prst="rect">
            <a:avLst/>
          </a:prstGeom>
          <a:noFill/>
          <a:ln/>
        </p:spPr>
        <p:txBody>
          <a:bodyPr wrap="square" lIns="0" tIns="0" rIns="0" bIns="0" rtlCol="0" anchor="t">
            <a:normAutofit/>
          </a:bodyPr>
          <a:lstStyle/>
          <a:p>
            <a:pPr marL="0" indent="0" algn="l">
              <a:lnSpc>
                <a:spcPts val="2340"/>
              </a:lnSpc>
              <a:buNone/>
            </a:pPr>
            <a:r>
              <a:rPr lang="es-ES_tradnl" sz="1800" noProof="0" dirty="0">
                <a:solidFill>
                  <a:srgbClr val="3C3C3B"/>
                </a:solidFill>
                <a:latin typeface="Roboto" pitchFamily="34" charset="0"/>
                <a:ea typeface="Roboto" pitchFamily="34" charset="-122"/>
                <a:cs typeface="Roboto" pitchFamily="34" charset="-120"/>
              </a:rPr>
              <a:t>La semana 8 cerró con tres pasos a seguir. Hoy avanzamos en los dos primeros.</a:t>
            </a:r>
            <a:endParaRPr lang="es-ES_tradnl" sz="1800" noProof="0" dirty="0"/>
          </a:p>
        </p:txBody>
      </p:sp>
      <p:sp>
        <p:nvSpPr>
          <p:cNvPr id="8" name="Text 5"/>
          <p:cNvSpPr/>
          <p:nvPr/>
        </p:nvSpPr>
        <p:spPr>
          <a:xfrm>
            <a:off x="812800" y="1918891"/>
            <a:ext cx="775891" cy="238720"/>
          </a:xfrm>
          <a:prstGeom prst="rect">
            <a:avLst/>
          </a:prstGeom>
          <a:noFill/>
          <a:ln/>
        </p:spPr>
        <p:txBody>
          <a:bodyPr wrap="none" lIns="0" tIns="0" rIns="0" bIns="0" rtlCol="0" anchor="t">
            <a:normAutofit/>
          </a:bodyPr>
          <a:lstStyle/>
          <a:p>
            <a:pPr marL="0" indent="0" algn="l">
              <a:lnSpc>
                <a:spcPts val="1680"/>
              </a:lnSpc>
              <a:buNone/>
            </a:pPr>
            <a:r>
              <a:rPr lang="es-ES_tradnl" sz="1200" b="1" noProof="0" dirty="0">
                <a:solidFill>
                  <a:srgbClr val="1D1D1B"/>
                </a:solidFill>
                <a:latin typeface="Roboto" pitchFamily="34" charset="0"/>
                <a:ea typeface="Roboto" pitchFamily="34" charset="-122"/>
                <a:cs typeface="Roboto" pitchFamily="34" charset="-120"/>
              </a:rPr>
              <a:t>Semana 8:</a:t>
            </a:r>
            <a:endParaRPr lang="es-ES_tradnl" sz="1200" noProof="0" dirty="0"/>
          </a:p>
        </p:txBody>
      </p:sp>
      <p:sp>
        <p:nvSpPr>
          <p:cNvPr id="9" name="Text 6"/>
          <p:cNvSpPr/>
          <p:nvPr/>
        </p:nvSpPr>
        <p:spPr>
          <a:xfrm>
            <a:off x="1642666" y="1859855"/>
            <a:ext cx="2309019" cy="331391"/>
          </a:xfrm>
          <a:prstGeom prst="roundRect">
            <a:avLst>
              <a:gd name="adj" fmla="val 14371"/>
            </a:avLst>
          </a:prstGeom>
          <a:solidFill>
            <a:srgbClr val="F4F4F2"/>
          </a:solidFill>
          <a:ln w="6350">
            <a:solidFill>
              <a:srgbClr val="E3E3DF"/>
            </a:solidFill>
            <a:prstDash val="solid"/>
          </a:ln>
        </p:spPr>
        <p:txBody>
          <a:bodyPr wrap="none" lIns="0" tIns="0" rIns="0" bIns="0" rtlCol="0" anchor="ctr">
            <a:normAutofit/>
          </a:bodyPr>
          <a:lstStyle/>
          <a:p>
            <a:pPr marL="0" indent="0" algn="ctr">
              <a:lnSpc>
                <a:spcPts val="1560"/>
              </a:lnSpc>
              <a:buNone/>
            </a:pPr>
            <a:r>
              <a:rPr lang="es-ES_tradnl" sz="1200" noProof="0" dirty="0">
                <a:solidFill>
                  <a:srgbClr val="1D1D1B"/>
                </a:solidFill>
                <a:latin typeface="Roboto" pitchFamily="34" charset="0"/>
                <a:ea typeface="Roboto" pitchFamily="34" charset="-122"/>
                <a:cs typeface="Roboto" pitchFamily="34" charset="-120"/>
              </a:rPr>
              <a:t>1 · </a:t>
            </a:r>
            <a:r>
              <a:rPr lang="es-ES_tradnl" sz="1200" noProof="0" dirty="0" err="1">
                <a:solidFill>
                  <a:srgbClr val="1D1D1B"/>
                </a:solidFill>
                <a:latin typeface="Roboto" pitchFamily="34" charset="0"/>
                <a:ea typeface="Roboto" pitchFamily="34" charset="-122"/>
                <a:cs typeface="Roboto" pitchFamily="34" charset="-120"/>
              </a:rPr>
              <a:t>Decuantizar</a:t>
            </a:r>
            <a:r>
              <a:rPr lang="es-ES_tradnl" sz="1200" noProof="0" dirty="0">
                <a:solidFill>
                  <a:srgbClr val="1D1D1B"/>
                </a:solidFill>
                <a:latin typeface="Roboto" pitchFamily="34" charset="0"/>
                <a:ea typeface="Roboto" pitchFamily="34" charset="-122"/>
                <a:cs typeface="Roboto" pitchFamily="34" charset="-120"/>
              </a:rPr>
              <a:t> → Actos II a IV</a:t>
            </a:r>
            <a:endParaRPr lang="es-ES_tradnl" sz="1200" noProof="0" dirty="0"/>
          </a:p>
        </p:txBody>
      </p:sp>
      <p:sp>
        <p:nvSpPr>
          <p:cNvPr id="10" name="Text 7"/>
          <p:cNvSpPr/>
          <p:nvPr/>
        </p:nvSpPr>
        <p:spPr>
          <a:xfrm>
            <a:off x="4059634" y="1859855"/>
            <a:ext cx="2782987" cy="331391"/>
          </a:xfrm>
          <a:prstGeom prst="roundRect">
            <a:avLst>
              <a:gd name="adj" fmla="val 14371"/>
            </a:avLst>
          </a:prstGeom>
          <a:solidFill>
            <a:srgbClr val="F4F4F2"/>
          </a:solidFill>
          <a:ln w="6350">
            <a:solidFill>
              <a:srgbClr val="E3E3DF"/>
            </a:solidFill>
            <a:prstDash val="solid"/>
          </a:ln>
        </p:spPr>
        <p:txBody>
          <a:bodyPr wrap="none" lIns="0" tIns="0" rIns="0" bIns="0" rtlCol="0" anchor="ctr">
            <a:normAutofit/>
          </a:bodyPr>
          <a:lstStyle/>
          <a:p>
            <a:pPr marL="0" indent="0" algn="ctr">
              <a:lnSpc>
                <a:spcPts val="1560"/>
              </a:lnSpc>
              <a:buNone/>
            </a:pPr>
            <a:r>
              <a:rPr lang="es-ES_tradnl" sz="1200" noProof="0" dirty="0">
                <a:solidFill>
                  <a:srgbClr val="1D1D1B"/>
                </a:solidFill>
                <a:latin typeface="Roboto" pitchFamily="34" charset="0"/>
                <a:ea typeface="Roboto" pitchFamily="34" charset="-122"/>
                <a:cs typeface="Roboto" pitchFamily="34" charset="-120"/>
              </a:rPr>
              <a:t>2 · Ruidos en </a:t>
            </a:r>
            <a:r>
              <a:rPr lang="es-ES_tradnl" sz="1200" noProof="0" dirty="0" err="1">
                <a:solidFill>
                  <a:srgbClr val="1D1D1B"/>
                </a:solidFill>
                <a:latin typeface="Roboto" pitchFamily="34" charset="0"/>
                <a:ea typeface="Roboto" pitchFamily="34" charset="-122"/>
                <a:cs typeface="Roboto" pitchFamily="34" charset="-120"/>
              </a:rPr>
              <a:t>kernels</a:t>
            </a:r>
            <a:r>
              <a:rPr lang="es-ES_tradnl" sz="1200" noProof="0" dirty="0">
                <a:solidFill>
                  <a:srgbClr val="1D1D1B"/>
                </a:solidFill>
                <a:latin typeface="Roboto" pitchFamily="34" charset="0"/>
                <a:ea typeface="Roboto" pitchFamily="34" charset="-122"/>
                <a:cs typeface="Roboto" pitchFamily="34" charset="-120"/>
              </a:rPr>
              <a:t> reales → Acto V</a:t>
            </a:r>
            <a:endParaRPr lang="es-ES_tradnl" sz="1200" noProof="0" dirty="0"/>
          </a:p>
        </p:txBody>
      </p:sp>
      <p:sp>
        <p:nvSpPr>
          <p:cNvPr id="11" name="Text 8"/>
          <p:cNvSpPr/>
          <p:nvPr/>
        </p:nvSpPr>
        <p:spPr>
          <a:xfrm>
            <a:off x="6950571" y="1859855"/>
            <a:ext cx="1903512" cy="331391"/>
          </a:xfrm>
          <a:prstGeom prst="roundRect">
            <a:avLst>
              <a:gd name="adj" fmla="val 14371"/>
            </a:avLst>
          </a:prstGeom>
          <a:solidFill>
            <a:srgbClr val="FFFFFF"/>
          </a:solidFill>
          <a:ln w="6350">
            <a:solidFill>
              <a:srgbClr val="B9B9B5"/>
            </a:solidFill>
            <a:prstDash val="dash"/>
          </a:ln>
        </p:spPr>
        <p:txBody>
          <a:bodyPr wrap="none" lIns="0" tIns="0" rIns="0" bIns="0" rtlCol="0" anchor="ctr">
            <a:normAutofit/>
          </a:bodyPr>
          <a:lstStyle/>
          <a:p>
            <a:pPr marL="0" indent="0" algn="ctr">
              <a:lnSpc>
                <a:spcPts val="1560"/>
              </a:lnSpc>
              <a:buNone/>
            </a:pPr>
            <a:r>
              <a:rPr lang="es-ES_tradnl" sz="1200" noProof="0" dirty="0">
                <a:solidFill>
                  <a:srgbClr val="6E6E6C"/>
                </a:solidFill>
                <a:latin typeface="Roboto" pitchFamily="34" charset="0"/>
                <a:ea typeface="Roboto" pitchFamily="34" charset="-122"/>
                <a:cs typeface="Roboto" pitchFamily="34" charset="-120"/>
              </a:rPr>
              <a:t>3 · Documentar → cierre</a:t>
            </a:r>
            <a:endParaRPr lang="es-ES_tradnl" sz="1200" noProof="0" dirty="0"/>
          </a:p>
        </p:txBody>
      </p:sp>
      <p:sp>
        <p:nvSpPr>
          <p:cNvPr id="12" name="Shape 9"/>
          <p:cNvSpPr/>
          <p:nvPr/>
        </p:nvSpPr>
        <p:spPr>
          <a:xfrm>
            <a:off x="812800" y="2448421"/>
            <a:ext cx="1991320" cy="3517900"/>
          </a:xfrm>
          <a:prstGeom prst="roundRect">
            <a:avLst>
              <a:gd name="adj" fmla="val 5102"/>
            </a:avLst>
          </a:prstGeom>
          <a:solidFill>
            <a:srgbClr val="F4F4F2"/>
          </a:solidFill>
          <a:ln/>
        </p:spPr>
        <p:txBody>
          <a:bodyPr/>
          <a:lstStyle/>
          <a:p>
            <a:endParaRPr lang="es-ES_tradnl" noProof="0" dirty="0"/>
          </a:p>
        </p:txBody>
      </p:sp>
      <p:sp>
        <p:nvSpPr>
          <p:cNvPr id="13" name="Text 10"/>
          <p:cNvSpPr/>
          <p:nvPr/>
        </p:nvSpPr>
        <p:spPr>
          <a:xfrm>
            <a:off x="990600" y="2626221"/>
            <a:ext cx="608509" cy="233660"/>
          </a:xfrm>
          <a:prstGeom prst="roundRect">
            <a:avLst>
              <a:gd name="adj" fmla="val 16306"/>
            </a:avLst>
          </a:prstGeom>
          <a:solidFill>
            <a:srgbClr val="FFEE00"/>
          </a:solidFill>
          <a:ln/>
        </p:spPr>
        <p:txBody>
          <a:bodyPr wrap="none" lIns="0" tIns="0" rIns="0" bIns="0" rtlCol="0" anchor="ctr">
            <a:normAutofit/>
          </a:bodyPr>
          <a:lstStyle/>
          <a:p>
            <a:pPr marL="0" indent="0" algn="ctr">
              <a:lnSpc>
                <a:spcPts val="1440"/>
              </a:lnSpc>
              <a:buNone/>
            </a:pPr>
            <a:r>
              <a:rPr lang="es-ES_tradnl" sz="1200" b="1" noProof="0" dirty="0">
                <a:solidFill>
                  <a:srgbClr val="1D1D1B"/>
                </a:solidFill>
                <a:latin typeface="DM Sans" pitchFamily="34" charset="0"/>
                <a:ea typeface="DM Sans" pitchFamily="34" charset="-122"/>
                <a:cs typeface="DM Sans" pitchFamily="34" charset="-120"/>
              </a:rPr>
              <a:t>Acto I</a:t>
            </a:r>
            <a:endParaRPr lang="es-ES_tradnl" sz="1200" noProof="0" dirty="0"/>
          </a:p>
        </p:txBody>
      </p:sp>
      <p:sp>
        <p:nvSpPr>
          <p:cNvPr id="14" name="Text 11"/>
          <p:cNvSpPr/>
          <p:nvPr/>
        </p:nvSpPr>
        <p:spPr>
          <a:xfrm>
            <a:off x="990600" y="2948781"/>
            <a:ext cx="1686520" cy="238720"/>
          </a:xfrm>
          <a:prstGeom prst="rect">
            <a:avLst/>
          </a:prstGeom>
          <a:noFill/>
          <a:ln/>
        </p:spPr>
        <p:txBody>
          <a:bodyPr wrap="square" lIns="0" tIns="0" rIns="0" bIns="0" rtlCol="0" anchor="t">
            <a:normAutofit/>
          </a:bodyPr>
          <a:lstStyle/>
          <a:p>
            <a:pPr marL="0" indent="0" algn="l">
              <a:lnSpc>
                <a:spcPts val="1680"/>
              </a:lnSpc>
              <a:buNone/>
            </a:pPr>
            <a:r>
              <a:rPr lang="es-ES_tradnl" sz="1400" b="1" noProof="0" dirty="0">
                <a:solidFill>
                  <a:srgbClr val="1D1D1B"/>
                </a:solidFill>
                <a:latin typeface="DM Sans" pitchFamily="34" charset="0"/>
                <a:ea typeface="DM Sans" pitchFamily="34" charset="-122"/>
                <a:cs typeface="DM Sans" pitchFamily="34" charset="-120"/>
              </a:rPr>
              <a:t>Dónde estábamos</a:t>
            </a:r>
            <a:endParaRPr lang="es-ES_tradnl" sz="1400" noProof="0" dirty="0"/>
          </a:p>
        </p:txBody>
      </p:sp>
      <p:sp>
        <p:nvSpPr>
          <p:cNvPr id="15" name="Text 12"/>
          <p:cNvSpPr/>
          <p:nvPr/>
        </p:nvSpPr>
        <p:spPr>
          <a:xfrm>
            <a:off x="990600" y="3251200"/>
            <a:ext cx="1686520" cy="431800"/>
          </a:xfrm>
          <a:prstGeom prst="rect">
            <a:avLst/>
          </a:prstGeom>
          <a:noFill/>
          <a:ln/>
        </p:spPr>
        <p:txBody>
          <a:bodyPr wrap="square" lIns="0" tIns="0" rIns="0" bIns="0" rtlCol="0" anchor="t">
            <a:normAutofit/>
          </a:bodyPr>
          <a:lstStyle/>
          <a:p>
            <a:pPr marL="0" indent="0" algn="l">
              <a:lnSpc>
                <a:spcPts val="1620"/>
              </a:lnSpc>
              <a:buNone/>
            </a:pPr>
            <a:r>
              <a:rPr lang="es-ES_tradnl" sz="1200" noProof="0" dirty="0">
                <a:solidFill>
                  <a:srgbClr val="3C3C3B"/>
                </a:solidFill>
                <a:latin typeface="Roboto" pitchFamily="34" charset="0"/>
                <a:ea typeface="Roboto" pitchFamily="34" charset="-122"/>
                <a:cs typeface="Roboto" pitchFamily="34" charset="-120"/>
              </a:rPr>
              <a:t>1 · La cota experimental en tres mecanismos</a:t>
            </a:r>
            <a:endParaRPr lang="es-ES_tradnl" sz="1200" noProof="0" dirty="0"/>
          </a:p>
        </p:txBody>
      </p:sp>
      <p:sp>
        <p:nvSpPr>
          <p:cNvPr id="16" name="Text 13"/>
          <p:cNvSpPr/>
          <p:nvPr/>
        </p:nvSpPr>
        <p:spPr>
          <a:xfrm>
            <a:off x="990600" y="3746500"/>
            <a:ext cx="1686520" cy="431800"/>
          </a:xfrm>
          <a:prstGeom prst="rect">
            <a:avLst/>
          </a:prstGeom>
          <a:noFill/>
          <a:ln/>
        </p:spPr>
        <p:txBody>
          <a:bodyPr wrap="square" lIns="0" tIns="0" rIns="0" bIns="0" rtlCol="0" anchor="t">
            <a:normAutofit/>
          </a:bodyPr>
          <a:lstStyle/>
          <a:p>
            <a:pPr marL="0" indent="0" algn="l">
              <a:lnSpc>
                <a:spcPts val="1620"/>
              </a:lnSpc>
              <a:buNone/>
            </a:pPr>
            <a:r>
              <a:rPr lang="es-ES_tradnl" sz="1200" noProof="0" dirty="0">
                <a:solidFill>
                  <a:srgbClr val="3C3C3B"/>
                </a:solidFill>
                <a:latin typeface="Roboto" pitchFamily="34" charset="0"/>
                <a:ea typeface="Roboto" pitchFamily="34" charset="-122"/>
                <a:cs typeface="Roboto" pitchFamily="34" charset="-120"/>
              </a:rPr>
              <a:t>2 · La pregunta nueva: decuantizar = medir</a:t>
            </a:r>
            <a:endParaRPr lang="es-ES_tradnl" sz="1200" noProof="0" dirty="0"/>
          </a:p>
        </p:txBody>
      </p:sp>
      <p:sp>
        <p:nvSpPr>
          <p:cNvPr id="95" name="Text 13"/>
          <p:cNvSpPr/>
          <p:nvPr/>
        </p:nvSpPr>
        <p:spPr>
          <a:xfrm>
            <a:off x="990600" y="4241800"/>
            <a:ext cx="1686520" cy="431800"/>
          </a:xfrm>
          <a:prstGeom prst="rect">
            <a:avLst/>
          </a:prstGeom>
          <a:noFill/>
          <a:ln/>
        </p:spPr>
        <p:txBody>
          <a:bodyPr wrap="square" lIns="0" tIns="0" rIns="0" bIns="0" rtlCol="0" anchor="t">
            <a:normAutofit/>
          </a:bodyPr>
          <a:lstStyle/>
          <a:p>
            <a:pPr marL="0" indent="0" algn="l">
              <a:lnSpc>
                <a:spcPts val="1620"/>
              </a:lnSpc>
              <a:buNone/>
            </a:pPr>
            <a:r>
              <a:rPr lang="es-ES_tradnl" sz="1200" noProof="0" dirty="0">
                <a:solidFill>
                  <a:srgbClr val="3C3C3B"/>
                </a:solidFill>
                <a:latin typeface="Roboto" pitchFamily="34" charset="0"/>
                <a:ea typeface="Roboto" pitchFamily="34" charset="-122"/>
                <a:cs typeface="Roboto" pitchFamily="34" charset="-120"/>
              </a:rPr>
              <a:t>3 · Introducción a la metodología local</a:t>
            </a:r>
            <a:endParaRPr lang="es-ES_tradnl" sz="1200" noProof="0" dirty="0"/>
          </a:p>
        </p:txBody>
      </p:sp>
      <p:sp>
        <p:nvSpPr>
          <p:cNvPr id="17" name="Shape 14"/>
          <p:cNvSpPr/>
          <p:nvPr/>
        </p:nvSpPr>
        <p:spPr>
          <a:xfrm>
            <a:off x="5102820" y="2448421"/>
            <a:ext cx="1991420" cy="3517900"/>
          </a:xfrm>
          <a:prstGeom prst="roundRect">
            <a:avLst>
              <a:gd name="adj" fmla="val 5102"/>
            </a:avLst>
          </a:prstGeom>
          <a:solidFill>
            <a:srgbClr val="F4F4F2"/>
          </a:solidFill>
          <a:ln/>
        </p:spPr>
        <p:txBody>
          <a:bodyPr/>
          <a:lstStyle/>
          <a:p>
            <a:endParaRPr lang="es-ES_tradnl" noProof="0" dirty="0"/>
          </a:p>
        </p:txBody>
      </p:sp>
      <p:sp>
        <p:nvSpPr>
          <p:cNvPr id="18" name="Text 15"/>
          <p:cNvSpPr/>
          <p:nvPr/>
        </p:nvSpPr>
        <p:spPr>
          <a:xfrm>
            <a:off x="5280620" y="2626221"/>
            <a:ext cx="650180" cy="233660"/>
          </a:xfrm>
          <a:prstGeom prst="roundRect">
            <a:avLst>
              <a:gd name="adj" fmla="val 16306"/>
            </a:avLst>
          </a:prstGeom>
          <a:solidFill>
            <a:srgbClr val="FFEE00"/>
          </a:solidFill>
          <a:ln/>
        </p:spPr>
        <p:txBody>
          <a:bodyPr wrap="none" lIns="0" tIns="0" rIns="0" bIns="0" rtlCol="0" anchor="ctr">
            <a:normAutofit/>
          </a:bodyPr>
          <a:lstStyle/>
          <a:p>
            <a:pPr marL="0" indent="0" algn="ctr">
              <a:lnSpc>
                <a:spcPts val="1440"/>
              </a:lnSpc>
              <a:buNone/>
            </a:pPr>
            <a:r>
              <a:rPr lang="es-ES_tradnl" sz="1200" b="1" noProof="0" dirty="0">
                <a:solidFill>
                  <a:srgbClr val="1D1D1B"/>
                </a:solidFill>
                <a:latin typeface="DM Sans" pitchFamily="34" charset="0"/>
                <a:ea typeface="DM Sans" pitchFamily="34" charset="-122"/>
                <a:cs typeface="DM Sans" pitchFamily="34" charset="-120"/>
              </a:rPr>
              <a:t>Acto III</a:t>
            </a:r>
            <a:endParaRPr lang="es-ES_tradnl" sz="1200" noProof="0" dirty="0"/>
          </a:p>
        </p:txBody>
      </p:sp>
      <p:sp>
        <p:nvSpPr>
          <p:cNvPr id="19" name="Text 16"/>
          <p:cNvSpPr/>
          <p:nvPr/>
        </p:nvSpPr>
        <p:spPr>
          <a:xfrm>
            <a:off x="5280620" y="2948781"/>
            <a:ext cx="1686620" cy="241300"/>
          </a:xfrm>
          <a:prstGeom prst="rect">
            <a:avLst/>
          </a:prstGeom>
          <a:noFill/>
          <a:ln/>
        </p:spPr>
        <p:txBody>
          <a:bodyPr wrap="square" lIns="0" tIns="0" rIns="0" bIns="0" rtlCol="0" anchor="t">
            <a:normAutofit/>
          </a:bodyPr>
          <a:lstStyle/>
          <a:p>
            <a:pPr marL="0" indent="0" algn="l">
              <a:lnSpc>
                <a:spcPts val="1680"/>
              </a:lnSpc>
              <a:buNone/>
            </a:pPr>
            <a:r>
              <a:rPr lang="es-ES_tradnl" sz="1400" b="1" noProof="0" dirty="0">
                <a:solidFill>
                  <a:srgbClr val="1D1D1B"/>
                </a:solidFill>
                <a:latin typeface="DM Sans" pitchFamily="34" charset="0"/>
                <a:ea typeface="DM Sans" pitchFamily="34" charset="-122"/>
                <a:cs typeface="DM Sans" pitchFamily="34" charset="-120"/>
              </a:rPr>
              <a:t>Qué significa medir</a:t>
            </a:r>
            <a:endParaRPr lang="es-ES_tradnl" sz="1400" noProof="0" dirty="0"/>
          </a:p>
        </p:txBody>
      </p:sp>
      <p:sp>
        <p:nvSpPr>
          <p:cNvPr id="20" name="Text 17"/>
          <p:cNvSpPr/>
          <p:nvPr/>
        </p:nvSpPr>
        <p:spPr>
          <a:xfrm>
            <a:off x="5280620" y="3251200"/>
            <a:ext cx="1686620" cy="436761"/>
          </a:xfrm>
          <a:prstGeom prst="rect">
            <a:avLst/>
          </a:prstGeom>
          <a:noFill/>
          <a:ln/>
        </p:spPr>
        <p:txBody>
          <a:bodyPr wrap="square" lIns="0" tIns="0" rIns="0" bIns="0" rtlCol="0" anchor="t">
            <a:normAutofit/>
          </a:bodyPr>
          <a:lstStyle/>
          <a:p>
            <a:pPr marL="0" indent="0" algn="l">
              <a:lnSpc>
                <a:spcPts val="1620"/>
              </a:lnSpc>
              <a:buNone/>
            </a:pPr>
            <a:r>
              <a:rPr lang="es-ES_tradnl" sz="1200" noProof="0" dirty="0">
                <a:solidFill>
                  <a:srgbClr val="3C3C3B"/>
                </a:solidFill>
                <a:latin typeface="Roboto" pitchFamily="34" charset="0"/>
                <a:ea typeface="Roboto" pitchFamily="34" charset="-122"/>
                <a:cs typeface="Roboto" pitchFamily="34" charset="-120"/>
              </a:rPr>
              <a:t>9 · Mezcla y por qué basta 1 qubit</a:t>
            </a:r>
            <a:endParaRPr lang="es-ES_tradnl" sz="1200" noProof="0" dirty="0"/>
          </a:p>
        </p:txBody>
      </p:sp>
      <p:sp>
        <p:nvSpPr>
          <p:cNvPr id="22" name="Shape 19"/>
          <p:cNvSpPr/>
          <p:nvPr/>
        </p:nvSpPr>
        <p:spPr>
          <a:xfrm>
            <a:off x="2954040" y="2448421"/>
            <a:ext cx="1991320" cy="3517900"/>
          </a:xfrm>
          <a:prstGeom prst="roundRect">
            <a:avLst>
              <a:gd name="adj" fmla="val 5102"/>
            </a:avLst>
          </a:prstGeom>
          <a:solidFill>
            <a:srgbClr val="F4F4F2"/>
          </a:solidFill>
          <a:ln/>
        </p:spPr>
        <p:txBody>
          <a:bodyPr/>
          <a:lstStyle/>
          <a:p>
            <a:endParaRPr lang="es-ES_tradnl" noProof="0" dirty="0"/>
          </a:p>
        </p:txBody>
      </p:sp>
      <p:sp>
        <p:nvSpPr>
          <p:cNvPr id="23" name="Text 20"/>
          <p:cNvSpPr/>
          <p:nvPr/>
        </p:nvSpPr>
        <p:spPr>
          <a:xfrm>
            <a:off x="3131840" y="2626221"/>
            <a:ext cx="691852" cy="233660"/>
          </a:xfrm>
          <a:prstGeom prst="roundRect">
            <a:avLst>
              <a:gd name="adj" fmla="val 16306"/>
            </a:avLst>
          </a:prstGeom>
          <a:solidFill>
            <a:srgbClr val="FFEE00"/>
          </a:solidFill>
          <a:ln/>
        </p:spPr>
        <p:txBody>
          <a:bodyPr wrap="none" lIns="0" tIns="0" rIns="0" bIns="0" rtlCol="0" anchor="ctr">
            <a:normAutofit/>
          </a:bodyPr>
          <a:lstStyle/>
          <a:p>
            <a:pPr marL="0" indent="0" algn="ctr">
              <a:lnSpc>
                <a:spcPts val="1440"/>
              </a:lnSpc>
              <a:buNone/>
            </a:pPr>
            <a:r>
              <a:rPr lang="es-ES_tradnl" sz="1200" b="1" noProof="0" dirty="0">
                <a:solidFill>
                  <a:srgbClr val="1D1D1B"/>
                </a:solidFill>
                <a:latin typeface="DM Sans" pitchFamily="34" charset="0"/>
                <a:ea typeface="DM Sans" pitchFamily="34" charset="-122"/>
                <a:cs typeface="DM Sans" pitchFamily="34" charset="-120"/>
              </a:rPr>
              <a:t>Acto II</a:t>
            </a:r>
            <a:endParaRPr lang="es-ES_tradnl" sz="1200" noProof="0" dirty="0"/>
          </a:p>
        </p:txBody>
      </p:sp>
      <p:sp>
        <p:nvSpPr>
          <p:cNvPr id="24" name="Text 21"/>
          <p:cNvSpPr/>
          <p:nvPr/>
        </p:nvSpPr>
        <p:spPr>
          <a:xfrm>
            <a:off x="3131840" y="2948781"/>
            <a:ext cx="1686520" cy="452041"/>
          </a:xfrm>
          <a:prstGeom prst="rect">
            <a:avLst/>
          </a:prstGeom>
          <a:noFill/>
          <a:ln/>
        </p:spPr>
        <p:txBody>
          <a:bodyPr wrap="square" lIns="0" tIns="0" rIns="0" bIns="0" rtlCol="0" anchor="t">
            <a:normAutofit/>
          </a:bodyPr>
          <a:lstStyle/>
          <a:p>
            <a:pPr marL="0" indent="0" algn="l">
              <a:lnSpc>
                <a:spcPts val="1680"/>
              </a:lnSpc>
              <a:buNone/>
            </a:pPr>
            <a:r>
              <a:rPr lang="es-ES_tradnl" sz="1400" b="1" noProof="0" dirty="0">
                <a:solidFill>
                  <a:srgbClr val="1D1D1B"/>
                </a:solidFill>
                <a:latin typeface="DM Sans" pitchFamily="34" charset="0"/>
                <a:ea typeface="DM Sans" pitchFamily="34" charset="-122"/>
                <a:cs typeface="DM Sans" pitchFamily="34" charset="-120"/>
              </a:rPr>
              <a:t>Dónde está la privacidad</a:t>
            </a:r>
            <a:endParaRPr lang="es-ES_tradnl" sz="1400" noProof="0" dirty="0"/>
          </a:p>
        </p:txBody>
      </p:sp>
      <p:sp>
        <p:nvSpPr>
          <p:cNvPr id="25" name="Text 22"/>
          <p:cNvSpPr/>
          <p:nvPr/>
        </p:nvSpPr>
        <p:spPr>
          <a:xfrm>
            <a:off x="3131840" y="3467100"/>
            <a:ext cx="1686520" cy="431800"/>
          </a:xfrm>
          <a:prstGeom prst="rect">
            <a:avLst/>
          </a:prstGeom>
          <a:noFill/>
          <a:ln/>
        </p:spPr>
        <p:txBody>
          <a:bodyPr wrap="square" lIns="0" tIns="0" rIns="0" bIns="0" rtlCol="0" anchor="t">
            <a:normAutofit/>
          </a:bodyPr>
          <a:lstStyle/>
          <a:p>
            <a:pPr marL="0" indent="0" algn="l">
              <a:lnSpc>
                <a:spcPts val="1620"/>
              </a:lnSpc>
              <a:buNone/>
            </a:pPr>
            <a:r>
              <a:rPr lang="es-ES_tradnl" sz="1200" noProof="0" dirty="0">
                <a:solidFill>
                  <a:srgbClr val="3C3C3B"/>
                </a:solidFill>
                <a:latin typeface="Roboto" pitchFamily="34" charset="0"/>
                <a:ea typeface="Roboto" pitchFamily="34" charset="-122"/>
                <a:cs typeface="Roboto" pitchFamily="34" charset="-120"/>
              </a:rPr>
              <a:t>4 · Medir: copias y codificación</a:t>
            </a:r>
            <a:endParaRPr lang="es-ES_tradnl" sz="1200" noProof="0" dirty="0"/>
          </a:p>
        </p:txBody>
      </p:sp>
      <p:sp>
        <p:nvSpPr>
          <p:cNvPr id="26" name="Text 23"/>
          <p:cNvSpPr/>
          <p:nvPr/>
        </p:nvSpPr>
        <p:spPr>
          <a:xfrm>
            <a:off x="3131840" y="3962400"/>
            <a:ext cx="1686520" cy="431800"/>
          </a:xfrm>
          <a:prstGeom prst="rect">
            <a:avLst/>
          </a:prstGeom>
          <a:noFill/>
          <a:ln/>
        </p:spPr>
        <p:txBody>
          <a:bodyPr wrap="square" lIns="0" tIns="0" rIns="0" bIns="0" rtlCol="0" anchor="t">
            <a:normAutofit/>
          </a:bodyPr>
          <a:lstStyle/>
          <a:p>
            <a:pPr marL="0" indent="0" algn="l">
              <a:lnSpc>
                <a:spcPts val="1620"/>
              </a:lnSpc>
              <a:buNone/>
            </a:pPr>
            <a:r>
              <a:rPr lang="es-ES_tradnl" sz="1200" noProof="0" dirty="0">
                <a:solidFill>
                  <a:srgbClr val="3C3C3B"/>
                </a:solidFill>
                <a:latin typeface="Roboto" pitchFamily="34" charset="0"/>
                <a:ea typeface="Roboto" pitchFamily="34" charset="-122"/>
                <a:cs typeface="Roboto" pitchFamily="34" charset="-120"/>
              </a:rPr>
              <a:t>5 · El ruido visto desde un qubit</a:t>
            </a:r>
            <a:endParaRPr lang="es-ES_tradnl" sz="1200" noProof="0" dirty="0"/>
          </a:p>
        </p:txBody>
      </p:sp>
      <p:sp>
        <p:nvSpPr>
          <p:cNvPr id="27" name="Text 24"/>
          <p:cNvSpPr/>
          <p:nvPr/>
        </p:nvSpPr>
        <p:spPr>
          <a:xfrm>
            <a:off x="3131840" y="4457700"/>
            <a:ext cx="1686520" cy="431800"/>
          </a:xfrm>
          <a:prstGeom prst="rect">
            <a:avLst/>
          </a:prstGeom>
          <a:noFill/>
          <a:ln/>
        </p:spPr>
        <p:txBody>
          <a:bodyPr wrap="square" lIns="0" tIns="0" rIns="0" bIns="0" rtlCol="0" anchor="t">
            <a:normAutofit/>
          </a:bodyPr>
          <a:lstStyle/>
          <a:p>
            <a:pPr marL="0" indent="0" algn="l">
              <a:lnSpc>
                <a:spcPts val="1620"/>
              </a:lnSpc>
              <a:buNone/>
            </a:pPr>
            <a:r>
              <a:rPr lang="es-ES_tradnl" sz="1200" noProof="0" dirty="0">
                <a:solidFill>
                  <a:srgbClr val="3C3C3B"/>
                </a:solidFill>
                <a:latin typeface="Roboto" pitchFamily="34" charset="0"/>
                <a:ea typeface="Roboto" pitchFamily="34" charset="-122"/>
                <a:cs typeface="Roboto" pitchFamily="34" charset="-120"/>
              </a:rPr>
              <a:t>6 · Una medición contra muchas</a:t>
            </a:r>
            <a:endParaRPr lang="es-ES_tradnl" sz="1200" noProof="0" dirty="0"/>
          </a:p>
        </p:txBody>
      </p:sp>
      <p:sp>
        <p:nvSpPr>
          <p:cNvPr id="94" name="Text 24"/>
          <p:cNvSpPr/>
          <p:nvPr/>
        </p:nvSpPr>
        <p:spPr>
          <a:xfrm>
            <a:off x="3131840" y="5448300"/>
            <a:ext cx="1686520" cy="431800"/>
          </a:xfrm>
          <a:prstGeom prst="rect">
            <a:avLst/>
          </a:prstGeom>
          <a:noFill/>
          <a:ln/>
        </p:spPr>
        <p:txBody>
          <a:bodyPr wrap="square" lIns="0" tIns="0" rIns="0" bIns="0" rtlCol="0" anchor="t">
            <a:normAutofit fontScale="92500"/>
          </a:bodyPr>
          <a:lstStyle/>
          <a:p>
            <a:pPr marL="0" indent="0" algn="l">
              <a:lnSpc>
                <a:spcPts val="1620"/>
              </a:lnSpc>
              <a:buNone/>
            </a:pPr>
            <a:r>
              <a:rPr lang="es-ES_tradnl" sz="1200" noProof="0" dirty="0">
                <a:solidFill>
                  <a:srgbClr val="3C3C3B"/>
                </a:solidFill>
                <a:latin typeface="Roboto" pitchFamily="34" charset="0"/>
                <a:ea typeface="Roboto" pitchFamily="34" charset="-122"/>
                <a:cs typeface="Roboto" pitchFamily="34" charset="-120"/>
              </a:rPr>
              <a:t>8 · La línea base B y el experimento de medición</a:t>
            </a:r>
            <a:endParaRPr lang="es-ES_tradnl" sz="1200" noProof="0" dirty="0"/>
          </a:p>
        </p:txBody>
      </p:sp>
      <p:sp>
        <p:nvSpPr>
          <p:cNvPr id="93" name="Text 24"/>
          <p:cNvSpPr/>
          <p:nvPr/>
        </p:nvSpPr>
        <p:spPr>
          <a:xfrm>
            <a:off x="3131840" y="4953000"/>
            <a:ext cx="1686520" cy="431800"/>
          </a:xfrm>
          <a:prstGeom prst="rect">
            <a:avLst/>
          </a:prstGeom>
          <a:noFill/>
          <a:ln/>
        </p:spPr>
        <p:txBody>
          <a:bodyPr wrap="square" lIns="0" tIns="0" rIns="0" bIns="0" rtlCol="0" anchor="t">
            <a:normAutofit/>
          </a:bodyPr>
          <a:lstStyle/>
          <a:p>
            <a:pPr marL="0" indent="0" algn="l">
              <a:lnSpc>
                <a:spcPts val="1620"/>
              </a:lnSpc>
              <a:buNone/>
            </a:pPr>
            <a:r>
              <a:rPr lang="es-ES_tradnl" sz="1200" noProof="0" dirty="0">
                <a:solidFill>
                  <a:srgbClr val="3C3C3B"/>
                </a:solidFill>
                <a:latin typeface="Roboto" pitchFamily="34" charset="0"/>
                <a:ea typeface="Roboto" pitchFamily="34" charset="-122"/>
                <a:cs typeface="Roboto" pitchFamily="34" charset="-120"/>
              </a:rPr>
              <a:t>7 · Diseño C contra diseño L</a:t>
            </a:r>
            <a:endParaRPr lang="es-ES_tradnl" sz="1200" noProof="0" dirty="0"/>
          </a:p>
        </p:txBody>
      </p:sp>
      <p:sp>
        <p:nvSpPr>
          <p:cNvPr id="28" name="Shape 25"/>
          <p:cNvSpPr/>
          <p:nvPr/>
        </p:nvSpPr>
        <p:spPr>
          <a:xfrm>
            <a:off x="7244060" y="2448421"/>
            <a:ext cx="1991420" cy="3517900"/>
          </a:xfrm>
          <a:prstGeom prst="roundRect">
            <a:avLst>
              <a:gd name="adj" fmla="val 5102"/>
            </a:avLst>
          </a:prstGeom>
          <a:solidFill>
            <a:srgbClr val="F4F4F2"/>
          </a:solidFill>
          <a:ln/>
        </p:spPr>
        <p:txBody>
          <a:bodyPr/>
          <a:lstStyle/>
          <a:p>
            <a:endParaRPr lang="es-ES_tradnl" noProof="0" dirty="0"/>
          </a:p>
        </p:txBody>
      </p:sp>
      <p:sp>
        <p:nvSpPr>
          <p:cNvPr id="29" name="Text 26"/>
          <p:cNvSpPr/>
          <p:nvPr/>
        </p:nvSpPr>
        <p:spPr>
          <a:xfrm>
            <a:off x="7421860" y="2626221"/>
            <a:ext cx="716161" cy="233660"/>
          </a:xfrm>
          <a:prstGeom prst="roundRect">
            <a:avLst>
              <a:gd name="adj" fmla="val 16306"/>
            </a:avLst>
          </a:prstGeom>
          <a:solidFill>
            <a:srgbClr val="FFEE00"/>
          </a:solidFill>
          <a:ln/>
        </p:spPr>
        <p:txBody>
          <a:bodyPr wrap="none" lIns="0" tIns="0" rIns="0" bIns="0" rtlCol="0" anchor="ctr">
            <a:normAutofit/>
          </a:bodyPr>
          <a:lstStyle/>
          <a:p>
            <a:pPr marL="0" indent="0" algn="ctr">
              <a:lnSpc>
                <a:spcPts val="1440"/>
              </a:lnSpc>
              <a:buNone/>
            </a:pPr>
            <a:r>
              <a:rPr lang="es-ES_tradnl" sz="1200" b="1" noProof="0" dirty="0">
                <a:solidFill>
                  <a:srgbClr val="1D1D1B"/>
                </a:solidFill>
                <a:latin typeface="DM Sans" pitchFamily="34" charset="0"/>
                <a:ea typeface="DM Sans" pitchFamily="34" charset="-122"/>
                <a:cs typeface="DM Sans" pitchFamily="34" charset="-120"/>
              </a:rPr>
              <a:t>Acto IV</a:t>
            </a:r>
            <a:endParaRPr lang="es-ES_tradnl" sz="1200" noProof="0" dirty="0"/>
          </a:p>
        </p:txBody>
      </p:sp>
      <p:sp>
        <p:nvSpPr>
          <p:cNvPr id="30" name="Text 27"/>
          <p:cNvSpPr/>
          <p:nvPr/>
        </p:nvSpPr>
        <p:spPr>
          <a:xfrm>
            <a:off x="7421860" y="2948781"/>
            <a:ext cx="1686620" cy="238720"/>
          </a:xfrm>
          <a:prstGeom prst="rect">
            <a:avLst/>
          </a:prstGeom>
          <a:noFill/>
          <a:ln/>
        </p:spPr>
        <p:txBody>
          <a:bodyPr wrap="square" lIns="0" tIns="0" rIns="0" bIns="0" rtlCol="0" anchor="t">
            <a:normAutofit/>
          </a:bodyPr>
          <a:lstStyle/>
          <a:p>
            <a:pPr marL="0" indent="0" algn="l">
              <a:lnSpc>
                <a:spcPts val="1680"/>
              </a:lnSpc>
              <a:buNone/>
            </a:pPr>
            <a:r>
              <a:rPr lang="es-ES_tradnl" sz="1400" b="1" noProof="0" dirty="0">
                <a:solidFill>
                  <a:srgbClr val="1D1D1B"/>
                </a:solidFill>
                <a:latin typeface="DM Sans" pitchFamily="34" charset="0"/>
                <a:ea typeface="DM Sans" pitchFamily="34" charset="-122"/>
                <a:cs typeface="DM Sans" pitchFamily="34" charset="-120"/>
              </a:rPr>
              <a:t>Resultados</a:t>
            </a:r>
            <a:endParaRPr lang="es-ES_tradnl" sz="1400" noProof="0" dirty="0"/>
          </a:p>
        </p:txBody>
      </p:sp>
      <p:sp>
        <p:nvSpPr>
          <p:cNvPr id="31" name="Text 28"/>
          <p:cNvSpPr/>
          <p:nvPr/>
        </p:nvSpPr>
        <p:spPr>
          <a:xfrm>
            <a:off x="7421860" y="3251002"/>
            <a:ext cx="1686620" cy="642441"/>
          </a:xfrm>
          <a:prstGeom prst="rect">
            <a:avLst/>
          </a:prstGeom>
          <a:noFill/>
          <a:ln/>
        </p:spPr>
        <p:txBody>
          <a:bodyPr wrap="square" lIns="0" tIns="0" rIns="0" bIns="0" rtlCol="0" anchor="t">
            <a:normAutofit/>
          </a:bodyPr>
          <a:lstStyle/>
          <a:p>
            <a:pPr marL="0" indent="0" algn="l">
              <a:lnSpc>
                <a:spcPts val="1620"/>
              </a:lnSpc>
              <a:buNone/>
            </a:pPr>
            <a:r>
              <a:rPr lang="es-ES_tradnl" sz="1200" noProof="0">
                <a:solidFill>
                  <a:srgbClr val="3C3C3B"/>
                </a:solidFill>
                <a:latin typeface="Roboto" pitchFamily="34" charset="0"/>
                <a:ea typeface="Roboto" pitchFamily="34" charset="-122"/>
                <a:cs typeface="Roboto" pitchFamily="34" charset="-120"/>
              </a:rPr>
              <a:t>10 · K par contra K impar</a:t>
            </a:r>
            <a:endParaRPr lang="es-ES_tradnl" sz="1200" noProof="0" dirty="0"/>
          </a:p>
        </p:txBody>
      </p:sp>
      <p:sp>
        <p:nvSpPr>
          <p:cNvPr id="32" name="Text 29"/>
          <p:cNvSpPr/>
          <p:nvPr/>
        </p:nvSpPr>
        <p:spPr>
          <a:xfrm>
            <a:off x="7421860" y="3746500"/>
            <a:ext cx="1686620" cy="436761"/>
          </a:xfrm>
          <a:prstGeom prst="rect">
            <a:avLst/>
          </a:prstGeom>
          <a:noFill/>
          <a:ln/>
        </p:spPr>
        <p:txBody>
          <a:bodyPr wrap="square" lIns="0" tIns="0" rIns="0" bIns="0" rtlCol="0" anchor="t">
            <a:normAutofit/>
          </a:bodyPr>
          <a:lstStyle/>
          <a:p>
            <a:pPr marL="0" indent="0" algn="l">
              <a:lnSpc>
                <a:spcPts val="1620"/>
              </a:lnSpc>
              <a:buNone/>
            </a:pPr>
            <a:r>
              <a:rPr lang="es-ES_tradnl" sz="1200" noProof="0" dirty="0">
                <a:solidFill>
                  <a:srgbClr val="3C3C3B"/>
                </a:solidFill>
                <a:latin typeface="Roboto" pitchFamily="34" charset="0"/>
                <a:ea typeface="Roboto" pitchFamily="34" charset="-122"/>
                <a:cs typeface="Roboto" pitchFamily="34" charset="-120"/>
              </a:rPr>
              <a:t>11 · Experimento L de collateral</a:t>
            </a:r>
            <a:endParaRPr lang="es-ES_tradnl" sz="1200" noProof="0" dirty="0"/>
          </a:p>
        </p:txBody>
      </p:sp>
      <p:sp>
        <p:nvSpPr>
          <p:cNvPr id="33" name="Shape 30"/>
          <p:cNvSpPr/>
          <p:nvPr/>
        </p:nvSpPr>
        <p:spPr>
          <a:xfrm>
            <a:off x="9387880" y="2448421"/>
            <a:ext cx="1991320" cy="3517900"/>
          </a:xfrm>
          <a:prstGeom prst="roundRect">
            <a:avLst>
              <a:gd name="adj" fmla="val 5102"/>
            </a:avLst>
          </a:prstGeom>
          <a:solidFill>
            <a:srgbClr val="F4F4F2"/>
          </a:solidFill>
          <a:ln/>
        </p:spPr>
        <p:txBody>
          <a:bodyPr/>
          <a:lstStyle/>
          <a:p>
            <a:endParaRPr lang="es-ES_tradnl" noProof="0" dirty="0"/>
          </a:p>
        </p:txBody>
      </p:sp>
      <p:sp>
        <p:nvSpPr>
          <p:cNvPr id="34" name="Text 31"/>
          <p:cNvSpPr/>
          <p:nvPr/>
        </p:nvSpPr>
        <p:spPr>
          <a:xfrm>
            <a:off x="9565680" y="2626221"/>
            <a:ext cx="674588" cy="233660"/>
          </a:xfrm>
          <a:prstGeom prst="roundRect">
            <a:avLst>
              <a:gd name="adj" fmla="val 16306"/>
            </a:avLst>
          </a:prstGeom>
          <a:solidFill>
            <a:srgbClr val="FFEE00"/>
          </a:solidFill>
          <a:ln/>
        </p:spPr>
        <p:txBody>
          <a:bodyPr wrap="none" lIns="0" tIns="0" rIns="0" bIns="0" rtlCol="0" anchor="ctr">
            <a:normAutofit/>
          </a:bodyPr>
          <a:lstStyle/>
          <a:p>
            <a:pPr marL="0" indent="0" algn="ctr">
              <a:lnSpc>
                <a:spcPts val="1440"/>
              </a:lnSpc>
              <a:buNone/>
            </a:pPr>
            <a:r>
              <a:rPr lang="es-ES_tradnl" sz="1200" b="1" noProof="0" dirty="0">
                <a:solidFill>
                  <a:srgbClr val="1D1D1B"/>
                </a:solidFill>
                <a:latin typeface="DM Sans" pitchFamily="34" charset="0"/>
                <a:ea typeface="DM Sans" pitchFamily="34" charset="-122"/>
                <a:cs typeface="DM Sans" pitchFamily="34" charset="-120"/>
              </a:rPr>
              <a:t>Acto V</a:t>
            </a:r>
            <a:endParaRPr lang="es-ES_tradnl" sz="1200" noProof="0" dirty="0"/>
          </a:p>
        </p:txBody>
      </p:sp>
      <p:sp>
        <p:nvSpPr>
          <p:cNvPr id="35" name="Text 32"/>
          <p:cNvSpPr/>
          <p:nvPr/>
        </p:nvSpPr>
        <p:spPr>
          <a:xfrm>
            <a:off x="9565680" y="2948781"/>
            <a:ext cx="1686520" cy="238720"/>
          </a:xfrm>
          <a:prstGeom prst="rect">
            <a:avLst/>
          </a:prstGeom>
          <a:noFill/>
          <a:ln/>
        </p:spPr>
        <p:txBody>
          <a:bodyPr wrap="square" lIns="0" tIns="0" rIns="0" bIns="0" rtlCol="0" anchor="t">
            <a:normAutofit/>
          </a:bodyPr>
          <a:lstStyle/>
          <a:p>
            <a:pPr marL="0" indent="0" algn="l">
              <a:lnSpc>
                <a:spcPts val="1680"/>
              </a:lnSpc>
              <a:buNone/>
            </a:pPr>
            <a:r>
              <a:rPr lang="es-ES_tradnl" sz="1400" b="1" noProof="0" dirty="0">
                <a:solidFill>
                  <a:srgbClr val="1D1D1B"/>
                </a:solidFill>
                <a:latin typeface="DM Sans" pitchFamily="34" charset="0"/>
                <a:ea typeface="DM Sans" pitchFamily="34" charset="-122"/>
                <a:cs typeface="DM Sans" pitchFamily="34" charset="-120"/>
              </a:rPr>
              <a:t>Hardware y cierre</a:t>
            </a:r>
            <a:endParaRPr lang="es-ES_tradnl" sz="1400" noProof="0" dirty="0"/>
          </a:p>
        </p:txBody>
      </p:sp>
      <p:sp>
        <p:nvSpPr>
          <p:cNvPr id="36" name="Text 33"/>
          <p:cNvSpPr/>
          <p:nvPr/>
        </p:nvSpPr>
        <p:spPr>
          <a:xfrm>
            <a:off x="9565680" y="3251002"/>
            <a:ext cx="1686520" cy="436761"/>
          </a:xfrm>
          <a:prstGeom prst="rect">
            <a:avLst/>
          </a:prstGeom>
          <a:noFill/>
          <a:ln/>
        </p:spPr>
        <p:txBody>
          <a:bodyPr wrap="square" lIns="0" tIns="0" rIns="0" bIns="0" rtlCol="0" anchor="t">
            <a:normAutofit/>
          </a:bodyPr>
          <a:lstStyle/>
          <a:p>
            <a:pPr marL="0" indent="0" algn="l">
              <a:lnSpc>
                <a:spcPts val="1620"/>
              </a:lnSpc>
              <a:buNone/>
            </a:pPr>
            <a:r>
              <a:rPr lang="es-ES_tradnl" sz="1200" noProof="0" dirty="0">
                <a:solidFill>
                  <a:srgbClr val="3C3C3B"/>
                </a:solidFill>
                <a:latin typeface="Roboto" pitchFamily="34" charset="0"/>
                <a:ea typeface="Roboto" pitchFamily="34" charset="-122"/>
                <a:cs typeface="Roboto" pitchFamily="34" charset="-120"/>
              </a:rPr>
              <a:t>12 · GAD en hardware real</a:t>
            </a:r>
            <a:endParaRPr lang="es-ES_tradnl" sz="1200" noProof="0" dirty="0"/>
          </a:p>
        </p:txBody>
      </p:sp>
      <p:sp>
        <p:nvSpPr>
          <p:cNvPr id="37" name="Text 34"/>
          <p:cNvSpPr/>
          <p:nvPr/>
        </p:nvSpPr>
        <p:spPr>
          <a:xfrm>
            <a:off x="9565680" y="3751263"/>
            <a:ext cx="1686520" cy="436761"/>
          </a:xfrm>
          <a:prstGeom prst="rect">
            <a:avLst/>
          </a:prstGeom>
          <a:noFill/>
          <a:ln/>
        </p:spPr>
        <p:txBody>
          <a:bodyPr wrap="square" lIns="0" tIns="0" rIns="0" bIns="0" rtlCol="0" anchor="t">
            <a:normAutofit/>
          </a:bodyPr>
          <a:lstStyle/>
          <a:p>
            <a:pPr marL="0" indent="0" algn="l">
              <a:lnSpc>
                <a:spcPts val="1620"/>
              </a:lnSpc>
              <a:buNone/>
            </a:pPr>
            <a:r>
              <a:rPr lang="es-ES_tradnl" sz="1200" noProof="0" dirty="0">
                <a:solidFill>
                  <a:srgbClr val="3C3C3B"/>
                </a:solidFill>
                <a:latin typeface="Roboto" pitchFamily="34" charset="0"/>
                <a:ea typeface="Roboto" pitchFamily="34" charset="-122"/>
                <a:cs typeface="Roboto" pitchFamily="34" charset="-120"/>
              </a:rPr>
              <a:t>13 · Conclusiones y pasos a seguir</a:t>
            </a:r>
            <a:endParaRPr lang="es-ES_tradnl" sz="1200" noProof="0" dirty="0"/>
          </a:p>
        </p:txBody>
      </p:sp>
      <p:sp>
        <p:nvSpPr>
          <p:cNvPr id="39" name="Text 36"/>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dirty="0">
                <a:solidFill>
                  <a:srgbClr val="1D1D1B"/>
                </a:solidFill>
                <a:latin typeface="Roboto" pitchFamily="34" charset="0"/>
                <a:ea typeface="Roboto" pitchFamily="34" charset="-122"/>
                <a:cs typeface="Roboto" pitchFamily="34" charset="-120"/>
              </a:rPr>
              <a:t>02</a:t>
            </a:r>
            <a:endParaRPr lang="es-ES_tradnl" sz="1200" noProof="0" dirty="0"/>
          </a:p>
        </p:txBody>
      </p:sp>
    </p:spTree>
    <p:extLst>
      <p:ext uri="{BB962C8B-B14F-4D97-AF65-F5344CB8AC3E}">
        <p14:creationId xmlns:p14="http://schemas.microsoft.com/office/powerpoint/2010/main" val="219733377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EE00"/>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l="-9" r="-9"/>
          <a:stretch/>
        </p:blipFill>
        <p:spPr>
          <a:xfrm>
            <a:off x="7493000" y="0"/>
            <a:ext cx="4699000" cy="6858000"/>
          </a:xfrm>
          <a:prstGeom prst="rect">
            <a:avLst/>
          </a:prstGeom>
        </p:spPr>
      </p:pic>
      <p:sp>
        <p:nvSpPr>
          <p:cNvPr id="3" name="Text 0"/>
          <p:cNvSpPr/>
          <p:nvPr/>
        </p:nvSpPr>
        <p:spPr>
          <a:xfrm>
            <a:off x="7978140" y="3937000"/>
            <a:ext cx="3401060" cy="1803400"/>
          </a:xfrm>
          <a:prstGeom prst="rect">
            <a:avLst/>
          </a:prstGeom>
          <a:noFill/>
          <a:ln/>
        </p:spPr>
        <p:txBody>
          <a:bodyPr wrap="square" lIns="0" tIns="0" rIns="0" bIns="0" rtlCol="0" anchor="t">
            <a:normAutofit fontScale="92500"/>
          </a:bodyPr>
          <a:lstStyle/>
          <a:p>
            <a:pPr marL="0" indent="0" algn="r">
              <a:lnSpc>
                <a:spcPts val="14000"/>
              </a:lnSpc>
              <a:buNone/>
            </a:pPr>
            <a:r>
              <a:rPr lang="es-ES_tradnl" sz="14000" b="1" noProof="0" dirty="0">
                <a:solidFill>
                  <a:srgbClr val="FFEE00"/>
                </a:solidFill>
                <a:latin typeface="DM Sans" pitchFamily="34" charset="0"/>
                <a:ea typeface="DM Sans" pitchFamily="34" charset="-122"/>
                <a:cs typeface="DM Sans" pitchFamily="34" charset="-120"/>
              </a:rPr>
              <a:t>I</a:t>
            </a:r>
            <a:endParaRPr lang="es-ES_tradnl" sz="14000" noProof="0" dirty="0"/>
          </a:p>
        </p:txBody>
      </p:sp>
      <p:pic>
        <p:nvPicPr>
          <p:cNvPr id="4" name="Image 1" descr="Universidad de los Andes"/>
          <p:cNvPicPr>
            <a:picLocks noChangeAspect="1"/>
          </p:cNvPicPr>
          <p:nvPr/>
        </p:nvPicPr>
        <p:blipFill>
          <a:blip r:embed="rId4"/>
          <a:srcRect/>
          <a:stretch/>
        </p:blipFill>
        <p:spPr>
          <a:xfrm>
            <a:off x="812800" y="609600"/>
            <a:ext cx="1371600" cy="431800"/>
          </a:xfrm>
          <a:prstGeom prst="rect">
            <a:avLst/>
          </a:prstGeom>
        </p:spPr>
      </p:pic>
      <p:sp>
        <p:nvSpPr>
          <p:cNvPr id="5" name="Text 1"/>
          <p:cNvSpPr/>
          <p:nvPr/>
        </p:nvSpPr>
        <p:spPr>
          <a:xfrm>
            <a:off x="812800" y="2471440"/>
            <a:ext cx="6409690" cy="274241"/>
          </a:xfrm>
          <a:prstGeom prst="rect">
            <a:avLst/>
          </a:prstGeom>
          <a:noFill/>
          <a:ln/>
        </p:spPr>
        <p:txBody>
          <a:bodyPr wrap="square" lIns="0" tIns="0" rIns="0" bIns="0" rtlCol="0" anchor="t">
            <a:normAutofit/>
          </a:bodyPr>
          <a:lstStyle/>
          <a:p>
            <a:pPr marL="0" indent="0" algn="l">
              <a:lnSpc>
                <a:spcPts val="1960"/>
              </a:lnSpc>
              <a:buNone/>
            </a:pPr>
            <a:r>
              <a:rPr lang="es-ES_tradnl" sz="1400" b="1" kern="0" spc="200" noProof="0" dirty="0">
                <a:solidFill>
                  <a:srgbClr val="1D1D1B"/>
                </a:solidFill>
                <a:latin typeface="DM Sans" pitchFamily="34" charset="0"/>
                <a:ea typeface="DM Sans" pitchFamily="34" charset="-122"/>
                <a:cs typeface="DM Sans" pitchFamily="34" charset="-120"/>
              </a:rPr>
              <a:t>ACTO I</a:t>
            </a:r>
            <a:endParaRPr lang="es-ES_tradnl" sz="1400" noProof="0" dirty="0"/>
          </a:p>
        </p:txBody>
      </p:sp>
      <p:sp>
        <p:nvSpPr>
          <p:cNvPr id="6" name="Text 2"/>
          <p:cNvSpPr>
            <a:spLocks noGrp="1"/>
          </p:cNvSpPr>
          <p:nvPr>
            <p:ph type="title"/>
          </p:nvPr>
        </p:nvSpPr>
        <p:spPr>
          <a:xfrm>
            <a:off x="812800" y="2898080"/>
            <a:ext cx="6409690" cy="665460"/>
          </a:xfrm>
          <a:prstGeom prst="rect">
            <a:avLst/>
          </a:prstGeom>
          <a:noFill/>
          <a:ln/>
        </p:spPr>
        <p:txBody>
          <a:bodyPr wrap="square" lIns="0" tIns="0" rIns="0" bIns="0" rtlCol="0" anchor="t">
            <a:normAutofit/>
          </a:bodyPr>
          <a:lstStyle/>
          <a:p>
            <a:pPr marL="0" indent="0" algn="l">
              <a:lnSpc>
                <a:spcPts val="5040"/>
              </a:lnSpc>
              <a:buNone/>
            </a:pPr>
            <a:r>
              <a:rPr lang="es-ES_tradnl" sz="4800" b="1" i="0" kern="0" spc="-100" noProof="0" dirty="0">
                <a:solidFill>
                  <a:srgbClr val="1D1D1B"/>
                </a:solidFill>
                <a:latin typeface="DM Sans" pitchFamily="34" charset="0"/>
                <a:ea typeface="DM Sans" pitchFamily="34" charset="-122"/>
                <a:cs typeface="DM Sans" pitchFamily="34" charset="-120"/>
              </a:rPr>
              <a:t>Dónde estábamos</a:t>
            </a:r>
            <a:endParaRPr lang="es-ES_tradnl" sz="4800" noProof="0" dirty="0"/>
          </a:p>
        </p:txBody>
      </p:sp>
      <p:sp>
        <p:nvSpPr>
          <p:cNvPr id="7" name="Text 3"/>
          <p:cNvSpPr/>
          <p:nvPr/>
        </p:nvSpPr>
        <p:spPr>
          <a:xfrm>
            <a:off x="812800" y="3715941"/>
            <a:ext cx="6409690" cy="322560"/>
          </a:xfrm>
          <a:prstGeom prst="rect">
            <a:avLst/>
          </a:prstGeom>
          <a:noFill/>
          <a:ln/>
        </p:spPr>
        <p:txBody>
          <a:bodyPr wrap="square" lIns="0" tIns="0" rIns="0" bIns="0" rtlCol="0" anchor="t">
            <a:normAutofit/>
          </a:bodyPr>
          <a:lstStyle/>
          <a:p>
            <a:pPr marL="0" indent="0" algn="l">
              <a:lnSpc>
                <a:spcPts val="2340"/>
              </a:lnSpc>
              <a:buNone/>
            </a:pPr>
            <a:r>
              <a:rPr lang="es-ES_tradnl" sz="1800" noProof="0">
                <a:solidFill>
                  <a:srgbClr val="1D1D1B"/>
                </a:solidFill>
                <a:latin typeface="Roboto" pitchFamily="34" charset="0"/>
                <a:ea typeface="Roboto" pitchFamily="34" charset="-122"/>
                <a:cs typeface="Roboto" pitchFamily="34" charset="-120"/>
              </a:rPr>
              <a:t>1 · La cota experimental en tres mecanismos</a:t>
            </a:r>
            <a:endParaRPr lang="es-ES_tradnl" sz="1800" noProof="0" dirty="0"/>
          </a:p>
        </p:txBody>
      </p:sp>
      <p:sp>
        <p:nvSpPr>
          <p:cNvPr id="8" name="Text 4"/>
          <p:cNvSpPr/>
          <p:nvPr/>
        </p:nvSpPr>
        <p:spPr>
          <a:xfrm>
            <a:off x="812800" y="4089301"/>
            <a:ext cx="6409690" cy="322560"/>
          </a:xfrm>
          <a:prstGeom prst="rect">
            <a:avLst/>
          </a:prstGeom>
          <a:noFill/>
          <a:ln/>
        </p:spPr>
        <p:txBody>
          <a:bodyPr wrap="square" lIns="0" tIns="0" rIns="0" bIns="0" rtlCol="0" anchor="t">
            <a:normAutofit/>
          </a:bodyPr>
          <a:lstStyle/>
          <a:p>
            <a:pPr marL="0" indent="0" algn="l">
              <a:lnSpc>
                <a:spcPts val="2340"/>
              </a:lnSpc>
              <a:buNone/>
            </a:pPr>
            <a:r>
              <a:rPr lang="es-ES_tradnl" sz="1800" noProof="0">
                <a:solidFill>
                  <a:srgbClr val="1D1D1B"/>
                </a:solidFill>
                <a:latin typeface="Roboto" pitchFamily="34" charset="0"/>
                <a:ea typeface="Roboto" pitchFamily="34" charset="-122"/>
                <a:cs typeface="Roboto" pitchFamily="34" charset="-120"/>
              </a:rPr>
              <a:t>2 · La pregunta nueva: decuantizar = medir</a:t>
            </a:r>
            <a:endParaRPr lang="es-ES_tradnl" sz="1800" noProof="0" dirty="0"/>
          </a:p>
        </p:txBody>
      </p:sp>
      <p:sp>
        <p:nvSpPr>
          <p:cNvPr id="9" name="Text 4">
            <a:extLst>
              <a:ext uri="{FF2B5EF4-FFF2-40B4-BE49-F238E27FC236}">
                <a16:creationId xmlns:a16="http://schemas.microsoft.com/office/drawing/2014/main" id="{B19BD400-2ADF-FD75-F718-5301A4BC3FE0}"/>
              </a:ext>
            </a:extLst>
          </p:cNvPr>
          <p:cNvSpPr/>
          <p:nvPr/>
        </p:nvSpPr>
        <p:spPr>
          <a:xfrm>
            <a:off x="812800" y="4462661"/>
            <a:ext cx="6409690" cy="322560"/>
          </a:xfrm>
          <a:prstGeom prst="rect">
            <a:avLst/>
          </a:prstGeom>
          <a:noFill/>
          <a:ln/>
        </p:spPr>
        <p:txBody>
          <a:bodyPr wrap="square" lIns="0" tIns="0" rIns="0" bIns="0" rtlCol="0" anchor="t">
            <a:normAutofit/>
          </a:bodyPr>
          <a:lstStyle/>
          <a:p>
            <a:pPr marL="0" indent="0" algn="l">
              <a:lnSpc>
                <a:spcPts val="2340"/>
              </a:lnSpc>
              <a:buNone/>
            </a:pPr>
            <a:r>
              <a:rPr lang="es-ES_tradnl" noProof="0">
                <a:solidFill>
                  <a:srgbClr val="1D1D1B"/>
                </a:solidFill>
                <a:latin typeface="Roboto" pitchFamily="34" charset="0"/>
                <a:ea typeface="Roboto" pitchFamily="34" charset="-122"/>
                <a:cs typeface="Roboto" pitchFamily="34" charset="-120"/>
              </a:rPr>
              <a:t>3 · Introducción a la metodología local</a:t>
            </a:r>
            <a:endParaRPr lang="es-ES_tradnl" sz="1800" noProof="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5F0EF6-0B6A-6E17-29C6-560DF97ABA3F}"/>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14F42B06-4F9C-4434-2D38-A2FF91E0ACAB}"/>
              </a:ext>
            </a:extLst>
          </p:cNvPr>
          <p:cNvSpPr txBox="1"/>
          <p:nvPr/>
        </p:nvSpPr>
        <p:spPr>
          <a:xfrm>
            <a:off x="812800" y="812800"/>
            <a:ext cx="9326880" cy="658368"/>
          </a:xfrm>
          <a:prstGeom prst="rect">
            <a:avLst/>
          </a:prstGeom>
          <a:noFill/>
          <a:ln/>
        </p:spPr>
        <p:txBody>
          <a:bodyPr wrap="square" lIns="0" tIns="0" rIns="0" bIns="0" rtlCol="0" anchor="t"/>
          <a:lstStyle/>
          <a:p>
            <a:pPr marL="0" indent="0" algn="l">
              <a:lnSpc>
                <a:spcPts val="3080"/>
              </a:lnSpc>
              <a:buNone/>
            </a:pPr>
            <a:r>
              <a:rPr lang="es-ES_tradnl" sz="2800" b="1" kern="0" spc="-50" noProof="0" dirty="0">
                <a:solidFill>
                  <a:srgbClr val="1D1D1B"/>
                </a:solidFill>
                <a:latin typeface="DM Sans" pitchFamily="34" charset="0"/>
                <a:ea typeface="DM Sans" pitchFamily="34" charset="-122"/>
                <a:cs typeface="DM Sans" pitchFamily="34" charset="-120"/>
              </a:rPr>
              <a:t>Privacidad diferencial </a:t>
            </a:r>
            <a:r>
              <a:rPr lang="es-ES_tradnl" sz="2800" b="1" kern="0" spc="-50" noProof="0" dirty="0" err="1">
                <a:solidFill>
                  <a:srgbClr val="1D1D1B"/>
                </a:solidFill>
                <a:latin typeface="DM Sans" pitchFamily="34" charset="0"/>
                <a:ea typeface="DM Sans" pitchFamily="34" charset="-122"/>
                <a:cs typeface="DM Sans" pitchFamily="34" charset="-120"/>
              </a:rPr>
              <a:t>cuánti</a:t>
            </a:r>
            <a:r>
              <a:rPr lang="es-ES_tradnl" sz="2800" b="1" kern="0" spc="-50" dirty="0">
                <a:solidFill>
                  <a:srgbClr val="1D1D1B"/>
                </a:solidFill>
                <a:latin typeface="DM Sans" pitchFamily="34" charset="0"/>
                <a:ea typeface="DM Sans" pitchFamily="34" charset="-122"/>
                <a:cs typeface="DM Sans" pitchFamily="34" charset="-120"/>
              </a:rPr>
              <a:t>ca </a:t>
            </a:r>
            <a:r>
              <a:rPr lang="es-ES_tradnl" sz="2800" b="1" kern="0" spc="-50" noProof="0" dirty="0">
                <a:solidFill>
                  <a:srgbClr val="1D1D1B"/>
                </a:solidFill>
                <a:latin typeface="DM Sans" pitchFamily="34" charset="0"/>
                <a:ea typeface="DM Sans" pitchFamily="34" charset="-122"/>
                <a:cs typeface="DM Sans" pitchFamily="34" charset="-120"/>
              </a:rPr>
              <a:t>central</a:t>
            </a:r>
          </a:p>
        </p:txBody>
      </p:sp>
      <p:grpSp>
        <p:nvGrpSpPr>
          <p:cNvPr id="300" name="Diagrama pipeline"/>
          <p:cNvGrpSpPr/>
          <p:nvPr/>
        </p:nvGrpSpPr>
        <p:grpSpPr>
          <a:xfrm>
            <a:off x="812800" y="1803400"/>
            <a:ext cx="10566400" cy="4381500"/>
            <a:chOff x="548640" y="1325880"/>
            <a:chExt cx="11064240" cy="4892040"/>
          </a:xfrm>
        </p:grpSpPr>
        <p:sp>
          <p:nvSpPr>
            <p:cNvPr id="6" name="Shape 4">
              <a:extLst>
                <a:ext uri="{FF2B5EF4-FFF2-40B4-BE49-F238E27FC236}">
                  <a16:creationId xmlns:a16="http://schemas.microsoft.com/office/drawing/2014/main" id="{D65D9009-3C2C-CB59-8740-0418797A8229}"/>
                </a:ext>
              </a:extLst>
            </p:cNvPr>
            <p:cNvSpPr/>
            <p:nvPr/>
          </p:nvSpPr>
          <p:spPr>
            <a:xfrm>
              <a:off x="548640" y="1325880"/>
              <a:ext cx="11064240" cy="4892040"/>
            </a:xfrm>
            <a:prstGeom prst="roundRect">
              <a:avLst>
                <a:gd name="adj" fmla="val 2243"/>
              </a:avLst>
            </a:prstGeom>
            <a:solidFill>
              <a:srgbClr val="F3F3F2"/>
            </a:solidFill>
            <a:ln w="12700">
              <a:solidFill>
                <a:srgbClr val="F3F3F2"/>
              </a:solidFill>
              <a:prstDash val="solid"/>
            </a:ln>
          </p:spPr>
          <p:txBody>
            <a:bodyPr/>
            <a:lstStyle/>
            <a:p>
              <a:endParaRPr lang="es-ES_tradnl" noProof="0" dirty="0"/>
            </a:p>
          </p:txBody>
        </p:sp>
        <p:sp>
          <p:nvSpPr>
            <p:cNvPr id="19" name="Shape 17">
              <a:extLst>
                <a:ext uri="{FF2B5EF4-FFF2-40B4-BE49-F238E27FC236}">
                  <a16:creationId xmlns:a16="http://schemas.microsoft.com/office/drawing/2014/main" id="{593D481B-BF26-6C5F-B130-79A529448879}"/>
                </a:ext>
              </a:extLst>
            </p:cNvPr>
            <p:cNvSpPr/>
            <p:nvPr/>
          </p:nvSpPr>
          <p:spPr>
            <a:xfrm>
              <a:off x="548640" y="3065640"/>
              <a:ext cx="11064240" cy="2248264"/>
            </a:xfrm>
            <a:prstGeom prst="roundRect">
              <a:avLst>
                <a:gd name="adj" fmla="val 5405"/>
              </a:avLst>
            </a:prstGeom>
            <a:solidFill>
              <a:schemeClr val="accent2">
                <a:lumMod val="40000"/>
                <a:lumOff val="60000"/>
              </a:schemeClr>
            </a:solidFill>
            <a:ln w="12700">
              <a:solidFill>
                <a:srgbClr val="D4D4D0"/>
              </a:solidFill>
              <a:prstDash val="solid"/>
            </a:ln>
          </p:spPr>
          <p:txBody>
            <a:bodyPr/>
            <a:lstStyle/>
            <a:p>
              <a:endParaRPr lang="es-ES_tradnl" noProof="0" dirty="0"/>
            </a:p>
          </p:txBody>
        </p:sp>
        <p:sp>
          <p:nvSpPr>
            <p:cNvPr id="2" name="Shape 6">
              <a:extLst>
                <a:ext uri="{FF2B5EF4-FFF2-40B4-BE49-F238E27FC236}">
                  <a16:creationId xmlns:a16="http://schemas.microsoft.com/office/drawing/2014/main" id="{A77677AC-2617-DEDA-A098-13CA95E34F77}"/>
                </a:ext>
              </a:extLst>
            </p:cNvPr>
            <p:cNvSpPr/>
            <p:nvPr/>
          </p:nvSpPr>
          <p:spPr>
            <a:xfrm>
              <a:off x="889000" y="3580104"/>
              <a:ext cx="2032000" cy="863600"/>
            </a:xfrm>
            <a:prstGeom prst="roundRect">
              <a:avLst>
                <a:gd name="adj" fmla="val 8421"/>
              </a:avLst>
            </a:prstGeom>
            <a:solidFill>
              <a:srgbClr val="FFFFFF"/>
            </a:solidFill>
            <a:ln w="12700">
              <a:solidFill>
                <a:srgbClr val="B9B9B5"/>
              </a:solidFill>
              <a:prstDash val="solid"/>
            </a:ln>
          </p:spPr>
          <p:txBody>
            <a:bodyPr/>
            <a:lstStyle/>
            <a:p>
              <a:endParaRPr lang="es-ES_tradnl" noProof="0" dirty="0"/>
            </a:p>
          </p:txBody>
        </p:sp>
        <p:sp>
          <p:nvSpPr>
            <p:cNvPr id="7" name="Text 5">
              <a:extLst>
                <a:ext uri="{FF2B5EF4-FFF2-40B4-BE49-F238E27FC236}">
                  <a16:creationId xmlns:a16="http://schemas.microsoft.com/office/drawing/2014/main" id="{79522243-5B12-5338-6027-8559F60A1541}"/>
                </a:ext>
              </a:extLst>
            </p:cNvPr>
            <p:cNvSpPr txBox="1"/>
            <p:nvPr/>
          </p:nvSpPr>
          <p:spPr>
            <a:xfrm>
              <a:off x="777240" y="1417320"/>
              <a:ext cx="5486400" cy="365760"/>
            </a:xfrm>
            <a:prstGeom prst="rect">
              <a:avLst/>
            </a:prstGeom>
            <a:noFill/>
            <a:ln/>
          </p:spPr>
          <p:txBody>
            <a:bodyPr wrap="square" lIns="0" tIns="0" rIns="0" bIns="0" rtlCol="0" anchor="t"/>
            <a:lstStyle/>
            <a:p>
              <a:pPr marL="0" indent="0">
                <a:buNone/>
              </a:pPr>
              <a:r>
                <a:rPr lang="es-ES_tradnl" sz="1400" b="1" noProof="0" dirty="0">
                  <a:solidFill>
                    <a:srgbClr val="1D1D1B"/>
                  </a:solidFill>
                  <a:latin typeface="DM Sans" pitchFamily="34" charset="0"/>
                  <a:ea typeface="DM Sans" pitchFamily="34" charset="-122"/>
                  <a:cs typeface="DM Sans" pitchFamily="34" charset="-120"/>
                </a:rPr>
                <a:t>Para cada columna k = 0, …, 6</a:t>
              </a:r>
              <a:endParaRPr lang="es-ES_tradnl" sz="1500" noProof="0" dirty="0"/>
            </a:p>
          </p:txBody>
        </p:sp>
        <p:sp>
          <p:nvSpPr>
            <p:cNvPr id="8" name="Shape 6">
              <a:extLst>
                <a:ext uri="{FF2B5EF4-FFF2-40B4-BE49-F238E27FC236}">
                  <a16:creationId xmlns:a16="http://schemas.microsoft.com/office/drawing/2014/main" id="{0FF14AFD-71A5-F492-D708-71D107AD6D26}"/>
                </a:ext>
              </a:extLst>
            </p:cNvPr>
            <p:cNvSpPr/>
            <p:nvPr/>
          </p:nvSpPr>
          <p:spPr>
            <a:xfrm>
              <a:off x="889000" y="1891144"/>
              <a:ext cx="2032000" cy="863600"/>
            </a:xfrm>
            <a:prstGeom prst="roundRect">
              <a:avLst>
                <a:gd name="adj" fmla="val 8421"/>
              </a:avLst>
            </a:prstGeom>
            <a:solidFill>
              <a:srgbClr val="FFFFFF"/>
            </a:solidFill>
            <a:ln w="12700">
              <a:solidFill>
                <a:srgbClr val="B9B9B5"/>
              </a:solidFill>
              <a:prstDash val="solid"/>
            </a:ln>
          </p:spPr>
          <p:txBody>
            <a:bodyPr/>
            <a:lstStyle/>
            <a:p>
              <a:endParaRPr lang="es-ES_tradnl" noProof="0" dirty="0"/>
            </a:p>
          </p:txBody>
        </p:sp>
        <p:sp>
          <p:nvSpPr>
            <p:cNvPr id="9" name="Text 7">
              <a:extLst>
                <a:ext uri="{FF2B5EF4-FFF2-40B4-BE49-F238E27FC236}">
                  <a16:creationId xmlns:a16="http://schemas.microsoft.com/office/drawing/2014/main" id="{7B4DEB13-B99D-38F6-7490-389AA93BE0C9}"/>
                </a:ext>
              </a:extLst>
            </p:cNvPr>
            <p:cNvSpPr txBox="1"/>
            <p:nvPr/>
          </p:nvSpPr>
          <p:spPr>
            <a:xfrm>
              <a:off x="939800" y="1992744"/>
              <a:ext cx="1930400" cy="304800"/>
            </a:xfrm>
            <a:prstGeom prst="rect">
              <a:avLst/>
            </a:prstGeom>
            <a:noFill/>
            <a:ln/>
          </p:spPr>
          <p:txBody>
            <a:bodyPr wrap="square" lIns="0" tIns="0" rIns="0" bIns="0" rtlCol="0" anchor="t"/>
            <a:lstStyle/>
            <a:p>
              <a:pPr marL="0" indent="0" algn="ctr">
                <a:buNone/>
              </a:pPr>
              <a:r>
                <a:rPr lang="es-ES_tradnl" sz="1200" b="1" noProof="0" dirty="0">
                  <a:solidFill>
                    <a:srgbClr val="293470"/>
                  </a:solidFill>
                  <a:latin typeface="DM Sans" pitchFamily="34" charset="0"/>
                  <a:ea typeface="DM Sans" pitchFamily="34" charset="-122"/>
                  <a:cs typeface="DM Sans" pitchFamily="34" charset="-120"/>
                </a:rPr>
                <a:t>Codificar</a:t>
              </a:r>
              <a:endParaRPr lang="es-ES_tradnl" sz="1200" noProof="0" dirty="0"/>
            </a:p>
          </p:txBody>
        </p:sp>
        <mc:AlternateContent xmlns:mc="http://schemas.openxmlformats.org/markup-compatibility/2006">
          <mc:Choice xmlns:a14="http://schemas.microsoft.com/office/drawing/2010/main" Requires="a14">
            <p:sp>
              <p:nvSpPr>
                <p:cNvPr id="10" name="Text 8">
                  <a:extLst>
                    <a:ext uri="{FF2B5EF4-FFF2-40B4-BE49-F238E27FC236}">
                      <a16:creationId xmlns:a16="http://schemas.microsoft.com/office/drawing/2014/main" id="{DAA8AC40-8942-2062-E118-CF83BD8E9208}"/>
                    </a:ext>
                  </a:extLst>
                </p:cNvPr>
                <p:cNvSpPr txBox="1"/>
                <p:nvPr/>
              </p:nvSpPr>
              <p:spPr>
                <a:xfrm>
                  <a:off x="939800" y="2262645"/>
                  <a:ext cx="1930400" cy="355600"/>
                </a:xfrm>
                <a:prstGeom prst="rect">
                  <a:avLst/>
                </a:prstGeom>
                <a:noFill/>
                <a:ln/>
              </p:spPr>
              <p:txBody>
                <a:bodyPr wrap="square" lIns="0" tIns="0" rIns="0" bIns="0" rtlCol="0" anchor="t"/>
                <a:lstStyle/>
                <a:p>
                  <a:pPr marL="0" indent="0" algn="ctr">
                    <a:buNone/>
                  </a:pPr>
                  <a:r>
                    <a:rPr lang="es-ES_tradnl" sz="1300" noProof="0" dirty="0">
                      <a:solidFill>
                        <a:srgbClr val="3C3C3B"/>
                      </a:solidFill>
                      <a:ea typeface="Cambria Math" panose="02040503050406030204" pitchFamily="18" charset="0"/>
                      <a:cs typeface="Roboto" pitchFamily="34" charset="-120"/>
                    </a:rPr>
                    <a:t>{</a:t>
                  </a:r>
                  <a14:m>
                    <m:oMath xmlns:m="http://schemas.openxmlformats.org/officeDocument/2006/math">
                      <m:sSubSup>
                        <m:sSubSupPr>
                          <m:ctrlPr>
                            <a:rPr lang="es-ES_tradnl" sz="1300" i="1" noProof="0" smtClean="0">
                              <a:solidFill>
                                <a:srgbClr val="3C3C3B"/>
                              </a:solidFill>
                              <a:latin typeface="Cambria Math" panose="02040503050406030204" pitchFamily="18" charset="0"/>
                              <a:ea typeface="Cambria Math" panose="02040503050406030204" pitchFamily="18" charset="0"/>
                              <a:cs typeface="Roboto" pitchFamily="34" charset="-120"/>
                            </a:rPr>
                          </m:ctrlPr>
                        </m:sSubSupPr>
                        <m:e>
                          <m:r>
                            <a:rPr lang="es-ES_tradnl" sz="1300" i="1" noProof="0" smtClean="0">
                              <a:solidFill>
                                <a:srgbClr val="3C3C3B"/>
                              </a:solidFill>
                              <a:latin typeface="Cambria Math" panose="02040503050406030204" pitchFamily="18" charset="0"/>
                              <a:ea typeface="Cambria Math" panose="02040503050406030204" pitchFamily="18" charset="0"/>
                              <a:cs typeface="Roboto" pitchFamily="34" charset="-120"/>
                            </a:rPr>
                            <m:t>𝜌</m:t>
                          </m:r>
                        </m:e>
                        <m:sub>
                          <m:r>
                            <a:rPr lang="es-ES_tradnl" sz="1300" b="0" i="1" noProof="0" smtClean="0">
                              <a:solidFill>
                                <a:srgbClr val="3C3C3B"/>
                              </a:solidFill>
                              <a:latin typeface="Cambria Math" panose="02040503050406030204" pitchFamily="18" charset="0"/>
                              <a:cs typeface="Roboto" pitchFamily="34" charset="-120"/>
                            </a:rPr>
                            <m:t>𝑖</m:t>
                          </m:r>
                        </m:sub>
                        <m:sup>
                          <m:r>
                            <a:rPr lang="es-ES_tradnl" sz="1300" b="0" i="1" noProof="0" smtClean="0">
                              <a:solidFill>
                                <a:srgbClr val="3C3C3B"/>
                              </a:solidFill>
                              <a:latin typeface="Cambria Math" panose="02040503050406030204" pitchFamily="18" charset="0"/>
                              <a:ea typeface="Cambria Math" panose="02040503050406030204" pitchFamily="18" charset="0"/>
                              <a:cs typeface="Roboto" pitchFamily="34" charset="-120"/>
                            </a:rPr>
                            <m:t>𝑘</m:t>
                          </m:r>
                        </m:sup>
                      </m:sSubSup>
                      <m:r>
                        <a:rPr lang="es-ES_tradnl" sz="1300" b="0" i="1" noProof="0" smtClean="0">
                          <a:solidFill>
                            <a:srgbClr val="3C3C3B"/>
                          </a:solidFill>
                          <a:latin typeface="Cambria Math" panose="02040503050406030204" pitchFamily="18" charset="0"/>
                          <a:ea typeface="Cambria Math" panose="02040503050406030204" pitchFamily="18" charset="0"/>
                          <a:cs typeface="Roboto" pitchFamily="34" charset="-120"/>
                        </a:rPr>
                        <m:t>}</m:t>
                      </m:r>
                    </m:oMath>
                  </a14:m>
                  <a:r>
                    <a:rPr lang="es-ES_tradnl" sz="1300" noProof="0" dirty="0">
                      <a:solidFill>
                        <a:srgbClr val="3C3C3B"/>
                      </a:solidFill>
                      <a:latin typeface="Roboto" pitchFamily="34" charset="0"/>
                      <a:ea typeface="Roboto" pitchFamily="34" charset="-122"/>
                      <a:cs typeface="Roboto" pitchFamily="34" charset="-120"/>
                    </a:rPr>
                    <a:t>: 1000 estados </a:t>
                  </a:r>
                  <a14:m>
                    <m:oMath xmlns:m="http://schemas.openxmlformats.org/officeDocument/2006/math">
                      <m:r>
                        <a:rPr lang="es-ES_tradnl" sz="1300" b="0" i="1" noProof="0" smtClean="0">
                          <a:solidFill>
                            <a:srgbClr val="3C3C3B"/>
                          </a:solidFill>
                          <a:latin typeface="Cambria Math" panose="02040503050406030204" pitchFamily="18" charset="0"/>
                          <a:ea typeface="Roboto" pitchFamily="34" charset="-122"/>
                          <a:cs typeface="Roboto" pitchFamily="34" charset="-120"/>
                        </a:rPr>
                        <m:t>∀</m:t>
                      </m:r>
                      <m:r>
                        <a:rPr lang="es-ES_tradnl" sz="1300" b="0" i="1" noProof="0" smtClean="0">
                          <a:solidFill>
                            <a:srgbClr val="3C3C3B"/>
                          </a:solidFill>
                          <a:latin typeface="Cambria Math" panose="02040503050406030204" pitchFamily="18" charset="0"/>
                          <a:ea typeface="Roboto" pitchFamily="34" charset="-122"/>
                          <a:cs typeface="Roboto" pitchFamily="34" charset="-120"/>
                        </a:rPr>
                        <m:t>𝑖</m:t>
                      </m:r>
                      <m:r>
                        <a:rPr lang="es-ES_tradnl" sz="1300" b="0" i="1" noProof="0" smtClean="0">
                          <a:solidFill>
                            <a:srgbClr val="3C3C3B"/>
                          </a:solidFill>
                          <a:latin typeface="Cambria Math" panose="02040503050406030204" pitchFamily="18" charset="0"/>
                          <a:ea typeface="Roboto" pitchFamily="34" charset="-122"/>
                          <a:cs typeface="Roboto" pitchFamily="34" charset="-120"/>
                        </a:rPr>
                        <m:t>∈[0, 1000)</m:t>
                      </m:r>
                    </m:oMath>
                  </a14:m>
                  <a:endParaRPr lang="es-ES_tradnl" sz="1300" noProof="0" dirty="0"/>
                </a:p>
              </p:txBody>
            </p:sp>
          </mc:Choice>
          <mc:Fallback>
            <p:sp>
              <p:nvSpPr>
                <p:cNvPr id="10" name="Text 8">
                  <a:extLst>
                    <a:ext uri="{FF2B5EF4-FFF2-40B4-BE49-F238E27FC236}">
                      <a16:creationId xmlns:a16="http://schemas.microsoft.com/office/drawing/2014/main" id="{DAA8AC40-8942-2062-E118-CF83BD8E9208}"/>
                    </a:ext>
                  </a:extLst>
                </p:cNvPr>
                <p:cNvSpPr txBox="1">
                  <a:spLocks noRot="1" noChangeAspect="1" noMove="1" noResize="1" noEditPoints="1" noAdjustHandles="1" noChangeArrowheads="1" noChangeShapeType="1" noTextEdit="1"/>
                </p:cNvSpPr>
                <p:nvPr/>
              </p:nvSpPr>
              <p:spPr>
                <a:xfrm>
                  <a:off x="939800" y="2262645"/>
                  <a:ext cx="1930400" cy="355600"/>
                </a:xfrm>
                <a:prstGeom prst="rect">
                  <a:avLst/>
                </a:prstGeom>
                <a:blipFill>
                  <a:blip r:embed="rId3"/>
                  <a:stretch>
                    <a:fillRect l="-2740" t="-7407" b="-48148"/>
                  </a:stretch>
                </a:blipFill>
                <a:ln/>
              </p:spPr>
              <p:txBody>
                <a:bodyPr/>
                <a:lstStyle/>
                <a:p>
                  <a:r>
                    <a:rPr lang="en-CO">
                      <a:noFill/>
                    </a:rPr>
                    <a:t> </a:t>
                  </a:r>
                </a:p>
              </p:txBody>
            </p:sp>
          </mc:Fallback>
        </mc:AlternateContent>
        <p:sp>
          <p:nvSpPr>
            <p:cNvPr id="12" name="Shape 10">
              <a:extLst>
                <a:ext uri="{FF2B5EF4-FFF2-40B4-BE49-F238E27FC236}">
                  <a16:creationId xmlns:a16="http://schemas.microsoft.com/office/drawing/2014/main" id="{CAAF050D-6E4C-5262-E138-F35DB73347D1}"/>
                </a:ext>
              </a:extLst>
            </p:cNvPr>
            <p:cNvSpPr/>
            <p:nvPr/>
          </p:nvSpPr>
          <p:spPr>
            <a:xfrm>
              <a:off x="3193962" y="1893916"/>
              <a:ext cx="2225756" cy="863600"/>
            </a:xfrm>
            <a:prstGeom prst="roundRect">
              <a:avLst>
                <a:gd name="adj" fmla="val 8421"/>
              </a:avLst>
            </a:prstGeom>
            <a:solidFill>
              <a:srgbClr val="FFFFFF"/>
            </a:solidFill>
            <a:ln w="12700">
              <a:solidFill>
                <a:srgbClr val="B9B9B5"/>
              </a:solidFill>
              <a:prstDash val="solid"/>
            </a:ln>
          </p:spPr>
          <p:txBody>
            <a:bodyPr/>
            <a:lstStyle/>
            <a:p>
              <a:endParaRPr lang="es-ES_tradnl" noProof="0" dirty="0"/>
            </a:p>
          </p:txBody>
        </p:sp>
        <p:sp>
          <p:nvSpPr>
            <p:cNvPr id="13" name="Text 11">
              <a:extLst>
                <a:ext uri="{FF2B5EF4-FFF2-40B4-BE49-F238E27FC236}">
                  <a16:creationId xmlns:a16="http://schemas.microsoft.com/office/drawing/2014/main" id="{61EFA8D5-02B9-600A-6F98-12E7CD5E0390}"/>
                </a:ext>
              </a:extLst>
            </p:cNvPr>
            <p:cNvSpPr txBox="1"/>
            <p:nvPr/>
          </p:nvSpPr>
          <p:spPr>
            <a:xfrm>
              <a:off x="3244762" y="1995516"/>
              <a:ext cx="2124156" cy="304800"/>
            </a:xfrm>
            <a:prstGeom prst="rect">
              <a:avLst/>
            </a:prstGeom>
            <a:noFill/>
            <a:ln/>
          </p:spPr>
          <p:txBody>
            <a:bodyPr wrap="square" lIns="0" tIns="0" rIns="0" bIns="0" rtlCol="0" anchor="t"/>
            <a:lstStyle/>
            <a:p>
              <a:pPr marL="0" indent="0" algn="ctr">
                <a:buNone/>
              </a:pPr>
              <a:r>
                <a:rPr lang="es-ES_tradnl" sz="1200" b="1" noProof="0" dirty="0">
                  <a:solidFill>
                    <a:srgbClr val="293470"/>
                  </a:solidFill>
                  <a:latin typeface="DM Sans" pitchFamily="34" charset="0"/>
                  <a:ea typeface="DM Sans" pitchFamily="34" charset="-122"/>
                  <a:cs typeface="DM Sans" pitchFamily="34" charset="-120"/>
                </a:rPr>
                <a:t>Agregar</a:t>
              </a:r>
              <a:endParaRPr lang="es-ES_tradnl" sz="1200" noProof="0" dirty="0"/>
            </a:p>
          </p:txBody>
        </p:sp>
        <p:sp>
          <p:nvSpPr>
            <p:cNvPr id="16" name="Shape 14">
              <a:extLst>
                <a:ext uri="{FF2B5EF4-FFF2-40B4-BE49-F238E27FC236}">
                  <a16:creationId xmlns:a16="http://schemas.microsoft.com/office/drawing/2014/main" id="{A31B02A7-EDA4-20B3-2CDA-E43E26450BEC}"/>
                </a:ext>
              </a:extLst>
            </p:cNvPr>
            <p:cNvSpPr/>
            <p:nvPr/>
          </p:nvSpPr>
          <p:spPr>
            <a:xfrm>
              <a:off x="7045635" y="1881339"/>
              <a:ext cx="1717365" cy="863600"/>
            </a:xfrm>
            <a:prstGeom prst="roundRect">
              <a:avLst>
                <a:gd name="adj" fmla="val 8421"/>
              </a:avLst>
            </a:prstGeom>
            <a:solidFill>
              <a:srgbClr val="FFEE00"/>
            </a:solidFill>
            <a:ln w="15875">
              <a:solidFill>
                <a:srgbClr val="FFEE00"/>
              </a:solidFill>
              <a:prstDash val="solid"/>
            </a:ln>
          </p:spPr>
          <p:txBody>
            <a:bodyPr/>
            <a:lstStyle/>
            <a:p>
              <a:endParaRPr lang="es-ES_tradnl" noProof="0" dirty="0"/>
            </a:p>
          </p:txBody>
        </p:sp>
        <p:sp>
          <p:nvSpPr>
            <p:cNvPr id="17" name="Text 15">
              <a:extLst>
                <a:ext uri="{FF2B5EF4-FFF2-40B4-BE49-F238E27FC236}">
                  <a16:creationId xmlns:a16="http://schemas.microsoft.com/office/drawing/2014/main" id="{D07E9A1E-3628-9A9C-ED86-E09DCC726AA4}"/>
                </a:ext>
              </a:extLst>
            </p:cNvPr>
            <p:cNvSpPr txBox="1"/>
            <p:nvPr/>
          </p:nvSpPr>
          <p:spPr>
            <a:xfrm>
              <a:off x="7096435" y="1974273"/>
              <a:ext cx="1656303" cy="304800"/>
            </a:xfrm>
            <a:prstGeom prst="rect">
              <a:avLst/>
            </a:prstGeom>
            <a:noFill/>
            <a:ln/>
          </p:spPr>
          <p:txBody>
            <a:bodyPr wrap="square" lIns="0" tIns="0" rIns="0" bIns="0" rtlCol="0" anchor="t"/>
            <a:lstStyle/>
            <a:p>
              <a:pPr marL="0" indent="0" algn="ctr">
                <a:buNone/>
              </a:pPr>
              <a:r>
                <a:rPr lang="es-ES_tradnl" sz="1200" b="1" noProof="0" dirty="0">
                  <a:solidFill>
                    <a:srgbClr val="1D1D1B"/>
                  </a:solidFill>
                  <a:latin typeface="DM Sans" pitchFamily="34" charset="0"/>
                  <a:ea typeface="DM Sans" pitchFamily="34" charset="-122"/>
                  <a:cs typeface="DM Sans" pitchFamily="34" charset="-120"/>
                </a:rPr>
                <a:t>GAD</a:t>
              </a:r>
              <a:endParaRPr lang="es-ES_tradnl" sz="1200" noProof="0" dirty="0"/>
            </a:p>
          </p:txBody>
        </p:sp>
        <mc:AlternateContent xmlns:mc="http://schemas.openxmlformats.org/markup-compatibility/2006">
          <mc:Choice xmlns:a14="http://schemas.microsoft.com/office/drawing/2010/main" Requires="a14">
            <p:sp>
              <p:nvSpPr>
                <p:cNvPr id="18" name="Text 16">
                  <a:extLst>
                    <a:ext uri="{FF2B5EF4-FFF2-40B4-BE49-F238E27FC236}">
                      <a16:creationId xmlns:a16="http://schemas.microsoft.com/office/drawing/2014/main" id="{5BD300C5-DA0A-D1C0-9FEB-C5B6DA6D9B92}"/>
                    </a:ext>
                  </a:extLst>
                </p:cNvPr>
                <p:cNvSpPr txBox="1"/>
                <p:nvPr/>
              </p:nvSpPr>
              <p:spPr>
                <a:xfrm>
                  <a:off x="7096435" y="2331258"/>
                  <a:ext cx="1656303" cy="355600"/>
                </a:xfrm>
                <a:prstGeom prst="rect">
                  <a:avLst/>
                </a:prstGeom>
                <a:noFill/>
                <a:ln/>
              </p:spPr>
              <p:txBody>
                <a:bodyPr wrap="square" lIns="0" tIns="0" rIns="0" bIns="0" rtlCol="0" anchor="t"/>
                <a:lstStyle/>
                <a:p>
                  <a:pPr algn="ctr"/>
                  <a14:m>
                    <m:oMathPara xmlns:m="http://schemas.openxmlformats.org/officeDocument/2006/math">
                      <m:oMathParaPr>
                        <m:jc m:val="centerGroup"/>
                      </m:oMathParaPr>
                      <m:oMath xmlns:m="http://schemas.openxmlformats.org/officeDocument/2006/math">
                        <m:sSubSup>
                          <m:sSubSupPr>
                            <m:ctrlPr>
                              <a:rPr lang="es-ES_tradnl" sz="1300" b="0" i="1" noProof="0" smtClean="0">
                                <a:solidFill>
                                  <a:srgbClr val="3C3C3B"/>
                                </a:solidFill>
                                <a:latin typeface="Cambria Math" panose="02040503050406030204" pitchFamily="18" charset="0"/>
                              </a:rPr>
                            </m:ctrlPr>
                          </m:sSubSupPr>
                          <m:e>
                            <m:r>
                              <a:rPr lang="es-ES_tradnl" sz="1300" i="1" noProof="0" smtClean="0">
                                <a:solidFill>
                                  <a:srgbClr val="3C3C3B"/>
                                </a:solidFill>
                                <a:latin typeface="Cambria Math" panose="02040503050406030204" pitchFamily="18" charset="0"/>
                              </a:rPr>
                              <m:t>𝜌</m:t>
                            </m:r>
                            <m:r>
                              <a:rPr lang="es-ES_tradnl" sz="1300" b="0" i="1" noProof="0" smtClean="0">
                                <a:solidFill>
                                  <a:srgbClr val="3C3C3B"/>
                                </a:solidFill>
                                <a:latin typeface="Cambria Math" panose="02040503050406030204" pitchFamily="18" charset="0"/>
                              </a:rPr>
                              <m:t>′</m:t>
                            </m:r>
                          </m:e>
                          <m:sub/>
                          <m:sup>
                            <m:r>
                              <a:rPr lang="es-ES_tradnl" sz="1300" b="0" i="1" noProof="0" smtClean="0">
                                <a:solidFill>
                                  <a:srgbClr val="3C3C3B"/>
                                </a:solidFill>
                                <a:latin typeface="Cambria Math" panose="02040503050406030204" pitchFamily="18" charset="0"/>
                              </a:rPr>
                              <m:t>𝑘</m:t>
                            </m:r>
                          </m:sup>
                        </m:sSubSup>
                        <m:r>
                          <a:rPr lang="es-ES_tradnl" sz="1300" i="1" noProof="0" smtClean="0">
                            <a:solidFill>
                              <a:srgbClr val="3C3C3B"/>
                            </a:solidFill>
                            <a:latin typeface="Cambria Math" panose="02040503050406030204" pitchFamily="18" charset="0"/>
                          </a:rPr>
                          <m:t>=</m:t>
                        </m:r>
                        <m:sSub>
                          <m:sSubPr>
                            <m:ctrlPr>
                              <a:rPr lang="es-ES_tradnl" sz="1300" i="1" noProof="0" smtClean="0">
                                <a:solidFill>
                                  <a:srgbClr val="3C3C3B"/>
                                </a:solidFill>
                                <a:latin typeface="Cambria Math" panose="02040503050406030204" pitchFamily="18" charset="0"/>
                              </a:rPr>
                            </m:ctrlPr>
                          </m:sSubPr>
                          <m:e>
                            <m:r>
                              <a:rPr lang="es-ES_tradnl" sz="1300" i="1" noProof="0" smtClean="0">
                                <a:solidFill>
                                  <a:srgbClr val="3C3C3B"/>
                                </a:solidFill>
                                <a:latin typeface="Cambria Math" panose="02040503050406030204" pitchFamily="18" charset="0"/>
                              </a:rPr>
                              <m:t>ℰ</m:t>
                            </m:r>
                          </m:e>
                          <m:sub>
                            <m:r>
                              <a:rPr lang="es-ES_tradnl" sz="1300" b="0" i="1" noProof="0" smtClean="0">
                                <a:solidFill>
                                  <a:srgbClr val="3C3C3B"/>
                                </a:solidFill>
                                <a:latin typeface="Cambria Math" panose="02040503050406030204" pitchFamily="18" charset="0"/>
                              </a:rPr>
                              <m:t>𝐺𝐴𝐷</m:t>
                            </m:r>
                          </m:sub>
                        </m:sSub>
                        <m:d>
                          <m:dPr>
                            <m:ctrlPr>
                              <a:rPr lang="es-ES_tradnl" sz="1300" i="1" noProof="0" smtClean="0">
                                <a:solidFill>
                                  <a:srgbClr val="3C3C3B"/>
                                </a:solidFill>
                                <a:latin typeface="Cambria Math" panose="02040503050406030204" pitchFamily="18" charset="0"/>
                              </a:rPr>
                            </m:ctrlPr>
                          </m:dPr>
                          <m:e>
                            <m:sSubSup>
                              <m:sSubSupPr>
                                <m:ctrlPr>
                                  <a:rPr lang="es-ES_tradnl" sz="1300" i="1" noProof="0" smtClean="0">
                                    <a:solidFill>
                                      <a:srgbClr val="3C3C3B"/>
                                    </a:solidFill>
                                    <a:latin typeface="Cambria Math" panose="02040503050406030204" pitchFamily="18" charset="0"/>
                                  </a:rPr>
                                </m:ctrlPr>
                              </m:sSubSupPr>
                              <m:e>
                                <m:r>
                                  <a:rPr lang="es-ES_tradnl" sz="1300" i="1" noProof="0" smtClean="0">
                                    <a:solidFill>
                                      <a:srgbClr val="3C3C3B"/>
                                    </a:solidFill>
                                    <a:latin typeface="Cambria Math" panose="02040503050406030204" pitchFamily="18" charset="0"/>
                                  </a:rPr>
                                  <m:t>𝜌</m:t>
                                </m:r>
                              </m:e>
                              <m:sub/>
                              <m:sup>
                                <m:r>
                                  <a:rPr lang="es-ES_tradnl" sz="1300" b="0" i="1" noProof="0" smtClean="0">
                                    <a:solidFill>
                                      <a:srgbClr val="3C3C3B"/>
                                    </a:solidFill>
                                    <a:latin typeface="Cambria Math" panose="02040503050406030204" pitchFamily="18" charset="0"/>
                                  </a:rPr>
                                  <m:t>𝑘</m:t>
                                </m:r>
                              </m:sup>
                            </m:sSubSup>
                          </m:e>
                        </m:d>
                      </m:oMath>
                    </m:oMathPara>
                  </a14:m>
                  <a:endParaRPr lang="es-ES_tradnl" sz="1300" noProof="0" dirty="0"/>
                </a:p>
              </p:txBody>
            </p:sp>
          </mc:Choice>
          <mc:Fallback>
            <p:sp>
              <p:nvSpPr>
                <p:cNvPr id="18" name="Text 16">
                  <a:extLst>
                    <a:ext uri="{FF2B5EF4-FFF2-40B4-BE49-F238E27FC236}">
                      <a16:creationId xmlns:a16="http://schemas.microsoft.com/office/drawing/2014/main" id="{5BD300C5-DA0A-D1C0-9FEB-C5B6DA6D9B92}"/>
                    </a:ext>
                  </a:extLst>
                </p:cNvPr>
                <p:cNvSpPr txBox="1">
                  <a:spLocks noRot="1" noChangeAspect="1" noMove="1" noResize="1" noEditPoints="1" noAdjustHandles="1" noChangeArrowheads="1" noChangeShapeType="1" noTextEdit="1"/>
                </p:cNvSpPr>
                <p:nvPr/>
              </p:nvSpPr>
              <p:spPr>
                <a:xfrm>
                  <a:off x="7096435" y="2331258"/>
                  <a:ext cx="1656303" cy="355600"/>
                </a:xfrm>
                <a:prstGeom prst="rect">
                  <a:avLst/>
                </a:prstGeom>
                <a:blipFill>
                  <a:blip r:embed="rId4"/>
                  <a:stretch>
                    <a:fillRect t="-3846"/>
                  </a:stretch>
                </a:blipFill>
                <a:ln/>
              </p:spPr>
              <p:txBody>
                <a:bodyPr/>
                <a:lstStyle/>
                <a:p>
                  <a:r>
                    <a:rPr lang="en-CO">
                      <a:noFill/>
                    </a:rPr>
                    <a:t> </a:t>
                  </a:r>
                </a:p>
              </p:txBody>
            </p:sp>
          </mc:Fallback>
        </mc:AlternateContent>
        <p:sp>
          <p:nvSpPr>
            <p:cNvPr id="20" name="Text 18">
              <a:extLst>
                <a:ext uri="{FF2B5EF4-FFF2-40B4-BE49-F238E27FC236}">
                  <a16:creationId xmlns:a16="http://schemas.microsoft.com/office/drawing/2014/main" id="{B9707686-B1E8-A49A-9BCF-8AA3910EB12A}"/>
                </a:ext>
              </a:extLst>
            </p:cNvPr>
            <p:cNvSpPr txBox="1"/>
            <p:nvPr/>
          </p:nvSpPr>
          <p:spPr>
            <a:xfrm>
              <a:off x="965200" y="3098800"/>
              <a:ext cx="5486400" cy="330200"/>
            </a:xfrm>
            <a:prstGeom prst="rect">
              <a:avLst/>
            </a:prstGeom>
            <a:noFill/>
            <a:ln/>
          </p:spPr>
          <p:txBody>
            <a:bodyPr wrap="square" lIns="0" tIns="0" rIns="0" bIns="0" rtlCol="0" anchor="t"/>
            <a:lstStyle/>
            <a:p>
              <a:pPr marL="0" indent="0">
                <a:buNone/>
              </a:pPr>
              <a:r>
                <a:rPr lang="es-ES_tradnl" sz="1400" b="1" noProof="0" dirty="0">
                  <a:solidFill>
                    <a:srgbClr val="1D1D1B"/>
                  </a:solidFill>
                  <a:latin typeface="DM Sans" pitchFamily="34" charset="0"/>
                  <a:ea typeface="DM Sans" pitchFamily="34" charset="-122"/>
                  <a:cs typeface="DM Sans" pitchFamily="34" charset="-120"/>
                </a:rPr>
                <a:t>Para cada fila j = 0, …, 999</a:t>
              </a:r>
              <a:endParaRPr lang="es-ES_tradnl" sz="1400" noProof="0" dirty="0"/>
            </a:p>
          </p:txBody>
        </p:sp>
        <p:sp>
          <p:nvSpPr>
            <p:cNvPr id="25" name="Shape 23">
              <a:extLst>
                <a:ext uri="{FF2B5EF4-FFF2-40B4-BE49-F238E27FC236}">
                  <a16:creationId xmlns:a16="http://schemas.microsoft.com/office/drawing/2014/main" id="{775D8C2C-37BA-3DB9-7B6B-07DEAF2C8ED4}"/>
                </a:ext>
              </a:extLst>
            </p:cNvPr>
            <p:cNvSpPr/>
            <p:nvPr/>
          </p:nvSpPr>
          <p:spPr>
            <a:xfrm>
              <a:off x="3193479" y="3556000"/>
              <a:ext cx="1714500" cy="863600"/>
            </a:xfrm>
            <a:prstGeom prst="roundRect">
              <a:avLst>
                <a:gd name="adj" fmla="val 8421"/>
              </a:avLst>
            </a:prstGeom>
            <a:solidFill>
              <a:srgbClr val="FFFFFF"/>
            </a:solidFill>
            <a:ln w="12700">
              <a:solidFill>
                <a:srgbClr val="B9B9B5"/>
              </a:solidFill>
              <a:prstDash val="solid"/>
            </a:ln>
          </p:spPr>
          <p:txBody>
            <a:bodyPr/>
            <a:lstStyle/>
            <a:p>
              <a:endParaRPr lang="es-ES_tradnl" noProof="0" dirty="0"/>
            </a:p>
          </p:txBody>
        </p:sp>
        <p:sp>
          <p:nvSpPr>
            <p:cNvPr id="26" name="Text 24">
              <a:extLst>
                <a:ext uri="{FF2B5EF4-FFF2-40B4-BE49-F238E27FC236}">
                  <a16:creationId xmlns:a16="http://schemas.microsoft.com/office/drawing/2014/main" id="{00D6BAE6-8639-AA73-F437-369A6F8C6F5B}"/>
                </a:ext>
              </a:extLst>
            </p:cNvPr>
            <p:cNvSpPr txBox="1"/>
            <p:nvPr/>
          </p:nvSpPr>
          <p:spPr>
            <a:xfrm>
              <a:off x="3244107" y="3618370"/>
              <a:ext cx="1612900" cy="304800"/>
            </a:xfrm>
            <a:prstGeom prst="rect">
              <a:avLst/>
            </a:prstGeom>
            <a:noFill/>
            <a:ln/>
          </p:spPr>
          <p:txBody>
            <a:bodyPr wrap="square" lIns="0" tIns="0" rIns="0" bIns="0" rtlCol="0" anchor="t"/>
            <a:lstStyle/>
            <a:p>
              <a:pPr marL="0" indent="0" algn="ctr">
                <a:buNone/>
              </a:pPr>
              <a:r>
                <a:rPr lang="es-ES_tradnl" sz="1200" b="1" noProof="0" dirty="0">
                  <a:solidFill>
                    <a:srgbClr val="293470"/>
                  </a:solidFill>
                  <a:latin typeface="DM Sans" pitchFamily="34" charset="0"/>
                  <a:ea typeface="DM Sans" pitchFamily="34" charset="-122"/>
                  <a:cs typeface="DM Sans" pitchFamily="34" charset="-120"/>
                </a:rPr>
                <a:t>Agregar</a:t>
              </a:r>
              <a:endParaRPr lang="es-ES_tradnl" sz="1200" noProof="0" dirty="0"/>
            </a:p>
          </p:txBody>
        </p:sp>
        <mc:AlternateContent xmlns:mc="http://schemas.openxmlformats.org/markup-compatibility/2006">
          <mc:Choice xmlns:a14="http://schemas.microsoft.com/office/drawing/2010/main" Requires="a14">
            <p:sp>
              <p:nvSpPr>
                <p:cNvPr id="27" name="Text 25">
                  <a:extLst>
                    <a:ext uri="{FF2B5EF4-FFF2-40B4-BE49-F238E27FC236}">
                      <a16:creationId xmlns:a16="http://schemas.microsoft.com/office/drawing/2014/main" id="{21CB5AC3-C685-2689-4BF7-29A0D8D24DD4}"/>
                    </a:ext>
                  </a:extLst>
                </p:cNvPr>
                <p:cNvSpPr txBox="1"/>
                <p:nvPr/>
              </p:nvSpPr>
              <p:spPr>
                <a:xfrm>
                  <a:off x="3212357" y="3870523"/>
                  <a:ext cx="1612900" cy="355600"/>
                </a:xfrm>
                <a:prstGeom prst="rect">
                  <a:avLst/>
                </a:prstGeom>
                <a:noFill/>
                <a:ln/>
              </p:spPr>
              <p:txBody>
                <a:bodyPr wrap="square" lIns="0" tIns="0" rIns="0" bIns="0" rtlCol="0" anchor="t"/>
                <a:lstStyle/>
                <a:p>
                  <a:pPr algn="ctr"/>
                  <a14:m>
                    <m:oMathPara xmlns:m="http://schemas.openxmlformats.org/officeDocument/2006/math">
                      <m:oMathParaPr>
                        <m:jc m:val="centerGroup"/>
                      </m:oMathParaPr>
                      <m:oMath xmlns:m="http://schemas.openxmlformats.org/officeDocument/2006/math">
                        <m:sSubSup>
                          <m:sSubSupPr>
                            <m:ctrlPr>
                              <a:rPr lang="es-ES_tradnl" sz="1200" i="1" noProof="0" smtClean="0">
                                <a:solidFill>
                                  <a:srgbClr val="3C3C3B"/>
                                </a:solidFill>
                                <a:latin typeface="Cambria Math" panose="02040503050406030204" pitchFamily="18" charset="0"/>
                                <a:ea typeface="Cambria Math" panose="02040503050406030204" pitchFamily="18" charset="0"/>
                              </a:rPr>
                            </m:ctrlPr>
                          </m:sSubSupPr>
                          <m:e>
                            <m:r>
                              <a:rPr lang="es-ES_tradnl" sz="1200" i="1" noProof="0" smtClean="0">
                                <a:solidFill>
                                  <a:srgbClr val="3C3C3B"/>
                                </a:solidFill>
                                <a:latin typeface="Cambria Math" panose="02040503050406030204" pitchFamily="18" charset="0"/>
                                <a:ea typeface="Cambria Math" panose="02040503050406030204" pitchFamily="18" charset="0"/>
                              </a:rPr>
                              <m:t>𝜎</m:t>
                            </m:r>
                          </m:e>
                          <m:sub>
                            <m:r>
                              <a:rPr lang="es-ES_tradnl" sz="1200" b="0" i="1" noProof="0" smtClean="0">
                                <a:solidFill>
                                  <a:srgbClr val="3C3C3B"/>
                                </a:solidFill>
                                <a:latin typeface="Cambria Math" panose="02040503050406030204" pitchFamily="18" charset="0"/>
                                <a:ea typeface="Cambria Math" panose="02040503050406030204" pitchFamily="18" charset="0"/>
                              </a:rPr>
                              <m:t>𝑗</m:t>
                            </m:r>
                          </m:sub>
                          <m:sup>
                            <m:r>
                              <a:rPr lang="es-ES_tradnl" sz="1200" b="0" i="1" noProof="0" smtClean="0">
                                <a:solidFill>
                                  <a:srgbClr val="3C3C3B"/>
                                </a:solidFill>
                                <a:latin typeface="Cambria Math" panose="02040503050406030204" pitchFamily="18" charset="0"/>
                                <a:ea typeface="Cambria Math" panose="02040503050406030204" pitchFamily="18" charset="0"/>
                              </a:rPr>
                              <m:t>𝑘</m:t>
                            </m:r>
                          </m:sup>
                        </m:sSubSup>
                        <m:r>
                          <a:rPr lang="es-ES_tradnl" sz="1200" i="1" noProof="0" smtClean="0">
                            <a:solidFill>
                              <a:srgbClr val="3C3C3B"/>
                            </a:solidFill>
                            <a:latin typeface="Cambria Math" panose="02040503050406030204" pitchFamily="18" charset="0"/>
                          </a:rPr>
                          <m:t>=</m:t>
                        </m:r>
                        <m:f>
                          <m:fPr>
                            <m:ctrlPr>
                              <a:rPr lang="es-ES_tradnl" sz="1200" b="0" i="1" noProof="0" smtClean="0">
                                <a:solidFill>
                                  <a:srgbClr val="3C3C3B"/>
                                </a:solidFill>
                                <a:latin typeface="Cambria Math" panose="02040503050406030204" pitchFamily="18" charset="0"/>
                              </a:rPr>
                            </m:ctrlPr>
                          </m:fPr>
                          <m:num>
                            <m:r>
                              <a:rPr lang="es-ES_tradnl" sz="1200" b="0" i="1" noProof="0" smtClean="0">
                                <a:solidFill>
                                  <a:srgbClr val="3C3C3B"/>
                                </a:solidFill>
                                <a:latin typeface="Cambria Math" panose="02040503050406030204" pitchFamily="18" charset="0"/>
                              </a:rPr>
                              <m:t>1</m:t>
                            </m:r>
                          </m:num>
                          <m:den>
                            <m:r>
                              <a:rPr lang="es-ES_tradnl" sz="1200" b="0" i="1" noProof="0" smtClean="0">
                                <a:solidFill>
                                  <a:srgbClr val="3C3C3B"/>
                                </a:solidFill>
                                <a:latin typeface="Cambria Math" panose="02040503050406030204" pitchFamily="18" charset="0"/>
                              </a:rPr>
                              <m:t>999</m:t>
                            </m:r>
                          </m:den>
                        </m:f>
                        <m:d>
                          <m:dPr>
                            <m:ctrlPr>
                              <a:rPr lang="es-ES_tradnl" sz="1200" i="1" noProof="0" smtClean="0">
                                <a:solidFill>
                                  <a:srgbClr val="3C3C3B"/>
                                </a:solidFill>
                                <a:latin typeface="Cambria Math" panose="02040503050406030204" pitchFamily="18" charset="0"/>
                              </a:rPr>
                            </m:ctrlPr>
                          </m:dPr>
                          <m:e>
                            <m:nary>
                              <m:naryPr>
                                <m:chr m:val="∑"/>
                                <m:subHide m:val="on"/>
                                <m:supHide m:val="on"/>
                                <m:ctrlPr>
                                  <a:rPr lang="es-ES_tradnl" sz="1200" i="1" noProof="0" smtClean="0">
                                    <a:solidFill>
                                      <a:srgbClr val="3C3C3B"/>
                                    </a:solidFill>
                                    <a:latin typeface="Cambria Math" panose="02040503050406030204" pitchFamily="18" charset="0"/>
                                  </a:rPr>
                                </m:ctrlPr>
                              </m:naryPr>
                              <m:sub/>
                              <m:sup/>
                              <m:e>
                                <m:sSub>
                                  <m:sSubPr>
                                    <m:ctrlPr>
                                      <a:rPr lang="es-ES_tradnl" sz="1200" i="1" noProof="0" smtClean="0">
                                        <a:solidFill>
                                          <a:srgbClr val="3C3C3B"/>
                                        </a:solidFill>
                                        <a:latin typeface="Cambria Math" panose="02040503050406030204" pitchFamily="18" charset="0"/>
                                        <a:cs typeface="Roboto" pitchFamily="34" charset="-120"/>
                                      </a:rPr>
                                    </m:ctrlPr>
                                  </m:sSubPr>
                                  <m:e>
                                    <m:r>
                                      <a:rPr lang="es-ES_tradnl" sz="1200" i="1" noProof="0" smtClean="0">
                                        <a:solidFill>
                                          <a:srgbClr val="3C3C3B"/>
                                        </a:solidFill>
                                        <a:latin typeface="Cambria Math" panose="02040503050406030204" pitchFamily="18" charset="0"/>
                                        <a:ea typeface="Cambria Math" panose="02040503050406030204" pitchFamily="18" charset="0"/>
                                        <a:cs typeface="Roboto" pitchFamily="34" charset="-120"/>
                                      </a:rPr>
                                      <m:t>𝜎</m:t>
                                    </m:r>
                                  </m:e>
                                  <m:sub>
                                    <m:r>
                                      <a:rPr lang="es-ES_tradnl" sz="1200" b="0" i="1" noProof="0" smtClean="0">
                                        <a:solidFill>
                                          <a:srgbClr val="3C3C3B"/>
                                        </a:solidFill>
                                        <a:latin typeface="Cambria Math" panose="02040503050406030204" pitchFamily="18" charset="0"/>
                                        <a:ea typeface="Cambria Math" panose="02040503050406030204" pitchFamily="18" charset="0"/>
                                        <a:cs typeface="Roboto" pitchFamily="34" charset="-120"/>
                                      </a:rPr>
                                      <m:t>𝑗</m:t>
                                    </m:r>
                                  </m:sub>
                                </m:sSub>
                              </m:e>
                            </m:nary>
                          </m:e>
                        </m:d>
                      </m:oMath>
                    </m:oMathPara>
                  </a14:m>
                  <a:endParaRPr lang="es-ES_tradnl" sz="1000" noProof="0" dirty="0"/>
                </a:p>
              </p:txBody>
            </p:sp>
          </mc:Choice>
          <mc:Fallback>
            <p:sp>
              <p:nvSpPr>
                <p:cNvPr id="27" name="Text 25">
                  <a:extLst>
                    <a:ext uri="{FF2B5EF4-FFF2-40B4-BE49-F238E27FC236}">
                      <a16:creationId xmlns:a16="http://schemas.microsoft.com/office/drawing/2014/main" id="{21CB5AC3-C685-2689-4BF7-29A0D8D24DD4}"/>
                    </a:ext>
                  </a:extLst>
                </p:cNvPr>
                <p:cNvSpPr txBox="1">
                  <a:spLocks noRot="1" noChangeAspect="1" noMove="1" noResize="1" noEditPoints="1" noAdjustHandles="1" noChangeArrowheads="1" noChangeShapeType="1" noTextEdit="1"/>
                </p:cNvSpPr>
                <p:nvPr/>
              </p:nvSpPr>
              <p:spPr>
                <a:xfrm>
                  <a:off x="3212357" y="3870523"/>
                  <a:ext cx="1612900" cy="355600"/>
                </a:xfrm>
                <a:prstGeom prst="rect">
                  <a:avLst/>
                </a:prstGeom>
                <a:blipFill>
                  <a:blip r:embed="rId5"/>
                  <a:stretch>
                    <a:fillRect t="-188462" b="-334615"/>
                  </a:stretch>
                </a:blipFill>
                <a:ln/>
              </p:spPr>
              <p:txBody>
                <a:bodyPr/>
                <a:lstStyle/>
                <a:p>
                  <a:r>
                    <a:rPr lang="en-CO">
                      <a:noFill/>
                    </a:rPr>
                    <a:t> </a:t>
                  </a:r>
                </a:p>
              </p:txBody>
            </p:sp>
          </mc:Fallback>
        </mc:AlternateContent>
        <p:sp>
          <p:nvSpPr>
            <p:cNvPr id="29" name="Shape 27">
              <a:extLst>
                <a:ext uri="{FF2B5EF4-FFF2-40B4-BE49-F238E27FC236}">
                  <a16:creationId xmlns:a16="http://schemas.microsoft.com/office/drawing/2014/main" id="{914E50F3-D612-0426-DCEA-18CADCA351B8}"/>
                </a:ext>
              </a:extLst>
            </p:cNvPr>
            <p:cNvSpPr/>
            <p:nvPr/>
          </p:nvSpPr>
          <p:spPr>
            <a:xfrm>
              <a:off x="7045635" y="3274998"/>
              <a:ext cx="1707103" cy="863600"/>
            </a:xfrm>
            <a:prstGeom prst="roundRect">
              <a:avLst>
                <a:gd name="adj" fmla="val 8421"/>
              </a:avLst>
            </a:prstGeom>
            <a:solidFill>
              <a:srgbClr val="FFEE00"/>
            </a:solidFill>
            <a:ln w="15875">
              <a:solidFill>
                <a:srgbClr val="FFEE00"/>
              </a:solidFill>
              <a:prstDash val="solid"/>
            </a:ln>
          </p:spPr>
          <p:txBody>
            <a:bodyPr/>
            <a:lstStyle/>
            <a:p>
              <a:endParaRPr lang="es-ES_tradnl" noProof="0" dirty="0"/>
            </a:p>
          </p:txBody>
        </p:sp>
        <p:sp>
          <p:nvSpPr>
            <p:cNvPr id="33" name="Shape 31">
              <a:extLst>
                <a:ext uri="{FF2B5EF4-FFF2-40B4-BE49-F238E27FC236}">
                  <a16:creationId xmlns:a16="http://schemas.microsoft.com/office/drawing/2014/main" id="{95A53A87-C929-2459-42F3-BCE3E2D393DB}"/>
                </a:ext>
              </a:extLst>
            </p:cNvPr>
            <p:cNvSpPr/>
            <p:nvPr/>
          </p:nvSpPr>
          <p:spPr>
            <a:xfrm>
              <a:off x="7045635" y="4308501"/>
              <a:ext cx="1717365" cy="863600"/>
            </a:xfrm>
            <a:prstGeom prst="roundRect">
              <a:avLst>
                <a:gd name="adj" fmla="val 8421"/>
              </a:avLst>
            </a:prstGeom>
            <a:solidFill>
              <a:srgbClr val="FFFFFF"/>
            </a:solidFill>
            <a:ln w="12700">
              <a:solidFill>
                <a:srgbClr val="B9B9B5"/>
              </a:solidFill>
              <a:prstDash val="solid"/>
            </a:ln>
          </p:spPr>
          <p:txBody>
            <a:bodyPr/>
            <a:lstStyle/>
            <a:p>
              <a:endParaRPr lang="es-ES_tradnl" noProof="0" dirty="0"/>
            </a:p>
          </p:txBody>
        </p:sp>
        <p:sp>
          <p:nvSpPr>
            <p:cNvPr id="34" name="Text 32">
              <a:extLst>
                <a:ext uri="{FF2B5EF4-FFF2-40B4-BE49-F238E27FC236}">
                  <a16:creationId xmlns:a16="http://schemas.microsoft.com/office/drawing/2014/main" id="{A23E8BB4-2B83-C2F7-C31A-0497ABCE8A1B}"/>
                </a:ext>
              </a:extLst>
            </p:cNvPr>
            <p:cNvSpPr txBox="1"/>
            <p:nvPr/>
          </p:nvSpPr>
          <p:spPr>
            <a:xfrm>
              <a:off x="7089878" y="4396738"/>
              <a:ext cx="1625772" cy="304800"/>
            </a:xfrm>
            <a:prstGeom prst="rect">
              <a:avLst/>
            </a:prstGeom>
            <a:noFill/>
            <a:ln/>
          </p:spPr>
          <p:txBody>
            <a:bodyPr wrap="square" lIns="0" tIns="0" rIns="0" bIns="0" rtlCol="0" anchor="t"/>
            <a:lstStyle/>
            <a:p>
              <a:pPr marL="0" indent="0" algn="ctr">
                <a:buNone/>
              </a:pPr>
              <a:r>
                <a:rPr lang="es-ES_tradnl" sz="1200" b="1" noProof="0" dirty="0">
                  <a:solidFill>
                    <a:srgbClr val="1D1D1B"/>
                  </a:solidFill>
                  <a:latin typeface="DM Sans" pitchFamily="34" charset="0"/>
                  <a:cs typeface="DM Sans" pitchFamily="34" charset="-120"/>
                </a:rPr>
                <a:t>Distancia de traza</a:t>
              </a:r>
            </a:p>
          </p:txBody>
        </p:sp>
        <mc:AlternateContent xmlns:mc="http://schemas.openxmlformats.org/markup-compatibility/2006">
          <mc:Choice xmlns:a14="http://schemas.microsoft.com/office/drawing/2010/main" Requires="a14">
            <p:sp>
              <p:nvSpPr>
                <p:cNvPr id="35" name="Text 33">
                  <a:extLst>
                    <a:ext uri="{FF2B5EF4-FFF2-40B4-BE49-F238E27FC236}">
                      <a16:creationId xmlns:a16="http://schemas.microsoft.com/office/drawing/2014/main" id="{3040A401-0EF4-5E41-287A-363390724A19}"/>
                    </a:ext>
                  </a:extLst>
                </p:cNvPr>
                <p:cNvSpPr txBox="1"/>
                <p:nvPr/>
              </p:nvSpPr>
              <p:spPr>
                <a:xfrm>
                  <a:off x="7096435" y="4808631"/>
                  <a:ext cx="1625772" cy="287270"/>
                </a:xfrm>
                <a:prstGeom prst="rect">
                  <a:avLst/>
                </a:prstGeom>
                <a:noFill/>
                <a:ln/>
              </p:spPr>
              <p:txBody>
                <a:bodyPr wrap="square" lIns="0" tIns="0" rIns="0" bIns="0" rtlCol="0" anchor="t"/>
                <a:lstStyle/>
                <a:p>
                  <a:pPr marL="0" indent="0" algn="ctr">
                    <a:buNone/>
                  </a:pPr>
                  <a14:m>
                    <m:oMathPara xmlns:m="http://schemas.openxmlformats.org/officeDocument/2006/math">
                      <m:oMathParaPr>
                        <m:jc m:val="centerGroup"/>
                      </m:oMathParaPr>
                      <m:oMath xmlns:m="http://schemas.openxmlformats.org/officeDocument/2006/math">
                        <m:sSub>
                          <m:sSubPr>
                            <m:ctrlPr>
                              <a:rPr lang="es-ES_tradnl" sz="1300" i="1" noProof="0" smtClean="0">
                                <a:solidFill>
                                  <a:srgbClr val="3C3C3B"/>
                                </a:solidFill>
                                <a:latin typeface="Cambria Math" panose="02040503050406030204" pitchFamily="18" charset="0"/>
                              </a:rPr>
                            </m:ctrlPr>
                          </m:sSubPr>
                          <m:e>
                            <m:r>
                              <a:rPr lang="es-ES_tradnl" sz="1300" i="1" noProof="0" smtClean="0">
                                <a:solidFill>
                                  <a:srgbClr val="3C3C3B"/>
                                </a:solidFill>
                                <a:latin typeface="Cambria Math" panose="02040503050406030204" pitchFamily="18" charset="0"/>
                              </a:rPr>
                              <m:t>𝑑</m:t>
                            </m:r>
                          </m:e>
                          <m:sub>
                            <m:r>
                              <a:rPr lang="es-ES_tradnl" sz="1300" b="0" i="1" noProof="0" smtClean="0">
                                <a:solidFill>
                                  <a:srgbClr val="3C3C3B"/>
                                </a:solidFill>
                                <a:latin typeface="Cambria Math" panose="02040503050406030204" pitchFamily="18" charset="0"/>
                              </a:rPr>
                              <m:t>𝑗</m:t>
                            </m:r>
                          </m:sub>
                        </m:sSub>
                        <m:r>
                          <a:rPr lang="es-ES_tradnl" sz="1300" noProof="0" smtClean="0">
                            <a:solidFill>
                              <a:srgbClr val="3C3C3B"/>
                            </a:solidFill>
                            <a:latin typeface="Cambria Math" panose="02040503050406030204" pitchFamily="18" charset="0"/>
                          </a:rPr>
                          <m:t> </m:t>
                        </m:r>
                        <m:r>
                          <a:rPr lang="es-ES_tradnl" sz="1300" b="0" i="0" noProof="0" smtClean="0">
                            <a:solidFill>
                              <a:srgbClr val="3C3C3B"/>
                            </a:solidFill>
                            <a:latin typeface="Cambria Math" panose="02040503050406030204" pitchFamily="18" charset="0"/>
                          </a:rPr>
                          <m:t>= </m:t>
                        </m:r>
                        <m:r>
                          <m:rPr>
                            <m:sty m:val="p"/>
                          </m:rPr>
                          <a:rPr lang="es-ES_tradnl" sz="1300" b="0" i="1" noProof="0" smtClean="0">
                            <a:solidFill>
                              <a:srgbClr val="3C3C3B"/>
                            </a:solidFill>
                            <a:latin typeface="Cambria Math" panose="02040503050406030204" pitchFamily="18" charset="0"/>
                            <a:ea typeface="Cambria Math" panose="02040503050406030204" pitchFamily="18" charset="0"/>
                          </a:rPr>
                          <m:t>τ</m:t>
                        </m:r>
                        <m:r>
                          <a:rPr lang="es-ES_tradnl" sz="1300" b="0" i="1" noProof="0" smtClean="0">
                            <a:solidFill>
                              <a:srgbClr val="3C3C3B"/>
                            </a:solidFill>
                            <a:latin typeface="Cambria Math" panose="02040503050406030204" pitchFamily="18" charset="0"/>
                            <a:ea typeface="Cambria Math" panose="02040503050406030204" pitchFamily="18" charset="0"/>
                          </a:rPr>
                          <m:t>(</m:t>
                        </m:r>
                        <m:sSubSup>
                          <m:sSubSupPr>
                            <m:ctrlPr>
                              <a:rPr lang="es-ES_tradnl" sz="1300" b="0" i="1" noProof="0" smtClean="0">
                                <a:solidFill>
                                  <a:srgbClr val="3C3C3B"/>
                                </a:solidFill>
                                <a:latin typeface="Cambria Math" panose="02040503050406030204" pitchFamily="18" charset="0"/>
                                <a:ea typeface="Cambria Math" panose="02040503050406030204" pitchFamily="18" charset="0"/>
                              </a:rPr>
                            </m:ctrlPr>
                          </m:sSubSupPr>
                          <m:e>
                            <m:r>
                              <a:rPr lang="es-ES_tradnl" sz="1300" b="0" i="1" noProof="0" smtClean="0">
                                <a:solidFill>
                                  <a:srgbClr val="3C3C3B"/>
                                </a:solidFill>
                                <a:latin typeface="Cambria Math" panose="02040503050406030204" pitchFamily="18" charset="0"/>
                                <a:ea typeface="Cambria Math" panose="02040503050406030204" pitchFamily="18" charset="0"/>
                              </a:rPr>
                              <m:t>𝜌</m:t>
                            </m:r>
                          </m:e>
                          <m:sub/>
                          <m:sup>
                            <m:r>
                              <a:rPr lang="es-ES_tradnl" sz="1300" b="0" i="1" noProof="0" smtClean="0">
                                <a:solidFill>
                                  <a:srgbClr val="3C3C3B"/>
                                </a:solidFill>
                                <a:latin typeface="Cambria Math" panose="02040503050406030204" pitchFamily="18" charset="0"/>
                                <a:ea typeface="Cambria Math" panose="02040503050406030204" pitchFamily="18" charset="0"/>
                              </a:rPr>
                              <m:t>𝑘</m:t>
                            </m:r>
                          </m:sup>
                        </m:sSubSup>
                        <m:r>
                          <a:rPr lang="es-ES_tradnl" sz="1300" b="0" i="1" noProof="0" smtClean="0">
                            <a:solidFill>
                              <a:srgbClr val="3C3C3B"/>
                            </a:solidFill>
                            <a:latin typeface="Cambria Math" panose="02040503050406030204" pitchFamily="18" charset="0"/>
                            <a:ea typeface="Cambria Math" panose="02040503050406030204" pitchFamily="18" charset="0"/>
                          </a:rPr>
                          <m:t>,</m:t>
                        </m:r>
                        <m:sSubSup>
                          <m:sSubSupPr>
                            <m:ctrlPr>
                              <a:rPr lang="es-ES_tradnl" sz="1300" b="0" i="1" noProof="0" smtClean="0">
                                <a:solidFill>
                                  <a:srgbClr val="3C3C3B"/>
                                </a:solidFill>
                                <a:latin typeface="Cambria Math" panose="02040503050406030204" pitchFamily="18" charset="0"/>
                                <a:ea typeface="Cambria Math" panose="02040503050406030204" pitchFamily="18" charset="0"/>
                              </a:rPr>
                            </m:ctrlPr>
                          </m:sSubSupPr>
                          <m:e>
                            <m:r>
                              <a:rPr lang="es-ES_tradnl" sz="1300" b="0" i="1" noProof="0" smtClean="0">
                                <a:solidFill>
                                  <a:srgbClr val="3C3C3B"/>
                                </a:solidFill>
                                <a:latin typeface="Cambria Math" panose="02040503050406030204" pitchFamily="18" charset="0"/>
                                <a:ea typeface="Cambria Math" panose="02040503050406030204" pitchFamily="18" charset="0"/>
                              </a:rPr>
                              <m:t>𝜎</m:t>
                            </m:r>
                          </m:e>
                          <m:sub>
                            <m:r>
                              <a:rPr lang="es-ES_tradnl" sz="1300" b="0" i="1" noProof="0" smtClean="0">
                                <a:solidFill>
                                  <a:srgbClr val="3C3C3B"/>
                                </a:solidFill>
                                <a:latin typeface="Cambria Math" panose="02040503050406030204" pitchFamily="18" charset="0"/>
                                <a:ea typeface="Cambria Math" panose="02040503050406030204" pitchFamily="18" charset="0"/>
                              </a:rPr>
                              <m:t>𝑗</m:t>
                            </m:r>
                          </m:sub>
                          <m:sup>
                            <m:r>
                              <a:rPr lang="es-ES_tradnl" sz="1300" b="0" i="1" noProof="0" smtClean="0">
                                <a:solidFill>
                                  <a:srgbClr val="3C3C3B"/>
                                </a:solidFill>
                                <a:latin typeface="Cambria Math" panose="02040503050406030204" pitchFamily="18" charset="0"/>
                                <a:ea typeface="Cambria Math" panose="02040503050406030204" pitchFamily="18" charset="0"/>
                              </a:rPr>
                              <m:t>𝑘</m:t>
                            </m:r>
                          </m:sup>
                        </m:sSubSup>
                        <m:r>
                          <a:rPr lang="es-ES_tradnl" sz="1300" b="0" i="1" noProof="0" smtClean="0">
                            <a:solidFill>
                              <a:srgbClr val="3C3C3B"/>
                            </a:solidFill>
                            <a:latin typeface="Cambria Math" panose="02040503050406030204" pitchFamily="18" charset="0"/>
                            <a:ea typeface="Cambria Math" panose="02040503050406030204" pitchFamily="18" charset="0"/>
                          </a:rPr>
                          <m:t>)</m:t>
                        </m:r>
                      </m:oMath>
                    </m:oMathPara>
                  </a14:m>
                  <a:endParaRPr lang="es-ES_tradnl" sz="1300" noProof="0" dirty="0"/>
                </a:p>
              </p:txBody>
            </p:sp>
          </mc:Choice>
          <mc:Fallback>
            <p:sp>
              <p:nvSpPr>
                <p:cNvPr id="35" name="Text 33">
                  <a:extLst>
                    <a:ext uri="{FF2B5EF4-FFF2-40B4-BE49-F238E27FC236}">
                      <a16:creationId xmlns:a16="http://schemas.microsoft.com/office/drawing/2014/main" id="{3040A401-0EF4-5E41-287A-363390724A19}"/>
                    </a:ext>
                  </a:extLst>
                </p:cNvPr>
                <p:cNvSpPr txBox="1">
                  <a:spLocks noRot="1" noChangeAspect="1" noMove="1" noResize="1" noEditPoints="1" noAdjustHandles="1" noChangeArrowheads="1" noChangeShapeType="1" noTextEdit="1"/>
                </p:cNvSpPr>
                <p:nvPr/>
              </p:nvSpPr>
              <p:spPr>
                <a:xfrm>
                  <a:off x="7096435" y="4808631"/>
                  <a:ext cx="1625772" cy="287270"/>
                </a:xfrm>
                <a:prstGeom prst="rect">
                  <a:avLst/>
                </a:prstGeom>
                <a:blipFill>
                  <a:blip r:embed="rId6"/>
                  <a:stretch>
                    <a:fillRect t="-4545" b="-13636"/>
                  </a:stretch>
                </a:blipFill>
                <a:ln/>
              </p:spPr>
              <p:txBody>
                <a:bodyPr/>
                <a:lstStyle/>
                <a:p>
                  <a:r>
                    <a:rPr lang="en-CO">
                      <a:noFill/>
                    </a:rPr>
                    <a:t> </a:t>
                  </a:r>
                </a:p>
              </p:txBody>
            </p:sp>
          </mc:Fallback>
        </mc:AlternateContent>
        <p:sp>
          <p:nvSpPr>
            <p:cNvPr id="119" name="Shape 38">
              <a:extLst>
                <a:ext uri="{FF2B5EF4-FFF2-40B4-BE49-F238E27FC236}">
                  <a16:creationId xmlns:a16="http://schemas.microsoft.com/office/drawing/2014/main" id="{97D17B97-7B51-A9B6-BE71-874F0069EFDB}"/>
                </a:ext>
              </a:extLst>
            </p:cNvPr>
            <p:cNvSpPr/>
            <p:nvPr/>
          </p:nvSpPr>
          <p:spPr>
            <a:xfrm>
              <a:off x="3794202" y="5432571"/>
              <a:ext cx="2312974" cy="649029"/>
            </a:xfrm>
            <a:prstGeom prst="roundRect">
              <a:avLst>
                <a:gd name="adj" fmla="val 8421"/>
              </a:avLst>
            </a:prstGeom>
            <a:solidFill>
              <a:srgbClr val="FFFFFF"/>
            </a:solidFill>
            <a:ln w="19050">
              <a:solidFill>
                <a:srgbClr val="293470"/>
              </a:solidFill>
              <a:prstDash val="solid"/>
            </a:ln>
          </p:spPr>
          <p:txBody>
            <a:bodyPr/>
            <a:lstStyle/>
            <a:p>
              <a:endParaRPr lang="es-ES_tradnl" noProof="0" dirty="0"/>
            </a:p>
          </p:txBody>
        </p:sp>
        <p:sp>
          <p:nvSpPr>
            <p:cNvPr id="41" name="Text 39">
              <a:extLst>
                <a:ext uri="{FF2B5EF4-FFF2-40B4-BE49-F238E27FC236}">
                  <a16:creationId xmlns:a16="http://schemas.microsoft.com/office/drawing/2014/main" id="{AE367B9F-9CC0-49CC-A279-B2F3E0570D1A}"/>
                </a:ext>
              </a:extLst>
            </p:cNvPr>
            <p:cNvSpPr txBox="1"/>
            <p:nvPr/>
          </p:nvSpPr>
          <p:spPr>
            <a:xfrm>
              <a:off x="3870036" y="5494232"/>
              <a:ext cx="2161309" cy="227756"/>
            </a:xfrm>
            <a:prstGeom prst="rect">
              <a:avLst/>
            </a:prstGeom>
            <a:noFill/>
            <a:ln/>
          </p:spPr>
          <p:txBody>
            <a:bodyPr wrap="square" lIns="0" tIns="0" rIns="0" bIns="0" rtlCol="0" anchor="t"/>
            <a:lstStyle/>
            <a:p>
              <a:pPr marL="0" indent="0" algn="ctr">
                <a:buNone/>
              </a:pPr>
              <a:r>
                <a:rPr lang="es-ES_tradnl" sz="1200" b="1" noProof="0" dirty="0" err="1">
                  <a:solidFill>
                    <a:srgbClr val="1D1D1B"/>
                  </a:solidFill>
                  <a:latin typeface="DM Sans" pitchFamily="34" charset="0"/>
                  <a:cs typeface="DM Sans" pitchFamily="34" charset="-120"/>
                </a:rPr>
                <a:t>Epsilon</a:t>
              </a:r>
              <a:r>
                <a:rPr lang="es-ES_tradnl" sz="1200" b="1" noProof="0" dirty="0">
                  <a:solidFill>
                    <a:srgbClr val="1D1D1B"/>
                  </a:solidFill>
                  <a:latin typeface="DM Sans" pitchFamily="34" charset="0"/>
                  <a:cs typeface="DM Sans" pitchFamily="34" charset="-120"/>
                </a:rPr>
                <a:t> </a:t>
              </a:r>
              <a:r>
                <a:rPr lang="es-ES_tradnl" sz="1200" b="1" noProof="0" dirty="0" err="1">
                  <a:solidFill>
                    <a:srgbClr val="1D1D1B"/>
                  </a:solidFill>
                  <a:latin typeface="DM Sans" pitchFamily="34" charset="0"/>
                  <a:cs typeface="DM Sans" pitchFamily="34" charset="-120"/>
                </a:rPr>
                <a:t>Teorico</a:t>
              </a:r>
              <a:r>
                <a:rPr lang="es-ES_tradnl" sz="1200" b="1" noProof="0" dirty="0">
                  <a:solidFill>
                    <a:srgbClr val="1D1D1B"/>
                  </a:solidFill>
                  <a:latin typeface="DM Sans" pitchFamily="34" charset="0"/>
                  <a:cs typeface="DM Sans" pitchFamily="34" charset="-120"/>
                </a:rPr>
                <a:t> k</a:t>
              </a:r>
              <a:endParaRPr lang="es-ES_tradnl" sz="1200" noProof="0" dirty="0"/>
            </a:p>
          </p:txBody>
        </p:sp>
        <p:sp>
          <p:nvSpPr>
            <p:cNvPr id="114" name="Shape 38">
              <a:extLst>
                <a:ext uri="{FF2B5EF4-FFF2-40B4-BE49-F238E27FC236}">
                  <a16:creationId xmlns:a16="http://schemas.microsoft.com/office/drawing/2014/main" id="{4FC4B87D-B1C7-0FE6-B8E3-80953D6DCB9B}"/>
                </a:ext>
              </a:extLst>
            </p:cNvPr>
            <p:cNvSpPr/>
            <p:nvPr/>
          </p:nvSpPr>
          <p:spPr>
            <a:xfrm>
              <a:off x="6263640" y="5440511"/>
              <a:ext cx="2312974" cy="641090"/>
            </a:xfrm>
            <a:prstGeom prst="roundRect">
              <a:avLst>
                <a:gd name="adj" fmla="val 8421"/>
              </a:avLst>
            </a:prstGeom>
            <a:solidFill>
              <a:srgbClr val="FFFFFF"/>
            </a:solidFill>
            <a:ln w="19050">
              <a:solidFill>
                <a:srgbClr val="293470"/>
              </a:solidFill>
              <a:prstDash val="solid"/>
            </a:ln>
          </p:spPr>
          <p:txBody>
            <a:bodyPr/>
            <a:lstStyle/>
            <a:p>
              <a:endParaRPr lang="es-ES_tradnl" noProof="0" dirty="0"/>
            </a:p>
          </p:txBody>
        </p:sp>
        <mc:AlternateContent xmlns:mc="http://schemas.openxmlformats.org/markup-compatibility/2006">
          <mc:Choice xmlns:a14="http://schemas.microsoft.com/office/drawing/2010/main" Requires="a14">
            <p:sp>
              <p:nvSpPr>
                <p:cNvPr id="42" name="Text 40">
                  <a:extLst>
                    <a:ext uri="{FF2B5EF4-FFF2-40B4-BE49-F238E27FC236}">
                      <a16:creationId xmlns:a16="http://schemas.microsoft.com/office/drawing/2014/main" id="{4301E6B8-BCA4-4C64-0EA6-22AA63D1678D}"/>
                    </a:ext>
                  </a:extLst>
                </p:cNvPr>
                <p:cNvSpPr txBox="1"/>
                <p:nvPr/>
              </p:nvSpPr>
              <p:spPr>
                <a:xfrm>
                  <a:off x="3870035" y="5757632"/>
                  <a:ext cx="2161309" cy="261497"/>
                </a:xfrm>
                <a:prstGeom prst="rect">
                  <a:avLst/>
                </a:prstGeom>
                <a:noFill/>
                <a:ln/>
              </p:spPr>
              <p:txBody>
                <a:bodyPr wrap="square" lIns="0" tIns="0" rIns="0" bIns="0" rtlCol="0" anchor="t"/>
                <a:lstStyle/>
                <a:p>
                  <a:pPr algn="ctr"/>
                  <a14:m>
                    <m:oMathPara xmlns:m="http://schemas.openxmlformats.org/officeDocument/2006/math">
                      <m:oMathParaPr>
                        <m:jc m:val="centerGroup"/>
                      </m:oMathParaPr>
                      <m:oMath xmlns:m="http://schemas.openxmlformats.org/officeDocument/2006/math">
                        <m:sSubSup>
                          <m:sSubSupPr>
                            <m:ctrlPr>
                              <a:rPr lang="es-ES_tradnl" sz="1300" i="1" noProof="0" smtClean="0">
                                <a:solidFill>
                                  <a:srgbClr val="3C3C3B"/>
                                </a:solidFill>
                                <a:latin typeface="Cambria Math" panose="02040503050406030204" pitchFamily="18" charset="0"/>
                                <a:ea typeface="Cambria Math" panose="02040503050406030204" pitchFamily="18" charset="0"/>
                              </a:rPr>
                            </m:ctrlPr>
                          </m:sSubSupPr>
                          <m:e>
                            <m:r>
                              <a:rPr lang="es-ES_tradnl" sz="1300" i="1" noProof="0" smtClean="0">
                                <a:solidFill>
                                  <a:srgbClr val="3C3C3B"/>
                                </a:solidFill>
                                <a:latin typeface="Cambria Math" panose="02040503050406030204" pitchFamily="18" charset="0"/>
                                <a:ea typeface="Cambria Math" panose="02040503050406030204" pitchFamily="18" charset="0"/>
                              </a:rPr>
                              <m:t>𝜖</m:t>
                            </m:r>
                          </m:e>
                          <m:sub>
                            <m:r>
                              <m:rPr>
                                <m:sty m:val="p"/>
                              </m:rPr>
                              <a:rPr lang="es-ES_tradnl" sz="1300" b="0" i="0" noProof="0" smtClean="0">
                                <a:solidFill>
                                  <a:srgbClr val="3C3C3B"/>
                                </a:solidFill>
                                <a:latin typeface="Cambria Math" panose="02040503050406030204" pitchFamily="18" charset="0"/>
                                <a:ea typeface="Cambria Math" panose="02040503050406030204" pitchFamily="18" charset="0"/>
                              </a:rPr>
                              <m:t>teo</m:t>
                            </m:r>
                          </m:sub>
                          <m:sup>
                            <m:r>
                              <a:rPr lang="es-ES_tradnl" sz="1300" b="0" i="1" noProof="0" smtClean="0">
                                <a:solidFill>
                                  <a:srgbClr val="3C3C3B"/>
                                </a:solidFill>
                                <a:latin typeface="Cambria Math" panose="02040503050406030204" pitchFamily="18" charset="0"/>
                                <a:ea typeface="Cambria Math" panose="02040503050406030204" pitchFamily="18" charset="0"/>
                              </a:rPr>
                              <m:t>𝑘</m:t>
                            </m:r>
                          </m:sup>
                        </m:sSubSup>
                        <m:r>
                          <a:rPr lang="es-ES_tradnl" sz="1300" b="0" i="1" noProof="0" smtClean="0">
                            <a:solidFill>
                              <a:srgbClr val="3C3C3B"/>
                            </a:solidFill>
                            <a:latin typeface="Cambria Math" panose="02040503050406030204" pitchFamily="18" charset="0"/>
                          </a:rPr>
                          <m:t>=</m:t>
                        </m:r>
                        <m:sSub>
                          <m:sSubPr>
                            <m:ctrlPr>
                              <a:rPr lang="es-ES_tradnl" sz="1300" i="1" noProof="0" smtClean="0">
                                <a:solidFill>
                                  <a:srgbClr val="3C3C3B"/>
                                </a:solidFill>
                                <a:latin typeface="Cambria Math" panose="02040503050406030204" pitchFamily="18" charset="0"/>
                              </a:rPr>
                            </m:ctrlPr>
                          </m:sSubPr>
                          <m:e>
                            <m:r>
                              <a:rPr lang="es-ES_tradnl" sz="1300" i="1" noProof="0" smtClean="0">
                                <a:solidFill>
                                  <a:srgbClr val="3C3C3B"/>
                                </a:solidFill>
                                <a:latin typeface="Cambria Math" panose="02040503050406030204" pitchFamily="18" charset="0"/>
                                <a:ea typeface="Cambria Math" panose="02040503050406030204" pitchFamily="18" charset="0"/>
                              </a:rPr>
                              <m:t>𝜖</m:t>
                            </m:r>
                          </m:e>
                          <m:sub>
                            <m:r>
                              <m:rPr>
                                <m:sty m:val="p"/>
                              </m:rPr>
                              <a:rPr lang="es-ES_tradnl" sz="1300" noProof="0" smtClean="0">
                                <a:solidFill>
                                  <a:srgbClr val="3C3C3B"/>
                                </a:solidFill>
                                <a:latin typeface="Cambria Math" panose="02040503050406030204" pitchFamily="18" charset="0"/>
                              </a:rPr>
                              <m:t>te</m:t>
                            </m:r>
                            <m:r>
                              <a:rPr lang="es-ES_tradnl" sz="1300" i="1" noProof="0" smtClean="0">
                                <a:solidFill>
                                  <a:srgbClr val="3C3C3B"/>
                                </a:solidFill>
                                <a:latin typeface="Cambria Math" panose="02040503050406030204" pitchFamily="18" charset="0"/>
                              </a:rPr>
                              <m:t>𝑜</m:t>
                            </m:r>
                          </m:sub>
                        </m:sSub>
                        <m:r>
                          <a:rPr lang="es-ES_tradnl" sz="1300" i="1" noProof="0" smtClean="0">
                            <a:solidFill>
                              <a:srgbClr val="3C3C3B"/>
                            </a:solidFill>
                            <a:latin typeface="Cambria Math" panose="02040503050406030204" pitchFamily="18" charset="0"/>
                          </a:rPr>
                          <m:t>(</m:t>
                        </m:r>
                        <m:sSub>
                          <m:sSubPr>
                            <m:ctrlPr>
                              <a:rPr lang="es-ES_tradnl" sz="1300" i="1" noProof="0" smtClean="0">
                                <a:solidFill>
                                  <a:srgbClr val="3C3C3B"/>
                                </a:solidFill>
                                <a:latin typeface="Cambria Math" panose="02040503050406030204" pitchFamily="18" charset="0"/>
                              </a:rPr>
                            </m:ctrlPr>
                          </m:sSubPr>
                          <m:e>
                            <m:r>
                              <a:rPr lang="es-ES_tradnl" sz="1300" i="1" noProof="0" smtClean="0">
                                <a:solidFill>
                                  <a:srgbClr val="3C3C3B"/>
                                </a:solidFill>
                                <a:latin typeface="Cambria Math" panose="02040503050406030204" pitchFamily="18" charset="0"/>
                              </a:rPr>
                              <m:t>𝑚𝑎𝑥</m:t>
                            </m:r>
                          </m:e>
                          <m:sub>
                            <m:r>
                              <a:rPr lang="es-ES_tradnl" sz="1300" i="1" noProof="0" smtClean="0">
                                <a:solidFill>
                                  <a:srgbClr val="3C3C3B"/>
                                </a:solidFill>
                                <a:latin typeface="Cambria Math" panose="02040503050406030204" pitchFamily="18" charset="0"/>
                              </a:rPr>
                              <m:t>𝑗</m:t>
                            </m:r>
                          </m:sub>
                        </m:sSub>
                        <m:d>
                          <m:dPr>
                            <m:ctrlPr>
                              <a:rPr lang="es-ES_tradnl" sz="1300" i="1" noProof="0" smtClean="0">
                                <a:solidFill>
                                  <a:srgbClr val="3C3C3B"/>
                                </a:solidFill>
                                <a:latin typeface="Cambria Math" panose="02040503050406030204" pitchFamily="18" charset="0"/>
                              </a:rPr>
                            </m:ctrlPr>
                          </m:dPr>
                          <m:e>
                            <m:sSub>
                              <m:sSubPr>
                                <m:ctrlPr>
                                  <a:rPr lang="es-ES_tradnl" sz="1300" i="1" noProof="0" smtClean="0">
                                    <a:solidFill>
                                      <a:srgbClr val="3C3C3B"/>
                                    </a:solidFill>
                                    <a:latin typeface="Cambria Math" panose="02040503050406030204" pitchFamily="18" charset="0"/>
                                  </a:rPr>
                                </m:ctrlPr>
                              </m:sSubPr>
                              <m:e>
                                <m:r>
                                  <a:rPr lang="es-ES_tradnl" sz="1300" i="1" noProof="0" smtClean="0">
                                    <a:solidFill>
                                      <a:srgbClr val="3C3C3B"/>
                                    </a:solidFill>
                                    <a:latin typeface="Cambria Math" panose="02040503050406030204" pitchFamily="18" charset="0"/>
                                  </a:rPr>
                                  <m:t>𝑑</m:t>
                                </m:r>
                              </m:e>
                              <m:sub>
                                <m:r>
                                  <a:rPr lang="es-ES_tradnl" sz="1300" i="1" noProof="0" smtClean="0">
                                    <a:solidFill>
                                      <a:srgbClr val="3C3C3B"/>
                                    </a:solidFill>
                                    <a:latin typeface="Cambria Math" panose="02040503050406030204" pitchFamily="18" charset="0"/>
                                  </a:rPr>
                                  <m:t>𝑗</m:t>
                                </m:r>
                              </m:sub>
                            </m:sSub>
                          </m:e>
                        </m:d>
                        <m:r>
                          <a:rPr lang="es-ES_tradnl" sz="1300" i="1" noProof="0" smtClean="0">
                            <a:solidFill>
                              <a:srgbClr val="3C3C3B"/>
                            </a:solidFill>
                            <a:latin typeface="Cambria Math" panose="02040503050406030204" pitchFamily="18" charset="0"/>
                          </a:rPr>
                          <m:t>,</m:t>
                        </m:r>
                        <m:r>
                          <a:rPr lang="es-ES_tradnl" sz="1300" i="1" noProof="0" smtClean="0">
                            <a:solidFill>
                              <a:srgbClr val="3C3C3B"/>
                            </a:solidFill>
                            <a:latin typeface="Cambria Math" panose="02040503050406030204" pitchFamily="18" charset="0"/>
                            <a:ea typeface="Cambria Math" panose="02040503050406030204" pitchFamily="18" charset="0"/>
                          </a:rPr>
                          <m:t>𝛾</m:t>
                        </m:r>
                        <m:r>
                          <a:rPr lang="es-ES_tradnl" sz="1300" i="1" noProof="0" smtClean="0">
                            <a:solidFill>
                              <a:srgbClr val="3C3C3B"/>
                            </a:solidFill>
                            <a:latin typeface="Cambria Math" panose="02040503050406030204" pitchFamily="18" charset="0"/>
                          </a:rPr>
                          <m:t>)</m:t>
                        </m:r>
                      </m:oMath>
                    </m:oMathPara>
                  </a14:m>
                  <a:endParaRPr lang="es-ES_tradnl" sz="1300" noProof="0" dirty="0"/>
                </a:p>
              </p:txBody>
            </p:sp>
          </mc:Choice>
          <mc:Fallback>
            <p:sp>
              <p:nvSpPr>
                <p:cNvPr id="42" name="Text 40">
                  <a:extLst>
                    <a:ext uri="{FF2B5EF4-FFF2-40B4-BE49-F238E27FC236}">
                      <a16:creationId xmlns:a16="http://schemas.microsoft.com/office/drawing/2014/main" id="{4301E6B8-BCA4-4C64-0EA6-22AA63D1678D}"/>
                    </a:ext>
                  </a:extLst>
                </p:cNvPr>
                <p:cNvSpPr txBox="1">
                  <a:spLocks noRot="1" noChangeAspect="1" noMove="1" noResize="1" noEditPoints="1" noAdjustHandles="1" noChangeArrowheads="1" noChangeShapeType="1" noTextEdit="1"/>
                </p:cNvSpPr>
                <p:nvPr/>
              </p:nvSpPr>
              <p:spPr>
                <a:xfrm>
                  <a:off x="3870035" y="5757632"/>
                  <a:ext cx="2161309" cy="261497"/>
                </a:xfrm>
                <a:prstGeom prst="rect">
                  <a:avLst/>
                </a:prstGeom>
                <a:blipFill>
                  <a:blip r:embed="rId7"/>
                  <a:stretch>
                    <a:fillRect b="-21053"/>
                  </a:stretch>
                </a:blipFill>
                <a:ln/>
              </p:spPr>
              <p:txBody>
                <a:bodyPr/>
                <a:lstStyle/>
                <a:p>
                  <a:r>
                    <a:rPr lang="en-CO">
                      <a:noFill/>
                    </a:rPr>
                    <a:t> </a:t>
                  </a:r>
                </a:p>
              </p:txBody>
            </p:sp>
          </mc:Fallback>
        </mc:AlternateContent>
        <p:sp>
          <p:nvSpPr>
            <p:cNvPr id="44" name="Text 42">
              <a:extLst>
                <a:ext uri="{FF2B5EF4-FFF2-40B4-BE49-F238E27FC236}">
                  <a16:creationId xmlns:a16="http://schemas.microsoft.com/office/drawing/2014/main" id="{32C6B6EF-5B5A-3DB1-FBA9-B958D1B4AEFF}"/>
                </a:ext>
              </a:extLst>
            </p:cNvPr>
            <p:cNvSpPr txBox="1"/>
            <p:nvPr/>
          </p:nvSpPr>
          <p:spPr>
            <a:xfrm>
              <a:off x="6348071" y="5517724"/>
              <a:ext cx="2158620" cy="201641"/>
            </a:xfrm>
            <a:prstGeom prst="rect">
              <a:avLst/>
            </a:prstGeom>
            <a:noFill/>
            <a:ln/>
          </p:spPr>
          <p:txBody>
            <a:bodyPr wrap="square" lIns="0" tIns="0" rIns="0" bIns="0" rtlCol="0" anchor="t"/>
            <a:lstStyle/>
            <a:p>
              <a:pPr marL="0" indent="0" algn="ctr">
                <a:buNone/>
              </a:pPr>
              <a:r>
                <a:rPr lang="es-ES_tradnl" sz="1200" b="1" noProof="0" dirty="0" err="1">
                  <a:solidFill>
                    <a:srgbClr val="1D1D1B"/>
                  </a:solidFill>
                  <a:latin typeface="DM Sans" pitchFamily="34" charset="0"/>
                  <a:ea typeface="DM Sans" pitchFamily="34" charset="-122"/>
                  <a:cs typeface="DM Sans" pitchFamily="34" charset="-120"/>
                </a:rPr>
                <a:t>Epsilon</a:t>
              </a:r>
              <a:r>
                <a:rPr lang="es-ES_tradnl" sz="1200" b="1" noProof="0" dirty="0">
                  <a:solidFill>
                    <a:srgbClr val="1D1D1B"/>
                  </a:solidFill>
                  <a:latin typeface="DM Sans" pitchFamily="34" charset="0"/>
                  <a:ea typeface="DM Sans" pitchFamily="34" charset="-122"/>
                  <a:cs typeface="DM Sans" pitchFamily="34" charset="-120"/>
                </a:rPr>
                <a:t> Experimental k</a:t>
              </a:r>
              <a:endParaRPr lang="es-ES_tradnl" sz="1200" noProof="0" dirty="0"/>
            </a:p>
          </p:txBody>
        </p:sp>
        <mc:AlternateContent xmlns:mc="http://schemas.openxmlformats.org/markup-compatibility/2006">
          <mc:Choice xmlns:a14="http://schemas.microsoft.com/office/drawing/2010/main" Requires="a14">
            <p:sp>
              <p:nvSpPr>
                <p:cNvPr id="45" name="Text 43">
                  <a:extLst>
                    <a:ext uri="{FF2B5EF4-FFF2-40B4-BE49-F238E27FC236}">
                      <a16:creationId xmlns:a16="http://schemas.microsoft.com/office/drawing/2014/main" id="{9BF55D54-4759-869B-39AC-4113627E74CC}"/>
                    </a:ext>
                  </a:extLst>
                </p:cNvPr>
                <p:cNvSpPr txBox="1"/>
                <p:nvPr/>
              </p:nvSpPr>
              <p:spPr>
                <a:xfrm>
                  <a:off x="6387644" y="5743538"/>
                  <a:ext cx="1990920" cy="259174"/>
                </a:xfrm>
                <a:prstGeom prst="rect">
                  <a:avLst/>
                </a:prstGeom>
                <a:noFill/>
                <a:ln/>
              </p:spPr>
              <p:txBody>
                <a:bodyPr wrap="square" lIns="0" tIns="0" rIns="0" bIns="0" rtlCol="0" anchor="t"/>
                <a:lstStyle/>
                <a:p>
                  <a:pPr algn="ctr"/>
                  <a14:m>
                    <m:oMathPara xmlns:m="http://schemas.openxmlformats.org/officeDocument/2006/math">
                      <m:oMathParaPr>
                        <m:jc m:val="centerGroup"/>
                      </m:oMathParaPr>
                      <m:oMath xmlns:m="http://schemas.openxmlformats.org/officeDocument/2006/math">
                        <m:sSubSup>
                          <m:sSubSupPr>
                            <m:ctrlPr>
                              <a:rPr lang="es-ES_tradnl" sz="1300" i="1" noProof="0" smtClean="0">
                                <a:solidFill>
                                  <a:srgbClr val="3C3C3B"/>
                                </a:solidFill>
                                <a:latin typeface="Cambria Math" panose="02040503050406030204" pitchFamily="18" charset="0"/>
                                <a:ea typeface="Cambria Math" panose="02040503050406030204" pitchFamily="18" charset="0"/>
                              </a:rPr>
                            </m:ctrlPr>
                          </m:sSubSupPr>
                          <m:e>
                            <m:r>
                              <a:rPr lang="es-ES_tradnl" sz="1300" i="1" noProof="0" smtClean="0">
                                <a:solidFill>
                                  <a:srgbClr val="3C3C3B"/>
                                </a:solidFill>
                                <a:latin typeface="Cambria Math" panose="02040503050406030204" pitchFamily="18" charset="0"/>
                                <a:ea typeface="Cambria Math" panose="02040503050406030204" pitchFamily="18" charset="0"/>
                              </a:rPr>
                              <m:t>𝜖</m:t>
                            </m:r>
                          </m:e>
                          <m:sub>
                            <m:r>
                              <a:rPr lang="es-ES_tradnl" sz="1300" b="0" i="1" noProof="0" smtClean="0">
                                <a:solidFill>
                                  <a:srgbClr val="3C3C3B"/>
                                </a:solidFill>
                                <a:latin typeface="Cambria Math" panose="02040503050406030204" pitchFamily="18" charset="0"/>
                                <a:ea typeface="Cambria Math" panose="02040503050406030204" pitchFamily="18" charset="0"/>
                              </a:rPr>
                              <m:t>𝑒𝑥𝑝</m:t>
                            </m:r>
                          </m:sub>
                          <m:sup>
                            <m:r>
                              <a:rPr lang="es-ES_tradnl" sz="1300" b="0" i="1" noProof="0" smtClean="0">
                                <a:solidFill>
                                  <a:srgbClr val="3C3C3B"/>
                                </a:solidFill>
                                <a:latin typeface="Cambria Math" panose="02040503050406030204" pitchFamily="18" charset="0"/>
                                <a:ea typeface="Cambria Math" panose="02040503050406030204" pitchFamily="18" charset="0"/>
                              </a:rPr>
                              <m:t>𝑘</m:t>
                            </m:r>
                          </m:sup>
                        </m:sSubSup>
                        <m:r>
                          <a:rPr lang="es-ES_tradnl" sz="1300" b="0" i="1" noProof="0" smtClean="0">
                            <a:solidFill>
                              <a:srgbClr val="3C3C3B"/>
                            </a:solidFill>
                            <a:latin typeface="Cambria Math" panose="02040503050406030204" pitchFamily="18" charset="0"/>
                            <a:ea typeface="Cambria Math" panose="02040503050406030204" pitchFamily="18" charset="0"/>
                          </a:rPr>
                          <m:t>=</m:t>
                        </m:r>
                        <m:sSub>
                          <m:sSubPr>
                            <m:ctrlPr>
                              <a:rPr lang="es-ES_tradnl" sz="1200" i="1" noProof="0" smtClean="0">
                                <a:solidFill>
                                  <a:srgbClr val="3C3C3B"/>
                                </a:solidFill>
                                <a:latin typeface="Cambria Math" panose="02040503050406030204" pitchFamily="18" charset="0"/>
                              </a:rPr>
                            </m:ctrlPr>
                          </m:sSubPr>
                          <m:e>
                            <m:r>
                              <a:rPr lang="es-ES_tradnl" sz="1200" i="1" noProof="0" smtClean="0">
                                <a:solidFill>
                                  <a:srgbClr val="3C3C3B"/>
                                </a:solidFill>
                                <a:latin typeface="Cambria Math" panose="02040503050406030204" pitchFamily="18" charset="0"/>
                              </a:rPr>
                              <m:t>𝑚𝑎𝑥</m:t>
                            </m:r>
                          </m:e>
                          <m:sub>
                            <m:r>
                              <a:rPr lang="es-ES_tradnl" sz="1200" i="1" noProof="0" smtClean="0">
                                <a:solidFill>
                                  <a:srgbClr val="3C3C3B"/>
                                </a:solidFill>
                                <a:latin typeface="Cambria Math" panose="02040503050406030204" pitchFamily="18" charset="0"/>
                              </a:rPr>
                              <m:t>𝑗</m:t>
                            </m:r>
                          </m:sub>
                        </m:sSub>
                        <m:d>
                          <m:dPr>
                            <m:ctrlPr>
                              <a:rPr lang="es-ES_tradnl" sz="1200" i="1" noProof="0" smtClean="0">
                                <a:solidFill>
                                  <a:srgbClr val="3C3C3B"/>
                                </a:solidFill>
                                <a:latin typeface="Cambria Math" panose="02040503050406030204" pitchFamily="18" charset="0"/>
                              </a:rPr>
                            </m:ctrlPr>
                          </m:dPr>
                          <m:e>
                            <m:sSubSup>
                              <m:sSubSupPr>
                                <m:ctrlPr>
                                  <a:rPr lang="es-ES_tradnl" sz="1200" i="1" noProof="0" smtClean="0">
                                    <a:solidFill>
                                      <a:srgbClr val="3C3C3B"/>
                                    </a:solidFill>
                                    <a:latin typeface="Cambria Math" panose="02040503050406030204" pitchFamily="18" charset="0"/>
                                  </a:rPr>
                                </m:ctrlPr>
                              </m:sSubSupPr>
                              <m:e>
                                <m:r>
                                  <a:rPr lang="es-ES_tradnl" sz="1200" i="1" noProof="0" smtClean="0">
                                    <a:solidFill>
                                      <a:srgbClr val="3C3C3B"/>
                                    </a:solidFill>
                                    <a:latin typeface="Cambria Math" panose="02040503050406030204" pitchFamily="18" charset="0"/>
                                  </a:rPr>
                                  <m:t>𝜖</m:t>
                                </m:r>
                              </m:e>
                              <m:sub>
                                <m:r>
                                  <a:rPr lang="es-ES_tradnl" sz="1200" i="1" noProof="0" smtClean="0">
                                    <a:solidFill>
                                      <a:srgbClr val="3C3C3B"/>
                                    </a:solidFill>
                                    <a:latin typeface="Cambria Math" panose="02040503050406030204" pitchFamily="18" charset="0"/>
                                  </a:rPr>
                                  <m:t>𝑒𝑥𝑝</m:t>
                                </m:r>
                              </m:sub>
                              <m:sup>
                                <m:r>
                                  <a:rPr lang="es-ES_tradnl" sz="1200" i="1" noProof="0" smtClean="0">
                                    <a:solidFill>
                                      <a:srgbClr val="3C3C3B"/>
                                    </a:solidFill>
                                    <a:latin typeface="Cambria Math" panose="02040503050406030204" pitchFamily="18" charset="0"/>
                                  </a:rPr>
                                  <m:t>𝑗</m:t>
                                </m:r>
                              </m:sup>
                            </m:sSubSup>
                          </m:e>
                        </m:d>
                      </m:oMath>
                    </m:oMathPara>
                  </a14:m>
                  <a:endParaRPr lang="es-ES_tradnl" sz="1300" noProof="0" dirty="0"/>
                </a:p>
              </p:txBody>
            </p:sp>
          </mc:Choice>
          <mc:Fallback>
            <p:sp>
              <p:nvSpPr>
                <p:cNvPr id="45" name="Text 43">
                  <a:extLst>
                    <a:ext uri="{FF2B5EF4-FFF2-40B4-BE49-F238E27FC236}">
                      <a16:creationId xmlns:a16="http://schemas.microsoft.com/office/drawing/2014/main" id="{9BF55D54-4759-869B-39AC-4113627E74CC}"/>
                    </a:ext>
                  </a:extLst>
                </p:cNvPr>
                <p:cNvSpPr txBox="1">
                  <a:spLocks noRot="1" noChangeAspect="1" noMove="1" noResize="1" noEditPoints="1" noAdjustHandles="1" noChangeArrowheads="1" noChangeShapeType="1" noTextEdit="1"/>
                </p:cNvSpPr>
                <p:nvPr/>
              </p:nvSpPr>
              <p:spPr>
                <a:xfrm>
                  <a:off x="6387644" y="5743538"/>
                  <a:ext cx="1990920" cy="259174"/>
                </a:xfrm>
                <a:prstGeom prst="rect">
                  <a:avLst/>
                </a:prstGeom>
                <a:blipFill>
                  <a:blip r:embed="rId8"/>
                  <a:stretch>
                    <a:fillRect b="-31579"/>
                  </a:stretch>
                </a:blipFill>
                <a:ln/>
              </p:spPr>
              <p:txBody>
                <a:bodyPr/>
                <a:lstStyle/>
                <a:p>
                  <a:r>
                    <a:rPr lang="en-CO">
                      <a:noFill/>
                    </a:rPr>
                    <a:t> </a:t>
                  </a:r>
                </a:p>
              </p:txBody>
            </p:sp>
          </mc:Fallback>
        </mc:AlternateContent>
        <mc:AlternateContent xmlns:mc="http://schemas.openxmlformats.org/markup-compatibility/2006">
          <mc:Choice xmlns:a14="http://schemas.microsoft.com/office/drawing/2010/main" Requires="a14">
            <p:sp>
              <p:nvSpPr>
                <p:cNvPr id="49" name="Text 25">
                  <a:extLst>
                    <a:ext uri="{FF2B5EF4-FFF2-40B4-BE49-F238E27FC236}">
                      <a16:creationId xmlns:a16="http://schemas.microsoft.com/office/drawing/2014/main" id="{7034DA3B-1CE8-205E-7D76-D32C87E22430}"/>
                    </a:ext>
                  </a:extLst>
                </p:cNvPr>
                <p:cNvSpPr txBox="1"/>
                <p:nvPr/>
              </p:nvSpPr>
              <p:spPr>
                <a:xfrm>
                  <a:off x="3244762" y="2211416"/>
                  <a:ext cx="2124156" cy="355600"/>
                </a:xfrm>
                <a:prstGeom prst="rect">
                  <a:avLst/>
                </a:prstGeom>
                <a:noFill/>
                <a:ln/>
              </p:spPr>
              <p:txBody>
                <a:bodyPr wrap="square" lIns="0" tIns="0" rIns="0" bIns="0" rtlCol="0" anchor="t"/>
                <a:lstStyle/>
                <a:p>
                  <a:pPr algn="ctr"/>
                  <a14:m>
                    <m:oMathPara xmlns:m="http://schemas.openxmlformats.org/officeDocument/2006/math">
                      <m:oMathParaPr>
                        <m:jc m:val="centerGroup"/>
                      </m:oMathParaPr>
                      <m:oMath xmlns:m="http://schemas.openxmlformats.org/officeDocument/2006/math">
                        <m:sSubSup>
                          <m:sSubSupPr>
                            <m:ctrlPr>
                              <a:rPr lang="es-ES_tradnl" sz="1200" i="1" noProof="0" smtClean="0">
                                <a:solidFill>
                                  <a:srgbClr val="3C3C3B"/>
                                </a:solidFill>
                                <a:latin typeface="Cambria Math" panose="02040503050406030204" pitchFamily="18" charset="0"/>
                                <a:ea typeface="Cambria Math" panose="02040503050406030204" pitchFamily="18" charset="0"/>
                              </a:rPr>
                            </m:ctrlPr>
                          </m:sSubSupPr>
                          <m:e>
                            <m:r>
                              <a:rPr lang="es-ES_tradnl" sz="1200" i="1" noProof="0" smtClean="0">
                                <a:solidFill>
                                  <a:srgbClr val="3C3C3B"/>
                                </a:solidFill>
                                <a:latin typeface="Cambria Math" panose="02040503050406030204" pitchFamily="18" charset="0"/>
                                <a:ea typeface="Cambria Math" panose="02040503050406030204" pitchFamily="18" charset="0"/>
                              </a:rPr>
                              <m:t>𝜌</m:t>
                            </m:r>
                          </m:e>
                          <m:sub/>
                          <m:sup>
                            <m:r>
                              <a:rPr lang="es-ES_tradnl" sz="1200" b="0" i="1" noProof="0" smtClean="0">
                                <a:solidFill>
                                  <a:srgbClr val="3C3C3B"/>
                                </a:solidFill>
                                <a:latin typeface="Cambria Math" panose="02040503050406030204" pitchFamily="18" charset="0"/>
                                <a:ea typeface="Cambria Math" panose="02040503050406030204" pitchFamily="18" charset="0"/>
                              </a:rPr>
                              <m:t>𝑘</m:t>
                            </m:r>
                          </m:sup>
                        </m:sSubSup>
                        <m:r>
                          <a:rPr lang="es-ES_tradnl" sz="1200" i="1" noProof="0" smtClean="0">
                            <a:solidFill>
                              <a:srgbClr val="3C3C3B"/>
                            </a:solidFill>
                            <a:latin typeface="Cambria Math" panose="02040503050406030204" pitchFamily="18" charset="0"/>
                          </a:rPr>
                          <m:t>=</m:t>
                        </m:r>
                        <m:f>
                          <m:fPr>
                            <m:ctrlPr>
                              <a:rPr lang="es-ES_tradnl" sz="1200" b="0" i="1" noProof="0" smtClean="0">
                                <a:solidFill>
                                  <a:srgbClr val="3C3C3B"/>
                                </a:solidFill>
                                <a:latin typeface="Cambria Math" panose="02040503050406030204" pitchFamily="18" charset="0"/>
                              </a:rPr>
                            </m:ctrlPr>
                          </m:fPr>
                          <m:num>
                            <m:r>
                              <a:rPr lang="es-ES_tradnl" sz="1200" b="0" i="1" noProof="0" smtClean="0">
                                <a:solidFill>
                                  <a:srgbClr val="3C3C3B"/>
                                </a:solidFill>
                                <a:latin typeface="Cambria Math" panose="02040503050406030204" pitchFamily="18" charset="0"/>
                              </a:rPr>
                              <m:t>1</m:t>
                            </m:r>
                          </m:num>
                          <m:den>
                            <m:r>
                              <a:rPr lang="es-ES_tradnl" sz="1200" b="0" i="1" noProof="0" smtClean="0">
                                <a:solidFill>
                                  <a:srgbClr val="3C3C3B"/>
                                </a:solidFill>
                                <a:latin typeface="Cambria Math" panose="02040503050406030204" pitchFamily="18" charset="0"/>
                              </a:rPr>
                              <m:t>1000</m:t>
                            </m:r>
                          </m:den>
                        </m:f>
                        <m:d>
                          <m:dPr>
                            <m:ctrlPr>
                              <a:rPr lang="es-ES_tradnl" sz="1200" i="1" noProof="0" smtClean="0">
                                <a:solidFill>
                                  <a:srgbClr val="3C3C3B"/>
                                </a:solidFill>
                                <a:latin typeface="Cambria Math" panose="02040503050406030204" pitchFamily="18" charset="0"/>
                              </a:rPr>
                            </m:ctrlPr>
                          </m:dPr>
                          <m:e>
                            <m:nary>
                              <m:naryPr>
                                <m:chr m:val="∑"/>
                                <m:subHide m:val="on"/>
                                <m:supHide m:val="on"/>
                                <m:ctrlPr>
                                  <a:rPr lang="es-ES_tradnl" sz="1200" i="1" noProof="0" smtClean="0">
                                    <a:solidFill>
                                      <a:srgbClr val="3C3C3B"/>
                                    </a:solidFill>
                                    <a:latin typeface="Cambria Math" panose="02040503050406030204" pitchFamily="18" charset="0"/>
                                  </a:rPr>
                                </m:ctrlPr>
                              </m:naryPr>
                              <m:sub/>
                              <m:sup/>
                              <m:e>
                                <m:sSubSup>
                                  <m:sSubSupPr>
                                    <m:ctrlPr>
                                      <a:rPr lang="es-ES_tradnl" sz="1200" i="1" noProof="0" smtClean="0">
                                        <a:solidFill>
                                          <a:srgbClr val="3C3C3B"/>
                                        </a:solidFill>
                                        <a:latin typeface="Cambria Math" panose="02040503050406030204" pitchFamily="18" charset="0"/>
                                        <a:ea typeface="Cambria Math" panose="02040503050406030204" pitchFamily="18" charset="0"/>
                                        <a:cs typeface="Roboto" pitchFamily="34" charset="-120"/>
                                      </a:rPr>
                                    </m:ctrlPr>
                                  </m:sSubSupPr>
                                  <m:e>
                                    <m:r>
                                      <a:rPr lang="es-ES_tradnl" sz="1200" i="1" noProof="0" smtClean="0">
                                        <a:solidFill>
                                          <a:srgbClr val="3C3C3B"/>
                                        </a:solidFill>
                                        <a:latin typeface="Cambria Math" panose="02040503050406030204" pitchFamily="18" charset="0"/>
                                        <a:ea typeface="Cambria Math" panose="02040503050406030204" pitchFamily="18" charset="0"/>
                                        <a:cs typeface="Roboto" pitchFamily="34" charset="-120"/>
                                      </a:rPr>
                                      <m:t>𝜌</m:t>
                                    </m:r>
                                  </m:e>
                                  <m:sub>
                                    <m:r>
                                      <a:rPr lang="es-ES_tradnl" sz="1200" i="1" noProof="0" smtClean="0">
                                        <a:solidFill>
                                          <a:srgbClr val="3C3C3B"/>
                                        </a:solidFill>
                                        <a:latin typeface="Cambria Math" panose="02040503050406030204" pitchFamily="18" charset="0"/>
                                        <a:cs typeface="Roboto" pitchFamily="34" charset="-120"/>
                                      </a:rPr>
                                      <m:t>𝑖</m:t>
                                    </m:r>
                                  </m:sub>
                                  <m:sup>
                                    <m:r>
                                      <a:rPr lang="es-ES_tradnl" sz="1200" b="0" i="1" noProof="0" smtClean="0">
                                        <a:solidFill>
                                          <a:srgbClr val="3C3C3B"/>
                                        </a:solidFill>
                                        <a:latin typeface="Cambria Math" panose="02040503050406030204" pitchFamily="18" charset="0"/>
                                        <a:ea typeface="Cambria Math" panose="02040503050406030204" pitchFamily="18" charset="0"/>
                                        <a:cs typeface="Roboto" pitchFamily="34" charset="-120"/>
                                      </a:rPr>
                                      <m:t>𝑘</m:t>
                                    </m:r>
                                  </m:sup>
                                </m:sSubSup>
                              </m:e>
                            </m:nary>
                          </m:e>
                        </m:d>
                      </m:oMath>
                    </m:oMathPara>
                  </a14:m>
                  <a:endParaRPr lang="es-ES_tradnl" sz="1000" noProof="0" dirty="0"/>
                </a:p>
              </p:txBody>
            </p:sp>
          </mc:Choice>
          <mc:Fallback>
            <p:sp>
              <p:nvSpPr>
                <p:cNvPr id="49" name="Text 25">
                  <a:extLst>
                    <a:ext uri="{FF2B5EF4-FFF2-40B4-BE49-F238E27FC236}">
                      <a16:creationId xmlns:a16="http://schemas.microsoft.com/office/drawing/2014/main" id="{7034DA3B-1CE8-205E-7D76-D32C87E22430}"/>
                    </a:ext>
                  </a:extLst>
                </p:cNvPr>
                <p:cNvSpPr txBox="1">
                  <a:spLocks noRot="1" noChangeAspect="1" noMove="1" noResize="1" noEditPoints="1" noAdjustHandles="1" noChangeArrowheads="1" noChangeShapeType="1" noTextEdit="1"/>
                </p:cNvSpPr>
                <p:nvPr/>
              </p:nvSpPr>
              <p:spPr>
                <a:xfrm>
                  <a:off x="3244762" y="2211416"/>
                  <a:ext cx="2124156" cy="355600"/>
                </a:xfrm>
                <a:prstGeom prst="rect">
                  <a:avLst/>
                </a:prstGeom>
                <a:blipFill>
                  <a:blip r:embed="rId9"/>
                  <a:stretch>
                    <a:fillRect t="-188462" b="-334615"/>
                  </a:stretch>
                </a:blipFill>
                <a:ln/>
              </p:spPr>
              <p:txBody>
                <a:bodyPr/>
                <a:lstStyle/>
                <a:p>
                  <a:r>
                    <a:rPr lang="en-CO">
                      <a:noFill/>
                    </a:rPr>
                    <a:t> </a:t>
                  </a:r>
                </a:p>
              </p:txBody>
            </p:sp>
          </mc:Fallback>
        </mc:AlternateContent>
        <p:sp>
          <p:nvSpPr>
            <p:cNvPr id="50" name="Text 28">
              <a:extLst>
                <a:ext uri="{FF2B5EF4-FFF2-40B4-BE49-F238E27FC236}">
                  <a16:creationId xmlns:a16="http://schemas.microsoft.com/office/drawing/2014/main" id="{52EAE6FB-BA4B-262B-9AAD-41CA0518FEB4}"/>
                </a:ext>
              </a:extLst>
            </p:cNvPr>
            <p:cNvSpPr txBox="1"/>
            <p:nvPr/>
          </p:nvSpPr>
          <p:spPr>
            <a:xfrm>
              <a:off x="7170880" y="3383403"/>
              <a:ext cx="1482635" cy="304800"/>
            </a:xfrm>
            <a:prstGeom prst="rect">
              <a:avLst/>
            </a:prstGeom>
            <a:noFill/>
            <a:ln/>
          </p:spPr>
          <p:txBody>
            <a:bodyPr wrap="square" lIns="0" tIns="0" rIns="0" bIns="0" rtlCol="0" anchor="t"/>
            <a:lstStyle/>
            <a:p>
              <a:pPr marL="0" indent="0" algn="ctr">
                <a:buNone/>
              </a:pPr>
              <a:r>
                <a:rPr lang="es-ES_tradnl" sz="1200" b="1" noProof="0" dirty="0">
                  <a:solidFill>
                    <a:srgbClr val="1D1D1B"/>
                  </a:solidFill>
                  <a:latin typeface="DM Sans" pitchFamily="34" charset="0"/>
                  <a:ea typeface="DM Sans" pitchFamily="34" charset="-122"/>
                  <a:cs typeface="DM Sans" pitchFamily="34" charset="-120"/>
                </a:rPr>
                <a:t>GAD</a:t>
              </a:r>
              <a:endParaRPr lang="es-ES_tradnl" sz="1200" noProof="0" dirty="0"/>
            </a:p>
          </p:txBody>
        </p:sp>
        <mc:AlternateContent xmlns:mc="http://schemas.openxmlformats.org/markup-compatibility/2006">
          <mc:Choice xmlns:a14="http://schemas.microsoft.com/office/drawing/2010/main" Requires="a14">
            <p:sp>
              <p:nvSpPr>
                <p:cNvPr id="51" name="Text 29">
                  <a:extLst>
                    <a:ext uri="{FF2B5EF4-FFF2-40B4-BE49-F238E27FC236}">
                      <a16:creationId xmlns:a16="http://schemas.microsoft.com/office/drawing/2014/main" id="{908668A1-37A4-CA58-231C-A39C5827DC03}"/>
                    </a:ext>
                  </a:extLst>
                </p:cNvPr>
                <p:cNvSpPr txBox="1"/>
                <p:nvPr/>
              </p:nvSpPr>
              <p:spPr>
                <a:xfrm>
                  <a:off x="7133792" y="3685538"/>
                  <a:ext cx="1581858" cy="355600"/>
                </a:xfrm>
                <a:prstGeom prst="rect">
                  <a:avLst/>
                </a:prstGeom>
                <a:noFill/>
                <a:ln/>
              </p:spPr>
              <p:txBody>
                <a:bodyPr wrap="square" lIns="0" tIns="0" rIns="0" bIns="0" rtlCol="0" anchor="t"/>
                <a:lstStyle/>
                <a:p>
                  <a:pPr algn="ctr"/>
                  <a14:m>
                    <m:oMathPara xmlns:m="http://schemas.openxmlformats.org/officeDocument/2006/math">
                      <m:oMathParaPr>
                        <m:jc m:val="centerGroup"/>
                      </m:oMathParaPr>
                      <m:oMath xmlns:m="http://schemas.openxmlformats.org/officeDocument/2006/math">
                        <m:sSubSup>
                          <m:sSubSupPr>
                            <m:ctrlPr>
                              <a:rPr lang="es-ES_tradnl" sz="1400" b="0" i="1" noProof="0" smtClean="0">
                                <a:solidFill>
                                  <a:srgbClr val="3C3C3B"/>
                                </a:solidFill>
                                <a:latin typeface="Cambria Math" panose="02040503050406030204" pitchFamily="18" charset="0"/>
                              </a:rPr>
                            </m:ctrlPr>
                          </m:sSubSupPr>
                          <m:e>
                            <m:r>
                              <a:rPr lang="es-ES_tradnl" sz="1400" i="1" noProof="0" smtClean="0">
                                <a:solidFill>
                                  <a:srgbClr val="3C3C3B"/>
                                </a:solidFill>
                                <a:latin typeface="Cambria Math" panose="02040503050406030204" pitchFamily="18" charset="0"/>
                              </a:rPr>
                              <m:t>𝜎</m:t>
                            </m:r>
                            <m:r>
                              <a:rPr lang="es-ES_tradnl" sz="1400" i="1" noProof="0" smtClean="0">
                                <a:solidFill>
                                  <a:srgbClr val="3C3C3B"/>
                                </a:solidFill>
                                <a:latin typeface="Cambria Math" panose="02040503050406030204" pitchFamily="18" charset="0"/>
                              </a:rPr>
                              <m:t>´</m:t>
                            </m:r>
                          </m:e>
                          <m:sub>
                            <m:r>
                              <a:rPr lang="es-ES_tradnl" sz="1400" b="0" i="1" noProof="0" smtClean="0">
                                <a:solidFill>
                                  <a:srgbClr val="3C3C3B"/>
                                </a:solidFill>
                                <a:latin typeface="Cambria Math" panose="02040503050406030204" pitchFamily="18" charset="0"/>
                              </a:rPr>
                              <m:t>𝑗</m:t>
                            </m:r>
                          </m:sub>
                          <m:sup>
                            <m:r>
                              <a:rPr lang="es-ES_tradnl" sz="1400" b="0" i="1" noProof="0" smtClean="0">
                                <a:solidFill>
                                  <a:srgbClr val="3C3C3B"/>
                                </a:solidFill>
                                <a:latin typeface="Cambria Math" panose="02040503050406030204" pitchFamily="18" charset="0"/>
                              </a:rPr>
                              <m:t>𝑘</m:t>
                            </m:r>
                          </m:sup>
                        </m:sSubSup>
                        <m:r>
                          <a:rPr lang="es-ES_tradnl" sz="1400" i="1" noProof="0" smtClean="0">
                            <a:solidFill>
                              <a:srgbClr val="3C3C3B"/>
                            </a:solidFill>
                            <a:latin typeface="Cambria Math" panose="02040503050406030204" pitchFamily="18" charset="0"/>
                          </a:rPr>
                          <m:t>=</m:t>
                        </m:r>
                        <m:sSub>
                          <m:sSubPr>
                            <m:ctrlPr>
                              <a:rPr lang="es-ES_tradnl" sz="1400" b="0" i="1" noProof="0" smtClean="0">
                                <a:solidFill>
                                  <a:srgbClr val="3C3C3B"/>
                                </a:solidFill>
                                <a:latin typeface="Cambria Math" panose="02040503050406030204" pitchFamily="18" charset="0"/>
                              </a:rPr>
                            </m:ctrlPr>
                          </m:sSubPr>
                          <m:e>
                            <m:r>
                              <a:rPr lang="es-ES_tradnl" sz="1400" i="1" noProof="0" smtClean="0">
                                <a:solidFill>
                                  <a:srgbClr val="3C3C3B"/>
                                </a:solidFill>
                                <a:latin typeface="Cambria Math" panose="02040503050406030204" pitchFamily="18" charset="0"/>
                              </a:rPr>
                              <m:t>ℰ</m:t>
                            </m:r>
                          </m:e>
                          <m:sub>
                            <m:r>
                              <a:rPr lang="es-ES_tradnl" sz="1400" b="0" i="1" noProof="0" smtClean="0">
                                <a:solidFill>
                                  <a:srgbClr val="3C3C3B"/>
                                </a:solidFill>
                                <a:latin typeface="Cambria Math" panose="02040503050406030204" pitchFamily="18" charset="0"/>
                              </a:rPr>
                              <m:t>𝐺𝐴𝐷</m:t>
                            </m:r>
                          </m:sub>
                        </m:sSub>
                        <m:d>
                          <m:dPr>
                            <m:ctrlPr>
                              <a:rPr lang="es-ES_tradnl" sz="1400" i="1" noProof="0" smtClean="0">
                                <a:solidFill>
                                  <a:srgbClr val="3C3C3B"/>
                                </a:solidFill>
                                <a:latin typeface="Cambria Math" panose="02040503050406030204" pitchFamily="18" charset="0"/>
                              </a:rPr>
                            </m:ctrlPr>
                          </m:dPr>
                          <m:e>
                            <m:sSubSup>
                              <m:sSubSupPr>
                                <m:ctrlPr>
                                  <a:rPr lang="es-ES_tradnl" sz="1400" i="1" noProof="0" smtClean="0">
                                    <a:solidFill>
                                      <a:srgbClr val="3C3C3B"/>
                                    </a:solidFill>
                                    <a:latin typeface="Cambria Math" panose="02040503050406030204" pitchFamily="18" charset="0"/>
                                  </a:rPr>
                                </m:ctrlPr>
                              </m:sSubSupPr>
                              <m:e>
                                <m:r>
                                  <a:rPr lang="es-ES_tradnl" sz="1400" i="1" noProof="0" smtClean="0">
                                    <a:solidFill>
                                      <a:srgbClr val="3C3C3B"/>
                                    </a:solidFill>
                                    <a:latin typeface="Cambria Math" panose="02040503050406030204" pitchFamily="18" charset="0"/>
                                  </a:rPr>
                                  <m:t>𝜎</m:t>
                                </m:r>
                              </m:e>
                              <m:sub>
                                <m:r>
                                  <a:rPr lang="es-ES_tradnl" sz="1400" b="0" i="1" noProof="0" smtClean="0">
                                    <a:solidFill>
                                      <a:srgbClr val="3C3C3B"/>
                                    </a:solidFill>
                                    <a:latin typeface="Cambria Math" panose="02040503050406030204" pitchFamily="18" charset="0"/>
                                  </a:rPr>
                                  <m:t>𝑗</m:t>
                                </m:r>
                              </m:sub>
                              <m:sup>
                                <m:r>
                                  <a:rPr lang="es-ES_tradnl" sz="1400" b="0" i="1" noProof="0" smtClean="0">
                                    <a:solidFill>
                                      <a:srgbClr val="3C3C3B"/>
                                    </a:solidFill>
                                    <a:latin typeface="Cambria Math" panose="02040503050406030204" pitchFamily="18" charset="0"/>
                                  </a:rPr>
                                  <m:t>𝑘</m:t>
                                </m:r>
                              </m:sup>
                            </m:sSubSup>
                          </m:e>
                        </m:d>
                      </m:oMath>
                    </m:oMathPara>
                  </a14:m>
                  <a:endParaRPr lang="es-ES_tradnl" sz="1300" noProof="0" dirty="0"/>
                </a:p>
              </p:txBody>
            </p:sp>
          </mc:Choice>
          <mc:Fallback>
            <p:sp>
              <p:nvSpPr>
                <p:cNvPr id="51" name="Text 29">
                  <a:extLst>
                    <a:ext uri="{FF2B5EF4-FFF2-40B4-BE49-F238E27FC236}">
                      <a16:creationId xmlns:a16="http://schemas.microsoft.com/office/drawing/2014/main" id="{908668A1-37A4-CA58-231C-A39C5827DC03}"/>
                    </a:ext>
                  </a:extLst>
                </p:cNvPr>
                <p:cNvSpPr txBox="1">
                  <a:spLocks noRot="1" noChangeAspect="1" noMove="1" noResize="1" noEditPoints="1" noAdjustHandles="1" noChangeArrowheads="1" noChangeShapeType="1" noTextEdit="1"/>
                </p:cNvSpPr>
                <p:nvPr/>
              </p:nvSpPr>
              <p:spPr>
                <a:xfrm>
                  <a:off x="7133792" y="3685538"/>
                  <a:ext cx="1581858" cy="355600"/>
                </a:xfrm>
                <a:prstGeom prst="rect">
                  <a:avLst/>
                </a:prstGeom>
                <a:blipFill>
                  <a:blip r:embed="rId10"/>
                  <a:stretch>
                    <a:fillRect b="-3846"/>
                  </a:stretch>
                </a:blipFill>
                <a:ln/>
              </p:spPr>
              <p:txBody>
                <a:bodyPr/>
                <a:lstStyle/>
                <a:p>
                  <a:r>
                    <a:rPr lang="en-CO">
                      <a:noFill/>
                    </a:rPr>
                    <a:t> </a:t>
                  </a:r>
                </a:p>
              </p:txBody>
            </p:sp>
          </mc:Fallback>
        </mc:AlternateContent>
        <p:sp>
          <p:nvSpPr>
            <p:cNvPr id="53" name="Shape 31">
              <a:extLst>
                <a:ext uri="{FF2B5EF4-FFF2-40B4-BE49-F238E27FC236}">
                  <a16:creationId xmlns:a16="http://schemas.microsoft.com/office/drawing/2014/main" id="{E06C1FB9-3927-7907-3AE2-E7871D5CAA85}"/>
                </a:ext>
              </a:extLst>
            </p:cNvPr>
            <p:cNvSpPr/>
            <p:nvPr/>
          </p:nvSpPr>
          <p:spPr>
            <a:xfrm>
              <a:off x="8864600" y="3175000"/>
              <a:ext cx="2692400" cy="1143000"/>
            </a:xfrm>
            <a:prstGeom prst="roundRect">
              <a:avLst>
                <a:gd name="adj" fmla="val 8421"/>
              </a:avLst>
            </a:prstGeom>
            <a:solidFill>
              <a:srgbClr val="FFFFFF"/>
            </a:solidFill>
            <a:ln w="19050">
              <a:solidFill>
                <a:srgbClr val="293470"/>
              </a:solidFill>
              <a:prstDash val="solid"/>
            </a:ln>
          </p:spPr>
          <p:txBody>
            <a:bodyPr/>
            <a:lstStyle/>
            <a:p>
              <a:endParaRPr lang="es-ES_tradnl" noProof="0" dirty="0"/>
            </a:p>
          </p:txBody>
        </p:sp>
        <p:sp>
          <p:nvSpPr>
            <p:cNvPr id="54" name="Text 28">
              <a:extLst>
                <a:ext uri="{FF2B5EF4-FFF2-40B4-BE49-F238E27FC236}">
                  <a16:creationId xmlns:a16="http://schemas.microsoft.com/office/drawing/2014/main" id="{1EECC25C-AC94-1842-0D7A-66C7CABC066D}"/>
                </a:ext>
              </a:extLst>
            </p:cNvPr>
            <p:cNvSpPr txBox="1"/>
            <p:nvPr/>
          </p:nvSpPr>
          <p:spPr>
            <a:xfrm>
              <a:off x="8915400" y="3276600"/>
              <a:ext cx="2590800" cy="304800"/>
            </a:xfrm>
            <a:prstGeom prst="rect">
              <a:avLst/>
            </a:prstGeom>
            <a:noFill/>
            <a:ln/>
          </p:spPr>
          <p:txBody>
            <a:bodyPr wrap="square" lIns="0" tIns="0" rIns="0" bIns="0" rtlCol="0" anchor="t"/>
            <a:lstStyle/>
            <a:p>
              <a:pPr marL="0" indent="0" algn="ctr">
                <a:buNone/>
              </a:pPr>
              <a:r>
                <a:rPr lang="es-ES_tradnl" sz="1200" b="1" noProof="0" dirty="0" err="1">
                  <a:solidFill>
                    <a:srgbClr val="1D1D1B"/>
                  </a:solidFill>
                  <a:latin typeface="DM Sans" pitchFamily="34" charset="0"/>
                  <a:ea typeface="DM Sans" pitchFamily="34" charset="-122"/>
                  <a:cs typeface="DM Sans" pitchFamily="34" charset="-120"/>
                </a:rPr>
                <a:t>Epsilon</a:t>
              </a:r>
              <a:r>
                <a:rPr lang="es-ES_tradnl" sz="1200" b="1" noProof="0" dirty="0">
                  <a:solidFill>
                    <a:srgbClr val="1D1D1B"/>
                  </a:solidFill>
                  <a:latin typeface="DM Sans" pitchFamily="34" charset="0"/>
                  <a:ea typeface="DM Sans" pitchFamily="34" charset="-122"/>
                  <a:cs typeface="DM Sans" pitchFamily="34" charset="-120"/>
                </a:rPr>
                <a:t> Experimental j</a:t>
              </a:r>
              <a:endParaRPr lang="es-ES_tradnl" sz="1200" noProof="0" dirty="0"/>
            </a:p>
          </p:txBody>
        </p:sp>
        <mc:AlternateContent xmlns:mc="http://schemas.openxmlformats.org/markup-compatibility/2006">
          <mc:Choice xmlns:a14="http://schemas.microsoft.com/office/drawing/2010/main" Requires="a14">
            <p:sp>
              <p:nvSpPr>
                <p:cNvPr id="55" name="Text 29">
                  <a:extLst>
                    <a:ext uri="{FF2B5EF4-FFF2-40B4-BE49-F238E27FC236}">
                      <a16:creationId xmlns:a16="http://schemas.microsoft.com/office/drawing/2014/main" id="{B8BEFABB-276A-CD3D-7B0E-E62AC2372B25}"/>
                    </a:ext>
                  </a:extLst>
                </p:cNvPr>
                <p:cNvSpPr txBox="1"/>
                <p:nvPr/>
              </p:nvSpPr>
              <p:spPr>
                <a:xfrm>
                  <a:off x="8915400" y="3581400"/>
                  <a:ext cx="2590800" cy="660400"/>
                </a:xfrm>
                <a:prstGeom prst="rect">
                  <a:avLst/>
                </a:prstGeom>
                <a:noFill/>
                <a:ln/>
              </p:spPr>
              <p:txBody>
                <a:bodyPr wrap="square" lIns="0" tIns="0" rIns="0" bIns="0" rtlCol="0" anchor="t"/>
                <a:lstStyle/>
                <a:p>
                  <a:pPr algn="ctr"/>
                  <a14:m>
                    <m:oMathPara xmlns:m="http://schemas.openxmlformats.org/officeDocument/2006/math">
                      <m:oMathParaPr>
                        <m:jc m:val="centerGroup"/>
                      </m:oMathParaPr>
                      <m:oMath xmlns:m="http://schemas.openxmlformats.org/officeDocument/2006/math">
                        <m:sSubSup>
                          <m:sSubSupPr>
                            <m:ctrlPr>
                              <a:rPr lang="es-ES_tradnl" sz="1100" i="1" noProof="0" smtClean="0">
                                <a:solidFill>
                                  <a:srgbClr val="3C3C3B"/>
                                </a:solidFill>
                                <a:latin typeface="Cambria Math" panose="02040503050406030204" pitchFamily="18" charset="0"/>
                              </a:rPr>
                            </m:ctrlPr>
                          </m:sSubSupPr>
                          <m:e>
                            <m:r>
                              <a:rPr lang="es-ES_tradnl" sz="1100" i="1" noProof="0" smtClean="0">
                                <a:solidFill>
                                  <a:srgbClr val="3C3C3B"/>
                                </a:solidFill>
                                <a:latin typeface="Cambria Math" panose="02040503050406030204" pitchFamily="18" charset="0"/>
                              </a:rPr>
                              <m:t>𝜖</m:t>
                            </m:r>
                          </m:e>
                          <m:sub>
                            <m:r>
                              <a:rPr lang="es-ES_tradnl" sz="1100" b="0" i="1" noProof="0" smtClean="0">
                                <a:solidFill>
                                  <a:srgbClr val="3C3C3B"/>
                                </a:solidFill>
                                <a:latin typeface="Cambria Math" panose="02040503050406030204" pitchFamily="18" charset="0"/>
                              </a:rPr>
                              <m:t>𝑒𝑥𝑝</m:t>
                            </m:r>
                          </m:sub>
                          <m:sup>
                            <m:r>
                              <a:rPr lang="es-ES_tradnl" sz="1100" b="0" i="1" noProof="0" smtClean="0">
                                <a:solidFill>
                                  <a:srgbClr val="3C3C3B"/>
                                </a:solidFill>
                                <a:latin typeface="Cambria Math" panose="02040503050406030204" pitchFamily="18" charset="0"/>
                              </a:rPr>
                              <m:t>𝑗</m:t>
                            </m:r>
                          </m:sup>
                        </m:sSubSup>
                        <m:r>
                          <a:rPr lang="es-ES_tradnl" sz="1100" i="1" noProof="0" smtClean="0">
                            <a:solidFill>
                              <a:srgbClr val="3C3C3B"/>
                            </a:solidFill>
                            <a:latin typeface="Cambria Math" panose="02040503050406030204" pitchFamily="18" charset="0"/>
                          </a:rPr>
                          <m:t>=</m:t>
                        </m:r>
                        <m:func>
                          <m:funcPr>
                            <m:ctrlPr>
                              <a:rPr lang="es-ES_tradnl" sz="1100" b="0" i="1" noProof="0" smtClean="0">
                                <a:solidFill>
                                  <a:srgbClr val="3C3C3B"/>
                                </a:solidFill>
                                <a:latin typeface="Cambria Math" panose="02040503050406030204" pitchFamily="18" charset="0"/>
                              </a:rPr>
                            </m:ctrlPr>
                          </m:funcPr>
                          <m:fName>
                            <m:r>
                              <a:rPr lang="es-ES_tradnl" sz="1100" b="0" i="1" noProof="0" smtClean="0">
                                <a:solidFill>
                                  <a:srgbClr val="3C3C3B"/>
                                </a:solidFill>
                                <a:latin typeface="Cambria Math" panose="02040503050406030204" pitchFamily="18" charset="0"/>
                              </a:rPr>
                              <m:t>𝑚𝑎𝑥</m:t>
                            </m:r>
                          </m:fName>
                          <m:e>
                            <m:r>
                              <a:rPr lang="es-ES_tradnl" sz="1100" i="1" noProof="0" smtClean="0">
                                <a:solidFill>
                                  <a:srgbClr val="3C3C3B"/>
                                </a:solidFill>
                                <a:latin typeface="Cambria Math" panose="02040503050406030204" pitchFamily="18" charset="0"/>
                              </a:rPr>
                              <m:t>(</m:t>
                            </m:r>
                            <m:r>
                              <a:rPr lang="es-ES_tradnl" sz="1100" i="1" noProof="0" smtClean="0">
                                <a:solidFill>
                                  <a:srgbClr val="3C3C3B"/>
                                </a:solidFill>
                                <a:latin typeface="Cambria Math" panose="02040503050406030204" pitchFamily="18" charset="0"/>
                              </a:rPr>
                              <m:t>𝑑𝑃𝐷</m:t>
                            </m:r>
                            <m:d>
                              <m:dPr>
                                <m:ctrlPr>
                                  <a:rPr lang="es-ES_tradnl" sz="1100" i="1" noProof="0" smtClean="0">
                                    <a:solidFill>
                                      <a:srgbClr val="3C3C3B"/>
                                    </a:solidFill>
                                    <a:latin typeface="Cambria Math" panose="02040503050406030204" pitchFamily="18" charset="0"/>
                                  </a:rPr>
                                </m:ctrlPr>
                              </m:dPr>
                              <m:e>
                                <m:sSubSup>
                                  <m:sSubSupPr>
                                    <m:ctrlPr>
                                      <a:rPr lang="es-ES_tradnl" sz="1100" i="1" noProof="0" smtClean="0">
                                        <a:solidFill>
                                          <a:srgbClr val="3C3C3B"/>
                                        </a:solidFill>
                                        <a:latin typeface="Cambria Math" panose="02040503050406030204" pitchFamily="18" charset="0"/>
                                      </a:rPr>
                                    </m:ctrlPr>
                                  </m:sSubSupPr>
                                  <m:e>
                                    <m:r>
                                      <a:rPr lang="es-ES_tradnl" sz="1100" i="1" noProof="0" smtClean="0">
                                        <a:solidFill>
                                          <a:srgbClr val="3C3C3B"/>
                                        </a:solidFill>
                                        <a:latin typeface="Cambria Math" panose="02040503050406030204" pitchFamily="18" charset="0"/>
                                      </a:rPr>
                                      <m:t>𝜌</m:t>
                                    </m:r>
                                    <m:r>
                                      <a:rPr lang="es-ES_tradnl" sz="1100" i="1" noProof="0" smtClean="0">
                                        <a:solidFill>
                                          <a:srgbClr val="3C3C3B"/>
                                        </a:solidFill>
                                        <a:latin typeface="Cambria Math" panose="02040503050406030204" pitchFamily="18" charset="0"/>
                                      </a:rPr>
                                      <m:t>´</m:t>
                                    </m:r>
                                  </m:e>
                                  <m:sub/>
                                  <m:sup>
                                    <m:r>
                                      <a:rPr lang="es-ES_tradnl" sz="1100" b="0" i="1" noProof="0" smtClean="0">
                                        <a:solidFill>
                                          <a:srgbClr val="3C3C3B"/>
                                        </a:solidFill>
                                        <a:latin typeface="Cambria Math" panose="02040503050406030204" pitchFamily="18" charset="0"/>
                                      </a:rPr>
                                      <m:t>𝑘</m:t>
                                    </m:r>
                                  </m:sup>
                                </m:sSubSup>
                                <m:r>
                                  <a:rPr lang="es-ES_tradnl" sz="1100" i="1" noProof="0" smtClean="0">
                                    <a:solidFill>
                                      <a:srgbClr val="3C3C3B"/>
                                    </a:solidFill>
                                    <a:latin typeface="Cambria Math" panose="02040503050406030204" pitchFamily="18" charset="0"/>
                                    <a:ea typeface="Cambria Math" panose="02040503050406030204" pitchFamily="18" charset="0"/>
                                  </a:rPr>
                                  <m:t>,</m:t>
                                </m:r>
                                <m:sSubSup>
                                  <m:sSubSupPr>
                                    <m:ctrlPr>
                                      <a:rPr lang="es-ES_tradnl" sz="1100" i="1" noProof="0" smtClean="0">
                                        <a:solidFill>
                                          <a:srgbClr val="3C3C3B"/>
                                        </a:solidFill>
                                        <a:latin typeface="Cambria Math" panose="02040503050406030204" pitchFamily="18" charset="0"/>
                                      </a:rPr>
                                    </m:ctrlPr>
                                  </m:sSubSupPr>
                                  <m:e>
                                    <m:r>
                                      <a:rPr lang="es-ES_tradnl" sz="1100" i="1" noProof="0" smtClean="0">
                                        <a:solidFill>
                                          <a:srgbClr val="3C3C3B"/>
                                        </a:solidFill>
                                        <a:latin typeface="Cambria Math" panose="02040503050406030204" pitchFamily="18" charset="0"/>
                                      </a:rPr>
                                      <m:t>𝜎</m:t>
                                    </m:r>
                                    <m:r>
                                      <a:rPr lang="es-ES_tradnl" sz="1100" i="1" noProof="0" smtClean="0">
                                        <a:solidFill>
                                          <a:srgbClr val="3C3C3B"/>
                                        </a:solidFill>
                                        <a:latin typeface="Cambria Math" panose="02040503050406030204" pitchFamily="18" charset="0"/>
                                      </a:rPr>
                                      <m:t>´</m:t>
                                    </m:r>
                                  </m:e>
                                  <m:sub>
                                    <m:r>
                                      <a:rPr lang="es-ES_tradnl" sz="1100" i="1" noProof="0" smtClean="0">
                                        <a:solidFill>
                                          <a:srgbClr val="3C3C3B"/>
                                        </a:solidFill>
                                        <a:latin typeface="Cambria Math" panose="02040503050406030204" pitchFamily="18" charset="0"/>
                                      </a:rPr>
                                      <m:t>𝑗</m:t>
                                    </m:r>
                                  </m:sub>
                                  <m:sup>
                                    <m:r>
                                      <a:rPr lang="es-ES_tradnl" sz="1100" b="0" i="1" noProof="0" smtClean="0">
                                        <a:solidFill>
                                          <a:srgbClr val="3C3C3B"/>
                                        </a:solidFill>
                                        <a:latin typeface="Cambria Math" panose="02040503050406030204" pitchFamily="18" charset="0"/>
                                      </a:rPr>
                                      <m:t>𝑘</m:t>
                                    </m:r>
                                  </m:sup>
                                </m:sSubSup>
                              </m:e>
                            </m:d>
                            <m:r>
                              <a:rPr lang="es-ES_tradnl" sz="1100" i="1" noProof="0" smtClean="0">
                                <a:solidFill>
                                  <a:srgbClr val="3C3C3B"/>
                                </a:solidFill>
                                <a:latin typeface="Cambria Math" panose="02040503050406030204" pitchFamily="18" charset="0"/>
                                <a:ea typeface="Cambria Math" panose="02040503050406030204" pitchFamily="18" charset="0"/>
                              </a:rPr>
                              <m:t>, </m:t>
                            </m:r>
                            <m:r>
                              <a:rPr lang="es-ES_tradnl" sz="1100" i="1" noProof="0" smtClean="0">
                                <a:solidFill>
                                  <a:srgbClr val="3C3C3B"/>
                                </a:solidFill>
                                <a:latin typeface="Cambria Math" panose="02040503050406030204" pitchFamily="18" charset="0"/>
                                <a:ea typeface="Cambria Math" panose="02040503050406030204" pitchFamily="18" charset="0"/>
                              </a:rPr>
                              <m:t>𝑑𝑃𝐷</m:t>
                            </m:r>
                            <m:d>
                              <m:dPr>
                                <m:ctrlPr>
                                  <a:rPr lang="es-ES_tradnl" sz="1100" i="1" noProof="0" smtClean="0">
                                    <a:solidFill>
                                      <a:srgbClr val="3C3C3B"/>
                                    </a:solidFill>
                                    <a:latin typeface="Cambria Math" panose="02040503050406030204" pitchFamily="18" charset="0"/>
                                    <a:ea typeface="Cambria Math" panose="02040503050406030204" pitchFamily="18" charset="0"/>
                                  </a:rPr>
                                </m:ctrlPr>
                              </m:dPr>
                              <m:e>
                                <m:sSubSup>
                                  <m:sSubSupPr>
                                    <m:ctrlPr>
                                      <a:rPr lang="es-ES_tradnl" sz="1100" i="1" noProof="0" smtClean="0">
                                        <a:solidFill>
                                          <a:srgbClr val="3C3C3B"/>
                                        </a:solidFill>
                                        <a:latin typeface="Cambria Math" panose="02040503050406030204" pitchFamily="18" charset="0"/>
                                      </a:rPr>
                                    </m:ctrlPr>
                                  </m:sSubSupPr>
                                  <m:e>
                                    <m:r>
                                      <a:rPr lang="es-ES_tradnl" sz="1100" i="1" noProof="0" smtClean="0">
                                        <a:solidFill>
                                          <a:srgbClr val="3C3C3B"/>
                                        </a:solidFill>
                                        <a:latin typeface="Cambria Math" panose="02040503050406030204" pitchFamily="18" charset="0"/>
                                      </a:rPr>
                                      <m:t>𝜎</m:t>
                                    </m:r>
                                    <m:r>
                                      <a:rPr lang="es-ES_tradnl" sz="1100" i="1" noProof="0" smtClean="0">
                                        <a:solidFill>
                                          <a:srgbClr val="3C3C3B"/>
                                        </a:solidFill>
                                        <a:latin typeface="Cambria Math" panose="02040503050406030204" pitchFamily="18" charset="0"/>
                                      </a:rPr>
                                      <m:t>´</m:t>
                                    </m:r>
                                  </m:e>
                                  <m:sub>
                                    <m:r>
                                      <a:rPr lang="es-ES_tradnl" sz="1100" i="1" noProof="0" smtClean="0">
                                        <a:solidFill>
                                          <a:srgbClr val="3C3C3B"/>
                                        </a:solidFill>
                                        <a:latin typeface="Cambria Math" panose="02040503050406030204" pitchFamily="18" charset="0"/>
                                      </a:rPr>
                                      <m:t>𝑗</m:t>
                                    </m:r>
                                  </m:sub>
                                  <m:sup>
                                    <m:r>
                                      <a:rPr lang="es-ES_tradnl" sz="1100" b="0" i="1" noProof="0" smtClean="0">
                                        <a:solidFill>
                                          <a:srgbClr val="3C3C3B"/>
                                        </a:solidFill>
                                        <a:latin typeface="Cambria Math" panose="02040503050406030204" pitchFamily="18" charset="0"/>
                                      </a:rPr>
                                      <m:t>𝑘</m:t>
                                    </m:r>
                                  </m:sup>
                                </m:sSubSup>
                                <m:r>
                                  <a:rPr lang="es-ES_tradnl" sz="1100" i="1" noProof="0" smtClean="0">
                                    <a:solidFill>
                                      <a:srgbClr val="3C3C3B"/>
                                    </a:solidFill>
                                    <a:latin typeface="Cambria Math" panose="02040503050406030204" pitchFamily="18" charset="0"/>
                                    <a:ea typeface="Cambria Math" panose="02040503050406030204" pitchFamily="18" charset="0"/>
                                  </a:rPr>
                                  <m:t>,</m:t>
                                </m:r>
                                <m:sSubSup>
                                  <m:sSubSupPr>
                                    <m:ctrlPr>
                                      <a:rPr lang="es-ES_tradnl" sz="1100" i="1" noProof="0" smtClean="0">
                                        <a:solidFill>
                                          <a:srgbClr val="3C3C3B"/>
                                        </a:solidFill>
                                        <a:latin typeface="Cambria Math" panose="02040503050406030204" pitchFamily="18" charset="0"/>
                                      </a:rPr>
                                    </m:ctrlPr>
                                  </m:sSubSupPr>
                                  <m:e>
                                    <m:r>
                                      <a:rPr lang="es-ES_tradnl" sz="1100" i="1" noProof="0" smtClean="0">
                                        <a:solidFill>
                                          <a:srgbClr val="3C3C3B"/>
                                        </a:solidFill>
                                        <a:latin typeface="Cambria Math" panose="02040503050406030204" pitchFamily="18" charset="0"/>
                                      </a:rPr>
                                      <m:t>𝜌</m:t>
                                    </m:r>
                                    <m:r>
                                      <a:rPr lang="es-ES_tradnl" sz="1100" i="1" noProof="0" smtClean="0">
                                        <a:solidFill>
                                          <a:srgbClr val="3C3C3B"/>
                                        </a:solidFill>
                                        <a:latin typeface="Cambria Math" panose="02040503050406030204" pitchFamily="18" charset="0"/>
                                      </a:rPr>
                                      <m:t>´</m:t>
                                    </m:r>
                                  </m:e>
                                  <m:sub/>
                                  <m:sup>
                                    <m:r>
                                      <a:rPr lang="es-ES_tradnl" sz="1100" b="0" i="1" noProof="0" smtClean="0">
                                        <a:solidFill>
                                          <a:srgbClr val="3C3C3B"/>
                                        </a:solidFill>
                                        <a:latin typeface="Cambria Math" panose="02040503050406030204" pitchFamily="18" charset="0"/>
                                      </a:rPr>
                                      <m:t>𝑘</m:t>
                                    </m:r>
                                  </m:sup>
                                </m:sSubSup>
                              </m:e>
                            </m:d>
                            <m:r>
                              <a:rPr lang="es-ES_tradnl" sz="1100" i="1" noProof="0" smtClean="0">
                                <a:solidFill>
                                  <a:srgbClr val="3C3C3B"/>
                                </a:solidFill>
                                <a:latin typeface="Cambria Math" panose="02040503050406030204" pitchFamily="18" charset="0"/>
                                <a:ea typeface="Cambria Math" panose="02040503050406030204" pitchFamily="18" charset="0"/>
                              </a:rPr>
                              <m:t>)</m:t>
                            </m:r>
                          </m:e>
                        </m:func>
                        <m:r>
                          <a:rPr lang="es-ES_tradnl" sz="1100" b="0" i="1" noProof="0" smtClean="0">
                            <a:solidFill>
                              <a:srgbClr val="3C3C3B"/>
                            </a:solidFill>
                            <a:latin typeface="Cambria Math" panose="02040503050406030204" pitchFamily="18" charset="0"/>
                          </a:rPr>
                          <m:t>⁡</m:t>
                        </m:r>
                      </m:oMath>
                    </m:oMathPara>
                  </a14:m>
                  <a:endParaRPr lang="es-ES_tradnl" sz="1000" noProof="0" dirty="0"/>
                </a:p>
              </p:txBody>
            </p:sp>
          </mc:Choice>
          <mc:Fallback>
            <p:sp>
              <p:nvSpPr>
                <p:cNvPr id="55" name="Text 29">
                  <a:extLst>
                    <a:ext uri="{FF2B5EF4-FFF2-40B4-BE49-F238E27FC236}">
                      <a16:creationId xmlns:a16="http://schemas.microsoft.com/office/drawing/2014/main" id="{B8BEFABB-276A-CD3D-7B0E-E62AC2372B25}"/>
                    </a:ext>
                  </a:extLst>
                </p:cNvPr>
                <p:cNvSpPr txBox="1">
                  <a:spLocks noRot="1" noChangeAspect="1" noMove="1" noResize="1" noEditPoints="1" noAdjustHandles="1" noChangeArrowheads="1" noChangeShapeType="1" noTextEdit="1"/>
                </p:cNvSpPr>
                <p:nvPr/>
              </p:nvSpPr>
              <p:spPr>
                <a:xfrm>
                  <a:off x="8915400" y="3581400"/>
                  <a:ext cx="2590800" cy="660400"/>
                </a:xfrm>
                <a:prstGeom prst="rect">
                  <a:avLst/>
                </a:prstGeom>
                <a:blipFill>
                  <a:blip r:embed="rId11"/>
                  <a:stretch>
                    <a:fillRect/>
                  </a:stretch>
                </a:blipFill>
                <a:ln/>
              </p:spPr>
              <p:txBody>
                <a:bodyPr/>
                <a:lstStyle/>
                <a:p>
                  <a:r>
                    <a:rPr lang="en-CO">
                      <a:noFill/>
                    </a:rPr>
                    <a:t> </a:t>
                  </a:r>
                </a:p>
              </p:txBody>
            </p:sp>
          </mc:Fallback>
        </mc:AlternateContent>
        <p:cxnSp>
          <p:nvCxnSpPr>
            <p:cNvPr id="62" name="Elbow Connector 61">
              <a:extLst>
                <a:ext uri="{FF2B5EF4-FFF2-40B4-BE49-F238E27FC236}">
                  <a16:creationId xmlns:a16="http://schemas.microsoft.com/office/drawing/2014/main" id="{474E74B4-3041-7A07-A53C-9952525CCDFA}"/>
                </a:ext>
              </a:extLst>
            </p:cNvPr>
            <p:cNvCxnSpPr>
              <a:cxnSpLocks/>
              <a:stCxn id="25" idx="3"/>
              <a:endCxn id="33" idx="1"/>
            </p:cNvCxnSpPr>
            <p:nvPr/>
          </p:nvCxnSpPr>
          <p:spPr>
            <a:xfrm>
              <a:off x="4907979" y="3987800"/>
              <a:ext cx="2137656" cy="752501"/>
            </a:xfrm>
            <a:prstGeom prst="bentConnector3">
              <a:avLst>
                <a:gd name="adj1" fmla="val 50000"/>
              </a:avLst>
            </a:prstGeom>
            <a:ln w="15875">
              <a:solidFill>
                <a:srgbClr val="6E6E6C"/>
              </a:solidFill>
              <a:prstDash val="solid"/>
              <a:tailEnd type="triangle" w="med" len="med"/>
            </a:ln>
          </p:spPr>
          <p:style>
            <a:lnRef idx="1">
              <a:schemeClr val="accent1"/>
            </a:lnRef>
            <a:fillRef idx="0">
              <a:schemeClr val="accent1"/>
            </a:fillRef>
            <a:effectRef idx="0">
              <a:schemeClr val="accent1"/>
            </a:effectRef>
            <a:fontRef idx="minor">
              <a:schemeClr val="tx1"/>
            </a:fontRef>
          </p:style>
        </p:cxnSp>
        <p:cxnSp>
          <p:nvCxnSpPr>
            <p:cNvPr id="64" name="Elbow Connector 63">
              <a:extLst>
                <a:ext uri="{FF2B5EF4-FFF2-40B4-BE49-F238E27FC236}">
                  <a16:creationId xmlns:a16="http://schemas.microsoft.com/office/drawing/2014/main" id="{9AE54953-2FC2-F004-C5E0-62472412120E}"/>
                </a:ext>
              </a:extLst>
            </p:cNvPr>
            <p:cNvCxnSpPr>
              <a:cxnSpLocks/>
              <a:stCxn id="25" idx="3"/>
              <a:endCxn id="29" idx="1"/>
            </p:cNvCxnSpPr>
            <p:nvPr/>
          </p:nvCxnSpPr>
          <p:spPr>
            <a:xfrm flipV="1">
              <a:off x="4907979" y="3706798"/>
              <a:ext cx="2137656" cy="281002"/>
            </a:xfrm>
            <a:prstGeom prst="bentConnector3">
              <a:avLst/>
            </a:prstGeom>
            <a:ln w="15875">
              <a:solidFill>
                <a:srgbClr val="6E6E6C"/>
              </a:solidFill>
              <a:prstDash val="solid"/>
              <a:tailEnd type="triangle" w="med" len="med"/>
            </a:ln>
          </p:spPr>
          <p:style>
            <a:lnRef idx="1">
              <a:schemeClr val="accent1"/>
            </a:lnRef>
            <a:fillRef idx="0">
              <a:schemeClr val="accent1"/>
            </a:fillRef>
            <a:effectRef idx="0">
              <a:schemeClr val="accent1"/>
            </a:effectRef>
            <a:fontRef idx="minor">
              <a:schemeClr val="tx1"/>
            </a:fontRef>
          </p:style>
        </p:cxnSp>
        <p:cxnSp>
          <p:nvCxnSpPr>
            <p:cNvPr id="68" name="Straight Arrow Connector 67">
              <a:extLst>
                <a:ext uri="{FF2B5EF4-FFF2-40B4-BE49-F238E27FC236}">
                  <a16:creationId xmlns:a16="http://schemas.microsoft.com/office/drawing/2014/main" id="{5A156F8D-D86A-E9E3-F038-18C5B42FE948}"/>
                </a:ext>
              </a:extLst>
            </p:cNvPr>
            <p:cNvCxnSpPr>
              <a:cxnSpLocks/>
              <a:stCxn id="8" idx="3"/>
              <a:endCxn id="12" idx="1"/>
            </p:cNvCxnSpPr>
            <p:nvPr/>
          </p:nvCxnSpPr>
          <p:spPr>
            <a:xfrm>
              <a:off x="2921000" y="2322944"/>
              <a:ext cx="266700" cy="2772"/>
            </a:xfrm>
            <a:prstGeom prst="straightConnector1">
              <a:avLst/>
            </a:prstGeom>
            <a:ln w="15875">
              <a:solidFill>
                <a:srgbClr val="6E6E6C"/>
              </a:solidFill>
              <a:prstDash val="solid"/>
              <a:tailEnd type="triangle" w="med" len="med"/>
            </a:ln>
          </p:spPr>
          <p:style>
            <a:lnRef idx="1">
              <a:schemeClr val="accent1"/>
            </a:lnRef>
            <a:fillRef idx="0">
              <a:schemeClr val="accent1"/>
            </a:fillRef>
            <a:effectRef idx="0">
              <a:schemeClr val="accent1"/>
            </a:effectRef>
            <a:fontRef idx="minor">
              <a:schemeClr val="tx1"/>
            </a:fontRef>
          </p:style>
        </p:cxnSp>
        <p:cxnSp>
          <p:nvCxnSpPr>
            <p:cNvPr id="70" name="Straight Arrow Connector 69">
              <a:extLst>
                <a:ext uri="{FF2B5EF4-FFF2-40B4-BE49-F238E27FC236}">
                  <a16:creationId xmlns:a16="http://schemas.microsoft.com/office/drawing/2014/main" id="{CDC38D82-A734-F99E-32EE-47D3B56DF309}"/>
                </a:ext>
              </a:extLst>
            </p:cNvPr>
            <p:cNvCxnSpPr>
              <a:cxnSpLocks/>
              <a:stCxn id="12" idx="3"/>
              <a:endCxn id="16" idx="1"/>
            </p:cNvCxnSpPr>
            <p:nvPr/>
          </p:nvCxnSpPr>
          <p:spPr>
            <a:xfrm flipV="1">
              <a:off x="5419718" y="2313139"/>
              <a:ext cx="1625917" cy="12577"/>
            </a:xfrm>
            <a:prstGeom prst="straightConnector1">
              <a:avLst/>
            </a:prstGeom>
            <a:ln w="15875">
              <a:solidFill>
                <a:srgbClr val="6E6E6C"/>
              </a:solidFill>
              <a:prstDash val="solid"/>
              <a:tailEnd type="triangle" w="med" len="med"/>
            </a:ln>
          </p:spPr>
          <p:style>
            <a:lnRef idx="1">
              <a:schemeClr val="accent1"/>
            </a:lnRef>
            <a:fillRef idx="0">
              <a:schemeClr val="accent1"/>
            </a:fillRef>
            <a:effectRef idx="0">
              <a:schemeClr val="accent1"/>
            </a:effectRef>
            <a:fontRef idx="minor">
              <a:schemeClr val="tx1"/>
            </a:fontRef>
          </p:style>
        </p:cxnSp>
        <p:cxnSp>
          <p:nvCxnSpPr>
            <p:cNvPr id="111" name="Elbow Connector 110">
              <a:extLst>
                <a:ext uri="{FF2B5EF4-FFF2-40B4-BE49-F238E27FC236}">
                  <a16:creationId xmlns:a16="http://schemas.microsoft.com/office/drawing/2014/main" id="{52A5C882-85E9-BE23-A192-25C9ED05CA55}"/>
                </a:ext>
              </a:extLst>
            </p:cNvPr>
            <p:cNvCxnSpPr>
              <a:stCxn id="16" idx="3"/>
              <a:endCxn id="53" idx="0"/>
            </p:cNvCxnSpPr>
            <p:nvPr/>
          </p:nvCxnSpPr>
          <p:spPr>
            <a:xfrm>
              <a:off x="8763000" y="2313139"/>
              <a:ext cx="1502731" cy="863600"/>
            </a:xfrm>
            <a:prstGeom prst="bentConnector2">
              <a:avLst/>
            </a:prstGeom>
            <a:ln w="15875">
              <a:solidFill>
                <a:srgbClr val="6E6E6C"/>
              </a:solidFill>
              <a:prstDash val="solid"/>
              <a:tailEnd type="triangle" w="med" len="med"/>
            </a:ln>
          </p:spPr>
          <p:style>
            <a:lnRef idx="1">
              <a:schemeClr val="accent1"/>
            </a:lnRef>
            <a:fillRef idx="0">
              <a:schemeClr val="accent1"/>
            </a:fillRef>
            <a:effectRef idx="0">
              <a:schemeClr val="accent1"/>
            </a:effectRef>
            <a:fontRef idx="minor">
              <a:schemeClr val="tx1"/>
            </a:fontRef>
          </p:style>
        </p:cxnSp>
        <p:cxnSp>
          <p:nvCxnSpPr>
            <p:cNvPr id="113" name="Straight Arrow Connector 112">
              <a:extLst>
                <a:ext uri="{FF2B5EF4-FFF2-40B4-BE49-F238E27FC236}">
                  <a16:creationId xmlns:a16="http://schemas.microsoft.com/office/drawing/2014/main" id="{212AF634-5DC7-1306-3538-8DA949C065EE}"/>
                </a:ext>
              </a:extLst>
            </p:cNvPr>
            <p:cNvCxnSpPr>
              <a:stCxn id="29" idx="3"/>
              <a:endCxn id="53" idx="1"/>
            </p:cNvCxnSpPr>
            <p:nvPr/>
          </p:nvCxnSpPr>
          <p:spPr>
            <a:xfrm>
              <a:off x="8750300" y="3706798"/>
              <a:ext cx="114300" cy="16188"/>
            </a:xfrm>
            <a:prstGeom prst="straightConnector1">
              <a:avLst/>
            </a:prstGeom>
            <a:ln w="15875">
              <a:solidFill>
                <a:srgbClr val="6E6E6C"/>
              </a:solidFill>
              <a:prstDash val="solid"/>
              <a:tailEnd type="triangle" w="med" len="med"/>
            </a:ln>
          </p:spPr>
          <p:style>
            <a:lnRef idx="1">
              <a:schemeClr val="accent1"/>
            </a:lnRef>
            <a:fillRef idx="0">
              <a:schemeClr val="accent1"/>
            </a:fillRef>
            <a:effectRef idx="0">
              <a:schemeClr val="accent1"/>
            </a:effectRef>
            <a:fontRef idx="minor">
              <a:schemeClr val="tx1"/>
            </a:fontRef>
          </p:style>
        </p:cxnSp>
        <p:cxnSp>
          <p:nvCxnSpPr>
            <p:cNvPr id="118" name="Straight Arrow Connector 117">
              <a:extLst>
                <a:ext uri="{FF2B5EF4-FFF2-40B4-BE49-F238E27FC236}">
                  <a16:creationId xmlns:a16="http://schemas.microsoft.com/office/drawing/2014/main" id="{8E9E12AC-E167-0031-53FE-65ED4EA0DD83}"/>
                </a:ext>
              </a:extLst>
            </p:cNvPr>
            <p:cNvCxnSpPr>
              <a:cxnSpLocks/>
              <a:endCxn id="27" idx="1"/>
            </p:cNvCxnSpPr>
            <p:nvPr/>
          </p:nvCxnSpPr>
          <p:spPr>
            <a:xfrm>
              <a:off x="2960863" y="4041138"/>
              <a:ext cx="251494" cy="7186"/>
            </a:xfrm>
            <a:prstGeom prst="straightConnector1">
              <a:avLst/>
            </a:prstGeom>
            <a:ln w="15875">
              <a:solidFill>
                <a:srgbClr val="6E6E6C"/>
              </a:solidFill>
              <a:prstDash val="solid"/>
              <a:tailEnd type="triangle" w="med" len="med"/>
            </a:ln>
          </p:spPr>
          <p:style>
            <a:lnRef idx="1">
              <a:schemeClr val="accent1"/>
            </a:lnRef>
            <a:fillRef idx="0">
              <a:schemeClr val="accent1"/>
            </a:fillRef>
            <a:effectRef idx="0">
              <a:schemeClr val="accent1"/>
            </a:effectRef>
            <a:fontRef idx="minor">
              <a:schemeClr val="tx1"/>
            </a:fontRef>
          </p:style>
        </p:cxnSp>
        <p:cxnSp>
          <p:nvCxnSpPr>
            <p:cNvPr id="124" name="Elbow Connector 123">
              <a:extLst>
                <a:ext uri="{FF2B5EF4-FFF2-40B4-BE49-F238E27FC236}">
                  <a16:creationId xmlns:a16="http://schemas.microsoft.com/office/drawing/2014/main" id="{689E9EF5-F101-E9BA-C866-E6722EB9EC7E}"/>
                </a:ext>
              </a:extLst>
            </p:cNvPr>
            <p:cNvCxnSpPr>
              <a:cxnSpLocks/>
              <a:endCxn id="33" idx="1"/>
            </p:cNvCxnSpPr>
            <p:nvPr/>
          </p:nvCxnSpPr>
          <p:spPr>
            <a:xfrm rot="16200000" flipH="1">
              <a:off x="5153264" y="2847930"/>
              <a:ext cx="2427162" cy="1357580"/>
            </a:xfrm>
            <a:prstGeom prst="bentConnector2">
              <a:avLst/>
            </a:prstGeom>
            <a:ln w="15875">
              <a:solidFill>
                <a:srgbClr val="6E6E6C"/>
              </a:solidFill>
              <a:prstDash val="solid"/>
              <a:tailEnd type="triangle" w="med" len="med"/>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23" name="Text 21">
                  <a:extLst>
                    <a:ext uri="{FF2B5EF4-FFF2-40B4-BE49-F238E27FC236}">
                      <a16:creationId xmlns:a16="http://schemas.microsoft.com/office/drawing/2014/main" id="{C42F3C87-0A06-6737-D241-1EDA00B41CBF}"/>
                    </a:ext>
                  </a:extLst>
                </p:cNvPr>
                <p:cNvSpPr txBox="1"/>
                <p:nvPr/>
              </p:nvSpPr>
              <p:spPr>
                <a:xfrm>
                  <a:off x="939800" y="3951605"/>
                  <a:ext cx="1930400" cy="355600"/>
                </a:xfrm>
                <a:prstGeom prst="rect">
                  <a:avLst/>
                </a:prstGeom>
                <a:noFill/>
                <a:ln/>
              </p:spPr>
              <p:txBody>
                <a:bodyPr wrap="square" lIns="0" tIns="0" rIns="0" bIns="0" rtlCol="0" anchor="t"/>
                <a:lstStyle/>
                <a:p>
                  <a:pPr algn="ctr"/>
                  <a14:m>
                    <m:oMath xmlns:m="http://schemas.openxmlformats.org/officeDocument/2006/math">
                      <m:sSub>
                        <m:sSubPr>
                          <m:ctrlPr>
                            <a:rPr lang="es-ES_tradnl" sz="1300" i="1" noProof="0" smtClean="0">
                              <a:solidFill>
                                <a:srgbClr val="3C3C3B"/>
                              </a:solidFill>
                              <a:latin typeface="Cambria Math" panose="02040503050406030204" pitchFamily="18" charset="0"/>
                              <a:cs typeface="Roboto" pitchFamily="34" charset="-120"/>
                            </a:rPr>
                          </m:ctrlPr>
                        </m:sSubPr>
                        <m:e>
                          <m:r>
                            <a:rPr lang="es-ES_tradnl" sz="1300" i="1" noProof="0" smtClean="0">
                              <a:solidFill>
                                <a:srgbClr val="3C3C3B"/>
                              </a:solidFill>
                              <a:latin typeface="Cambria Math" panose="02040503050406030204" pitchFamily="18" charset="0"/>
                              <a:ea typeface="Cambria Math" panose="02040503050406030204" pitchFamily="18" charset="0"/>
                              <a:cs typeface="Roboto" pitchFamily="34" charset="-120"/>
                            </a:rPr>
                            <m:t>𝜎</m:t>
                          </m:r>
                        </m:e>
                        <m:sub>
                          <m:r>
                            <a:rPr lang="es-ES_tradnl" sz="1300" b="0" i="1" noProof="0" smtClean="0">
                              <a:solidFill>
                                <a:srgbClr val="3C3C3B"/>
                              </a:solidFill>
                              <a:latin typeface="Cambria Math" panose="02040503050406030204" pitchFamily="18" charset="0"/>
                              <a:ea typeface="Cambria Math" panose="02040503050406030204" pitchFamily="18" charset="0"/>
                              <a:cs typeface="Roboto" pitchFamily="34" charset="-120"/>
                            </a:rPr>
                            <m:t>𝑗</m:t>
                          </m:r>
                        </m:sub>
                      </m:sSub>
                    </m:oMath>
                  </a14:m>
                  <a:r>
                    <a:rPr lang="es-ES_tradnl" sz="1300" noProof="0" dirty="0">
                      <a:solidFill>
                        <a:srgbClr val="3C3C3B"/>
                      </a:solidFill>
                      <a:latin typeface="Roboto" pitchFamily="34" charset="0"/>
                      <a:ea typeface="Roboto" pitchFamily="34" charset="-122"/>
                      <a:cs typeface="Roboto" pitchFamily="34" charset="-120"/>
                    </a:rPr>
                    <a:t>: </a:t>
                  </a:r>
                  <a:r>
                    <a:rPr lang="es-ES_tradnl" sz="1300" noProof="0" dirty="0">
                      <a:solidFill>
                        <a:srgbClr val="3C3C3B"/>
                      </a:solidFill>
                      <a:ea typeface="Cambria Math" panose="02040503050406030204" pitchFamily="18" charset="0"/>
                      <a:cs typeface="Roboto" pitchFamily="34" charset="-120"/>
                    </a:rPr>
                    <a:t>{</a:t>
                  </a:r>
                  <a14:m>
                    <m:oMath xmlns:m="http://schemas.openxmlformats.org/officeDocument/2006/math">
                      <m:sSubSup>
                        <m:sSubSupPr>
                          <m:ctrlPr>
                            <a:rPr lang="es-ES_tradnl" sz="1300" i="1" noProof="0" smtClean="0">
                              <a:solidFill>
                                <a:srgbClr val="3C3C3B"/>
                              </a:solidFill>
                              <a:latin typeface="Cambria Math" panose="02040503050406030204" pitchFamily="18" charset="0"/>
                              <a:ea typeface="Cambria Math" panose="02040503050406030204" pitchFamily="18" charset="0"/>
                              <a:cs typeface="Roboto" pitchFamily="34" charset="-120"/>
                            </a:rPr>
                          </m:ctrlPr>
                        </m:sSubSupPr>
                        <m:e>
                          <m:r>
                            <a:rPr lang="es-ES_tradnl" sz="1300" i="1" noProof="0" smtClean="0">
                              <a:solidFill>
                                <a:srgbClr val="3C3C3B"/>
                              </a:solidFill>
                              <a:latin typeface="Cambria Math" panose="02040503050406030204" pitchFamily="18" charset="0"/>
                              <a:ea typeface="Cambria Math" panose="02040503050406030204" pitchFamily="18" charset="0"/>
                              <a:cs typeface="Roboto" pitchFamily="34" charset="-120"/>
                            </a:rPr>
                            <m:t>𝜌</m:t>
                          </m:r>
                        </m:e>
                        <m:sub>
                          <m:r>
                            <a:rPr lang="es-ES_tradnl" sz="1300" i="1" noProof="0" smtClean="0">
                              <a:solidFill>
                                <a:srgbClr val="3C3C3B"/>
                              </a:solidFill>
                              <a:latin typeface="Cambria Math" panose="02040503050406030204" pitchFamily="18" charset="0"/>
                              <a:cs typeface="Roboto" pitchFamily="34" charset="-120"/>
                            </a:rPr>
                            <m:t>𝑖</m:t>
                          </m:r>
                        </m:sub>
                        <m:sup>
                          <m:r>
                            <a:rPr lang="es-ES_tradnl" sz="1300" i="1" noProof="0" smtClean="0">
                              <a:solidFill>
                                <a:srgbClr val="3C3C3B"/>
                              </a:solidFill>
                              <a:latin typeface="Cambria Math" panose="02040503050406030204" pitchFamily="18" charset="0"/>
                              <a:ea typeface="Cambria Math" panose="02040503050406030204" pitchFamily="18" charset="0"/>
                              <a:cs typeface="Roboto" pitchFamily="34" charset="-120"/>
                            </a:rPr>
                            <m:t>𝑘</m:t>
                          </m:r>
                        </m:sup>
                      </m:sSubSup>
                      <m:r>
                        <a:rPr lang="es-ES_tradnl" sz="1300" i="1" noProof="0" smtClean="0">
                          <a:solidFill>
                            <a:srgbClr val="3C3C3B"/>
                          </a:solidFill>
                          <a:latin typeface="Cambria Math" panose="02040503050406030204" pitchFamily="18" charset="0"/>
                          <a:ea typeface="Cambria Math" panose="02040503050406030204" pitchFamily="18" charset="0"/>
                          <a:cs typeface="Roboto" pitchFamily="34" charset="-120"/>
                        </a:rPr>
                        <m:t>}</m:t>
                      </m:r>
                      <m:r>
                        <a:rPr lang="es-ES_tradnl" sz="1300" b="0" i="1" noProof="0" smtClean="0">
                          <a:solidFill>
                            <a:srgbClr val="3C3C3B"/>
                          </a:solidFill>
                          <a:latin typeface="Cambria Math" panose="02040503050406030204" pitchFamily="18" charset="0"/>
                          <a:ea typeface="Cambria Math" panose="02040503050406030204" pitchFamily="18" charset="0"/>
                          <a:cs typeface="Roboto" pitchFamily="34" charset="-120"/>
                        </a:rPr>
                        <m:t>\</m:t>
                      </m:r>
                      <m:sSubSup>
                        <m:sSubSupPr>
                          <m:ctrlPr>
                            <a:rPr lang="es-ES_tradnl" sz="1300" b="0" i="1" noProof="0" smtClean="0">
                              <a:solidFill>
                                <a:srgbClr val="3C3C3B"/>
                              </a:solidFill>
                              <a:latin typeface="Cambria Math" panose="02040503050406030204" pitchFamily="18" charset="0"/>
                              <a:ea typeface="Cambria Math" panose="02040503050406030204" pitchFamily="18" charset="0"/>
                              <a:cs typeface="Roboto" pitchFamily="34" charset="-120"/>
                            </a:rPr>
                          </m:ctrlPr>
                        </m:sSubSupPr>
                        <m:e>
                          <m:r>
                            <a:rPr lang="es-ES_tradnl" sz="1300" b="0" i="1" noProof="0" smtClean="0">
                              <a:solidFill>
                                <a:srgbClr val="3C3C3B"/>
                              </a:solidFill>
                              <a:latin typeface="Cambria Math" panose="02040503050406030204" pitchFamily="18" charset="0"/>
                              <a:ea typeface="Cambria Math" panose="02040503050406030204" pitchFamily="18" charset="0"/>
                              <a:cs typeface="Roboto" pitchFamily="34" charset="-120"/>
                            </a:rPr>
                            <m:t>𝜌</m:t>
                          </m:r>
                        </m:e>
                        <m:sub>
                          <m:r>
                            <a:rPr lang="es-ES_tradnl" sz="1300" b="0" i="1" noProof="0" smtClean="0">
                              <a:solidFill>
                                <a:srgbClr val="3C3C3B"/>
                              </a:solidFill>
                              <a:latin typeface="Cambria Math" panose="02040503050406030204" pitchFamily="18" charset="0"/>
                              <a:ea typeface="Cambria Math" panose="02040503050406030204" pitchFamily="18" charset="0"/>
                              <a:cs typeface="Roboto" pitchFamily="34" charset="-120"/>
                            </a:rPr>
                            <m:t>𝑗</m:t>
                          </m:r>
                        </m:sub>
                        <m:sup>
                          <m:r>
                            <a:rPr lang="es-ES_tradnl" sz="1300" b="0" i="1" noProof="0" smtClean="0">
                              <a:solidFill>
                                <a:srgbClr val="3C3C3B"/>
                              </a:solidFill>
                              <a:latin typeface="Cambria Math" panose="02040503050406030204" pitchFamily="18" charset="0"/>
                              <a:ea typeface="Cambria Math" panose="02040503050406030204" pitchFamily="18" charset="0"/>
                              <a:cs typeface="Roboto" pitchFamily="34" charset="-120"/>
                            </a:rPr>
                            <m:t>𝑘</m:t>
                          </m:r>
                        </m:sup>
                      </m:sSubSup>
                    </m:oMath>
                  </a14:m>
                  <a:endParaRPr lang="es-ES_tradnl" sz="1300" noProof="0" dirty="0"/>
                </a:p>
              </p:txBody>
            </p:sp>
          </mc:Choice>
          <mc:Fallback>
            <p:sp>
              <p:nvSpPr>
                <p:cNvPr id="23" name="Text 21">
                  <a:extLst>
                    <a:ext uri="{FF2B5EF4-FFF2-40B4-BE49-F238E27FC236}">
                      <a16:creationId xmlns:a16="http://schemas.microsoft.com/office/drawing/2014/main" id="{C42F3C87-0A06-6737-D241-1EDA00B41CBF}"/>
                    </a:ext>
                  </a:extLst>
                </p:cNvPr>
                <p:cNvSpPr txBox="1">
                  <a:spLocks noRot="1" noChangeAspect="1" noMove="1" noResize="1" noEditPoints="1" noAdjustHandles="1" noChangeArrowheads="1" noChangeShapeType="1" noTextEdit="1"/>
                </p:cNvSpPr>
                <p:nvPr/>
              </p:nvSpPr>
              <p:spPr>
                <a:xfrm>
                  <a:off x="939800" y="3951605"/>
                  <a:ext cx="1930400" cy="355600"/>
                </a:xfrm>
                <a:prstGeom prst="rect">
                  <a:avLst/>
                </a:prstGeom>
                <a:blipFill>
                  <a:blip r:embed="rId12"/>
                  <a:stretch>
                    <a:fillRect t="-11538"/>
                  </a:stretch>
                </a:blipFill>
                <a:ln/>
              </p:spPr>
              <p:txBody>
                <a:bodyPr/>
                <a:lstStyle/>
                <a:p>
                  <a:r>
                    <a:rPr lang="en-CO">
                      <a:noFill/>
                    </a:rPr>
                    <a:t> </a:t>
                  </a:r>
                </a:p>
              </p:txBody>
            </p:sp>
          </mc:Fallback>
        </mc:AlternateContent>
        <p:sp>
          <p:nvSpPr>
            <p:cNvPr id="22" name="Text 20">
              <a:extLst>
                <a:ext uri="{FF2B5EF4-FFF2-40B4-BE49-F238E27FC236}">
                  <a16:creationId xmlns:a16="http://schemas.microsoft.com/office/drawing/2014/main" id="{35FA9E42-60BF-BECC-128A-259206A3A342}"/>
                </a:ext>
              </a:extLst>
            </p:cNvPr>
            <p:cNvSpPr txBox="1"/>
            <p:nvPr/>
          </p:nvSpPr>
          <p:spPr>
            <a:xfrm>
              <a:off x="939800" y="3681704"/>
              <a:ext cx="1930400" cy="304800"/>
            </a:xfrm>
            <a:prstGeom prst="rect">
              <a:avLst/>
            </a:prstGeom>
            <a:noFill/>
            <a:ln/>
          </p:spPr>
          <p:txBody>
            <a:bodyPr wrap="square" lIns="0" tIns="0" rIns="0" bIns="0" rtlCol="0" anchor="t"/>
            <a:lstStyle/>
            <a:p>
              <a:pPr marL="0" indent="0" algn="ctr">
                <a:buNone/>
              </a:pPr>
              <a:r>
                <a:rPr lang="es-ES_tradnl" sz="1200" b="1" noProof="0" dirty="0">
                  <a:solidFill>
                    <a:srgbClr val="293470"/>
                  </a:solidFill>
                  <a:latin typeface="DM Sans" pitchFamily="34" charset="0"/>
                  <a:ea typeface="DM Sans" pitchFamily="34" charset="-122"/>
                  <a:cs typeface="DM Sans" pitchFamily="34" charset="-120"/>
                </a:rPr>
                <a:t>Codificar</a:t>
              </a:r>
              <a:endParaRPr lang="es-ES_tradnl" sz="1200" noProof="0" dirty="0"/>
            </a:p>
          </p:txBody>
        </p:sp>
      </p:grpSp>
      <p:sp>
        <p:nvSpPr>
          <p:cNvPr id="301" name="Barra superior"/>
          <p:cNvSpPr/>
          <p:nvPr/>
        </p:nvSpPr>
        <p:spPr>
          <a:xfrm>
            <a:off x="0" y="0"/>
            <a:ext cx="12192000" cy="76200"/>
          </a:xfrm>
          <a:prstGeom prst="rect">
            <a:avLst/>
          </a:prstGeom>
          <a:solidFill>
            <a:srgbClr val="FFEE00"/>
          </a:solidFill>
          <a:ln/>
        </p:spPr>
        <p:txBody>
          <a:bodyPr/>
          <a:lstStyle/>
          <a:p>
            <a:endParaRPr lang="es-ES_tradnl" noProof="0" dirty="0"/>
          </a:p>
        </p:txBody>
      </p:sp>
      <p:sp>
        <p:nvSpPr>
          <p:cNvPr id="302" name="Etiqueta acto"/>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303" name="Texto acto"/>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dirty="0">
                <a:solidFill>
                  <a:srgbClr val="1D1D1B"/>
                </a:solidFill>
                <a:latin typeface="DM Sans" pitchFamily="34" charset="0"/>
                <a:ea typeface="DM Sans" pitchFamily="34" charset="-122"/>
                <a:cs typeface="DM Sans" pitchFamily="34" charset="-120"/>
              </a:rPr>
              <a:t>I</a:t>
            </a:r>
          </a:p>
        </p:txBody>
      </p:sp>
      <p:sp>
        <p:nvSpPr>
          <p:cNvPr id="304" name="Texto seccion"/>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dirty="0">
                <a:solidFill>
                  <a:srgbClr val="6E6E6C"/>
                </a:solidFill>
                <a:latin typeface="Roboto" pitchFamily="34" charset="0"/>
                <a:ea typeface="Roboto" pitchFamily="34" charset="-122"/>
                <a:cs typeface="Roboto" pitchFamily="34" charset="-120"/>
              </a:rPr>
              <a:t>DÓNDE ESTÁBAMOS</a:t>
            </a:r>
          </a:p>
        </p:txBody>
      </p:sp>
      <p:sp>
        <p:nvSpPr>
          <p:cNvPr id="305" name="Subtitulo"/>
          <p:cNvSpPr/>
          <p:nvPr/>
        </p:nvSpPr>
        <p:spPr>
          <a:xfrm>
            <a:off x="812800" y="1305520"/>
            <a:ext cx="10883392" cy="322560"/>
          </a:xfrm>
          <a:prstGeom prst="rect">
            <a:avLst/>
          </a:prstGeom>
          <a:noFill/>
          <a:ln/>
        </p:spPr>
        <p:txBody>
          <a:bodyPr wrap="square" lIns="0" tIns="0" rIns="0" bIns="0" rtlCol="0" anchor="t">
            <a:normAutofit/>
          </a:bodyPr>
          <a:lstStyle/>
          <a:p>
            <a:pPr marL="0" indent="0" algn="l">
              <a:lnSpc>
                <a:spcPts val="2340"/>
              </a:lnSpc>
              <a:buNone/>
            </a:pPr>
            <a:r>
              <a:rPr lang="es-ES_tradnl" sz="1800" noProof="0" dirty="0">
                <a:solidFill>
                  <a:srgbClr val="3C3C3B"/>
                </a:solidFill>
                <a:latin typeface="Roboto" pitchFamily="34" charset="0"/>
                <a:ea typeface="Roboto" pitchFamily="34" charset="-122"/>
                <a:cs typeface="Roboto" pitchFamily="34" charset="-120"/>
              </a:rPr>
              <a:t>Cómo se obtienen el </a:t>
            </a:r>
            <a:r>
              <a:rPr lang="es-ES_tradnl" sz="1800" noProof="0" dirty="0" err="1">
                <a:solidFill>
                  <a:srgbClr val="3C3C3B"/>
                </a:solidFill>
                <a:latin typeface="Roboto" pitchFamily="34" charset="0"/>
                <a:ea typeface="Roboto" pitchFamily="34" charset="-122"/>
                <a:cs typeface="Roboto" pitchFamily="34" charset="-120"/>
              </a:rPr>
              <a:t>ε</a:t>
            </a:r>
            <a:r>
              <a:rPr lang="es-ES_tradnl" sz="1800" noProof="0" dirty="0">
                <a:solidFill>
                  <a:srgbClr val="3C3C3B"/>
                </a:solidFill>
                <a:latin typeface="Roboto" pitchFamily="34" charset="0"/>
                <a:ea typeface="Roboto" pitchFamily="34" charset="-122"/>
                <a:cs typeface="Roboto" pitchFamily="34" charset="-120"/>
              </a:rPr>
              <a:t> teórico y el </a:t>
            </a:r>
            <a:r>
              <a:rPr lang="es-ES_tradnl" sz="1800" noProof="0" dirty="0" err="1">
                <a:solidFill>
                  <a:srgbClr val="3C3C3B"/>
                </a:solidFill>
                <a:latin typeface="Roboto" pitchFamily="34" charset="0"/>
                <a:ea typeface="Roboto" pitchFamily="34" charset="-122"/>
                <a:cs typeface="Roboto" pitchFamily="34" charset="-120"/>
              </a:rPr>
              <a:t>ε</a:t>
            </a:r>
            <a:r>
              <a:rPr lang="es-ES_tradnl" sz="1800" noProof="0" dirty="0">
                <a:solidFill>
                  <a:srgbClr val="3C3C3B"/>
                </a:solidFill>
                <a:latin typeface="Roboto" pitchFamily="34" charset="0"/>
                <a:ea typeface="Roboto" pitchFamily="34" charset="-122"/>
                <a:cs typeface="Roboto" pitchFamily="34" charset="-120"/>
              </a:rPr>
              <a:t> experimental de cada columna con GAD.</a:t>
            </a:r>
          </a:p>
        </p:txBody>
      </p:sp>
      <p:sp>
        <p:nvSpPr>
          <p:cNvPr id="306" name="Numero pagina"/>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dirty="0">
                <a:solidFill>
                  <a:srgbClr val="1D1D1B"/>
                </a:solidFill>
                <a:latin typeface="Roboto" pitchFamily="34" charset="0"/>
                <a:ea typeface="Roboto" pitchFamily="34" charset="-122"/>
                <a:cs typeface="Roboto" pitchFamily="34" charset="-120"/>
              </a:rPr>
              <a:t>04</a:t>
            </a:r>
          </a:p>
        </p:txBody>
      </p:sp>
      <p:pic>
        <p:nvPicPr>
          <p:cNvPr id="307" name="Copied Picture 307" descr="Universidad de los Andes"/>
          <p:cNvPicPr>
            <a:picLocks noChangeAspect="1"/>
          </p:cNvPicPr>
          <p:nvPr/>
        </p:nvPicPr>
        <p:blipFill>
          <a:blip r:embed="rId13"/>
          <a:srcRect t="-117" b="-117"/>
          <a:stretch/>
        </p:blipFill>
        <p:spPr>
          <a:xfrm>
            <a:off x="10121900" y="254000"/>
            <a:ext cx="1257300" cy="381000"/>
          </a:xfrm>
          <a:prstGeom prst="rect">
            <a:avLst/>
          </a:prstGeom>
        </p:spPr>
      </p:pic>
    </p:spTree>
    <p:extLst>
      <p:ext uri="{BB962C8B-B14F-4D97-AF65-F5344CB8AC3E}">
        <p14:creationId xmlns:p14="http://schemas.microsoft.com/office/powerpoint/2010/main" val="42588836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s-ES_tradnl" noProof="0" dirty="0"/>
          </a:p>
        </p:txBody>
      </p:sp>
      <p:sp>
        <p:nvSpPr>
          <p:cNvPr id="3" name="Shape 1"/>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dirty="0">
                <a:solidFill>
                  <a:srgbClr val="1D1D1B"/>
                </a:solidFill>
                <a:latin typeface="DM Sans" pitchFamily="34" charset="0"/>
                <a:ea typeface="DM Sans" pitchFamily="34" charset="-122"/>
                <a:cs typeface="DM Sans" pitchFamily="34" charset="-120"/>
              </a:rPr>
              <a:t>I</a:t>
            </a:r>
            <a:endParaRPr lang="es-ES_tradnl" sz="1200" noProof="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dirty="0">
                <a:solidFill>
                  <a:srgbClr val="6E6E6C"/>
                </a:solidFill>
                <a:latin typeface="Roboto" pitchFamily="34" charset="0"/>
                <a:ea typeface="Roboto" pitchFamily="34" charset="-122"/>
                <a:cs typeface="Roboto" pitchFamily="34" charset="-120"/>
              </a:rPr>
              <a:t>DÓNDE ESTÁBAMOS</a:t>
            </a:r>
            <a:endParaRPr lang="es-ES_tradnl" sz="1200" noProof="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s-ES_tradnl" sz="2800" b="1" i="0" kern="0" spc="-50" noProof="0" dirty="0">
                <a:solidFill>
                  <a:srgbClr val="1D1D1B"/>
                </a:solidFill>
                <a:latin typeface="DM Sans" pitchFamily="34" charset="0"/>
                <a:ea typeface="DM Sans" pitchFamily="34" charset="-122"/>
                <a:cs typeface="DM Sans" pitchFamily="34" charset="-120"/>
              </a:rPr>
              <a:t>La cota experimental en tres mecanismos</a:t>
            </a:r>
            <a:endParaRPr lang="es-ES_tradnl" sz="2800" noProof="0" dirty="0"/>
          </a:p>
        </p:txBody>
      </p:sp>
      <p:sp>
        <p:nvSpPr>
          <p:cNvPr id="8" name="Text 5"/>
          <p:cNvSpPr/>
          <p:nvPr/>
        </p:nvSpPr>
        <p:spPr>
          <a:xfrm>
            <a:off x="812800" y="1305520"/>
            <a:ext cx="10883392" cy="322560"/>
          </a:xfrm>
          <a:prstGeom prst="rect">
            <a:avLst/>
          </a:prstGeom>
          <a:noFill/>
          <a:ln/>
        </p:spPr>
        <p:txBody>
          <a:bodyPr wrap="square" lIns="0" tIns="0" rIns="0" bIns="0" rtlCol="0" anchor="t">
            <a:normAutofit/>
          </a:bodyPr>
          <a:lstStyle/>
          <a:p>
            <a:pPr marL="0" indent="0" algn="l">
              <a:lnSpc>
                <a:spcPts val="2340"/>
              </a:lnSpc>
              <a:buNone/>
            </a:pPr>
            <a:r>
              <a:rPr lang="es-ES_tradnl" sz="1800" noProof="0" dirty="0">
                <a:solidFill>
                  <a:srgbClr val="3C3C3B"/>
                </a:solidFill>
                <a:latin typeface="Roboto" pitchFamily="34" charset="0"/>
                <a:ea typeface="Roboto" pitchFamily="34" charset="-122"/>
                <a:cs typeface="Roboto" pitchFamily="34" charset="-120"/>
              </a:rPr>
              <a:t>En los tres mecanismos, el </a:t>
            </a:r>
            <a:r>
              <a:rPr lang="es-ES_tradnl" sz="1800" noProof="0" dirty="0" err="1">
                <a:solidFill>
                  <a:srgbClr val="3C3C3B"/>
                </a:solidFill>
                <a:latin typeface="Roboto" pitchFamily="34" charset="0"/>
                <a:ea typeface="Roboto" pitchFamily="34" charset="-122"/>
                <a:cs typeface="Roboto" pitchFamily="34" charset="-120"/>
              </a:rPr>
              <a:t>ε</a:t>
            </a:r>
            <a:r>
              <a:rPr lang="es-ES_tradnl" sz="1800" noProof="0" dirty="0">
                <a:solidFill>
                  <a:srgbClr val="3C3C3B"/>
                </a:solidFill>
                <a:latin typeface="Roboto" pitchFamily="34" charset="0"/>
                <a:ea typeface="Roboto" pitchFamily="34" charset="-122"/>
                <a:cs typeface="Roboto" pitchFamily="34" charset="-120"/>
              </a:rPr>
              <a:t> experimental queda por debajo de la cota teórica.</a:t>
            </a:r>
            <a:endParaRPr lang="es-ES_tradnl" sz="1800" noProof="0" dirty="0"/>
          </a:p>
        </p:txBody>
      </p:sp>
      <mc:AlternateContent xmlns:mc="http://schemas.openxmlformats.org/markup-compatibility/2006">
        <mc:Choice xmlns:a14="http://schemas.microsoft.com/office/drawing/2010/main" Requires="a14">
          <p:graphicFrame>
            <p:nvGraphicFramePr>
              <p:cNvPr id="9" name="Table 0"/>
              <p:cNvGraphicFramePr>
                <a:graphicFrameLocks noGrp="1"/>
              </p:cNvGraphicFramePr>
              <p:nvPr>
                <p:extLst>
                  <p:ext uri="{D42A27DB-BD31-4B8C-83A1-F6EECF244321}">
                    <p14:modId xmlns:p14="http://schemas.microsoft.com/office/powerpoint/2010/main" val="2234423388"/>
                  </p:ext>
                </p:extLst>
              </p:nvPr>
            </p:nvGraphicFramePr>
            <p:xfrm>
              <a:off x="825500" y="1869380"/>
              <a:ext cx="10553700" cy="2033476"/>
            </p:xfrm>
            <a:graphic>
              <a:graphicData uri="http://schemas.openxmlformats.org/drawingml/2006/table">
                <a:tbl>
                  <a:tblPr/>
                  <a:tblGrid>
                    <a:gridCol w="1899666">
                      <a:extLst>
                        <a:ext uri="{9D8B030D-6E8A-4147-A177-3AD203B41FA5}">
                          <a16:colId xmlns:a16="http://schemas.microsoft.com/office/drawing/2014/main" val="20000"/>
                        </a:ext>
                      </a:extLst>
                    </a:gridCol>
                    <a:gridCol w="2110740">
                      <a:extLst>
                        <a:ext uri="{9D8B030D-6E8A-4147-A177-3AD203B41FA5}">
                          <a16:colId xmlns:a16="http://schemas.microsoft.com/office/drawing/2014/main" val="20001"/>
                        </a:ext>
                      </a:extLst>
                    </a:gridCol>
                    <a:gridCol w="2532888">
                      <a:extLst>
                        <a:ext uri="{9D8B030D-6E8A-4147-A177-3AD203B41FA5}">
                          <a16:colId xmlns:a16="http://schemas.microsoft.com/office/drawing/2014/main" val="20002"/>
                        </a:ext>
                      </a:extLst>
                    </a:gridCol>
                    <a:gridCol w="1371981">
                      <a:extLst>
                        <a:ext uri="{9D8B030D-6E8A-4147-A177-3AD203B41FA5}">
                          <a16:colId xmlns:a16="http://schemas.microsoft.com/office/drawing/2014/main" val="20003"/>
                        </a:ext>
                      </a:extLst>
                    </a:gridCol>
                    <a:gridCol w="1371981">
                      <a:extLst>
                        <a:ext uri="{9D8B030D-6E8A-4147-A177-3AD203B41FA5}">
                          <a16:colId xmlns:a16="http://schemas.microsoft.com/office/drawing/2014/main" val="20004"/>
                        </a:ext>
                      </a:extLst>
                    </a:gridCol>
                    <a:gridCol w="1266444">
                      <a:extLst>
                        <a:ext uri="{9D8B030D-6E8A-4147-A177-3AD203B41FA5}">
                          <a16:colId xmlns:a16="http://schemas.microsoft.com/office/drawing/2014/main" val="20005"/>
                        </a:ext>
                      </a:extLst>
                    </a:gridCol>
                  </a:tblGrid>
                  <a:tr h="590352">
                    <a:tc>
                      <a:txBody>
                        <a:bodyPr/>
                        <a:lstStyle/>
                        <a:p>
                          <a:pPr marL="0" indent="0">
                            <a:lnSpc>
                              <a:spcPts val="1820"/>
                            </a:lnSpc>
                            <a:buNone/>
                          </a:pPr>
                          <a:r>
                            <a:rPr lang="es-ES_tradnl" sz="1300" b="1" noProof="0" dirty="0">
                              <a:solidFill>
                                <a:srgbClr val="FFFFFF"/>
                              </a:solidFill>
                              <a:latin typeface="Roboto" pitchFamily="34" charset="0"/>
                              <a:ea typeface="Roboto" pitchFamily="34" charset="-122"/>
                              <a:cs typeface="Roboto" pitchFamily="34" charset="-120"/>
                            </a:rPr>
                            <a:t>Mecanismo</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333332"/>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333332"/>
                          </a:solidFill>
                          <a:prstDash val="solid"/>
                          <a:round/>
                          <a:headEnd type="none" w="med" len="med"/>
                          <a:tailEnd type="none" w="med" len="med"/>
                        </a:lnB>
                        <a:solidFill>
                          <a:srgbClr val="3C3C3B"/>
                        </a:solidFill>
                      </a:tcPr>
                    </a:tc>
                    <a:tc>
                      <a:txBody>
                        <a:bodyPr/>
                        <a:lstStyle/>
                        <a:p>
                          <a:pPr marL="0" indent="0">
                            <a:lnSpc>
                              <a:spcPts val="1820"/>
                            </a:lnSpc>
                            <a:buNone/>
                          </a:pPr>
                          <a:r>
                            <a:rPr lang="es-ES_tradnl" sz="1300" b="1" noProof="0" dirty="0">
                              <a:solidFill>
                                <a:srgbClr val="FFFFFF"/>
                              </a:solidFill>
                              <a:latin typeface="Roboto" pitchFamily="34" charset="0"/>
                              <a:ea typeface="Roboto" pitchFamily="34" charset="-122"/>
                              <a:cs typeface="Roboto" pitchFamily="34" charset="-120"/>
                            </a:rPr>
                            <a:t>Parámetros</a:t>
                          </a:r>
                          <a:endParaRPr lang="es-ES_tradnl" sz="1300" noProof="0" dirty="0">
                            <a:latin typeface="Roboto" charset="0"/>
                            <a:ea typeface="Roboto" charset="0"/>
                            <a:cs typeface="Roboto" charset="0"/>
                          </a:endParaRPr>
                        </a:p>
                      </a:txBody>
                      <a:tcPr marL="57785" marR="57785" marT="57785" marB="57785">
                        <a:lnL w="12700" cap="flat" cmpd="sng" algn="ctr">
                          <a:solidFill>
                            <a:srgbClr val="333332"/>
                          </a:solidFill>
                          <a:prstDash val="solid"/>
                          <a:round/>
                          <a:headEnd type="none" w="med" len="med"/>
                          <a:tailEnd type="none" w="med" len="med"/>
                        </a:lnL>
                        <a:lnR w="12700" cap="flat" cmpd="sng" algn="ctr">
                          <a:solidFill>
                            <a:srgbClr val="333332"/>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333332"/>
                          </a:solidFill>
                          <a:prstDash val="solid"/>
                          <a:round/>
                          <a:headEnd type="none" w="med" len="med"/>
                          <a:tailEnd type="none" w="med" len="med"/>
                        </a:lnB>
                        <a:solidFill>
                          <a:srgbClr val="3C3C3B"/>
                        </a:solidFill>
                      </a:tcPr>
                    </a:tc>
                    <a:tc>
                      <a:txBody>
                        <a:bodyPr/>
                        <a:lstStyle/>
                        <a:p>
                          <a:pPr marL="0" indent="0">
                            <a:lnSpc>
                              <a:spcPts val="1820"/>
                            </a:lnSpc>
                            <a:buNone/>
                          </a:pPr>
                          <a:r>
                            <a:rPr lang="es-ES_tradnl" sz="1300" b="1" noProof="0" dirty="0">
                              <a:solidFill>
                                <a:srgbClr val="FFFFFF"/>
                              </a:solidFill>
                              <a:latin typeface="Roboto" pitchFamily="34" charset="0"/>
                              <a:ea typeface="Roboto" pitchFamily="34" charset="-122"/>
                              <a:cs typeface="Roboto" pitchFamily="34" charset="-120"/>
                            </a:rPr>
                            <a:t>Publicación</a:t>
                          </a:r>
                          <a:endParaRPr lang="es-ES_tradnl" sz="1300" noProof="0" dirty="0">
                            <a:latin typeface="Roboto" charset="0"/>
                            <a:ea typeface="Roboto" charset="0"/>
                            <a:cs typeface="Roboto" charset="0"/>
                          </a:endParaRPr>
                        </a:p>
                      </a:txBody>
                      <a:tcPr marL="57785" marR="57785" marT="57785" marB="57785">
                        <a:lnL w="12700" cap="flat" cmpd="sng" algn="ctr">
                          <a:solidFill>
                            <a:srgbClr val="333332"/>
                          </a:solidFill>
                          <a:prstDash val="solid"/>
                          <a:round/>
                          <a:headEnd type="none" w="med" len="med"/>
                          <a:tailEnd type="none" w="med" len="med"/>
                        </a:lnL>
                        <a:lnR w="12700" cap="flat" cmpd="sng" algn="ctr">
                          <a:solidFill>
                            <a:srgbClr val="333332"/>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333332"/>
                          </a:solidFill>
                          <a:prstDash val="solid"/>
                          <a:round/>
                          <a:headEnd type="none" w="med" len="med"/>
                          <a:tailEnd type="none" w="med" len="med"/>
                        </a:lnB>
                        <a:solidFill>
                          <a:srgbClr val="3C3C3B"/>
                        </a:solidFill>
                      </a:tcPr>
                    </a:tc>
                    <a:tc>
                      <a:txBody>
                        <a:bodyPr/>
                        <a:lstStyle/>
                        <a:p>
                          <a:pPr marL="0" indent="0" algn="r">
                            <a:lnSpc>
                              <a:spcPct val="100000"/>
                            </a:lnSpc>
                            <a:buNone/>
                          </a:pPr>
                          <a14:m>
                            <m:oMathPara xmlns:m="http://schemas.openxmlformats.org/officeDocument/2006/math">
                              <m:oMathParaPr>
                                <m:jc m:val="centerGroup"/>
                              </m:oMathParaPr>
                              <m:oMath xmlns:m="http://schemas.openxmlformats.org/officeDocument/2006/math">
                                <m:nary>
                                  <m:naryPr>
                                    <m:chr m:val="∑"/>
                                    <m:supHide m:val="on"/>
                                    <m:ctrlPr>
                                      <a:rPr lang="es-ES_tradnl" sz="1300" i="1" noProof="0" smtClean="0">
                                        <a:solidFill>
                                          <a:schemeClr val="bg1"/>
                                        </a:solidFill>
                                        <a:latin typeface="Cambria Math" panose="02040503050406030204" pitchFamily="18" charset="0"/>
                                        <a:ea typeface="Roboto" charset="0"/>
                                      </a:rPr>
                                    </m:ctrlPr>
                                  </m:naryPr>
                                  <m:sub>
                                    <m:r>
                                      <m:rPr>
                                        <m:brk m:alnAt="7"/>
                                      </m:rPr>
                                      <a:rPr lang="es-ES_tradnl" sz="1300" b="0" i="1" noProof="0" smtClean="0">
                                        <a:solidFill>
                                          <a:schemeClr val="bg1"/>
                                        </a:solidFill>
                                        <a:latin typeface="Cambria Math" panose="02040503050406030204" pitchFamily="18" charset="0"/>
                                        <a:ea typeface="Roboto" charset="0"/>
                                      </a:rPr>
                                      <m:t>𝑘</m:t>
                                    </m:r>
                                  </m:sub>
                                  <m:sup/>
                                  <m:e>
                                    <m:sSubSup>
                                      <m:sSubSupPr>
                                        <m:ctrlPr>
                                          <a:rPr lang="es-ES_tradnl" sz="1300" b="0" i="1" noProof="0" smtClean="0">
                                            <a:solidFill>
                                              <a:schemeClr val="bg1"/>
                                            </a:solidFill>
                                            <a:latin typeface="Cambria Math" panose="02040503050406030204" pitchFamily="18" charset="0"/>
                                            <a:ea typeface="Roboto" charset="0"/>
                                          </a:rPr>
                                        </m:ctrlPr>
                                      </m:sSubSupPr>
                                      <m:e>
                                        <m:r>
                                          <a:rPr lang="es-ES_tradnl" sz="1300" b="0" i="1" noProof="0" smtClean="0">
                                            <a:solidFill>
                                              <a:schemeClr val="bg1"/>
                                            </a:solidFill>
                                            <a:latin typeface="Cambria Math" panose="02040503050406030204" pitchFamily="18" charset="0"/>
                                            <a:ea typeface="Roboto" charset="0"/>
                                          </a:rPr>
                                          <m:t>𝑒</m:t>
                                        </m:r>
                                      </m:e>
                                      <m:sub>
                                        <m:r>
                                          <a:rPr lang="es-ES_tradnl" sz="1300" b="0" i="1" noProof="0" smtClean="0">
                                            <a:solidFill>
                                              <a:schemeClr val="bg1"/>
                                            </a:solidFill>
                                            <a:latin typeface="Cambria Math" panose="02040503050406030204" pitchFamily="18" charset="0"/>
                                            <a:ea typeface="Roboto" charset="0"/>
                                          </a:rPr>
                                          <m:t>𝑡𝑒𝑜</m:t>
                                        </m:r>
                                      </m:sub>
                                      <m:sup>
                                        <m:r>
                                          <a:rPr lang="es-ES_tradnl" sz="1300" b="0" i="1" noProof="0" smtClean="0">
                                            <a:solidFill>
                                              <a:schemeClr val="bg1"/>
                                            </a:solidFill>
                                            <a:latin typeface="Cambria Math" panose="02040503050406030204" pitchFamily="18" charset="0"/>
                                            <a:ea typeface="Roboto" charset="0"/>
                                          </a:rPr>
                                          <m:t>𝑘</m:t>
                                        </m:r>
                                      </m:sup>
                                    </m:sSubSup>
                                  </m:e>
                                </m:nary>
                              </m:oMath>
                            </m:oMathPara>
                          </a14:m>
                          <a:endParaRPr lang="es-ES_tradnl" sz="1300" noProof="0" dirty="0">
                            <a:solidFill>
                              <a:schemeClr val="bg1"/>
                            </a:solidFill>
                            <a:latin typeface="Roboto" charset="0"/>
                            <a:ea typeface="Roboto" charset="0"/>
                            <a:cs typeface="Roboto" charset="0"/>
                          </a:endParaRPr>
                        </a:p>
                      </a:txBody>
                      <a:tcPr marL="57785" marR="57785" marT="57785" marB="57785">
                        <a:lnL w="12700" cap="flat" cmpd="sng" algn="ctr">
                          <a:solidFill>
                            <a:srgbClr val="333332"/>
                          </a:solidFill>
                          <a:prstDash val="solid"/>
                          <a:round/>
                          <a:headEnd type="none" w="med" len="med"/>
                          <a:tailEnd type="none" w="med" len="med"/>
                        </a:lnL>
                        <a:lnR w="12700" cap="flat" cmpd="sng" algn="ctr">
                          <a:solidFill>
                            <a:srgbClr val="333332"/>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333332"/>
                          </a:solidFill>
                          <a:prstDash val="solid"/>
                          <a:round/>
                          <a:headEnd type="none" w="med" len="med"/>
                          <a:tailEnd type="none" w="med" len="med"/>
                        </a:lnB>
                        <a:solidFill>
                          <a:srgbClr val="3C3C3B"/>
                        </a:solidFill>
                      </a:tcPr>
                    </a:tc>
                    <a:tc>
                      <a:txBody>
                        <a:bodyPr/>
                        <a:lstStyle/>
                        <a:p>
                          <a:pPr marL="0" indent="0" algn="r">
                            <a:lnSpc>
                              <a:spcPct val="100000"/>
                            </a:lnSpc>
                            <a:buNone/>
                          </a:pPr>
                          <a14:m>
                            <m:oMathPara xmlns:m="http://schemas.openxmlformats.org/officeDocument/2006/math">
                              <m:oMathParaPr>
                                <m:jc m:val="centerGroup"/>
                              </m:oMathParaPr>
                              <m:oMath xmlns:m="http://schemas.openxmlformats.org/officeDocument/2006/math">
                                <m:nary>
                                  <m:naryPr>
                                    <m:chr m:val="∑"/>
                                    <m:supHide m:val="on"/>
                                    <m:ctrlPr>
                                      <a:rPr lang="es-ES_tradnl" sz="1300" i="1" noProof="0" smtClean="0">
                                        <a:solidFill>
                                          <a:schemeClr val="bg1"/>
                                        </a:solidFill>
                                        <a:latin typeface="Cambria Math" panose="02040503050406030204" pitchFamily="18" charset="0"/>
                                        <a:ea typeface="Roboto" charset="0"/>
                                      </a:rPr>
                                    </m:ctrlPr>
                                  </m:naryPr>
                                  <m:sub>
                                    <m:r>
                                      <m:rPr>
                                        <m:brk m:alnAt="7"/>
                                      </m:rPr>
                                      <a:rPr lang="es-ES_tradnl" sz="1300" b="0" i="1" noProof="0" smtClean="0">
                                        <a:solidFill>
                                          <a:schemeClr val="bg1"/>
                                        </a:solidFill>
                                        <a:latin typeface="Cambria Math" panose="02040503050406030204" pitchFamily="18" charset="0"/>
                                        <a:ea typeface="Roboto" charset="0"/>
                                      </a:rPr>
                                      <m:t>𝑘</m:t>
                                    </m:r>
                                  </m:sub>
                                  <m:sup/>
                                  <m:e>
                                    <m:sSubSup>
                                      <m:sSubSupPr>
                                        <m:ctrlPr>
                                          <a:rPr lang="es-ES_tradnl" sz="1300" b="0" i="1" noProof="0" smtClean="0">
                                            <a:solidFill>
                                              <a:schemeClr val="bg1"/>
                                            </a:solidFill>
                                            <a:latin typeface="Cambria Math" panose="02040503050406030204" pitchFamily="18" charset="0"/>
                                            <a:ea typeface="Roboto" charset="0"/>
                                          </a:rPr>
                                        </m:ctrlPr>
                                      </m:sSubSupPr>
                                      <m:e>
                                        <m:r>
                                          <a:rPr lang="es-ES_tradnl" sz="1300" b="0" i="1" noProof="0" smtClean="0">
                                            <a:solidFill>
                                              <a:schemeClr val="bg1"/>
                                            </a:solidFill>
                                            <a:latin typeface="Cambria Math" panose="02040503050406030204" pitchFamily="18" charset="0"/>
                                            <a:ea typeface="Roboto" charset="0"/>
                                          </a:rPr>
                                          <m:t>𝑒</m:t>
                                        </m:r>
                                      </m:e>
                                      <m:sub>
                                        <m:r>
                                          <a:rPr lang="es-ES_tradnl" sz="1300" b="0" i="1" noProof="0" smtClean="0">
                                            <a:solidFill>
                                              <a:schemeClr val="bg1"/>
                                            </a:solidFill>
                                            <a:latin typeface="Cambria Math" panose="02040503050406030204" pitchFamily="18" charset="0"/>
                                            <a:ea typeface="Roboto" charset="0"/>
                                          </a:rPr>
                                          <m:t>𝑒𝑥𝑝</m:t>
                                        </m:r>
                                      </m:sub>
                                      <m:sup>
                                        <m:r>
                                          <a:rPr lang="es-ES_tradnl" sz="1300" b="0" i="1" noProof="0" smtClean="0">
                                            <a:solidFill>
                                              <a:schemeClr val="bg1"/>
                                            </a:solidFill>
                                            <a:latin typeface="Cambria Math" panose="02040503050406030204" pitchFamily="18" charset="0"/>
                                            <a:ea typeface="Roboto" charset="0"/>
                                          </a:rPr>
                                          <m:t>𝑘</m:t>
                                        </m:r>
                                      </m:sup>
                                    </m:sSubSup>
                                  </m:e>
                                </m:nary>
                              </m:oMath>
                            </m:oMathPara>
                          </a14:m>
                          <a:endParaRPr lang="es-ES_tradnl" sz="1300" noProof="0" dirty="0">
                            <a:latin typeface="Roboto" charset="0"/>
                            <a:ea typeface="Roboto" charset="0"/>
                            <a:cs typeface="Roboto" charset="0"/>
                          </a:endParaRPr>
                        </a:p>
                      </a:txBody>
                      <a:tcPr marL="57785" marR="57785" marT="57785" marB="57785">
                        <a:lnL w="12700" cap="flat" cmpd="sng" algn="ctr">
                          <a:solidFill>
                            <a:srgbClr val="333332"/>
                          </a:solidFill>
                          <a:prstDash val="solid"/>
                          <a:round/>
                          <a:headEnd type="none" w="med" len="med"/>
                          <a:tailEnd type="none" w="med" len="med"/>
                        </a:lnL>
                        <a:lnR w="12700" cap="flat" cmpd="sng" algn="ctr">
                          <a:solidFill>
                            <a:srgbClr val="333332"/>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333332"/>
                          </a:solidFill>
                          <a:prstDash val="solid"/>
                          <a:round/>
                          <a:headEnd type="none" w="med" len="med"/>
                          <a:tailEnd type="none" w="med" len="med"/>
                        </a:lnB>
                        <a:solidFill>
                          <a:srgbClr val="3C3C3B"/>
                        </a:solidFill>
                      </a:tcPr>
                    </a:tc>
                    <a:tc>
                      <a:txBody>
                        <a:bodyPr/>
                        <a:lstStyle/>
                        <a:p>
                          <a:pPr marL="0" indent="0" algn="r">
                            <a:lnSpc>
                              <a:spcPts val="1820"/>
                            </a:lnSpc>
                            <a:buNone/>
                          </a:pPr>
                          <a:r>
                            <a:rPr lang="es-ES_tradnl" sz="1300" b="1" noProof="0" dirty="0">
                              <a:solidFill>
                                <a:srgbClr val="FFFFFF"/>
                              </a:solidFill>
                              <a:latin typeface="Roboto" pitchFamily="34" charset="0"/>
                              <a:ea typeface="Roboto" pitchFamily="34" charset="-122"/>
                              <a:cs typeface="Roboto" pitchFamily="34" charset="-120"/>
                            </a:rPr>
                            <a:t>Teo / </a:t>
                          </a:r>
                          <a:r>
                            <a:rPr lang="es-ES_tradnl" sz="1300" b="1" noProof="0" dirty="0" err="1">
                              <a:solidFill>
                                <a:srgbClr val="FFFFFF"/>
                              </a:solidFill>
                              <a:latin typeface="Roboto" pitchFamily="34" charset="0"/>
                              <a:ea typeface="Roboto" pitchFamily="34" charset="-122"/>
                              <a:cs typeface="Roboto" pitchFamily="34" charset="-120"/>
                            </a:rPr>
                            <a:t>exp</a:t>
                          </a:r>
                          <a:endParaRPr lang="es-ES_tradnl" sz="1300" noProof="0" dirty="0">
                            <a:latin typeface="Roboto" charset="0"/>
                            <a:ea typeface="Roboto" charset="0"/>
                            <a:cs typeface="Roboto" charset="0"/>
                          </a:endParaRPr>
                        </a:p>
                      </a:txBody>
                      <a:tcPr marL="57785" marR="57785" marT="57785" marB="57785">
                        <a:lnL w="12700" cap="flat" cmpd="sng" algn="ctr">
                          <a:solidFill>
                            <a:srgbClr val="333332"/>
                          </a:solidFill>
                          <a:prstDash val="solid"/>
                          <a:round/>
                          <a:headEnd type="none" w="med" len="med"/>
                          <a:tailEnd type="none" w="med" len="med"/>
                        </a:lnL>
                        <a:lnR w="12700" cap="flat" cmpd="sng" algn="ctr">
                          <a:solidFill>
                            <a:srgbClr val="333332"/>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333332"/>
                          </a:solidFill>
                          <a:prstDash val="solid"/>
                          <a:round/>
                          <a:headEnd type="none" w="med" len="med"/>
                          <a:tailEnd type="none" w="med" len="med"/>
                        </a:lnB>
                        <a:solidFill>
                          <a:srgbClr val="3C3C3B"/>
                        </a:solidFill>
                      </a:tcPr>
                    </a:tc>
                    <a:extLst>
                      <a:ext uri="{0D108BD9-81ED-4DB2-BD59-A6C34878D82A}">
                        <a16:rowId xmlns:a16="http://schemas.microsoft.com/office/drawing/2014/main" val="10000"/>
                      </a:ext>
                    </a:extLst>
                  </a:tr>
                  <a:tr h="359271">
                    <a:tc>
                      <a:txBody>
                        <a:bodyPr/>
                        <a:lstStyle/>
                        <a:p>
                          <a:pPr marL="0" indent="0">
                            <a:lnSpc>
                              <a:spcPts val="1820"/>
                            </a:lnSpc>
                            <a:buNone/>
                          </a:pPr>
                          <a:r>
                            <a:rPr lang="es-ES_tradnl" sz="1300" noProof="0" dirty="0" err="1">
                              <a:solidFill>
                                <a:srgbClr val="3C3C3B"/>
                              </a:solidFill>
                              <a:latin typeface="Roboto" pitchFamily="34" charset="0"/>
                              <a:ea typeface="Roboto" pitchFamily="34" charset="-122"/>
                              <a:cs typeface="Roboto" pitchFamily="34" charset="-120"/>
                            </a:rPr>
                            <a:t>Depolarizante</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333332"/>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C000"/>
                        </a:solidFill>
                      </a:tcPr>
                    </a:tc>
                    <a:tc>
                      <a:txBody>
                        <a:bodyPr/>
                        <a:lstStyle/>
                        <a:p>
                          <a:pPr marL="0" indent="0">
                            <a:lnSpc>
                              <a:spcPts val="1820"/>
                            </a:lnSpc>
                            <a:buNone/>
                          </a:pPr>
                          <a:r>
                            <a:rPr lang="es-ES_tradnl" sz="1300" noProof="0" dirty="0">
                              <a:solidFill>
                                <a:srgbClr val="3C3C3B"/>
                              </a:solidFill>
                              <a:latin typeface="Roboto" pitchFamily="34" charset="0"/>
                              <a:ea typeface="Roboto" pitchFamily="34" charset="-122"/>
                              <a:cs typeface="Roboto" pitchFamily="34" charset="-120"/>
                            </a:rPr>
                            <a:t>p = 0.5</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333332"/>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C000"/>
                        </a:solidFill>
                      </a:tcPr>
                    </a:tc>
                    <a:tc>
                      <a:txBody>
                        <a:bodyPr/>
                        <a:lstStyle/>
                        <a:p>
                          <a:pPr marL="0" indent="0">
                            <a:lnSpc>
                              <a:spcPts val="1820"/>
                            </a:lnSpc>
                            <a:buNone/>
                          </a:pPr>
                          <a:r>
                            <a:rPr lang="es-ES_tradnl" sz="1300" noProof="0" dirty="0">
                              <a:solidFill>
                                <a:srgbClr val="3C3C3B"/>
                              </a:solidFill>
                              <a:latin typeface="Roboto" pitchFamily="34" charset="0"/>
                              <a:ea typeface="Roboto" pitchFamily="34" charset="-122"/>
                              <a:cs typeface="Roboto" pitchFamily="34" charset="-120"/>
                            </a:rPr>
                            <a:t>conjunta, 7 </a:t>
                          </a:r>
                          <a:r>
                            <a:rPr lang="es-ES_tradnl" sz="1300" noProof="0" dirty="0" err="1">
                              <a:solidFill>
                                <a:srgbClr val="3C3C3B"/>
                              </a:solidFill>
                              <a:latin typeface="Roboto" pitchFamily="34" charset="0"/>
                              <a:ea typeface="Roboto" pitchFamily="34" charset="-122"/>
                              <a:cs typeface="Roboto" pitchFamily="34" charset="-120"/>
                            </a:rPr>
                            <a:t>qubits</a:t>
                          </a:r>
                          <a:r>
                            <a:rPr lang="es-ES_tradnl" sz="1300" noProof="0" dirty="0">
                              <a:solidFill>
                                <a:srgbClr val="3C3C3B"/>
                              </a:solidFill>
                              <a:latin typeface="Roboto" pitchFamily="34" charset="0"/>
                              <a:ea typeface="Roboto" pitchFamily="34" charset="-122"/>
                              <a:cs typeface="Roboto" pitchFamily="34" charset="-120"/>
                            </a:rPr>
                            <a:t> (D = 128)</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333332"/>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C000"/>
                        </a:solidFill>
                      </a:tcPr>
                    </a:tc>
                    <a:tc>
                      <a:txBody>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0.1202</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333332"/>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C000"/>
                        </a:solidFill>
                      </a:tcPr>
                    </a:tc>
                    <a:tc>
                      <a:txBody>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0.1064</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333332"/>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C000"/>
                        </a:solidFill>
                      </a:tcPr>
                    </a:tc>
                    <a:tc>
                      <a:txBody>
                        <a:bodyPr/>
                        <a:lstStyle/>
                        <a:p>
                          <a:pPr marL="0" indent="0" algn="r">
                            <a:lnSpc>
                              <a:spcPts val="1820"/>
                            </a:lnSpc>
                            <a:buNone/>
                          </a:pPr>
                          <a:r>
                            <a:rPr lang="es-ES_tradnl" sz="1300" noProof="0" dirty="0">
                              <a:solidFill>
                                <a:srgbClr val="293470"/>
                              </a:solidFill>
                              <a:latin typeface="Roboto" pitchFamily="34" charset="0"/>
                              <a:ea typeface="Roboto" pitchFamily="34" charset="-122"/>
                              <a:cs typeface="Roboto" pitchFamily="34" charset="-120"/>
                            </a:rPr>
                            <a:t>1.13</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333332"/>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C000"/>
                        </a:solidFill>
                      </a:tcPr>
                    </a:tc>
                    <a:extLst>
                      <a:ext uri="{0D108BD9-81ED-4DB2-BD59-A6C34878D82A}">
                        <a16:rowId xmlns:a16="http://schemas.microsoft.com/office/drawing/2014/main" val="10001"/>
                      </a:ext>
                    </a:extLst>
                  </a:tr>
                  <a:tr h="359271">
                    <a:tc>
                      <a:txBody>
                        <a:bodyPr/>
                        <a:lstStyle/>
                        <a:p>
                          <a:pPr marL="0" indent="0">
                            <a:lnSpc>
                              <a:spcPts val="1820"/>
                            </a:lnSpc>
                            <a:buNone/>
                          </a:pPr>
                          <a:r>
                            <a:rPr lang="es-ES_tradnl" sz="1300" noProof="0" dirty="0" err="1">
                              <a:solidFill>
                                <a:srgbClr val="3C3C3B"/>
                              </a:solidFill>
                              <a:latin typeface="Roboto" pitchFamily="34" charset="0"/>
                              <a:ea typeface="Roboto" pitchFamily="34" charset="-122"/>
                              <a:cs typeface="Roboto" pitchFamily="34" charset="-120"/>
                            </a:rPr>
                            <a:t>Depolarizante</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nSpc>
                              <a:spcPts val="1820"/>
                            </a:lnSpc>
                            <a:buNone/>
                          </a:pPr>
                          <a:r>
                            <a:rPr lang="es-ES_tradnl" sz="1300" noProof="0" dirty="0">
                              <a:solidFill>
                                <a:srgbClr val="3C3C3B"/>
                              </a:solidFill>
                              <a:latin typeface="Roboto" pitchFamily="34" charset="0"/>
                              <a:ea typeface="Roboto" pitchFamily="34" charset="-122"/>
                              <a:cs typeface="Roboto" pitchFamily="34" charset="-120"/>
                            </a:rPr>
                            <a:t>p = 0.5</a:t>
                          </a:r>
                          <a:endParaRPr lang="es-ES_tradnl" sz="1300" noProof="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nSpc>
                              <a:spcPts val="1820"/>
                            </a:lnSpc>
                            <a:buNone/>
                          </a:pPr>
                          <a:r>
                            <a:rPr lang="es-ES_tradnl" sz="1300" noProof="0" dirty="0">
                              <a:solidFill>
                                <a:srgbClr val="3C3C3B"/>
                              </a:solidFill>
                              <a:latin typeface="Roboto" pitchFamily="34" charset="0"/>
                              <a:ea typeface="Roboto" pitchFamily="34" charset="-122"/>
                              <a:cs typeface="Roboto" pitchFamily="34" charset="-120"/>
                            </a:rPr>
                            <a:t>por columna (D = 2)</a:t>
                          </a:r>
                          <a:endParaRPr lang="es-ES_tradnl" sz="1300" noProof="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0.00985</a:t>
                          </a:r>
                          <a:endParaRPr lang="es-ES_tradnl" sz="1300" noProof="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0.00676</a:t>
                          </a:r>
                          <a:endParaRPr lang="es-ES_tradnl" sz="1300" noProof="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gn="r">
                            <a:lnSpc>
                              <a:spcPts val="1820"/>
                            </a:lnSpc>
                            <a:buNone/>
                          </a:pPr>
                          <a:r>
                            <a:rPr lang="es-ES_tradnl" sz="1300" noProof="0" dirty="0">
                              <a:solidFill>
                                <a:srgbClr val="293470"/>
                              </a:solidFill>
                              <a:latin typeface="Roboto" pitchFamily="34" charset="0"/>
                              <a:ea typeface="Roboto" pitchFamily="34" charset="-122"/>
                              <a:cs typeface="Roboto" pitchFamily="34" charset="-120"/>
                            </a:rPr>
                            <a:t>1.46</a:t>
                          </a:r>
                          <a:endParaRPr lang="es-ES_tradnl" sz="1300" noProof="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extLst>
                      <a:ext uri="{0D108BD9-81ED-4DB2-BD59-A6C34878D82A}">
                        <a16:rowId xmlns:a16="http://schemas.microsoft.com/office/drawing/2014/main" val="10002"/>
                      </a:ext>
                    </a:extLst>
                  </a:tr>
                  <a:tr h="359271">
                    <a:tc>
                      <a:txBody>
                        <a:bodyPr/>
                        <a:lstStyle/>
                        <a:p>
                          <a:pPr marL="0" indent="0">
                            <a:lnSpc>
                              <a:spcPts val="1820"/>
                            </a:lnSpc>
                            <a:buNone/>
                          </a:pPr>
                          <a:r>
                            <a:rPr lang="es-ES_tradnl" sz="1300" noProof="0" dirty="0">
                              <a:solidFill>
                                <a:srgbClr val="3C3C3B"/>
                              </a:solidFill>
                              <a:latin typeface="Roboto" pitchFamily="34" charset="0"/>
                              <a:ea typeface="Roboto" pitchFamily="34" charset="-122"/>
                              <a:cs typeface="Roboto" pitchFamily="34" charset="-120"/>
                            </a:rPr>
                            <a:t>PAD</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3C1"/>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820"/>
                            </a:lnSpc>
                            <a:buNone/>
                          </a:pPr>
                          <a:r>
                            <a:rPr lang="es-ES_tradnl" sz="1300" noProof="0" dirty="0">
                              <a:solidFill>
                                <a:srgbClr val="3C3C3B"/>
                              </a:solidFill>
                              <a:latin typeface="Roboto" pitchFamily="34" charset="0"/>
                              <a:ea typeface="Roboto" pitchFamily="34" charset="-122"/>
                              <a:cs typeface="Roboto" pitchFamily="34" charset="-120"/>
                            </a:rPr>
                            <a:t>p = </a:t>
                          </a:r>
                          <a:r>
                            <a:rPr lang="es-ES_tradnl" sz="1300" noProof="0" dirty="0" err="1">
                              <a:solidFill>
                                <a:srgbClr val="3C3C3B"/>
                              </a:solidFill>
                              <a:latin typeface="Roboto" pitchFamily="34" charset="0"/>
                              <a:ea typeface="Roboto" pitchFamily="34" charset="-122"/>
                              <a:cs typeface="Roboto" pitchFamily="34" charset="-120"/>
                            </a:rPr>
                            <a:t>γ</a:t>
                          </a:r>
                          <a:r>
                            <a:rPr lang="es-ES_tradnl" sz="1300" noProof="0" dirty="0">
                              <a:solidFill>
                                <a:srgbClr val="3C3C3B"/>
                              </a:solidFill>
                              <a:latin typeface="Roboto" pitchFamily="34" charset="0"/>
                              <a:ea typeface="Roboto" pitchFamily="34" charset="-122"/>
                              <a:cs typeface="Roboto" pitchFamily="34" charset="-120"/>
                            </a:rPr>
                            <a:t> = 0.5, </a:t>
                          </a:r>
                          <a:r>
                            <a:rPr lang="es-ES_tradnl" sz="1300" noProof="0" dirty="0" err="1">
                              <a:solidFill>
                                <a:srgbClr val="3C3C3B"/>
                              </a:solidFill>
                              <a:latin typeface="Roboto" pitchFamily="34" charset="0"/>
                              <a:ea typeface="Roboto" pitchFamily="34" charset="-122"/>
                              <a:cs typeface="Roboto" pitchFamily="34" charset="-120"/>
                            </a:rPr>
                            <a:t>λ</a:t>
                          </a:r>
                          <a:r>
                            <a:rPr lang="es-ES_tradnl" sz="1300" noProof="0" dirty="0">
                              <a:solidFill>
                                <a:srgbClr val="3C3C3B"/>
                              </a:solidFill>
                              <a:latin typeface="Roboto" pitchFamily="34" charset="0"/>
                              <a:ea typeface="Roboto" pitchFamily="34" charset="-122"/>
                              <a:cs typeface="Roboto" pitchFamily="34" charset="-120"/>
                            </a:rPr>
                            <a:t> = 0.25</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3C1"/>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820"/>
                            </a:lnSpc>
                            <a:buNone/>
                          </a:pPr>
                          <a:r>
                            <a:rPr lang="es-ES_tradnl" sz="1300" noProof="0" dirty="0">
                              <a:solidFill>
                                <a:srgbClr val="3C3C3B"/>
                              </a:solidFill>
                              <a:latin typeface="Roboto" pitchFamily="34" charset="0"/>
                              <a:ea typeface="Roboto" pitchFamily="34" charset="-122"/>
                              <a:cs typeface="Roboto" pitchFamily="34" charset="-120"/>
                            </a:rPr>
                            <a:t>por columna</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3C1"/>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0.01555</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3C1"/>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0.00790</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3C1"/>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gn="r">
                            <a:lnSpc>
                              <a:spcPts val="1820"/>
                            </a:lnSpc>
                            <a:buNone/>
                          </a:pPr>
                          <a:r>
                            <a:rPr lang="es-ES_tradnl" sz="1300" noProof="0" dirty="0">
                              <a:solidFill>
                                <a:srgbClr val="293470"/>
                              </a:solidFill>
                              <a:latin typeface="Roboto" pitchFamily="34" charset="0"/>
                              <a:ea typeface="Roboto" pitchFamily="34" charset="-122"/>
                              <a:cs typeface="Roboto" pitchFamily="34" charset="-120"/>
                            </a:rPr>
                            <a:t>1.97</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3C1"/>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extLst>
                      <a:ext uri="{0D108BD9-81ED-4DB2-BD59-A6C34878D82A}">
                        <a16:rowId xmlns:a16="http://schemas.microsoft.com/office/drawing/2014/main" val="10003"/>
                      </a:ext>
                    </a:extLst>
                  </a:tr>
                  <a:tr h="359271">
                    <a:tc>
                      <a:txBody>
                        <a:bodyPr/>
                        <a:lstStyle/>
                        <a:p>
                          <a:pPr marL="0" indent="0">
                            <a:lnSpc>
                              <a:spcPts val="1820"/>
                            </a:lnSpc>
                            <a:buNone/>
                          </a:pPr>
                          <a:r>
                            <a:rPr lang="es-ES_tradnl" sz="1300" noProof="0" dirty="0">
                              <a:solidFill>
                                <a:srgbClr val="3C3C3B"/>
                              </a:solidFill>
                              <a:latin typeface="Roboto" pitchFamily="34" charset="0"/>
                              <a:ea typeface="Roboto" pitchFamily="34" charset="-122"/>
                              <a:cs typeface="Roboto" pitchFamily="34" charset="-120"/>
                            </a:rPr>
                            <a:t>GAD</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nSpc>
                              <a:spcPts val="1820"/>
                            </a:lnSpc>
                            <a:buNone/>
                          </a:pPr>
                          <a:r>
                            <a:rPr lang="es-ES_tradnl" sz="1300" noProof="0" dirty="0">
                              <a:solidFill>
                                <a:srgbClr val="3C3C3B"/>
                              </a:solidFill>
                              <a:latin typeface="Roboto" pitchFamily="34" charset="0"/>
                              <a:ea typeface="Roboto" pitchFamily="34" charset="-122"/>
                              <a:cs typeface="Roboto" pitchFamily="34" charset="-120"/>
                            </a:rPr>
                            <a:t>p = </a:t>
                          </a:r>
                          <a:r>
                            <a:rPr lang="es-ES_tradnl" sz="1300" noProof="0" dirty="0" err="1">
                              <a:solidFill>
                                <a:srgbClr val="3C3C3B"/>
                              </a:solidFill>
                              <a:latin typeface="Roboto" pitchFamily="34" charset="0"/>
                              <a:ea typeface="Roboto" pitchFamily="34" charset="-122"/>
                              <a:cs typeface="Roboto" pitchFamily="34" charset="-120"/>
                            </a:rPr>
                            <a:t>γ</a:t>
                          </a:r>
                          <a:r>
                            <a:rPr lang="es-ES_tradnl" sz="1300" noProof="0" dirty="0">
                              <a:solidFill>
                                <a:srgbClr val="3C3C3B"/>
                              </a:solidFill>
                              <a:latin typeface="Roboto" pitchFamily="34" charset="0"/>
                              <a:ea typeface="Roboto" pitchFamily="34" charset="-122"/>
                              <a:cs typeface="Roboto" pitchFamily="34" charset="-120"/>
                            </a:rPr>
                            <a:t> = 0.5</a:t>
                          </a:r>
                          <a:endParaRPr lang="es-ES_tradnl" sz="1300" noProof="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nSpc>
                              <a:spcPts val="1820"/>
                            </a:lnSpc>
                            <a:buNone/>
                          </a:pPr>
                          <a:r>
                            <a:rPr lang="es-ES_tradnl" sz="1300" noProof="0" dirty="0">
                              <a:solidFill>
                                <a:srgbClr val="3C3C3B"/>
                              </a:solidFill>
                              <a:latin typeface="Roboto" pitchFamily="34" charset="0"/>
                              <a:ea typeface="Roboto" pitchFamily="34" charset="-122"/>
                              <a:cs typeface="Roboto" pitchFamily="34" charset="-120"/>
                            </a:rPr>
                            <a:t>por columna</a:t>
                          </a:r>
                          <a:endParaRPr lang="es-ES_tradnl" sz="1300" noProof="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0.02375</a:t>
                          </a:r>
                          <a:endParaRPr lang="es-ES_tradnl" sz="1300" noProof="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0.00897</a:t>
                          </a:r>
                          <a:endParaRPr lang="es-ES_tradnl" sz="1300" noProof="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gn="r">
                            <a:lnSpc>
                              <a:spcPts val="1820"/>
                            </a:lnSpc>
                            <a:buNone/>
                          </a:pPr>
                          <a:r>
                            <a:rPr lang="es-ES_tradnl" sz="1300" noProof="0" dirty="0">
                              <a:solidFill>
                                <a:srgbClr val="293470"/>
                              </a:solidFill>
                              <a:latin typeface="Roboto" pitchFamily="34" charset="0"/>
                              <a:ea typeface="Roboto" pitchFamily="34" charset="-122"/>
                              <a:cs typeface="Roboto" pitchFamily="34" charset="-120"/>
                            </a:rPr>
                            <a:t>2.65</a:t>
                          </a:r>
                          <a:endParaRPr lang="es-ES_tradnl" sz="1300" noProof="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extLst>
                      <a:ext uri="{0D108BD9-81ED-4DB2-BD59-A6C34878D82A}">
                        <a16:rowId xmlns:a16="http://schemas.microsoft.com/office/drawing/2014/main" val="10004"/>
                      </a:ext>
                    </a:extLst>
                  </a:tr>
                </a:tbl>
              </a:graphicData>
            </a:graphic>
          </p:graphicFrame>
        </mc:Choice>
        <mc:Fallback>
          <p:graphicFrame>
            <p:nvGraphicFramePr>
              <p:cNvPr id="9" name="Table 0"/>
              <p:cNvGraphicFramePr>
                <a:graphicFrameLocks noGrp="1"/>
              </p:cNvGraphicFramePr>
              <p:nvPr>
                <p:extLst>
                  <p:ext uri="{D42A27DB-BD31-4B8C-83A1-F6EECF244321}">
                    <p14:modId xmlns:p14="http://schemas.microsoft.com/office/powerpoint/2010/main" val="2234423388"/>
                  </p:ext>
                </p:extLst>
              </p:nvPr>
            </p:nvGraphicFramePr>
            <p:xfrm>
              <a:off x="825500" y="1869380"/>
              <a:ext cx="10553700" cy="2033476"/>
            </p:xfrm>
            <a:graphic>
              <a:graphicData uri="http://schemas.openxmlformats.org/drawingml/2006/table">
                <a:tbl>
                  <a:tblPr/>
                  <a:tblGrid>
                    <a:gridCol w="1899666">
                      <a:extLst>
                        <a:ext uri="{9D8B030D-6E8A-4147-A177-3AD203B41FA5}">
                          <a16:colId xmlns:a16="http://schemas.microsoft.com/office/drawing/2014/main" val="20000"/>
                        </a:ext>
                      </a:extLst>
                    </a:gridCol>
                    <a:gridCol w="2110740">
                      <a:extLst>
                        <a:ext uri="{9D8B030D-6E8A-4147-A177-3AD203B41FA5}">
                          <a16:colId xmlns:a16="http://schemas.microsoft.com/office/drawing/2014/main" val="20001"/>
                        </a:ext>
                      </a:extLst>
                    </a:gridCol>
                    <a:gridCol w="2532888">
                      <a:extLst>
                        <a:ext uri="{9D8B030D-6E8A-4147-A177-3AD203B41FA5}">
                          <a16:colId xmlns:a16="http://schemas.microsoft.com/office/drawing/2014/main" val="20002"/>
                        </a:ext>
                      </a:extLst>
                    </a:gridCol>
                    <a:gridCol w="1371981">
                      <a:extLst>
                        <a:ext uri="{9D8B030D-6E8A-4147-A177-3AD203B41FA5}">
                          <a16:colId xmlns:a16="http://schemas.microsoft.com/office/drawing/2014/main" val="20003"/>
                        </a:ext>
                      </a:extLst>
                    </a:gridCol>
                    <a:gridCol w="1371981">
                      <a:extLst>
                        <a:ext uri="{9D8B030D-6E8A-4147-A177-3AD203B41FA5}">
                          <a16:colId xmlns:a16="http://schemas.microsoft.com/office/drawing/2014/main" val="20004"/>
                        </a:ext>
                      </a:extLst>
                    </a:gridCol>
                    <a:gridCol w="1266444">
                      <a:extLst>
                        <a:ext uri="{9D8B030D-6E8A-4147-A177-3AD203B41FA5}">
                          <a16:colId xmlns:a16="http://schemas.microsoft.com/office/drawing/2014/main" val="20005"/>
                        </a:ext>
                      </a:extLst>
                    </a:gridCol>
                  </a:tblGrid>
                  <a:tr h="596392">
                    <a:tc>
                      <a:txBody>
                        <a:bodyPr/>
                        <a:lstStyle/>
                        <a:p>
                          <a:pPr marL="0" indent="0">
                            <a:lnSpc>
                              <a:spcPts val="1820"/>
                            </a:lnSpc>
                            <a:buNone/>
                          </a:pPr>
                          <a:r>
                            <a:rPr lang="es-ES_tradnl" sz="1300" b="1" noProof="0" dirty="0">
                              <a:solidFill>
                                <a:srgbClr val="FFFFFF"/>
                              </a:solidFill>
                              <a:latin typeface="Roboto" pitchFamily="34" charset="0"/>
                              <a:ea typeface="Roboto" pitchFamily="34" charset="-122"/>
                              <a:cs typeface="Roboto" pitchFamily="34" charset="-120"/>
                            </a:rPr>
                            <a:t>Mecanismo</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333332"/>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333332"/>
                          </a:solidFill>
                          <a:prstDash val="solid"/>
                          <a:round/>
                          <a:headEnd type="none" w="med" len="med"/>
                          <a:tailEnd type="none" w="med" len="med"/>
                        </a:lnB>
                        <a:solidFill>
                          <a:srgbClr val="3C3C3B"/>
                        </a:solidFill>
                      </a:tcPr>
                    </a:tc>
                    <a:tc>
                      <a:txBody>
                        <a:bodyPr/>
                        <a:lstStyle/>
                        <a:p>
                          <a:pPr marL="0" indent="0">
                            <a:lnSpc>
                              <a:spcPts val="1820"/>
                            </a:lnSpc>
                            <a:buNone/>
                          </a:pPr>
                          <a:r>
                            <a:rPr lang="es-ES_tradnl" sz="1300" b="1" noProof="0" dirty="0">
                              <a:solidFill>
                                <a:srgbClr val="FFFFFF"/>
                              </a:solidFill>
                              <a:latin typeface="Roboto" pitchFamily="34" charset="0"/>
                              <a:ea typeface="Roboto" pitchFamily="34" charset="-122"/>
                              <a:cs typeface="Roboto" pitchFamily="34" charset="-120"/>
                            </a:rPr>
                            <a:t>Parámetros</a:t>
                          </a:r>
                          <a:endParaRPr lang="es-ES_tradnl" sz="1300" noProof="0" dirty="0">
                            <a:latin typeface="Roboto" charset="0"/>
                            <a:ea typeface="Roboto" charset="0"/>
                            <a:cs typeface="Roboto" charset="0"/>
                          </a:endParaRPr>
                        </a:p>
                      </a:txBody>
                      <a:tcPr marL="57785" marR="57785" marT="57785" marB="57785">
                        <a:lnL w="12700" cap="flat" cmpd="sng" algn="ctr">
                          <a:solidFill>
                            <a:srgbClr val="333332"/>
                          </a:solidFill>
                          <a:prstDash val="solid"/>
                          <a:round/>
                          <a:headEnd type="none" w="med" len="med"/>
                          <a:tailEnd type="none" w="med" len="med"/>
                        </a:lnL>
                        <a:lnR w="12700" cap="flat" cmpd="sng" algn="ctr">
                          <a:solidFill>
                            <a:srgbClr val="333332"/>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333332"/>
                          </a:solidFill>
                          <a:prstDash val="solid"/>
                          <a:round/>
                          <a:headEnd type="none" w="med" len="med"/>
                          <a:tailEnd type="none" w="med" len="med"/>
                        </a:lnB>
                        <a:solidFill>
                          <a:srgbClr val="3C3C3B"/>
                        </a:solidFill>
                      </a:tcPr>
                    </a:tc>
                    <a:tc>
                      <a:txBody>
                        <a:bodyPr/>
                        <a:lstStyle/>
                        <a:p>
                          <a:pPr marL="0" indent="0">
                            <a:lnSpc>
                              <a:spcPts val="1820"/>
                            </a:lnSpc>
                            <a:buNone/>
                          </a:pPr>
                          <a:r>
                            <a:rPr lang="es-ES_tradnl" sz="1300" b="1" noProof="0" dirty="0">
                              <a:solidFill>
                                <a:srgbClr val="FFFFFF"/>
                              </a:solidFill>
                              <a:latin typeface="Roboto" pitchFamily="34" charset="0"/>
                              <a:ea typeface="Roboto" pitchFamily="34" charset="-122"/>
                              <a:cs typeface="Roboto" pitchFamily="34" charset="-120"/>
                            </a:rPr>
                            <a:t>Publicación</a:t>
                          </a:r>
                          <a:endParaRPr lang="es-ES_tradnl" sz="1300" noProof="0" dirty="0">
                            <a:latin typeface="Roboto" charset="0"/>
                            <a:ea typeface="Roboto" charset="0"/>
                            <a:cs typeface="Roboto" charset="0"/>
                          </a:endParaRPr>
                        </a:p>
                      </a:txBody>
                      <a:tcPr marL="57785" marR="57785" marT="57785" marB="57785">
                        <a:lnL w="12700" cap="flat" cmpd="sng" algn="ctr">
                          <a:solidFill>
                            <a:srgbClr val="333332"/>
                          </a:solidFill>
                          <a:prstDash val="solid"/>
                          <a:round/>
                          <a:headEnd type="none" w="med" len="med"/>
                          <a:tailEnd type="none" w="med" len="med"/>
                        </a:lnL>
                        <a:lnR w="12700" cap="flat" cmpd="sng" algn="ctr">
                          <a:solidFill>
                            <a:srgbClr val="333332"/>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333332"/>
                          </a:solidFill>
                          <a:prstDash val="solid"/>
                          <a:round/>
                          <a:headEnd type="none" w="med" len="med"/>
                          <a:tailEnd type="none" w="med" len="med"/>
                        </a:lnB>
                        <a:solidFill>
                          <a:srgbClr val="3C3C3B"/>
                        </a:solidFill>
                      </a:tcPr>
                    </a:tc>
                    <a:tc>
                      <a:txBody>
                        <a:bodyPr/>
                        <a:lstStyle/>
                        <a:p>
                          <a:endParaRPr lang="en-CO"/>
                        </a:p>
                      </a:txBody>
                      <a:tcPr marL="57785" marR="57785" marT="57785" marB="57785">
                        <a:lnL w="12700" cap="flat" cmpd="sng" algn="ctr">
                          <a:solidFill>
                            <a:srgbClr val="333332"/>
                          </a:solidFill>
                          <a:prstDash val="solid"/>
                          <a:round/>
                          <a:headEnd type="none" w="med" len="med"/>
                          <a:tailEnd type="none" w="med" len="med"/>
                        </a:lnL>
                        <a:lnR w="12700" cap="flat" cmpd="sng" algn="ctr">
                          <a:solidFill>
                            <a:srgbClr val="333332"/>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333332"/>
                          </a:solidFill>
                          <a:prstDash val="solid"/>
                          <a:round/>
                          <a:headEnd type="none" w="med" len="med"/>
                          <a:tailEnd type="none" w="med" len="med"/>
                        </a:lnB>
                        <a:blipFill>
                          <a:blip r:embed="rId4"/>
                          <a:stretch>
                            <a:fillRect l="-477778" t="-112766" r="-194444" b="-244681"/>
                          </a:stretch>
                        </a:blipFill>
                      </a:tcPr>
                    </a:tc>
                    <a:tc>
                      <a:txBody>
                        <a:bodyPr/>
                        <a:lstStyle/>
                        <a:p>
                          <a:endParaRPr lang="en-CO"/>
                        </a:p>
                      </a:txBody>
                      <a:tcPr marL="57785" marR="57785" marT="57785" marB="57785">
                        <a:lnL w="12700" cap="flat" cmpd="sng" algn="ctr">
                          <a:solidFill>
                            <a:srgbClr val="333332"/>
                          </a:solidFill>
                          <a:prstDash val="solid"/>
                          <a:round/>
                          <a:headEnd type="none" w="med" len="med"/>
                          <a:tailEnd type="none" w="med" len="med"/>
                        </a:lnL>
                        <a:lnR w="12700" cap="flat" cmpd="sng" algn="ctr">
                          <a:solidFill>
                            <a:srgbClr val="333332"/>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333332"/>
                          </a:solidFill>
                          <a:prstDash val="solid"/>
                          <a:round/>
                          <a:headEnd type="none" w="med" len="med"/>
                          <a:tailEnd type="none" w="med" len="med"/>
                        </a:lnB>
                        <a:blipFill>
                          <a:blip r:embed="rId4"/>
                          <a:stretch>
                            <a:fillRect l="-577778" t="-112766" r="-94444" b="-244681"/>
                          </a:stretch>
                        </a:blipFill>
                      </a:tcPr>
                    </a:tc>
                    <a:tc>
                      <a:txBody>
                        <a:bodyPr/>
                        <a:lstStyle/>
                        <a:p>
                          <a:pPr marL="0" indent="0" algn="r">
                            <a:lnSpc>
                              <a:spcPts val="1820"/>
                            </a:lnSpc>
                            <a:buNone/>
                          </a:pPr>
                          <a:r>
                            <a:rPr lang="es-ES_tradnl" sz="1300" b="1" noProof="0" dirty="0">
                              <a:solidFill>
                                <a:srgbClr val="FFFFFF"/>
                              </a:solidFill>
                              <a:latin typeface="Roboto" pitchFamily="34" charset="0"/>
                              <a:ea typeface="Roboto" pitchFamily="34" charset="-122"/>
                              <a:cs typeface="Roboto" pitchFamily="34" charset="-120"/>
                            </a:rPr>
                            <a:t>Teo / </a:t>
                          </a:r>
                          <a:r>
                            <a:rPr lang="es-ES_tradnl" sz="1300" b="1" noProof="0" dirty="0" err="1">
                              <a:solidFill>
                                <a:srgbClr val="FFFFFF"/>
                              </a:solidFill>
                              <a:latin typeface="Roboto" pitchFamily="34" charset="0"/>
                              <a:ea typeface="Roboto" pitchFamily="34" charset="-122"/>
                              <a:cs typeface="Roboto" pitchFamily="34" charset="-120"/>
                            </a:rPr>
                            <a:t>exp</a:t>
                          </a:r>
                          <a:endParaRPr lang="es-ES_tradnl" sz="1300" noProof="0" dirty="0">
                            <a:latin typeface="Roboto" charset="0"/>
                            <a:ea typeface="Roboto" charset="0"/>
                            <a:cs typeface="Roboto" charset="0"/>
                          </a:endParaRPr>
                        </a:p>
                      </a:txBody>
                      <a:tcPr marL="57785" marR="57785" marT="57785" marB="57785">
                        <a:lnL w="12700" cap="flat" cmpd="sng" algn="ctr">
                          <a:solidFill>
                            <a:srgbClr val="333332"/>
                          </a:solidFill>
                          <a:prstDash val="solid"/>
                          <a:round/>
                          <a:headEnd type="none" w="med" len="med"/>
                          <a:tailEnd type="none" w="med" len="med"/>
                        </a:lnL>
                        <a:lnR w="12700" cap="flat" cmpd="sng" algn="ctr">
                          <a:solidFill>
                            <a:srgbClr val="333332"/>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333332"/>
                          </a:solidFill>
                          <a:prstDash val="solid"/>
                          <a:round/>
                          <a:headEnd type="none" w="med" len="med"/>
                          <a:tailEnd type="none" w="med" len="med"/>
                        </a:lnB>
                        <a:solidFill>
                          <a:srgbClr val="3C3C3B"/>
                        </a:solidFill>
                      </a:tcPr>
                    </a:tc>
                    <a:extLst>
                      <a:ext uri="{0D108BD9-81ED-4DB2-BD59-A6C34878D82A}">
                        <a16:rowId xmlns:a16="http://schemas.microsoft.com/office/drawing/2014/main" val="10000"/>
                      </a:ext>
                    </a:extLst>
                  </a:tr>
                  <a:tr h="359271">
                    <a:tc>
                      <a:txBody>
                        <a:bodyPr/>
                        <a:lstStyle/>
                        <a:p>
                          <a:pPr marL="0" indent="0">
                            <a:lnSpc>
                              <a:spcPts val="1820"/>
                            </a:lnSpc>
                            <a:buNone/>
                          </a:pPr>
                          <a:r>
                            <a:rPr lang="es-ES_tradnl" sz="1300" noProof="0" dirty="0" err="1">
                              <a:solidFill>
                                <a:srgbClr val="3C3C3B"/>
                              </a:solidFill>
                              <a:latin typeface="Roboto" pitchFamily="34" charset="0"/>
                              <a:ea typeface="Roboto" pitchFamily="34" charset="-122"/>
                              <a:cs typeface="Roboto" pitchFamily="34" charset="-120"/>
                            </a:rPr>
                            <a:t>Depolarizante</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333332"/>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C000"/>
                        </a:solidFill>
                      </a:tcPr>
                    </a:tc>
                    <a:tc>
                      <a:txBody>
                        <a:bodyPr/>
                        <a:lstStyle/>
                        <a:p>
                          <a:pPr marL="0" indent="0">
                            <a:lnSpc>
                              <a:spcPts val="1820"/>
                            </a:lnSpc>
                            <a:buNone/>
                          </a:pPr>
                          <a:r>
                            <a:rPr lang="es-ES_tradnl" sz="1300" noProof="0" dirty="0">
                              <a:solidFill>
                                <a:srgbClr val="3C3C3B"/>
                              </a:solidFill>
                              <a:latin typeface="Roboto" pitchFamily="34" charset="0"/>
                              <a:ea typeface="Roboto" pitchFamily="34" charset="-122"/>
                              <a:cs typeface="Roboto" pitchFamily="34" charset="-120"/>
                            </a:rPr>
                            <a:t>p = 0.5</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333332"/>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C000"/>
                        </a:solidFill>
                      </a:tcPr>
                    </a:tc>
                    <a:tc>
                      <a:txBody>
                        <a:bodyPr/>
                        <a:lstStyle/>
                        <a:p>
                          <a:pPr marL="0" indent="0">
                            <a:lnSpc>
                              <a:spcPts val="1820"/>
                            </a:lnSpc>
                            <a:buNone/>
                          </a:pPr>
                          <a:r>
                            <a:rPr lang="es-ES_tradnl" sz="1300" noProof="0" dirty="0">
                              <a:solidFill>
                                <a:srgbClr val="3C3C3B"/>
                              </a:solidFill>
                              <a:latin typeface="Roboto" pitchFamily="34" charset="0"/>
                              <a:ea typeface="Roboto" pitchFamily="34" charset="-122"/>
                              <a:cs typeface="Roboto" pitchFamily="34" charset="-120"/>
                            </a:rPr>
                            <a:t>conjunta, 7 </a:t>
                          </a:r>
                          <a:r>
                            <a:rPr lang="es-ES_tradnl" sz="1300" noProof="0" dirty="0" err="1">
                              <a:solidFill>
                                <a:srgbClr val="3C3C3B"/>
                              </a:solidFill>
                              <a:latin typeface="Roboto" pitchFamily="34" charset="0"/>
                              <a:ea typeface="Roboto" pitchFamily="34" charset="-122"/>
                              <a:cs typeface="Roboto" pitchFamily="34" charset="-120"/>
                            </a:rPr>
                            <a:t>qubits</a:t>
                          </a:r>
                          <a:r>
                            <a:rPr lang="es-ES_tradnl" sz="1300" noProof="0" dirty="0">
                              <a:solidFill>
                                <a:srgbClr val="3C3C3B"/>
                              </a:solidFill>
                              <a:latin typeface="Roboto" pitchFamily="34" charset="0"/>
                              <a:ea typeface="Roboto" pitchFamily="34" charset="-122"/>
                              <a:cs typeface="Roboto" pitchFamily="34" charset="-120"/>
                            </a:rPr>
                            <a:t> (D = 128)</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333332"/>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C000"/>
                        </a:solidFill>
                      </a:tcPr>
                    </a:tc>
                    <a:tc>
                      <a:txBody>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0.1202</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333332"/>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C000"/>
                        </a:solidFill>
                      </a:tcPr>
                    </a:tc>
                    <a:tc>
                      <a:txBody>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0.1064</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333332"/>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C000"/>
                        </a:solidFill>
                      </a:tcPr>
                    </a:tc>
                    <a:tc>
                      <a:txBody>
                        <a:bodyPr/>
                        <a:lstStyle/>
                        <a:p>
                          <a:pPr marL="0" indent="0" algn="r">
                            <a:lnSpc>
                              <a:spcPts val="1820"/>
                            </a:lnSpc>
                            <a:buNone/>
                          </a:pPr>
                          <a:r>
                            <a:rPr lang="es-ES_tradnl" sz="1300" noProof="0" dirty="0">
                              <a:solidFill>
                                <a:srgbClr val="293470"/>
                              </a:solidFill>
                              <a:latin typeface="Roboto" pitchFamily="34" charset="0"/>
                              <a:ea typeface="Roboto" pitchFamily="34" charset="-122"/>
                              <a:cs typeface="Roboto" pitchFamily="34" charset="-120"/>
                            </a:rPr>
                            <a:t>1.13</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333332"/>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C000"/>
                        </a:solidFill>
                      </a:tcPr>
                    </a:tc>
                    <a:extLst>
                      <a:ext uri="{0D108BD9-81ED-4DB2-BD59-A6C34878D82A}">
                        <a16:rowId xmlns:a16="http://schemas.microsoft.com/office/drawing/2014/main" val="10001"/>
                      </a:ext>
                    </a:extLst>
                  </a:tr>
                  <a:tr h="359271">
                    <a:tc>
                      <a:txBody>
                        <a:bodyPr/>
                        <a:lstStyle/>
                        <a:p>
                          <a:pPr marL="0" indent="0">
                            <a:lnSpc>
                              <a:spcPts val="1820"/>
                            </a:lnSpc>
                            <a:buNone/>
                          </a:pPr>
                          <a:r>
                            <a:rPr lang="es-ES_tradnl" sz="1300" noProof="0" dirty="0" err="1">
                              <a:solidFill>
                                <a:srgbClr val="3C3C3B"/>
                              </a:solidFill>
                              <a:latin typeface="Roboto" pitchFamily="34" charset="0"/>
                              <a:ea typeface="Roboto" pitchFamily="34" charset="-122"/>
                              <a:cs typeface="Roboto" pitchFamily="34" charset="-120"/>
                            </a:rPr>
                            <a:t>Depolarizante</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nSpc>
                              <a:spcPts val="1820"/>
                            </a:lnSpc>
                            <a:buNone/>
                          </a:pPr>
                          <a:r>
                            <a:rPr lang="es-ES_tradnl" sz="1300" noProof="0" dirty="0">
                              <a:solidFill>
                                <a:srgbClr val="3C3C3B"/>
                              </a:solidFill>
                              <a:latin typeface="Roboto" pitchFamily="34" charset="0"/>
                              <a:ea typeface="Roboto" pitchFamily="34" charset="-122"/>
                              <a:cs typeface="Roboto" pitchFamily="34" charset="-120"/>
                            </a:rPr>
                            <a:t>p = 0.5</a:t>
                          </a:r>
                          <a:endParaRPr lang="es-ES_tradnl" sz="1300" noProof="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nSpc>
                              <a:spcPts val="1820"/>
                            </a:lnSpc>
                            <a:buNone/>
                          </a:pPr>
                          <a:r>
                            <a:rPr lang="es-ES_tradnl" sz="1300" noProof="0" dirty="0">
                              <a:solidFill>
                                <a:srgbClr val="3C3C3B"/>
                              </a:solidFill>
                              <a:latin typeface="Roboto" pitchFamily="34" charset="0"/>
                              <a:ea typeface="Roboto" pitchFamily="34" charset="-122"/>
                              <a:cs typeface="Roboto" pitchFamily="34" charset="-120"/>
                            </a:rPr>
                            <a:t>por columna (D = 2)</a:t>
                          </a:r>
                          <a:endParaRPr lang="es-ES_tradnl" sz="1300" noProof="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0.00985</a:t>
                          </a:r>
                          <a:endParaRPr lang="es-ES_tradnl" sz="1300" noProof="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0.00676</a:t>
                          </a:r>
                          <a:endParaRPr lang="es-ES_tradnl" sz="1300" noProof="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gn="r">
                            <a:lnSpc>
                              <a:spcPts val="1820"/>
                            </a:lnSpc>
                            <a:buNone/>
                          </a:pPr>
                          <a:r>
                            <a:rPr lang="es-ES_tradnl" sz="1300" noProof="0" dirty="0">
                              <a:solidFill>
                                <a:srgbClr val="293470"/>
                              </a:solidFill>
                              <a:latin typeface="Roboto" pitchFamily="34" charset="0"/>
                              <a:ea typeface="Roboto" pitchFamily="34" charset="-122"/>
                              <a:cs typeface="Roboto" pitchFamily="34" charset="-120"/>
                            </a:rPr>
                            <a:t>1.46</a:t>
                          </a:r>
                          <a:endParaRPr lang="es-ES_tradnl" sz="1300" noProof="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extLst>
                      <a:ext uri="{0D108BD9-81ED-4DB2-BD59-A6C34878D82A}">
                        <a16:rowId xmlns:a16="http://schemas.microsoft.com/office/drawing/2014/main" val="10002"/>
                      </a:ext>
                    </a:extLst>
                  </a:tr>
                  <a:tr h="359271">
                    <a:tc>
                      <a:txBody>
                        <a:bodyPr/>
                        <a:lstStyle/>
                        <a:p>
                          <a:pPr marL="0" indent="0">
                            <a:lnSpc>
                              <a:spcPts val="1820"/>
                            </a:lnSpc>
                            <a:buNone/>
                          </a:pPr>
                          <a:r>
                            <a:rPr lang="es-ES_tradnl" sz="1300" noProof="0" dirty="0">
                              <a:solidFill>
                                <a:srgbClr val="3C3C3B"/>
                              </a:solidFill>
                              <a:latin typeface="Roboto" pitchFamily="34" charset="0"/>
                              <a:ea typeface="Roboto" pitchFamily="34" charset="-122"/>
                              <a:cs typeface="Roboto" pitchFamily="34" charset="-120"/>
                            </a:rPr>
                            <a:t>PAD</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3C1"/>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820"/>
                            </a:lnSpc>
                            <a:buNone/>
                          </a:pPr>
                          <a:r>
                            <a:rPr lang="es-ES_tradnl" sz="1300" noProof="0" dirty="0">
                              <a:solidFill>
                                <a:srgbClr val="3C3C3B"/>
                              </a:solidFill>
                              <a:latin typeface="Roboto" pitchFamily="34" charset="0"/>
                              <a:ea typeface="Roboto" pitchFamily="34" charset="-122"/>
                              <a:cs typeface="Roboto" pitchFamily="34" charset="-120"/>
                            </a:rPr>
                            <a:t>p = </a:t>
                          </a:r>
                          <a:r>
                            <a:rPr lang="es-ES_tradnl" sz="1300" noProof="0" dirty="0" err="1">
                              <a:solidFill>
                                <a:srgbClr val="3C3C3B"/>
                              </a:solidFill>
                              <a:latin typeface="Roboto" pitchFamily="34" charset="0"/>
                              <a:ea typeface="Roboto" pitchFamily="34" charset="-122"/>
                              <a:cs typeface="Roboto" pitchFamily="34" charset="-120"/>
                            </a:rPr>
                            <a:t>γ</a:t>
                          </a:r>
                          <a:r>
                            <a:rPr lang="es-ES_tradnl" sz="1300" noProof="0" dirty="0">
                              <a:solidFill>
                                <a:srgbClr val="3C3C3B"/>
                              </a:solidFill>
                              <a:latin typeface="Roboto" pitchFamily="34" charset="0"/>
                              <a:ea typeface="Roboto" pitchFamily="34" charset="-122"/>
                              <a:cs typeface="Roboto" pitchFamily="34" charset="-120"/>
                            </a:rPr>
                            <a:t> = 0.5, </a:t>
                          </a:r>
                          <a:r>
                            <a:rPr lang="es-ES_tradnl" sz="1300" noProof="0" dirty="0" err="1">
                              <a:solidFill>
                                <a:srgbClr val="3C3C3B"/>
                              </a:solidFill>
                              <a:latin typeface="Roboto" pitchFamily="34" charset="0"/>
                              <a:ea typeface="Roboto" pitchFamily="34" charset="-122"/>
                              <a:cs typeface="Roboto" pitchFamily="34" charset="-120"/>
                            </a:rPr>
                            <a:t>λ</a:t>
                          </a:r>
                          <a:r>
                            <a:rPr lang="es-ES_tradnl" sz="1300" noProof="0" dirty="0">
                              <a:solidFill>
                                <a:srgbClr val="3C3C3B"/>
                              </a:solidFill>
                              <a:latin typeface="Roboto" pitchFamily="34" charset="0"/>
                              <a:ea typeface="Roboto" pitchFamily="34" charset="-122"/>
                              <a:cs typeface="Roboto" pitchFamily="34" charset="-120"/>
                            </a:rPr>
                            <a:t> = 0.25</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3C1"/>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820"/>
                            </a:lnSpc>
                            <a:buNone/>
                          </a:pPr>
                          <a:r>
                            <a:rPr lang="es-ES_tradnl" sz="1300" noProof="0" dirty="0">
                              <a:solidFill>
                                <a:srgbClr val="3C3C3B"/>
                              </a:solidFill>
                              <a:latin typeface="Roboto" pitchFamily="34" charset="0"/>
                              <a:ea typeface="Roboto" pitchFamily="34" charset="-122"/>
                              <a:cs typeface="Roboto" pitchFamily="34" charset="-120"/>
                            </a:rPr>
                            <a:t>por columna</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3C1"/>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0.01555</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3C1"/>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0.00790</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3C1"/>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gn="r">
                            <a:lnSpc>
                              <a:spcPts val="1820"/>
                            </a:lnSpc>
                            <a:buNone/>
                          </a:pPr>
                          <a:r>
                            <a:rPr lang="es-ES_tradnl" sz="1300" noProof="0" dirty="0">
                              <a:solidFill>
                                <a:srgbClr val="293470"/>
                              </a:solidFill>
                              <a:latin typeface="Roboto" pitchFamily="34" charset="0"/>
                              <a:ea typeface="Roboto" pitchFamily="34" charset="-122"/>
                              <a:cs typeface="Roboto" pitchFamily="34" charset="-120"/>
                            </a:rPr>
                            <a:t>1.97</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3C1"/>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extLst>
                      <a:ext uri="{0D108BD9-81ED-4DB2-BD59-A6C34878D82A}">
                        <a16:rowId xmlns:a16="http://schemas.microsoft.com/office/drawing/2014/main" val="10003"/>
                      </a:ext>
                    </a:extLst>
                  </a:tr>
                  <a:tr h="359271">
                    <a:tc>
                      <a:txBody>
                        <a:bodyPr/>
                        <a:lstStyle/>
                        <a:p>
                          <a:pPr marL="0" indent="0">
                            <a:lnSpc>
                              <a:spcPts val="1820"/>
                            </a:lnSpc>
                            <a:buNone/>
                          </a:pPr>
                          <a:r>
                            <a:rPr lang="es-ES_tradnl" sz="1300" noProof="0" dirty="0">
                              <a:solidFill>
                                <a:srgbClr val="3C3C3B"/>
                              </a:solidFill>
                              <a:latin typeface="Roboto" pitchFamily="34" charset="0"/>
                              <a:ea typeface="Roboto" pitchFamily="34" charset="-122"/>
                              <a:cs typeface="Roboto" pitchFamily="34" charset="-120"/>
                            </a:rPr>
                            <a:t>GAD</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nSpc>
                              <a:spcPts val="1820"/>
                            </a:lnSpc>
                            <a:buNone/>
                          </a:pPr>
                          <a:r>
                            <a:rPr lang="es-ES_tradnl" sz="1300" noProof="0" dirty="0">
                              <a:solidFill>
                                <a:srgbClr val="3C3C3B"/>
                              </a:solidFill>
                              <a:latin typeface="Roboto" pitchFamily="34" charset="0"/>
                              <a:ea typeface="Roboto" pitchFamily="34" charset="-122"/>
                              <a:cs typeface="Roboto" pitchFamily="34" charset="-120"/>
                            </a:rPr>
                            <a:t>p = </a:t>
                          </a:r>
                          <a:r>
                            <a:rPr lang="es-ES_tradnl" sz="1300" noProof="0" dirty="0" err="1">
                              <a:solidFill>
                                <a:srgbClr val="3C3C3B"/>
                              </a:solidFill>
                              <a:latin typeface="Roboto" pitchFamily="34" charset="0"/>
                              <a:ea typeface="Roboto" pitchFamily="34" charset="-122"/>
                              <a:cs typeface="Roboto" pitchFamily="34" charset="-120"/>
                            </a:rPr>
                            <a:t>γ</a:t>
                          </a:r>
                          <a:r>
                            <a:rPr lang="es-ES_tradnl" sz="1300" noProof="0" dirty="0">
                              <a:solidFill>
                                <a:srgbClr val="3C3C3B"/>
                              </a:solidFill>
                              <a:latin typeface="Roboto" pitchFamily="34" charset="0"/>
                              <a:ea typeface="Roboto" pitchFamily="34" charset="-122"/>
                              <a:cs typeface="Roboto" pitchFamily="34" charset="-120"/>
                            </a:rPr>
                            <a:t> = 0.5</a:t>
                          </a:r>
                          <a:endParaRPr lang="es-ES_tradnl" sz="1300" noProof="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nSpc>
                              <a:spcPts val="1820"/>
                            </a:lnSpc>
                            <a:buNone/>
                          </a:pPr>
                          <a:r>
                            <a:rPr lang="es-ES_tradnl" sz="1300" noProof="0" dirty="0">
                              <a:solidFill>
                                <a:srgbClr val="3C3C3B"/>
                              </a:solidFill>
                              <a:latin typeface="Roboto" pitchFamily="34" charset="0"/>
                              <a:ea typeface="Roboto" pitchFamily="34" charset="-122"/>
                              <a:cs typeface="Roboto" pitchFamily="34" charset="-120"/>
                            </a:rPr>
                            <a:t>por columna</a:t>
                          </a:r>
                          <a:endParaRPr lang="es-ES_tradnl" sz="1300" noProof="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0.02375</a:t>
                          </a:r>
                          <a:endParaRPr lang="es-ES_tradnl" sz="1300" noProof="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0.00897</a:t>
                          </a:r>
                          <a:endParaRPr lang="es-ES_tradnl" sz="1300" noProof="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gn="r">
                            <a:lnSpc>
                              <a:spcPts val="1820"/>
                            </a:lnSpc>
                            <a:buNone/>
                          </a:pPr>
                          <a:r>
                            <a:rPr lang="es-ES_tradnl" sz="1300" noProof="0" dirty="0">
                              <a:solidFill>
                                <a:srgbClr val="293470"/>
                              </a:solidFill>
                              <a:latin typeface="Roboto" pitchFamily="34" charset="0"/>
                              <a:ea typeface="Roboto" pitchFamily="34" charset="-122"/>
                              <a:cs typeface="Roboto" pitchFamily="34" charset="-120"/>
                            </a:rPr>
                            <a:t>2.65</a:t>
                          </a:r>
                          <a:endParaRPr lang="es-ES_tradnl" sz="1300" noProof="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extLst>
                      <a:ext uri="{0D108BD9-81ED-4DB2-BD59-A6C34878D82A}">
                        <a16:rowId xmlns:a16="http://schemas.microsoft.com/office/drawing/2014/main" val="10004"/>
                      </a:ext>
                    </a:extLst>
                  </a:tr>
                </a:tbl>
              </a:graphicData>
            </a:graphic>
          </p:graphicFrame>
        </mc:Fallback>
      </mc:AlternateContent>
      <p:sp>
        <p:nvSpPr>
          <p:cNvPr id="10" name="Shape 6"/>
          <p:cNvSpPr/>
          <p:nvPr/>
        </p:nvSpPr>
        <p:spPr>
          <a:xfrm>
            <a:off x="812800" y="4150816"/>
            <a:ext cx="50800" cy="482600"/>
          </a:xfrm>
          <a:prstGeom prst="rect">
            <a:avLst/>
          </a:prstGeom>
          <a:solidFill>
            <a:srgbClr val="FFEE00"/>
          </a:solidFill>
          <a:ln/>
        </p:spPr>
        <p:txBody>
          <a:bodyPr/>
          <a:lstStyle/>
          <a:p>
            <a:endParaRPr lang="es-ES_tradnl" noProof="0" dirty="0"/>
          </a:p>
        </p:txBody>
      </p:sp>
      <p:sp>
        <p:nvSpPr>
          <p:cNvPr id="11" name="Text 7"/>
          <p:cNvSpPr/>
          <p:nvPr/>
        </p:nvSpPr>
        <p:spPr>
          <a:xfrm>
            <a:off x="990600" y="4150816"/>
            <a:ext cx="11201400" cy="274241"/>
          </a:xfrm>
          <a:prstGeom prst="rect">
            <a:avLst/>
          </a:prstGeom>
          <a:noFill/>
          <a:ln/>
        </p:spPr>
        <p:txBody>
          <a:bodyPr wrap="square" lIns="0" tIns="0" rIns="0" bIns="0" rtlCol="0" anchor="t">
            <a:normAutofit/>
          </a:bodyPr>
          <a:lstStyle/>
          <a:p>
            <a:pPr marL="0" indent="0" algn="l">
              <a:lnSpc>
                <a:spcPts val="1960"/>
              </a:lnSpc>
              <a:buNone/>
            </a:pPr>
            <a:r>
              <a:rPr lang="es-ES_tradnl" sz="1400" b="1" noProof="0" dirty="0">
                <a:solidFill>
                  <a:srgbClr val="3C3C3B"/>
                </a:solidFill>
                <a:latin typeface="Roboto" pitchFamily="34" charset="0"/>
                <a:ea typeface="Roboto" pitchFamily="34" charset="-122"/>
                <a:cs typeface="Roboto" pitchFamily="34" charset="-120"/>
              </a:rPr>
              <a:t>Por columna:</a:t>
            </a:r>
            <a:r>
              <a:rPr lang="es-ES_tradnl" sz="1400" noProof="0" dirty="0">
                <a:solidFill>
                  <a:srgbClr val="3C3C3B"/>
                </a:solidFill>
                <a:latin typeface="Roboto" pitchFamily="34" charset="0"/>
                <a:ea typeface="Roboto" pitchFamily="34" charset="-122"/>
                <a:cs typeface="Roboto" pitchFamily="34" charset="-120"/>
              </a:rPr>
              <a:t> cada atributo se agrega y recibe el ruido por separado (1 </a:t>
            </a:r>
            <a:r>
              <a:rPr lang="es-ES_tradnl" sz="1400" noProof="0" dirty="0" err="1">
                <a:solidFill>
                  <a:srgbClr val="3C3C3B"/>
                </a:solidFill>
                <a:latin typeface="Roboto" pitchFamily="34" charset="0"/>
                <a:ea typeface="Roboto" pitchFamily="34" charset="-122"/>
                <a:cs typeface="Roboto" pitchFamily="34" charset="-120"/>
              </a:rPr>
              <a:t>qubit</a:t>
            </a:r>
            <a:r>
              <a:rPr lang="es-ES_tradnl" sz="1400" noProof="0" dirty="0">
                <a:solidFill>
                  <a:srgbClr val="3C3C3B"/>
                </a:solidFill>
                <a:latin typeface="Roboto" pitchFamily="34" charset="0"/>
                <a:ea typeface="Roboto" pitchFamily="34" charset="-122"/>
                <a:cs typeface="Roboto" pitchFamily="34" charset="-120"/>
              </a:rPr>
              <a:t>), y los 7 </a:t>
            </a:r>
            <a:r>
              <a:rPr lang="es-ES_tradnl" sz="1400" noProof="0" dirty="0" err="1">
                <a:solidFill>
                  <a:srgbClr val="3C3C3B"/>
                </a:solidFill>
                <a:latin typeface="Roboto" pitchFamily="34" charset="0"/>
                <a:ea typeface="Roboto" pitchFamily="34" charset="-122"/>
                <a:cs typeface="Roboto" pitchFamily="34" charset="-120"/>
              </a:rPr>
              <a:t>ε</a:t>
            </a:r>
            <a:r>
              <a:rPr lang="es-ES_tradnl" sz="1400" noProof="0" dirty="0">
                <a:solidFill>
                  <a:srgbClr val="3C3C3B"/>
                </a:solidFill>
                <a:latin typeface="Roboto" pitchFamily="34" charset="0"/>
                <a:ea typeface="Roboto" pitchFamily="34" charset="-122"/>
                <a:cs typeface="Roboto" pitchFamily="34" charset="-120"/>
              </a:rPr>
              <a:t> se suman con el Teorema 4 (composición).</a:t>
            </a:r>
            <a:endParaRPr lang="es-ES_tradnl" sz="1400" noProof="0" dirty="0"/>
          </a:p>
        </p:txBody>
      </p:sp>
      <p:sp>
        <p:nvSpPr>
          <p:cNvPr id="13" name="Text 9"/>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dirty="0">
                <a:solidFill>
                  <a:srgbClr val="1D1D1B"/>
                </a:solidFill>
                <a:latin typeface="Roboto" pitchFamily="34" charset="0"/>
                <a:ea typeface="Roboto" pitchFamily="34" charset="-122"/>
                <a:cs typeface="Roboto" pitchFamily="34" charset="-120"/>
              </a:rPr>
              <a:t>05</a:t>
            </a:r>
            <a:endParaRPr lang="es-ES_tradnl" sz="1200" noProof="0" dirty="0"/>
          </a:p>
        </p:txBody>
      </p:sp>
    </p:spTree>
    <p:extLst>
      <p:ext uri="{BB962C8B-B14F-4D97-AF65-F5344CB8AC3E}">
        <p14:creationId xmlns:p14="http://schemas.microsoft.com/office/powerpoint/2010/main" val="126017395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s-ES_tradnl" noProof="0" dirty="0"/>
          </a:p>
        </p:txBody>
      </p:sp>
      <p:sp>
        <p:nvSpPr>
          <p:cNvPr id="3" name="Shape 1"/>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dirty="0">
                <a:solidFill>
                  <a:srgbClr val="1D1D1B"/>
                </a:solidFill>
                <a:latin typeface="DM Sans" pitchFamily="34" charset="0"/>
                <a:ea typeface="DM Sans" pitchFamily="34" charset="-122"/>
                <a:cs typeface="DM Sans" pitchFamily="34" charset="-120"/>
              </a:rPr>
              <a:t>I</a:t>
            </a:r>
            <a:endParaRPr lang="es-ES_tradnl" sz="1200" noProof="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dirty="0">
                <a:solidFill>
                  <a:srgbClr val="6E6E6C"/>
                </a:solidFill>
                <a:latin typeface="Roboto" pitchFamily="34" charset="0"/>
                <a:ea typeface="Roboto" pitchFamily="34" charset="-122"/>
                <a:cs typeface="Roboto" pitchFamily="34" charset="-120"/>
              </a:rPr>
              <a:t>DÓNDE ESTÁBAMOS</a:t>
            </a:r>
            <a:endParaRPr lang="es-ES_tradnl" sz="1200" noProof="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s-ES_tradnl" sz="2800" b="1" i="0" kern="0" spc="-50" noProof="0" dirty="0">
                <a:solidFill>
                  <a:srgbClr val="1D1D1B"/>
                </a:solidFill>
                <a:latin typeface="DM Sans" pitchFamily="34" charset="0"/>
                <a:ea typeface="DM Sans" pitchFamily="34" charset="-122"/>
                <a:cs typeface="DM Sans" pitchFamily="34" charset="-120"/>
              </a:rPr>
              <a:t>Conjunta contra por columna: el papel de D</a:t>
            </a:r>
            <a:endParaRPr lang="es-ES_tradnl" sz="2800" noProof="0" dirty="0"/>
          </a:p>
        </p:txBody>
      </p:sp>
      <p:sp>
        <p:nvSpPr>
          <p:cNvPr id="8" name="Text 5"/>
          <p:cNvSpPr/>
          <p:nvPr/>
        </p:nvSpPr>
        <p:spPr>
          <a:xfrm>
            <a:off x="812800" y="1305520"/>
            <a:ext cx="10883392" cy="322560"/>
          </a:xfrm>
          <a:prstGeom prst="rect">
            <a:avLst/>
          </a:prstGeom>
          <a:noFill/>
          <a:ln/>
        </p:spPr>
        <p:txBody>
          <a:bodyPr wrap="square" lIns="0" tIns="0" rIns="0" bIns="0" rtlCol="0" anchor="t">
            <a:normAutofit/>
          </a:bodyPr>
          <a:lstStyle/>
          <a:p>
            <a:pPr marL="0" indent="0" algn="l">
              <a:lnSpc>
                <a:spcPts val="2340"/>
              </a:lnSpc>
              <a:buNone/>
            </a:pPr>
            <a:r>
              <a:rPr lang="es-ES_tradnl" sz="1800" noProof="0" dirty="0">
                <a:solidFill>
                  <a:srgbClr val="3C3C3B"/>
                </a:solidFill>
                <a:latin typeface="Roboto" pitchFamily="34" charset="0"/>
                <a:ea typeface="Roboto" pitchFamily="34" charset="-122"/>
                <a:cs typeface="Roboto" pitchFamily="34" charset="-120"/>
              </a:rPr>
              <a:t>La diferencia entre 0.106 y 0.0068 viene de la dimensión D en la cota del Teorema 3.</a:t>
            </a:r>
            <a:endParaRPr lang="es-ES_tradnl" sz="1800" noProof="0" dirty="0"/>
          </a:p>
        </p:txBody>
      </p:sp>
      <p:pic>
        <p:nvPicPr>
          <p:cNvPr id="9" name="Image 1" descr="ε = ln[1 + ((1−p)/p)·d·D]"/>
          <p:cNvPicPr>
            <a:picLocks noChangeAspect="1"/>
          </p:cNvPicPr>
          <p:nvPr/>
        </p:nvPicPr>
        <p:blipFill>
          <a:blip r:embed="rId4"/>
          <a:srcRect t="-173" b="-173"/>
          <a:stretch/>
        </p:blipFill>
        <p:spPr>
          <a:xfrm>
            <a:off x="812800" y="1856680"/>
            <a:ext cx="2965450" cy="774700"/>
          </a:xfrm>
          <a:prstGeom prst="rect">
            <a:avLst/>
          </a:prstGeom>
        </p:spPr>
      </p:pic>
      <p:sp>
        <p:nvSpPr>
          <p:cNvPr id="10" name="Text 6"/>
          <p:cNvSpPr/>
          <p:nvPr/>
        </p:nvSpPr>
        <p:spPr>
          <a:xfrm>
            <a:off x="812800" y="2758380"/>
            <a:ext cx="279400" cy="279400"/>
          </a:xfrm>
          <a:custGeom>
            <a:avLst/>
            <a:gdLst/>
            <a:ahLst/>
            <a:cxnLst/>
            <a:rect l="l" t="t" r="r" b="b"/>
            <a:pathLst>
              <a:path w="279400" h="279400">
                <a:moveTo>
                  <a:pt x="139700" y="0"/>
                </a:moveTo>
                <a:lnTo>
                  <a:pt x="139700" y="0"/>
                </a:lnTo>
                <a:arcTo wR="139700" hR="139700" stAng="16200000" swAng="5400000"/>
                <a:lnTo>
                  <a:pt x="279400" y="139700"/>
                </a:lnTo>
                <a:arcTo wR="139700" hR="139700" stAng="0" swAng="5400000"/>
                <a:lnTo>
                  <a:pt x="139700" y="279400"/>
                </a:lnTo>
                <a:arcTo wR="139700" hR="139700" stAng="5400000" swAng="5400000"/>
                <a:lnTo>
                  <a:pt x="0" y="139700"/>
                </a:lnTo>
                <a:arcTo wR="139700" hR="139700" stAng="10800000" swAng="5400000"/>
                <a:close/>
              </a:path>
            </a:pathLst>
          </a:custGeom>
          <a:solidFill>
            <a:srgbClr val="FFEE00"/>
          </a:solidFill>
          <a:ln/>
        </p:spPr>
        <p:txBody>
          <a:bodyPr wrap="square" lIns="0" tIns="0" rIns="0" bIns="0" rtlCol="0" anchor="t">
            <a:normAutofit/>
          </a:bodyPr>
          <a:lstStyle/>
          <a:p>
            <a:pPr marL="0" indent="0" algn="ctr">
              <a:lnSpc>
                <a:spcPts val="2196"/>
              </a:lnSpc>
              <a:buNone/>
            </a:pPr>
            <a:r>
              <a:rPr lang="es-ES_tradnl" sz="1200" b="1" noProof="0" dirty="0">
                <a:solidFill>
                  <a:srgbClr val="1D1D1B"/>
                </a:solidFill>
                <a:latin typeface="Roboto" pitchFamily="34" charset="0"/>
                <a:ea typeface="Roboto" pitchFamily="34" charset="-122"/>
                <a:cs typeface="Roboto" pitchFamily="34" charset="-120"/>
              </a:rPr>
              <a:t>1</a:t>
            </a:r>
            <a:endParaRPr lang="es-ES_tradnl" sz="1200" noProof="0" dirty="0"/>
          </a:p>
        </p:txBody>
      </p:sp>
      <p:sp>
        <p:nvSpPr>
          <p:cNvPr id="11" name="Text 7"/>
          <p:cNvSpPr/>
          <p:nvPr/>
        </p:nvSpPr>
        <p:spPr>
          <a:xfrm>
            <a:off x="1219200" y="2758380"/>
            <a:ext cx="5729478" cy="523081"/>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El ruido mezcla con I/D: ningún resultado de medición tiene probabilidad menor que p/D (el piso).</a:t>
            </a:r>
            <a:endParaRPr lang="es-ES_tradnl" sz="1400" noProof="0" dirty="0"/>
          </a:p>
        </p:txBody>
      </p:sp>
      <p:sp>
        <p:nvSpPr>
          <p:cNvPr id="12" name="Text 8"/>
          <p:cNvSpPr/>
          <p:nvPr/>
        </p:nvSpPr>
        <p:spPr>
          <a:xfrm>
            <a:off x="812800" y="3383062"/>
            <a:ext cx="279400" cy="279400"/>
          </a:xfrm>
          <a:custGeom>
            <a:avLst/>
            <a:gdLst/>
            <a:ahLst/>
            <a:cxnLst/>
            <a:rect l="l" t="t" r="r" b="b"/>
            <a:pathLst>
              <a:path w="279400" h="279400">
                <a:moveTo>
                  <a:pt x="139700" y="0"/>
                </a:moveTo>
                <a:lnTo>
                  <a:pt x="139700" y="0"/>
                </a:lnTo>
                <a:arcTo wR="139700" hR="139700" stAng="16200000" swAng="5400000"/>
                <a:lnTo>
                  <a:pt x="279400" y="139700"/>
                </a:lnTo>
                <a:arcTo wR="139700" hR="139700" stAng="0" swAng="5400000"/>
                <a:lnTo>
                  <a:pt x="139700" y="279400"/>
                </a:lnTo>
                <a:arcTo wR="139700" hR="139700" stAng="5400000" swAng="5400000"/>
                <a:lnTo>
                  <a:pt x="0" y="139700"/>
                </a:lnTo>
                <a:arcTo wR="139700" hR="139700" stAng="10800000" swAng="5400000"/>
                <a:close/>
              </a:path>
            </a:pathLst>
          </a:custGeom>
          <a:solidFill>
            <a:srgbClr val="FFEE00"/>
          </a:solidFill>
          <a:ln/>
        </p:spPr>
        <p:txBody>
          <a:bodyPr wrap="square" lIns="0" tIns="0" rIns="0" bIns="0" rtlCol="0" anchor="t">
            <a:normAutofit/>
          </a:bodyPr>
          <a:lstStyle/>
          <a:p>
            <a:pPr marL="0" indent="0" algn="ctr">
              <a:lnSpc>
                <a:spcPts val="2196"/>
              </a:lnSpc>
              <a:buNone/>
            </a:pPr>
            <a:r>
              <a:rPr lang="es-ES_tradnl" sz="1200" b="1" noProof="0" dirty="0">
                <a:solidFill>
                  <a:srgbClr val="1D1D1B"/>
                </a:solidFill>
                <a:latin typeface="Roboto" pitchFamily="34" charset="0"/>
                <a:ea typeface="Roboto" pitchFamily="34" charset="-122"/>
                <a:cs typeface="Roboto" pitchFamily="34" charset="-120"/>
              </a:rPr>
              <a:t>2</a:t>
            </a:r>
            <a:endParaRPr lang="es-ES_tradnl" sz="1200" noProof="0" dirty="0"/>
          </a:p>
        </p:txBody>
      </p:sp>
      <p:sp>
        <p:nvSpPr>
          <p:cNvPr id="13" name="Text 9"/>
          <p:cNvSpPr/>
          <p:nvPr/>
        </p:nvSpPr>
        <p:spPr>
          <a:xfrm>
            <a:off x="1219200" y="3383062"/>
            <a:ext cx="5729478" cy="274241"/>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Dos vecinos difieren como mucho en (1 − p)·d.</a:t>
            </a:r>
            <a:endParaRPr lang="es-ES_tradnl" sz="1400" noProof="0" dirty="0"/>
          </a:p>
        </p:txBody>
      </p:sp>
      <p:sp>
        <p:nvSpPr>
          <p:cNvPr id="14" name="Text 10"/>
          <p:cNvSpPr/>
          <p:nvPr/>
        </p:nvSpPr>
        <p:spPr>
          <a:xfrm>
            <a:off x="812800" y="3789462"/>
            <a:ext cx="279400" cy="279400"/>
          </a:xfrm>
          <a:custGeom>
            <a:avLst/>
            <a:gdLst/>
            <a:ahLst/>
            <a:cxnLst/>
            <a:rect l="l" t="t" r="r" b="b"/>
            <a:pathLst>
              <a:path w="279400" h="279400">
                <a:moveTo>
                  <a:pt x="139700" y="0"/>
                </a:moveTo>
                <a:lnTo>
                  <a:pt x="139700" y="0"/>
                </a:lnTo>
                <a:arcTo wR="139700" hR="139700" stAng="16200000" swAng="5400000"/>
                <a:lnTo>
                  <a:pt x="279400" y="139700"/>
                </a:lnTo>
                <a:arcTo wR="139700" hR="139700" stAng="0" swAng="5400000"/>
                <a:lnTo>
                  <a:pt x="139700" y="279400"/>
                </a:lnTo>
                <a:arcTo wR="139700" hR="139700" stAng="5400000" swAng="5400000"/>
                <a:lnTo>
                  <a:pt x="0" y="139700"/>
                </a:lnTo>
                <a:arcTo wR="139700" hR="139700" stAng="10800000" swAng="5400000"/>
                <a:close/>
              </a:path>
            </a:pathLst>
          </a:custGeom>
          <a:solidFill>
            <a:srgbClr val="FFEE00"/>
          </a:solidFill>
          <a:ln/>
        </p:spPr>
        <p:txBody>
          <a:bodyPr wrap="square" lIns="0" tIns="0" rIns="0" bIns="0" rtlCol="0" anchor="t">
            <a:normAutofit/>
          </a:bodyPr>
          <a:lstStyle/>
          <a:p>
            <a:pPr marL="0" indent="0" algn="ctr">
              <a:lnSpc>
                <a:spcPts val="2196"/>
              </a:lnSpc>
              <a:buNone/>
            </a:pPr>
            <a:r>
              <a:rPr lang="es-ES_tradnl" sz="1200" b="1" noProof="0" dirty="0">
                <a:solidFill>
                  <a:srgbClr val="1D1D1B"/>
                </a:solidFill>
                <a:latin typeface="Roboto" pitchFamily="34" charset="0"/>
                <a:ea typeface="Roboto" pitchFamily="34" charset="-122"/>
                <a:cs typeface="Roboto" pitchFamily="34" charset="-120"/>
              </a:rPr>
              <a:t>3</a:t>
            </a:r>
            <a:endParaRPr lang="es-ES_tradnl" sz="1200" noProof="0" dirty="0"/>
          </a:p>
        </p:txBody>
      </p:sp>
      <p:sp>
        <p:nvSpPr>
          <p:cNvPr id="15" name="Text 11"/>
          <p:cNvSpPr/>
          <p:nvPr/>
        </p:nvSpPr>
        <p:spPr>
          <a:xfrm>
            <a:off x="1219200" y="3789462"/>
            <a:ext cx="5729478" cy="274241"/>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El cociente queda acotado, y esa es exactamente la fórmula:</a:t>
            </a:r>
            <a:endParaRPr lang="es-ES_tradnl" sz="1400" noProof="0" dirty="0"/>
          </a:p>
        </p:txBody>
      </p:sp>
      <p:pic>
        <p:nvPicPr>
          <p:cNvPr id="16" name="Image 2" descr="P(resultado | vecino 1) / P(resultado | vecino 2) ≤ 1 + (1−p)·d / (p/D)"/>
          <p:cNvPicPr>
            <a:picLocks noChangeAspect="1"/>
          </p:cNvPicPr>
          <p:nvPr/>
        </p:nvPicPr>
        <p:blipFill>
          <a:blip r:embed="rId5"/>
          <a:srcRect l="-137" r="-137"/>
          <a:stretch/>
        </p:blipFill>
        <p:spPr>
          <a:xfrm>
            <a:off x="1219200" y="4114502"/>
            <a:ext cx="4565650" cy="660400"/>
          </a:xfrm>
          <a:prstGeom prst="rect">
            <a:avLst/>
          </a:prstGeom>
        </p:spPr>
      </p:pic>
      <p:sp>
        <p:nvSpPr>
          <p:cNvPr id="17" name="Shape 12"/>
          <p:cNvSpPr/>
          <p:nvPr/>
        </p:nvSpPr>
        <p:spPr>
          <a:xfrm>
            <a:off x="7188200" y="1856680"/>
            <a:ext cx="4191000" cy="1970881"/>
          </a:xfrm>
          <a:prstGeom prst="roundRect">
            <a:avLst>
              <a:gd name="adj" fmla="val 5155"/>
            </a:avLst>
          </a:prstGeom>
          <a:solidFill>
            <a:srgbClr val="F4F4F2"/>
          </a:solidFill>
          <a:ln/>
        </p:spPr>
        <p:txBody>
          <a:bodyPr/>
          <a:lstStyle/>
          <a:p>
            <a:endParaRPr lang="es-ES_tradnl" noProof="0" dirty="0"/>
          </a:p>
        </p:txBody>
      </p:sp>
      <p:sp>
        <p:nvSpPr>
          <p:cNvPr id="18" name="Text 13"/>
          <p:cNvSpPr/>
          <p:nvPr/>
        </p:nvSpPr>
        <p:spPr>
          <a:xfrm>
            <a:off x="7391400" y="2059880"/>
            <a:ext cx="3898138" cy="238720"/>
          </a:xfrm>
          <a:prstGeom prst="rect">
            <a:avLst/>
          </a:prstGeom>
          <a:noFill/>
          <a:ln/>
        </p:spPr>
        <p:txBody>
          <a:bodyPr wrap="square" lIns="0" tIns="0" rIns="0" bIns="0" rtlCol="0" anchor="t">
            <a:normAutofit/>
          </a:bodyPr>
          <a:lstStyle/>
          <a:p>
            <a:pPr marL="0" indent="0" algn="l">
              <a:lnSpc>
                <a:spcPts val="1680"/>
              </a:lnSpc>
              <a:buNone/>
            </a:pPr>
            <a:r>
              <a:rPr lang="es-ES_tradnl" sz="1400" b="1" noProof="0" dirty="0">
                <a:solidFill>
                  <a:srgbClr val="1D1D1B"/>
                </a:solidFill>
                <a:latin typeface="DM Sans" pitchFamily="34" charset="0"/>
                <a:ea typeface="DM Sans" pitchFamily="34" charset="-122"/>
                <a:cs typeface="DM Sans" pitchFamily="34" charset="-120"/>
              </a:rPr>
              <a:t>Con 7 </a:t>
            </a:r>
            <a:r>
              <a:rPr lang="es-ES_tradnl" sz="1400" b="1" noProof="0" dirty="0" err="1">
                <a:solidFill>
                  <a:srgbClr val="1D1D1B"/>
                </a:solidFill>
                <a:latin typeface="DM Sans" pitchFamily="34" charset="0"/>
                <a:ea typeface="DM Sans" pitchFamily="34" charset="-122"/>
                <a:cs typeface="DM Sans" pitchFamily="34" charset="-120"/>
              </a:rPr>
              <a:t>qubits</a:t>
            </a:r>
            <a:endParaRPr lang="es-ES_tradnl" sz="1400" noProof="0" dirty="0"/>
          </a:p>
        </p:txBody>
      </p:sp>
      <p:sp>
        <p:nvSpPr>
          <p:cNvPr id="19" name="Text 14"/>
          <p:cNvSpPr/>
          <p:nvPr/>
        </p:nvSpPr>
        <p:spPr>
          <a:xfrm>
            <a:off x="7391400" y="2400201"/>
            <a:ext cx="1844421" cy="787400"/>
          </a:xfrm>
          <a:prstGeom prst="rect">
            <a:avLst/>
          </a:prstGeom>
          <a:noFill/>
          <a:ln/>
        </p:spPr>
        <p:txBody>
          <a:bodyPr wrap="square" lIns="0" tIns="0" rIns="0" bIns="0" rtlCol="0" anchor="t">
            <a:normAutofit/>
          </a:bodyPr>
          <a:lstStyle/>
          <a:p>
            <a:pPr marL="0" indent="0" algn="l">
              <a:lnSpc>
                <a:spcPts val="6000"/>
              </a:lnSpc>
              <a:buNone/>
            </a:pPr>
            <a:r>
              <a:rPr lang="es-ES_tradnl" sz="6000" b="1" kern="0" spc="-150" noProof="0" dirty="0">
                <a:solidFill>
                  <a:srgbClr val="293470"/>
                </a:solidFill>
                <a:latin typeface="DM Sans" pitchFamily="34" charset="0"/>
                <a:ea typeface="DM Sans" pitchFamily="34" charset="-122"/>
                <a:cs typeface="DM Sans" pitchFamily="34" charset="-120"/>
              </a:rPr>
              <a:t>128</a:t>
            </a:r>
            <a:endParaRPr lang="es-ES_tradnl" sz="6000" noProof="0" dirty="0"/>
          </a:p>
        </p:txBody>
      </p:sp>
      <p:sp>
        <p:nvSpPr>
          <p:cNvPr id="20" name="Text 15"/>
          <p:cNvSpPr/>
          <p:nvPr/>
        </p:nvSpPr>
        <p:spPr>
          <a:xfrm>
            <a:off x="7391400" y="3213001"/>
            <a:ext cx="1844421" cy="436761"/>
          </a:xfrm>
          <a:prstGeom prst="rect">
            <a:avLst/>
          </a:prstGeom>
          <a:noFill/>
          <a:ln/>
        </p:spPr>
        <p:txBody>
          <a:bodyPr wrap="square" lIns="0" tIns="0" rIns="0" bIns="0" rtlCol="0" anchor="t">
            <a:normAutofit/>
          </a:bodyPr>
          <a:lstStyle/>
          <a:p>
            <a:pPr marL="0" indent="0" algn="l">
              <a:lnSpc>
                <a:spcPts val="1620"/>
              </a:lnSpc>
              <a:buNone/>
            </a:pPr>
            <a:r>
              <a:rPr lang="es-ES_tradnl" sz="1200" noProof="0" dirty="0">
                <a:solidFill>
                  <a:srgbClr val="3C3C3B"/>
                </a:solidFill>
                <a:latin typeface="Roboto" pitchFamily="34" charset="0"/>
                <a:ea typeface="Roboto" pitchFamily="34" charset="-122"/>
                <a:cs typeface="Roboto" pitchFamily="34" charset="-120"/>
              </a:rPr>
              <a:t>Conjunta: D = 2⁷, crece como 2ⁿ (exponencial)</a:t>
            </a:r>
            <a:endParaRPr lang="es-ES_tradnl" sz="1200" noProof="0" dirty="0"/>
          </a:p>
        </p:txBody>
      </p:sp>
      <p:sp>
        <p:nvSpPr>
          <p:cNvPr id="21" name="Text 16"/>
          <p:cNvSpPr/>
          <p:nvPr/>
        </p:nvSpPr>
        <p:spPr>
          <a:xfrm>
            <a:off x="9385300" y="2400201"/>
            <a:ext cx="1844421" cy="787400"/>
          </a:xfrm>
          <a:prstGeom prst="rect">
            <a:avLst/>
          </a:prstGeom>
          <a:noFill/>
          <a:ln/>
        </p:spPr>
        <p:txBody>
          <a:bodyPr wrap="square" lIns="0" tIns="0" rIns="0" bIns="0" rtlCol="0" anchor="t">
            <a:normAutofit/>
          </a:bodyPr>
          <a:lstStyle/>
          <a:p>
            <a:pPr marL="0" indent="0" algn="l">
              <a:lnSpc>
                <a:spcPts val="6000"/>
              </a:lnSpc>
              <a:buNone/>
            </a:pPr>
            <a:r>
              <a:rPr lang="es-ES_tradnl" sz="6000" b="1" kern="0" spc="-150" noProof="0" dirty="0">
                <a:solidFill>
                  <a:srgbClr val="1D1D1B"/>
                </a:solidFill>
                <a:latin typeface="DM Sans" pitchFamily="34" charset="0"/>
                <a:ea typeface="DM Sans" pitchFamily="34" charset="-122"/>
                <a:cs typeface="DM Sans" pitchFamily="34" charset="-120"/>
              </a:rPr>
              <a:t>14</a:t>
            </a:r>
            <a:endParaRPr lang="es-ES_tradnl" sz="6000" noProof="0" dirty="0"/>
          </a:p>
        </p:txBody>
      </p:sp>
      <p:sp>
        <p:nvSpPr>
          <p:cNvPr id="22" name="Text 17"/>
          <p:cNvSpPr/>
          <p:nvPr/>
        </p:nvSpPr>
        <p:spPr>
          <a:xfrm>
            <a:off x="9385300" y="3213001"/>
            <a:ext cx="1844421" cy="436761"/>
          </a:xfrm>
          <a:prstGeom prst="rect">
            <a:avLst/>
          </a:prstGeom>
          <a:noFill/>
          <a:ln/>
        </p:spPr>
        <p:txBody>
          <a:bodyPr wrap="square" lIns="0" tIns="0" rIns="0" bIns="0" rtlCol="0" anchor="t">
            <a:normAutofit/>
          </a:bodyPr>
          <a:lstStyle/>
          <a:p>
            <a:pPr marL="0" indent="0" algn="l">
              <a:lnSpc>
                <a:spcPts val="1620"/>
              </a:lnSpc>
              <a:buNone/>
            </a:pPr>
            <a:r>
              <a:rPr lang="es-ES_tradnl" sz="1200" noProof="0" dirty="0">
                <a:solidFill>
                  <a:srgbClr val="3C3C3B"/>
                </a:solidFill>
                <a:latin typeface="Roboto" pitchFamily="34" charset="0"/>
                <a:ea typeface="Roboto" pitchFamily="34" charset="-122"/>
                <a:cs typeface="Roboto" pitchFamily="34" charset="-120"/>
              </a:rPr>
              <a:t>Por columnas: 7 × 2, crece como 2n (lineal)</a:t>
            </a:r>
            <a:endParaRPr lang="es-ES_tradnl" sz="1200" noProof="0" dirty="0"/>
          </a:p>
        </p:txBody>
      </p:sp>
      <p:sp>
        <p:nvSpPr>
          <p:cNvPr id="23" name="Text 18"/>
          <p:cNvSpPr/>
          <p:nvPr/>
        </p:nvSpPr>
        <p:spPr>
          <a:xfrm>
            <a:off x="7188200" y="3979962"/>
            <a:ext cx="4316730" cy="771922"/>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Publicar por columna cuesta menos </a:t>
            </a:r>
            <a:r>
              <a:rPr lang="es-ES_tradnl" sz="1400" noProof="0" dirty="0" err="1">
                <a:solidFill>
                  <a:srgbClr val="3C3C3B"/>
                </a:solidFill>
                <a:latin typeface="Roboto" pitchFamily="34" charset="0"/>
                <a:ea typeface="Roboto" pitchFamily="34" charset="-122"/>
                <a:cs typeface="Roboto" pitchFamily="34" charset="-120"/>
              </a:rPr>
              <a:t>ε</a:t>
            </a:r>
            <a:r>
              <a:rPr lang="es-ES_tradnl" sz="1400" noProof="0" dirty="0">
                <a:solidFill>
                  <a:srgbClr val="3C3C3B"/>
                </a:solidFill>
                <a:latin typeface="Roboto" pitchFamily="34" charset="0"/>
                <a:ea typeface="Roboto" pitchFamily="34" charset="-122"/>
                <a:cs typeface="Roboto" pitchFamily="34" charset="-120"/>
              </a:rPr>
              <a:t>, pero </a:t>
            </a:r>
            <a:r>
              <a:rPr lang="es-ES_tradnl" sz="1400" b="1" noProof="0" dirty="0">
                <a:solidFill>
                  <a:srgbClr val="3C3C3B"/>
                </a:solidFill>
                <a:latin typeface="Roboto" pitchFamily="34" charset="0"/>
                <a:ea typeface="Roboto" pitchFamily="34" charset="-122"/>
                <a:cs typeface="Roboto" pitchFamily="34" charset="-120"/>
              </a:rPr>
              <a:t>se pierden las correlaciones</a:t>
            </a:r>
            <a:r>
              <a:rPr lang="es-ES_tradnl" sz="1400" noProof="0" dirty="0">
                <a:solidFill>
                  <a:srgbClr val="3C3C3B"/>
                </a:solidFill>
                <a:latin typeface="Roboto" pitchFamily="34" charset="0"/>
                <a:ea typeface="Roboto" pitchFamily="34" charset="-122"/>
                <a:cs typeface="Roboto" pitchFamily="34" charset="-120"/>
              </a:rPr>
              <a:t> entre atributos: no se pueden hacer estudios conjuntos.</a:t>
            </a:r>
            <a:endParaRPr lang="es-ES_tradnl" sz="1400" noProof="0" dirty="0"/>
          </a:p>
        </p:txBody>
      </p:sp>
      <p:sp>
        <p:nvSpPr>
          <p:cNvPr id="25" name="Text 20"/>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a:solidFill>
                  <a:srgbClr val="1D1D1B"/>
                </a:solidFill>
                <a:latin typeface="Roboto" pitchFamily="34" charset="0"/>
                <a:ea typeface="Roboto" pitchFamily="34" charset="-122"/>
                <a:cs typeface="Roboto" pitchFamily="34" charset="-120"/>
              </a:rPr>
              <a:t>06</a:t>
            </a:r>
            <a:endParaRPr lang="es-ES_tradnl" sz="1200" noProof="0" dirty="0"/>
          </a:p>
        </p:txBody>
      </p:sp>
      <p:pic>
        <p:nvPicPr>
          <p:cNvPr id="24" name="Picture 23">
            <a:extLst>
              <a:ext uri="{FF2B5EF4-FFF2-40B4-BE49-F238E27FC236}">
                <a16:creationId xmlns:a16="http://schemas.microsoft.com/office/drawing/2014/main" id="{6E05C371-5796-8BA4-32F5-AD6FA3EE6A27}"/>
              </a:ext>
            </a:extLst>
          </p:cNvPr>
          <p:cNvPicPr>
            <a:picLocks noChangeAspect="1"/>
          </p:cNvPicPr>
          <p:nvPr/>
        </p:nvPicPr>
        <p:blipFill>
          <a:blip r:embed="rId6"/>
          <a:stretch>
            <a:fillRect/>
          </a:stretch>
        </p:blipFill>
        <p:spPr>
          <a:xfrm>
            <a:off x="3927729" y="1907994"/>
            <a:ext cx="2906522" cy="672071"/>
          </a:xfrm>
          <a:prstGeom prst="rect">
            <a:avLst/>
          </a:prstGeom>
        </p:spPr>
      </p:pic>
    </p:spTree>
    <p:extLst>
      <p:ext uri="{BB962C8B-B14F-4D97-AF65-F5344CB8AC3E}">
        <p14:creationId xmlns:p14="http://schemas.microsoft.com/office/powerpoint/2010/main" val="102468988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s-ES_tradnl" noProof="0" dirty="0"/>
          </a:p>
        </p:txBody>
      </p:sp>
      <p:sp>
        <p:nvSpPr>
          <p:cNvPr id="3" name="Shape 1"/>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dirty="0">
                <a:solidFill>
                  <a:srgbClr val="1D1D1B"/>
                </a:solidFill>
                <a:latin typeface="DM Sans" pitchFamily="34" charset="0"/>
                <a:ea typeface="DM Sans" pitchFamily="34" charset="-122"/>
                <a:cs typeface="DM Sans" pitchFamily="34" charset="-120"/>
              </a:rPr>
              <a:t>I</a:t>
            </a:r>
            <a:endParaRPr lang="es-ES_tradnl" sz="1200" noProof="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dirty="0">
                <a:solidFill>
                  <a:srgbClr val="6E6E6C"/>
                </a:solidFill>
                <a:latin typeface="Roboto" pitchFamily="34" charset="0"/>
                <a:ea typeface="Roboto" pitchFamily="34" charset="-122"/>
                <a:cs typeface="Roboto" pitchFamily="34" charset="-120"/>
              </a:rPr>
              <a:t>DÓNDE ESTÁBAMOS</a:t>
            </a:r>
            <a:endParaRPr lang="es-ES_tradnl" sz="1200" noProof="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s-ES_tradnl" sz="2800" b="1" i="0" kern="0" spc="-50" noProof="0" dirty="0">
                <a:solidFill>
                  <a:srgbClr val="1D1D1B"/>
                </a:solidFill>
                <a:latin typeface="DM Sans" pitchFamily="34" charset="0"/>
                <a:ea typeface="DM Sans" pitchFamily="34" charset="-122"/>
                <a:cs typeface="DM Sans" pitchFamily="34" charset="-120"/>
              </a:rPr>
              <a:t>Con p = </a:t>
            </a:r>
            <a:r>
              <a:rPr lang="es-ES_tradnl" sz="2800" b="1" i="0" kern="0" spc="-50" noProof="0" dirty="0" err="1">
                <a:solidFill>
                  <a:srgbClr val="1D1D1B"/>
                </a:solidFill>
                <a:latin typeface="DM Sans" pitchFamily="34" charset="0"/>
                <a:ea typeface="DM Sans" pitchFamily="34" charset="-122"/>
                <a:cs typeface="DM Sans" pitchFamily="34" charset="-120"/>
              </a:rPr>
              <a:t>γ</a:t>
            </a:r>
            <a:r>
              <a:rPr lang="es-ES_tradnl" sz="2800" b="1" i="0" kern="0" spc="-50" noProof="0" dirty="0">
                <a:solidFill>
                  <a:srgbClr val="1D1D1B"/>
                </a:solidFill>
                <a:latin typeface="DM Sans" pitchFamily="34" charset="0"/>
                <a:ea typeface="DM Sans" pitchFamily="34" charset="-122"/>
                <a:cs typeface="DM Sans" pitchFamily="34" charset="-120"/>
              </a:rPr>
              <a:t> = 0.5: </a:t>
            </a:r>
            <a:r>
              <a:rPr lang="es-ES_tradnl" sz="2800" b="1" i="0" kern="0" spc="-50" noProof="0" dirty="0" err="1">
                <a:solidFill>
                  <a:srgbClr val="1D1D1B"/>
                </a:solidFill>
                <a:latin typeface="DM Sans" pitchFamily="34" charset="0"/>
                <a:ea typeface="DM Sans" pitchFamily="34" charset="-122"/>
                <a:cs typeface="DM Sans" pitchFamily="34" charset="-120"/>
              </a:rPr>
              <a:t>depolarizante</a:t>
            </a:r>
            <a:r>
              <a:rPr lang="es-ES_tradnl" sz="2800" b="1" i="0" kern="0" spc="-50" noProof="0" dirty="0">
                <a:solidFill>
                  <a:srgbClr val="1D1D1B"/>
                </a:solidFill>
                <a:latin typeface="DM Sans" pitchFamily="34" charset="0"/>
                <a:ea typeface="DM Sans" pitchFamily="34" charset="-122"/>
                <a:cs typeface="DM Sans" pitchFamily="34" charset="-120"/>
              </a:rPr>
              <a:t> &lt; PAD &lt; GAD</a:t>
            </a:r>
            <a:endParaRPr lang="es-ES_tradnl" sz="2800" noProof="0" dirty="0"/>
          </a:p>
        </p:txBody>
      </p:sp>
      <p:sp>
        <p:nvSpPr>
          <p:cNvPr id="8" name="Text 5"/>
          <p:cNvSpPr/>
          <p:nvPr/>
        </p:nvSpPr>
        <p:spPr>
          <a:xfrm>
            <a:off x="812800" y="1305520"/>
            <a:ext cx="10883392" cy="322560"/>
          </a:xfrm>
          <a:prstGeom prst="rect">
            <a:avLst/>
          </a:prstGeom>
          <a:noFill/>
          <a:ln/>
        </p:spPr>
        <p:txBody>
          <a:bodyPr wrap="square" lIns="0" tIns="0" rIns="0" bIns="0" rtlCol="0" anchor="t">
            <a:normAutofit/>
          </a:bodyPr>
          <a:lstStyle/>
          <a:p>
            <a:pPr marL="0" indent="0" algn="l">
              <a:lnSpc>
                <a:spcPts val="2340"/>
              </a:lnSpc>
              <a:buNone/>
            </a:pPr>
            <a:r>
              <a:rPr lang="es-ES_tradnl" sz="1800" noProof="0" dirty="0">
                <a:solidFill>
                  <a:srgbClr val="3C3C3B"/>
                </a:solidFill>
                <a:latin typeface="Roboto" pitchFamily="34" charset="0"/>
                <a:ea typeface="Roboto" pitchFamily="34" charset="-122"/>
                <a:cs typeface="Roboto" pitchFamily="34" charset="-120"/>
              </a:rPr>
              <a:t>El orden lo explica cuánto encoge cada canal el vector de Bloch en x e y.</a:t>
            </a:r>
            <a:endParaRPr lang="es-ES_tradnl" sz="1800" noProof="0" dirty="0"/>
          </a:p>
        </p:txBody>
      </p:sp>
      <p:sp>
        <p:nvSpPr>
          <p:cNvPr id="9" name="Text 6"/>
          <p:cNvSpPr/>
          <p:nvPr/>
        </p:nvSpPr>
        <p:spPr>
          <a:xfrm>
            <a:off x="812800" y="1856680"/>
            <a:ext cx="1962150" cy="238720"/>
          </a:xfrm>
          <a:prstGeom prst="rect">
            <a:avLst/>
          </a:prstGeom>
          <a:noFill/>
          <a:ln/>
        </p:spPr>
        <p:txBody>
          <a:bodyPr wrap="square" lIns="0" tIns="0" rIns="0" bIns="0" rtlCol="0" anchor="t">
            <a:normAutofit/>
          </a:bodyPr>
          <a:lstStyle/>
          <a:p>
            <a:pPr marL="0" indent="0" algn="l">
              <a:lnSpc>
                <a:spcPts val="1680"/>
              </a:lnSpc>
              <a:buNone/>
            </a:pPr>
            <a:r>
              <a:rPr lang="es-ES_tradnl" sz="1200" b="1" noProof="0" dirty="0">
                <a:solidFill>
                  <a:srgbClr val="6E6E6C"/>
                </a:solidFill>
                <a:latin typeface="Roboto" pitchFamily="34" charset="0"/>
                <a:ea typeface="Roboto" pitchFamily="34" charset="-122"/>
                <a:cs typeface="Roboto" pitchFamily="34" charset="-120"/>
              </a:rPr>
              <a:t>Canal</a:t>
            </a:r>
            <a:endParaRPr lang="es-ES_tradnl" sz="1200" noProof="0" dirty="0"/>
          </a:p>
        </p:txBody>
      </p:sp>
      <p:sp>
        <p:nvSpPr>
          <p:cNvPr id="10" name="Text 7"/>
          <p:cNvSpPr/>
          <p:nvPr/>
        </p:nvSpPr>
        <p:spPr>
          <a:xfrm>
            <a:off x="2921000" y="1856680"/>
            <a:ext cx="6148070" cy="238720"/>
          </a:xfrm>
          <a:prstGeom prst="rect">
            <a:avLst/>
          </a:prstGeom>
          <a:noFill/>
          <a:ln/>
        </p:spPr>
        <p:txBody>
          <a:bodyPr wrap="square" lIns="0" tIns="0" rIns="0" bIns="0" rtlCol="0" anchor="t">
            <a:normAutofit/>
          </a:bodyPr>
          <a:lstStyle/>
          <a:p>
            <a:pPr marL="0" indent="0" algn="l">
              <a:lnSpc>
                <a:spcPts val="1680"/>
              </a:lnSpc>
              <a:buNone/>
            </a:pPr>
            <a:r>
              <a:rPr lang="es-ES_tradnl" sz="1200" b="1" noProof="0" dirty="0">
                <a:solidFill>
                  <a:srgbClr val="6E6E6C"/>
                </a:solidFill>
                <a:latin typeface="Roboto" pitchFamily="34" charset="0"/>
                <a:ea typeface="Roboto" pitchFamily="34" charset="-122"/>
                <a:cs typeface="Roboto" pitchFamily="34" charset="-120"/>
              </a:rPr>
              <a:t>Factor de encogimiento en x, y (de 0 a 1)</a:t>
            </a:r>
            <a:endParaRPr lang="es-ES_tradnl" sz="1200" noProof="0" dirty="0"/>
          </a:p>
        </p:txBody>
      </p:sp>
      <p:sp>
        <p:nvSpPr>
          <p:cNvPr id="11" name="Text 8"/>
          <p:cNvSpPr/>
          <p:nvPr/>
        </p:nvSpPr>
        <p:spPr>
          <a:xfrm>
            <a:off x="9024620" y="1856680"/>
            <a:ext cx="2354580" cy="238720"/>
          </a:xfrm>
          <a:prstGeom prst="rect">
            <a:avLst/>
          </a:prstGeom>
          <a:noFill/>
          <a:ln/>
        </p:spPr>
        <p:txBody>
          <a:bodyPr wrap="square" lIns="0" tIns="0" rIns="0" bIns="0" rtlCol="0" anchor="t">
            <a:normAutofit/>
          </a:bodyPr>
          <a:lstStyle/>
          <a:p>
            <a:pPr marL="0" indent="0" algn="r">
              <a:lnSpc>
                <a:spcPts val="1680"/>
              </a:lnSpc>
              <a:buNone/>
            </a:pPr>
            <a:r>
              <a:rPr lang="es-ES_tradnl" sz="1200" b="1" noProof="0" dirty="0" err="1">
                <a:solidFill>
                  <a:srgbClr val="6E6E6C"/>
                </a:solidFill>
                <a:latin typeface="Roboto" pitchFamily="34" charset="0"/>
                <a:ea typeface="Roboto" pitchFamily="34" charset="-122"/>
                <a:cs typeface="Roboto" pitchFamily="34" charset="-120"/>
              </a:rPr>
              <a:t>Σ</a:t>
            </a:r>
            <a:r>
              <a:rPr lang="es-ES_tradnl" sz="1200" b="1" noProof="0" dirty="0">
                <a:solidFill>
                  <a:srgbClr val="6E6E6C"/>
                </a:solidFill>
                <a:latin typeface="Roboto" pitchFamily="34" charset="0"/>
                <a:ea typeface="Roboto" pitchFamily="34" charset="-122"/>
                <a:cs typeface="Roboto" pitchFamily="34" charset="-120"/>
              </a:rPr>
              <a:t> </a:t>
            </a:r>
            <a:r>
              <a:rPr lang="es-ES_tradnl" sz="1200" b="1" noProof="0" dirty="0" err="1">
                <a:solidFill>
                  <a:srgbClr val="6E6E6C"/>
                </a:solidFill>
                <a:latin typeface="Roboto" pitchFamily="34" charset="0"/>
                <a:ea typeface="Roboto" pitchFamily="34" charset="-122"/>
                <a:cs typeface="Roboto" pitchFamily="34" charset="-120"/>
              </a:rPr>
              <a:t>ε</a:t>
            </a:r>
            <a:r>
              <a:rPr lang="es-ES_tradnl" sz="1200" b="1" noProof="0" dirty="0">
                <a:solidFill>
                  <a:srgbClr val="6E6E6C"/>
                </a:solidFill>
                <a:latin typeface="Roboto" pitchFamily="34" charset="0"/>
                <a:ea typeface="Roboto" pitchFamily="34" charset="-122"/>
                <a:cs typeface="Roboto" pitchFamily="34" charset="-120"/>
              </a:rPr>
              <a:t> experimental, por columna</a:t>
            </a:r>
            <a:endParaRPr lang="es-ES_tradnl" sz="1200" noProof="0" dirty="0"/>
          </a:p>
        </p:txBody>
      </p:sp>
      <p:sp>
        <p:nvSpPr>
          <p:cNvPr id="12" name="Text 9"/>
          <p:cNvSpPr/>
          <p:nvPr/>
        </p:nvSpPr>
        <p:spPr>
          <a:xfrm>
            <a:off x="812800" y="2207121"/>
            <a:ext cx="1962150" cy="274241"/>
          </a:xfrm>
          <a:prstGeom prst="rect">
            <a:avLst/>
          </a:prstGeom>
          <a:noFill/>
          <a:ln/>
        </p:spPr>
        <p:txBody>
          <a:bodyPr wrap="square" lIns="0" tIns="0" rIns="0" bIns="0" rtlCol="0" anchor="t">
            <a:normAutofit/>
          </a:bodyPr>
          <a:lstStyle/>
          <a:p>
            <a:pPr marL="0" indent="0" algn="l">
              <a:lnSpc>
                <a:spcPts val="1960"/>
              </a:lnSpc>
              <a:buNone/>
            </a:pPr>
            <a:r>
              <a:rPr lang="es-ES_tradnl" sz="1400" b="1" noProof="0" dirty="0" err="1">
                <a:solidFill>
                  <a:srgbClr val="1D1D1B"/>
                </a:solidFill>
                <a:latin typeface="Roboto" pitchFamily="34" charset="0"/>
                <a:ea typeface="Roboto" pitchFamily="34" charset="-122"/>
                <a:cs typeface="Roboto" pitchFamily="34" charset="-120"/>
              </a:rPr>
              <a:t>Depolarizante</a:t>
            </a:r>
            <a:endParaRPr lang="es-ES_tradnl" sz="1400" noProof="0" dirty="0"/>
          </a:p>
        </p:txBody>
      </p:sp>
      <p:sp>
        <p:nvSpPr>
          <p:cNvPr id="13" name="Shape 10"/>
          <p:cNvSpPr/>
          <p:nvPr/>
        </p:nvSpPr>
        <p:spPr>
          <a:xfrm>
            <a:off x="2921000" y="2179141"/>
            <a:ext cx="5969000" cy="304800"/>
          </a:xfrm>
          <a:prstGeom prst="rect">
            <a:avLst/>
          </a:prstGeom>
          <a:solidFill>
            <a:srgbClr val="F4F4F2"/>
          </a:solidFill>
          <a:ln/>
        </p:spPr>
        <p:txBody>
          <a:bodyPr/>
          <a:lstStyle/>
          <a:p>
            <a:endParaRPr lang="es-ES_tradnl" noProof="0" dirty="0"/>
          </a:p>
        </p:txBody>
      </p:sp>
      <p:sp>
        <p:nvSpPr>
          <p:cNvPr id="14" name="Shape 11"/>
          <p:cNvSpPr/>
          <p:nvPr/>
        </p:nvSpPr>
        <p:spPr>
          <a:xfrm>
            <a:off x="2921000" y="2179141"/>
            <a:ext cx="2984500" cy="304800"/>
          </a:xfrm>
          <a:prstGeom prst="rect">
            <a:avLst/>
          </a:prstGeom>
          <a:solidFill>
            <a:srgbClr val="293470"/>
          </a:solidFill>
          <a:ln/>
        </p:spPr>
        <p:txBody>
          <a:bodyPr/>
          <a:lstStyle/>
          <a:p>
            <a:endParaRPr lang="es-ES_tradnl" noProof="0" dirty="0"/>
          </a:p>
        </p:txBody>
      </p:sp>
      <p:sp>
        <p:nvSpPr>
          <p:cNvPr id="15" name="Text 12"/>
          <p:cNvSpPr/>
          <p:nvPr/>
        </p:nvSpPr>
        <p:spPr>
          <a:xfrm>
            <a:off x="6007100" y="2207121"/>
            <a:ext cx="429339" cy="274241"/>
          </a:xfrm>
          <a:prstGeom prst="rect">
            <a:avLst/>
          </a:prstGeom>
          <a:noFill/>
          <a:ln/>
        </p:spPr>
        <p:txBody>
          <a:bodyPr wrap="square" lIns="0" tIns="0" rIns="0" bIns="0" rtlCol="0" anchor="t">
            <a:normAutofit/>
          </a:bodyPr>
          <a:lstStyle/>
          <a:p>
            <a:pPr marL="0" indent="0" algn="l">
              <a:lnSpc>
                <a:spcPts val="1960"/>
              </a:lnSpc>
              <a:buNone/>
            </a:pPr>
            <a:r>
              <a:rPr lang="es-ES_tradnl" sz="1400" b="1" noProof="0" dirty="0">
                <a:solidFill>
                  <a:srgbClr val="293470"/>
                </a:solidFill>
                <a:latin typeface="Roboto" pitchFamily="34" charset="0"/>
                <a:ea typeface="Roboto" pitchFamily="34" charset="-122"/>
                <a:cs typeface="Roboto" pitchFamily="34" charset="-120"/>
              </a:rPr>
              <a:t>0.50</a:t>
            </a:r>
            <a:endParaRPr lang="es-ES_tradnl" sz="1400" noProof="0" dirty="0"/>
          </a:p>
        </p:txBody>
      </p:sp>
      <p:sp>
        <p:nvSpPr>
          <p:cNvPr id="16" name="Text 13"/>
          <p:cNvSpPr/>
          <p:nvPr/>
        </p:nvSpPr>
        <p:spPr>
          <a:xfrm>
            <a:off x="9024620" y="2171601"/>
            <a:ext cx="2354580" cy="345380"/>
          </a:xfrm>
          <a:prstGeom prst="rect">
            <a:avLst/>
          </a:prstGeom>
          <a:noFill/>
          <a:ln/>
        </p:spPr>
        <p:txBody>
          <a:bodyPr wrap="square" lIns="0" tIns="0" rIns="0" bIns="0" rtlCol="0" anchor="t">
            <a:normAutofit/>
          </a:bodyPr>
          <a:lstStyle/>
          <a:p>
            <a:pPr marL="0" indent="0" algn="r">
              <a:lnSpc>
                <a:spcPts val="2520"/>
              </a:lnSpc>
              <a:buNone/>
            </a:pPr>
            <a:r>
              <a:rPr lang="es-ES_tradnl" sz="1800" b="1" noProof="0" dirty="0">
                <a:solidFill>
                  <a:srgbClr val="1D1D1B"/>
                </a:solidFill>
                <a:latin typeface="DM Sans" pitchFamily="34" charset="0"/>
                <a:ea typeface="DM Sans" pitchFamily="34" charset="-122"/>
                <a:cs typeface="DM Sans" pitchFamily="34" charset="-120"/>
              </a:rPr>
              <a:t>0.00676</a:t>
            </a:r>
            <a:endParaRPr lang="es-ES_tradnl" sz="1800" noProof="0" dirty="0"/>
          </a:p>
        </p:txBody>
      </p:sp>
      <p:sp>
        <p:nvSpPr>
          <p:cNvPr id="17" name="Text 14"/>
          <p:cNvSpPr/>
          <p:nvPr/>
        </p:nvSpPr>
        <p:spPr>
          <a:xfrm>
            <a:off x="812800" y="2628702"/>
            <a:ext cx="1962150" cy="274241"/>
          </a:xfrm>
          <a:prstGeom prst="rect">
            <a:avLst/>
          </a:prstGeom>
          <a:noFill/>
          <a:ln/>
        </p:spPr>
        <p:txBody>
          <a:bodyPr wrap="square" lIns="0" tIns="0" rIns="0" bIns="0" rtlCol="0" anchor="t">
            <a:normAutofit/>
          </a:bodyPr>
          <a:lstStyle/>
          <a:p>
            <a:pPr marL="0" indent="0" algn="l">
              <a:lnSpc>
                <a:spcPts val="1960"/>
              </a:lnSpc>
              <a:buNone/>
            </a:pPr>
            <a:r>
              <a:rPr lang="es-ES_tradnl" sz="1400" b="1" noProof="0" dirty="0">
                <a:solidFill>
                  <a:srgbClr val="1D1D1B"/>
                </a:solidFill>
                <a:latin typeface="Roboto" pitchFamily="34" charset="0"/>
                <a:ea typeface="Roboto" pitchFamily="34" charset="-122"/>
                <a:cs typeface="Roboto" pitchFamily="34" charset="-120"/>
              </a:rPr>
              <a:t>PAD (</a:t>
            </a:r>
            <a:r>
              <a:rPr lang="es-ES_tradnl" sz="1400" b="1" noProof="0" dirty="0" err="1">
                <a:solidFill>
                  <a:srgbClr val="1D1D1B"/>
                </a:solidFill>
                <a:latin typeface="Roboto" pitchFamily="34" charset="0"/>
                <a:ea typeface="Roboto" pitchFamily="34" charset="-122"/>
                <a:cs typeface="Roboto" pitchFamily="34" charset="-120"/>
              </a:rPr>
              <a:t>λ</a:t>
            </a:r>
            <a:r>
              <a:rPr lang="es-ES_tradnl" sz="1400" b="1" noProof="0" dirty="0">
                <a:solidFill>
                  <a:srgbClr val="1D1D1B"/>
                </a:solidFill>
                <a:latin typeface="Roboto" pitchFamily="34" charset="0"/>
                <a:ea typeface="Roboto" pitchFamily="34" charset="-122"/>
                <a:cs typeface="Roboto" pitchFamily="34" charset="-120"/>
              </a:rPr>
              <a:t> = 0.25)</a:t>
            </a:r>
            <a:endParaRPr lang="es-ES_tradnl" sz="1400" noProof="0" dirty="0"/>
          </a:p>
        </p:txBody>
      </p:sp>
      <p:sp>
        <p:nvSpPr>
          <p:cNvPr id="18" name="Shape 15"/>
          <p:cNvSpPr/>
          <p:nvPr/>
        </p:nvSpPr>
        <p:spPr>
          <a:xfrm>
            <a:off x="2921000" y="2600722"/>
            <a:ext cx="5969000" cy="304800"/>
          </a:xfrm>
          <a:prstGeom prst="rect">
            <a:avLst/>
          </a:prstGeom>
          <a:solidFill>
            <a:srgbClr val="F4F4F2"/>
          </a:solidFill>
          <a:ln/>
        </p:spPr>
        <p:txBody>
          <a:bodyPr/>
          <a:lstStyle/>
          <a:p>
            <a:endParaRPr lang="es-ES_tradnl" noProof="0" dirty="0"/>
          </a:p>
        </p:txBody>
      </p:sp>
      <p:sp>
        <p:nvSpPr>
          <p:cNvPr id="19" name="Shape 16"/>
          <p:cNvSpPr/>
          <p:nvPr/>
        </p:nvSpPr>
        <p:spPr>
          <a:xfrm>
            <a:off x="2921000" y="2600722"/>
            <a:ext cx="3638550" cy="304800"/>
          </a:xfrm>
          <a:prstGeom prst="rect">
            <a:avLst/>
          </a:prstGeom>
          <a:solidFill>
            <a:srgbClr val="293470"/>
          </a:solidFill>
          <a:ln/>
        </p:spPr>
        <p:txBody>
          <a:bodyPr/>
          <a:lstStyle/>
          <a:p>
            <a:endParaRPr lang="es-ES_tradnl" noProof="0" dirty="0"/>
          </a:p>
        </p:txBody>
      </p:sp>
      <p:sp>
        <p:nvSpPr>
          <p:cNvPr id="20" name="Text 17"/>
          <p:cNvSpPr/>
          <p:nvPr/>
        </p:nvSpPr>
        <p:spPr>
          <a:xfrm>
            <a:off x="6661150" y="2628702"/>
            <a:ext cx="429339" cy="274241"/>
          </a:xfrm>
          <a:prstGeom prst="rect">
            <a:avLst/>
          </a:prstGeom>
          <a:noFill/>
          <a:ln/>
        </p:spPr>
        <p:txBody>
          <a:bodyPr wrap="square" lIns="0" tIns="0" rIns="0" bIns="0" rtlCol="0" anchor="t">
            <a:normAutofit/>
          </a:bodyPr>
          <a:lstStyle/>
          <a:p>
            <a:pPr marL="0" indent="0" algn="l">
              <a:lnSpc>
                <a:spcPts val="1960"/>
              </a:lnSpc>
              <a:buNone/>
            </a:pPr>
            <a:r>
              <a:rPr lang="es-ES_tradnl" sz="1400" b="1" noProof="0" dirty="0">
                <a:solidFill>
                  <a:srgbClr val="293470"/>
                </a:solidFill>
                <a:latin typeface="Roboto" pitchFamily="34" charset="0"/>
                <a:ea typeface="Roboto" pitchFamily="34" charset="-122"/>
                <a:cs typeface="Roboto" pitchFamily="34" charset="-120"/>
              </a:rPr>
              <a:t>0.61</a:t>
            </a:r>
            <a:endParaRPr lang="es-ES_tradnl" sz="1400" noProof="0" dirty="0"/>
          </a:p>
        </p:txBody>
      </p:sp>
      <p:sp>
        <p:nvSpPr>
          <p:cNvPr id="21" name="Text 18"/>
          <p:cNvSpPr/>
          <p:nvPr/>
        </p:nvSpPr>
        <p:spPr>
          <a:xfrm>
            <a:off x="9024620" y="2593181"/>
            <a:ext cx="2354580" cy="345380"/>
          </a:xfrm>
          <a:prstGeom prst="rect">
            <a:avLst/>
          </a:prstGeom>
          <a:noFill/>
          <a:ln/>
        </p:spPr>
        <p:txBody>
          <a:bodyPr wrap="square" lIns="0" tIns="0" rIns="0" bIns="0" rtlCol="0" anchor="t">
            <a:normAutofit/>
          </a:bodyPr>
          <a:lstStyle/>
          <a:p>
            <a:pPr marL="0" indent="0" algn="r">
              <a:lnSpc>
                <a:spcPts val="2520"/>
              </a:lnSpc>
              <a:buNone/>
            </a:pPr>
            <a:r>
              <a:rPr lang="es-ES_tradnl" sz="1800" b="1" noProof="0" dirty="0">
                <a:solidFill>
                  <a:srgbClr val="1D1D1B"/>
                </a:solidFill>
                <a:latin typeface="DM Sans" pitchFamily="34" charset="0"/>
                <a:ea typeface="DM Sans" pitchFamily="34" charset="-122"/>
                <a:cs typeface="DM Sans" pitchFamily="34" charset="-120"/>
              </a:rPr>
              <a:t>0.00790</a:t>
            </a:r>
            <a:endParaRPr lang="es-ES_tradnl" sz="1800" noProof="0" dirty="0"/>
          </a:p>
        </p:txBody>
      </p:sp>
      <p:sp>
        <p:nvSpPr>
          <p:cNvPr id="22" name="Text 19"/>
          <p:cNvSpPr/>
          <p:nvPr/>
        </p:nvSpPr>
        <p:spPr>
          <a:xfrm>
            <a:off x="812800" y="3050282"/>
            <a:ext cx="1962150" cy="274241"/>
          </a:xfrm>
          <a:prstGeom prst="rect">
            <a:avLst/>
          </a:prstGeom>
          <a:noFill/>
          <a:ln/>
        </p:spPr>
        <p:txBody>
          <a:bodyPr wrap="square" lIns="0" tIns="0" rIns="0" bIns="0" rtlCol="0" anchor="t">
            <a:normAutofit/>
          </a:bodyPr>
          <a:lstStyle/>
          <a:p>
            <a:pPr marL="0" indent="0" algn="l">
              <a:lnSpc>
                <a:spcPts val="1960"/>
              </a:lnSpc>
              <a:buNone/>
            </a:pPr>
            <a:r>
              <a:rPr lang="es-ES_tradnl" sz="1400" b="1" noProof="0" dirty="0">
                <a:solidFill>
                  <a:srgbClr val="1D1D1B"/>
                </a:solidFill>
                <a:latin typeface="Roboto" pitchFamily="34" charset="0"/>
                <a:ea typeface="Roboto" pitchFamily="34" charset="-122"/>
                <a:cs typeface="Roboto" pitchFamily="34" charset="-120"/>
              </a:rPr>
              <a:t>GAD</a:t>
            </a:r>
            <a:endParaRPr lang="es-ES_tradnl" sz="1400" noProof="0" dirty="0"/>
          </a:p>
        </p:txBody>
      </p:sp>
      <p:sp>
        <p:nvSpPr>
          <p:cNvPr id="23" name="Shape 20"/>
          <p:cNvSpPr/>
          <p:nvPr/>
        </p:nvSpPr>
        <p:spPr>
          <a:xfrm>
            <a:off x="2921000" y="3022302"/>
            <a:ext cx="5969000" cy="304800"/>
          </a:xfrm>
          <a:prstGeom prst="rect">
            <a:avLst/>
          </a:prstGeom>
          <a:solidFill>
            <a:srgbClr val="F4F4F2"/>
          </a:solidFill>
          <a:ln/>
        </p:spPr>
        <p:txBody>
          <a:bodyPr/>
          <a:lstStyle/>
          <a:p>
            <a:endParaRPr lang="es-ES_tradnl" noProof="0" dirty="0"/>
          </a:p>
        </p:txBody>
      </p:sp>
      <p:sp>
        <p:nvSpPr>
          <p:cNvPr id="24" name="Shape 21"/>
          <p:cNvSpPr/>
          <p:nvPr/>
        </p:nvSpPr>
        <p:spPr>
          <a:xfrm>
            <a:off x="2921000" y="3022302"/>
            <a:ext cx="4235450" cy="304800"/>
          </a:xfrm>
          <a:prstGeom prst="rect">
            <a:avLst/>
          </a:prstGeom>
          <a:solidFill>
            <a:srgbClr val="293470"/>
          </a:solidFill>
          <a:ln/>
        </p:spPr>
        <p:txBody>
          <a:bodyPr/>
          <a:lstStyle/>
          <a:p>
            <a:endParaRPr lang="es-ES_tradnl" noProof="0" dirty="0"/>
          </a:p>
        </p:txBody>
      </p:sp>
      <p:sp>
        <p:nvSpPr>
          <p:cNvPr id="25" name="Text 22"/>
          <p:cNvSpPr/>
          <p:nvPr/>
        </p:nvSpPr>
        <p:spPr>
          <a:xfrm>
            <a:off x="7258050" y="3050282"/>
            <a:ext cx="429339" cy="274241"/>
          </a:xfrm>
          <a:prstGeom prst="rect">
            <a:avLst/>
          </a:prstGeom>
          <a:noFill/>
          <a:ln/>
        </p:spPr>
        <p:txBody>
          <a:bodyPr wrap="square" lIns="0" tIns="0" rIns="0" bIns="0" rtlCol="0" anchor="t">
            <a:normAutofit/>
          </a:bodyPr>
          <a:lstStyle/>
          <a:p>
            <a:pPr marL="0" indent="0" algn="l">
              <a:lnSpc>
                <a:spcPts val="1960"/>
              </a:lnSpc>
              <a:buNone/>
            </a:pPr>
            <a:r>
              <a:rPr lang="es-ES_tradnl" sz="1400" b="1" noProof="0" dirty="0">
                <a:solidFill>
                  <a:srgbClr val="293470"/>
                </a:solidFill>
                <a:latin typeface="Roboto" pitchFamily="34" charset="0"/>
                <a:ea typeface="Roboto" pitchFamily="34" charset="-122"/>
                <a:cs typeface="Roboto" pitchFamily="34" charset="-120"/>
              </a:rPr>
              <a:t>0.71</a:t>
            </a:r>
            <a:endParaRPr lang="es-ES_tradnl" sz="1400" noProof="0" dirty="0"/>
          </a:p>
        </p:txBody>
      </p:sp>
      <p:sp>
        <p:nvSpPr>
          <p:cNvPr id="26" name="Text 23"/>
          <p:cNvSpPr/>
          <p:nvPr/>
        </p:nvSpPr>
        <p:spPr>
          <a:xfrm>
            <a:off x="9024620" y="3014762"/>
            <a:ext cx="2354580" cy="345380"/>
          </a:xfrm>
          <a:prstGeom prst="rect">
            <a:avLst/>
          </a:prstGeom>
          <a:noFill/>
          <a:ln/>
        </p:spPr>
        <p:txBody>
          <a:bodyPr wrap="square" lIns="0" tIns="0" rIns="0" bIns="0" rtlCol="0" anchor="t">
            <a:normAutofit/>
          </a:bodyPr>
          <a:lstStyle/>
          <a:p>
            <a:pPr marL="0" indent="0" algn="r">
              <a:lnSpc>
                <a:spcPts val="2520"/>
              </a:lnSpc>
              <a:buNone/>
            </a:pPr>
            <a:r>
              <a:rPr lang="es-ES_tradnl" sz="1800" b="1" noProof="0" dirty="0">
                <a:solidFill>
                  <a:srgbClr val="1D1D1B"/>
                </a:solidFill>
                <a:latin typeface="DM Sans" pitchFamily="34" charset="0"/>
                <a:ea typeface="DM Sans" pitchFamily="34" charset="-122"/>
                <a:cs typeface="DM Sans" pitchFamily="34" charset="-120"/>
              </a:rPr>
              <a:t>0.00897</a:t>
            </a:r>
            <a:endParaRPr lang="es-ES_tradnl" sz="1800" noProof="0" dirty="0"/>
          </a:p>
        </p:txBody>
      </p:sp>
      <p:sp>
        <p:nvSpPr>
          <p:cNvPr id="27" name="Text 24"/>
          <p:cNvSpPr/>
          <p:nvPr/>
        </p:nvSpPr>
        <p:spPr>
          <a:xfrm>
            <a:off x="812800" y="3487142"/>
            <a:ext cx="10883392" cy="523081"/>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Cuanto más encoge, menos distinguibles quedan los estados y menor es </a:t>
            </a:r>
            <a:r>
              <a:rPr lang="es-ES_tradnl" sz="1400" noProof="0" dirty="0" err="1">
                <a:solidFill>
                  <a:srgbClr val="3C3C3B"/>
                </a:solidFill>
                <a:latin typeface="Roboto" pitchFamily="34" charset="0"/>
                <a:ea typeface="Roboto" pitchFamily="34" charset="-122"/>
                <a:cs typeface="Roboto" pitchFamily="34" charset="-120"/>
              </a:rPr>
              <a:t>ε</a:t>
            </a:r>
            <a:r>
              <a:rPr lang="es-ES_tradnl" sz="1400" noProof="0" dirty="0">
                <a:solidFill>
                  <a:srgbClr val="3C3C3B"/>
                </a:solidFill>
                <a:latin typeface="Roboto" pitchFamily="34" charset="0"/>
                <a:ea typeface="Roboto" pitchFamily="34" charset="-122"/>
                <a:cs typeface="Roboto" pitchFamily="34" charset="-120"/>
              </a:rPr>
              <a:t>. </a:t>
            </a:r>
            <a:r>
              <a:rPr lang="es-ES_tradnl" sz="1400" b="1" noProof="0" dirty="0">
                <a:solidFill>
                  <a:srgbClr val="3C3C3B"/>
                </a:solidFill>
                <a:latin typeface="Roboto" pitchFamily="34" charset="0"/>
                <a:ea typeface="Roboto" pitchFamily="34" charset="-122"/>
                <a:cs typeface="Roboto" pitchFamily="34" charset="-120"/>
              </a:rPr>
              <a:t>El orden vale para estos parámetros</a:t>
            </a:r>
            <a:r>
              <a:rPr lang="es-ES_tradnl" sz="1400" noProof="0" dirty="0">
                <a:solidFill>
                  <a:srgbClr val="3C3C3B"/>
                </a:solidFill>
                <a:latin typeface="Roboto" pitchFamily="34" charset="0"/>
                <a:ea typeface="Roboto" pitchFamily="34" charset="-122"/>
                <a:cs typeface="Roboto" pitchFamily="34" charset="-120"/>
              </a:rPr>
              <a:t>, no como ranking general.</a:t>
            </a:r>
            <a:endParaRPr lang="es-ES_tradnl" sz="1400" noProof="0" dirty="0"/>
          </a:p>
        </p:txBody>
      </p:sp>
      <p:sp>
        <p:nvSpPr>
          <p:cNvPr id="28" name="Shape 25"/>
          <p:cNvSpPr/>
          <p:nvPr/>
        </p:nvSpPr>
        <p:spPr>
          <a:xfrm>
            <a:off x="812800" y="4238823"/>
            <a:ext cx="10566400" cy="1285081"/>
          </a:xfrm>
          <a:prstGeom prst="roundRect">
            <a:avLst>
              <a:gd name="adj" fmla="val 7906"/>
            </a:avLst>
          </a:prstGeom>
          <a:solidFill>
            <a:srgbClr val="F4F4F2"/>
          </a:solidFill>
          <a:ln/>
        </p:spPr>
        <p:txBody>
          <a:bodyPr/>
          <a:lstStyle/>
          <a:p>
            <a:endParaRPr lang="es-ES_tradnl" noProof="0" dirty="0"/>
          </a:p>
        </p:txBody>
      </p:sp>
      <p:sp>
        <p:nvSpPr>
          <p:cNvPr id="29" name="Text 26"/>
          <p:cNvSpPr/>
          <p:nvPr/>
        </p:nvSpPr>
        <p:spPr>
          <a:xfrm>
            <a:off x="1066800" y="4416623"/>
            <a:ext cx="3662680" cy="238720"/>
          </a:xfrm>
          <a:prstGeom prst="rect">
            <a:avLst/>
          </a:prstGeom>
          <a:noFill/>
          <a:ln/>
        </p:spPr>
        <p:txBody>
          <a:bodyPr wrap="square" lIns="0" tIns="0" rIns="0" bIns="0" rtlCol="0" anchor="t">
            <a:normAutofit/>
          </a:bodyPr>
          <a:lstStyle/>
          <a:p>
            <a:pPr marL="0" indent="0" algn="l">
              <a:lnSpc>
                <a:spcPts val="1680"/>
              </a:lnSpc>
              <a:buNone/>
            </a:pPr>
            <a:r>
              <a:rPr lang="es-ES_tradnl" sz="1400" b="1" noProof="0" dirty="0">
                <a:solidFill>
                  <a:srgbClr val="1D1D1B"/>
                </a:solidFill>
                <a:latin typeface="DM Sans" pitchFamily="34" charset="0"/>
                <a:ea typeface="DM Sans" pitchFamily="34" charset="-122"/>
                <a:cs typeface="DM Sans" pitchFamily="34" charset="-120"/>
              </a:rPr>
              <a:t>Elección de </a:t>
            </a:r>
            <a:r>
              <a:rPr lang="es-ES_tradnl" sz="1400" b="1" noProof="0" dirty="0" err="1">
                <a:solidFill>
                  <a:srgbClr val="1D1D1B"/>
                </a:solidFill>
                <a:latin typeface="DM Sans" pitchFamily="34" charset="0"/>
                <a:ea typeface="DM Sans" pitchFamily="34" charset="-122"/>
                <a:cs typeface="DM Sans" pitchFamily="34" charset="-120"/>
              </a:rPr>
              <a:t>λ</a:t>
            </a:r>
            <a:endParaRPr lang="es-ES_tradnl" sz="1400" noProof="0" dirty="0"/>
          </a:p>
        </p:txBody>
      </p:sp>
      <p:sp>
        <p:nvSpPr>
          <p:cNvPr id="30" name="Text 27"/>
          <p:cNvSpPr/>
          <p:nvPr/>
        </p:nvSpPr>
        <p:spPr>
          <a:xfrm>
            <a:off x="1066800" y="4706144"/>
            <a:ext cx="3662680" cy="665361"/>
          </a:xfrm>
          <a:prstGeom prst="rect">
            <a:avLst/>
          </a:prstGeom>
          <a:noFill/>
          <a:ln/>
        </p:spPr>
        <p:txBody>
          <a:bodyPr wrap="square" lIns="0" tIns="0" rIns="0" bIns="0" rtlCol="0" anchor="t">
            <a:normAutofit/>
          </a:bodyPr>
          <a:lstStyle/>
          <a:p>
            <a:pPr marL="0" indent="0" algn="l">
              <a:lnSpc>
                <a:spcPts val="1680"/>
              </a:lnSpc>
              <a:buNone/>
            </a:pPr>
            <a:r>
              <a:rPr lang="es-ES_tradnl" sz="1200" noProof="0" dirty="0">
                <a:solidFill>
                  <a:srgbClr val="3C3C3B"/>
                </a:solidFill>
                <a:latin typeface="Roboto" pitchFamily="34" charset="0"/>
                <a:ea typeface="Roboto" pitchFamily="34" charset="-122"/>
                <a:cs typeface="Roboto" pitchFamily="34" charset="-120"/>
              </a:rPr>
              <a:t>PAD con p = </a:t>
            </a:r>
            <a:r>
              <a:rPr lang="es-ES_tradnl" sz="1200" noProof="0" dirty="0" err="1">
                <a:solidFill>
                  <a:srgbClr val="3C3C3B"/>
                </a:solidFill>
                <a:latin typeface="Roboto" pitchFamily="34" charset="0"/>
                <a:ea typeface="Roboto" pitchFamily="34" charset="-122"/>
                <a:cs typeface="Roboto" pitchFamily="34" charset="-120"/>
              </a:rPr>
              <a:t>γ</a:t>
            </a:r>
            <a:r>
              <a:rPr lang="es-ES_tradnl" sz="1200" noProof="0" dirty="0">
                <a:solidFill>
                  <a:srgbClr val="3C3C3B"/>
                </a:solidFill>
                <a:latin typeface="Roboto" pitchFamily="34" charset="0"/>
                <a:ea typeface="Roboto" pitchFamily="34" charset="-122"/>
                <a:cs typeface="Roboto" pitchFamily="34" charset="-120"/>
              </a:rPr>
              <a:t> = 0.5 va de GAD (</a:t>
            </a:r>
            <a:r>
              <a:rPr lang="es-ES_tradnl" sz="1200" noProof="0" dirty="0" err="1">
                <a:solidFill>
                  <a:srgbClr val="3C3C3B"/>
                </a:solidFill>
                <a:latin typeface="Roboto" pitchFamily="34" charset="0"/>
                <a:ea typeface="Roboto" pitchFamily="34" charset="-122"/>
                <a:cs typeface="Roboto" pitchFamily="34" charset="-120"/>
              </a:rPr>
              <a:t>λ</a:t>
            </a:r>
            <a:r>
              <a:rPr lang="es-ES_tradnl" sz="1200" noProof="0" dirty="0">
                <a:solidFill>
                  <a:srgbClr val="3C3C3B"/>
                </a:solidFill>
                <a:latin typeface="Roboto" pitchFamily="34" charset="0"/>
                <a:ea typeface="Roboto" pitchFamily="34" charset="-122"/>
                <a:cs typeface="Roboto" pitchFamily="34" charset="-120"/>
              </a:rPr>
              <a:t> = 0) al </a:t>
            </a:r>
            <a:r>
              <a:rPr lang="es-ES_tradnl" sz="1200" noProof="0" dirty="0" err="1">
                <a:solidFill>
                  <a:srgbClr val="3C3C3B"/>
                </a:solidFill>
                <a:latin typeface="Roboto" pitchFamily="34" charset="0"/>
                <a:ea typeface="Roboto" pitchFamily="34" charset="-122"/>
                <a:cs typeface="Roboto" pitchFamily="34" charset="-120"/>
              </a:rPr>
              <a:t>depolarizante</a:t>
            </a:r>
            <a:r>
              <a:rPr lang="es-ES_tradnl" sz="1200" noProof="0" dirty="0">
                <a:solidFill>
                  <a:srgbClr val="3C3C3B"/>
                </a:solidFill>
                <a:latin typeface="Roboto" pitchFamily="34" charset="0"/>
                <a:ea typeface="Roboto" pitchFamily="34" charset="-122"/>
                <a:cs typeface="Roboto" pitchFamily="34" charset="-120"/>
              </a:rPr>
              <a:t> (</a:t>
            </a:r>
            <a:r>
              <a:rPr lang="es-ES_tradnl" sz="1200" noProof="0" dirty="0" err="1">
                <a:solidFill>
                  <a:srgbClr val="3C3C3B"/>
                </a:solidFill>
                <a:latin typeface="Roboto" pitchFamily="34" charset="0"/>
                <a:ea typeface="Roboto" pitchFamily="34" charset="-122"/>
                <a:cs typeface="Roboto" pitchFamily="34" charset="-120"/>
              </a:rPr>
              <a:t>λ</a:t>
            </a:r>
            <a:r>
              <a:rPr lang="es-ES_tradnl" sz="1200" noProof="0" dirty="0">
                <a:solidFill>
                  <a:srgbClr val="3C3C3B"/>
                </a:solidFill>
                <a:latin typeface="Roboto" pitchFamily="34" charset="0"/>
                <a:ea typeface="Roboto" pitchFamily="34" charset="-122"/>
                <a:cs typeface="Roboto" pitchFamily="34" charset="-120"/>
              </a:rPr>
              <a:t> = 0.5). </a:t>
            </a:r>
            <a:r>
              <a:rPr lang="es-ES_tradnl" sz="1200" noProof="0" dirty="0" err="1">
                <a:solidFill>
                  <a:srgbClr val="3C3C3B"/>
                </a:solidFill>
                <a:latin typeface="Roboto" pitchFamily="34" charset="0"/>
                <a:ea typeface="Roboto" pitchFamily="34" charset="-122"/>
                <a:cs typeface="Roboto" pitchFamily="34" charset="-120"/>
              </a:rPr>
              <a:t>λ</a:t>
            </a:r>
            <a:r>
              <a:rPr lang="es-ES_tradnl" sz="1200" noProof="0" dirty="0">
                <a:solidFill>
                  <a:srgbClr val="3C3C3B"/>
                </a:solidFill>
                <a:latin typeface="Roboto" pitchFamily="34" charset="0"/>
                <a:ea typeface="Roboto" pitchFamily="34" charset="-122"/>
                <a:cs typeface="Roboto" pitchFamily="34" charset="-120"/>
              </a:rPr>
              <a:t> = 0.25 es el punto medio y cumple la hipótesis </a:t>
            </a:r>
            <a:r>
              <a:rPr lang="es-ES_tradnl" sz="1200" noProof="0" dirty="0" err="1">
                <a:solidFill>
                  <a:srgbClr val="3C3C3B"/>
                </a:solidFill>
                <a:latin typeface="Roboto" pitchFamily="34" charset="0"/>
                <a:ea typeface="Roboto" pitchFamily="34" charset="-122"/>
                <a:cs typeface="Roboto" pitchFamily="34" charset="-120"/>
              </a:rPr>
              <a:t>λ</a:t>
            </a:r>
            <a:r>
              <a:rPr lang="es-ES_tradnl" sz="1200" noProof="0" dirty="0">
                <a:solidFill>
                  <a:srgbClr val="3C3C3B"/>
                </a:solidFill>
                <a:latin typeface="Roboto" pitchFamily="34" charset="0"/>
                <a:ea typeface="Roboto" pitchFamily="34" charset="-122"/>
                <a:cs typeface="Roboto" pitchFamily="34" charset="-120"/>
              </a:rPr>
              <a:t> ≤ </a:t>
            </a:r>
            <a:r>
              <a:rPr lang="es-ES_tradnl" sz="1200" noProof="0" dirty="0" err="1">
                <a:solidFill>
                  <a:srgbClr val="3C3C3B"/>
                </a:solidFill>
                <a:latin typeface="Roboto" pitchFamily="34" charset="0"/>
                <a:ea typeface="Roboto" pitchFamily="34" charset="-122"/>
                <a:cs typeface="Roboto" pitchFamily="34" charset="-120"/>
              </a:rPr>
              <a:t>γ</a:t>
            </a:r>
            <a:r>
              <a:rPr lang="es-ES_tradnl" sz="1200" noProof="0" dirty="0">
                <a:solidFill>
                  <a:srgbClr val="3C3C3B"/>
                </a:solidFill>
                <a:latin typeface="Roboto" pitchFamily="34" charset="0"/>
                <a:ea typeface="Roboto" pitchFamily="34" charset="-122"/>
                <a:cs typeface="Roboto" pitchFamily="34" charset="-120"/>
              </a:rPr>
              <a:t> del Teorema 2.</a:t>
            </a:r>
            <a:endParaRPr lang="es-ES_tradnl" sz="1200" noProof="0" dirty="0"/>
          </a:p>
        </p:txBody>
      </p:sp>
      <p:sp>
        <p:nvSpPr>
          <p:cNvPr id="31" name="Shape 28"/>
          <p:cNvSpPr/>
          <p:nvPr/>
        </p:nvSpPr>
        <p:spPr>
          <a:xfrm>
            <a:off x="5054600" y="4722614"/>
            <a:ext cx="5562600" cy="25400"/>
          </a:xfrm>
          <a:prstGeom prst="rect">
            <a:avLst/>
          </a:prstGeom>
          <a:solidFill>
            <a:srgbClr val="3C3C3B"/>
          </a:solidFill>
          <a:ln/>
        </p:spPr>
        <p:txBody>
          <a:bodyPr/>
          <a:lstStyle/>
          <a:p>
            <a:endParaRPr lang="es-ES_tradnl" noProof="0" dirty="0"/>
          </a:p>
        </p:txBody>
      </p:sp>
      <p:sp>
        <p:nvSpPr>
          <p:cNvPr id="32" name="Shape 29"/>
          <p:cNvSpPr/>
          <p:nvPr/>
        </p:nvSpPr>
        <p:spPr>
          <a:xfrm>
            <a:off x="4978400" y="4659114"/>
            <a:ext cx="152400" cy="152400"/>
          </a:xfrm>
          <a:prstGeom prst="roundRect">
            <a:avLst>
              <a:gd name="adj" fmla="val 50000"/>
            </a:avLst>
          </a:prstGeom>
          <a:solidFill>
            <a:srgbClr val="3C3C3B"/>
          </a:solidFill>
          <a:ln/>
        </p:spPr>
        <p:txBody>
          <a:bodyPr/>
          <a:lstStyle/>
          <a:p>
            <a:endParaRPr lang="es-ES_tradnl" noProof="0" dirty="0"/>
          </a:p>
        </p:txBody>
      </p:sp>
      <p:sp>
        <p:nvSpPr>
          <p:cNvPr id="33" name="Shape 30"/>
          <p:cNvSpPr/>
          <p:nvPr/>
        </p:nvSpPr>
        <p:spPr>
          <a:xfrm>
            <a:off x="7724775" y="4624189"/>
            <a:ext cx="222250" cy="222250"/>
          </a:xfrm>
          <a:prstGeom prst="roundRect">
            <a:avLst>
              <a:gd name="adj" fmla="val 50000"/>
            </a:avLst>
          </a:prstGeom>
          <a:solidFill>
            <a:srgbClr val="FFEE00"/>
          </a:solidFill>
          <a:ln w="19050">
            <a:solidFill>
              <a:srgbClr val="1D1D1B"/>
            </a:solidFill>
            <a:prstDash val="solid"/>
          </a:ln>
        </p:spPr>
        <p:txBody>
          <a:bodyPr/>
          <a:lstStyle/>
          <a:p>
            <a:endParaRPr lang="es-ES_tradnl" noProof="0" dirty="0"/>
          </a:p>
        </p:txBody>
      </p:sp>
      <p:sp>
        <p:nvSpPr>
          <p:cNvPr id="34" name="Shape 31"/>
          <p:cNvSpPr/>
          <p:nvPr/>
        </p:nvSpPr>
        <p:spPr>
          <a:xfrm>
            <a:off x="10541000" y="4659114"/>
            <a:ext cx="152400" cy="152400"/>
          </a:xfrm>
          <a:prstGeom prst="roundRect">
            <a:avLst>
              <a:gd name="adj" fmla="val 50000"/>
            </a:avLst>
          </a:prstGeom>
          <a:solidFill>
            <a:srgbClr val="3C3C3B"/>
          </a:solidFill>
          <a:ln/>
        </p:spPr>
        <p:txBody>
          <a:bodyPr/>
          <a:lstStyle/>
          <a:p>
            <a:endParaRPr lang="es-ES_tradnl" noProof="0" dirty="0"/>
          </a:p>
        </p:txBody>
      </p:sp>
      <p:sp>
        <p:nvSpPr>
          <p:cNvPr id="35" name="Text 32"/>
          <p:cNvSpPr/>
          <p:nvPr/>
        </p:nvSpPr>
        <p:spPr>
          <a:xfrm>
            <a:off x="4978400" y="4938514"/>
            <a:ext cx="1962150" cy="223441"/>
          </a:xfrm>
          <a:prstGeom prst="rect">
            <a:avLst/>
          </a:prstGeom>
          <a:noFill/>
          <a:ln/>
        </p:spPr>
        <p:txBody>
          <a:bodyPr wrap="square" lIns="0" tIns="0" rIns="0" bIns="0" rtlCol="0" anchor="t">
            <a:normAutofit/>
          </a:bodyPr>
          <a:lstStyle/>
          <a:p>
            <a:pPr marL="0" indent="0" algn="l">
              <a:lnSpc>
                <a:spcPts val="1560"/>
              </a:lnSpc>
              <a:buNone/>
            </a:pPr>
            <a:r>
              <a:rPr lang="es-ES_tradnl" sz="1200" noProof="0" dirty="0" err="1">
                <a:solidFill>
                  <a:srgbClr val="3C3C3B"/>
                </a:solidFill>
                <a:latin typeface="Roboto" pitchFamily="34" charset="0"/>
                <a:ea typeface="Roboto" pitchFamily="34" charset="-122"/>
                <a:cs typeface="Roboto" pitchFamily="34" charset="-120"/>
              </a:rPr>
              <a:t>λ</a:t>
            </a:r>
            <a:r>
              <a:rPr lang="es-ES_tradnl" sz="1200" noProof="0" dirty="0">
                <a:solidFill>
                  <a:srgbClr val="3C3C3B"/>
                </a:solidFill>
                <a:latin typeface="Roboto" pitchFamily="34" charset="0"/>
                <a:ea typeface="Roboto" pitchFamily="34" charset="-122"/>
                <a:cs typeface="Roboto" pitchFamily="34" charset="-120"/>
              </a:rPr>
              <a:t> = 0 · GAD</a:t>
            </a:r>
            <a:endParaRPr lang="es-ES_tradnl" sz="1200" noProof="0" dirty="0"/>
          </a:p>
        </p:txBody>
      </p:sp>
      <p:sp>
        <p:nvSpPr>
          <p:cNvPr id="36" name="Text 33"/>
          <p:cNvSpPr/>
          <p:nvPr/>
        </p:nvSpPr>
        <p:spPr>
          <a:xfrm>
            <a:off x="6854825" y="4938514"/>
            <a:ext cx="1962150" cy="223441"/>
          </a:xfrm>
          <a:prstGeom prst="rect">
            <a:avLst/>
          </a:prstGeom>
          <a:noFill/>
          <a:ln/>
        </p:spPr>
        <p:txBody>
          <a:bodyPr wrap="square" lIns="0" tIns="0" rIns="0" bIns="0" rtlCol="0" anchor="t">
            <a:normAutofit/>
          </a:bodyPr>
          <a:lstStyle/>
          <a:p>
            <a:pPr marL="0" indent="0" algn="ctr">
              <a:lnSpc>
                <a:spcPts val="1560"/>
              </a:lnSpc>
              <a:buNone/>
            </a:pPr>
            <a:r>
              <a:rPr lang="es-ES_tradnl" sz="1200" b="1" noProof="0" dirty="0" err="1">
                <a:solidFill>
                  <a:srgbClr val="1D1D1B"/>
                </a:solidFill>
                <a:latin typeface="Roboto" pitchFamily="34" charset="0"/>
                <a:ea typeface="Roboto" pitchFamily="34" charset="-122"/>
                <a:cs typeface="Roboto" pitchFamily="34" charset="-120"/>
              </a:rPr>
              <a:t>λ</a:t>
            </a:r>
            <a:r>
              <a:rPr lang="es-ES_tradnl" sz="1200" b="1" noProof="0" dirty="0">
                <a:solidFill>
                  <a:srgbClr val="1D1D1B"/>
                </a:solidFill>
                <a:latin typeface="Roboto" pitchFamily="34" charset="0"/>
                <a:ea typeface="Roboto" pitchFamily="34" charset="-122"/>
                <a:cs typeface="Roboto" pitchFamily="34" charset="-120"/>
              </a:rPr>
              <a:t> = 0.25 · PAD</a:t>
            </a:r>
            <a:endParaRPr lang="es-ES_tradnl" sz="1200" noProof="0" dirty="0"/>
          </a:p>
        </p:txBody>
      </p:sp>
      <p:sp>
        <p:nvSpPr>
          <p:cNvPr id="37" name="Text 34"/>
          <p:cNvSpPr/>
          <p:nvPr/>
        </p:nvSpPr>
        <p:spPr>
          <a:xfrm>
            <a:off x="8731250" y="4938514"/>
            <a:ext cx="1962150" cy="223441"/>
          </a:xfrm>
          <a:prstGeom prst="rect">
            <a:avLst/>
          </a:prstGeom>
          <a:noFill/>
          <a:ln/>
        </p:spPr>
        <p:txBody>
          <a:bodyPr wrap="square" lIns="0" tIns="0" rIns="0" bIns="0" rtlCol="0" anchor="t">
            <a:normAutofit/>
          </a:bodyPr>
          <a:lstStyle/>
          <a:p>
            <a:pPr marL="0" indent="0" algn="r">
              <a:lnSpc>
                <a:spcPts val="1560"/>
              </a:lnSpc>
              <a:buNone/>
            </a:pPr>
            <a:r>
              <a:rPr lang="es-ES_tradnl" sz="1200" noProof="0" dirty="0" err="1">
                <a:solidFill>
                  <a:srgbClr val="3C3C3B"/>
                </a:solidFill>
                <a:latin typeface="Roboto" pitchFamily="34" charset="0"/>
                <a:ea typeface="Roboto" pitchFamily="34" charset="-122"/>
                <a:cs typeface="Roboto" pitchFamily="34" charset="-120"/>
              </a:rPr>
              <a:t>λ</a:t>
            </a:r>
            <a:r>
              <a:rPr lang="es-ES_tradnl" sz="1200" noProof="0" dirty="0">
                <a:solidFill>
                  <a:srgbClr val="3C3C3B"/>
                </a:solidFill>
                <a:latin typeface="Roboto" pitchFamily="34" charset="0"/>
                <a:ea typeface="Roboto" pitchFamily="34" charset="-122"/>
                <a:cs typeface="Roboto" pitchFamily="34" charset="-120"/>
              </a:rPr>
              <a:t> = 0.5 · </a:t>
            </a:r>
            <a:r>
              <a:rPr lang="es-ES_tradnl" sz="1200" noProof="0" dirty="0" err="1">
                <a:solidFill>
                  <a:srgbClr val="3C3C3B"/>
                </a:solidFill>
                <a:latin typeface="Roboto" pitchFamily="34" charset="0"/>
                <a:ea typeface="Roboto" pitchFamily="34" charset="-122"/>
                <a:cs typeface="Roboto" pitchFamily="34" charset="-120"/>
              </a:rPr>
              <a:t>depolarizante</a:t>
            </a:r>
            <a:endParaRPr lang="es-ES_tradnl" sz="1200" noProof="0" dirty="0"/>
          </a:p>
        </p:txBody>
      </p:sp>
      <p:sp>
        <p:nvSpPr>
          <p:cNvPr id="39" name="Text 36"/>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a:solidFill>
                  <a:srgbClr val="1D1D1B"/>
                </a:solidFill>
                <a:latin typeface="Roboto" pitchFamily="34" charset="0"/>
                <a:ea typeface="Roboto" pitchFamily="34" charset="-122"/>
                <a:cs typeface="Roboto" pitchFamily="34" charset="-120"/>
              </a:rPr>
              <a:t>07</a:t>
            </a:r>
            <a:endParaRPr lang="es-ES_tradnl" sz="1200" noProof="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s-ES_tradnl" noProof="0" dirty="0"/>
          </a:p>
        </p:txBody>
      </p:sp>
      <p:sp>
        <p:nvSpPr>
          <p:cNvPr id="3" name="Shape 1"/>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dirty="0">
                <a:solidFill>
                  <a:srgbClr val="1D1D1B"/>
                </a:solidFill>
                <a:latin typeface="DM Sans" pitchFamily="34" charset="0"/>
                <a:ea typeface="DM Sans" pitchFamily="34" charset="-122"/>
                <a:cs typeface="DM Sans" pitchFamily="34" charset="-120"/>
              </a:rPr>
              <a:t>I</a:t>
            </a:r>
            <a:endParaRPr lang="es-ES_tradnl" sz="1200" noProof="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dirty="0">
                <a:solidFill>
                  <a:srgbClr val="6E6E6C"/>
                </a:solidFill>
                <a:latin typeface="Roboto" pitchFamily="34" charset="0"/>
                <a:ea typeface="Roboto" pitchFamily="34" charset="-122"/>
                <a:cs typeface="Roboto" pitchFamily="34" charset="-120"/>
              </a:rPr>
              <a:t>DÓNDE ESTÁBAMOS</a:t>
            </a:r>
            <a:endParaRPr lang="es-ES_tradnl" sz="1200" noProof="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s-ES_tradnl" sz="2800" b="1" i="0" kern="0" spc="-50" noProof="0" dirty="0">
                <a:solidFill>
                  <a:srgbClr val="1D1D1B"/>
                </a:solidFill>
                <a:latin typeface="DM Sans" pitchFamily="34" charset="0"/>
                <a:ea typeface="DM Sans" pitchFamily="34" charset="-122"/>
                <a:cs typeface="DM Sans" pitchFamily="34" charset="-120"/>
              </a:rPr>
              <a:t>La pregunta nueva</a:t>
            </a:r>
            <a:endParaRPr lang="es-ES_tradnl" sz="2800" noProof="0" dirty="0"/>
          </a:p>
        </p:txBody>
      </p:sp>
      <p:sp>
        <p:nvSpPr>
          <p:cNvPr id="8" name="Text 5"/>
          <p:cNvSpPr/>
          <p:nvPr/>
        </p:nvSpPr>
        <p:spPr>
          <a:xfrm>
            <a:off x="812800" y="1305520"/>
            <a:ext cx="11379200" cy="322560"/>
          </a:xfrm>
          <a:prstGeom prst="rect">
            <a:avLst/>
          </a:prstGeom>
          <a:noFill/>
          <a:ln/>
        </p:spPr>
        <p:txBody>
          <a:bodyPr wrap="square" lIns="0" tIns="0" rIns="0" bIns="0" rtlCol="0" anchor="t">
            <a:normAutofit/>
          </a:bodyPr>
          <a:lstStyle/>
          <a:p>
            <a:pPr marL="0" indent="0" algn="l">
              <a:lnSpc>
                <a:spcPts val="2340"/>
              </a:lnSpc>
              <a:buNone/>
            </a:pPr>
            <a:r>
              <a:rPr lang="es-ES_tradnl" sz="1800" noProof="0" dirty="0">
                <a:solidFill>
                  <a:srgbClr val="3C3C3B"/>
                </a:solidFill>
                <a:latin typeface="Roboto" pitchFamily="34" charset="0"/>
                <a:ea typeface="Roboto" pitchFamily="34" charset="-122"/>
                <a:cs typeface="Roboto" pitchFamily="34" charset="-120"/>
              </a:rPr>
              <a:t>Ya sabemos que </a:t>
            </a:r>
            <a:r>
              <a:rPr lang="es-ES_tradnl" sz="1800" noProof="0" dirty="0" err="1">
                <a:solidFill>
                  <a:srgbClr val="3C3C3B"/>
                </a:solidFill>
                <a:latin typeface="Roboto" pitchFamily="34" charset="0"/>
                <a:ea typeface="Roboto" pitchFamily="34" charset="-122"/>
                <a:cs typeface="Roboto" pitchFamily="34" charset="-120"/>
              </a:rPr>
              <a:t>ε</a:t>
            </a:r>
            <a:r>
              <a:rPr lang="es-ES_tradnl" sz="1800" noProof="0" dirty="0">
                <a:solidFill>
                  <a:srgbClr val="3C3C3B"/>
                </a:solidFill>
                <a:latin typeface="Roboto" pitchFamily="34" charset="0"/>
                <a:ea typeface="Roboto" pitchFamily="34" charset="-122"/>
                <a:cs typeface="Roboto" pitchFamily="34" charset="-120"/>
              </a:rPr>
              <a:t> cumple la cota. ¿Cómo se ve esa privacidad en los datos que recibiría un analista?</a:t>
            </a:r>
            <a:endParaRPr lang="es-ES_tradnl" sz="1800" noProof="0" dirty="0"/>
          </a:p>
        </p:txBody>
      </p:sp>
      <p:sp>
        <p:nvSpPr>
          <p:cNvPr id="9" name="Shape 6"/>
          <p:cNvSpPr/>
          <p:nvPr/>
        </p:nvSpPr>
        <p:spPr>
          <a:xfrm>
            <a:off x="812800" y="1856680"/>
            <a:ext cx="4127500" cy="1528763"/>
          </a:xfrm>
          <a:prstGeom prst="roundRect">
            <a:avLst>
              <a:gd name="adj" fmla="val 6646"/>
            </a:avLst>
          </a:prstGeom>
          <a:solidFill>
            <a:srgbClr val="F4F4F2"/>
          </a:solidFill>
          <a:ln/>
        </p:spPr>
        <p:txBody>
          <a:bodyPr/>
          <a:lstStyle/>
          <a:p>
            <a:endParaRPr lang="es-ES_tradnl" noProof="0" dirty="0"/>
          </a:p>
        </p:txBody>
      </p:sp>
      <p:sp>
        <p:nvSpPr>
          <p:cNvPr id="10" name="Text 7"/>
          <p:cNvSpPr/>
          <p:nvPr/>
        </p:nvSpPr>
        <p:spPr>
          <a:xfrm>
            <a:off x="1066800" y="2059880"/>
            <a:ext cx="3728085" cy="299641"/>
          </a:xfrm>
          <a:prstGeom prst="rect">
            <a:avLst/>
          </a:prstGeom>
          <a:noFill/>
          <a:ln/>
        </p:spPr>
        <p:txBody>
          <a:bodyPr wrap="square" lIns="0" tIns="0" rIns="0" bIns="0" rtlCol="0" anchor="t">
            <a:normAutofit/>
          </a:bodyPr>
          <a:lstStyle/>
          <a:p>
            <a:pPr marL="0" indent="0" algn="l">
              <a:lnSpc>
                <a:spcPts val="2160"/>
              </a:lnSpc>
              <a:buNone/>
            </a:pPr>
            <a:r>
              <a:rPr lang="es-ES_tradnl" sz="1800" b="1" noProof="0" dirty="0">
                <a:solidFill>
                  <a:srgbClr val="1D1D1B"/>
                </a:solidFill>
                <a:latin typeface="DM Sans" pitchFamily="34" charset="0"/>
                <a:ea typeface="DM Sans" pitchFamily="34" charset="-122"/>
                <a:cs typeface="DM Sans" pitchFamily="34" charset="-120"/>
              </a:rPr>
              <a:t>En la simulación</a:t>
            </a:r>
            <a:endParaRPr lang="es-ES_tradnl" sz="1800" noProof="0" dirty="0"/>
          </a:p>
        </p:txBody>
      </p:sp>
      <p:sp>
        <p:nvSpPr>
          <p:cNvPr id="11" name="Text 8"/>
          <p:cNvSpPr/>
          <p:nvPr/>
        </p:nvSpPr>
        <p:spPr>
          <a:xfrm>
            <a:off x="1066800" y="2435721"/>
            <a:ext cx="3728085" cy="771922"/>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Tenemos la distribución de probabilidad completa de cada </a:t>
            </a:r>
            <a:r>
              <a:rPr lang="es-ES_tradnl" sz="1400" noProof="0" dirty="0" err="1">
                <a:solidFill>
                  <a:srgbClr val="3C3C3B"/>
                </a:solidFill>
                <a:latin typeface="Roboto" pitchFamily="34" charset="0"/>
                <a:ea typeface="Roboto" pitchFamily="34" charset="-122"/>
                <a:cs typeface="Roboto" pitchFamily="34" charset="-120"/>
              </a:rPr>
              <a:t>qubit</a:t>
            </a:r>
            <a:r>
              <a:rPr lang="es-ES_tradnl" sz="1400" noProof="0" dirty="0">
                <a:solidFill>
                  <a:srgbClr val="3C3C3B"/>
                </a:solidFill>
                <a:latin typeface="Roboto" pitchFamily="34" charset="0"/>
                <a:ea typeface="Roboto" pitchFamily="34" charset="-122"/>
                <a:cs typeface="Roboto" pitchFamily="34" charset="-120"/>
              </a:rPr>
              <a:t>: la matriz de densidad.</a:t>
            </a:r>
            <a:endParaRPr lang="es-ES_tradnl" sz="1400" noProof="0" dirty="0"/>
          </a:p>
        </p:txBody>
      </p:sp>
      <p:sp>
        <p:nvSpPr>
          <p:cNvPr id="12" name="Text 9"/>
          <p:cNvSpPr/>
          <p:nvPr/>
        </p:nvSpPr>
        <p:spPr>
          <a:xfrm>
            <a:off x="5143500" y="2053431"/>
            <a:ext cx="1905000" cy="728861"/>
          </a:xfrm>
          <a:prstGeom prst="roundRect">
            <a:avLst>
              <a:gd name="adj" fmla="val 6970"/>
            </a:avLst>
          </a:prstGeom>
          <a:solidFill>
            <a:srgbClr val="FFEE00"/>
          </a:solidFill>
          <a:ln/>
        </p:spPr>
        <p:txBody>
          <a:bodyPr wrap="square" lIns="112121" tIns="86721" rIns="112121" bIns="61321" rtlCol="0" anchor="t">
            <a:normAutofit/>
          </a:bodyPr>
          <a:lstStyle/>
          <a:p>
            <a:pPr marL="0" indent="0" algn="ctr">
              <a:lnSpc>
                <a:spcPts val="2070"/>
              </a:lnSpc>
              <a:buNone/>
            </a:pPr>
            <a:r>
              <a:rPr lang="es-ES_tradnl" sz="1800" b="1" noProof="0" dirty="0" err="1">
                <a:solidFill>
                  <a:srgbClr val="1D1D1B"/>
                </a:solidFill>
                <a:latin typeface="DM Sans" pitchFamily="34" charset="0"/>
                <a:ea typeface="DM Sans" pitchFamily="34" charset="-122"/>
                <a:cs typeface="DM Sans" pitchFamily="34" charset="-120"/>
              </a:rPr>
              <a:t>Decuantizar</a:t>
            </a:r>
            <a:r>
              <a:rPr lang="es-ES_tradnl" sz="1800" b="1" noProof="0" dirty="0">
                <a:solidFill>
                  <a:srgbClr val="1D1D1B"/>
                </a:solidFill>
                <a:latin typeface="DM Sans" pitchFamily="34" charset="0"/>
                <a:ea typeface="DM Sans" pitchFamily="34" charset="-122"/>
                <a:cs typeface="DM Sans" pitchFamily="34" charset="-120"/>
              </a:rPr>
              <a:t> = medir</a:t>
            </a:r>
            <a:endParaRPr lang="es-ES_tradnl" sz="1800" noProof="0" dirty="0"/>
          </a:p>
        </p:txBody>
      </p:sp>
      <p:pic>
        <p:nvPicPr>
          <p:cNvPr id="13" name="Image 1" descr="arrow-right"/>
          <p:cNvPicPr>
            <a:picLocks noChangeAspect="1"/>
          </p:cNvPicPr>
          <p:nvPr/>
        </p:nvPicPr>
        <p:blipFill>
          <a:blip r:embed="rId4"/>
          <a:srcRect/>
          <a:stretch/>
        </p:blipFill>
        <p:spPr>
          <a:xfrm>
            <a:off x="5791200" y="2883892"/>
            <a:ext cx="609600" cy="304800"/>
          </a:xfrm>
          <a:prstGeom prst="rect">
            <a:avLst/>
          </a:prstGeom>
        </p:spPr>
      </p:pic>
      <p:sp>
        <p:nvSpPr>
          <p:cNvPr id="14" name="Shape 10"/>
          <p:cNvSpPr/>
          <p:nvPr/>
        </p:nvSpPr>
        <p:spPr>
          <a:xfrm>
            <a:off x="7251700" y="1856680"/>
            <a:ext cx="4127500" cy="1528763"/>
          </a:xfrm>
          <a:prstGeom prst="roundRect">
            <a:avLst>
              <a:gd name="adj" fmla="val 6646"/>
            </a:avLst>
          </a:prstGeom>
          <a:solidFill>
            <a:srgbClr val="F4F4F2"/>
          </a:solidFill>
          <a:ln/>
        </p:spPr>
        <p:txBody>
          <a:bodyPr/>
          <a:lstStyle/>
          <a:p>
            <a:endParaRPr lang="es-ES_tradnl" noProof="0" dirty="0"/>
          </a:p>
        </p:txBody>
      </p:sp>
      <p:sp>
        <p:nvSpPr>
          <p:cNvPr id="15" name="Text 11"/>
          <p:cNvSpPr/>
          <p:nvPr/>
        </p:nvSpPr>
        <p:spPr>
          <a:xfrm>
            <a:off x="7505700" y="2059880"/>
            <a:ext cx="3728085" cy="299641"/>
          </a:xfrm>
          <a:prstGeom prst="rect">
            <a:avLst/>
          </a:prstGeom>
          <a:noFill/>
          <a:ln/>
        </p:spPr>
        <p:txBody>
          <a:bodyPr wrap="square" lIns="0" tIns="0" rIns="0" bIns="0" rtlCol="0" anchor="t">
            <a:normAutofit/>
          </a:bodyPr>
          <a:lstStyle/>
          <a:p>
            <a:pPr marL="0" indent="0" algn="l">
              <a:lnSpc>
                <a:spcPts val="2160"/>
              </a:lnSpc>
              <a:buNone/>
            </a:pPr>
            <a:r>
              <a:rPr lang="es-ES_tradnl" sz="1800" b="1" noProof="0" dirty="0">
                <a:solidFill>
                  <a:srgbClr val="1D1D1B"/>
                </a:solidFill>
                <a:latin typeface="DM Sans" pitchFamily="34" charset="0"/>
                <a:ea typeface="DM Sans" pitchFamily="34" charset="-122"/>
                <a:cs typeface="DM Sans" pitchFamily="34" charset="-120"/>
              </a:rPr>
              <a:t>En la realidad</a:t>
            </a:r>
            <a:endParaRPr lang="es-ES_tradnl" sz="1800" noProof="0" dirty="0"/>
          </a:p>
        </p:txBody>
      </p:sp>
      <p:sp>
        <p:nvSpPr>
          <p:cNvPr id="16" name="Text 12"/>
          <p:cNvSpPr/>
          <p:nvPr/>
        </p:nvSpPr>
        <p:spPr>
          <a:xfrm>
            <a:off x="7505700" y="2435721"/>
            <a:ext cx="3728085" cy="771922"/>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Quien recibe los datos tiene que medir: el estado colapsa y entrega un solo resultado, 0 o 1.</a:t>
            </a:r>
            <a:endParaRPr lang="es-ES_tradnl" sz="1400" noProof="0" dirty="0"/>
          </a:p>
        </p:txBody>
      </p:sp>
      <p:sp>
        <p:nvSpPr>
          <p:cNvPr id="17" name="Shape 13"/>
          <p:cNvSpPr/>
          <p:nvPr/>
        </p:nvSpPr>
        <p:spPr>
          <a:xfrm>
            <a:off x="812800" y="3639443"/>
            <a:ext cx="10566400" cy="1793081"/>
          </a:xfrm>
          <a:prstGeom prst="roundRect">
            <a:avLst>
              <a:gd name="adj" fmla="val 5666"/>
            </a:avLst>
          </a:prstGeom>
          <a:solidFill>
            <a:srgbClr val="1D1D1B"/>
          </a:solidFill>
          <a:ln/>
        </p:spPr>
        <p:txBody>
          <a:bodyPr/>
          <a:lstStyle/>
          <a:p>
            <a:endParaRPr lang="es-ES_tradnl" noProof="0" dirty="0"/>
          </a:p>
        </p:txBody>
      </p:sp>
      <p:sp>
        <p:nvSpPr>
          <p:cNvPr id="18" name="Text 14"/>
          <p:cNvSpPr/>
          <p:nvPr/>
        </p:nvSpPr>
        <p:spPr>
          <a:xfrm>
            <a:off x="1066800" y="3842643"/>
            <a:ext cx="10360152" cy="238720"/>
          </a:xfrm>
          <a:prstGeom prst="rect">
            <a:avLst/>
          </a:prstGeom>
          <a:noFill/>
          <a:ln/>
        </p:spPr>
        <p:txBody>
          <a:bodyPr wrap="square" lIns="0" tIns="0" rIns="0" bIns="0" rtlCol="0" anchor="t">
            <a:normAutofit/>
          </a:bodyPr>
          <a:lstStyle/>
          <a:p>
            <a:pPr marL="0" indent="0" algn="l">
              <a:lnSpc>
                <a:spcPts val="1680"/>
              </a:lnSpc>
              <a:buNone/>
            </a:pPr>
            <a:r>
              <a:rPr lang="es-ES_tradnl" sz="1200" b="1" kern="0" spc="150" noProof="0" dirty="0">
                <a:solidFill>
                  <a:srgbClr val="FFEE00"/>
                </a:solidFill>
                <a:latin typeface="Roboto" pitchFamily="34" charset="0"/>
                <a:ea typeface="Roboto" pitchFamily="34" charset="-122"/>
                <a:cs typeface="Roboto" pitchFamily="34" charset="-120"/>
              </a:rPr>
              <a:t>ADELANTO</a:t>
            </a:r>
            <a:endParaRPr lang="es-ES_tradnl" sz="1200" noProof="0" dirty="0"/>
          </a:p>
        </p:txBody>
      </p:sp>
      <p:sp>
        <p:nvSpPr>
          <p:cNvPr id="19" name="Text 15"/>
          <p:cNvSpPr/>
          <p:nvPr/>
        </p:nvSpPr>
        <p:spPr>
          <a:xfrm>
            <a:off x="1066800" y="4132163"/>
            <a:ext cx="10360152" cy="619720"/>
          </a:xfrm>
          <a:prstGeom prst="rect">
            <a:avLst/>
          </a:prstGeom>
          <a:noFill/>
          <a:ln/>
        </p:spPr>
        <p:txBody>
          <a:bodyPr wrap="square" lIns="0" tIns="0" rIns="0" bIns="0" rtlCol="0" anchor="t">
            <a:normAutofit/>
          </a:bodyPr>
          <a:lstStyle/>
          <a:p>
            <a:pPr marL="0" indent="0" algn="l">
              <a:lnSpc>
                <a:spcPts val="2340"/>
              </a:lnSpc>
              <a:buNone/>
            </a:pPr>
            <a:r>
              <a:rPr lang="es-ES_tradnl" sz="1800" noProof="0" dirty="0">
                <a:solidFill>
                  <a:srgbClr val="F7F7F5"/>
                </a:solidFill>
                <a:latin typeface="DM Sans" pitchFamily="34" charset="0"/>
                <a:ea typeface="DM Sans" pitchFamily="34" charset="-122"/>
                <a:cs typeface="DM Sans" pitchFamily="34" charset="-120"/>
              </a:rPr>
              <a:t>La privacidad no se ve como un promedio que se mueve, sino como una estimación menos precisa.</a:t>
            </a:r>
            <a:endParaRPr lang="es-ES_tradnl" sz="1800" noProof="0" dirty="0"/>
          </a:p>
        </p:txBody>
      </p:sp>
      <p:sp>
        <p:nvSpPr>
          <p:cNvPr id="20" name="Text 16"/>
          <p:cNvSpPr/>
          <p:nvPr/>
        </p:nvSpPr>
        <p:spPr>
          <a:xfrm>
            <a:off x="1066800" y="4802684"/>
            <a:ext cx="10360152" cy="452041"/>
          </a:xfrm>
          <a:prstGeom prst="rect">
            <a:avLst/>
          </a:prstGeom>
          <a:noFill/>
          <a:ln/>
        </p:spPr>
        <p:txBody>
          <a:bodyPr wrap="square" lIns="0" tIns="0" rIns="0" bIns="0" rtlCol="0" anchor="t">
            <a:normAutofit/>
          </a:bodyPr>
          <a:lstStyle/>
          <a:p>
            <a:pPr marL="0" indent="0" algn="l">
              <a:lnSpc>
                <a:spcPts val="1680"/>
              </a:lnSpc>
              <a:buNone/>
            </a:pPr>
            <a:r>
              <a:rPr lang="es-ES_tradnl" sz="1200" noProof="0" dirty="0">
                <a:solidFill>
                  <a:srgbClr val="D4D4D0"/>
                </a:solidFill>
                <a:latin typeface="Roboto" pitchFamily="34" charset="0"/>
                <a:ea typeface="Roboto" pitchFamily="34" charset="-122"/>
                <a:cs typeface="Roboto" pitchFamily="34" charset="-120"/>
              </a:rPr>
              <a:t>Corregido el sesgo, el centro se mantiene y lo que crece es la dispersión: los valores quedan menos agrupados alrededor del centro. La evidencia es el histograma del Acto IV.</a:t>
            </a:r>
            <a:endParaRPr lang="es-ES_tradnl" sz="1200" noProof="0" dirty="0"/>
          </a:p>
        </p:txBody>
      </p:sp>
      <p:sp>
        <p:nvSpPr>
          <p:cNvPr id="22" name="Text 18"/>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a:solidFill>
                  <a:srgbClr val="1D1D1B"/>
                </a:solidFill>
                <a:latin typeface="Roboto" pitchFamily="34" charset="0"/>
                <a:ea typeface="Roboto" pitchFamily="34" charset="-122"/>
                <a:cs typeface="Roboto" pitchFamily="34" charset="-120"/>
              </a:rPr>
              <a:t>08</a:t>
            </a:r>
            <a:endParaRPr lang="es-ES_tradnl" sz="1200" noProof="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19" name="Shape 13"/>
          <p:cNvSpPr/>
          <p:nvPr/>
        </p:nvSpPr>
        <p:spPr>
          <a:xfrm>
            <a:off x="6197600" y="1856680"/>
            <a:ext cx="5181600" cy="3231753"/>
          </a:xfrm>
          <a:prstGeom prst="roundRect">
            <a:avLst>
              <a:gd name="adj" fmla="val 3327"/>
            </a:avLst>
          </a:prstGeom>
          <a:solidFill>
            <a:srgbClr val="F4F4F2"/>
          </a:solidFill>
          <a:ln/>
        </p:spPr>
        <p:txBody>
          <a:bodyPr/>
          <a:lstStyle/>
          <a:p>
            <a:endParaRPr lang="es-ES_tradnl" noProof="0" dirty="0"/>
          </a:p>
        </p:txBody>
      </p:sp>
      <p:sp>
        <p:nvSpPr>
          <p:cNvPr id="2" name="Shape 0"/>
          <p:cNvSpPr/>
          <p:nvPr/>
        </p:nvSpPr>
        <p:spPr>
          <a:xfrm>
            <a:off x="0" y="0"/>
            <a:ext cx="12192000" cy="76200"/>
          </a:xfrm>
          <a:prstGeom prst="rect">
            <a:avLst/>
          </a:prstGeom>
          <a:solidFill>
            <a:srgbClr val="FFEE00"/>
          </a:solidFill>
          <a:ln/>
        </p:spPr>
        <p:txBody>
          <a:bodyPr/>
          <a:lstStyle/>
          <a:p>
            <a:endParaRPr lang="es-ES_tradnl" noProof="0" dirty="0"/>
          </a:p>
        </p:txBody>
      </p:sp>
      <p:sp>
        <p:nvSpPr>
          <p:cNvPr id="3" name="Shape 1"/>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a:solidFill>
                  <a:srgbClr val="1D1D1B"/>
                </a:solidFill>
                <a:latin typeface="DM Sans" pitchFamily="34" charset="0"/>
                <a:ea typeface="DM Sans" pitchFamily="34" charset="-122"/>
                <a:cs typeface="DM Sans" pitchFamily="34" charset="-120"/>
              </a:rPr>
              <a:t>I</a:t>
            </a:r>
            <a:endParaRPr lang="es-ES_tradnl" sz="1200" noProof="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a:solidFill>
                  <a:srgbClr val="6E6E6C"/>
                </a:solidFill>
                <a:latin typeface="Roboto" pitchFamily="34" charset="0"/>
                <a:ea typeface="Roboto" pitchFamily="34" charset="-122"/>
                <a:cs typeface="Roboto" pitchFamily="34" charset="-120"/>
              </a:rPr>
              <a:t>DÓNDE ESTÁBAMOS</a:t>
            </a:r>
            <a:endParaRPr lang="es-ES_tradnl" sz="1200" noProof="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s-ES_tradnl" sz="2800" b="1" i="0" kern="0" spc="-50" noProof="0" dirty="0">
                <a:solidFill>
                  <a:srgbClr val="1D1D1B"/>
                </a:solidFill>
                <a:latin typeface="DM Sans" pitchFamily="34" charset="0"/>
                <a:ea typeface="DM Sans" pitchFamily="34" charset="-122"/>
                <a:cs typeface="DM Sans" pitchFamily="34" charset="-120"/>
              </a:rPr>
              <a:t>Dos diseños para </a:t>
            </a:r>
            <a:r>
              <a:rPr lang="es-ES_tradnl" sz="2800" b="1" i="0" kern="0" spc="-50" noProof="0" dirty="0" err="1">
                <a:solidFill>
                  <a:srgbClr val="1D1D1B"/>
                </a:solidFill>
                <a:latin typeface="DM Sans" pitchFamily="34" charset="0"/>
                <a:ea typeface="DM Sans" pitchFamily="34" charset="-122"/>
                <a:cs typeface="DM Sans" pitchFamily="34" charset="-120"/>
              </a:rPr>
              <a:t>decuantizar</a:t>
            </a:r>
            <a:r>
              <a:rPr lang="es-ES_tradnl" sz="2800" b="1" i="0" kern="0" spc="-50" noProof="0" dirty="0">
                <a:solidFill>
                  <a:srgbClr val="1D1D1B"/>
                </a:solidFill>
                <a:latin typeface="DM Sans" pitchFamily="34" charset="0"/>
                <a:ea typeface="DM Sans" pitchFamily="34" charset="-122"/>
                <a:cs typeface="DM Sans" pitchFamily="34" charset="-120"/>
              </a:rPr>
              <a:t>: C y L</a:t>
            </a:r>
            <a:endParaRPr lang="es-ES_tradnl" sz="2800" noProof="0" dirty="0"/>
          </a:p>
        </p:txBody>
      </p:sp>
      <p:sp>
        <p:nvSpPr>
          <p:cNvPr id="8" name="Text 5"/>
          <p:cNvSpPr/>
          <p:nvPr/>
        </p:nvSpPr>
        <p:spPr>
          <a:xfrm>
            <a:off x="812800" y="1305520"/>
            <a:ext cx="10883392" cy="322560"/>
          </a:xfrm>
          <a:prstGeom prst="rect">
            <a:avLst/>
          </a:prstGeom>
          <a:noFill/>
          <a:ln/>
        </p:spPr>
        <p:txBody>
          <a:bodyPr wrap="square" lIns="0" tIns="0" rIns="0" bIns="0" rtlCol="0" anchor="t">
            <a:normAutofit/>
          </a:bodyPr>
          <a:lstStyle/>
          <a:p>
            <a:pPr marL="0" indent="0" algn="l">
              <a:lnSpc>
                <a:spcPts val="2340"/>
              </a:lnSpc>
              <a:buNone/>
            </a:pPr>
            <a:r>
              <a:rPr lang="es-ES_tradnl" sz="1800" noProof="0" dirty="0">
                <a:solidFill>
                  <a:srgbClr val="3C3C3B"/>
                </a:solidFill>
                <a:latin typeface="Roboto" pitchFamily="34" charset="0"/>
                <a:ea typeface="Roboto" pitchFamily="34" charset="-122"/>
                <a:cs typeface="Roboto" pitchFamily="34" charset="-120"/>
              </a:rPr>
              <a:t>En C, A está </a:t>
            </a:r>
            <a:r>
              <a:rPr lang="es-ES_tradnl" sz="1800" b="1" noProof="0" dirty="0">
                <a:solidFill>
                  <a:srgbClr val="3C3C3B"/>
                </a:solidFill>
                <a:latin typeface="Roboto" pitchFamily="34" charset="0"/>
                <a:ea typeface="Roboto" pitchFamily="34" charset="-122"/>
                <a:cs typeface="Roboto" pitchFamily="34" charset="-120"/>
              </a:rPr>
              <a:t>un poco siempre</a:t>
            </a:r>
            <a:r>
              <a:rPr lang="es-ES_tradnl" sz="1800" noProof="0" dirty="0">
                <a:solidFill>
                  <a:srgbClr val="3C3C3B"/>
                </a:solidFill>
                <a:latin typeface="Roboto" pitchFamily="34" charset="0"/>
                <a:ea typeface="Roboto" pitchFamily="34" charset="-122"/>
                <a:cs typeface="Roboto" pitchFamily="34" charset="-120"/>
              </a:rPr>
              <a:t>; en L, A está </a:t>
            </a:r>
            <a:r>
              <a:rPr lang="es-ES_tradnl" sz="1800" b="1" noProof="0" dirty="0">
                <a:solidFill>
                  <a:srgbClr val="3C3C3B"/>
                </a:solidFill>
                <a:latin typeface="Roboto" pitchFamily="34" charset="0"/>
                <a:ea typeface="Roboto" pitchFamily="34" charset="-122"/>
                <a:cs typeface="Roboto" pitchFamily="34" charset="-120"/>
              </a:rPr>
              <a:t>mucho una vez</a:t>
            </a:r>
            <a:r>
              <a:rPr lang="es-ES_tradnl" sz="1800" noProof="0" dirty="0">
                <a:solidFill>
                  <a:srgbClr val="3C3C3B"/>
                </a:solidFill>
                <a:latin typeface="Roboto" pitchFamily="34" charset="0"/>
                <a:ea typeface="Roboto" pitchFamily="34" charset="-122"/>
                <a:cs typeface="Roboto" pitchFamily="34" charset="-120"/>
              </a:rPr>
              <a:t>.</a:t>
            </a:r>
            <a:endParaRPr lang="es-ES_tradnl" sz="1800" noProof="0" dirty="0"/>
          </a:p>
        </p:txBody>
      </p:sp>
      <p:sp>
        <p:nvSpPr>
          <p:cNvPr id="9" name="Shape 6"/>
          <p:cNvSpPr/>
          <p:nvPr/>
        </p:nvSpPr>
        <p:spPr>
          <a:xfrm>
            <a:off x="812800" y="1856680"/>
            <a:ext cx="5181600" cy="3231753"/>
          </a:xfrm>
          <a:prstGeom prst="roundRect">
            <a:avLst>
              <a:gd name="adj" fmla="val 3327"/>
            </a:avLst>
          </a:prstGeom>
          <a:solidFill>
            <a:srgbClr val="F4F4F2"/>
          </a:solidFill>
          <a:ln/>
        </p:spPr>
        <p:txBody>
          <a:bodyPr/>
          <a:lstStyle/>
          <a:p>
            <a:endParaRPr lang="es-ES_tradnl" noProof="0" dirty="0"/>
          </a:p>
        </p:txBody>
      </p:sp>
      <p:sp>
        <p:nvSpPr>
          <p:cNvPr id="10" name="Text 7"/>
          <p:cNvSpPr/>
          <p:nvPr/>
        </p:nvSpPr>
        <p:spPr>
          <a:xfrm>
            <a:off x="1066800" y="1984220"/>
            <a:ext cx="355600" cy="355600"/>
          </a:xfrm>
          <a:custGeom>
            <a:avLst/>
            <a:gdLst/>
            <a:ahLst/>
            <a:cxnLst/>
            <a:rect l="l" t="t" r="r" b="b"/>
            <a:pathLst>
              <a:path w="355600" h="355600">
                <a:moveTo>
                  <a:pt x="50800" y="0"/>
                </a:moveTo>
                <a:lnTo>
                  <a:pt x="304800" y="0"/>
                </a:lnTo>
                <a:arcTo wR="50800" hR="50800" stAng="16200000" swAng="5400000"/>
                <a:lnTo>
                  <a:pt x="355600" y="304800"/>
                </a:lnTo>
                <a:arcTo wR="50800" hR="50800" stAng="0" swAng="5400000"/>
                <a:lnTo>
                  <a:pt x="50800" y="355600"/>
                </a:lnTo>
                <a:arcTo wR="50800" hR="50800" stAng="5400000" swAng="5400000"/>
                <a:lnTo>
                  <a:pt x="0" y="50800"/>
                </a:lnTo>
                <a:arcTo wR="50800" hR="50800" stAng="10800000" swAng="5400000"/>
                <a:close/>
              </a:path>
            </a:pathLst>
          </a:custGeom>
          <a:solidFill>
            <a:srgbClr val="293470"/>
          </a:solidFill>
          <a:ln/>
        </p:spPr>
        <p:txBody>
          <a:bodyPr wrap="square" lIns="0" tIns="0" rIns="0" bIns="0" rtlCol="0" anchor="t">
            <a:normAutofit/>
          </a:bodyPr>
          <a:lstStyle/>
          <a:p>
            <a:pPr marL="0" indent="0" algn="ctr">
              <a:lnSpc>
                <a:spcPts val="2800"/>
              </a:lnSpc>
              <a:buNone/>
            </a:pPr>
            <a:r>
              <a:rPr lang="es-ES_tradnl" sz="1600" b="1" noProof="0" dirty="0">
                <a:solidFill>
                  <a:srgbClr val="FFFFFF"/>
                </a:solidFill>
                <a:latin typeface="DM Sans" pitchFamily="34" charset="0"/>
                <a:ea typeface="DM Sans" pitchFamily="34" charset="-122"/>
                <a:cs typeface="DM Sans" pitchFamily="34" charset="-120"/>
              </a:rPr>
              <a:t>C</a:t>
            </a:r>
            <a:endParaRPr lang="es-ES_tradnl" sz="1600" noProof="0" dirty="0"/>
          </a:p>
        </p:txBody>
      </p:sp>
      <p:sp>
        <p:nvSpPr>
          <p:cNvPr id="11" name="Text 8"/>
          <p:cNvSpPr/>
          <p:nvPr/>
        </p:nvSpPr>
        <p:spPr>
          <a:xfrm>
            <a:off x="1549400" y="2024900"/>
            <a:ext cx="1947505" cy="299641"/>
          </a:xfrm>
          <a:prstGeom prst="rect">
            <a:avLst/>
          </a:prstGeom>
          <a:noFill/>
          <a:ln/>
        </p:spPr>
        <p:txBody>
          <a:bodyPr wrap="square" lIns="0" tIns="0" rIns="0" bIns="0" rtlCol="0" anchor="t">
            <a:normAutofit/>
          </a:bodyPr>
          <a:lstStyle/>
          <a:p>
            <a:pPr marL="0" indent="0" algn="l">
              <a:lnSpc>
                <a:spcPts val="2160"/>
              </a:lnSpc>
              <a:buNone/>
            </a:pPr>
            <a:r>
              <a:rPr lang="es-ES_tradnl" sz="1800" b="1" noProof="0" dirty="0">
                <a:solidFill>
                  <a:srgbClr val="1D1D1B"/>
                </a:solidFill>
                <a:latin typeface="DM Sans" pitchFamily="34" charset="0"/>
                <a:ea typeface="DM Sans" pitchFamily="34" charset="-122"/>
                <a:cs typeface="DM Sans" pitchFamily="34" charset="-120"/>
              </a:rPr>
              <a:t>Diseño central</a:t>
            </a:r>
            <a:endParaRPr lang="es-ES_tradnl" sz="1800" noProof="0" dirty="0"/>
          </a:p>
        </p:txBody>
      </p:sp>
      <p:sp>
        <p:nvSpPr>
          <p:cNvPr id="60" name="Individuo"/>
          <p:cNvSpPr/>
          <p:nvPr/>
        </p:nvSpPr>
        <p:spPr>
          <a:xfrm>
            <a:off x="1066800" y="2489200"/>
            <a:ext cx="762000" cy="889000"/>
          </a:xfrm>
          <a:prstGeom prst="roundRect">
            <a:avLst>
              <a:gd name="adj" fmla="val 10000"/>
            </a:avLst>
          </a:prstGeom>
          <a:noFill/>
          <a:ln w="12700">
            <a:solidFill>
              <a:srgbClr val="6E6E6C"/>
            </a:solidFill>
            <a:prstDash val="dash"/>
          </a:ln>
        </p:spPr>
        <p:txBody>
          <a:bodyPr wrap="square" lIns="25400" tIns="50800" rIns="25400" bIns="0" rtlCol="0" anchor="t">
            <a:noAutofit/>
          </a:bodyPr>
          <a:lstStyle/>
          <a:p>
            <a:pPr marL="0" indent="0" algn="ctr">
              <a:lnSpc>
                <a:spcPct val="100000"/>
              </a:lnSpc>
              <a:buNone/>
            </a:pPr>
            <a:r>
              <a:rPr lang="es-ES_tradnl" sz="1200" b="1" noProof="0" dirty="0">
                <a:solidFill>
                  <a:srgbClr val="3C3C3B"/>
                </a:solidFill>
                <a:latin typeface="Roboto" pitchFamily="34" charset="0"/>
                <a:ea typeface="Roboto" pitchFamily="34" charset="-122"/>
                <a:cs typeface="Roboto" pitchFamily="34" charset="-120"/>
              </a:rPr>
              <a:t>Individuo</a:t>
            </a:r>
          </a:p>
        </p:txBody>
      </p:sp>
      <p:sp>
        <p:nvSpPr>
          <p:cNvPr id="61" name="rho_i"/>
          <p:cNvSpPr/>
          <p:nvPr/>
        </p:nvSpPr>
        <p:spPr>
          <a:xfrm>
            <a:off x="1168400" y="2819400"/>
            <a:ext cx="558800" cy="431800"/>
          </a:xfrm>
          <a:prstGeom prst="roundRect">
            <a:avLst>
              <a:gd name="adj" fmla="val 10000"/>
            </a:avLst>
          </a:prstGeom>
          <a:solidFill>
            <a:srgbClr val="FFFFFF"/>
          </a:solidFill>
          <a:ln w="12700">
            <a:solidFill>
              <a:srgbClr val="3C3C3B"/>
            </a:solidFill>
            <a:prstDash val="solid"/>
          </a:ln>
        </p:spPr>
        <p:txBody>
          <a:bodyPr wrap="square" lIns="25400" tIns="0" rIns="25400" bIns="0" rtlCol="0" anchor="ctr">
            <a:noAutofit/>
          </a:bodyPr>
          <a:lstStyle/>
          <a:p>
            <a:pPr marL="0" indent="0" algn="ctr">
              <a:lnSpc>
                <a:spcPct val="100000"/>
              </a:lnSpc>
              <a:buNone/>
            </a:pPr>
            <a:r>
              <a:rPr lang="es-ES_tradnl" sz="1200" noProof="0" dirty="0" err="1">
                <a:solidFill>
                  <a:srgbClr val="1D1D1B"/>
                </a:solidFill>
                <a:latin typeface="Roboto" pitchFamily="34" charset="0"/>
                <a:ea typeface="Roboto" pitchFamily="34" charset="-122"/>
                <a:cs typeface="Roboto" pitchFamily="34" charset="-120"/>
              </a:rPr>
              <a:t>ρ</a:t>
            </a:r>
            <a:r>
              <a:rPr lang="es-ES_tradnl" sz="1200" noProof="0" dirty="0">
                <a:solidFill>
                  <a:srgbClr val="1D1D1B"/>
                </a:solidFill>
                <a:latin typeface="Roboto" pitchFamily="34" charset="0"/>
                <a:ea typeface="Roboto" pitchFamily="34" charset="-122"/>
                <a:cs typeface="Roboto" pitchFamily="34" charset="-120"/>
              </a:rPr>
              <a:t>ᵢ</a:t>
            </a:r>
          </a:p>
        </p:txBody>
      </p:sp>
      <p:pic>
        <p:nvPicPr>
          <p:cNvPr id="62" name="Flecha" descr="connector"/>
          <p:cNvPicPr>
            <a:picLocks noChangeAspect="1"/>
          </p:cNvPicPr>
          <p:nvPr/>
        </p:nvPicPr>
        <p:blipFill>
          <a:blip r:embed="rId4"/>
          <a:srcRect/>
          <a:stretch/>
        </p:blipFill>
        <p:spPr>
          <a:xfrm>
            <a:off x="1879600" y="2997200"/>
            <a:ext cx="190500" cy="76200"/>
          </a:xfrm>
          <a:prstGeom prst="rect">
            <a:avLst/>
          </a:prstGeom>
        </p:spPr>
      </p:pic>
      <p:sp>
        <p:nvSpPr>
          <p:cNvPr id="63" name="Curador"/>
          <p:cNvSpPr/>
          <p:nvPr/>
        </p:nvSpPr>
        <p:spPr>
          <a:xfrm>
            <a:off x="2082800" y="2489200"/>
            <a:ext cx="3797300" cy="889000"/>
          </a:xfrm>
          <a:prstGeom prst="roundRect">
            <a:avLst>
              <a:gd name="adj" fmla="val 10000"/>
            </a:avLst>
          </a:prstGeom>
          <a:noFill/>
          <a:ln w="12700">
            <a:solidFill>
              <a:srgbClr val="6E6E6C"/>
            </a:solidFill>
            <a:prstDash val="dash"/>
          </a:ln>
        </p:spPr>
        <p:txBody>
          <a:bodyPr wrap="square" lIns="25400" tIns="50800" rIns="25400" bIns="0" rtlCol="0" anchor="t">
            <a:noAutofit/>
          </a:bodyPr>
          <a:lstStyle/>
          <a:p>
            <a:pPr marL="0" indent="0" algn="ctr">
              <a:lnSpc>
                <a:spcPct val="100000"/>
              </a:lnSpc>
              <a:buNone/>
            </a:pPr>
            <a:r>
              <a:rPr lang="es-ES_tradnl" sz="1200" b="1" noProof="0" dirty="0">
                <a:solidFill>
                  <a:srgbClr val="3C3C3B"/>
                </a:solidFill>
                <a:latin typeface="Roboto" pitchFamily="34" charset="0"/>
                <a:ea typeface="Roboto" pitchFamily="34" charset="-122"/>
                <a:cs typeface="Roboto" pitchFamily="34" charset="-120"/>
              </a:rPr>
              <a:t>Curador</a:t>
            </a:r>
          </a:p>
        </p:txBody>
      </p:sp>
      <p:sp>
        <p:nvSpPr>
          <p:cNvPr id="80" name="rhos"/>
          <p:cNvSpPr/>
          <p:nvPr/>
        </p:nvSpPr>
        <p:spPr>
          <a:xfrm>
            <a:off x="2184400" y="2819400"/>
            <a:ext cx="736600" cy="431800"/>
          </a:xfrm>
          <a:prstGeom prst="roundRect">
            <a:avLst>
              <a:gd name="adj" fmla="val 10000"/>
            </a:avLst>
          </a:prstGeom>
          <a:solidFill>
            <a:srgbClr val="FFFFFF"/>
          </a:solidFill>
          <a:ln w="12700">
            <a:solidFill>
              <a:srgbClr val="3C3C3B"/>
            </a:solidFill>
            <a:prstDash val="solid"/>
          </a:ln>
        </p:spPr>
        <p:txBody>
          <a:bodyPr wrap="square" lIns="25400" tIns="0" rIns="25400" bIns="0" rtlCol="0" anchor="ctr">
            <a:noAutofit/>
          </a:bodyPr>
          <a:lstStyle/>
          <a:p>
            <a:pPr marL="0" indent="0" algn="ctr">
              <a:lnSpc>
                <a:spcPct val="100000"/>
              </a:lnSpc>
              <a:buNone/>
            </a:pPr>
            <a:r>
              <a:rPr lang="es-ES_tradnl" sz="1200" noProof="0" dirty="0" err="1">
                <a:solidFill>
                  <a:srgbClr val="1D1D1B"/>
                </a:solidFill>
                <a:latin typeface="Roboto" pitchFamily="34" charset="0"/>
                <a:ea typeface="Roboto" pitchFamily="34" charset="-122"/>
                <a:cs typeface="Roboto" pitchFamily="34" charset="-120"/>
              </a:rPr>
              <a:t>ρ</a:t>
            </a:r>
            <a:r>
              <a:rPr lang="es-ES_tradnl" sz="1200" noProof="0" dirty="0">
                <a:solidFill>
                  <a:srgbClr val="1D1D1B"/>
                </a:solidFill>
                <a:latin typeface="Roboto" pitchFamily="34" charset="0"/>
                <a:ea typeface="Roboto" pitchFamily="34" charset="-122"/>
                <a:cs typeface="Roboto" pitchFamily="34" charset="-120"/>
              </a:rPr>
              <a:t>₀, …, </a:t>
            </a:r>
            <a:r>
              <a:rPr lang="es-ES_tradnl" sz="1200" noProof="0" dirty="0" err="1">
                <a:solidFill>
                  <a:srgbClr val="1D1D1B"/>
                </a:solidFill>
                <a:latin typeface="Roboto" pitchFamily="34" charset="0"/>
                <a:ea typeface="Roboto" pitchFamily="34" charset="-122"/>
                <a:cs typeface="Roboto" pitchFamily="34" charset="-120"/>
              </a:rPr>
              <a:t>ρ</a:t>
            </a:r>
            <a:r>
              <a:rPr lang="es-ES_tradnl" sz="1200" noProof="0" dirty="0">
                <a:solidFill>
                  <a:srgbClr val="1D1D1B"/>
                </a:solidFill>
                <a:latin typeface="Roboto" pitchFamily="34" charset="0"/>
                <a:ea typeface="Roboto" pitchFamily="34" charset="-122"/>
                <a:cs typeface="Roboto" pitchFamily="34" charset="-120"/>
              </a:rPr>
              <a:t>ᵢ</a:t>
            </a:r>
          </a:p>
        </p:txBody>
      </p:sp>
      <p:pic>
        <p:nvPicPr>
          <p:cNvPr id="81" name="Flecha" descr="connector"/>
          <p:cNvPicPr>
            <a:picLocks noChangeAspect="1"/>
          </p:cNvPicPr>
          <p:nvPr/>
        </p:nvPicPr>
        <p:blipFill>
          <a:blip r:embed="rId4"/>
          <a:srcRect/>
          <a:stretch/>
        </p:blipFill>
        <p:spPr>
          <a:xfrm>
            <a:off x="2940050" y="3004820"/>
            <a:ext cx="152400" cy="60960"/>
          </a:xfrm>
          <a:prstGeom prst="rect">
            <a:avLst/>
          </a:prstGeom>
        </p:spPr>
      </p:pic>
      <p:sp>
        <p:nvSpPr>
          <p:cNvPr id="64" name="agrega"/>
          <p:cNvSpPr/>
          <p:nvPr/>
        </p:nvSpPr>
        <p:spPr>
          <a:xfrm>
            <a:off x="3086100" y="2819400"/>
            <a:ext cx="685800" cy="431800"/>
          </a:xfrm>
          <a:prstGeom prst="roundRect">
            <a:avLst>
              <a:gd name="adj" fmla="val 10000"/>
            </a:avLst>
          </a:prstGeom>
          <a:solidFill>
            <a:srgbClr val="FFFFFF"/>
          </a:solidFill>
          <a:ln w="12700">
            <a:solidFill>
              <a:srgbClr val="3C3C3B"/>
            </a:solidFill>
            <a:prstDash val="solid"/>
          </a:ln>
        </p:spPr>
        <p:txBody>
          <a:bodyPr wrap="square" lIns="25400" tIns="0" rIns="25400" bIns="0" rtlCol="0" anchor="ctr">
            <a:noAutofit/>
          </a:bodyPr>
          <a:lstStyle/>
          <a:p>
            <a:pPr marL="0" indent="0" algn="ctr">
              <a:lnSpc>
                <a:spcPct val="100000"/>
              </a:lnSpc>
              <a:buNone/>
            </a:pPr>
            <a:r>
              <a:rPr lang="es-ES_tradnl" sz="1200" noProof="0" dirty="0">
                <a:solidFill>
                  <a:srgbClr val="1D1D1B"/>
                </a:solidFill>
                <a:latin typeface="Roboto" pitchFamily="34" charset="0"/>
                <a:ea typeface="Roboto" pitchFamily="34" charset="-122"/>
                <a:cs typeface="Roboto" pitchFamily="34" charset="-120"/>
              </a:rPr>
              <a:t>agrega</a:t>
            </a:r>
          </a:p>
        </p:txBody>
      </p:sp>
      <p:pic>
        <p:nvPicPr>
          <p:cNvPr id="65" name="Flecha" descr="connector"/>
          <p:cNvPicPr>
            <a:picLocks noChangeAspect="1"/>
          </p:cNvPicPr>
          <p:nvPr/>
        </p:nvPicPr>
        <p:blipFill>
          <a:blip r:embed="rId4"/>
          <a:srcRect/>
          <a:stretch/>
        </p:blipFill>
        <p:spPr>
          <a:xfrm>
            <a:off x="3790950" y="3004820"/>
            <a:ext cx="152400" cy="60960"/>
          </a:xfrm>
          <a:prstGeom prst="rect">
            <a:avLst/>
          </a:prstGeom>
        </p:spPr>
      </p:pic>
      <p:sp>
        <p:nvSpPr>
          <p:cNvPr id="66" name="ruido"/>
          <p:cNvSpPr/>
          <p:nvPr/>
        </p:nvSpPr>
        <p:spPr>
          <a:xfrm>
            <a:off x="3937000" y="2819400"/>
            <a:ext cx="914400" cy="431800"/>
          </a:xfrm>
          <a:prstGeom prst="roundRect">
            <a:avLst>
              <a:gd name="adj" fmla="val 10000"/>
            </a:avLst>
          </a:prstGeom>
          <a:solidFill>
            <a:srgbClr val="FFEE00"/>
          </a:solidFill>
          <a:ln w="12700">
            <a:solidFill>
              <a:srgbClr val="3C3C3B"/>
            </a:solidFill>
            <a:prstDash val="solid"/>
          </a:ln>
        </p:spPr>
        <p:txBody>
          <a:bodyPr wrap="square" lIns="25400" tIns="0" rIns="25400" bIns="0" rtlCol="0" anchor="ctr">
            <a:noAutofit/>
          </a:bodyPr>
          <a:lstStyle/>
          <a:p>
            <a:pPr marL="0" indent="0" algn="ctr">
              <a:lnSpc>
                <a:spcPct val="100000"/>
              </a:lnSpc>
              <a:buNone/>
            </a:pPr>
            <a:r>
              <a:rPr lang="es-ES_tradnl" sz="1200" noProof="0" dirty="0">
                <a:solidFill>
                  <a:srgbClr val="1D1D1B"/>
                </a:solidFill>
                <a:latin typeface="Roboto" pitchFamily="34" charset="0"/>
                <a:ea typeface="Roboto" pitchFamily="34" charset="-122"/>
                <a:cs typeface="Roboto" pitchFamily="34" charset="-120"/>
              </a:rPr>
              <a:t>ruido → </a:t>
            </a:r>
            <a:r>
              <a:rPr lang="es-ES_tradnl" sz="1200" noProof="0" dirty="0" err="1">
                <a:solidFill>
                  <a:srgbClr val="1D1D1B"/>
                </a:solidFill>
                <a:latin typeface="Roboto" pitchFamily="34" charset="0"/>
                <a:ea typeface="Roboto" pitchFamily="34" charset="-122"/>
                <a:cs typeface="Roboto" pitchFamily="34" charset="-120"/>
              </a:rPr>
              <a:t>ρ</a:t>
            </a:r>
            <a:r>
              <a:rPr lang="es-ES_tradnl" sz="1200" noProof="0" dirty="0">
                <a:solidFill>
                  <a:srgbClr val="1D1D1B"/>
                </a:solidFill>
                <a:latin typeface="Roboto" pitchFamily="34" charset="0"/>
                <a:ea typeface="Roboto" pitchFamily="34" charset="-122"/>
                <a:cs typeface="Roboto" pitchFamily="34" charset="-120"/>
              </a:rPr>
              <a:t>″</a:t>
            </a:r>
          </a:p>
        </p:txBody>
      </p:sp>
      <p:pic>
        <p:nvPicPr>
          <p:cNvPr id="67" name="Flecha" descr="connector"/>
          <p:cNvPicPr>
            <a:picLocks noChangeAspect="1"/>
          </p:cNvPicPr>
          <p:nvPr/>
        </p:nvPicPr>
        <p:blipFill>
          <a:blip r:embed="rId4"/>
          <a:srcRect/>
          <a:stretch/>
        </p:blipFill>
        <p:spPr>
          <a:xfrm>
            <a:off x="4870450" y="3004820"/>
            <a:ext cx="152400" cy="60960"/>
          </a:xfrm>
          <a:prstGeom prst="rect">
            <a:avLst/>
          </a:prstGeom>
        </p:spPr>
      </p:pic>
      <p:sp>
        <p:nvSpPr>
          <p:cNvPr id="68" name="copias"/>
          <p:cNvSpPr/>
          <p:nvPr/>
        </p:nvSpPr>
        <p:spPr>
          <a:xfrm>
            <a:off x="5016500" y="2819400"/>
            <a:ext cx="762000" cy="431800"/>
          </a:xfrm>
          <a:prstGeom prst="roundRect">
            <a:avLst>
              <a:gd name="adj" fmla="val 10000"/>
            </a:avLst>
          </a:prstGeom>
          <a:solidFill>
            <a:srgbClr val="FFFFFF"/>
          </a:solidFill>
          <a:ln w="12700">
            <a:solidFill>
              <a:srgbClr val="3C3C3B"/>
            </a:solidFill>
            <a:prstDash val="solid"/>
          </a:ln>
        </p:spPr>
        <p:txBody>
          <a:bodyPr wrap="square" lIns="25400" tIns="0" rIns="25400" bIns="0" rtlCol="0" anchor="ctr">
            <a:noAutofit/>
          </a:bodyPr>
          <a:lstStyle/>
          <a:p>
            <a:pPr marL="0" indent="0" algn="ctr">
              <a:lnSpc>
                <a:spcPct val="100000"/>
              </a:lnSpc>
              <a:buNone/>
            </a:pPr>
            <a:r>
              <a:rPr lang="es-ES_tradnl" sz="1200" noProof="0" dirty="0">
                <a:solidFill>
                  <a:srgbClr val="1D1D1B"/>
                </a:solidFill>
                <a:latin typeface="Roboto" pitchFamily="34" charset="0"/>
                <a:ea typeface="Roboto" pitchFamily="34" charset="-122"/>
                <a:cs typeface="Roboto" pitchFamily="34" charset="-120"/>
              </a:rPr>
              <a:t>N copias medidas</a:t>
            </a:r>
          </a:p>
        </p:txBody>
      </p:sp>
      <p:sp>
        <p:nvSpPr>
          <p:cNvPr id="17" name="Text 12"/>
          <p:cNvSpPr/>
          <p:nvPr/>
        </p:nvSpPr>
        <p:spPr>
          <a:xfrm>
            <a:off x="1066800" y="3556000"/>
            <a:ext cx="4813808" cy="771922"/>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Cada copia equivale a sortear una persona. Si se saca a A cambian las N copias, porque A está un poco en todas: composición (Teorema 4).</a:t>
            </a:r>
            <a:endParaRPr lang="es-ES_tradnl" sz="1400" noProof="0" dirty="0"/>
          </a:p>
        </p:txBody>
      </p:sp>
      <p:pic>
        <p:nvPicPr>
          <p:cNvPr id="18" name="Image 3" descr="ε total = N · ε por copia"/>
          <p:cNvPicPr>
            <a:picLocks noChangeAspect="1"/>
          </p:cNvPicPr>
          <p:nvPr/>
        </p:nvPicPr>
        <p:blipFill>
          <a:blip r:embed="rId5"/>
          <a:srcRect t="-388" b="-388"/>
          <a:stretch/>
        </p:blipFill>
        <p:spPr>
          <a:xfrm>
            <a:off x="1066800" y="4622800"/>
            <a:ext cx="2324100" cy="311150"/>
          </a:xfrm>
          <a:prstGeom prst="rect">
            <a:avLst/>
          </a:prstGeom>
        </p:spPr>
      </p:pic>
      <p:sp>
        <p:nvSpPr>
          <p:cNvPr id="20" name="Text 14"/>
          <p:cNvSpPr/>
          <p:nvPr/>
        </p:nvSpPr>
        <p:spPr>
          <a:xfrm>
            <a:off x="6451600" y="1974493"/>
            <a:ext cx="355600" cy="355600"/>
          </a:xfrm>
          <a:custGeom>
            <a:avLst/>
            <a:gdLst/>
            <a:ahLst/>
            <a:cxnLst/>
            <a:rect l="l" t="t" r="r" b="b"/>
            <a:pathLst>
              <a:path w="355600" h="355600">
                <a:moveTo>
                  <a:pt x="50800" y="0"/>
                </a:moveTo>
                <a:lnTo>
                  <a:pt x="304800" y="0"/>
                </a:lnTo>
                <a:arcTo wR="50800" hR="50800" stAng="16200000" swAng="5400000"/>
                <a:lnTo>
                  <a:pt x="355600" y="304800"/>
                </a:lnTo>
                <a:arcTo wR="50800" hR="50800" stAng="0" swAng="5400000"/>
                <a:lnTo>
                  <a:pt x="50800" y="355600"/>
                </a:lnTo>
                <a:arcTo wR="50800" hR="50800" stAng="5400000" swAng="5400000"/>
                <a:lnTo>
                  <a:pt x="0" y="50800"/>
                </a:lnTo>
                <a:arcTo wR="50800" hR="50800" stAng="10800000" swAng="5400000"/>
                <a:close/>
              </a:path>
            </a:pathLst>
          </a:custGeom>
          <a:solidFill>
            <a:srgbClr val="FFEE00"/>
          </a:solidFill>
          <a:ln/>
        </p:spPr>
        <p:txBody>
          <a:bodyPr wrap="square" lIns="0" tIns="0" rIns="0" bIns="0" rtlCol="0" anchor="t">
            <a:normAutofit/>
          </a:bodyPr>
          <a:lstStyle/>
          <a:p>
            <a:pPr marL="0" indent="0" algn="ctr">
              <a:lnSpc>
                <a:spcPts val="2800"/>
              </a:lnSpc>
              <a:buNone/>
            </a:pPr>
            <a:r>
              <a:rPr lang="es-ES_tradnl" sz="1600" b="1" noProof="0" dirty="0">
                <a:solidFill>
                  <a:srgbClr val="1D1D1B"/>
                </a:solidFill>
                <a:latin typeface="DM Sans" pitchFamily="34" charset="0"/>
                <a:ea typeface="DM Sans" pitchFamily="34" charset="-122"/>
                <a:cs typeface="DM Sans" pitchFamily="34" charset="-120"/>
              </a:rPr>
              <a:t>L</a:t>
            </a:r>
            <a:endParaRPr lang="es-ES_tradnl" sz="1600" noProof="0" dirty="0"/>
          </a:p>
        </p:txBody>
      </p:sp>
      <p:sp>
        <p:nvSpPr>
          <p:cNvPr id="21" name="Text 15"/>
          <p:cNvSpPr/>
          <p:nvPr/>
        </p:nvSpPr>
        <p:spPr>
          <a:xfrm>
            <a:off x="6934200" y="2015173"/>
            <a:ext cx="1622465" cy="299641"/>
          </a:xfrm>
          <a:prstGeom prst="rect">
            <a:avLst/>
          </a:prstGeom>
          <a:noFill/>
          <a:ln/>
        </p:spPr>
        <p:txBody>
          <a:bodyPr wrap="square" lIns="0" tIns="0" rIns="0" bIns="0" rtlCol="0" anchor="t">
            <a:normAutofit/>
          </a:bodyPr>
          <a:lstStyle/>
          <a:p>
            <a:pPr marL="0" indent="0" algn="l">
              <a:lnSpc>
                <a:spcPts val="2160"/>
              </a:lnSpc>
              <a:buNone/>
            </a:pPr>
            <a:r>
              <a:rPr lang="es-ES_tradnl" sz="1800" b="1" noProof="0" dirty="0">
                <a:solidFill>
                  <a:srgbClr val="1D1D1B"/>
                </a:solidFill>
                <a:latin typeface="DM Sans" pitchFamily="34" charset="0"/>
                <a:ea typeface="DM Sans" pitchFamily="34" charset="-122"/>
                <a:cs typeface="DM Sans" pitchFamily="34" charset="-120"/>
              </a:rPr>
              <a:t>Diseño local</a:t>
            </a:r>
            <a:endParaRPr lang="es-ES_tradnl" sz="1800" noProof="0" dirty="0"/>
          </a:p>
        </p:txBody>
      </p:sp>
      <p:sp>
        <p:nvSpPr>
          <p:cNvPr id="69" name="Individuo"/>
          <p:cNvSpPr/>
          <p:nvPr/>
        </p:nvSpPr>
        <p:spPr>
          <a:xfrm>
            <a:off x="6451600" y="2489200"/>
            <a:ext cx="3784600" cy="889000"/>
          </a:xfrm>
          <a:prstGeom prst="roundRect">
            <a:avLst>
              <a:gd name="adj" fmla="val 10000"/>
            </a:avLst>
          </a:prstGeom>
          <a:noFill/>
          <a:ln w="12700">
            <a:solidFill>
              <a:srgbClr val="6E6E6C"/>
            </a:solidFill>
            <a:prstDash val="dash"/>
          </a:ln>
        </p:spPr>
        <p:txBody>
          <a:bodyPr wrap="square" lIns="25400" tIns="50800" rIns="25400" bIns="0" rtlCol="0" anchor="t">
            <a:noAutofit/>
          </a:bodyPr>
          <a:lstStyle/>
          <a:p>
            <a:pPr marL="0" indent="0" algn="ctr">
              <a:lnSpc>
                <a:spcPct val="100000"/>
              </a:lnSpc>
              <a:buNone/>
            </a:pPr>
            <a:r>
              <a:rPr lang="es-ES_tradnl" sz="1200" b="1" noProof="0" dirty="0">
                <a:solidFill>
                  <a:srgbClr val="3C3C3B"/>
                </a:solidFill>
                <a:latin typeface="Roboto" pitchFamily="34" charset="0"/>
                <a:ea typeface="Roboto" pitchFamily="34" charset="-122"/>
                <a:cs typeface="Roboto" pitchFamily="34" charset="-120"/>
              </a:rPr>
              <a:t>Individuo</a:t>
            </a:r>
          </a:p>
        </p:txBody>
      </p:sp>
      <p:sp>
        <p:nvSpPr>
          <p:cNvPr id="70" name="persona"/>
          <p:cNvSpPr/>
          <p:nvPr/>
        </p:nvSpPr>
        <p:spPr>
          <a:xfrm>
            <a:off x="6553200" y="2819400"/>
            <a:ext cx="1016000" cy="431800"/>
          </a:xfrm>
          <a:prstGeom prst="roundRect">
            <a:avLst>
              <a:gd name="adj" fmla="val 10000"/>
            </a:avLst>
          </a:prstGeom>
          <a:solidFill>
            <a:srgbClr val="FFFFFF"/>
          </a:solidFill>
          <a:ln w="12700">
            <a:solidFill>
              <a:srgbClr val="3C3C3B"/>
            </a:solidFill>
            <a:prstDash val="solid"/>
          </a:ln>
        </p:spPr>
        <p:txBody>
          <a:bodyPr wrap="square" lIns="25400" tIns="0" rIns="25400" bIns="0" rtlCol="0" anchor="ctr">
            <a:noAutofit/>
          </a:bodyPr>
          <a:lstStyle/>
          <a:p>
            <a:pPr marL="0" indent="0" algn="ctr">
              <a:lnSpc>
                <a:spcPct val="100000"/>
              </a:lnSpc>
              <a:buNone/>
            </a:pPr>
            <a:r>
              <a:rPr lang="es-ES_tradnl" sz="1200" noProof="0" dirty="0">
                <a:solidFill>
                  <a:srgbClr val="1D1D1B"/>
                </a:solidFill>
                <a:latin typeface="Roboto" pitchFamily="34" charset="0"/>
                <a:ea typeface="Roboto" pitchFamily="34" charset="-122"/>
                <a:cs typeface="Roboto" pitchFamily="34" charset="-120"/>
              </a:rPr>
              <a:t>persona i: </a:t>
            </a:r>
            <a:r>
              <a:rPr lang="es-ES_tradnl" sz="1200" noProof="0" dirty="0" err="1">
                <a:solidFill>
                  <a:srgbClr val="1D1D1B"/>
                </a:solidFill>
                <a:latin typeface="Roboto" pitchFamily="34" charset="0"/>
                <a:ea typeface="Roboto" pitchFamily="34" charset="-122"/>
                <a:cs typeface="Roboto" pitchFamily="34" charset="-120"/>
              </a:rPr>
              <a:t>ρ</a:t>
            </a:r>
            <a:r>
              <a:rPr lang="es-ES_tradnl" sz="1200" noProof="0" dirty="0">
                <a:solidFill>
                  <a:srgbClr val="1D1D1B"/>
                </a:solidFill>
                <a:latin typeface="Roboto" pitchFamily="34" charset="0"/>
                <a:ea typeface="Roboto" pitchFamily="34" charset="-122"/>
                <a:cs typeface="Roboto" pitchFamily="34" charset="-120"/>
              </a:rPr>
              <a:t>ᵢ</a:t>
            </a:r>
          </a:p>
        </p:txBody>
      </p:sp>
      <p:pic>
        <p:nvPicPr>
          <p:cNvPr id="71" name="Flecha" descr="connector"/>
          <p:cNvPicPr>
            <a:picLocks noChangeAspect="1"/>
          </p:cNvPicPr>
          <p:nvPr/>
        </p:nvPicPr>
        <p:blipFill>
          <a:blip r:embed="rId4"/>
          <a:srcRect/>
          <a:stretch/>
        </p:blipFill>
        <p:spPr>
          <a:xfrm>
            <a:off x="7620000" y="3009900"/>
            <a:ext cx="127000" cy="50800"/>
          </a:xfrm>
          <a:prstGeom prst="rect">
            <a:avLst/>
          </a:prstGeom>
        </p:spPr>
      </p:pic>
      <p:sp>
        <p:nvSpPr>
          <p:cNvPr id="72" name="ruido local"/>
          <p:cNvSpPr/>
          <p:nvPr/>
        </p:nvSpPr>
        <p:spPr>
          <a:xfrm>
            <a:off x="7797800" y="2819400"/>
            <a:ext cx="1143000" cy="431800"/>
          </a:xfrm>
          <a:prstGeom prst="roundRect">
            <a:avLst>
              <a:gd name="adj" fmla="val 10000"/>
            </a:avLst>
          </a:prstGeom>
          <a:solidFill>
            <a:srgbClr val="FFEE00"/>
          </a:solidFill>
          <a:ln w="12700">
            <a:solidFill>
              <a:srgbClr val="3C3C3B"/>
            </a:solidFill>
            <a:prstDash val="solid"/>
          </a:ln>
        </p:spPr>
        <p:txBody>
          <a:bodyPr wrap="square" lIns="25400" tIns="0" rIns="25400" bIns="0" rtlCol="0" anchor="ctr">
            <a:noAutofit/>
          </a:bodyPr>
          <a:lstStyle/>
          <a:p>
            <a:pPr marL="0" indent="0" algn="ctr">
              <a:lnSpc>
                <a:spcPct val="100000"/>
              </a:lnSpc>
              <a:buNone/>
            </a:pPr>
            <a:r>
              <a:rPr lang="es-ES_tradnl" sz="1200" noProof="0" dirty="0">
                <a:solidFill>
                  <a:srgbClr val="1D1D1B"/>
                </a:solidFill>
                <a:latin typeface="Roboto" pitchFamily="34" charset="0"/>
                <a:ea typeface="Roboto" pitchFamily="34" charset="-122"/>
                <a:cs typeface="Roboto" pitchFamily="34" charset="-120"/>
              </a:rPr>
              <a:t>su propio ruido</a:t>
            </a:r>
          </a:p>
        </p:txBody>
      </p:sp>
      <p:pic>
        <p:nvPicPr>
          <p:cNvPr id="73" name="Flecha" descr="connector"/>
          <p:cNvPicPr>
            <a:picLocks noChangeAspect="1"/>
          </p:cNvPicPr>
          <p:nvPr/>
        </p:nvPicPr>
        <p:blipFill>
          <a:blip r:embed="rId4"/>
          <a:srcRect/>
          <a:stretch/>
        </p:blipFill>
        <p:spPr>
          <a:xfrm>
            <a:off x="9029700" y="3009900"/>
            <a:ext cx="127000" cy="50800"/>
          </a:xfrm>
          <a:prstGeom prst="rect">
            <a:avLst/>
          </a:prstGeom>
        </p:spPr>
      </p:pic>
      <p:sp>
        <p:nvSpPr>
          <p:cNvPr id="74" name="medicion"/>
          <p:cNvSpPr/>
          <p:nvPr/>
        </p:nvSpPr>
        <p:spPr>
          <a:xfrm>
            <a:off x="9207500" y="2819400"/>
            <a:ext cx="914400" cy="431800"/>
          </a:xfrm>
          <a:prstGeom prst="roundRect">
            <a:avLst>
              <a:gd name="adj" fmla="val 10000"/>
            </a:avLst>
          </a:prstGeom>
          <a:solidFill>
            <a:srgbClr val="FFFFFF"/>
          </a:solidFill>
          <a:ln w="12700">
            <a:solidFill>
              <a:srgbClr val="3C3C3B"/>
            </a:solidFill>
            <a:prstDash val="solid"/>
          </a:ln>
        </p:spPr>
        <p:txBody>
          <a:bodyPr wrap="square" lIns="25400" tIns="0" rIns="25400" bIns="0" rtlCol="0" anchor="ctr">
            <a:noAutofit/>
          </a:bodyPr>
          <a:lstStyle/>
          <a:p>
            <a:pPr marL="0" indent="0" algn="ctr">
              <a:lnSpc>
                <a:spcPct val="100000"/>
              </a:lnSpc>
              <a:buNone/>
            </a:pPr>
            <a:r>
              <a:rPr lang="es-ES_tradnl" sz="1200" noProof="0" dirty="0">
                <a:solidFill>
                  <a:srgbClr val="1D1D1B"/>
                </a:solidFill>
                <a:latin typeface="Roboto" pitchFamily="34" charset="0"/>
                <a:ea typeface="Roboto" pitchFamily="34" charset="-122"/>
                <a:cs typeface="Roboto" pitchFamily="34" charset="-120"/>
              </a:rPr>
              <a:t>1 medición</a:t>
            </a:r>
          </a:p>
        </p:txBody>
      </p:sp>
      <p:pic>
        <p:nvPicPr>
          <p:cNvPr id="75" name="Flecha" descr="connector"/>
          <p:cNvPicPr>
            <a:picLocks noChangeAspect="1"/>
          </p:cNvPicPr>
          <p:nvPr/>
        </p:nvPicPr>
        <p:blipFill>
          <a:blip r:embed="rId4"/>
          <a:srcRect/>
          <a:stretch/>
        </p:blipFill>
        <p:spPr>
          <a:xfrm>
            <a:off x="10274300" y="3004820"/>
            <a:ext cx="152400" cy="60960"/>
          </a:xfrm>
          <a:prstGeom prst="rect">
            <a:avLst/>
          </a:prstGeom>
        </p:spPr>
      </p:pic>
      <p:sp>
        <p:nvSpPr>
          <p:cNvPr id="76" name="Curador"/>
          <p:cNvSpPr/>
          <p:nvPr/>
        </p:nvSpPr>
        <p:spPr>
          <a:xfrm>
            <a:off x="10477500" y="2489200"/>
            <a:ext cx="787400" cy="889000"/>
          </a:xfrm>
          <a:prstGeom prst="roundRect">
            <a:avLst>
              <a:gd name="adj" fmla="val 10000"/>
            </a:avLst>
          </a:prstGeom>
          <a:solidFill>
            <a:srgbClr val="1D1D1B"/>
          </a:solidFill>
          <a:ln w="12700">
            <a:solidFill>
              <a:srgbClr val="1D1D1B"/>
            </a:solidFill>
            <a:prstDash val="solid"/>
          </a:ln>
        </p:spPr>
        <p:txBody>
          <a:bodyPr wrap="square" lIns="25400" tIns="0" rIns="25400" bIns="0" rtlCol="0" anchor="ctr">
            <a:noAutofit/>
          </a:bodyPr>
          <a:lstStyle/>
          <a:p>
            <a:pPr marL="0" indent="0" algn="ctr">
              <a:lnSpc>
                <a:spcPct val="100000"/>
              </a:lnSpc>
              <a:buNone/>
            </a:pPr>
            <a:r>
              <a:rPr lang="es-ES_tradnl" sz="1200" b="1" noProof="0" dirty="0">
                <a:solidFill>
                  <a:srgbClr val="FFFFFF"/>
                </a:solidFill>
                <a:latin typeface="Roboto" pitchFamily="34" charset="0"/>
                <a:ea typeface="Roboto" pitchFamily="34" charset="-122"/>
                <a:cs typeface="Roboto" pitchFamily="34" charset="-120"/>
              </a:rPr>
              <a:t>Curador</a:t>
            </a:r>
          </a:p>
        </p:txBody>
      </p:sp>
      <p:sp>
        <p:nvSpPr>
          <p:cNvPr id="27" name="Text 19"/>
          <p:cNvSpPr/>
          <p:nvPr/>
        </p:nvSpPr>
        <p:spPr>
          <a:xfrm>
            <a:off x="6451600" y="3556000"/>
            <a:ext cx="4813808" cy="771922"/>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Cada persona se codifica, recibe su ruido y se mide una vez. Si se saca a A cambia solo su resultado: composición paralela.</a:t>
            </a:r>
            <a:endParaRPr lang="es-ES_tradnl" sz="1400" noProof="0" dirty="0"/>
          </a:p>
        </p:txBody>
      </p:sp>
      <p:pic>
        <p:nvPicPr>
          <p:cNvPr id="28" name="Image 6" descr="ε total = ε de una persona"/>
          <p:cNvPicPr>
            <a:picLocks noChangeAspect="1"/>
          </p:cNvPicPr>
          <p:nvPr/>
        </p:nvPicPr>
        <p:blipFill>
          <a:blip r:embed="rId6"/>
          <a:srcRect l="-395" r="-395"/>
          <a:stretch/>
        </p:blipFill>
        <p:spPr>
          <a:xfrm>
            <a:off x="6451600" y="4660900"/>
            <a:ext cx="2425700" cy="241300"/>
          </a:xfrm>
          <a:prstGeom prst="rect">
            <a:avLst/>
          </a:prstGeom>
        </p:spPr>
      </p:pic>
      <p:sp>
        <p:nvSpPr>
          <p:cNvPr id="31" name="Text 22"/>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a:solidFill>
                  <a:srgbClr val="1D1D1B"/>
                </a:solidFill>
                <a:latin typeface="Roboto" pitchFamily="34" charset="0"/>
                <a:ea typeface="Roboto" pitchFamily="34" charset="-122"/>
                <a:cs typeface="Roboto" pitchFamily="34" charset="-120"/>
              </a:rPr>
              <a:t>09</a:t>
            </a:r>
            <a:endParaRPr lang="es-ES_tradnl" sz="1200" noProof="0" dirty="0"/>
          </a:p>
        </p:txBody>
      </p:sp>
      <p:sp>
        <p:nvSpPr>
          <p:cNvPr id="12" name="Curador">
            <a:extLst>
              <a:ext uri="{FF2B5EF4-FFF2-40B4-BE49-F238E27FC236}">
                <a16:creationId xmlns:a16="http://schemas.microsoft.com/office/drawing/2014/main" id="{12C08400-3573-394F-93D1-8BEA9A7D444C}"/>
              </a:ext>
            </a:extLst>
          </p:cNvPr>
          <p:cNvSpPr/>
          <p:nvPr/>
        </p:nvSpPr>
        <p:spPr>
          <a:xfrm>
            <a:off x="2120900" y="2744689"/>
            <a:ext cx="2844800" cy="582711"/>
          </a:xfrm>
          <a:prstGeom prst="roundRect">
            <a:avLst>
              <a:gd name="adj" fmla="val 10000"/>
            </a:avLst>
          </a:prstGeom>
          <a:noFill/>
          <a:ln w="12700">
            <a:solidFill>
              <a:srgbClr val="FF0000"/>
            </a:solidFill>
            <a:prstDash val="dash"/>
          </a:ln>
        </p:spPr>
        <p:txBody>
          <a:bodyPr wrap="square" lIns="25400" tIns="50800" rIns="25400" bIns="0" rtlCol="0" anchor="t">
            <a:noAutofit/>
          </a:bodyPr>
          <a:lstStyle/>
          <a:p>
            <a:pPr marL="0" indent="0" algn="ctr">
              <a:lnSpc>
                <a:spcPct val="100000"/>
              </a:lnSpc>
              <a:buNone/>
            </a:pPr>
            <a:endParaRPr lang="es-ES_tradnl" sz="1200" b="1" noProof="0" dirty="0">
              <a:solidFill>
                <a:srgbClr val="3C3C3B"/>
              </a:solidFill>
              <a:latin typeface="Roboto" pitchFamily="34" charset="0"/>
              <a:ea typeface="Roboto" pitchFamily="34" charset="-122"/>
              <a:cs typeface="Roboto" pitchFamily="34" charset="-120"/>
            </a:endParaRPr>
          </a:p>
        </p:txBody>
      </p:sp>
      <p:sp>
        <p:nvSpPr>
          <p:cNvPr id="13" name="Curador">
            <a:extLst>
              <a:ext uri="{FF2B5EF4-FFF2-40B4-BE49-F238E27FC236}">
                <a16:creationId xmlns:a16="http://schemas.microsoft.com/office/drawing/2014/main" id="{C1C3BA87-9A99-3270-8E0D-0EDAB455A77A}"/>
              </a:ext>
            </a:extLst>
          </p:cNvPr>
          <p:cNvSpPr/>
          <p:nvPr/>
        </p:nvSpPr>
        <p:spPr>
          <a:xfrm>
            <a:off x="6515100" y="2744689"/>
            <a:ext cx="2578100" cy="566201"/>
          </a:xfrm>
          <a:prstGeom prst="roundRect">
            <a:avLst>
              <a:gd name="adj" fmla="val 10000"/>
            </a:avLst>
          </a:prstGeom>
          <a:noFill/>
          <a:ln w="12700">
            <a:solidFill>
              <a:srgbClr val="0070C0"/>
            </a:solidFill>
            <a:prstDash val="dash"/>
          </a:ln>
        </p:spPr>
        <p:txBody>
          <a:bodyPr wrap="square" lIns="25400" tIns="50800" rIns="25400" bIns="0" rtlCol="0" anchor="t">
            <a:noAutofit/>
          </a:bodyPr>
          <a:lstStyle/>
          <a:p>
            <a:pPr marL="0" indent="0" algn="ctr">
              <a:lnSpc>
                <a:spcPct val="100000"/>
              </a:lnSpc>
              <a:buNone/>
            </a:pPr>
            <a:endParaRPr lang="es-ES_tradnl" sz="1200" b="1" noProof="0" dirty="0">
              <a:solidFill>
                <a:srgbClr val="3C3C3B"/>
              </a:solidFill>
              <a:latin typeface="Roboto" pitchFamily="34" charset="0"/>
              <a:ea typeface="Roboto" pitchFamily="34" charset="-122"/>
              <a:cs typeface="Roboto" pitchFamily="34" charset="-120"/>
            </a:endParaRPr>
          </a:p>
        </p:txBody>
      </p:sp>
      <p:sp>
        <p:nvSpPr>
          <p:cNvPr id="15" name="Curador">
            <a:extLst>
              <a:ext uri="{FF2B5EF4-FFF2-40B4-BE49-F238E27FC236}">
                <a16:creationId xmlns:a16="http://schemas.microsoft.com/office/drawing/2014/main" id="{20D9C45E-F4F9-04B3-561B-95491E00C390}"/>
              </a:ext>
            </a:extLst>
          </p:cNvPr>
          <p:cNvSpPr/>
          <p:nvPr/>
        </p:nvSpPr>
        <p:spPr>
          <a:xfrm>
            <a:off x="6451600" y="5478999"/>
            <a:ext cx="2578100" cy="566201"/>
          </a:xfrm>
          <a:prstGeom prst="roundRect">
            <a:avLst>
              <a:gd name="adj" fmla="val 10000"/>
            </a:avLst>
          </a:prstGeom>
          <a:noFill/>
          <a:ln w="12700">
            <a:solidFill>
              <a:srgbClr val="0070C0"/>
            </a:solidFill>
            <a:prstDash val="dash"/>
          </a:ln>
        </p:spPr>
        <p:txBody>
          <a:bodyPr wrap="square" lIns="25400" tIns="50800" rIns="25400" bIns="0" rtlCol="0" anchor="t">
            <a:noAutofit/>
          </a:bodyPr>
          <a:lstStyle/>
          <a:p>
            <a:pPr marL="0" indent="0" algn="ctr">
              <a:lnSpc>
                <a:spcPct val="100000"/>
              </a:lnSpc>
              <a:buNone/>
            </a:pPr>
            <a:r>
              <a:rPr lang="es-ES_tradnl" sz="1200" b="1" noProof="0" dirty="0">
                <a:solidFill>
                  <a:srgbClr val="3C3C3B"/>
                </a:solidFill>
                <a:latin typeface="Roboto" pitchFamily="34" charset="0"/>
                <a:ea typeface="Roboto" pitchFamily="34" charset="-122"/>
                <a:cs typeface="Roboto" pitchFamily="34" charset="-120"/>
              </a:rPr>
              <a:t>Privacidad diferencial local cuántica</a:t>
            </a:r>
          </a:p>
        </p:txBody>
      </p:sp>
      <p:sp>
        <p:nvSpPr>
          <p:cNvPr id="16" name="Curador">
            <a:extLst>
              <a:ext uri="{FF2B5EF4-FFF2-40B4-BE49-F238E27FC236}">
                <a16:creationId xmlns:a16="http://schemas.microsoft.com/office/drawing/2014/main" id="{F295336C-C894-520E-A432-8D6001DEDBF1}"/>
              </a:ext>
            </a:extLst>
          </p:cNvPr>
          <p:cNvSpPr/>
          <p:nvPr/>
        </p:nvSpPr>
        <p:spPr>
          <a:xfrm>
            <a:off x="3086100" y="5478999"/>
            <a:ext cx="2844800" cy="582711"/>
          </a:xfrm>
          <a:prstGeom prst="roundRect">
            <a:avLst>
              <a:gd name="adj" fmla="val 10000"/>
            </a:avLst>
          </a:prstGeom>
          <a:noFill/>
          <a:ln w="12700">
            <a:solidFill>
              <a:srgbClr val="FF0000"/>
            </a:solidFill>
            <a:prstDash val="dash"/>
          </a:ln>
        </p:spPr>
        <p:txBody>
          <a:bodyPr wrap="square" lIns="25400" tIns="50800" rIns="25400" bIns="0" rtlCol="0" anchor="t">
            <a:noAutofit/>
          </a:bodyPr>
          <a:lstStyle/>
          <a:p>
            <a:pPr marL="0" indent="0" algn="ctr">
              <a:lnSpc>
                <a:spcPct val="100000"/>
              </a:lnSpc>
              <a:buNone/>
            </a:pPr>
            <a:r>
              <a:rPr lang="es-ES_tradnl" sz="1200" b="1" noProof="0" dirty="0">
                <a:solidFill>
                  <a:srgbClr val="3C3C3B"/>
                </a:solidFill>
                <a:latin typeface="Roboto" pitchFamily="34" charset="0"/>
                <a:ea typeface="Roboto" pitchFamily="34" charset="-122"/>
                <a:cs typeface="Roboto" pitchFamily="34" charset="-120"/>
              </a:rPr>
              <a:t>Privacidad diferencial central cuántica</a:t>
            </a:r>
          </a:p>
        </p:txBody>
      </p:sp>
    </p:spTree>
    <p:extLst>
      <p:ext uri="{BB962C8B-B14F-4D97-AF65-F5344CB8AC3E}">
        <p14:creationId xmlns:p14="http://schemas.microsoft.com/office/powerpoint/2010/main" val="10692665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FA0E24-7113-B17B-A3E4-BCA08962C1C2}"/>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F8B36797-694E-6A24-D829-CA9444E66C99}"/>
              </a:ext>
            </a:extLst>
          </p:cNvPr>
          <p:cNvSpPr txBox="1"/>
          <p:nvPr/>
        </p:nvSpPr>
        <p:spPr>
          <a:xfrm>
            <a:off x="812800" y="812800"/>
            <a:ext cx="9326880" cy="658368"/>
          </a:xfrm>
          <a:prstGeom prst="rect">
            <a:avLst/>
          </a:prstGeom>
          <a:noFill/>
          <a:ln/>
        </p:spPr>
        <p:txBody>
          <a:bodyPr wrap="square" lIns="0" tIns="0" rIns="0" bIns="0" rtlCol="0" anchor="t"/>
          <a:lstStyle/>
          <a:p>
            <a:pPr marL="0" indent="0" algn="l">
              <a:lnSpc>
                <a:spcPts val="3080"/>
              </a:lnSpc>
              <a:buNone/>
            </a:pPr>
            <a:r>
              <a:rPr lang="es-ES_tradnl" sz="2800" b="1" kern="0" spc="-50" noProof="0" dirty="0">
                <a:solidFill>
                  <a:srgbClr val="1D1D1B"/>
                </a:solidFill>
                <a:latin typeface="DM Sans" pitchFamily="34" charset="0"/>
                <a:ea typeface="DM Sans" pitchFamily="34" charset="-122"/>
                <a:cs typeface="DM Sans" pitchFamily="34" charset="-120"/>
              </a:rPr>
              <a:t>Privacidad diferencial cuántica central</a:t>
            </a:r>
          </a:p>
        </p:txBody>
      </p:sp>
      <p:grpSp>
        <p:nvGrpSpPr>
          <p:cNvPr id="300" name="Diagrama pipeline">
            <a:extLst>
              <a:ext uri="{FF2B5EF4-FFF2-40B4-BE49-F238E27FC236}">
                <a16:creationId xmlns:a16="http://schemas.microsoft.com/office/drawing/2014/main" id="{C1CEF55F-15C0-0519-560C-B58F0BCC09C3}"/>
              </a:ext>
            </a:extLst>
          </p:cNvPr>
          <p:cNvGrpSpPr/>
          <p:nvPr/>
        </p:nvGrpSpPr>
        <p:grpSpPr>
          <a:xfrm>
            <a:off x="1003300" y="1944952"/>
            <a:ext cx="10566400" cy="4381500"/>
            <a:chOff x="548640" y="1325880"/>
            <a:chExt cx="11064240" cy="4892040"/>
          </a:xfrm>
        </p:grpSpPr>
        <p:sp>
          <p:nvSpPr>
            <p:cNvPr id="6" name="Shape 4">
              <a:extLst>
                <a:ext uri="{FF2B5EF4-FFF2-40B4-BE49-F238E27FC236}">
                  <a16:creationId xmlns:a16="http://schemas.microsoft.com/office/drawing/2014/main" id="{A77E6838-2D08-57BF-A908-85A154CC0E2B}"/>
                </a:ext>
              </a:extLst>
            </p:cNvPr>
            <p:cNvSpPr/>
            <p:nvPr/>
          </p:nvSpPr>
          <p:spPr>
            <a:xfrm>
              <a:off x="548640" y="1325880"/>
              <a:ext cx="11064240" cy="4892040"/>
            </a:xfrm>
            <a:prstGeom prst="roundRect">
              <a:avLst>
                <a:gd name="adj" fmla="val 2243"/>
              </a:avLst>
            </a:prstGeom>
            <a:solidFill>
              <a:srgbClr val="F3F3F2"/>
            </a:solidFill>
            <a:ln w="12700">
              <a:noFill/>
              <a:prstDash val="solid"/>
            </a:ln>
          </p:spPr>
          <p:txBody>
            <a:bodyPr/>
            <a:lstStyle/>
            <a:p>
              <a:endParaRPr lang="es-ES_tradnl" noProof="0" dirty="0"/>
            </a:p>
          </p:txBody>
        </p:sp>
        <p:sp>
          <p:nvSpPr>
            <p:cNvPr id="19" name="Shape 17">
              <a:extLst>
                <a:ext uri="{FF2B5EF4-FFF2-40B4-BE49-F238E27FC236}">
                  <a16:creationId xmlns:a16="http://schemas.microsoft.com/office/drawing/2014/main" id="{13A503E3-9B46-7CD5-70E0-621963858636}"/>
                </a:ext>
              </a:extLst>
            </p:cNvPr>
            <p:cNvSpPr/>
            <p:nvPr/>
          </p:nvSpPr>
          <p:spPr>
            <a:xfrm>
              <a:off x="668325" y="3065640"/>
              <a:ext cx="10837875" cy="2248264"/>
            </a:xfrm>
            <a:prstGeom prst="roundRect">
              <a:avLst>
                <a:gd name="adj" fmla="val 5405"/>
              </a:avLst>
            </a:prstGeom>
            <a:solidFill>
              <a:schemeClr val="accent2">
                <a:lumMod val="40000"/>
                <a:lumOff val="60000"/>
              </a:schemeClr>
            </a:solidFill>
            <a:ln w="12700">
              <a:solidFill>
                <a:srgbClr val="D4D4D0"/>
              </a:solidFill>
              <a:prstDash val="solid"/>
            </a:ln>
          </p:spPr>
          <p:txBody>
            <a:bodyPr/>
            <a:lstStyle/>
            <a:p>
              <a:endParaRPr lang="es-ES_tradnl" noProof="0" dirty="0"/>
            </a:p>
          </p:txBody>
        </p:sp>
        <p:sp>
          <p:nvSpPr>
            <p:cNvPr id="2" name="Shape 6">
              <a:extLst>
                <a:ext uri="{FF2B5EF4-FFF2-40B4-BE49-F238E27FC236}">
                  <a16:creationId xmlns:a16="http://schemas.microsoft.com/office/drawing/2014/main" id="{2F9E90B1-940D-89CD-0D30-918BE31EB71A}"/>
                </a:ext>
              </a:extLst>
            </p:cNvPr>
            <p:cNvSpPr/>
            <p:nvPr/>
          </p:nvSpPr>
          <p:spPr>
            <a:xfrm>
              <a:off x="889000" y="3580104"/>
              <a:ext cx="2032000" cy="863600"/>
            </a:xfrm>
            <a:prstGeom prst="roundRect">
              <a:avLst>
                <a:gd name="adj" fmla="val 8421"/>
              </a:avLst>
            </a:prstGeom>
            <a:solidFill>
              <a:srgbClr val="FFFFFF"/>
            </a:solidFill>
            <a:ln w="12700">
              <a:solidFill>
                <a:srgbClr val="B9B9B5"/>
              </a:solidFill>
              <a:prstDash val="solid"/>
            </a:ln>
          </p:spPr>
          <p:txBody>
            <a:bodyPr/>
            <a:lstStyle/>
            <a:p>
              <a:endParaRPr lang="es-ES_tradnl" noProof="0" dirty="0"/>
            </a:p>
          </p:txBody>
        </p:sp>
        <p:sp>
          <p:nvSpPr>
            <p:cNvPr id="7" name="Text 5">
              <a:extLst>
                <a:ext uri="{FF2B5EF4-FFF2-40B4-BE49-F238E27FC236}">
                  <a16:creationId xmlns:a16="http://schemas.microsoft.com/office/drawing/2014/main" id="{2D28E3C3-81E1-C79C-241F-B196F3CE18A9}"/>
                </a:ext>
              </a:extLst>
            </p:cNvPr>
            <p:cNvSpPr txBox="1"/>
            <p:nvPr/>
          </p:nvSpPr>
          <p:spPr>
            <a:xfrm>
              <a:off x="777240" y="1417320"/>
              <a:ext cx="5486400" cy="365760"/>
            </a:xfrm>
            <a:prstGeom prst="rect">
              <a:avLst/>
            </a:prstGeom>
            <a:noFill/>
            <a:ln/>
          </p:spPr>
          <p:txBody>
            <a:bodyPr wrap="square" lIns="0" tIns="0" rIns="0" bIns="0" rtlCol="0" anchor="t"/>
            <a:lstStyle/>
            <a:p>
              <a:pPr marL="0" indent="0">
                <a:buNone/>
              </a:pPr>
              <a:r>
                <a:rPr lang="es-ES_tradnl" sz="1400" b="1" noProof="0" dirty="0">
                  <a:solidFill>
                    <a:srgbClr val="1D1D1B"/>
                  </a:solidFill>
                  <a:latin typeface="DM Sans" pitchFamily="34" charset="0"/>
                  <a:ea typeface="DM Sans" pitchFamily="34" charset="-122"/>
                  <a:cs typeface="DM Sans" pitchFamily="34" charset="-120"/>
                </a:rPr>
                <a:t>Para cada columna k = 0, …, 6</a:t>
              </a:r>
              <a:endParaRPr lang="es-ES_tradnl" sz="1500" noProof="0" dirty="0"/>
            </a:p>
          </p:txBody>
        </p:sp>
        <p:sp>
          <p:nvSpPr>
            <p:cNvPr id="8" name="Shape 6">
              <a:extLst>
                <a:ext uri="{FF2B5EF4-FFF2-40B4-BE49-F238E27FC236}">
                  <a16:creationId xmlns:a16="http://schemas.microsoft.com/office/drawing/2014/main" id="{43054291-170E-F061-BBB2-948DFBD1270E}"/>
                </a:ext>
              </a:extLst>
            </p:cNvPr>
            <p:cNvSpPr/>
            <p:nvPr/>
          </p:nvSpPr>
          <p:spPr>
            <a:xfrm>
              <a:off x="889000" y="1891144"/>
              <a:ext cx="2032000" cy="863600"/>
            </a:xfrm>
            <a:prstGeom prst="roundRect">
              <a:avLst>
                <a:gd name="adj" fmla="val 8421"/>
              </a:avLst>
            </a:prstGeom>
            <a:solidFill>
              <a:srgbClr val="FFFFFF"/>
            </a:solidFill>
            <a:ln w="12700">
              <a:solidFill>
                <a:srgbClr val="B9B9B5"/>
              </a:solidFill>
              <a:prstDash val="solid"/>
            </a:ln>
          </p:spPr>
          <p:txBody>
            <a:bodyPr/>
            <a:lstStyle/>
            <a:p>
              <a:endParaRPr lang="es-ES_tradnl" noProof="0" dirty="0"/>
            </a:p>
          </p:txBody>
        </p:sp>
        <p:sp>
          <p:nvSpPr>
            <p:cNvPr id="9" name="Text 7">
              <a:extLst>
                <a:ext uri="{FF2B5EF4-FFF2-40B4-BE49-F238E27FC236}">
                  <a16:creationId xmlns:a16="http://schemas.microsoft.com/office/drawing/2014/main" id="{8935081E-D0D9-93E4-D80A-7403066D9697}"/>
                </a:ext>
              </a:extLst>
            </p:cNvPr>
            <p:cNvSpPr txBox="1"/>
            <p:nvPr/>
          </p:nvSpPr>
          <p:spPr>
            <a:xfrm>
              <a:off x="939800" y="1992744"/>
              <a:ext cx="1930400" cy="304800"/>
            </a:xfrm>
            <a:prstGeom prst="rect">
              <a:avLst/>
            </a:prstGeom>
            <a:noFill/>
            <a:ln/>
          </p:spPr>
          <p:txBody>
            <a:bodyPr wrap="square" lIns="0" tIns="0" rIns="0" bIns="0" rtlCol="0" anchor="t"/>
            <a:lstStyle/>
            <a:p>
              <a:pPr marL="0" indent="0" algn="ctr">
                <a:buNone/>
              </a:pPr>
              <a:r>
                <a:rPr lang="es-ES_tradnl" sz="1200" b="1" noProof="0" dirty="0">
                  <a:solidFill>
                    <a:srgbClr val="293470"/>
                  </a:solidFill>
                  <a:latin typeface="DM Sans" pitchFamily="34" charset="0"/>
                  <a:ea typeface="DM Sans" pitchFamily="34" charset="-122"/>
                  <a:cs typeface="DM Sans" pitchFamily="34" charset="-120"/>
                </a:rPr>
                <a:t>Codificar</a:t>
              </a:r>
              <a:endParaRPr lang="es-ES_tradnl" sz="1200" noProof="0" dirty="0"/>
            </a:p>
          </p:txBody>
        </p:sp>
        <mc:AlternateContent xmlns:mc="http://schemas.openxmlformats.org/markup-compatibility/2006">
          <mc:Choice xmlns:a14="http://schemas.microsoft.com/office/drawing/2010/main" Requires="a14">
            <p:sp>
              <p:nvSpPr>
                <p:cNvPr id="10" name="Text 8">
                  <a:extLst>
                    <a:ext uri="{FF2B5EF4-FFF2-40B4-BE49-F238E27FC236}">
                      <a16:creationId xmlns:a16="http://schemas.microsoft.com/office/drawing/2014/main" id="{57B84B82-BBC8-A3F5-8625-698F84F48256}"/>
                    </a:ext>
                  </a:extLst>
                </p:cNvPr>
                <p:cNvSpPr txBox="1"/>
                <p:nvPr/>
              </p:nvSpPr>
              <p:spPr>
                <a:xfrm>
                  <a:off x="939800" y="2262645"/>
                  <a:ext cx="1930400" cy="355600"/>
                </a:xfrm>
                <a:prstGeom prst="rect">
                  <a:avLst/>
                </a:prstGeom>
                <a:noFill/>
                <a:ln/>
              </p:spPr>
              <p:txBody>
                <a:bodyPr wrap="square" lIns="0" tIns="0" rIns="0" bIns="0" rtlCol="0" anchor="t"/>
                <a:lstStyle/>
                <a:p>
                  <a:pPr marL="0" indent="0" algn="ctr">
                    <a:buNone/>
                  </a:pPr>
                  <a:r>
                    <a:rPr lang="es-ES_tradnl" sz="1300" noProof="0" dirty="0">
                      <a:solidFill>
                        <a:srgbClr val="3C3C3B"/>
                      </a:solidFill>
                      <a:ea typeface="Cambria Math" panose="02040503050406030204" pitchFamily="18" charset="0"/>
                      <a:cs typeface="Roboto" pitchFamily="34" charset="-120"/>
                    </a:rPr>
                    <a:t>{</a:t>
                  </a:r>
                  <a14:m>
                    <m:oMath xmlns:m="http://schemas.openxmlformats.org/officeDocument/2006/math">
                      <m:sSubSup>
                        <m:sSubSupPr>
                          <m:ctrlPr>
                            <a:rPr lang="es-ES_tradnl" sz="1300" i="1" noProof="0" smtClean="0">
                              <a:solidFill>
                                <a:srgbClr val="3C3C3B"/>
                              </a:solidFill>
                              <a:latin typeface="Cambria Math" panose="02040503050406030204" pitchFamily="18" charset="0"/>
                              <a:ea typeface="Cambria Math" panose="02040503050406030204" pitchFamily="18" charset="0"/>
                              <a:cs typeface="Roboto" pitchFamily="34" charset="-120"/>
                            </a:rPr>
                          </m:ctrlPr>
                        </m:sSubSupPr>
                        <m:e>
                          <m:r>
                            <a:rPr lang="es-ES_tradnl" sz="1300" i="1" noProof="0" smtClean="0">
                              <a:solidFill>
                                <a:srgbClr val="3C3C3B"/>
                              </a:solidFill>
                              <a:latin typeface="Cambria Math" panose="02040503050406030204" pitchFamily="18" charset="0"/>
                              <a:ea typeface="Cambria Math" panose="02040503050406030204" pitchFamily="18" charset="0"/>
                              <a:cs typeface="Roboto" pitchFamily="34" charset="-120"/>
                            </a:rPr>
                            <m:t>𝜌</m:t>
                          </m:r>
                        </m:e>
                        <m:sub>
                          <m:r>
                            <a:rPr lang="es-ES_tradnl" sz="1300" b="0" i="1" noProof="0" smtClean="0">
                              <a:solidFill>
                                <a:srgbClr val="3C3C3B"/>
                              </a:solidFill>
                              <a:latin typeface="Cambria Math" panose="02040503050406030204" pitchFamily="18" charset="0"/>
                              <a:cs typeface="Roboto" pitchFamily="34" charset="-120"/>
                            </a:rPr>
                            <m:t>𝑖</m:t>
                          </m:r>
                        </m:sub>
                        <m:sup>
                          <m:r>
                            <a:rPr lang="es-ES_tradnl" sz="1300" b="0" i="1" noProof="0" smtClean="0">
                              <a:solidFill>
                                <a:srgbClr val="3C3C3B"/>
                              </a:solidFill>
                              <a:latin typeface="Cambria Math" panose="02040503050406030204" pitchFamily="18" charset="0"/>
                              <a:ea typeface="Cambria Math" panose="02040503050406030204" pitchFamily="18" charset="0"/>
                              <a:cs typeface="Roboto" pitchFamily="34" charset="-120"/>
                            </a:rPr>
                            <m:t>𝑘</m:t>
                          </m:r>
                        </m:sup>
                      </m:sSubSup>
                      <m:r>
                        <a:rPr lang="es-ES_tradnl" sz="1300" b="0" i="1" noProof="0" smtClean="0">
                          <a:solidFill>
                            <a:srgbClr val="3C3C3B"/>
                          </a:solidFill>
                          <a:latin typeface="Cambria Math" panose="02040503050406030204" pitchFamily="18" charset="0"/>
                          <a:ea typeface="Cambria Math" panose="02040503050406030204" pitchFamily="18" charset="0"/>
                          <a:cs typeface="Roboto" pitchFamily="34" charset="-120"/>
                        </a:rPr>
                        <m:t>}</m:t>
                      </m:r>
                    </m:oMath>
                  </a14:m>
                  <a:r>
                    <a:rPr lang="es-ES_tradnl" sz="1300" noProof="0" dirty="0">
                      <a:solidFill>
                        <a:srgbClr val="3C3C3B"/>
                      </a:solidFill>
                      <a:latin typeface="Roboto" pitchFamily="34" charset="0"/>
                      <a:ea typeface="Roboto" pitchFamily="34" charset="-122"/>
                      <a:cs typeface="Roboto" pitchFamily="34" charset="-120"/>
                    </a:rPr>
                    <a:t>: 1000 estados </a:t>
                  </a:r>
                  <a14:m>
                    <m:oMath xmlns:m="http://schemas.openxmlformats.org/officeDocument/2006/math">
                      <m:r>
                        <a:rPr lang="es-ES_tradnl" sz="1300" b="0" i="1" noProof="0" smtClean="0">
                          <a:solidFill>
                            <a:srgbClr val="3C3C3B"/>
                          </a:solidFill>
                          <a:latin typeface="Cambria Math" panose="02040503050406030204" pitchFamily="18" charset="0"/>
                          <a:ea typeface="Roboto" pitchFamily="34" charset="-122"/>
                          <a:cs typeface="Roboto" pitchFamily="34" charset="-120"/>
                        </a:rPr>
                        <m:t>∀</m:t>
                      </m:r>
                      <m:r>
                        <a:rPr lang="es-ES_tradnl" sz="1300" b="0" i="1" noProof="0" smtClean="0">
                          <a:solidFill>
                            <a:srgbClr val="3C3C3B"/>
                          </a:solidFill>
                          <a:latin typeface="Cambria Math" panose="02040503050406030204" pitchFamily="18" charset="0"/>
                          <a:ea typeface="Roboto" pitchFamily="34" charset="-122"/>
                          <a:cs typeface="Roboto" pitchFamily="34" charset="-120"/>
                        </a:rPr>
                        <m:t>𝑖</m:t>
                      </m:r>
                      <m:r>
                        <a:rPr lang="es-ES_tradnl" sz="1300" b="0" i="1" noProof="0" smtClean="0">
                          <a:solidFill>
                            <a:srgbClr val="3C3C3B"/>
                          </a:solidFill>
                          <a:latin typeface="Cambria Math" panose="02040503050406030204" pitchFamily="18" charset="0"/>
                          <a:ea typeface="Roboto" pitchFamily="34" charset="-122"/>
                          <a:cs typeface="Roboto" pitchFamily="34" charset="-120"/>
                        </a:rPr>
                        <m:t>∈[0, 1000)</m:t>
                      </m:r>
                    </m:oMath>
                  </a14:m>
                  <a:endParaRPr lang="es-ES_tradnl" sz="1300" noProof="0" dirty="0"/>
                </a:p>
              </p:txBody>
            </p:sp>
          </mc:Choice>
          <mc:Fallback>
            <p:sp>
              <p:nvSpPr>
                <p:cNvPr id="10" name="Text 8">
                  <a:extLst>
                    <a:ext uri="{FF2B5EF4-FFF2-40B4-BE49-F238E27FC236}">
                      <a16:creationId xmlns:a16="http://schemas.microsoft.com/office/drawing/2014/main" id="{57B84B82-BBC8-A3F5-8625-698F84F48256}"/>
                    </a:ext>
                  </a:extLst>
                </p:cNvPr>
                <p:cNvSpPr txBox="1">
                  <a:spLocks noRot="1" noChangeAspect="1" noMove="1" noResize="1" noEditPoints="1" noAdjustHandles="1" noChangeArrowheads="1" noChangeShapeType="1" noTextEdit="1"/>
                </p:cNvSpPr>
                <p:nvPr/>
              </p:nvSpPr>
              <p:spPr>
                <a:xfrm>
                  <a:off x="939800" y="2262645"/>
                  <a:ext cx="1930400" cy="355600"/>
                </a:xfrm>
                <a:prstGeom prst="rect">
                  <a:avLst/>
                </a:prstGeom>
                <a:blipFill>
                  <a:blip r:embed="rId3"/>
                  <a:stretch>
                    <a:fillRect l="-2740" t="-11538" b="-50000"/>
                  </a:stretch>
                </a:blipFill>
                <a:ln/>
              </p:spPr>
              <p:txBody>
                <a:bodyPr/>
                <a:lstStyle/>
                <a:p>
                  <a:r>
                    <a:rPr lang="en-CO">
                      <a:noFill/>
                    </a:rPr>
                    <a:t> </a:t>
                  </a:r>
                </a:p>
              </p:txBody>
            </p:sp>
          </mc:Fallback>
        </mc:AlternateContent>
        <p:sp>
          <p:nvSpPr>
            <p:cNvPr id="12" name="Shape 10">
              <a:extLst>
                <a:ext uri="{FF2B5EF4-FFF2-40B4-BE49-F238E27FC236}">
                  <a16:creationId xmlns:a16="http://schemas.microsoft.com/office/drawing/2014/main" id="{514D929F-A5A8-72FE-1ECC-EDB4014156E6}"/>
                </a:ext>
              </a:extLst>
            </p:cNvPr>
            <p:cNvSpPr/>
            <p:nvPr/>
          </p:nvSpPr>
          <p:spPr>
            <a:xfrm>
              <a:off x="3193962" y="1893916"/>
              <a:ext cx="2225756" cy="863600"/>
            </a:xfrm>
            <a:prstGeom prst="roundRect">
              <a:avLst>
                <a:gd name="adj" fmla="val 8421"/>
              </a:avLst>
            </a:prstGeom>
            <a:solidFill>
              <a:srgbClr val="FFFFFF"/>
            </a:solidFill>
            <a:ln w="12700">
              <a:solidFill>
                <a:srgbClr val="B9B9B5"/>
              </a:solidFill>
              <a:prstDash val="solid"/>
            </a:ln>
          </p:spPr>
          <p:txBody>
            <a:bodyPr/>
            <a:lstStyle/>
            <a:p>
              <a:endParaRPr lang="es-ES_tradnl" noProof="0" dirty="0"/>
            </a:p>
          </p:txBody>
        </p:sp>
        <p:sp>
          <p:nvSpPr>
            <p:cNvPr id="13" name="Text 11">
              <a:extLst>
                <a:ext uri="{FF2B5EF4-FFF2-40B4-BE49-F238E27FC236}">
                  <a16:creationId xmlns:a16="http://schemas.microsoft.com/office/drawing/2014/main" id="{65F24D8B-B13C-7FD1-190C-5301D8D1A299}"/>
                </a:ext>
              </a:extLst>
            </p:cNvPr>
            <p:cNvSpPr txBox="1"/>
            <p:nvPr/>
          </p:nvSpPr>
          <p:spPr>
            <a:xfrm>
              <a:off x="3244762" y="1995516"/>
              <a:ext cx="2124156" cy="304800"/>
            </a:xfrm>
            <a:prstGeom prst="rect">
              <a:avLst/>
            </a:prstGeom>
            <a:noFill/>
            <a:ln/>
          </p:spPr>
          <p:txBody>
            <a:bodyPr wrap="square" lIns="0" tIns="0" rIns="0" bIns="0" rtlCol="0" anchor="t"/>
            <a:lstStyle/>
            <a:p>
              <a:pPr marL="0" indent="0" algn="ctr">
                <a:buNone/>
              </a:pPr>
              <a:r>
                <a:rPr lang="es-ES_tradnl" sz="1200" b="1" noProof="0" dirty="0">
                  <a:solidFill>
                    <a:srgbClr val="293470"/>
                  </a:solidFill>
                  <a:latin typeface="DM Sans" pitchFamily="34" charset="0"/>
                  <a:ea typeface="DM Sans" pitchFamily="34" charset="-122"/>
                  <a:cs typeface="DM Sans" pitchFamily="34" charset="-120"/>
                </a:rPr>
                <a:t>Agregar</a:t>
              </a:r>
              <a:endParaRPr lang="es-ES_tradnl" sz="1200" noProof="0" dirty="0"/>
            </a:p>
          </p:txBody>
        </p:sp>
        <p:sp>
          <p:nvSpPr>
            <p:cNvPr id="16" name="Shape 14">
              <a:extLst>
                <a:ext uri="{FF2B5EF4-FFF2-40B4-BE49-F238E27FC236}">
                  <a16:creationId xmlns:a16="http://schemas.microsoft.com/office/drawing/2014/main" id="{5ACC1E75-9078-C724-5778-3FCE583BEA8C}"/>
                </a:ext>
              </a:extLst>
            </p:cNvPr>
            <p:cNvSpPr/>
            <p:nvPr/>
          </p:nvSpPr>
          <p:spPr>
            <a:xfrm>
              <a:off x="6578893" y="1888255"/>
              <a:ext cx="1717365" cy="863601"/>
            </a:xfrm>
            <a:prstGeom prst="roundRect">
              <a:avLst>
                <a:gd name="adj" fmla="val 8421"/>
              </a:avLst>
            </a:prstGeom>
            <a:solidFill>
              <a:srgbClr val="FFEE00"/>
            </a:solidFill>
            <a:ln w="15875">
              <a:solidFill>
                <a:srgbClr val="FFEE00"/>
              </a:solidFill>
              <a:prstDash val="solid"/>
            </a:ln>
          </p:spPr>
          <p:txBody>
            <a:bodyPr/>
            <a:lstStyle/>
            <a:p>
              <a:endParaRPr lang="es-ES_tradnl" noProof="0" dirty="0"/>
            </a:p>
          </p:txBody>
        </p:sp>
        <p:sp>
          <p:nvSpPr>
            <p:cNvPr id="17" name="Text 15">
              <a:extLst>
                <a:ext uri="{FF2B5EF4-FFF2-40B4-BE49-F238E27FC236}">
                  <a16:creationId xmlns:a16="http://schemas.microsoft.com/office/drawing/2014/main" id="{82335239-82D8-9EA2-7785-1E916AF55D6D}"/>
                </a:ext>
              </a:extLst>
            </p:cNvPr>
            <p:cNvSpPr txBox="1"/>
            <p:nvPr/>
          </p:nvSpPr>
          <p:spPr>
            <a:xfrm>
              <a:off x="6629692" y="1981189"/>
              <a:ext cx="1656303" cy="304800"/>
            </a:xfrm>
            <a:prstGeom prst="rect">
              <a:avLst/>
            </a:prstGeom>
            <a:noFill/>
            <a:ln/>
          </p:spPr>
          <p:txBody>
            <a:bodyPr wrap="square" lIns="0" tIns="0" rIns="0" bIns="0" rtlCol="0" anchor="t"/>
            <a:lstStyle/>
            <a:p>
              <a:pPr marL="0" indent="0" algn="ctr">
                <a:buNone/>
              </a:pPr>
              <a:r>
                <a:rPr lang="es-ES_tradnl" sz="1200" b="1" noProof="0" dirty="0">
                  <a:solidFill>
                    <a:srgbClr val="1D1D1B"/>
                  </a:solidFill>
                  <a:latin typeface="DM Sans" pitchFamily="34" charset="0"/>
                  <a:ea typeface="DM Sans" pitchFamily="34" charset="-122"/>
                  <a:cs typeface="DM Sans" pitchFamily="34" charset="-120"/>
                </a:rPr>
                <a:t>GAD</a:t>
              </a:r>
              <a:endParaRPr lang="es-ES_tradnl" sz="1200" noProof="0" dirty="0"/>
            </a:p>
          </p:txBody>
        </p:sp>
        <mc:AlternateContent xmlns:mc="http://schemas.openxmlformats.org/markup-compatibility/2006">
          <mc:Choice xmlns:a14="http://schemas.microsoft.com/office/drawing/2010/main" Requires="a14">
            <p:sp>
              <p:nvSpPr>
                <p:cNvPr id="18" name="Text 16">
                  <a:extLst>
                    <a:ext uri="{FF2B5EF4-FFF2-40B4-BE49-F238E27FC236}">
                      <a16:creationId xmlns:a16="http://schemas.microsoft.com/office/drawing/2014/main" id="{2CDF4994-AE98-6CC1-08EF-952D824381CB}"/>
                    </a:ext>
                  </a:extLst>
                </p:cNvPr>
                <p:cNvSpPr txBox="1"/>
                <p:nvPr/>
              </p:nvSpPr>
              <p:spPr>
                <a:xfrm>
                  <a:off x="6629692" y="2338173"/>
                  <a:ext cx="1656303" cy="355600"/>
                </a:xfrm>
                <a:prstGeom prst="rect">
                  <a:avLst/>
                </a:prstGeom>
                <a:noFill/>
                <a:ln/>
              </p:spPr>
              <p:txBody>
                <a:bodyPr wrap="square" lIns="0" tIns="0" rIns="0" bIns="0" rtlCol="0" anchor="t"/>
                <a:lstStyle/>
                <a:p>
                  <a:pPr algn="ctr"/>
                  <a14:m>
                    <m:oMathPara xmlns:m="http://schemas.openxmlformats.org/officeDocument/2006/math">
                      <m:oMathParaPr>
                        <m:jc m:val="centerGroup"/>
                      </m:oMathParaPr>
                      <m:oMath xmlns:m="http://schemas.openxmlformats.org/officeDocument/2006/math">
                        <m:sSubSup>
                          <m:sSubSupPr>
                            <m:ctrlPr>
                              <a:rPr lang="es-ES_tradnl" sz="1300" b="0" i="1" noProof="0" smtClean="0">
                                <a:solidFill>
                                  <a:srgbClr val="3C3C3B"/>
                                </a:solidFill>
                                <a:latin typeface="Cambria Math" panose="02040503050406030204" pitchFamily="18" charset="0"/>
                              </a:rPr>
                            </m:ctrlPr>
                          </m:sSubSupPr>
                          <m:e>
                            <m:r>
                              <a:rPr lang="es-ES_tradnl" sz="1300" i="1" noProof="0" smtClean="0">
                                <a:solidFill>
                                  <a:srgbClr val="3C3C3B"/>
                                </a:solidFill>
                                <a:latin typeface="Cambria Math" panose="02040503050406030204" pitchFamily="18" charset="0"/>
                              </a:rPr>
                              <m:t>𝜌</m:t>
                            </m:r>
                            <m:r>
                              <a:rPr lang="es-ES_tradnl" sz="1300" b="0" i="1" noProof="0" smtClean="0">
                                <a:solidFill>
                                  <a:srgbClr val="3C3C3B"/>
                                </a:solidFill>
                                <a:latin typeface="Cambria Math" panose="02040503050406030204" pitchFamily="18" charset="0"/>
                              </a:rPr>
                              <m:t>′</m:t>
                            </m:r>
                          </m:e>
                          <m:sub/>
                          <m:sup>
                            <m:r>
                              <a:rPr lang="es-ES_tradnl" sz="1300" b="0" i="1" noProof="0" smtClean="0">
                                <a:solidFill>
                                  <a:srgbClr val="3C3C3B"/>
                                </a:solidFill>
                                <a:latin typeface="Cambria Math" panose="02040503050406030204" pitchFamily="18" charset="0"/>
                              </a:rPr>
                              <m:t>𝑘</m:t>
                            </m:r>
                          </m:sup>
                        </m:sSubSup>
                        <m:r>
                          <a:rPr lang="es-ES_tradnl" sz="1300" i="1" noProof="0" smtClean="0">
                            <a:solidFill>
                              <a:srgbClr val="3C3C3B"/>
                            </a:solidFill>
                            <a:latin typeface="Cambria Math" panose="02040503050406030204" pitchFamily="18" charset="0"/>
                          </a:rPr>
                          <m:t>=</m:t>
                        </m:r>
                        <m:sSub>
                          <m:sSubPr>
                            <m:ctrlPr>
                              <a:rPr lang="es-ES_tradnl" sz="1300" i="1" noProof="0" smtClean="0">
                                <a:solidFill>
                                  <a:srgbClr val="3C3C3B"/>
                                </a:solidFill>
                                <a:latin typeface="Cambria Math" panose="02040503050406030204" pitchFamily="18" charset="0"/>
                              </a:rPr>
                            </m:ctrlPr>
                          </m:sSubPr>
                          <m:e>
                            <m:r>
                              <a:rPr lang="es-ES_tradnl" sz="1300" i="1" noProof="0" smtClean="0">
                                <a:solidFill>
                                  <a:srgbClr val="3C3C3B"/>
                                </a:solidFill>
                                <a:latin typeface="Cambria Math" panose="02040503050406030204" pitchFamily="18" charset="0"/>
                              </a:rPr>
                              <m:t>ℰ</m:t>
                            </m:r>
                          </m:e>
                          <m:sub>
                            <m:r>
                              <a:rPr lang="es-ES_tradnl" sz="1300" b="0" i="1" noProof="0" smtClean="0">
                                <a:solidFill>
                                  <a:srgbClr val="3C3C3B"/>
                                </a:solidFill>
                                <a:latin typeface="Cambria Math" panose="02040503050406030204" pitchFamily="18" charset="0"/>
                              </a:rPr>
                              <m:t>𝐺𝐴𝐷</m:t>
                            </m:r>
                          </m:sub>
                        </m:sSub>
                        <m:d>
                          <m:dPr>
                            <m:ctrlPr>
                              <a:rPr lang="es-ES_tradnl" sz="1300" i="1" noProof="0" smtClean="0">
                                <a:solidFill>
                                  <a:srgbClr val="3C3C3B"/>
                                </a:solidFill>
                                <a:latin typeface="Cambria Math" panose="02040503050406030204" pitchFamily="18" charset="0"/>
                              </a:rPr>
                            </m:ctrlPr>
                          </m:dPr>
                          <m:e>
                            <m:sSubSup>
                              <m:sSubSupPr>
                                <m:ctrlPr>
                                  <a:rPr lang="es-ES_tradnl" sz="1300" i="1" noProof="0" smtClean="0">
                                    <a:solidFill>
                                      <a:srgbClr val="3C3C3B"/>
                                    </a:solidFill>
                                    <a:latin typeface="Cambria Math" panose="02040503050406030204" pitchFamily="18" charset="0"/>
                                  </a:rPr>
                                </m:ctrlPr>
                              </m:sSubSupPr>
                              <m:e>
                                <m:r>
                                  <a:rPr lang="es-ES_tradnl" sz="1300" i="1" noProof="0" smtClean="0">
                                    <a:solidFill>
                                      <a:srgbClr val="3C3C3B"/>
                                    </a:solidFill>
                                    <a:latin typeface="Cambria Math" panose="02040503050406030204" pitchFamily="18" charset="0"/>
                                  </a:rPr>
                                  <m:t>𝜌</m:t>
                                </m:r>
                              </m:e>
                              <m:sub/>
                              <m:sup>
                                <m:r>
                                  <a:rPr lang="es-ES_tradnl" sz="1300" b="0" i="1" noProof="0" smtClean="0">
                                    <a:solidFill>
                                      <a:srgbClr val="3C3C3B"/>
                                    </a:solidFill>
                                    <a:latin typeface="Cambria Math" panose="02040503050406030204" pitchFamily="18" charset="0"/>
                                  </a:rPr>
                                  <m:t>𝑘</m:t>
                                </m:r>
                              </m:sup>
                            </m:sSubSup>
                          </m:e>
                        </m:d>
                      </m:oMath>
                    </m:oMathPara>
                  </a14:m>
                  <a:endParaRPr lang="es-ES_tradnl" sz="1300" noProof="0" dirty="0"/>
                </a:p>
              </p:txBody>
            </p:sp>
          </mc:Choice>
          <mc:Fallback>
            <p:sp>
              <p:nvSpPr>
                <p:cNvPr id="18" name="Text 16">
                  <a:extLst>
                    <a:ext uri="{FF2B5EF4-FFF2-40B4-BE49-F238E27FC236}">
                      <a16:creationId xmlns:a16="http://schemas.microsoft.com/office/drawing/2014/main" id="{2CDF4994-AE98-6CC1-08EF-952D824381CB}"/>
                    </a:ext>
                  </a:extLst>
                </p:cNvPr>
                <p:cNvSpPr txBox="1">
                  <a:spLocks noRot="1" noChangeAspect="1" noMove="1" noResize="1" noEditPoints="1" noAdjustHandles="1" noChangeArrowheads="1" noChangeShapeType="1" noTextEdit="1"/>
                </p:cNvSpPr>
                <p:nvPr/>
              </p:nvSpPr>
              <p:spPr>
                <a:xfrm>
                  <a:off x="6629692" y="2338173"/>
                  <a:ext cx="1656303" cy="355600"/>
                </a:xfrm>
                <a:prstGeom prst="rect">
                  <a:avLst/>
                </a:prstGeom>
                <a:blipFill>
                  <a:blip r:embed="rId4"/>
                  <a:stretch>
                    <a:fillRect t="-3846"/>
                  </a:stretch>
                </a:blipFill>
                <a:ln/>
              </p:spPr>
              <p:txBody>
                <a:bodyPr/>
                <a:lstStyle/>
                <a:p>
                  <a:r>
                    <a:rPr lang="en-CO">
                      <a:noFill/>
                    </a:rPr>
                    <a:t> </a:t>
                  </a:r>
                </a:p>
              </p:txBody>
            </p:sp>
          </mc:Fallback>
        </mc:AlternateContent>
        <p:sp>
          <p:nvSpPr>
            <p:cNvPr id="20" name="Text 18">
              <a:extLst>
                <a:ext uri="{FF2B5EF4-FFF2-40B4-BE49-F238E27FC236}">
                  <a16:creationId xmlns:a16="http://schemas.microsoft.com/office/drawing/2014/main" id="{1BA8370D-77FC-6C26-A4EF-F3AE5457D626}"/>
                </a:ext>
              </a:extLst>
            </p:cNvPr>
            <p:cNvSpPr txBox="1"/>
            <p:nvPr/>
          </p:nvSpPr>
          <p:spPr>
            <a:xfrm>
              <a:off x="965200" y="3098800"/>
              <a:ext cx="5486400" cy="330200"/>
            </a:xfrm>
            <a:prstGeom prst="rect">
              <a:avLst/>
            </a:prstGeom>
            <a:noFill/>
            <a:ln/>
          </p:spPr>
          <p:txBody>
            <a:bodyPr wrap="square" lIns="0" tIns="0" rIns="0" bIns="0" rtlCol="0" anchor="t"/>
            <a:lstStyle/>
            <a:p>
              <a:pPr marL="0" indent="0">
                <a:buNone/>
              </a:pPr>
              <a:r>
                <a:rPr lang="es-ES_tradnl" sz="1400" b="1" noProof="0" dirty="0">
                  <a:solidFill>
                    <a:srgbClr val="1D1D1B"/>
                  </a:solidFill>
                  <a:latin typeface="DM Sans" pitchFamily="34" charset="0"/>
                  <a:ea typeface="DM Sans" pitchFamily="34" charset="-122"/>
                  <a:cs typeface="DM Sans" pitchFamily="34" charset="-120"/>
                </a:rPr>
                <a:t>Para cada fila j = 0, …, 999</a:t>
              </a:r>
              <a:endParaRPr lang="es-ES_tradnl" sz="1400" noProof="0" dirty="0"/>
            </a:p>
          </p:txBody>
        </p:sp>
        <p:sp>
          <p:nvSpPr>
            <p:cNvPr id="25" name="Shape 23">
              <a:extLst>
                <a:ext uri="{FF2B5EF4-FFF2-40B4-BE49-F238E27FC236}">
                  <a16:creationId xmlns:a16="http://schemas.microsoft.com/office/drawing/2014/main" id="{CA1108B1-FBD0-9B5A-00FB-8C7A1D5D8183}"/>
                </a:ext>
              </a:extLst>
            </p:cNvPr>
            <p:cNvSpPr/>
            <p:nvPr/>
          </p:nvSpPr>
          <p:spPr>
            <a:xfrm>
              <a:off x="3193479" y="3556000"/>
              <a:ext cx="1714500" cy="863600"/>
            </a:xfrm>
            <a:prstGeom prst="roundRect">
              <a:avLst>
                <a:gd name="adj" fmla="val 8421"/>
              </a:avLst>
            </a:prstGeom>
            <a:solidFill>
              <a:srgbClr val="FFFFFF"/>
            </a:solidFill>
            <a:ln w="12700">
              <a:solidFill>
                <a:srgbClr val="B9B9B5"/>
              </a:solidFill>
              <a:prstDash val="solid"/>
            </a:ln>
          </p:spPr>
          <p:txBody>
            <a:bodyPr/>
            <a:lstStyle/>
            <a:p>
              <a:endParaRPr lang="es-ES_tradnl" noProof="0" dirty="0"/>
            </a:p>
          </p:txBody>
        </p:sp>
        <p:sp>
          <p:nvSpPr>
            <p:cNvPr id="26" name="Text 24">
              <a:extLst>
                <a:ext uri="{FF2B5EF4-FFF2-40B4-BE49-F238E27FC236}">
                  <a16:creationId xmlns:a16="http://schemas.microsoft.com/office/drawing/2014/main" id="{4892E880-93C6-2CB7-4CE0-50CB9FDEE7F6}"/>
                </a:ext>
              </a:extLst>
            </p:cNvPr>
            <p:cNvSpPr txBox="1"/>
            <p:nvPr/>
          </p:nvSpPr>
          <p:spPr>
            <a:xfrm>
              <a:off x="3244107" y="3618370"/>
              <a:ext cx="1612900" cy="304800"/>
            </a:xfrm>
            <a:prstGeom prst="rect">
              <a:avLst/>
            </a:prstGeom>
            <a:noFill/>
            <a:ln/>
          </p:spPr>
          <p:txBody>
            <a:bodyPr wrap="square" lIns="0" tIns="0" rIns="0" bIns="0" rtlCol="0" anchor="t"/>
            <a:lstStyle/>
            <a:p>
              <a:pPr marL="0" indent="0" algn="ctr">
                <a:buNone/>
              </a:pPr>
              <a:r>
                <a:rPr lang="es-ES_tradnl" sz="1200" b="1" noProof="0" dirty="0">
                  <a:solidFill>
                    <a:srgbClr val="293470"/>
                  </a:solidFill>
                  <a:latin typeface="DM Sans" pitchFamily="34" charset="0"/>
                  <a:ea typeface="DM Sans" pitchFamily="34" charset="-122"/>
                  <a:cs typeface="DM Sans" pitchFamily="34" charset="-120"/>
                </a:rPr>
                <a:t>Agregar</a:t>
              </a:r>
              <a:endParaRPr lang="es-ES_tradnl" sz="1200" noProof="0" dirty="0"/>
            </a:p>
          </p:txBody>
        </p:sp>
        <mc:AlternateContent xmlns:mc="http://schemas.openxmlformats.org/markup-compatibility/2006">
          <mc:Choice xmlns:a14="http://schemas.microsoft.com/office/drawing/2010/main" Requires="a14">
            <p:sp>
              <p:nvSpPr>
                <p:cNvPr id="27" name="Text 25">
                  <a:extLst>
                    <a:ext uri="{FF2B5EF4-FFF2-40B4-BE49-F238E27FC236}">
                      <a16:creationId xmlns:a16="http://schemas.microsoft.com/office/drawing/2014/main" id="{75D7A389-8F73-23BA-BAA2-7370D8DCA855}"/>
                    </a:ext>
                  </a:extLst>
                </p:cNvPr>
                <p:cNvSpPr txBox="1"/>
                <p:nvPr/>
              </p:nvSpPr>
              <p:spPr>
                <a:xfrm>
                  <a:off x="3212357" y="3870523"/>
                  <a:ext cx="1612900" cy="355600"/>
                </a:xfrm>
                <a:prstGeom prst="rect">
                  <a:avLst/>
                </a:prstGeom>
                <a:noFill/>
                <a:ln/>
              </p:spPr>
              <p:txBody>
                <a:bodyPr wrap="square" lIns="0" tIns="0" rIns="0" bIns="0" rtlCol="0" anchor="t"/>
                <a:lstStyle/>
                <a:p>
                  <a:pPr algn="ctr"/>
                  <a14:m>
                    <m:oMathPara xmlns:m="http://schemas.openxmlformats.org/officeDocument/2006/math">
                      <m:oMathParaPr>
                        <m:jc m:val="centerGroup"/>
                      </m:oMathParaPr>
                      <m:oMath xmlns:m="http://schemas.openxmlformats.org/officeDocument/2006/math">
                        <m:sSubSup>
                          <m:sSubSupPr>
                            <m:ctrlPr>
                              <a:rPr lang="es-ES_tradnl" sz="1200" i="1" noProof="0" smtClean="0">
                                <a:solidFill>
                                  <a:srgbClr val="3C3C3B"/>
                                </a:solidFill>
                                <a:latin typeface="Cambria Math" panose="02040503050406030204" pitchFamily="18" charset="0"/>
                                <a:ea typeface="Cambria Math" panose="02040503050406030204" pitchFamily="18" charset="0"/>
                              </a:rPr>
                            </m:ctrlPr>
                          </m:sSubSupPr>
                          <m:e>
                            <m:r>
                              <a:rPr lang="es-ES_tradnl" sz="1200" i="1" noProof="0" smtClean="0">
                                <a:solidFill>
                                  <a:srgbClr val="3C3C3B"/>
                                </a:solidFill>
                                <a:latin typeface="Cambria Math" panose="02040503050406030204" pitchFamily="18" charset="0"/>
                                <a:ea typeface="Cambria Math" panose="02040503050406030204" pitchFamily="18" charset="0"/>
                              </a:rPr>
                              <m:t>𝜎</m:t>
                            </m:r>
                          </m:e>
                          <m:sub>
                            <m:r>
                              <a:rPr lang="es-ES_tradnl" sz="1200" b="0" i="1" noProof="0" smtClean="0">
                                <a:solidFill>
                                  <a:srgbClr val="3C3C3B"/>
                                </a:solidFill>
                                <a:latin typeface="Cambria Math" panose="02040503050406030204" pitchFamily="18" charset="0"/>
                                <a:ea typeface="Cambria Math" panose="02040503050406030204" pitchFamily="18" charset="0"/>
                              </a:rPr>
                              <m:t>𝑗</m:t>
                            </m:r>
                          </m:sub>
                          <m:sup>
                            <m:r>
                              <a:rPr lang="es-ES_tradnl" sz="1200" b="0" i="1" noProof="0" smtClean="0">
                                <a:solidFill>
                                  <a:srgbClr val="3C3C3B"/>
                                </a:solidFill>
                                <a:latin typeface="Cambria Math" panose="02040503050406030204" pitchFamily="18" charset="0"/>
                                <a:ea typeface="Cambria Math" panose="02040503050406030204" pitchFamily="18" charset="0"/>
                              </a:rPr>
                              <m:t>𝑘</m:t>
                            </m:r>
                          </m:sup>
                        </m:sSubSup>
                        <m:r>
                          <a:rPr lang="es-ES_tradnl" sz="1200" i="1" noProof="0" smtClean="0">
                            <a:solidFill>
                              <a:srgbClr val="3C3C3B"/>
                            </a:solidFill>
                            <a:latin typeface="Cambria Math" panose="02040503050406030204" pitchFamily="18" charset="0"/>
                          </a:rPr>
                          <m:t>=</m:t>
                        </m:r>
                        <m:f>
                          <m:fPr>
                            <m:ctrlPr>
                              <a:rPr lang="es-ES_tradnl" sz="1200" b="0" i="1" noProof="0" smtClean="0">
                                <a:solidFill>
                                  <a:srgbClr val="3C3C3B"/>
                                </a:solidFill>
                                <a:latin typeface="Cambria Math" panose="02040503050406030204" pitchFamily="18" charset="0"/>
                              </a:rPr>
                            </m:ctrlPr>
                          </m:fPr>
                          <m:num>
                            <m:r>
                              <a:rPr lang="es-ES_tradnl" sz="1200" b="0" i="1" noProof="0" smtClean="0">
                                <a:solidFill>
                                  <a:srgbClr val="3C3C3B"/>
                                </a:solidFill>
                                <a:latin typeface="Cambria Math" panose="02040503050406030204" pitchFamily="18" charset="0"/>
                              </a:rPr>
                              <m:t>1</m:t>
                            </m:r>
                          </m:num>
                          <m:den>
                            <m:r>
                              <a:rPr lang="es-ES_tradnl" sz="1200" b="0" i="1" noProof="0" smtClean="0">
                                <a:solidFill>
                                  <a:srgbClr val="3C3C3B"/>
                                </a:solidFill>
                                <a:latin typeface="Cambria Math" panose="02040503050406030204" pitchFamily="18" charset="0"/>
                              </a:rPr>
                              <m:t>999</m:t>
                            </m:r>
                          </m:den>
                        </m:f>
                        <m:d>
                          <m:dPr>
                            <m:ctrlPr>
                              <a:rPr lang="es-ES_tradnl" sz="1200" i="1" noProof="0" smtClean="0">
                                <a:solidFill>
                                  <a:srgbClr val="3C3C3B"/>
                                </a:solidFill>
                                <a:latin typeface="Cambria Math" panose="02040503050406030204" pitchFamily="18" charset="0"/>
                              </a:rPr>
                            </m:ctrlPr>
                          </m:dPr>
                          <m:e>
                            <m:nary>
                              <m:naryPr>
                                <m:chr m:val="∑"/>
                                <m:subHide m:val="on"/>
                                <m:supHide m:val="on"/>
                                <m:ctrlPr>
                                  <a:rPr lang="es-ES_tradnl" sz="1200" i="1" noProof="0" smtClean="0">
                                    <a:solidFill>
                                      <a:srgbClr val="3C3C3B"/>
                                    </a:solidFill>
                                    <a:latin typeface="Cambria Math" panose="02040503050406030204" pitchFamily="18" charset="0"/>
                                  </a:rPr>
                                </m:ctrlPr>
                              </m:naryPr>
                              <m:sub/>
                              <m:sup/>
                              <m:e>
                                <m:sSub>
                                  <m:sSubPr>
                                    <m:ctrlPr>
                                      <a:rPr lang="es-ES_tradnl" sz="1200" i="1" noProof="0" smtClean="0">
                                        <a:solidFill>
                                          <a:srgbClr val="3C3C3B"/>
                                        </a:solidFill>
                                        <a:latin typeface="Cambria Math" panose="02040503050406030204" pitchFamily="18" charset="0"/>
                                        <a:cs typeface="Roboto" pitchFamily="34" charset="-120"/>
                                      </a:rPr>
                                    </m:ctrlPr>
                                  </m:sSubPr>
                                  <m:e>
                                    <m:r>
                                      <a:rPr lang="es-ES_tradnl" sz="1200" i="1" noProof="0" smtClean="0">
                                        <a:solidFill>
                                          <a:srgbClr val="3C3C3B"/>
                                        </a:solidFill>
                                        <a:latin typeface="Cambria Math" panose="02040503050406030204" pitchFamily="18" charset="0"/>
                                        <a:ea typeface="Cambria Math" panose="02040503050406030204" pitchFamily="18" charset="0"/>
                                        <a:cs typeface="Roboto" pitchFamily="34" charset="-120"/>
                                      </a:rPr>
                                      <m:t>𝜎</m:t>
                                    </m:r>
                                  </m:e>
                                  <m:sub>
                                    <m:r>
                                      <a:rPr lang="es-ES_tradnl" sz="1200" b="0" i="1" noProof="0" smtClean="0">
                                        <a:solidFill>
                                          <a:srgbClr val="3C3C3B"/>
                                        </a:solidFill>
                                        <a:latin typeface="Cambria Math" panose="02040503050406030204" pitchFamily="18" charset="0"/>
                                        <a:ea typeface="Cambria Math" panose="02040503050406030204" pitchFamily="18" charset="0"/>
                                        <a:cs typeface="Roboto" pitchFamily="34" charset="-120"/>
                                      </a:rPr>
                                      <m:t>𝑗</m:t>
                                    </m:r>
                                  </m:sub>
                                </m:sSub>
                              </m:e>
                            </m:nary>
                          </m:e>
                        </m:d>
                      </m:oMath>
                    </m:oMathPara>
                  </a14:m>
                  <a:endParaRPr lang="es-ES_tradnl" sz="1000" noProof="0" dirty="0"/>
                </a:p>
              </p:txBody>
            </p:sp>
          </mc:Choice>
          <mc:Fallback>
            <p:sp>
              <p:nvSpPr>
                <p:cNvPr id="27" name="Text 25">
                  <a:extLst>
                    <a:ext uri="{FF2B5EF4-FFF2-40B4-BE49-F238E27FC236}">
                      <a16:creationId xmlns:a16="http://schemas.microsoft.com/office/drawing/2014/main" id="{75D7A389-8F73-23BA-BAA2-7370D8DCA855}"/>
                    </a:ext>
                  </a:extLst>
                </p:cNvPr>
                <p:cNvSpPr txBox="1">
                  <a:spLocks noRot="1" noChangeAspect="1" noMove="1" noResize="1" noEditPoints="1" noAdjustHandles="1" noChangeArrowheads="1" noChangeShapeType="1" noTextEdit="1"/>
                </p:cNvSpPr>
                <p:nvPr/>
              </p:nvSpPr>
              <p:spPr>
                <a:xfrm>
                  <a:off x="3212357" y="3870523"/>
                  <a:ext cx="1612900" cy="355600"/>
                </a:xfrm>
                <a:prstGeom prst="rect">
                  <a:avLst/>
                </a:prstGeom>
                <a:blipFill>
                  <a:blip r:embed="rId5"/>
                  <a:stretch>
                    <a:fillRect t="-188462" b="-334615"/>
                  </a:stretch>
                </a:blipFill>
                <a:ln/>
              </p:spPr>
              <p:txBody>
                <a:bodyPr/>
                <a:lstStyle/>
                <a:p>
                  <a:r>
                    <a:rPr lang="en-CO">
                      <a:noFill/>
                    </a:rPr>
                    <a:t> </a:t>
                  </a:r>
                </a:p>
              </p:txBody>
            </p:sp>
          </mc:Fallback>
        </mc:AlternateContent>
        <p:sp>
          <p:nvSpPr>
            <p:cNvPr id="29" name="Shape 27">
              <a:extLst>
                <a:ext uri="{FF2B5EF4-FFF2-40B4-BE49-F238E27FC236}">
                  <a16:creationId xmlns:a16="http://schemas.microsoft.com/office/drawing/2014/main" id="{853DC19E-75CB-02CC-4E34-BC96C005B415}"/>
                </a:ext>
              </a:extLst>
            </p:cNvPr>
            <p:cNvSpPr/>
            <p:nvPr/>
          </p:nvSpPr>
          <p:spPr>
            <a:xfrm>
              <a:off x="6578893" y="3281913"/>
              <a:ext cx="1707103" cy="863601"/>
            </a:xfrm>
            <a:prstGeom prst="roundRect">
              <a:avLst>
                <a:gd name="adj" fmla="val 8421"/>
              </a:avLst>
            </a:prstGeom>
            <a:solidFill>
              <a:srgbClr val="FFEE00"/>
            </a:solidFill>
            <a:ln w="15875">
              <a:solidFill>
                <a:srgbClr val="FFEE00"/>
              </a:solidFill>
              <a:prstDash val="solid"/>
            </a:ln>
          </p:spPr>
          <p:txBody>
            <a:bodyPr/>
            <a:lstStyle/>
            <a:p>
              <a:endParaRPr lang="es-ES_tradnl" noProof="0" dirty="0"/>
            </a:p>
          </p:txBody>
        </p:sp>
        <p:sp>
          <p:nvSpPr>
            <p:cNvPr id="33" name="Shape 31">
              <a:extLst>
                <a:ext uri="{FF2B5EF4-FFF2-40B4-BE49-F238E27FC236}">
                  <a16:creationId xmlns:a16="http://schemas.microsoft.com/office/drawing/2014/main" id="{63F31AE1-E80F-885D-21BB-22E54514E40F}"/>
                </a:ext>
              </a:extLst>
            </p:cNvPr>
            <p:cNvSpPr/>
            <p:nvPr/>
          </p:nvSpPr>
          <p:spPr>
            <a:xfrm>
              <a:off x="6606523" y="4339110"/>
              <a:ext cx="1717365" cy="863601"/>
            </a:xfrm>
            <a:prstGeom prst="roundRect">
              <a:avLst>
                <a:gd name="adj" fmla="val 8421"/>
              </a:avLst>
            </a:prstGeom>
            <a:solidFill>
              <a:srgbClr val="FFFFFF"/>
            </a:solidFill>
            <a:ln w="12700">
              <a:solidFill>
                <a:srgbClr val="B9B9B5"/>
              </a:solidFill>
              <a:prstDash val="solid"/>
            </a:ln>
          </p:spPr>
          <p:txBody>
            <a:bodyPr/>
            <a:lstStyle/>
            <a:p>
              <a:endParaRPr lang="es-ES_tradnl" noProof="0" dirty="0"/>
            </a:p>
          </p:txBody>
        </p:sp>
        <p:sp>
          <p:nvSpPr>
            <p:cNvPr id="34" name="Text 32">
              <a:extLst>
                <a:ext uri="{FF2B5EF4-FFF2-40B4-BE49-F238E27FC236}">
                  <a16:creationId xmlns:a16="http://schemas.microsoft.com/office/drawing/2014/main" id="{6973FBFB-2C36-AD76-948E-E96B059829F7}"/>
                </a:ext>
              </a:extLst>
            </p:cNvPr>
            <p:cNvSpPr txBox="1"/>
            <p:nvPr/>
          </p:nvSpPr>
          <p:spPr>
            <a:xfrm>
              <a:off x="6650766" y="4427346"/>
              <a:ext cx="1625772" cy="304800"/>
            </a:xfrm>
            <a:prstGeom prst="rect">
              <a:avLst/>
            </a:prstGeom>
            <a:noFill/>
            <a:ln/>
          </p:spPr>
          <p:txBody>
            <a:bodyPr wrap="square" lIns="0" tIns="0" rIns="0" bIns="0" rtlCol="0" anchor="t"/>
            <a:lstStyle/>
            <a:p>
              <a:pPr marL="0" indent="0" algn="ctr">
                <a:buNone/>
              </a:pPr>
              <a:r>
                <a:rPr lang="es-ES_tradnl" sz="1200" b="1" noProof="0" dirty="0">
                  <a:solidFill>
                    <a:srgbClr val="1D1D1B"/>
                  </a:solidFill>
                  <a:latin typeface="DM Sans" pitchFamily="34" charset="0"/>
                  <a:cs typeface="DM Sans" pitchFamily="34" charset="-120"/>
                </a:rPr>
                <a:t>Distancia de traza</a:t>
              </a:r>
            </a:p>
          </p:txBody>
        </p:sp>
        <mc:AlternateContent xmlns:mc="http://schemas.openxmlformats.org/markup-compatibility/2006">
          <mc:Choice xmlns:a14="http://schemas.microsoft.com/office/drawing/2010/main" Requires="a14">
            <p:sp>
              <p:nvSpPr>
                <p:cNvPr id="35" name="Text 33">
                  <a:extLst>
                    <a:ext uri="{FF2B5EF4-FFF2-40B4-BE49-F238E27FC236}">
                      <a16:creationId xmlns:a16="http://schemas.microsoft.com/office/drawing/2014/main" id="{C8830A30-45A0-D79F-F85A-D5AFA4002986}"/>
                    </a:ext>
                  </a:extLst>
                </p:cNvPr>
                <p:cNvSpPr txBox="1"/>
                <p:nvPr/>
              </p:nvSpPr>
              <p:spPr>
                <a:xfrm>
                  <a:off x="6657323" y="4839239"/>
                  <a:ext cx="1625772" cy="287270"/>
                </a:xfrm>
                <a:prstGeom prst="rect">
                  <a:avLst/>
                </a:prstGeom>
                <a:noFill/>
                <a:ln/>
              </p:spPr>
              <p:txBody>
                <a:bodyPr wrap="square" lIns="0" tIns="0" rIns="0" bIns="0" rtlCol="0" anchor="t"/>
                <a:lstStyle/>
                <a:p>
                  <a:pPr marL="0" indent="0" algn="ctr">
                    <a:buNone/>
                  </a:pPr>
                  <a14:m>
                    <m:oMathPara xmlns:m="http://schemas.openxmlformats.org/officeDocument/2006/math">
                      <m:oMathParaPr>
                        <m:jc m:val="centerGroup"/>
                      </m:oMathParaPr>
                      <m:oMath xmlns:m="http://schemas.openxmlformats.org/officeDocument/2006/math">
                        <m:sSub>
                          <m:sSubPr>
                            <m:ctrlPr>
                              <a:rPr lang="es-ES_tradnl" sz="1300" i="1" noProof="0" smtClean="0">
                                <a:solidFill>
                                  <a:srgbClr val="3C3C3B"/>
                                </a:solidFill>
                                <a:latin typeface="Cambria Math" panose="02040503050406030204" pitchFamily="18" charset="0"/>
                              </a:rPr>
                            </m:ctrlPr>
                          </m:sSubPr>
                          <m:e>
                            <m:r>
                              <a:rPr lang="es-ES_tradnl" sz="1300" i="1" noProof="0" smtClean="0">
                                <a:solidFill>
                                  <a:srgbClr val="3C3C3B"/>
                                </a:solidFill>
                                <a:latin typeface="Cambria Math" panose="02040503050406030204" pitchFamily="18" charset="0"/>
                              </a:rPr>
                              <m:t>𝑑</m:t>
                            </m:r>
                          </m:e>
                          <m:sub>
                            <m:r>
                              <a:rPr lang="es-ES_tradnl" sz="1300" b="0" i="1" noProof="0" smtClean="0">
                                <a:solidFill>
                                  <a:srgbClr val="3C3C3B"/>
                                </a:solidFill>
                                <a:latin typeface="Cambria Math" panose="02040503050406030204" pitchFamily="18" charset="0"/>
                              </a:rPr>
                              <m:t>𝑗</m:t>
                            </m:r>
                          </m:sub>
                        </m:sSub>
                        <m:r>
                          <a:rPr lang="es-ES_tradnl" sz="1300" noProof="0" smtClean="0">
                            <a:solidFill>
                              <a:srgbClr val="3C3C3B"/>
                            </a:solidFill>
                            <a:latin typeface="Cambria Math" panose="02040503050406030204" pitchFamily="18" charset="0"/>
                          </a:rPr>
                          <m:t> </m:t>
                        </m:r>
                        <m:r>
                          <a:rPr lang="es-ES_tradnl" sz="1300" b="0" i="0" noProof="0" smtClean="0">
                            <a:solidFill>
                              <a:srgbClr val="3C3C3B"/>
                            </a:solidFill>
                            <a:latin typeface="Cambria Math" panose="02040503050406030204" pitchFamily="18" charset="0"/>
                          </a:rPr>
                          <m:t>= </m:t>
                        </m:r>
                        <m:r>
                          <m:rPr>
                            <m:sty m:val="p"/>
                          </m:rPr>
                          <a:rPr lang="es-ES_tradnl" sz="1300" b="0" i="1" noProof="0" smtClean="0">
                            <a:solidFill>
                              <a:srgbClr val="3C3C3B"/>
                            </a:solidFill>
                            <a:latin typeface="Cambria Math" panose="02040503050406030204" pitchFamily="18" charset="0"/>
                            <a:ea typeface="Cambria Math" panose="02040503050406030204" pitchFamily="18" charset="0"/>
                          </a:rPr>
                          <m:t>τ</m:t>
                        </m:r>
                        <m:r>
                          <a:rPr lang="es-ES_tradnl" sz="1300" b="0" i="1" noProof="0" smtClean="0">
                            <a:solidFill>
                              <a:srgbClr val="3C3C3B"/>
                            </a:solidFill>
                            <a:latin typeface="Cambria Math" panose="02040503050406030204" pitchFamily="18" charset="0"/>
                            <a:ea typeface="Cambria Math" panose="02040503050406030204" pitchFamily="18" charset="0"/>
                          </a:rPr>
                          <m:t>(</m:t>
                        </m:r>
                        <m:sSubSup>
                          <m:sSubSupPr>
                            <m:ctrlPr>
                              <a:rPr lang="es-ES_tradnl" sz="1300" b="0" i="1" noProof="0" smtClean="0">
                                <a:solidFill>
                                  <a:srgbClr val="3C3C3B"/>
                                </a:solidFill>
                                <a:latin typeface="Cambria Math" panose="02040503050406030204" pitchFamily="18" charset="0"/>
                                <a:ea typeface="Cambria Math" panose="02040503050406030204" pitchFamily="18" charset="0"/>
                              </a:rPr>
                            </m:ctrlPr>
                          </m:sSubSupPr>
                          <m:e>
                            <m:r>
                              <a:rPr lang="es-ES_tradnl" sz="1300" b="0" i="1" noProof="0" smtClean="0">
                                <a:solidFill>
                                  <a:srgbClr val="3C3C3B"/>
                                </a:solidFill>
                                <a:latin typeface="Cambria Math" panose="02040503050406030204" pitchFamily="18" charset="0"/>
                                <a:ea typeface="Cambria Math" panose="02040503050406030204" pitchFamily="18" charset="0"/>
                              </a:rPr>
                              <m:t>𝜌</m:t>
                            </m:r>
                          </m:e>
                          <m:sub/>
                          <m:sup>
                            <m:r>
                              <a:rPr lang="es-ES_tradnl" sz="1300" b="0" i="1" noProof="0" smtClean="0">
                                <a:solidFill>
                                  <a:srgbClr val="3C3C3B"/>
                                </a:solidFill>
                                <a:latin typeface="Cambria Math" panose="02040503050406030204" pitchFamily="18" charset="0"/>
                                <a:ea typeface="Cambria Math" panose="02040503050406030204" pitchFamily="18" charset="0"/>
                              </a:rPr>
                              <m:t>𝑘</m:t>
                            </m:r>
                          </m:sup>
                        </m:sSubSup>
                        <m:r>
                          <a:rPr lang="es-ES_tradnl" sz="1300" b="0" i="1" noProof="0" smtClean="0">
                            <a:solidFill>
                              <a:srgbClr val="3C3C3B"/>
                            </a:solidFill>
                            <a:latin typeface="Cambria Math" panose="02040503050406030204" pitchFamily="18" charset="0"/>
                            <a:ea typeface="Cambria Math" panose="02040503050406030204" pitchFamily="18" charset="0"/>
                          </a:rPr>
                          <m:t>,</m:t>
                        </m:r>
                        <m:sSubSup>
                          <m:sSubSupPr>
                            <m:ctrlPr>
                              <a:rPr lang="es-ES_tradnl" sz="1300" b="0" i="1" noProof="0" smtClean="0">
                                <a:solidFill>
                                  <a:srgbClr val="3C3C3B"/>
                                </a:solidFill>
                                <a:latin typeface="Cambria Math" panose="02040503050406030204" pitchFamily="18" charset="0"/>
                                <a:ea typeface="Cambria Math" panose="02040503050406030204" pitchFamily="18" charset="0"/>
                              </a:rPr>
                            </m:ctrlPr>
                          </m:sSubSupPr>
                          <m:e>
                            <m:r>
                              <a:rPr lang="es-ES_tradnl" sz="1300" b="0" i="1" noProof="0" smtClean="0">
                                <a:solidFill>
                                  <a:srgbClr val="3C3C3B"/>
                                </a:solidFill>
                                <a:latin typeface="Cambria Math" panose="02040503050406030204" pitchFamily="18" charset="0"/>
                                <a:ea typeface="Cambria Math" panose="02040503050406030204" pitchFamily="18" charset="0"/>
                              </a:rPr>
                              <m:t>𝜎</m:t>
                            </m:r>
                          </m:e>
                          <m:sub>
                            <m:r>
                              <a:rPr lang="es-ES_tradnl" sz="1300" b="0" i="1" noProof="0" smtClean="0">
                                <a:solidFill>
                                  <a:srgbClr val="3C3C3B"/>
                                </a:solidFill>
                                <a:latin typeface="Cambria Math" panose="02040503050406030204" pitchFamily="18" charset="0"/>
                                <a:ea typeface="Cambria Math" panose="02040503050406030204" pitchFamily="18" charset="0"/>
                              </a:rPr>
                              <m:t>𝑗</m:t>
                            </m:r>
                          </m:sub>
                          <m:sup>
                            <m:r>
                              <a:rPr lang="es-ES_tradnl" sz="1300" b="0" i="1" noProof="0" smtClean="0">
                                <a:solidFill>
                                  <a:srgbClr val="3C3C3B"/>
                                </a:solidFill>
                                <a:latin typeface="Cambria Math" panose="02040503050406030204" pitchFamily="18" charset="0"/>
                                <a:ea typeface="Cambria Math" panose="02040503050406030204" pitchFamily="18" charset="0"/>
                              </a:rPr>
                              <m:t>𝑘</m:t>
                            </m:r>
                          </m:sup>
                        </m:sSubSup>
                        <m:r>
                          <a:rPr lang="es-ES_tradnl" sz="1300" b="0" i="1" noProof="0" smtClean="0">
                            <a:solidFill>
                              <a:srgbClr val="3C3C3B"/>
                            </a:solidFill>
                            <a:latin typeface="Cambria Math" panose="02040503050406030204" pitchFamily="18" charset="0"/>
                            <a:ea typeface="Cambria Math" panose="02040503050406030204" pitchFamily="18" charset="0"/>
                          </a:rPr>
                          <m:t>)</m:t>
                        </m:r>
                      </m:oMath>
                    </m:oMathPara>
                  </a14:m>
                  <a:endParaRPr lang="es-ES_tradnl" sz="1300" noProof="0" dirty="0"/>
                </a:p>
              </p:txBody>
            </p:sp>
          </mc:Choice>
          <mc:Fallback>
            <p:sp>
              <p:nvSpPr>
                <p:cNvPr id="35" name="Text 33">
                  <a:extLst>
                    <a:ext uri="{FF2B5EF4-FFF2-40B4-BE49-F238E27FC236}">
                      <a16:creationId xmlns:a16="http://schemas.microsoft.com/office/drawing/2014/main" id="{C8830A30-45A0-D79F-F85A-D5AFA4002986}"/>
                    </a:ext>
                  </a:extLst>
                </p:cNvPr>
                <p:cNvSpPr txBox="1">
                  <a:spLocks noRot="1" noChangeAspect="1" noMove="1" noResize="1" noEditPoints="1" noAdjustHandles="1" noChangeArrowheads="1" noChangeShapeType="1" noTextEdit="1"/>
                </p:cNvSpPr>
                <p:nvPr/>
              </p:nvSpPr>
              <p:spPr>
                <a:xfrm>
                  <a:off x="6657323" y="4839239"/>
                  <a:ext cx="1625772" cy="287270"/>
                </a:xfrm>
                <a:prstGeom prst="rect">
                  <a:avLst/>
                </a:prstGeom>
                <a:blipFill>
                  <a:blip r:embed="rId6"/>
                  <a:stretch>
                    <a:fillRect b="-19048"/>
                  </a:stretch>
                </a:blipFill>
                <a:ln/>
              </p:spPr>
              <p:txBody>
                <a:bodyPr/>
                <a:lstStyle/>
                <a:p>
                  <a:r>
                    <a:rPr lang="en-CO">
                      <a:noFill/>
                    </a:rPr>
                    <a:t> </a:t>
                  </a:r>
                </a:p>
              </p:txBody>
            </p:sp>
          </mc:Fallback>
        </mc:AlternateContent>
        <p:sp>
          <p:nvSpPr>
            <p:cNvPr id="119" name="Shape 38">
              <a:extLst>
                <a:ext uri="{FF2B5EF4-FFF2-40B4-BE49-F238E27FC236}">
                  <a16:creationId xmlns:a16="http://schemas.microsoft.com/office/drawing/2014/main" id="{7C023E92-EC9F-B07E-C416-99B2B00592F1}"/>
                </a:ext>
              </a:extLst>
            </p:cNvPr>
            <p:cNvSpPr/>
            <p:nvPr/>
          </p:nvSpPr>
          <p:spPr>
            <a:xfrm>
              <a:off x="3794202" y="5432571"/>
              <a:ext cx="2312974" cy="649029"/>
            </a:xfrm>
            <a:prstGeom prst="roundRect">
              <a:avLst>
                <a:gd name="adj" fmla="val 8421"/>
              </a:avLst>
            </a:prstGeom>
            <a:solidFill>
              <a:srgbClr val="FFFFFF"/>
            </a:solidFill>
            <a:ln w="19050">
              <a:solidFill>
                <a:srgbClr val="293470"/>
              </a:solidFill>
              <a:prstDash val="solid"/>
            </a:ln>
          </p:spPr>
          <p:txBody>
            <a:bodyPr/>
            <a:lstStyle/>
            <a:p>
              <a:endParaRPr lang="es-ES_tradnl" noProof="0" dirty="0"/>
            </a:p>
          </p:txBody>
        </p:sp>
        <p:sp>
          <p:nvSpPr>
            <p:cNvPr id="41" name="Text 39">
              <a:extLst>
                <a:ext uri="{FF2B5EF4-FFF2-40B4-BE49-F238E27FC236}">
                  <a16:creationId xmlns:a16="http://schemas.microsoft.com/office/drawing/2014/main" id="{9C82E522-9017-E0CD-415C-88A7EB248BB3}"/>
                </a:ext>
              </a:extLst>
            </p:cNvPr>
            <p:cNvSpPr txBox="1"/>
            <p:nvPr/>
          </p:nvSpPr>
          <p:spPr>
            <a:xfrm>
              <a:off x="3870036" y="5494232"/>
              <a:ext cx="2161309" cy="227756"/>
            </a:xfrm>
            <a:prstGeom prst="rect">
              <a:avLst/>
            </a:prstGeom>
            <a:noFill/>
            <a:ln/>
          </p:spPr>
          <p:txBody>
            <a:bodyPr wrap="square" lIns="0" tIns="0" rIns="0" bIns="0" rtlCol="0" anchor="t"/>
            <a:lstStyle/>
            <a:p>
              <a:pPr marL="0" indent="0" algn="ctr">
                <a:buNone/>
              </a:pPr>
              <a:r>
                <a:rPr lang="es-ES_tradnl" sz="1200" b="1" noProof="0" dirty="0" err="1">
                  <a:solidFill>
                    <a:srgbClr val="1D1D1B"/>
                  </a:solidFill>
                  <a:latin typeface="DM Sans" pitchFamily="34" charset="0"/>
                  <a:cs typeface="DM Sans" pitchFamily="34" charset="-120"/>
                </a:rPr>
                <a:t>Epsilon</a:t>
              </a:r>
              <a:r>
                <a:rPr lang="es-ES_tradnl" sz="1200" b="1" noProof="0" dirty="0">
                  <a:solidFill>
                    <a:srgbClr val="1D1D1B"/>
                  </a:solidFill>
                  <a:latin typeface="DM Sans" pitchFamily="34" charset="0"/>
                  <a:cs typeface="DM Sans" pitchFamily="34" charset="-120"/>
                </a:rPr>
                <a:t> </a:t>
              </a:r>
              <a:r>
                <a:rPr lang="es-ES_tradnl" sz="1200" b="1" noProof="0" dirty="0" err="1">
                  <a:solidFill>
                    <a:srgbClr val="1D1D1B"/>
                  </a:solidFill>
                  <a:latin typeface="DM Sans" pitchFamily="34" charset="0"/>
                  <a:cs typeface="DM Sans" pitchFamily="34" charset="-120"/>
                </a:rPr>
                <a:t>Teorico</a:t>
              </a:r>
              <a:r>
                <a:rPr lang="es-ES_tradnl" sz="1200" b="1" noProof="0" dirty="0">
                  <a:solidFill>
                    <a:srgbClr val="1D1D1B"/>
                  </a:solidFill>
                  <a:latin typeface="DM Sans" pitchFamily="34" charset="0"/>
                  <a:cs typeface="DM Sans" pitchFamily="34" charset="-120"/>
                </a:rPr>
                <a:t> k</a:t>
              </a:r>
              <a:endParaRPr lang="es-ES_tradnl" sz="1200" noProof="0" dirty="0"/>
            </a:p>
          </p:txBody>
        </p:sp>
        <p:sp>
          <p:nvSpPr>
            <p:cNvPr id="114" name="Shape 38">
              <a:extLst>
                <a:ext uri="{FF2B5EF4-FFF2-40B4-BE49-F238E27FC236}">
                  <a16:creationId xmlns:a16="http://schemas.microsoft.com/office/drawing/2014/main" id="{0A2B0D48-BD2D-B5FA-8E51-684F6AAD7605}"/>
                </a:ext>
              </a:extLst>
            </p:cNvPr>
            <p:cNvSpPr/>
            <p:nvPr/>
          </p:nvSpPr>
          <p:spPr>
            <a:xfrm>
              <a:off x="6263640" y="5440511"/>
              <a:ext cx="2312974" cy="641090"/>
            </a:xfrm>
            <a:prstGeom prst="roundRect">
              <a:avLst>
                <a:gd name="adj" fmla="val 8421"/>
              </a:avLst>
            </a:prstGeom>
            <a:solidFill>
              <a:srgbClr val="FFFFFF"/>
            </a:solidFill>
            <a:ln w="19050">
              <a:solidFill>
                <a:srgbClr val="293470"/>
              </a:solidFill>
              <a:prstDash val="solid"/>
            </a:ln>
          </p:spPr>
          <p:txBody>
            <a:bodyPr/>
            <a:lstStyle/>
            <a:p>
              <a:endParaRPr lang="es-ES_tradnl" noProof="0" dirty="0"/>
            </a:p>
          </p:txBody>
        </p:sp>
        <mc:AlternateContent xmlns:mc="http://schemas.openxmlformats.org/markup-compatibility/2006">
          <mc:Choice xmlns:a14="http://schemas.microsoft.com/office/drawing/2010/main" Requires="a14">
            <p:sp>
              <p:nvSpPr>
                <p:cNvPr id="42" name="Text 40">
                  <a:extLst>
                    <a:ext uri="{FF2B5EF4-FFF2-40B4-BE49-F238E27FC236}">
                      <a16:creationId xmlns:a16="http://schemas.microsoft.com/office/drawing/2014/main" id="{8C0B3E6A-0ADA-2454-38C7-7770D1A78833}"/>
                    </a:ext>
                  </a:extLst>
                </p:cNvPr>
                <p:cNvSpPr txBox="1"/>
                <p:nvPr/>
              </p:nvSpPr>
              <p:spPr>
                <a:xfrm>
                  <a:off x="3870035" y="5757632"/>
                  <a:ext cx="2161309" cy="261497"/>
                </a:xfrm>
                <a:prstGeom prst="rect">
                  <a:avLst/>
                </a:prstGeom>
                <a:noFill/>
                <a:ln/>
              </p:spPr>
              <p:txBody>
                <a:bodyPr wrap="square" lIns="0" tIns="0" rIns="0" bIns="0" rtlCol="0" anchor="t"/>
                <a:lstStyle/>
                <a:p>
                  <a:pPr algn="ctr"/>
                  <a14:m>
                    <m:oMathPara xmlns:m="http://schemas.openxmlformats.org/officeDocument/2006/math">
                      <m:oMathParaPr>
                        <m:jc m:val="centerGroup"/>
                      </m:oMathParaPr>
                      <m:oMath xmlns:m="http://schemas.openxmlformats.org/officeDocument/2006/math">
                        <m:sSubSup>
                          <m:sSubSupPr>
                            <m:ctrlPr>
                              <a:rPr lang="es-ES_tradnl" sz="1300" i="1" noProof="0" smtClean="0">
                                <a:solidFill>
                                  <a:srgbClr val="3C3C3B"/>
                                </a:solidFill>
                                <a:latin typeface="Cambria Math" panose="02040503050406030204" pitchFamily="18" charset="0"/>
                                <a:ea typeface="Cambria Math" panose="02040503050406030204" pitchFamily="18" charset="0"/>
                              </a:rPr>
                            </m:ctrlPr>
                          </m:sSubSupPr>
                          <m:e>
                            <m:r>
                              <a:rPr lang="es-ES_tradnl" sz="1300" i="1" noProof="0" smtClean="0">
                                <a:solidFill>
                                  <a:srgbClr val="3C3C3B"/>
                                </a:solidFill>
                                <a:latin typeface="Cambria Math" panose="02040503050406030204" pitchFamily="18" charset="0"/>
                                <a:ea typeface="Cambria Math" panose="02040503050406030204" pitchFamily="18" charset="0"/>
                              </a:rPr>
                              <m:t>𝜖</m:t>
                            </m:r>
                          </m:e>
                          <m:sub>
                            <m:r>
                              <m:rPr>
                                <m:sty m:val="p"/>
                              </m:rPr>
                              <a:rPr lang="es-ES_tradnl" sz="1300" b="0" i="0" noProof="0" smtClean="0">
                                <a:solidFill>
                                  <a:srgbClr val="3C3C3B"/>
                                </a:solidFill>
                                <a:latin typeface="Cambria Math" panose="02040503050406030204" pitchFamily="18" charset="0"/>
                                <a:ea typeface="Cambria Math" panose="02040503050406030204" pitchFamily="18" charset="0"/>
                              </a:rPr>
                              <m:t>teo</m:t>
                            </m:r>
                          </m:sub>
                          <m:sup>
                            <m:r>
                              <a:rPr lang="es-ES_tradnl" sz="1300" b="0" i="1" noProof="0" smtClean="0">
                                <a:solidFill>
                                  <a:srgbClr val="3C3C3B"/>
                                </a:solidFill>
                                <a:latin typeface="Cambria Math" panose="02040503050406030204" pitchFamily="18" charset="0"/>
                                <a:ea typeface="Cambria Math" panose="02040503050406030204" pitchFamily="18" charset="0"/>
                              </a:rPr>
                              <m:t>𝑘</m:t>
                            </m:r>
                          </m:sup>
                        </m:sSubSup>
                        <m:r>
                          <a:rPr lang="es-ES_tradnl" sz="1300" b="0" i="1" noProof="0" smtClean="0">
                            <a:solidFill>
                              <a:srgbClr val="3C3C3B"/>
                            </a:solidFill>
                            <a:latin typeface="Cambria Math" panose="02040503050406030204" pitchFamily="18" charset="0"/>
                          </a:rPr>
                          <m:t>=</m:t>
                        </m:r>
                        <m:sSub>
                          <m:sSubPr>
                            <m:ctrlPr>
                              <a:rPr lang="es-ES_tradnl" sz="1300" i="1" noProof="0" smtClean="0">
                                <a:solidFill>
                                  <a:srgbClr val="3C3C3B"/>
                                </a:solidFill>
                                <a:latin typeface="Cambria Math" panose="02040503050406030204" pitchFamily="18" charset="0"/>
                              </a:rPr>
                            </m:ctrlPr>
                          </m:sSubPr>
                          <m:e>
                            <m:r>
                              <a:rPr lang="es-ES_tradnl" sz="1300" i="1" noProof="0" smtClean="0">
                                <a:solidFill>
                                  <a:srgbClr val="3C3C3B"/>
                                </a:solidFill>
                                <a:latin typeface="Cambria Math" panose="02040503050406030204" pitchFamily="18" charset="0"/>
                                <a:ea typeface="Cambria Math" panose="02040503050406030204" pitchFamily="18" charset="0"/>
                              </a:rPr>
                              <m:t>𝜖</m:t>
                            </m:r>
                          </m:e>
                          <m:sub>
                            <m:r>
                              <m:rPr>
                                <m:sty m:val="p"/>
                              </m:rPr>
                              <a:rPr lang="es-ES_tradnl" sz="1300" noProof="0" smtClean="0">
                                <a:solidFill>
                                  <a:srgbClr val="3C3C3B"/>
                                </a:solidFill>
                                <a:latin typeface="Cambria Math" panose="02040503050406030204" pitchFamily="18" charset="0"/>
                              </a:rPr>
                              <m:t>te</m:t>
                            </m:r>
                            <m:r>
                              <a:rPr lang="es-ES_tradnl" sz="1300" i="1" noProof="0" smtClean="0">
                                <a:solidFill>
                                  <a:srgbClr val="3C3C3B"/>
                                </a:solidFill>
                                <a:latin typeface="Cambria Math" panose="02040503050406030204" pitchFamily="18" charset="0"/>
                              </a:rPr>
                              <m:t>𝑜</m:t>
                            </m:r>
                          </m:sub>
                        </m:sSub>
                        <m:r>
                          <a:rPr lang="es-ES_tradnl" sz="1300" i="1" noProof="0" smtClean="0">
                            <a:solidFill>
                              <a:srgbClr val="3C3C3B"/>
                            </a:solidFill>
                            <a:latin typeface="Cambria Math" panose="02040503050406030204" pitchFamily="18" charset="0"/>
                          </a:rPr>
                          <m:t>(</m:t>
                        </m:r>
                        <m:sSub>
                          <m:sSubPr>
                            <m:ctrlPr>
                              <a:rPr lang="es-ES_tradnl" sz="1300" i="1" noProof="0" smtClean="0">
                                <a:solidFill>
                                  <a:srgbClr val="3C3C3B"/>
                                </a:solidFill>
                                <a:latin typeface="Cambria Math" panose="02040503050406030204" pitchFamily="18" charset="0"/>
                              </a:rPr>
                            </m:ctrlPr>
                          </m:sSubPr>
                          <m:e>
                            <m:r>
                              <a:rPr lang="es-ES_tradnl" sz="1300" i="1" noProof="0" smtClean="0">
                                <a:solidFill>
                                  <a:srgbClr val="3C3C3B"/>
                                </a:solidFill>
                                <a:latin typeface="Cambria Math" panose="02040503050406030204" pitchFamily="18" charset="0"/>
                              </a:rPr>
                              <m:t>𝑚𝑎𝑥</m:t>
                            </m:r>
                          </m:e>
                          <m:sub>
                            <m:r>
                              <a:rPr lang="es-ES_tradnl" sz="1300" i="1" noProof="0" smtClean="0">
                                <a:solidFill>
                                  <a:srgbClr val="3C3C3B"/>
                                </a:solidFill>
                                <a:latin typeface="Cambria Math" panose="02040503050406030204" pitchFamily="18" charset="0"/>
                              </a:rPr>
                              <m:t>𝑗</m:t>
                            </m:r>
                          </m:sub>
                        </m:sSub>
                        <m:d>
                          <m:dPr>
                            <m:ctrlPr>
                              <a:rPr lang="es-ES_tradnl" sz="1300" i="1" noProof="0" smtClean="0">
                                <a:solidFill>
                                  <a:srgbClr val="3C3C3B"/>
                                </a:solidFill>
                                <a:latin typeface="Cambria Math" panose="02040503050406030204" pitchFamily="18" charset="0"/>
                              </a:rPr>
                            </m:ctrlPr>
                          </m:dPr>
                          <m:e>
                            <m:sSub>
                              <m:sSubPr>
                                <m:ctrlPr>
                                  <a:rPr lang="es-ES_tradnl" sz="1300" i="1" noProof="0" smtClean="0">
                                    <a:solidFill>
                                      <a:srgbClr val="3C3C3B"/>
                                    </a:solidFill>
                                    <a:latin typeface="Cambria Math" panose="02040503050406030204" pitchFamily="18" charset="0"/>
                                  </a:rPr>
                                </m:ctrlPr>
                              </m:sSubPr>
                              <m:e>
                                <m:r>
                                  <a:rPr lang="es-ES_tradnl" sz="1300" i="1" noProof="0" smtClean="0">
                                    <a:solidFill>
                                      <a:srgbClr val="3C3C3B"/>
                                    </a:solidFill>
                                    <a:latin typeface="Cambria Math" panose="02040503050406030204" pitchFamily="18" charset="0"/>
                                  </a:rPr>
                                  <m:t>𝑑</m:t>
                                </m:r>
                              </m:e>
                              <m:sub>
                                <m:r>
                                  <a:rPr lang="es-ES_tradnl" sz="1300" i="1" noProof="0" smtClean="0">
                                    <a:solidFill>
                                      <a:srgbClr val="3C3C3B"/>
                                    </a:solidFill>
                                    <a:latin typeface="Cambria Math" panose="02040503050406030204" pitchFamily="18" charset="0"/>
                                  </a:rPr>
                                  <m:t>𝑗</m:t>
                                </m:r>
                              </m:sub>
                            </m:sSub>
                          </m:e>
                        </m:d>
                        <m:r>
                          <a:rPr lang="es-ES_tradnl" sz="1300" i="1" noProof="0" smtClean="0">
                            <a:solidFill>
                              <a:srgbClr val="3C3C3B"/>
                            </a:solidFill>
                            <a:latin typeface="Cambria Math" panose="02040503050406030204" pitchFamily="18" charset="0"/>
                          </a:rPr>
                          <m:t>,</m:t>
                        </m:r>
                        <m:r>
                          <a:rPr lang="es-ES_tradnl" sz="1300" i="1" noProof="0" smtClean="0">
                            <a:solidFill>
                              <a:srgbClr val="3C3C3B"/>
                            </a:solidFill>
                            <a:latin typeface="Cambria Math" panose="02040503050406030204" pitchFamily="18" charset="0"/>
                            <a:ea typeface="Cambria Math" panose="02040503050406030204" pitchFamily="18" charset="0"/>
                          </a:rPr>
                          <m:t>𝛾</m:t>
                        </m:r>
                        <m:r>
                          <a:rPr lang="es-ES_tradnl" sz="1300" i="1" noProof="0" smtClean="0">
                            <a:solidFill>
                              <a:srgbClr val="3C3C3B"/>
                            </a:solidFill>
                            <a:latin typeface="Cambria Math" panose="02040503050406030204" pitchFamily="18" charset="0"/>
                          </a:rPr>
                          <m:t>)</m:t>
                        </m:r>
                      </m:oMath>
                    </m:oMathPara>
                  </a14:m>
                  <a:endParaRPr lang="es-ES_tradnl" sz="1300" noProof="0" dirty="0"/>
                </a:p>
              </p:txBody>
            </p:sp>
          </mc:Choice>
          <mc:Fallback>
            <p:sp>
              <p:nvSpPr>
                <p:cNvPr id="42" name="Text 40">
                  <a:extLst>
                    <a:ext uri="{FF2B5EF4-FFF2-40B4-BE49-F238E27FC236}">
                      <a16:creationId xmlns:a16="http://schemas.microsoft.com/office/drawing/2014/main" id="{8C0B3E6A-0ADA-2454-38C7-7770D1A78833}"/>
                    </a:ext>
                  </a:extLst>
                </p:cNvPr>
                <p:cNvSpPr txBox="1">
                  <a:spLocks noRot="1" noChangeAspect="1" noMove="1" noResize="1" noEditPoints="1" noAdjustHandles="1" noChangeArrowheads="1" noChangeShapeType="1" noTextEdit="1"/>
                </p:cNvSpPr>
                <p:nvPr/>
              </p:nvSpPr>
              <p:spPr>
                <a:xfrm>
                  <a:off x="3870035" y="5757632"/>
                  <a:ext cx="2161309" cy="261497"/>
                </a:xfrm>
                <a:prstGeom prst="rect">
                  <a:avLst/>
                </a:prstGeom>
                <a:blipFill>
                  <a:blip r:embed="rId7"/>
                  <a:stretch>
                    <a:fillRect b="-20000"/>
                  </a:stretch>
                </a:blipFill>
                <a:ln/>
              </p:spPr>
              <p:txBody>
                <a:bodyPr/>
                <a:lstStyle/>
                <a:p>
                  <a:r>
                    <a:rPr lang="en-CO">
                      <a:noFill/>
                    </a:rPr>
                    <a:t> </a:t>
                  </a:r>
                </a:p>
              </p:txBody>
            </p:sp>
          </mc:Fallback>
        </mc:AlternateContent>
        <p:sp>
          <p:nvSpPr>
            <p:cNvPr id="44" name="Text 42">
              <a:extLst>
                <a:ext uri="{FF2B5EF4-FFF2-40B4-BE49-F238E27FC236}">
                  <a16:creationId xmlns:a16="http://schemas.microsoft.com/office/drawing/2014/main" id="{38227DBC-22B9-BC1B-77C9-5C3B65765592}"/>
                </a:ext>
              </a:extLst>
            </p:cNvPr>
            <p:cNvSpPr txBox="1"/>
            <p:nvPr/>
          </p:nvSpPr>
          <p:spPr>
            <a:xfrm>
              <a:off x="6348071" y="5517724"/>
              <a:ext cx="2158620" cy="201641"/>
            </a:xfrm>
            <a:prstGeom prst="rect">
              <a:avLst/>
            </a:prstGeom>
            <a:noFill/>
            <a:ln/>
          </p:spPr>
          <p:txBody>
            <a:bodyPr wrap="square" lIns="0" tIns="0" rIns="0" bIns="0" rtlCol="0" anchor="t"/>
            <a:lstStyle/>
            <a:p>
              <a:pPr marL="0" indent="0" algn="ctr">
                <a:buNone/>
              </a:pPr>
              <a:r>
                <a:rPr lang="es-ES_tradnl" sz="1200" b="1" noProof="0" dirty="0" err="1">
                  <a:solidFill>
                    <a:srgbClr val="1D1D1B"/>
                  </a:solidFill>
                  <a:latin typeface="DM Sans" pitchFamily="34" charset="0"/>
                  <a:ea typeface="DM Sans" pitchFamily="34" charset="-122"/>
                  <a:cs typeface="DM Sans" pitchFamily="34" charset="-120"/>
                </a:rPr>
                <a:t>Epsilon</a:t>
              </a:r>
              <a:r>
                <a:rPr lang="es-ES_tradnl" sz="1200" b="1" noProof="0" dirty="0">
                  <a:solidFill>
                    <a:srgbClr val="1D1D1B"/>
                  </a:solidFill>
                  <a:latin typeface="DM Sans" pitchFamily="34" charset="0"/>
                  <a:ea typeface="DM Sans" pitchFamily="34" charset="-122"/>
                  <a:cs typeface="DM Sans" pitchFamily="34" charset="-120"/>
                </a:rPr>
                <a:t> Experimental k</a:t>
              </a:r>
              <a:endParaRPr lang="es-ES_tradnl" sz="1200" noProof="0" dirty="0"/>
            </a:p>
          </p:txBody>
        </p:sp>
        <mc:AlternateContent xmlns:mc="http://schemas.openxmlformats.org/markup-compatibility/2006">
          <mc:Choice xmlns:a14="http://schemas.microsoft.com/office/drawing/2010/main" Requires="a14">
            <p:sp>
              <p:nvSpPr>
                <p:cNvPr id="45" name="Text 43">
                  <a:extLst>
                    <a:ext uri="{FF2B5EF4-FFF2-40B4-BE49-F238E27FC236}">
                      <a16:creationId xmlns:a16="http://schemas.microsoft.com/office/drawing/2014/main" id="{0929A07E-69A1-24AF-628B-639BC901F436}"/>
                    </a:ext>
                  </a:extLst>
                </p:cNvPr>
                <p:cNvSpPr txBox="1"/>
                <p:nvPr/>
              </p:nvSpPr>
              <p:spPr>
                <a:xfrm>
                  <a:off x="6387644" y="5743538"/>
                  <a:ext cx="1990920" cy="259174"/>
                </a:xfrm>
                <a:prstGeom prst="rect">
                  <a:avLst/>
                </a:prstGeom>
                <a:noFill/>
                <a:ln/>
              </p:spPr>
              <p:txBody>
                <a:bodyPr wrap="square" lIns="0" tIns="0" rIns="0" bIns="0" rtlCol="0" anchor="t"/>
                <a:lstStyle/>
                <a:p>
                  <a:pPr algn="ctr"/>
                  <a14:m>
                    <m:oMathPara xmlns:m="http://schemas.openxmlformats.org/officeDocument/2006/math">
                      <m:oMathParaPr>
                        <m:jc m:val="centerGroup"/>
                      </m:oMathParaPr>
                      <m:oMath xmlns:m="http://schemas.openxmlformats.org/officeDocument/2006/math">
                        <m:sSubSup>
                          <m:sSubSupPr>
                            <m:ctrlPr>
                              <a:rPr lang="es-ES_tradnl" sz="1300" i="1" noProof="0" smtClean="0">
                                <a:solidFill>
                                  <a:srgbClr val="3C3C3B"/>
                                </a:solidFill>
                                <a:latin typeface="Cambria Math" panose="02040503050406030204" pitchFamily="18" charset="0"/>
                                <a:ea typeface="Cambria Math" panose="02040503050406030204" pitchFamily="18" charset="0"/>
                              </a:rPr>
                            </m:ctrlPr>
                          </m:sSubSupPr>
                          <m:e>
                            <m:r>
                              <a:rPr lang="es-ES_tradnl" sz="1300" i="1" noProof="0" smtClean="0">
                                <a:solidFill>
                                  <a:srgbClr val="3C3C3B"/>
                                </a:solidFill>
                                <a:latin typeface="Cambria Math" panose="02040503050406030204" pitchFamily="18" charset="0"/>
                                <a:ea typeface="Cambria Math" panose="02040503050406030204" pitchFamily="18" charset="0"/>
                              </a:rPr>
                              <m:t>𝜖</m:t>
                            </m:r>
                          </m:e>
                          <m:sub>
                            <m:r>
                              <a:rPr lang="es-ES_tradnl" sz="1300" b="0" i="1" noProof="0" smtClean="0">
                                <a:solidFill>
                                  <a:srgbClr val="3C3C3B"/>
                                </a:solidFill>
                                <a:latin typeface="Cambria Math" panose="02040503050406030204" pitchFamily="18" charset="0"/>
                                <a:ea typeface="Cambria Math" panose="02040503050406030204" pitchFamily="18" charset="0"/>
                              </a:rPr>
                              <m:t>𝑒𝑥𝑝</m:t>
                            </m:r>
                          </m:sub>
                          <m:sup>
                            <m:r>
                              <a:rPr lang="es-ES_tradnl" sz="1300" b="0" i="1" noProof="0" smtClean="0">
                                <a:solidFill>
                                  <a:srgbClr val="3C3C3B"/>
                                </a:solidFill>
                                <a:latin typeface="Cambria Math" panose="02040503050406030204" pitchFamily="18" charset="0"/>
                                <a:ea typeface="Cambria Math" panose="02040503050406030204" pitchFamily="18" charset="0"/>
                              </a:rPr>
                              <m:t>𝑘</m:t>
                            </m:r>
                          </m:sup>
                        </m:sSubSup>
                        <m:r>
                          <a:rPr lang="es-ES_tradnl" sz="1300" b="0" i="1" noProof="0" smtClean="0">
                            <a:solidFill>
                              <a:srgbClr val="3C3C3B"/>
                            </a:solidFill>
                            <a:latin typeface="Cambria Math" panose="02040503050406030204" pitchFamily="18" charset="0"/>
                            <a:ea typeface="Cambria Math" panose="02040503050406030204" pitchFamily="18" charset="0"/>
                          </a:rPr>
                          <m:t>=</m:t>
                        </m:r>
                        <m:sSub>
                          <m:sSubPr>
                            <m:ctrlPr>
                              <a:rPr lang="es-ES_tradnl" sz="1200" i="1" noProof="0" smtClean="0">
                                <a:solidFill>
                                  <a:srgbClr val="3C3C3B"/>
                                </a:solidFill>
                                <a:latin typeface="Cambria Math" panose="02040503050406030204" pitchFamily="18" charset="0"/>
                              </a:rPr>
                            </m:ctrlPr>
                          </m:sSubPr>
                          <m:e>
                            <m:r>
                              <a:rPr lang="es-ES_tradnl" sz="1200" i="1" noProof="0" smtClean="0">
                                <a:solidFill>
                                  <a:srgbClr val="3C3C3B"/>
                                </a:solidFill>
                                <a:latin typeface="Cambria Math" panose="02040503050406030204" pitchFamily="18" charset="0"/>
                              </a:rPr>
                              <m:t>𝑚𝑎𝑥</m:t>
                            </m:r>
                          </m:e>
                          <m:sub>
                            <m:r>
                              <a:rPr lang="es-ES_tradnl" sz="1200" i="1" noProof="0" smtClean="0">
                                <a:solidFill>
                                  <a:srgbClr val="3C3C3B"/>
                                </a:solidFill>
                                <a:latin typeface="Cambria Math" panose="02040503050406030204" pitchFamily="18" charset="0"/>
                              </a:rPr>
                              <m:t>𝑗</m:t>
                            </m:r>
                          </m:sub>
                        </m:sSub>
                        <m:d>
                          <m:dPr>
                            <m:ctrlPr>
                              <a:rPr lang="es-ES_tradnl" sz="1200" i="1" noProof="0" smtClean="0">
                                <a:solidFill>
                                  <a:srgbClr val="3C3C3B"/>
                                </a:solidFill>
                                <a:latin typeface="Cambria Math" panose="02040503050406030204" pitchFamily="18" charset="0"/>
                              </a:rPr>
                            </m:ctrlPr>
                          </m:dPr>
                          <m:e>
                            <m:sSubSup>
                              <m:sSubSupPr>
                                <m:ctrlPr>
                                  <a:rPr lang="es-ES_tradnl" sz="1200" i="1" noProof="0" smtClean="0">
                                    <a:solidFill>
                                      <a:srgbClr val="3C3C3B"/>
                                    </a:solidFill>
                                    <a:latin typeface="Cambria Math" panose="02040503050406030204" pitchFamily="18" charset="0"/>
                                  </a:rPr>
                                </m:ctrlPr>
                              </m:sSubSupPr>
                              <m:e>
                                <m:r>
                                  <a:rPr lang="es-ES_tradnl" sz="1200" i="1" noProof="0" smtClean="0">
                                    <a:solidFill>
                                      <a:srgbClr val="3C3C3B"/>
                                    </a:solidFill>
                                    <a:latin typeface="Cambria Math" panose="02040503050406030204" pitchFamily="18" charset="0"/>
                                  </a:rPr>
                                  <m:t>𝜖</m:t>
                                </m:r>
                              </m:e>
                              <m:sub>
                                <m:r>
                                  <a:rPr lang="es-ES_tradnl" sz="1200" i="1" noProof="0" smtClean="0">
                                    <a:solidFill>
                                      <a:srgbClr val="3C3C3B"/>
                                    </a:solidFill>
                                    <a:latin typeface="Cambria Math" panose="02040503050406030204" pitchFamily="18" charset="0"/>
                                  </a:rPr>
                                  <m:t>𝑒𝑥𝑝</m:t>
                                </m:r>
                              </m:sub>
                              <m:sup>
                                <m:r>
                                  <a:rPr lang="es-ES_tradnl" sz="1200" i="1" noProof="0" smtClean="0">
                                    <a:solidFill>
                                      <a:srgbClr val="3C3C3B"/>
                                    </a:solidFill>
                                    <a:latin typeface="Cambria Math" panose="02040503050406030204" pitchFamily="18" charset="0"/>
                                  </a:rPr>
                                  <m:t>𝑗</m:t>
                                </m:r>
                              </m:sup>
                            </m:sSubSup>
                          </m:e>
                        </m:d>
                      </m:oMath>
                    </m:oMathPara>
                  </a14:m>
                  <a:endParaRPr lang="es-ES_tradnl" sz="1300" noProof="0" dirty="0"/>
                </a:p>
              </p:txBody>
            </p:sp>
          </mc:Choice>
          <mc:Fallback>
            <p:sp>
              <p:nvSpPr>
                <p:cNvPr id="45" name="Text 43">
                  <a:extLst>
                    <a:ext uri="{FF2B5EF4-FFF2-40B4-BE49-F238E27FC236}">
                      <a16:creationId xmlns:a16="http://schemas.microsoft.com/office/drawing/2014/main" id="{0929A07E-69A1-24AF-628B-639BC901F436}"/>
                    </a:ext>
                  </a:extLst>
                </p:cNvPr>
                <p:cNvSpPr txBox="1">
                  <a:spLocks noRot="1" noChangeAspect="1" noMove="1" noResize="1" noEditPoints="1" noAdjustHandles="1" noChangeArrowheads="1" noChangeShapeType="1" noTextEdit="1"/>
                </p:cNvSpPr>
                <p:nvPr/>
              </p:nvSpPr>
              <p:spPr>
                <a:xfrm>
                  <a:off x="6387644" y="5743538"/>
                  <a:ext cx="1990920" cy="259174"/>
                </a:xfrm>
                <a:prstGeom prst="rect">
                  <a:avLst/>
                </a:prstGeom>
                <a:blipFill>
                  <a:blip r:embed="rId8"/>
                  <a:stretch>
                    <a:fillRect b="-31579"/>
                  </a:stretch>
                </a:blipFill>
                <a:ln/>
              </p:spPr>
              <p:txBody>
                <a:bodyPr/>
                <a:lstStyle/>
                <a:p>
                  <a:r>
                    <a:rPr lang="en-CO">
                      <a:noFill/>
                    </a:rPr>
                    <a:t> </a:t>
                  </a:r>
                </a:p>
              </p:txBody>
            </p:sp>
          </mc:Fallback>
        </mc:AlternateContent>
        <mc:AlternateContent xmlns:mc="http://schemas.openxmlformats.org/markup-compatibility/2006">
          <mc:Choice xmlns:a14="http://schemas.microsoft.com/office/drawing/2010/main" Requires="a14">
            <p:sp>
              <p:nvSpPr>
                <p:cNvPr id="49" name="Text 25">
                  <a:extLst>
                    <a:ext uri="{FF2B5EF4-FFF2-40B4-BE49-F238E27FC236}">
                      <a16:creationId xmlns:a16="http://schemas.microsoft.com/office/drawing/2014/main" id="{E241BF3B-97CB-5463-00C7-5D230A8FAF21}"/>
                    </a:ext>
                  </a:extLst>
                </p:cNvPr>
                <p:cNvSpPr txBox="1"/>
                <p:nvPr/>
              </p:nvSpPr>
              <p:spPr>
                <a:xfrm>
                  <a:off x="3244762" y="2211416"/>
                  <a:ext cx="2124156" cy="355600"/>
                </a:xfrm>
                <a:prstGeom prst="rect">
                  <a:avLst/>
                </a:prstGeom>
                <a:noFill/>
                <a:ln/>
              </p:spPr>
              <p:txBody>
                <a:bodyPr wrap="square" lIns="0" tIns="0" rIns="0" bIns="0" rtlCol="0" anchor="t"/>
                <a:lstStyle/>
                <a:p>
                  <a:pPr algn="ctr"/>
                  <a14:m>
                    <m:oMathPara xmlns:m="http://schemas.openxmlformats.org/officeDocument/2006/math">
                      <m:oMathParaPr>
                        <m:jc m:val="centerGroup"/>
                      </m:oMathParaPr>
                      <m:oMath xmlns:m="http://schemas.openxmlformats.org/officeDocument/2006/math">
                        <m:sSubSup>
                          <m:sSubSupPr>
                            <m:ctrlPr>
                              <a:rPr lang="es-ES_tradnl" sz="1200" i="1" noProof="0" smtClean="0">
                                <a:solidFill>
                                  <a:srgbClr val="3C3C3B"/>
                                </a:solidFill>
                                <a:latin typeface="Cambria Math" panose="02040503050406030204" pitchFamily="18" charset="0"/>
                                <a:ea typeface="Cambria Math" panose="02040503050406030204" pitchFamily="18" charset="0"/>
                              </a:rPr>
                            </m:ctrlPr>
                          </m:sSubSupPr>
                          <m:e>
                            <m:r>
                              <a:rPr lang="es-ES_tradnl" sz="1200" i="1" noProof="0" smtClean="0">
                                <a:solidFill>
                                  <a:srgbClr val="3C3C3B"/>
                                </a:solidFill>
                                <a:latin typeface="Cambria Math" panose="02040503050406030204" pitchFamily="18" charset="0"/>
                                <a:ea typeface="Cambria Math" panose="02040503050406030204" pitchFamily="18" charset="0"/>
                              </a:rPr>
                              <m:t>𝜌</m:t>
                            </m:r>
                          </m:e>
                          <m:sub/>
                          <m:sup>
                            <m:r>
                              <a:rPr lang="es-ES_tradnl" sz="1200" b="0" i="1" noProof="0" smtClean="0">
                                <a:solidFill>
                                  <a:srgbClr val="3C3C3B"/>
                                </a:solidFill>
                                <a:latin typeface="Cambria Math" panose="02040503050406030204" pitchFamily="18" charset="0"/>
                                <a:ea typeface="Cambria Math" panose="02040503050406030204" pitchFamily="18" charset="0"/>
                              </a:rPr>
                              <m:t>𝑘</m:t>
                            </m:r>
                          </m:sup>
                        </m:sSubSup>
                        <m:r>
                          <a:rPr lang="es-ES_tradnl" sz="1200" i="1" noProof="0" smtClean="0">
                            <a:solidFill>
                              <a:srgbClr val="3C3C3B"/>
                            </a:solidFill>
                            <a:latin typeface="Cambria Math" panose="02040503050406030204" pitchFamily="18" charset="0"/>
                          </a:rPr>
                          <m:t>=</m:t>
                        </m:r>
                        <m:f>
                          <m:fPr>
                            <m:ctrlPr>
                              <a:rPr lang="es-ES_tradnl" sz="1200" b="0" i="1" noProof="0" smtClean="0">
                                <a:solidFill>
                                  <a:srgbClr val="3C3C3B"/>
                                </a:solidFill>
                                <a:latin typeface="Cambria Math" panose="02040503050406030204" pitchFamily="18" charset="0"/>
                              </a:rPr>
                            </m:ctrlPr>
                          </m:fPr>
                          <m:num>
                            <m:r>
                              <a:rPr lang="es-ES_tradnl" sz="1200" b="0" i="1" noProof="0" smtClean="0">
                                <a:solidFill>
                                  <a:srgbClr val="3C3C3B"/>
                                </a:solidFill>
                                <a:latin typeface="Cambria Math" panose="02040503050406030204" pitchFamily="18" charset="0"/>
                              </a:rPr>
                              <m:t>1</m:t>
                            </m:r>
                          </m:num>
                          <m:den>
                            <m:r>
                              <a:rPr lang="es-ES_tradnl" sz="1200" b="0" i="1" noProof="0" smtClean="0">
                                <a:solidFill>
                                  <a:srgbClr val="3C3C3B"/>
                                </a:solidFill>
                                <a:latin typeface="Cambria Math" panose="02040503050406030204" pitchFamily="18" charset="0"/>
                              </a:rPr>
                              <m:t>1000</m:t>
                            </m:r>
                          </m:den>
                        </m:f>
                        <m:d>
                          <m:dPr>
                            <m:ctrlPr>
                              <a:rPr lang="es-ES_tradnl" sz="1200" i="1" noProof="0" smtClean="0">
                                <a:solidFill>
                                  <a:srgbClr val="3C3C3B"/>
                                </a:solidFill>
                                <a:latin typeface="Cambria Math" panose="02040503050406030204" pitchFamily="18" charset="0"/>
                              </a:rPr>
                            </m:ctrlPr>
                          </m:dPr>
                          <m:e>
                            <m:nary>
                              <m:naryPr>
                                <m:chr m:val="∑"/>
                                <m:subHide m:val="on"/>
                                <m:supHide m:val="on"/>
                                <m:ctrlPr>
                                  <a:rPr lang="es-ES_tradnl" sz="1200" i="1" noProof="0" smtClean="0">
                                    <a:solidFill>
                                      <a:srgbClr val="3C3C3B"/>
                                    </a:solidFill>
                                    <a:latin typeface="Cambria Math" panose="02040503050406030204" pitchFamily="18" charset="0"/>
                                  </a:rPr>
                                </m:ctrlPr>
                              </m:naryPr>
                              <m:sub/>
                              <m:sup/>
                              <m:e>
                                <m:sSubSup>
                                  <m:sSubSupPr>
                                    <m:ctrlPr>
                                      <a:rPr lang="es-ES_tradnl" sz="1200" i="1" noProof="0" smtClean="0">
                                        <a:solidFill>
                                          <a:srgbClr val="3C3C3B"/>
                                        </a:solidFill>
                                        <a:latin typeface="Cambria Math" panose="02040503050406030204" pitchFamily="18" charset="0"/>
                                        <a:ea typeface="Cambria Math" panose="02040503050406030204" pitchFamily="18" charset="0"/>
                                        <a:cs typeface="Roboto" pitchFamily="34" charset="-120"/>
                                      </a:rPr>
                                    </m:ctrlPr>
                                  </m:sSubSupPr>
                                  <m:e>
                                    <m:r>
                                      <a:rPr lang="es-ES_tradnl" sz="1200" i="1" noProof="0" smtClean="0">
                                        <a:solidFill>
                                          <a:srgbClr val="3C3C3B"/>
                                        </a:solidFill>
                                        <a:latin typeface="Cambria Math" panose="02040503050406030204" pitchFamily="18" charset="0"/>
                                        <a:ea typeface="Cambria Math" panose="02040503050406030204" pitchFamily="18" charset="0"/>
                                        <a:cs typeface="Roboto" pitchFamily="34" charset="-120"/>
                                      </a:rPr>
                                      <m:t>𝜌</m:t>
                                    </m:r>
                                  </m:e>
                                  <m:sub>
                                    <m:r>
                                      <a:rPr lang="es-ES_tradnl" sz="1200" i="1" noProof="0" smtClean="0">
                                        <a:solidFill>
                                          <a:srgbClr val="3C3C3B"/>
                                        </a:solidFill>
                                        <a:latin typeface="Cambria Math" panose="02040503050406030204" pitchFamily="18" charset="0"/>
                                        <a:cs typeface="Roboto" pitchFamily="34" charset="-120"/>
                                      </a:rPr>
                                      <m:t>𝑖</m:t>
                                    </m:r>
                                  </m:sub>
                                  <m:sup>
                                    <m:r>
                                      <a:rPr lang="es-ES_tradnl" sz="1200" b="0" i="1" noProof="0" smtClean="0">
                                        <a:solidFill>
                                          <a:srgbClr val="3C3C3B"/>
                                        </a:solidFill>
                                        <a:latin typeface="Cambria Math" panose="02040503050406030204" pitchFamily="18" charset="0"/>
                                        <a:ea typeface="Cambria Math" panose="02040503050406030204" pitchFamily="18" charset="0"/>
                                        <a:cs typeface="Roboto" pitchFamily="34" charset="-120"/>
                                      </a:rPr>
                                      <m:t>𝑘</m:t>
                                    </m:r>
                                  </m:sup>
                                </m:sSubSup>
                              </m:e>
                            </m:nary>
                          </m:e>
                        </m:d>
                      </m:oMath>
                    </m:oMathPara>
                  </a14:m>
                  <a:endParaRPr lang="es-ES_tradnl" sz="1000" noProof="0" dirty="0"/>
                </a:p>
              </p:txBody>
            </p:sp>
          </mc:Choice>
          <mc:Fallback>
            <p:sp>
              <p:nvSpPr>
                <p:cNvPr id="49" name="Text 25">
                  <a:extLst>
                    <a:ext uri="{FF2B5EF4-FFF2-40B4-BE49-F238E27FC236}">
                      <a16:creationId xmlns:a16="http://schemas.microsoft.com/office/drawing/2014/main" id="{E241BF3B-97CB-5463-00C7-5D230A8FAF21}"/>
                    </a:ext>
                  </a:extLst>
                </p:cNvPr>
                <p:cNvSpPr txBox="1">
                  <a:spLocks noRot="1" noChangeAspect="1" noMove="1" noResize="1" noEditPoints="1" noAdjustHandles="1" noChangeArrowheads="1" noChangeShapeType="1" noTextEdit="1"/>
                </p:cNvSpPr>
                <p:nvPr/>
              </p:nvSpPr>
              <p:spPr>
                <a:xfrm>
                  <a:off x="3244762" y="2211416"/>
                  <a:ext cx="2124156" cy="355600"/>
                </a:xfrm>
                <a:prstGeom prst="rect">
                  <a:avLst/>
                </a:prstGeom>
                <a:blipFill>
                  <a:blip r:embed="rId9"/>
                  <a:stretch>
                    <a:fillRect t="-188462" b="-334615"/>
                  </a:stretch>
                </a:blipFill>
                <a:ln/>
              </p:spPr>
              <p:txBody>
                <a:bodyPr/>
                <a:lstStyle/>
                <a:p>
                  <a:r>
                    <a:rPr lang="en-CO">
                      <a:noFill/>
                    </a:rPr>
                    <a:t> </a:t>
                  </a:r>
                </a:p>
              </p:txBody>
            </p:sp>
          </mc:Fallback>
        </mc:AlternateContent>
        <p:sp>
          <p:nvSpPr>
            <p:cNvPr id="50" name="Text 28">
              <a:extLst>
                <a:ext uri="{FF2B5EF4-FFF2-40B4-BE49-F238E27FC236}">
                  <a16:creationId xmlns:a16="http://schemas.microsoft.com/office/drawing/2014/main" id="{2C10E700-FBA1-AAAB-E9FA-5949E8D5FC88}"/>
                </a:ext>
              </a:extLst>
            </p:cNvPr>
            <p:cNvSpPr txBox="1"/>
            <p:nvPr/>
          </p:nvSpPr>
          <p:spPr>
            <a:xfrm>
              <a:off x="6704138" y="3390319"/>
              <a:ext cx="1482635" cy="304800"/>
            </a:xfrm>
            <a:prstGeom prst="rect">
              <a:avLst/>
            </a:prstGeom>
            <a:noFill/>
            <a:ln/>
          </p:spPr>
          <p:txBody>
            <a:bodyPr wrap="square" lIns="0" tIns="0" rIns="0" bIns="0" rtlCol="0" anchor="t"/>
            <a:lstStyle/>
            <a:p>
              <a:pPr marL="0" indent="0" algn="ctr">
                <a:buNone/>
              </a:pPr>
              <a:r>
                <a:rPr lang="es-ES_tradnl" sz="1200" b="1" noProof="0" dirty="0">
                  <a:solidFill>
                    <a:srgbClr val="1D1D1B"/>
                  </a:solidFill>
                  <a:latin typeface="DM Sans" pitchFamily="34" charset="0"/>
                  <a:ea typeface="DM Sans" pitchFamily="34" charset="-122"/>
                  <a:cs typeface="DM Sans" pitchFamily="34" charset="-120"/>
                </a:rPr>
                <a:t>GAD</a:t>
              </a:r>
              <a:endParaRPr lang="es-ES_tradnl" sz="1200" noProof="0" dirty="0"/>
            </a:p>
          </p:txBody>
        </p:sp>
        <mc:AlternateContent xmlns:mc="http://schemas.openxmlformats.org/markup-compatibility/2006">
          <mc:Choice xmlns:a14="http://schemas.microsoft.com/office/drawing/2010/main" Requires="a14">
            <p:sp>
              <p:nvSpPr>
                <p:cNvPr id="51" name="Text 29">
                  <a:extLst>
                    <a:ext uri="{FF2B5EF4-FFF2-40B4-BE49-F238E27FC236}">
                      <a16:creationId xmlns:a16="http://schemas.microsoft.com/office/drawing/2014/main" id="{18DEFCDD-3478-33BE-566B-C40DB9E0FFC9}"/>
                    </a:ext>
                  </a:extLst>
                </p:cNvPr>
                <p:cNvSpPr txBox="1"/>
                <p:nvPr/>
              </p:nvSpPr>
              <p:spPr>
                <a:xfrm>
                  <a:off x="6667049" y="3692454"/>
                  <a:ext cx="1581858" cy="355600"/>
                </a:xfrm>
                <a:prstGeom prst="rect">
                  <a:avLst/>
                </a:prstGeom>
                <a:noFill/>
                <a:ln/>
              </p:spPr>
              <p:txBody>
                <a:bodyPr wrap="square" lIns="0" tIns="0" rIns="0" bIns="0" rtlCol="0" anchor="t"/>
                <a:lstStyle/>
                <a:p>
                  <a:pPr algn="ctr"/>
                  <a14:m>
                    <m:oMathPara xmlns:m="http://schemas.openxmlformats.org/officeDocument/2006/math">
                      <m:oMathParaPr>
                        <m:jc m:val="centerGroup"/>
                      </m:oMathParaPr>
                      <m:oMath xmlns:m="http://schemas.openxmlformats.org/officeDocument/2006/math">
                        <m:sSubSup>
                          <m:sSubSupPr>
                            <m:ctrlPr>
                              <a:rPr lang="es-ES_tradnl" sz="1400" b="0" i="1" noProof="0" smtClean="0">
                                <a:solidFill>
                                  <a:srgbClr val="3C3C3B"/>
                                </a:solidFill>
                                <a:latin typeface="Cambria Math" panose="02040503050406030204" pitchFamily="18" charset="0"/>
                              </a:rPr>
                            </m:ctrlPr>
                          </m:sSubSupPr>
                          <m:e>
                            <m:r>
                              <a:rPr lang="es-ES_tradnl" sz="1400" i="1" noProof="0" smtClean="0">
                                <a:solidFill>
                                  <a:srgbClr val="3C3C3B"/>
                                </a:solidFill>
                                <a:latin typeface="Cambria Math" panose="02040503050406030204" pitchFamily="18" charset="0"/>
                              </a:rPr>
                              <m:t>𝜎</m:t>
                            </m:r>
                            <m:r>
                              <a:rPr lang="es-ES_tradnl" sz="1400" i="1" noProof="0" smtClean="0">
                                <a:solidFill>
                                  <a:srgbClr val="3C3C3B"/>
                                </a:solidFill>
                                <a:latin typeface="Cambria Math" panose="02040503050406030204" pitchFamily="18" charset="0"/>
                              </a:rPr>
                              <m:t>´</m:t>
                            </m:r>
                          </m:e>
                          <m:sub>
                            <m:r>
                              <a:rPr lang="es-ES_tradnl" sz="1400" b="0" i="1" noProof="0" smtClean="0">
                                <a:solidFill>
                                  <a:srgbClr val="3C3C3B"/>
                                </a:solidFill>
                                <a:latin typeface="Cambria Math" panose="02040503050406030204" pitchFamily="18" charset="0"/>
                              </a:rPr>
                              <m:t>𝑗</m:t>
                            </m:r>
                          </m:sub>
                          <m:sup>
                            <m:r>
                              <a:rPr lang="es-ES_tradnl" sz="1400" b="0" i="1" noProof="0" smtClean="0">
                                <a:solidFill>
                                  <a:srgbClr val="3C3C3B"/>
                                </a:solidFill>
                                <a:latin typeface="Cambria Math" panose="02040503050406030204" pitchFamily="18" charset="0"/>
                              </a:rPr>
                              <m:t>𝑘</m:t>
                            </m:r>
                          </m:sup>
                        </m:sSubSup>
                        <m:r>
                          <a:rPr lang="es-ES_tradnl" sz="1400" i="1" noProof="0" smtClean="0">
                            <a:solidFill>
                              <a:srgbClr val="3C3C3B"/>
                            </a:solidFill>
                            <a:latin typeface="Cambria Math" panose="02040503050406030204" pitchFamily="18" charset="0"/>
                          </a:rPr>
                          <m:t>=</m:t>
                        </m:r>
                        <m:sSub>
                          <m:sSubPr>
                            <m:ctrlPr>
                              <a:rPr lang="es-ES_tradnl" sz="1400" b="0" i="1" noProof="0" smtClean="0">
                                <a:solidFill>
                                  <a:srgbClr val="3C3C3B"/>
                                </a:solidFill>
                                <a:latin typeface="Cambria Math" panose="02040503050406030204" pitchFamily="18" charset="0"/>
                              </a:rPr>
                            </m:ctrlPr>
                          </m:sSubPr>
                          <m:e>
                            <m:r>
                              <a:rPr lang="es-ES_tradnl" sz="1400" i="1" noProof="0" smtClean="0">
                                <a:solidFill>
                                  <a:srgbClr val="3C3C3B"/>
                                </a:solidFill>
                                <a:latin typeface="Cambria Math" panose="02040503050406030204" pitchFamily="18" charset="0"/>
                              </a:rPr>
                              <m:t>ℰ</m:t>
                            </m:r>
                          </m:e>
                          <m:sub>
                            <m:r>
                              <a:rPr lang="es-ES_tradnl" sz="1400" b="0" i="1" noProof="0" smtClean="0">
                                <a:solidFill>
                                  <a:srgbClr val="3C3C3B"/>
                                </a:solidFill>
                                <a:latin typeface="Cambria Math" panose="02040503050406030204" pitchFamily="18" charset="0"/>
                              </a:rPr>
                              <m:t>𝐺𝐴𝐷</m:t>
                            </m:r>
                          </m:sub>
                        </m:sSub>
                        <m:d>
                          <m:dPr>
                            <m:ctrlPr>
                              <a:rPr lang="es-ES_tradnl" sz="1400" i="1" noProof="0" smtClean="0">
                                <a:solidFill>
                                  <a:srgbClr val="3C3C3B"/>
                                </a:solidFill>
                                <a:latin typeface="Cambria Math" panose="02040503050406030204" pitchFamily="18" charset="0"/>
                              </a:rPr>
                            </m:ctrlPr>
                          </m:dPr>
                          <m:e>
                            <m:sSubSup>
                              <m:sSubSupPr>
                                <m:ctrlPr>
                                  <a:rPr lang="es-ES_tradnl" sz="1400" i="1" noProof="0" smtClean="0">
                                    <a:solidFill>
                                      <a:srgbClr val="3C3C3B"/>
                                    </a:solidFill>
                                    <a:latin typeface="Cambria Math" panose="02040503050406030204" pitchFamily="18" charset="0"/>
                                  </a:rPr>
                                </m:ctrlPr>
                              </m:sSubSupPr>
                              <m:e>
                                <m:r>
                                  <a:rPr lang="es-ES_tradnl" sz="1400" i="1" noProof="0" smtClean="0">
                                    <a:solidFill>
                                      <a:srgbClr val="3C3C3B"/>
                                    </a:solidFill>
                                    <a:latin typeface="Cambria Math" panose="02040503050406030204" pitchFamily="18" charset="0"/>
                                  </a:rPr>
                                  <m:t>𝜎</m:t>
                                </m:r>
                              </m:e>
                              <m:sub>
                                <m:r>
                                  <a:rPr lang="es-ES_tradnl" sz="1400" b="0" i="1" noProof="0" smtClean="0">
                                    <a:solidFill>
                                      <a:srgbClr val="3C3C3B"/>
                                    </a:solidFill>
                                    <a:latin typeface="Cambria Math" panose="02040503050406030204" pitchFamily="18" charset="0"/>
                                  </a:rPr>
                                  <m:t>𝑗</m:t>
                                </m:r>
                              </m:sub>
                              <m:sup>
                                <m:r>
                                  <a:rPr lang="es-ES_tradnl" sz="1400" b="0" i="1" noProof="0" smtClean="0">
                                    <a:solidFill>
                                      <a:srgbClr val="3C3C3B"/>
                                    </a:solidFill>
                                    <a:latin typeface="Cambria Math" panose="02040503050406030204" pitchFamily="18" charset="0"/>
                                  </a:rPr>
                                  <m:t>𝑘</m:t>
                                </m:r>
                              </m:sup>
                            </m:sSubSup>
                          </m:e>
                        </m:d>
                      </m:oMath>
                    </m:oMathPara>
                  </a14:m>
                  <a:endParaRPr lang="es-ES_tradnl" sz="1300" noProof="0" dirty="0"/>
                </a:p>
              </p:txBody>
            </p:sp>
          </mc:Choice>
          <mc:Fallback>
            <p:sp>
              <p:nvSpPr>
                <p:cNvPr id="51" name="Text 29">
                  <a:extLst>
                    <a:ext uri="{FF2B5EF4-FFF2-40B4-BE49-F238E27FC236}">
                      <a16:creationId xmlns:a16="http://schemas.microsoft.com/office/drawing/2014/main" id="{18DEFCDD-3478-33BE-566B-C40DB9E0FFC9}"/>
                    </a:ext>
                  </a:extLst>
                </p:cNvPr>
                <p:cNvSpPr txBox="1">
                  <a:spLocks noRot="1" noChangeAspect="1" noMove="1" noResize="1" noEditPoints="1" noAdjustHandles="1" noChangeArrowheads="1" noChangeShapeType="1" noTextEdit="1"/>
                </p:cNvSpPr>
                <p:nvPr/>
              </p:nvSpPr>
              <p:spPr>
                <a:xfrm>
                  <a:off x="6667049" y="3692454"/>
                  <a:ext cx="1581858" cy="355600"/>
                </a:xfrm>
                <a:prstGeom prst="rect">
                  <a:avLst/>
                </a:prstGeom>
                <a:blipFill>
                  <a:blip r:embed="rId10"/>
                  <a:stretch>
                    <a:fillRect/>
                  </a:stretch>
                </a:blipFill>
                <a:ln/>
              </p:spPr>
              <p:txBody>
                <a:bodyPr/>
                <a:lstStyle/>
                <a:p>
                  <a:r>
                    <a:rPr lang="en-CO">
                      <a:noFill/>
                    </a:rPr>
                    <a:t> </a:t>
                  </a:r>
                </a:p>
              </p:txBody>
            </p:sp>
          </mc:Fallback>
        </mc:AlternateContent>
        <p:sp>
          <p:nvSpPr>
            <p:cNvPr id="53" name="Shape 31">
              <a:extLst>
                <a:ext uri="{FF2B5EF4-FFF2-40B4-BE49-F238E27FC236}">
                  <a16:creationId xmlns:a16="http://schemas.microsoft.com/office/drawing/2014/main" id="{1292FA0B-D8FA-ACFB-79D8-0A369566A927}"/>
                </a:ext>
              </a:extLst>
            </p:cNvPr>
            <p:cNvSpPr/>
            <p:nvPr/>
          </p:nvSpPr>
          <p:spPr>
            <a:xfrm>
              <a:off x="8664850" y="3149600"/>
              <a:ext cx="2692400" cy="1143000"/>
            </a:xfrm>
            <a:prstGeom prst="roundRect">
              <a:avLst>
                <a:gd name="adj" fmla="val 8421"/>
              </a:avLst>
            </a:prstGeom>
            <a:solidFill>
              <a:srgbClr val="FFFFFF"/>
            </a:solidFill>
            <a:ln w="19050">
              <a:solidFill>
                <a:srgbClr val="293470"/>
              </a:solidFill>
              <a:prstDash val="solid"/>
            </a:ln>
          </p:spPr>
          <p:txBody>
            <a:bodyPr/>
            <a:lstStyle/>
            <a:p>
              <a:endParaRPr lang="es-ES_tradnl" noProof="0" dirty="0"/>
            </a:p>
          </p:txBody>
        </p:sp>
        <p:sp>
          <p:nvSpPr>
            <p:cNvPr id="54" name="Text 28">
              <a:extLst>
                <a:ext uri="{FF2B5EF4-FFF2-40B4-BE49-F238E27FC236}">
                  <a16:creationId xmlns:a16="http://schemas.microsoft.com/office/drawing/2014/main" id="{9B40A9E3-9C77-B51E-8ED3-B046CD02944D}"/>
                </a:ext>
              </a:extLst>
            </p:cNvPr>
            <p:cNvSpPr txBox="1"/>
            <p:nvPr/>
          </p:nvSpPr>
          <p:spPr>
            <a:xfrm>
              <a:off x="8715650" y="3251200"/>
              <a:ext cx="2590800" cy="304800"/>
            </a:xfrm>
            <a:prstGeom prst="rect">
              <a:avLst/>
            </a:prstGeom>
            <a:noFill/>
            <a:ln/>
          </p:spPr>
          <p:txBody>
            <a:bodyPr wrap="square" lIns="0" tIns="0" rIns="0" bIns="0" rtlCol="0" anchor="t"/>
            <a:lstStyle/>
            <a:p>
              <a:pPr marL="0" indent="0" algn="ctr">
                <a:buNone/>
              </a:pPr>
              <a:r>
                <a:rPr lang="es-ES_tradnl" sz="1200" b="1" noProof="0" dirty="0" err="1">
                  <a:solidFill>
                    <a:srgbClr val="1D1D1B"/>
                  </a:solidFill>
                  <a:latin typeface="DM Sans" pitchFamily="34" charset="0"/>
                  <a:ea typeface="DM Sans" pitchFamily="34" charset="-122"/>
                  <a:cs typeface="DM Sans" pitchFamily="34" charset="-120"/>
                </a:rPr>
                <a:t>Epsilon</a:t>
              </a:r>
              <a:r>
                <a:rPr lang="es-ES_tradnl" sz="1200" b="1" noProof="0" dirty="0">
                  <a:solidFill>
                    <a:srgbClr val="1D1D1B"/>
                  </a:solidFill>
                  <a:latin typeface="DM Sans" pitchFamily="34" charset="0"/>
                  <a:ea typeface="DM Sans" pitchFamily="34" charset="-122"/>
                  <a:cs typeface="DM Sans" pitchFamily="34" charset="-120"/>
                </a:rPr>
                <a:t> Experimental j</a:t>
              </a:r>
              <a:endParaRPr lang="es-ES_tradnl" sz="1200" noProof="0" dirty="0"/>
            </a:p>
          </p:txBody>
        </p:sp>
        <mc:AlternateContent xmlns:mc="http://schemas.openxmlformats.org/markup-compatibility/2006">
          <mc:Choice xmlns:a14="http://schemas.microsoft.com/office/drawing/2010/main" Requires="a14">
            <p:sp>
              <p:nvSpPr>
                <p:cNvPr id="55" name="Text 29">
                  <a:extLst>
                    <a:ext uri="{FF2B5EF4-FFF2-40B4-BE49-F238E27FC236}">
                      <a16:creationId xmlns:a16="http://schemas.microsoft.com/office/drawing/2014/main" id="{2C61025B-90E0-5589-BBD2-494129154238}"/>
                    </a:ext>
                  </a:extLst>
                </p:cNvPr>
                <p:cNvSpPr txBox="1"/>
                <p:nvPr/>
              </p:nvSpPr>
              <p:spPr>
                <a:xfrm>
                  <a:off x="8715650" y="3556000"/>
                  <a:ext cx="2590800" cy="660400"/>
                </a:xfrm>
                <a:prstGeom prst="rect">
                  <a:avLst/>
                </a:prstGeom>
                <a:noFill/>
                <a:ln/>
              </p:spPr>
              <p:txBody>
                <a:bodyPr wrap="square" lIns="0" tIns="0" rIns="0" bIns="0" rtlCol="0" anchor="t"/>
                <a:lstStyle/>
                <a:p>
                  <a:pPr algn="ctr"/>
                  <a14:m>
                    <m:oMathPara xmlns:m="http://schemas.openxmlformats.org/officeDocument/2006/math">
                      <m:oMathParaPr>
                        <m:jc m:val="centerGroup"/>
                      </m:oMathParaPr>
                      <m:oMath xmlns:m="http://schemas.openxmlformats.org/officeDocument/2006/math">
                        <m:sSubSup>
                          <m:sSubSupPr>
                            <m:ctrlPr>
                              <a:rPr lang="es-ES_tradnl" sz="1100" i="1" noProof="0" smtClean="0">
                                <a:solidFill>
                                  <a:srgbClr val="3C3C3B"/>
                                </a:solidFill>
                                <a:latin typeface="Cambria Math" panose="02040503050406030204" pitchFamily="18" charset="0"/>
                              </a:rPr>
                            </m:ctrlPr>
                          </m:sSubSupPr>
                          <m:e>
                            <m:r>
                              <a:rPr lang="es-ES_tradnl" sz="1100" i="1" noProof="0" smtClean="0">
                                <a:solidFill>
                                  <a:srgbClr val="3C3C3B"/>
                                </a:solidFill>
                                <a:latin typeface="Cambria Math" panose="02040503050406030204" pitchFamily="18" charset="0"/>
                              </a:rPr>
                              <m:t>𝜖</m:t>
                            </m:r>
                          </m:e>
                          <m:sub>
                            <m:r>
                              <a:rPr lang="es-ES_tradnl" sz="1100" b="0" i="1" noProof="0" smtClean="0">
                                <a:solidFill>
                                  <a:srgbClr val="3C3C3B"/>
                                </a:solidFill>
                                <a:latin typeface="Cambria Math" panose="02040503050406030204" pitchFamily="18" charset="0"/>
                              </a:rPr>
                              <m:t>𝑒𝑥𝑝</m:t>
                            </m:r>
                          </m:sub>
                          <m:sup>
                            <m:r>
                              <a:rPr lang="es-ES_tradnl" sz="1100" b="0" i="1" noProof="0" smtClean="0">
                                <a:solidFill>
                                  <a:srgbClr val="3C3C3B"/>
                                </a:solidFill>
                                <a:latin typeface="Cambria Math" panose="02040503050406030204" pitchFamily="18" charset="0"/>
                              </a:rPr>
                              <m:t>𝑗</m:t>
                            </m:r>
                          </m:sup>
                        </m:sSubSup>
                        <m:r>
                          <a:rPr lang="es-ES_tradnl" sz="1100" i="1" noProof="0" smtClean="0">
                            <a:solidFill>
                              <a:srgbClr val="3C3C3B"/>
                            </a:solidFill>
                            <a:latin typeface="Cambria Math" panose="02040503050406030204" pitchFamily="18" charset="0"/>
                          </a:rPr>
                          <m:t>=</m:t>
                        </m:r>
                        <m:func>
                          <m:funcPr>
                            <m:ctrlPr>
                              <a:rPr lang="es-ES_tradnl" sz="1100" b="0" i="1" noProof="0" smtClean="0">
                                <a:solidFill>
                                  <a:srgbClr val="3C3C3B"/>
                                </a:solidFill>
                                <a:latin typeface="Cambria Math" panose="02040503050406030204" pitchFamily="18" charset="0"/>
                              </a:rPr>
                            </m:ctrlPr>
                          </m:funcPr>
                          <m:fName>
                            <m:r>
                              <a:rPr lang="es-ES_tradnl" sz="1100" b="0" i="1" noProof="0" smtClean="0">
                                <a:solidFill>
                                  <a:srgbClr val="3C3C3B"/>
                                </a:solidFill>
                                <a:latin typeface="Cambria Math" panose="02040503050406030204" pitchFamily="18" charset="0"/>
                              </a:rPr>
                              <m:t>𝑚𝑎𝑥</m:t>
                            </m:r>
                          </m:fName>
                          <m:e>
                            <m:r>
                              <a:rPr lang="es-ES_tradnl" sz="1100" i="1" noProof="0" smtClean="0">
                                <a:solidFill>
                                  <a:srgbClr val="3C3C3B"/>
                                </a:solidFill>
                                <a:latin typeface="Cambria Math" panose="02040503050406030204" pitchFamily="18" charset="0"/>
                              </a:rPr>
                              <m:t>(</m:t>
                            </m:r>
                            <m:r>
                              <a:rPr lang="es-ES_tradnl" sz="1100" i="1" noProof="0" smtClean="0">
                                <a:solidFill>
                                  <a:srgbClr val="3C3C3B"/>
                                </a:solidFill>
                                <a:latin typeface="Cambria Math" panose="02040503050406030204" pitchFamily="18" charset="0"/>
                              </a:rPr>
                              <m:t>𝑑𝑃𝐷</m:t>
                            </m:r>
                            <m:d>
                              <m:dPr>
                                <m:ctrlPr>
                                  <a:rPr lang="es-ES_tradnl" sz="1100" i="1" noProof="0" smtClean="0">
                                    <a:solidFill>
                                      <a:srgbClr val="3C3C3B"/>
                                    </a:solidFill>
                                    <a:latin typeface="Cambria Math" panose="02040503050406030204" pitchFamily="18" charset="0"/>
                                  </a:rPr>
                                </m:ctrlPr>
                              </m:dPr>
                              <m:e>
                                <m:sSubSup>
                                  <m:sSubSupPr>
                                    <m:ctrlPr>
                                      <a:rPr lang="es-ES_tradnl" sz="1100" i="1" noProof="0" smtClean="0">
                                        <a:solidFill>
                                          <a:srgbClr val="3C3C3B"/>
                                        </a:solidFill>
                                        <a:latin typeface="Cambria Math" panose="02040503050406030204" pitchFamily="18" charset="0"/>
                                      </a:rPr>
                                    </m:ctrlPr>
                                  </m:sSubSupPr>
                                  <m:e>
                                    <m:r>
                                      <a:rPr lang="es-ES_tradnl" sz="1100" i="1" noProof="0" smtClean="0">
                                        <a:solidFill>
                                          <a:srgbClr val="3C3C3B"/>
                                        </a:solidFill>
                                        <a:latin typeface="Cambria Math" panose="02040503050406030204" pitchFamily="18" charset="0"/>
                                      </a:rPr>
                                      <m:t>𝜌</m:t>
                                    </m:r>
                                    <m:r>
                                      <a:rPr lang="es-ES_tradnl" sz="1100" i="1" noProof="0" smtClean="0">
                                        <a:solidFill>
                                          <a:srgbClr val="3C3C3B"/>
                                        </a:solidFill>
                                        <a:latin typeface="Cambria Math" panose="02040503050406030204" pitchFamily="18" charset="0"/>
                                      </a:rPr>
                                      <m:t>´</m:t>
                                    </m:r>
                                  </m:e>
                                  <m:sub/>
                                  <m:sup>
                                    <m:r>
                                      <a:rPr lang="es-ES_tradnl" sz="1100" b="0" i="1" noProof="0" smtClean="0">
                                        <a:solidFill>
                                          <a:srgbClr val="3C3C3B"/>
                                        </a:solidFill>
                                        <a:latin typeface="Cambria Math" panose="02040503050406030204" pitchFamily="18" charset="0"/>
                                      </a:rPr>
                                      <m:t>𝑘</m:t>
                                    </m:r>
                                  </m:sup>
                                </m:sSubSup>
                                <m:r>
                                  <a:rPr lang="es-ES_tradnl" sz="1100" i="1" noProof="0" smtClean="0">
                                    <a:solidFill>
                                      <a:srgbClr val="3C3C3B"/>
                                    </a:solidFill>
                                    <a:latin typeface="Cambria Math" panose="02040503050406030204" pitchFamily="18" charset="0"/>
                                    <a:ea typeface="Cambria Math" panose="02040503050406030204" pitchFamily="18" charset="0"/>
                                  </a:rPr>
                                  <m:t>,</m:t>
                                </m:r>
                                <m:sSubSup>
                                  <m:sSubSupPr>
                                    <m:ctrlPr>
                                      <a:rPr lang="es-ES_tradnl" sz="1100" i="1" noProof="0" smtClean="0">
                                        <a:solidFill>
                                          <a:srgbClr val="3C3C3B"/>
                                        </a:solidFill>
                                        <a:latin typeface="Cambria Math" panose="02040503050406030204" pitchFamily="18" charset="0"/>
                                      </a:rPr>
                                    </m:ctrlPr>
                                  </m:sSubSupPr>
                                  <m:e>
                                    <m:r>
                                      <a:rPr lang="es-ES_tradnl" sz="1100" i="1" noProof="0" smtClean="0">
                                        <a:solidFill>
                                          <a:srgbClr val="3C3C3B"/>
                                        </a:solidFill>
                                        <a:latin typeface="Cambria Math" panose="02040503050406030204" pitchFamily="18" charset="0"/>
                                      </a:rPr>
                                      <m:t>𝜎</m:t>
                                    </m:r>
                                    <m:r>
                                      <a:rPr lang="es-ES_tradnl" sz="1100" i="1" noProof="0" smtClean="0">
                                        <a:solidFill>
                                          <a:srgbClr val="3C3C3B"/>
                                        </a:solidFill>
                                        <a:latin typeface="Cambria Math" panose="02040503050406030204" pitchFamily="18" charset="0"/>
                                      </a:rPr>
                                      <m:t>´</m:t>
                                    </m:r>
                                  </m:e>
                                  <m:sub>
                                    <m:r>
                                      <a:rPr lang="es-ES_tradnl" sz="1100" i="1" noProof="0" smtClean="0">
                                        <a:solidFill>
                                          <a:srgbClr val="3C3C3B"/>
                                        </a:solidFill>
                                        <a:latin typeface="Cambria Math" panose="02040503050406030204" pitchFamily="18" charset="0"/>
                                      </a:rPr>
                                      <m:t>𝑗</m:t>
                                    </m:r>
                                  </m:sub>
                                  <m:sup>
                                    <m:r>
                                      <a:rPr lang="es-ES_tradnl" sz="1100" b="0" i="1" noProof="0" smtClean="0">
                                        <a:solidFill>
                                          <a:srgbClr val="3C3C3B"/>
                                        </a:solidFill>
                                        <a:latin typeface="Cambria Math" panose="02040503050406030204" pitchFamily="18" charset="0"/>
                                      </a:rPr>
                                      <m:t>𝑘</m:t>
                                    </m:r>
                                  </m:sup>
                                </m:sSubSup>
                              </m:e>
                            </m:d>
                            <m:r>
                              <a:rPr lang="es-ES_tradnl" sz="1100" i="1" noProof="0" smtClean="0">
                                <a:solidFill>
                                  <a:srgbClr val="3C3C3B"/>
                                </a:solidFill>
                                <a:latin typeface="Cambria Math" panose="02040503050406030204" pitchFamily="18" charset="0"/>
                                <a:ea typeface="Cambria Math" panose="02040503050406030204" pitchFamily="18" charset="0"/>
                              </a:rPr>
                              <m:t>, </m:t>
                            </m:r>
                            <m:r>
                              <a:rPr lang="es-ES_tradnl" sz="1100" i="1" noProof="0" smtClean="0">
                                <a:solidFill>
                                  <a:srgbClr val="3C3C3B"/>
                                </a:solidFill>
                                <a:latin typeface="Cambria Math" panose="02040503050406030204" pitchFamily="18" charset="0"/>
                                <a:ea typeface="Cambria Math" panose="02040503050406030204" pitchFamily="18" charset="0"/>
                              </a:rPr>
                              <m:t>𝑑𝑃𝐷</m:t>
                            </m:r>
                            <m:d>
                              <m:dPr>
                                <m:ctrlPr>
                                  <a:rPr lang="es-ES_tradnl" sz="1100" i="1" noProof="0" smtClean="0">
                                    <a:solidFill>
                                      <a:srgbClr val="3C3C3B"/>
                                    </a:solidFill>
                                    <a:latin typeface="Cambria Math" panose="02040503050406030204" pitchFamily="18" charset="0"/>
                                    <a:ea typeface="Cambria Math" panose="02040503050406030204" pitchFamily="18" charset="0"/>
                                  </a:rPr>
                                </m:ctrlPr>
                              </m:dPr>
                              <m:e>
                                <m:sSubSup>
                                  <m:sSubSupPr>
                                    <m:ctrlPr>
                                      <a:rPr lang="es-ES_tradnl" sz="1100" i="1" noProof="0" smtClean="0">
                                        <a:solidFill>
                                          <a:srgbClr val="3C3C3B"/>
                                        </a:solidFill>
                                        <a:latin typeface="Cambria Math" panose="02040503050406030204" pitchFamily="18" charset="0"/>
                                      </a:rPr>
                                    </m:ctrlPr>
                                  </m:sSubSupPr>
                                  <m:e>
                                    <m:r>
                                      <a:rPr lang="es-ES_tradnl" sz="1100" i="1" noProof="0" smtClean="0">
                                        <a:solidFill>
                                          <a:srgbClr val="3C3C3B"/>
                                        </a:solidFill>
                                        <a:latin typeface="Cambria Math" panose="02040503050406030204" pitchFamily="18" charset="0"/>
                                      </a:rPr>
                                      <m:t>𝜎</m:t>
                                    </m:r>
                                    <m:r>
                                      <a:rPr lang="es-ES_tradnl" sz="1100" i="1" noProof="0" smtClean="0">
                                        <a:solidFill>
                                          <a:srgbClr val="3C3C3B"/>
                                        </a:solidFill>
                                        <a:latin typeface="Cambria Math" panose="02040503050406030204" pitchFamily="18" charset="0"/>
                                      </a:rPr>
                                      <m:t>´</m:t>
                                    </m:r>
                                  </m:e>
                                  <m:sub>
                                    <m:r>
                                      <a:rPr lang="es-ES_tradnl" sz="1100" i="1" noProof="0" smtClean="0">
                                        <a:solidFill>
                                          <a:srgbClr val="3C3C3B"/>
                                        </a:solidFill>
                                        <a:latin typeface="Cambria Math" panose="02040503050406030204" pitchFamily="18" charset="0"/>
                                      </a:rPr>
                                      <m:t>𝑗</m:t>
                                    </m:r>
                                  </m:sub>
                                  <m:sup>
                                    <m:r>
                                      <a:rPr lang="es-ES_tradnl" sz="1100" b="0" i="1" noProof="0" smtClean="0">
                                        <a:solidFill>
                                          <a:srgbClr val="3C3C3B"/>
                                        </a:solidFill>
                                        <a:latin typeface="Cambria Math" panose="02040503050406030204" pitchFamily="18" charset="0"/>
                                      </a:rPr>
                                      <m:t>𝑘</m:t>
                                    </m:r>
                                  </m:sup>
                                </m:sSubSup>
                                <m:r>
                                  <a:rPr lang="es-ES_tradnl" sz="1100" i="1" noProof="0" smtClean="0">
                                    <a:solidFill>
                                      <a:srgbClr val="3C3C3B"/>
                                    </a:solidFill>
                                    <a:latin typeface="Cambria Math" panose="02040503050406030204" pitchFamily="18" charset="0"/>
                                    <a:ea typeface="Cambria Math" panose="02040503050406030204" pitchFamily="18" charset="0"/>
                                  </a:rPr>
                                  <m:t>,</m:t>
                                </m:r>
                                <m:sSubSup>
                                  <m:sSubSupPr>
                                    <m:ctrlPr>
                                      <a:rPr lang="es-ES_tradnl" sz="1100" i="1" noProof="0" smtClean="0">
                                        <a:solidFill>
                                          <a:srgbClr val="3C3C3B"/>
                                        </a:solidFill>
                                        <a:latin typeface="Cambria Math" panose="02040503050406030204" pitchFamily="18" charset="0"/>
                                      </a:rPr>
                                    </m:ctrlPr>
                                  </m:sSubSupPr>
                                  <m:e>
                                    <m:r>
                                      <a:rPr lang="es-ES_tradnl" sz="1100" i="1" noProof="0" smtClean="0">
                                        <a:solidFill>
                                          <a:srgbClr val="3C3C3B"/>
                                        </a:solidFill>
                                        <a:latin typeface="Cambria Math" panose="02040503050406030204" pitchFamily="18" charset="0"/>
                                      </a:rPr>
                                      <m:t>𝜌</m:t>
                                    </m:r>
                                    <m:r>
                                      <a:rPr lang="es-ES_tradnl" sz="1100" i="1" noProof="0" smtClean="0">
                                        <a:solidFill>
                                          <a:srgbClr val="3C3C3B"/>
                                        </a:solidFill>
                                        <a:latin typeface="Cambria Math" panose="02040503050406030204" pitchFamily="18" charset="0"/>
                                      </a:rPr>
                                      <m:t>´</m:t>
                                    </m:r>
                                  </m:e>
                                  <m:sub/>
                                  <m:sup>
                                    <m:r>
                                      <a:rPr lang="es-ES_tradnl" sz="1100" b="0" i="1" noProof="0" smtClean="0">
                                        <a:solidFill>
                                          <a:srgbClr val="3C3C3B"/>
                                        </a:solidFill>
                                        <a:latin typeface="Cambria Math" panose="02040503050406030204" pitchFamily="18" charset="0"/>
                                      </a:rPr>
                                      <m:t>𝑘</m:t>
                                    </m:r>
                                  </m:sup>
                                </m:sSubSup>
                              </m:e>
                            </m:d>
                            <m:r>
                              <a:rPr lang="es-ES_tradnl" sz="1100" i="1" noProof="0" smtClean="0">
                                <a:solidFill>
                                  <a:srgbClr val="3C3C3B"/>
                                </a:solidFill>
                                <a:latin typeface="Cambria Math" panose="02040503050406030204" pitchFamily="18" charset="0"/>
                                <a:ea typeface="Cambria Math" panose="02040503050406030204" pitchFamily="18" charset="0"/>
                              </a:rPr>
                              <m:t>)</m:t>
                            </m:r>
                          </m:e>
                        </m:func>
                        <m:r>
                          <a:rPr lang="es-ES_tradnl" sz="1100" b="0" i="1" noProof="0" smtClean="0">
                            <a:solidFill>
                              <a:srgbClr val="3C3C3B"/>
                            </a:solidFill>
                            <a:latin typeface="Cambria Math" panose="02040503050406030204" pitchFamily="18" charset="0"/>
                          </a:rPr>
                          <m:t>⁡</m:t>
                        </m:r>
                      </m:oMath>
                    </m:oMathPara>
                  </a14:m>
                  <a:endParaRPr lang="es-ES_tradnl" sz="1000" noProof="0" dirty="0"/>
                </a:p>
              </p:txBody>
            </p:sp>
          </mc:Choice>
          <mc:Fallback>
            <p:sp>
              <p:nvSpPr>
                <p:cNvPr id="55" name="Text 29">
                  <a:extLst>
                    <a:ext uri="{FF2B5EF4-FFF2-40B4-BE49-F238E27FC236}">
                      <a16:creationId xmlns:a16="http://schemas.microsoft.com/office/drawing/2014/main" id="{2C61025B-90E0-5589-BBD2-494129154238}"/>
                    </a:ext>
                  </a:extLst>
                </p:cNvPr>
                <p:cNvSpPr txBox="1">
                  <a:spLocks noRot="1" noChangeAspect="1" noMove="1" noResize="1" noEditPoints="1" noAdjustHandles="1" noChangeArrowheads="1" noChangeShapeType="1" noTextEdit="1"/>
                </p:cNvSpPr>
                <p:nvPr/>
              </p:nvSpPr>
              <p:spPr>
                <a:xfrm>
                  <a:off x="8715650" y="3556000"/>
                  <a:ext cx="2590800" cy="660400"/>
                </a:xfrm>
                <a:prstGeom prst="rect">
                  <a:avLst/>
                </a:prstGeom>
                <a:blipFill>
                  <a:blip r:embed="rId11"/>
                  <a:stretch>
                    <a:fillRect t="-2083"/>
                  </a:stretch>
                </a:blipFill>
                <a:ln/>
              </p:spPr>
              <p:txBody>
                <a:bodyPr/>
                <a:lstStyle/>
                <a:p>
                  <a:r>
                    <a:rPr lang="en-CO">
                      <a:noFill/>
                    </a:rPr>
                    <a:t> </a:t>
                  </a:r>
                </a:p>
              </p:txBody>
            </p:sp>
          </mc:Fallback>
        </mc:AlternateContent>
        <p:cxnSp>
          <p:nvCxnSpPr>
            <p:cNvPr id="62" name="Elbow Connector 61">
              <a:extLst>
                <a:ext uri="{FF2B5EF4-FFF2-40B4-BE49-F238E27FC236}">
                  <a16:creationId xmlns:a16="http://schemas.microsoft.com/office/drawing/2014/main" id="{D599CBBC-DF15-5D45-9A57-8F2BB8C3630C}"/>
                </a:ext>
              </a:extLst>
            </p:cNvPr>
            <p:cNvCxnSpPr>
              <a:cxnSpLocks/>
              <a:stCxn id="25" idx="3"/>
              <a:endCxn id="33" idx="1"/>
            </p:cNvCxnSpPr>
            <p:nvPr/>
          </p:nvCxnSpPr>
          <p:spPr>
            <a:xfrm>
              <a:off x="4907978" y="3987801"/>
              <a:ext cx="1698545" cy="783109"/>
            </a:xfrm>
            <a:prstGeom prst="bentConnector3">
              <a:avLst>
                <a:gd name="adj1" fmla="val 68007"/>
              </a:avLst>
            </a:prstGeom>
            <a:ln w="15875">
              <a:solidFill>
                <a:srgbClr val="6E6E6C"/>
              </a:solidFill>
              <a:prstDash val="solid"/>
              <a:tailEnd type="triangle" w="med" len="med"/>
            </a:ln>
          </p:spPr>
          <p:style>
            <a:lnRef idx="1">
              <a:schemeClr val="accent1"/>
            </a:lnRef>
            <a:fillRef idx="0">
              <a:schemeClr val="accent1"/>
            </a:fillRef>
            <a:effectRef idx="0">
              <a:schemeClr val="accent1"/>
            </a:effectRef>
            <a:fontRef idx="minor">
              <a:schemeClr val="tx1"/>
            </a:fontRef>
          </p:style>
        </p:cxnSp>
        <p:cxnSp>
          <p:nvCxnSpPr>
            <p:cNvPr id="64" name="Elbow Connector 63">
              <a:extLst>
                <a:ext uri="{FF2B5EF4-FFF2-40B4-BE49-F238E27FC236}">
                  <a16:creationId xmlns:a16="http://schemas.microsoft.com/office/drawing/2014/main" id="{4B93F0B0-F107-04F6-4949-49DA3E83E592}"/>
                </a:ext>
              </a:extLst>
            </p:cNvPr>
            <p:cNvCxnSpPr>
              <a:cxnSpLocks/>
              <a:stCxn id="25" idx="3"/>
              <a:endCxn id="29" idx="1"/>
            </p:cNvCxnSpPr>
            <p:nvPr/>
          </p:nvCxnSpPr>
          <p:spPr>
            <a:xfrm flipV="1">
              <a:off x="4907978" y="3713714"/>
              <a:ext cx="1670914" cy="274087"/>
            </a:xfrm>
            <a:prstGeom prst="bentConnector3">
              <a:avLst>
                <a:gd name="adj1" fmla="val 69101"/>
              </a:avLst>
            </a:prstGeom>
            <a:ln w="15875">
              <a:solidFill>
                <a:srgbClr val="6E6E6C"/>
              </a:solidFill>
              <a:prstDash val="solid"/>
              <a:tailEnd type="triangle" w="med" len="med"/>
            </a:ln>
          </p:spPr>
          <p:style>
            <a:lnRef idx="1">
              <a:schemeClr val="accent1"/>
            </a:lnRef>
            <a:fillRef idx="0">
              <a:schemeClr val="accent1"/>
            </a:fillRef>
            <a:effectRef idx="0">
              <a:schemeClr val="accent1"/>
            </a:effectRef>
            <a:fontRef idx="minor">
              <a:schemeClr val="tx1"/>
            </a:fontRef>
          </p:style>
        </p:cxnSp>
        <p:cxnSp>
          <p:nvCxnSpPr>
            <p:cNvPr id="68" name="Straight Arrow Connector 67">
              <a:extLst>
                <a:ext uri="{FF2B5EF4-FFF2-40B4-BE49-F238E27FC236}">
                  <a16:creationId xmlns:a16="http://schemas.microsoft.com/office/drawing/2014/main" id="{7870DC3D-11ED-79BE-6F8D-6F0CFF4CA90C}"/>
                </a:ext>
              </a:extLst>
            </p:cNvPr>
            <p:cNvCxnSpPr>
              <a:cxnSpLocks/>
              <a:stCxn id="8" idx="3"/>
              <a:endCxn id="12" idx="1"/>
            </p:cNvCxnSpPr>
            <p:nvPr/>
          </p:nvCxnSpPr>
          <p:spPr>
            <a:xfrm>
              <a:off x="2921000" y="2322944"/>
              <a:ext cx="266700" cy="2772"/>
            </a:xfrm>
            <a:prstGeom prst="straightConnector1">
              <a:avLst/>
            </a:prstGeom>
            <a:ln w="15875">
              <a:solidFill>
                <a:srgbClr val="6E6E6C"/>
              </a:solidFill>
              <a:prstDash val="solid"/>
              <a:tailEnd type="triangle" w="med" len="med"/>
            </a:ln>
          </p:spPr>
          <p:style>
            <a:lnRef idx="1">
              <a:schemeClr val="accent1"/>
            </a:lnRef>
            <a:fillRef idx="0">
              <a:schemeClr val="accent1"/>
            </a:fillRef>
            <a:effectRef idx="0">
              <a:schemeClr val="accent1"/>
            </a:effectRef>
            <a:fontRef idx="minor">
              <a:schemeClr val="tx1"/>
            </a:fontRef>
          </p:style>
        </p:cxnSp>
        <p:cxnSp>
          <p:nvCxnSpPr>
            <p:cNvPr id="70" name="Straight Arrow Connector 69">
              <a:extLst>
                <a:ext uri="{FF2B5EF4-FFF2-40B4-BE49-F238E27FC236}">
                  <a16:creationId xmlns:a16="http://schemas.microsoft.com/office/drawing/2014/main" id="{09BA22C8-678D-E53D-1678-3D565132C5F9}"/>
                </a:ext>
              </a:extLst>
            </p:cNvPr>
            <p:cNvCxnSpPr>
              <a:cxnSpLocks/>
              <a:stCxn id="12" idx="3"/>
              <a:endCxn id="16" idx="1"/>
            </p:cNvCxnSpPr>
            <p:nvPr/>
          </p:nvCxnSpPr>
          <p:spPr>
            <a:xfrm flipV="1">
              <a:off x="5419718" y="2320056"/>
              <a:ext cx="1159175" cy="5661"/>
            </a:xfrm>
            <a:prstGeom prst="straightConnector1">
              <a:avLst/>
            </a:prstGeom>
            <a:ln w="15875">
              <a:solidFill>
                <a:srgbClr val="6E6E6C"/>
              </a:solidFill>
              <a:prstDash val="solid"/>
              <a:tailEnd type="triangle" w="med" len="med"/>
            </a:ln>
          </p:spPr>
          <p:style>
            <a:lnRef idx="1">
              <a:schemeClr val="accent1"/>
            </a:lnRef>
            <a:fillRef idx="0">
              <a:schemeClr val="accent1"/>
            </a:fillRef>
            <a:effectRef idx="0">
              <a:schemeClr val="accent1"/>
            </a:effectRef>
            <a:fontRef idx="minor">
              <a:schemeClr val="tx1"/>
            </a:fontRef>
          </p:style>
        </p:cxnSp>
        <p:cxnSp>
          <p:nvCxnSpPr>
            <p:cNvPr id="111" name="Elbow Connector 110">
              <a:extLst>
                <a:ext uri="{FF2B5EF4-FFF2-40B4-BE49-F238E27FC236}">
                  <a16:creationId xmlns:a16="http://schemas.microsoft.com/office/drawing/2014/main" id="{C477FA72-11BF-4257-A0C2-D6D0B83BC009}"/>
                </a:ext>
              </a:extLst>
            </p:cNvPr>
            <p:cNvCxnSpPr>
              <a:stCxn id="16" idx="3"/>
              <a:endCxn id="53" idx="0"/>
            </p:cNvCxnSpPr>
            <p:nvPr/>
          </p:nvCxnSpPr>
          <p:spPr>
            <a:xfrm>
              <a:off x="8296257" y="2320056"/>
              <a:ext cx="1714793" cy="829544"/>
            </a:xfrm>
            <a:prstGeom prst="bentConnector2">
              <a:avLst/>
            </a:prstGeom>
            <a:ln w="15875">
              <a:solidFill>
                <a:srgbClr val="6E6E6C"/>
              </a:solidFill>
              <a:prstDash val="solid"/>
              <a:tailEnd type="triangle" w="med" len="med"/>
            </a:ln>
          </p:spPr>
          <p:style>
            <a:lnRef idx="1">
              <a:schemeClr val="accent1"/>
            </a:lnRef>
            <a:fillRef idx="0">
              <a:schemeClr val="accent1"/>
            </a:fillRef>
            <a:effectRef idx="0">
              <a:schemeClr val="accent1"/>
            </a:effectRef>
            <a:fontRef idx="minor">
              <a:schemeClr val="tx1"/>
            </a:fontRef>
          </p:style>
        </p:cxnSp>
        <p:cxnSp>
          <p:nvCxnSpPr>
            <p:cNvPr id="113" name="Straight Arrow Connector 112">
              <a:extLst>
                <a:ext uri="{FF2B5EF4-FFF2-40B4-BE49-F238E27FC236}">
                  <a16:creationId xmlns:a16="http://schemas.microsoft.com/office/drawing/2014/main" id="{D57C44F0-D7FE-4937-7C15-1E5BCDED29B6}"/>
                </a:ext>
              </a:extLst>
            </p:cNvPr>
            <p:cNvCxnSpPr>
              <a:stCxn id="29" idx="3"/>
              <a:endCxn id="53" idx="1"/>
            </p:cNvCxnSpPr>
            <p:nvPr/>
          </p:nvCxnSpPr>
          <p:spPr>
            <a:xfrm>
              <a:off x="8285995" y="3713714"/>
              <a:ext cx="378855" cy="7387"/>
            </a:xfrm>
            <a:prstGeom prst="straightConnector1">
              <a:avLst/>
            </a:prstGeom>
            <a:ln w="15875">
              <a:solidFill>
                <a:srgbClr val="6E6E6C"/>
              </a:solidFill>
              <a:prstDash val="solid"/>
              <a:tailEnd type="triangle" w="med" len="med"/>
            </a:ln>
          </p:spPr>
          <p:style>
            <a:lnRef idx="1">
              <a:schemeClr val="accent1"/>
            </a:lnRef>
            <a:fillRef idx="0">
              <a:schemeClr val="accent1"/>
            </a:fillRef>
            <a:effectRef idx="0">
              <a:schemeClr val="accent1"/>
            </a:effectRef>
            <a:fontRef idx="minor">
              <a:schemeClr val="tx1"/>
            </a:fontRef>
          </p:style>
        </p:cxnSp>
        <p:cxnSp>
          <p:nvCxnSpPr>
            <p:cNvPr id="118" name="Straight Arrow Connector 117">
              <a:extLst>
                <a:ext uri="{FF2B5EF4-FFF2-40B4-BE49-F238E27FC236}">
                  <a16:creationId xmlns:a16="http://schemas.microsoft.com/office/drawing/2014/main" id="{6C169791-64EC-3115-9B95-87297F9B10DC}"/>
                </a:ext>
              </a:extLst>
            </p:cNvPr>
            <p:cNvCxnSpPr>
              <a:cxnSpLocks/>
              <a:endCxn id="27" idx="1"/>
            </p:cNvCxnSpPr>
            <p:nvPr/>
          </p:nvCxnSpPr>
          <p:spPr>
            <a:xfrm>
              <a:off x="2960863" y="4041138"/>
              <a:ext cx="251494" cy="7186"/>
            </a:xfrm>
            <a:prstGeom prst="straightConnector1">
              <a:avLst/>
            </a:prstGeom>
            <a:ln w="15875">
              <a:solidFill>
                <a:srgbClr val="6E6E6C"/>
              </a:solidFill>
              <a:prstDash val="solid"/>
              <a:tailEnd type="triangle" w="med" len="med"/>
            </a:ln>
          </p:spPr>
          <p:style>
            <a:lnRef idx="1">
              <a:schemeClr val="accent1"/>
            </a:lnRef>
            <a:fillRef idx="0">
              <a:schemeClr val="accent1"/>
            </a:fillRef>
            <a:effectRef idx="0">
              <a:schemeClr val="accent1"/>
            </a:effectRef>
            <a:fontRef idx="minor">
              <a:schemeClr val="tx1"/>
            </a:fontRef>
          </p:style>
        </p:cxnSp>
        <p:cxnSp>
          <p:nvCxnSpPr>
            <p:cNvPr id="124" name="Elbow Connector 123">
              <a:extLst>
                <a:ext uri="{FF2B5EF4-FFF2-40B4-BE49-F238E27FC236}">
                  <a16:creationId xmlns:a16="http://schemas.microsoft.com/office/drawing/2014/main" id="{EB50C286-C3EB-2E72-C3B1-060C63FE7E53}"/>
                </a:ext>
              </a:extLst>
            </p:cNvPr>
            <p:cNvCxnSpPr>
              <a:cxnSpLocks/>
              <a:stCxn id="12" idx="3"/>
              <a:endCxn id="33" idx="1"/>
            </p:cNvCxnSpPr>
            <p:nvPr/>
          </p:nvCxnSpPr>
          <p:spPr>
            <a:xfrm>
              <a:off x="5419718" y="2325716"/>
              <a:ext cx="1186805" cy="2445194"/>
            </a:xfrm>
            <a:prstGeom prst="bentConnector3">
              <a:avLst>
                <a:gd name="adj1" fmla="val 10782"/>
              </a:avLst>
            </a:prstGeom>
            <a:ln w="15875">
              <a:solidFill>
                <a:srgbClr val="6E6E6C"/>
              </a:solidFill>
              <a:prstDash val="solid"/>
              <a:tailEnd type="triangle" w="med" len="med"/>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23" name="Text 21">
                  <a:extLst>
                    <a:ext uri="{FF2B5EF4-FFF2-40B4-BE49-F238E27FC236}">
                      <a16:creationId xmlns:a16="http://schemas.microsoft.com/office/drawing/2014/main" id="{202BF843-8277-127E-86BF-29BC2C9FA591}"/>
                    </a:ext>
                  </a:extLst>
                </p:cNvPr>
                <p:cNvSpPr txBox="1"/>
                <p:nvPr/>
              </p:nvSpPr>
              <p:spPr>
                <a:xfrm>
                  <a:off x="939800" y="3951605"/>
                  <a:ext cx="1930400" cy="355600"/>
                </a:xfrm>
                <a:prstGeom prst="rect">
                  <a:avLst/>
                </a:prstGeom>
                <a:noFill/>
                <a:ln/>
              </p:spPr>
              <p:txBody>
                <a:bodyPr wrap="square" lIns="0" tIns="0" rIns="0" bIns="0" rtlCol="0" anchor="t"/>
                <a:lstStyle/>
                <a:p>
                  <a:pPr algn="ctr"/>
                  <a14:m>
                    <m:oMath xmlns:m="http://schemas.openxmlformats.org/officeDocument/2006/math">
                      <m:sSub>
                        <m:sSubPr>
                          <m:ctrlPr>
                            <a:rPr lang="es-ES_tradnl" sz="1300" i="1" noProof="0" smtClean="0">
                              <a:solidFill>
                                <a:srgbClr val="3C3C3B"/>
                              </a:solidFill>
                              <a:latin typeface="Cambria Math" panose="02040503050406030204" pitchFamily="18" charset="0"/>
                              <a:cs typeface="Roboto" pitchFamily="34" charset="-120"/>
                            </a:rPr>
                          </m:ctrlPr>
                        </m:sSubPr>
                        <m:e>
                          <m:r>
                            <a:rPr lang="es-ES_tradnl" sz="1300" i="1" noProof="0" smtClean="0">
                              <a:solidFill>
                                <a:srgbClr val="3C3C3B"/>
                              </a:solidFill>
                              <a:latin typeface="Cambria Math" panose="02040503050406030204" pitchFamily="18" charset="0"/>
                              <a:ea typeface="Cambria Math" panose="02040503050406030204" pitchFamily="18" charset="0"/>
                              <a:cs typeface="Roboto" pitchFamily="34" charset="-120"/>
                            </a:rPr>
                            <m:t>𝜎</m:t>
                          </m:r>
                        </m:e>
                        <m:sub>
                          <m:r>
                            <a:rPr lang="es-ES_tradnl" sz="1300" b="0" i="1" noProof="0" smtClean="0">
                              <a:solidFill>
                                <a:srgbClr val="3C3C3B"/>
                              </a:solidFill>
                              <a:latin typeface="Cambria Math" panose="02040503050406030204" pitchFamily="18" charset="0"/>
                              <a:ea typeface="Cambria Math" panose="02040503050406030204" pitchFamily="18" charset="0"/>
                              <a:cs typeface="Roboto" pitchFamily="34" charset="-120"/>
                            </a:rPr>
                            <m:t>𝑗</m:t>
                          </m:r>
                        </m:sub>
                      </m:sSub>
                    </m:oMath>
                  </a14:m>
                  <a:r>
                    <a:rPr lang="es-ES_tradnl" sz="1300" noProof="0" dirty="0">
                      <a:solidFill>
                        <a:srgbClr val="3C3C3B"/>
                      </a:solidFill>
                      <a:latin typeface="Roboto" pitchFamily="34" charset="0"/>
                      <a:ea typeface="Roboto" pitchFamily="34" charset="-122"/>
                      <a:cs typeface="Roboto" pitchFamily="34" charset="-120"/>
                    </a:rPr>
                    <a:t>: </a:t>
                  </a:r>
                  <a:r>
                    <a:rPr lang="es-ES_tradnl" sz="1300" noProof="0" dirty="0">
                      <a:solidFill>
                        <a:srgbClr val="3C3C3B"/>
                      </a:solidFill>
                      <a:ea typeface="Cambria Math" panose="02040503050406030204" pitchFamily="18" charset="0"/>
                      <a:cs typeface="Roboto" pitchFamily="34" charset="-120"/>
                    </a:rPr>
                    <a:t>{</a:t>
                  </a:r>
                  <a14:m>
                    <m:oMath xmlns:m="http://schemas.openxmlformats.org/officeDocument/2006/math">
                      <m:sSubSup>
                        <m:sSubSupPr>
                          <m:ctrlPr>
                            <a:rPr lang="es-ES_tradnl" sz="1300" i="1" noProof="0" smtClean="0">
                              <a:solidFill>
                                <a:srgbClr val="3C3C3B"/>
                              </a:solidFill>
                              <a:latin typeface="Cambria Math" panose="02040503050406030204" pitchFamily="18" charset="0"/>
                              <a:ea typeface="Cambria Math" panose="02040503050406030204" pitchFamily="18" charset="0"/>
                              <a:cs typeface="Roboto" pitchFamily="34" charset="-120"/>
                            </a:rPr>
                          </m:ctrlPr>
                        </m:sSubSupPr>
                        <m:e>
                          <m:r>
                            <a:rPr lang="es-ES_tradnl" sz="1300" i="1" noProof="0" smtClean="0">
                              <a:solidFill>
                                <a:srgbClr val="3C3C3B"/>
                              </a:solidFill>
                              <a:latin typeface="Cambria Math" panose="02040503050406030204" pitchFamily="18" charset="0"/>
                              <a:ea typeface="Cambria Math" panose="02040503050406030204" pitchFamily="18" charset="0"/>
                              <a:cs typeface="Roboto" pitchFamily="34" charset="-120"/>
                            </a:rPr>
                            <m:t>𝜌</m:t>
                          </m:r>
                        </m:e>
                        <m:sub>
                          <m:r>
                            <a:rPr lang="es-ES_tradnl" sz="1300" i="1" noProof="0" smtClean="0">
                              <a:solidFill>
                                <a:srgbClr val="3C3C3B"/>
                              </a:solidFill>
                              <a:latin typeface="Cambria Math" panose="02040503050406030204" pitchFamily="18" charset="0"/>
                              <a:cs typeface="Roboto" pitchFamily="34" charset="-120"/>
                            </a:rPr>
                            <m:t>𝑖</m:t>
                          </m:r>
                        </m:sub>
                        <m:sup>
                          <m:r>
                            <a:rPr lang="es-ES_tradnl" sz="1300" i="1" noProof="0" smtClean="0">
                              <a:solidFill>
                                <a:srgbClr val="3C3C3B"/>
                              </a:solidFill>
                              <a:latin typeface="Cambria Math" panose="02040503050406030204" pitchFamily="18" charset="0"/>
                              <a:ea typeface="Cambria Math" panose="02040503050406030204" pitchFamily="18" charset="0"/>
                              <a:cs typeface="Roboto" pitchFamily="34" charset="-120"/>
                            </a:rPr>
                            <m:t>𝑘</m:t>
                          </m:r>
                        </m:sup>
                      </m:sSubSup>
                      <m:r>
                        <a:rPr lang="es-ES_tradnl" sz="1300" i="1" noProof="0" smtClean="0">
                          <a:solidFill>
                            <a:srgbClr val="3C3C3B"/>
                          </a:solidFill>
                          <a:latin typeface="Cambria Math" panose="02040503050406030204" pitchFamily="18" charset="0"/>
                          <a:ea typeface="Cambria Math" panose="02040503050406030204" pitchFamily="18" charset="0"/>
                          <a:cs typeface="Roboto" pitchFamily="34" charset="-120"/>
                        </a:rPr>
                        <m:t>}</m:t>
                      </m:r>
                      <m:r>
                        <a:rPr lang="es-ES_tradnl" sz="1300" b="0" i="1" noProof="0" smtClean="0">
                          <a:solidFill>
                            <a:srgbClr val="3C3C3B"/>
                          </a:solidFill>
                          <a:latin typeface="Cambria Math" panose="02040503050406030204" pitchFamily="18" charset="0"/>
                          <a:ea typeface="Cambria Math" panose="02040503050406030204" pitchFamily="18" charset="0"/>
                          <a:cs typeface="Roboto" pitchFamily="34" charset="-120"/>
                        </a:rPr>
                        <m:t>\</m:t>
                      </m:r>
                      <m:sSubSup>
                        <m:sSubSupPr>
                          <m:ctrlPr>
                            <a:rPr lang="es-ES_tradnl" sz="1300" b="0" i="1" noProof="0" smtClean="0">
                              <a:solidFill>
                                <a:srgbClr val="3C3C3B"/>
                              </a:solidFill>
                              <a:latin typeface="Cambria Math" panose="02040503050406030204" pitchFamily="18" charset="0"/>
                              <a:ea typeface="Cambria Math" panose="02040503050406030204" pitchFamily="18" charset="0"/>
                              <a:cs typeface="Roboto" pitchFamily="34" charset="-120"/>
                            </a:rPr>
                          </m:ctrlPr>
                        </m:sSubSupPr>
                        <m:e>
                          <m:r>
                            <a:rPr lang="es-ES_tradnl" sz="1300" b="0" i="1" noProof="0" smtClean="0">
                              <a:solidFill>
                                <a:srgbClr val="3C3C3B"/>
                              </a:solidFill>
                              <a:latin typeface="Cambria Math" panose="02040503050406030204" pitchFamily="18" charset="0"/>
                              <a:ea typeface="Cambria Math" panose="02040503050406030204" pitchFamily="18" charset="0"/>
                              <a:cs typeface="Roboto" pitchFamily="34" charset="-120"/>
                            </a:rPr>
                            <m:t>𝜌</m:t>
                          </m:r>
                        </m:e>
                        <m:sub>
                          <m:r>
                            <a:rPr lang="es-ES_tradnl" sz="1300" b="0" i="1" noProof="0" smtClean="0">
                              <a:solidFill>
                                <a:srgbClr val="3C3C3B"/>
                              </a:solidFill>
                              <a:latin typeface="Cambria Math" panose="02040503050406030204" pitchFamily="18" charset="0"/>
                              <a:ea typeface="Cambria Math" panose="02040503050406030204" pitchFamily="18" charset="0"/>
                              <a:cs typeface="Roboto" pitchFamily="34" charset="-120"/>
                            </a:rPr>
                            <m:t>𝑗</m:t>
                          </m:r>
                        </m:sub>
                        <m:sup>
                          <m:r>
                            <a:rPr lang="es-ES_tradnl" sz="1300" b="0" i="1" noProof="0" smtClean="0">
                              <a:solidFill>
                                <a:srgbClr val="3C3C3B"/>
                              </a:solidFill>
                              <a:latin typeface="Cambria Math" panose="02040503050406030204" pitchFamily="18" charset="0"/>
                              <a:ea typeface="Cambria Math" panose="02040503050406030204" pitchFamily="18" charset="0"/>
                              <a:cs typeface="Roboto" pitchFamily="34" charset="-120"/>
                            </a:rPr>
                            <m:t>𝑘</m:t>
                          </m:r>
                        </m:sup>
                      </m:sSubSup>
                    </m:oMath>
                  </a14:m>
                  <a:endParaRPr lang="es-ES_tradnl" sz="1300" noProof="0" dirty="0"/>
                </a:p>
              </p:txBody>
            </p:sp>
          </mc:Choice>
          <mc:Fallback>
            <p:sp>
              <p:nvSpPr>
                <p:cNvPr id="23" name="Text 21">
                  <a:extLst>
                    <a:ext uri="{FF2B5EF4-FFF2-40B4-BE49-F238E27FC236}">
                      <a16:creationId xmlns:a16="http://schemas.microsoft.com/office/drawing/2014/main" id="{202BF843-8277-127E-86BF-29BC2C9FA591}"/>
                    </a:ext>
                  </a:extLst>
                </p:cNvPr>
                <p:cNvSpPr txBox="1">
                  <a:spLocks noRot="1" noChangeAspect="1" noMove="1" noResize="1" noEditPoints="1" noAdjustHandles="1" noChangeArrowheads="1" noChangeShapeType="1" noTextEdit="1"/>
                </p:cNvSpPr>
                <p:nvPr/>
              </p:nvSpPr>
              <p:spPr>
                <a:xfrm>
                  <a:off x="939800" y="3951605"/>
                  <a:ext cx="1930400" cy="355600"/>
                </a:xfrm>
                <a:prstGeom prst="rect">
                  <a:avLst/>
                </a:prstGeom>
                <a:blipFill>
                  <a:blip r:embed="rId12"/>
                  <a:stretch>
                    <a:fillRect t="-7692"/>
                  </a:stretch>
                </a:blipFill>
                <a:ln/>
              </p:spPr>
              <p:txBody>
                <a:bodyPr/>
                <a:lstStyle/>
                <a:p>
                  <a:r>
                    <a:rPr lang="en-CO">
                      <a:noFill/>
                    </a:rPr>
                    <a:t> </a:t>
                  </a:r>
                </a:p>
              </p:txBody>
            </p:sp>
          </mc:Fallback>
        </mc:AlternateContent>
        <p:sp>
          <p:nvSpPr>
            <p:cNvPr id="22" name="Text 20">
              <a:extLst>
                <a:ext uri="{FF2B5EF4-FFF2-40B4-BE49-F238E27FC236}">
                  <a16:creationId xmlns:a16="http://schemas.microsoft.com/office/drawing/2014/main" id="{13A223BF-F33A-8935-8235-FD12E153BC3C}"/>
                </a:ext>
              </a:extLst>
            </p:cNvPr>
            <p:cNvSpPr txBox="1"/>
            <p:nvPr/>
          </p:nvSpPr>
          <p:spPr>
            <a:xfrm>
              <a:off x="939800" y="3681704"/>
              <a:ext cx="1930400" cy="304800"/>
            </a:xfrm>
            <a:prstGeom prst="rect">
              <a:avLst/>
            </a:prstGeom>
            <a:noFill/>
            <a:ln/>
          </p:spPr>
          <p:txBody>
            <a:bodyPr wrap="square" lIns="0" tIns="0" rIns="0" bIns="0" rtlCol="0" anchor="t"/>
            <a:lstStyle/>
            <a:p>
              <a:pPr marL="0" indent="0" algn="ctr">
                <a:buNone/>
              </a:pPr>
              <a:r>
                <a:rPr lang="es-ES_tradnl" sz="1200" b="1" noProof="0" dirty="0">
                  <a:solidFill>
                    <a:srgbClr val="293470"/>
                  </a:solidFill>
                  <a:latin typeface="DM Sans" pitchFamily="34" charset="0"/>
                  <a:ea typeface="DM Sans" pitchFamily="34" charset="-122"/>
                  <a:cs typeface="DM Sans" pitchFamily="34" charset="-120"/>
                </a:rPr>
                <a:t>Codificar</a:t>
              </a:r>
              <a:endParaRPr lang="es-ES_tradnl" sz="1200" noProof="0" dirty="0"/>
            </a:p>
          </p:txBody>
        </p:sp>
      </p:grpSp>
      <p:sp>
        <p:nvSpPr>
          <p:cNvPr id="301" name="Barra superior">
            <a:extLst>
              <a:ext uri="{FF2B5EF4-FFF2-40B4-BE49-F238E27FC236}">
                <a16:creationId xmlns:a16="http://schemas.microsoft.com/office/drawing/2014/main" id="{CAB99F84-7892-FD71-8456-2D6FD88C96EF}"/>
              </a:ext>
            </a:extLst>
          </p:cNvPr>
          <p:cNvSpPr/>
          <p:nvPr/>
        </p:nvSpPr>
        <p:spPr>
          <a:xfrm>
            <a:off x="0" y="0"/>
            <a:ext cx="12192000" cy="76200"/>
          </a:xfrm>
          <a:prstGeom prst="rect">
            <a:avLst/>
          </a:prstGeom>
          <a:solidFill>
            <a:srgbClr val="FFEE00"/>
          </a:solidFill>
          <a:ln/>
        </p:spPr>
        <p:txBody>
          <a:bodyPr/>
          <a:lstStyle/>
          <a:p>
            <a:endParaRPr lang="es-ES_tradnl" noProof="0" dirty="0"/>
          </a:p>
        </p:txBody>
      </p:sp>
      <p:sp>
        <p:nvSpPr>
          <p:cNvPr id="302" name="Etiqueta acto">
            <a:extLst>
              <a:ext uri="{FF2B5EF4-FFF2-40B4-BE49-F238E27FC236}">
                <a16:creationId xmlns:a16="http://schemas.microsoft.com/office/drawing/2014/main" id="{4972EFCD-9117-6408-EE9E-6260F18D48F4}"/>
              </a:ext>
            </a:extLst>
          </p:cNvPr>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303" name="Texto acto">
            <a:extLst>
              <a:ext uri="{FF2B5EF4-FFF2-40B4-BE49-F238E27FC236}">
                <a16:creationId xmlns:a16="http://schemas.microsoft.com/office/drawing/2014/main" id="{BB20343E-177C-02A4-500A-EF60FBF63EC0}"/>
              </a:ext>
            </a:extLst>
          </p:cNvPr>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dirty="0">
                <a:solidFill>
                  <a:srgbClr val="1D1D1B"/>
                </a:solidFill>
                <a:latin typeface="DM Sans" pitchFamily="34" charset="0"/>
                <a:ea typeface="DM Sans" pitchFamily="34" charset="-122"/>
                <a:cs typeface="DM Sans" pitchFamily="34" charset="-120"/>
              </a:rPr>
              <a:t>I</a:t>
            </a:r>
          </a:p>
        </p:txBody>
      </p:sp>
      <p:sp>
        <p:nvSpPr>
          <p:cNvPr id="304" name="Texto seccion">
            <a:extLst>
              <a:ext uri="{FF2B5EF4-FFF2-40B4-BE49-F238E27FC236}">
                <a16:creationId xmlns:a16="http://schemas.microsoft.com/office/drawing/2014/main" id="{27F6EB80-C952-1A2B-D8DC-7A3BB8A6ACA0}"/>
              </a:ext>
            </a:extLst>
          </p:cNvPr>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dirty="0">
                <a:solidFill>
                  <a:srgbClr val="6E6E6C"/>
                </a:solidFill>
                <a:latin typeface="Roboto" pitchFamily="34" charset="0"/>
                <a:ea typeface="Roboto" pitchFamily="34" charset="-122"/>
                <a:cs typeface="Roboto" pitchFamily="34" charset="-120"/>
              </a:rPr>
              <a:t>DÓNDE ESTÁBAMOS</a:t>
            </a:r>
          </a:p>
        </p:txBody>
      </p:sp>
      <p:sp>
        <p:nvSpPr>
          <p:cNvPr id="305" name="Subtitulo">
            <a:extLst>
              <a:ext uri="{FF2B5EF4-FFF2-40B4-BE49-F238E27FC236}">
                <a16:creationId xmlns:a16="http://schemas.microsoft.com/office/drawing/2014/main" id="{31766873-11D4-D8AA-C257-ECB00E8C37A2}"/>
              </a:ext>
            </a:extLst>
          </p:cNvPr>
          <p:cNvSpPr/>
          <p:nvPr/>
        </p:nvSpPr>
        <p:spPr>
          <a:xfrm>
            <a:off x="812800" y="1305520"/>
            <a:ext cx="10883392" cy="322560"/>
          </a:xfrm>
          <a:prstGeom prst="rect">
            <a:avLst/>
          </a:prstGeom>
          <a:noFill/>
          <a:ln/>
        </p:spPr>
        <p:txBody>
          <a:bodyPr wrap="square" lIns="0" tIns="0" rIns="0" bIns="0" rtlCol="0" anchor="t">
            <a:normAutofit/>
          </a:bodyPr>
          <a:lstStyle/>
          <a:p>
            <a:pPr marL="0" indent="0" algn="l">
              <a:lnSpc>
                <a:spcPts val="2340"/>
              </a:lnSpc>
              <a:buNone/>
            </a:pPr>
            <a:r>
              <a:rPr lang="es-ES_tradnl" sz="1800" noProof="0" dirty="0">
                <a:solidFill>
                  <a:srgbClr val="3C3C3B"/>
                </a:solidFill>
                <a:latin typeface="Roboto" pitchFamily="34" charset="0"/>
                <a:ea typeface="Roboto" pitchFamily="34" charset="-122"/>
                <a:cs typeface="Roboto" pitchFamily="34" charset="-120"/>
              </a:rPr>
              <a:t>Cómo se obtienen el </a:t>
            </a:r>
            <a:r>
              <a:rPr lang="es-ES_tradnl" sz="1800" noProof="0" dirty="0" err="1">
                <a:solidFill>
                  <a:srgbClr val="3C3C3B"/>
                </a:solidFill>
                <a:latin typeface="Roboto" pitchFamily="34" charset="0"/>
                <a:ea typeface="Roboto" pitchFamily="34" charset="-122"/>
                <a:cs typeface="Roboto" pitchFamily="34" charset="-120"/>
              </a:rPr>
              <a:t>ε</a:t>
            </a:r>
            <a:r>
              <a:rPr lang="es-ES_tradnl" sz="1800" noProof="0" dirty="0">
                <a:solidFill>
                  <a:srgbClr val="3C3C3B"/>
                </a:solidFill>
                <a:latin typeface="Roboto" pitchFamily="34" charset="0"/>
                <a:ea typeface="Roboto" pitchFamily="34" charset="-122"/>
                <a:cs typeface="Roboto" pitchFamily="34" charset="-120"/>
              </a:rPr>
              <a:t> teórico y el </a:t>
            </a:r>
            <a:r>
              <a:rPr lang="es-ES_tradnl" sz="1800" noProof="0" dirty="0" err="1">
                <a:solidFill>
                  <a:srgbClr val="3C3C3B"/>
                </a:solidFill>
                <a:latin typeface="Roboto" pitchFamily="34" charset="0"/>
                <a:ea typeface="Roboto" pitchFamily="34" charset="-122"/>
                <a:cs typeface="Roboto" pitchFamily="34" charset="-120"/>
              </a:rPr>
              <a:t>ε</a:t>
            </a:r>
            <a:r>
              <a:rPr lang="es-ES_tradnl" sz="1800" noProof="0" dirty="0">
                <a:solidFill>
                  <a:srgbClr val="3C3C3B"/>
                </a:solidFill>
                <a:latin typeface="Roboto" pitchFamily="34" charset="0"/>
                <a:ea typeface="Roboto" pitchFamily="34" charset="-122"/>
                <a:cs typeface="Roboto" pitchFamily="34" charset="-120"/>
              </a:rPr>
              <a:t> experimental de cada columna con GAD.</a:t>
            </a:r>
          </a:p>
        </p:txBody>
      </p:sp>
      <p:sp>
        <p:nvSpPr>
          <p:cNvPr id="306" name="Numero pagina">
            <a:extLst>
              <a:ext uri="{FF2B5EF4-FFF2-40B4-BE49-F238E27FC236}">
                <a16:creationId xmlns:a16="http://schemas.microsoft.com/office/drawing/2014/main" id="{DE7A3B71-0C3D-78E8-7BF0-34495146EE34}"/>
              </a:ext>
            </a:extLst>
          </p:cNvPr>
          <p:cNvSpPr/>
          <p:nvPr/>
        </p:nvSpPr>
        <p:spPr>
          <a:xfrm>
            <a:off x="10566400" y="6491493"/>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a:solidFill>
                  <a:srgbClr val="1D1D1B"/>
                </a:solidFill>
                <a:latin typeface="Roboto" pitchFamily="34" charset="0"/>
                <a:ea typeface="Roboto" pitchFamily="34" charset="-122"/>
                <a:cs typeface="Roboto" pitchFamily="34" charset="-120"/>
              </a:rPr>
              <a:t>10</a:t>
            </a:r>
            <a:endParaRPr lang="es-ES_tradnl" sz="1200" b="1" noProof="0" dirty="0">
              <a:solidFill>
                <a:srgbClr val="1D1D1B"/>
              </a:solidFill>
              <a:latin typeface="Roboto" pitchFamily="34" charset="0"/>
              <a:ea typeface="Roboto" pitchFamily="34" charset="-122"/>
              <a:cs typeface="Roboto" pitchFamily="34" charset="-120"/>
            </a:endParaRPr>
          </a:p>
        </p:txBody>
      </p:sp>
      <p:pic>
        <p:nvPicPr>
          <p:cNvPr id="307" name="Copied Picture 307" descr="Universidad de los Andes">
            <a:extLst>
              <a:ext uri="{FF2B5EF4-FFF2-40B4-BE49-F238E27FC236}">
                <a16:creationId xmlns:a16="http://schemas.microsoft.com/office/drawing/2014/main" id="{D167A27B-8DC2-9072-DE27-704A0E202F79}"/>
              </a:ext>
            </a:extLst>
          </p:cNvPr>
          <p:cNvPicPr>
            <a:picLocks noChangeAspect="1"/>
          </p:cNvPicPr>
          <p:nvPr/>
        </p:nvPicPr>
        <p:blipFill>
          <a:blip r:embed="rId13"/>
          <a:srcRect t="-117" b="-117"/>
          <a:stretch/>
        </p:blipFill>
        <p:spPr>
          <a:xfrm>
            <a:off x="10121900" y="254000"/>
            <a:ext cx="1257300" cy="381000"/>
          </a:xfrm>
          <a:prstGeom prst="rect">
            <a:avLst/>
          </a:prstGeom>
        </p:spPr>
      </p:pic>
    </p:spTree>
    <p:extLst>
      <p:ext uri="{BB962C8B-B14F-4D97-AF65-F5344CB8AC3E}">
        <p14:creationId xmlns:p14="http://schemas.microsoft.com/office/powerpoint/2010/main" val="394913677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2ADD22-A01D-D3EF-7E10-A890DB5284E6}"/>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44E6DE08-8EEB-44EB-28CF-F31629C52DD1}"/>
              </a:ext>
            </a:extLst>
          </p:cNvPr>
          <p:cNvSpPr txBox="1"/>
          <p:nvPr/>
        </p:nvSpPr>
        <p:spPr>
          <a:xfrm>
            <a:off x="812800" y="812800"/>
            <a:ext cx="9326880" cy="658368"/>
          </a:xfrm>
          <a:prstGeom prst="rect">
            <a:avLst/>
          </a:prstGeom>
          <a:noFill/>
          <a:ln/>
        </p:spPr>
        <p:txBody>
          <a:bodyPr wrap="square" lIns="0" tIns="0" rIns="0" bIns="0" rtlCol="0" anchor="t"/>
          <a:lstStyle/>
          <a:p>
            <a:pPr marL="0" indent="0" algn="l">
              <a:lnSpc>
                <a:spcPts val="3080"/>
              </a:lnSpc>
              <a:buNone/>
            </a:pPr>
            <a:r>
              <a:rPr lang="es-ES_tradnl" sz="2800" b="1" kern="0" spc="-50" noProof="0" dirty="0">
                <a:solidFill>
                  <a:srgbClr val="1D1D1B"/>
                </a:solidFill>
                <a:latin typeface="DM Sans" pitchFamily="34" charset="0"/>
                <a:ea typeface="DM Sans" pitchFamily="34" charset="-122"/>
                <a:cs typeface="DM Sans" pitchFamily="34" charset="-120"/>
              </a:rPr>
              <a:t>Privacidad diferencial cuántica local</a:t>
            </a:r>
          </a:p>
        </p:txBody>
      </p:sp>
      <p:grpSp>
        <p:nvGrpSpPr>
          <p:cNvPr id="300" name="Diagrama pipeline">
            <a:extLst>
              <a:ext uri="{FF2B5EF4-FFF2-40B4-BE49-F238E27FC236}">
                <a16:creationId xmlns:a16="http://schemas.microsoft.com/office/drawing/2014/main" id="{92A2C4CD-9F99-DE7D-1A08-429491F8AE60}"/>
              </a:ext>
            </a:extLst>
          </p:cNvPr>
          <p:cNvGrpSpPr/>
          <p:nvPr/>
        </p:nvGrpSpPr>
        <p:grpSpPr>
          <a:xfrm>
            <a:off x="812800" y="1803400"/>
            <a:ext cx="10566400" cy="4381500"/>
            <a:chOff x="548640" y="1325880"/>
            <a:chExt cx="11064240" cy="4892040"/>
          </a:xfrm>
        </p:grpSpPr>
        <p:sp>
          <p:nvSpPr>
            <p:cNvPr id="6" name="Shape 4">
              <a:extLst>
                <a:ext uri="{FF2B5EF4-FFF2-40B4-BE49-F238E27FC236}">
                  <a16:creationId xmlns:a16="http://schemas.microsoft.com/office/drawing/2014/main" id="{5B00778C-7602-3FDC-11EE-8881759D5703}"/>
                </a:ext>
              </a:extLst>
            </p:cNvPr>
            <p:cNvSpPr/>
            <p:nvPr/>
          </p:nvSpPr>
          <p:spPr>
            <a:xfrm>
              <a:off x="548640" y="1325880"/>
              <a:ext cx="11064240" cy="4892040"/>
            </a:xfrm>
            <a:prstGeom prst="roundRect">
              <a:avLst>
                <a:gd name="adj" fmla="val 2243"/>
              </a:avLst>
            </a:prstGeom>
            <a:solidFill>
              <a:srgbClr val="F3F3F2"/>
            </a:solidFill>
            <a:ln w="12700">
              <a:solidFill>
                <a:srgbClr val="F3F3F2"/>
              </a:solidFill>
              <a:prstDash val="solid"/>
            </a:ln>
          </p:spPr>
          <p:txBody>
            <a:bodyPr/>
            <a:lstStyle/>
            <a:p>
              <a:endParaRPr lang="es-ES_tradnl" noProof="0" dirty="0"/>
            </a:p>
          </p:txBody>
        </p:sp>
        <p:sp>
          <p:nvSpPr>
            <p:cNvPr id="19" name="Shape 17">
              <a:extLst>
                <a:ext uri="{FF2B5EF4-FFF2-40B4-BE49-F238E27FC236}">
                  <a16:creationId xmlns:a16="http://schemas.microsoft.com/office/drawing/2014/main" id="{ABF57545-909D-24BA-8DDE-1E5F32C62AC6}"/>
                </a:ext>
              </a:extLst>
            </p:cNvPr>
            <p:cNvSpPr/>
            <p:nvPr/>
          </p:nvSpPr>
          <p:spPr>
            <a:xfrm>
              <a:off x="548640" y="3175000"/>
              <a:ext cx="11064240" cy="1549400"/>
            </a:xfrm>
            <a:prstGeom prst="roundRect">
              <a:avLst>
                <a:gd name="adj" fmla="val 5405"/>
              </a:avLst>
            </a:prstGeom>
            <a:solidFill>
              <a:schemeClr val="accent2">
                <a:lumMod val="40000"/>
                <a:lumOff val="60000"/>
              </a:schemeClr>
            </a:solidFill>
            <a:ln w="12700">
              <a:solidFill>
                <a:srgbClr val="D4D4D0"/>
              </a:solidFill>
              <a:prstDash val="solid"/>
            </a:ln>
          </p:spPr>
          <p:txBody>
            <a:bodyPr/>
            <a:lstStyle/>
            <a:p>
              <a:endParaRPr lang="es-ES_tradnl" noProof="0" dirty="0"/>
            </a:p>
          </p:txBody>
        </p:sp>
        <p:sp>
          <p:nvSpPr>
            <p:cNvPr id="7" name="Text 5">
              <a:extLst>
                <a:ext uri="{FF2B5EF4-FFF2-40B4-BE49-F238E27FC236}">
                  <a16:creationId xmlns:a16="http://schemas.microsoft.com/office/drawing/2014/main" id="{CF85E8FD-BE9A-45F9-4EC4-4ED07EC5106D}"/>
                </a:ext>
              </a:extLst>
            </p:cNvPr>
            <p:cNvSpPr txBox="1"/>
            <p:nvPr/>
          </p:nvSpPr>
          <p:spPr>
            <a:xfrm>
              <a:off x="774700" y="1397000"/>
              <a:ext cx="7620000" cy="279400"/>
            </a:xfrm>
            <a:prstGeom prst="rect">
              <a:avLst/>
            </a:prstGeom>
            <a:noFill/>
            <a:ln/>
          </p:spPr>
          <p:txBody>
            <a:bodyPr wrap="square" lIns="0" tIns="0" rIns="0" bIns="0" rtlCol="0" anchor="t"/>
            <a:lstStyle/>
            <a:p>
              <a:pPr marL="0" indent="0">
                <a:buNone/>
              </a:pPr>
              <a:r>
                <a:rPr lang="es-ES_tradnl" sz="1400" b="1" noProof="0" dirty="0">
                  <a:solidFill>
                    <a:srgbClr val="1D1D1B"/>
                  </a:solidFill>
                  <a:latin typeface="DM Sans" pitchFamily="34" charset="0"/>
                  <a:ea typeface="DM Sans" pitchFamily="34" charset="-122"/>
                  <a:cs typeface="DM Sans" pitchFamily="34" charset="-120"/>
                </a:rPr>
                <a:t>Para cada variable K ∈ {3, 4, 5, 10}</a:t>
              </a:r>
              <a:endParaRPr lang="es-ES_tradnl" sz="1500" noProof="0" dirty="0"/>
            </a:p>
          </p:txBody>
        </p:sp>
        <p:sp>
          <p:nvSpPr>
            <p:cNvPr id="20" name="Text 18">
              <a:extLst>
                <a:ext uri="{FF2B5EF4-FFF2-40B4-BE49-F238E27FC236}">
                  <a16:creationId xmlns:a16="http://schemas.microsoft.com/office/drawing/2014/main" id="{8FBB7728-1463-85C3-34ED-8153586A3D82}"/>
                </a:ext>
              </a:extLst>
            </p:cNvPr>
            <p:cNvSpPr txBox="1"/>
            <p:nvPr/>
          </p:nvSpPr>
          <p:spPr>
            <a:xfrm>
              <a:off x="774700" y="3251200"/>
              <a:ext cx="3048000" cy="279400"/>
            </a:xfrm>
            <a:prstGeom prst="rect">
              <a:avLst/>
            </a:prstGeom>
            <a:noFill/>
            <a:ln/>
          </p:spPr>
          <p:txBody>
            <a:bodyPr wrap="square" lIns="0" tIns="0" rIns="0" bIns="0" rtlCol="0" anchor="t"/>
            <a:lstStyle/>
            <a:p>
              <a:pPr marL="0" indent="0">
                <a:buNone/>
              </a:pPr>
              <a:r>
                <a:rPr lang="es-ES_tradnl" sz="1400" b="1" noProof="0" dirty="0">
                  <a:solidFill>
                    <a:srgbClr val="1D1D1B"/>
                  </a:solidFill>
                  <a:latin typeface="DM Sans" pitchFamily="34" charset="0"/>
                  <a:ea typeface="DM Sans" pitchFamily="34" charset="-122"/>
                  <a:cs typeface="DM Sans" pitchFamily="34" charset="-120"/>
                </a:rPr>
                <a:t>Para cada par {i, j}, i &lt; j</a:t>
              </a:r>
              <a:endParaRPr lang="es-ES_tradnl" sz="1400" noProof="0" dirty="0"/>
            </a:p>
          </p:txBody>
        </p:sp>
        <p:sp>
          <p:nvSpPr>
            <p:cNvPr id="400" name="Caja">
              <a:extLst>
                <a:ext uri="{FF2B5EF4-FFF2-40B4-BE49-F238E27FC236}">
                  <a16:creationId xmlns:a16="http://schemas.microsoft.com/office/drawing/2014/main" id="{35504B3C-9DBC-C591-B661-CDA6486F7694}"/>
                </a:ext>
              </a:extLst>
            </p:cNvPr>
            <p:cNvSpPr/>
            <p:nvPr/>
          </p:nvSpPr>
          <p:spPr>
            <a:xfrm>
              <a:off x="1651000" y="1803400"/>
              <a:ext cx="4318000" cy="1143000"/>
            </a:xfrm>
            <a:prstGeom prst="roundRect">
              <a:avLst>
                <a:gd name="adj" fmla="val 8421"/>
              </a:avLst>
            </a:prstGeom>
            <a:solidFill>
              <a:srgbClr val="FFFFFF"/>
            </a:solidFill>
            <a:ln w="12700">
              <a:solidFill>
                <a:srgbClr val="B9B9B5"/>
              </a:solidFill>
              <a:prstDash val="solid"/>
            </a:ln>
          </p:spPr>
          <p:txBody>
            <a:bodyPr/>
            <a:lstStyle/>
            <a:p>
              <a:endParaRPr lang="es-ES_tradnl" noProof="0" dirty="0"/>
            </a:p>
          </p:txBody>
        </p:sp>
        <p:sp>
          <p:nvSpPr>
            <p:cNvPr id="401" name="Titulo caja">
              <a:extLst>
                <a:ext uri="{FF2B5EF4-FFF2-40B4-BE49-F238E27FC236}">
                  <a16:creationId xmlns:a16="http://schemas.microsoft.com/office/drawing/2014/main" id="{7F815DA4-6399-F59F-16E1-1C17253922D0}"/>
                </a:ext>
              </a:extLst>
            </p:cNvPr>
            <p:cNvSpPr txBox="1"/>
            <p:nvPr/>
          </p:nvSpPr>
          <p:spPr>
            <a:xfrm>
              <a:off x="1651000" y="1892300"/>
              <a:ext cx="4318000" cy="254000"/>
            </a:xfrm>
            <a:prstGeom prst="rect">
              <a:avLst/>
            </a:prstGeom>
            <a:noFill/>
            <a:ln/>
          </p:spPr>
          <p:txBody>
            <a:bodyPr wrap="square" lIns="0" tIns="0" rIns="0" bIns="0" rtlCol="0" anchor="t"/>
            <a:lstStyle/>
            <a:p>
              <a:pPr marL="0" indent="0" algn="ctr">
                <a:buNone/>
              </a:pPr>
              <a:r>
                <a:rPr lang="es-ES_tradnl" sz="1200" b="1" noProof="0" dirty="0">
                  <a:solidFill>
                    <a:srgbClr val="293470"/>
                  </a:solidFill>
                  <a:latin typeface="DM Sans" pitchFamily="34" charset="0"/>
                  <a:ea typeface="DM Sans" pitchFamily="34" charset="-122"/>
                  <a:cs typeface="DM Sans" pitchFamily="34" charset="-120"/>
                </a:rPr>
                <a:t>Codificar</a:t>
              </a:r>
            </a:p>
          </p:txBody>
        </p:sp>
        <p:sp>
          <p:nvSpPr>
            <p:cNvPr id="402" name="Caja">
              <a:extLst>
                <a:ext uri="{FF2B5EF4-FFF2-40B4-BE49-F238E27FC236}">
                  <a16:creationId xmlns:a16="http://schemas.microsoft.com/office/drawing/2014/main" id="{94930197-B6D4-3DFF-462C-3303D8B348B8}"/>
                </a:ext>
              </a:extLst>
            </p:cNvPr>
            <p:cNvSpPr/>
            <p:nvPr/>
          </p:nvSpPr>
          <p:spPr>
            <a:xfrm>
              <a:off x="6858000" y="1803400"/>
              <a:ext cx="3810000" cy="1143000"/>
            </a:xfrm>
            <a:prstGeom prst="roundRect">
              <a:avLst>
                <a:gd name="adj" fmla="val 8421"/>
              </a:avLst>
            </a:prstGeom>
            <a:solidFill>
              <a:srgbClr val="FFEE00"/>
            </a:solidFill>
            <a:ln w="12700">
              <a:solidFill>
                <a:srgbClr val="FFEE00"/>
              </a:solidFill>
              <a:prstDash val="solid"/>
            </a:ln>
          </p:spPr>
          <p:txBody>
            <a:bodyPr/>
            <a:lstStyle/>
            <a:p>
              <a:endParaRPr lang="es-ES_tradnl" noProof="0" dirty="0"/>
            </a:p>
          </p:txBody>
        </p:sp>
        <p:sp>
          <p:nvSpPr>
            <p:cNvPr id="403" name="Titulo caja">
              <a:extLst>
                <a:ext uri="{FF2B5EF4-FFF2-40B4-BE49-F238E27FC236}">
                  <a16:creationId xmlns:a16="http://schemas.microsoft.com/office/drawing/2014/main" id="{6F39F402-903A-4FB3-CC87-C3E32D97470A}"/>
                </a:ext>
              </a:extLst>
            </p:cNvPr>
            <p:cNvSpPr txBox="1"/>
            <p:nvPr/>
          </p:nvSpPr>
          <p:spPr>
            <a:xfrm>
              <a:off x="6858000" y="1892300"/>
              <a:ext cx="3810000" cy="254000"/>
            </a:xfrm>
            <a:prstGeom prst="rect">
              <a:avLst/>
            </a:prstGeom>
            <a:noFill/>
            <a:ln/>
          </p:spPr>
          <p:txBody>
            <a:bodyPr wrap="square" lIns="0" tIns="0" rIns="0" bIns="0" rtlCol="0" anchor="t"/>
            <a:lstStyle/>
            <a:p>
              <a:pPr marL="0" indent="0" algn="ctr">
                <a:buNone/>
              </a:pPr>
              <a:r>
                <a:rPr lang="es-ES_tradnl" sz="1200" b="1" noProof="0" dirty="0" err="1">
                  <a:solidFill>
                    <a:srgbClr val="1D1D1B"/>
                  </a:solidFill>
                  <a:latin typeface="DM Sans" pitchFamily="34" charset="0"/>
                  <a:ea typeface="DM Sans" pitchFamily="34" charset="-122"/>
                  <a:cs typeface="DM Sans" pitchFamily="34" charset="-120"/>
                </a:rPr>
                <a:t>Depolarizante</a:t>
              </a:r>
              <a:endParaRPr lang="es-ES_tradnl" sz="1200" b="1" noProof="0" dirty="0">
                <a:solidFill>
                  <a:srgbClr val="1D1D1B"/>
                </a:solidFill>
                <a:latin typeface="DM Sans" pitchFamily="34" charset="0"/>
                <a:ea typeface="DM Sans" pitchFamily="34" charset="-122"/>
                <a:cs typeface="DM Sans" pitchFamily="34" charset="-120"/>
              </a:endParaRPr>
            </a:p>
          </p:txBody>
        </p:sp>
        <p:cxnSp>
          <p:nvCxnSpPr>
            <p:cNvPr id="404" name="Flecha">
              <a:extLst>
                <a:ext uri="{FF2B5EF4-FFF2-40B4-BE49-F238E27FC236}">
                  <a16:creationId xmlns:a16="http://schemas.microsoft.com/office/drawing/2014/main" id="{2D46C395-F563-05B1-4AA2-BC5A666ABC95}"/>
                </a:ext>
              </a:extLst>
            </p:cNvPr>
            <p:cNvCxnSpPr/>
            <p:nvPr/>
          </p:nvCxnSpPr>
          <p:spPr>
            <a:xfrm>
              <a:off x="5969000" y="2374900"/>
              <a:ext cx="889000" cy="0"/>
            </a:xfrm>
            <a:prstGeom prst="straightConnector1">
              <a:avLst/>
            </a:prstGeom>
            <a:ln w="15875">
              <a:solidFill>
                <a:srgbClr val="6E6E6C"/>
              </a:solidFill>
              <a:prstDash val="solid"/>
              <a:tailEnd type="triangle" w="med" len="med"/>
            </a:ln>
          </p:spPr>
        </p:cxnSp>
        <p:sp>
          <p:nvSpPr>
            <p:cNvPr id="405" name="Caja">
              <a:extLst>
                <a:ext uri="{FF2B5EF4-FFF2-40B4-BE49-F238E27FC236}">
                  <a16:creationId xmlns:a16="http://schemas.microsoft.com/office/drawing/2014/main" id="{99FC7B36-8B1A-E3D2-AD51-556130055EFC}"/>
                </a:ext>
              </a:extLst>
            </p:cNvPr>
            <p:cNvSpPr/>
            <p:nvPr/>
          </p:nvSpPr>
          <p:spPr>
            <a:xfrm>
              <a:off x="2222500" y="3606800"/>
              <a:ext cx="3175000" cy="914400"/>
            </a:xfrm>
            <a:prstGeom prst="roundRect">
              <a:avLst>
                <a:gd name="adj" fmla="val 8421"/>
              </a:avLst>
            </a:prstGeom>
            <a:solidFill>
              <a:srgbClr val="FFFFFF"/>
            </a:solidFill>
            <a:ln w="12700">
              <a:solidFill>
                <a:srgbClr val="B9B9B5"/>
              </a:solidFill>
              <a:prstDash val="solid"/>
            </a:ln>
          </p:spPr>
          <p:txBody>
            <a:bodyPr/>
            <a:lstStyle/>
            <a:p>
              <a:endParaRPr lang="es-ES_tradnl" noProof="0" dirty="0"/>
            </a:p>
          </p:txBody>
        </p:sp>
        <p:sp>
          <p:nvSpPr>
            <p:cNvPr id="406" name="Titulo caja">
              <a:extLst>
                <a:ext uri="{FF2B5EF4-FFF2-40B4-BE49-F238E27FC236}">
                  <a16:creationId xmlns:a16="http://schemas.microsoft.com/office/drawing/2014/main" id="{D63EB8E3-FB12-7A95-3C12-DD23EFC25BF1}"/>
                </a:ext>
              </a:extLst>
            </p:cNvPr>
            <p:cNvSpPr txBox="1"/>
            <p:nvPr/>
          </p:nvSpPr>
          <p:spPr>
            <a:xfrm>
              <a:off x="2222500" y="3695700"/>
              <a:ext cx="3175000" cy="254000"/>
            </a:xfrm>
            <a:prstGeom prst="rect">
              <a:avLst/>
            </a:prstGeom>
            <a:noFill/>
            <a:ln/>
          </p:spPr>
          <p:txBody>
            <a:bodyPr wrap="square" lIns="0" tIns="0" rIns="0" bIns="0" rtlCol="0" anchor="t"/>
            <a:lstStyle/>
            <a:p>
              <a:pPr marL="0" indent="0" algn="ctr">
                <a:buNone/>
              </a:pPr>
              <a:r>
                <a:rPr lang="es-ES_tradnl" sz="1200" b="1" noProof="0" dirty="0">
                  <a:solidFill>
                    <a:srgbClr val="293470"/>
                  </a:solidFill>
                  <a:latin typeface="DM Sans" pitchFamily="34" charset="0"/>
                  <a:ea typeface="DM Sans" pitchFamily="34" charset="-122"/>
                  <a:cs typeface="DM Sans" pitchFamily="34" charset="-120"/>
                </a:rPr>
                <a:t>Distancia de traza</a:t>
              </a:r>
            </a:p>
          </p:txBody>
        </p:sp>
        <p:sp>
          <p:nvSpPr>
            <p:cNvPr id="407" name="Caja">
              <a:extLst>
                <a:ext uri="{FF2B5EF4-FFF2-40B4-BE49-F238E27FC236}">
                  <a16:creationId xmlns:a16="http://schemas.microsoft.com/office/drawing/2014/main" id="{15556C07-A229-C1EB-D36C-6E2794222A0A}"/>
                </a:ext>
              </a:extLst>
            </p:cNvPr>
            <p:cNvSpPr/>
            <p:nvPr/>
          </p:nvSpPr>
          <p:spPr>
            <a:xfrm>
              <a:off x="6350000" y="3606800"/>
              <a:ext cx="4826000" cy="914400"/>
            </a:xfrm>
            <a:prstGeom prst="roundRect">
              <a:avLst>
                <a:gd name="adj" fmla="val 8421"/>
              </a:avLst>
            </a:prstGeom>
            <a:solidFill>
              <a:srgbClr val="FFFFFF"/>
            </a:solidFill>
            <a:ln w="19050">
              <a:solidFill>
                <a:srgbClr val="293470"/>
              </a:solidFill>
              <a:prstDash val="solid"/>
            </a:ln>
          </p:spPr>
          <p:txBody>
            <a:bodyPr/>
            <a:lstStyle/>
            <a:p>
              <a:endParaRPr lang="es-ES_tradnl" noProof="0" dirty="0"/>
            </a:p>
          </p:txBody>
        </p:sp>
        <p:sp>
          <p:nvSpPr>
            <p:cNvPr id="408" name="Titulo caja">
              <a:extLst>
                <a:ext uri="{FF2B5EF4-FFF2-40B4-BE49-F238E27FC236}">
                  <a16:creationId xmlns:a16="http://schemas.microsoft.com/office/drawing/2014/main" id="{F4106212-DE16-AAAD-7B17-22ADE49CCDD7}"/>
                </a:ext>
              </a:extLst>
            </p:cNvPr>
            <p:cNvSpPr txBox="1"/>
            <p:nvPr/>
          </p:nvSpPr>
          <p:spPr>
            <a:xfrm>
              <a:off x="6350000" y="3695700"/>
              <a:ext cx="4826000" cy="254000"/>
            </a:xfrm>
            <a:prstGeom prst="rect">
              <a:avLst/>
            </a:prstGeom>
            <a:noFill/>
            <a:ln/>
          </p:spPr>
          <p:txBody>
            <a:bodyPr wrap="square" lIns="0" tIns="0" rIns="0" bIns="0" rtlCol="0" anchor="t"/>
            <a:lstStyle/>
            <a:p>
              <a:pPr marL="0" indent="0" algn="ctr">
                <a:buNone/>
              </a:pPr>
              <a:r>
                <a:rPr lang="es-ES_tradnl" sz="1200" b="1" noProof="0" dirty="0" err="1">
                  <a:solidFill>
                    <a:srgbClr val="293470"/>
                  </a:solidFill>
                  <a:latin typeface="DM Sans" pitchFamily="34" charset="0"/>
                  <a:ea typeface="DM Sans" pitchFamily="34" charset="-122"/>
                  <a:cs typeface="DM Sans" pitchFamily="34" charset="-120"/>
                </a:rPr>
                <a:t>Epsilon</a:t>
              </a:r>
              <a:r>
                <a:rPr lang="es-ES_tradnl" sz="1200" b="1" noProof="0" dirty="0">
                  <a:solidFill>
                    <a:srgbClr val="293470"/>
                  </a:solidFill>
                  <a:latin typeface="DM Sans" pitchFamily="34" charset="0"/>
                  <a:ea typeface="DM Sans" pitchFamily="34" charset="-122"/>
                  <a:cs typeface="DM Sans" pitchFamily="34" charset="-120"/>
                </a:rPr>
                <a:t> Experimental </a:t>
              </a:r>
              <a:r>
                <a:rPr lang="es-ES_tradnl" sz="1200" b="1" noProof="0" dirty="0" err="1">
                  <a:solidFill>
                    <a:srgbClr val="293470"/>
                  </a:solidFill>
                  <a:latin typeface="DM Sans" pitchFamily="34" charset="0"/>
                  <a:ea typeface="DM Sans" pitchFamily="34" charset="-122"/>
                  <a:cs typeface="DM Sans" pitchFamily="34" charset="-120"/>
                </a:rPr>
                <a:t>ij</a:t>
              </a:r>
              <a:endParaRPr lang="es-ES_tradnl" sz="1200" b="1" noProof="0" dirty="0">
                <a:solidFill>
                  <a:srgbClr val="293470"/>
                </a:solidFill>
                <a:latin typeface="DM Sans" pitchFamily="34" charset="0"/>
                <a:ea typeface="DM Sans" pitchFamily="34" charset="-122"/>
                <a:cs typeface="DM Sans" pitchFamily="34" charset="-120"/>
              </a:endParaRPr>
            </a:p>
          </p:txBody>
        </p:sp>
        <p:cxnSp>
          <p:nvCxnSpPr>
            <p:cNvPr id="409" name="Flecha">
              <a:extLst>
                <a:ext uri="{FF2B5EF4-FFF2-40B4-BE49-F238E27FC236}">
                  <a16:creationId xmlns:a16="http://schemas.microsoft.com/office/drawing/2014/main" id="{696814A3-AEA4-DBE5-8150-46A1E8613CBE}"/>
                </a:ext>
              </a:extLst>
            </p:cNvPr>
            <p:cNvCxnSpPr/>
            <p:nvPr/>
          </p:nvCxnSpPr>
          <p:spPr>
            <a:xfrm>
              <a:off x="3810000" y="2946400"/>
              <a:ext cx="0" cy="660400"/>
            </a:xfrm>
            <a:prstGeom prst="straightConnector1">
              <a:avLst/>
            </a:prstGeom>
            <a:ln w="15875">
              <a:solidFill>
                <a:srgbClr val="6E6E6C"/>
              </a:solidFill>
              <a:prstDash val="solid"/>
              <a:tailEnd type="triangle" w="med" len="med"/>
            </a:ln>
          </p:spPr>
        </p:cxnSp>
        <p:cxnSp>
          <p:nvCxnSpPr>
            <p:cNvPr id="410" name="Flecha">
              <a:extLst>
                <a:ext uri="{FF2B5EF4-FFF2-40B4-BE49-F238E27FC236}">
                  <a16:creationId xmlns:a16="http://schemas.microsoft.com/office/drawing/2014/main" id="{D155078A-6B25-F3D6-C99A-F47A1EC56E7B}"/>
                </a:ext>
              </a:extLst>
            </p:cNvPr>
            <p:cNvCxnSpPr/>
            <p:nvPr/>
          </p:nvCxnSpPr>
          <p:spPr>
            <a:xfrm>
              <a:off x="8763000" y="2946400"/>
              <a:ext cx="0" cy="660400"/>
            </a:xfrm>
            <a:prstGeom prst="straightConnector1">
              <a:avLst/>
            </a:prstGeom>
            <a:ln w="15875">
              <a:solidFill>
                <a:srgbClr val="6E6E6C"/>
              </a:solidFill>
              <a:prstDash val="solid"/>
              <a:tailEnd type="triangle" w="med" len="med"/>
            </a:ln>
          </p:spPr>
        </p:cxnSp>
        <p:sp>
          <p:nvSpPr>
            <p:cNvPr id="411" name="Caja">
              <a:extLst>
                <a:ext uri="{FF2B5EF4-FFF2-40B4-BE49-F238E27FC236}">
                  <a16:creationId xmlns:a16="http://schemas.microsoft.com/office/drawing/2014/main" id="{38A6C98A-15FA-819F-E357-94CE4B0E0411}"/>
                </a:ext>
              </a:extLst>
            </p:cNvPr>
            <p:cNvSpPr/>
            <p:nvPr/>
          </p:nvSpPr>
          <p:spPr>
            <a:xfrm>
              <a:off x="1651000" y="4953000"/>
              <a:ext cx="4318000" cy="1168400"/>
            </a:xfrm>
            <a:prstGeom prst="roundRect">
              <a:avLst>
                <a:gd name="adj" fmla="val 8421"/>
              </a:avLst>
            </a:prstGeom>
            <a:solidFill>
              <a:srgbClr val="FFFFFF"/>
            </a:solidFill>
            <a:ln w="19050">
              <a:solidFill>
                <a:srgbClr val="293470"/>
              </a:solidFill>
              <a:prstDash val="solid"/>
            </a:ln>
          </p:spPr>
          <p:txBody>
            <a:bodyPr/>
            <a:lstStyle/>
            <a:p>
              <a:endParaRPr lang="es-ES_tradnl" noProof="0" dirty="0"/>
            </a:p>
          </p:txBody>
        </p:sp>
        <p:sp>
          <p:nvSpPr>
            <p:cNvPr id="412" name="Titulo caja">
              <a:extLst>
                <a:ext uri="{FF2B5EF4-FFF2-40B4-BE49-F238E27FC236}">
                  <a16:creationId xmlns:a16="http://schemas.microsoft.com/office/drawing/2014/main" id="{C640AE18-F400-8302-B6BD-AE0D5B502608}"/>
                </a:ext>
              </a:extLst>
            </p:cNvPr>
            <p:cNvSpPr txBox="1"/>
            <p:nvPr/>
          </p:nvSpPr>
          <p:spPr>
            <a:xfrm>
              <a:off x="1651000" y="5029200"/>
              <a:ext cx="4318000" cy="254000"/>
            </a:xfrm>
            <a:prstGeom prst="rect">
              <a:avLst/>
            </a:prstGeom>
            <a:noFill/>
            <a:ln/>
          </p:spPr>
          <p:txBody>
            <a:bodyPr wrap="square" lIns="0" tIns="0" rIns="0" bIns="0" rtlCol="0" anchor="t"/>
            <a:lstStyle/>
            <a:p>
              <a:pPr marL="0" indent="0" algn="ctr">
                <a:buNone/>
              </a:pPr>
              <a:r>
                <a:rPr lang="es-ES_tradnl" sz="1200" b="1" noProof="0" dirty="0" err="1">
                  <a:solidFill>
                    <a:srgbClr val="293470"/>
                  </a:solidFill>
                  <a:latin typeface="DM Sans" pitchFamily="34" charset="0"/>
                  <a:ea typeface="DM Sans" pitchFamily="34" charset="-122"/>
                  <a:cs typeface="DM Sans" pitchFamily="34" charset="-120"/>
                </a:rPr>
                <a:t>Epsilon</a:t>
              </a:r>
              <a:r>
                <a:rPr lang="es-ES_tradnl" sz="1200" b="1" noProof="0" dirty="0">
                  <a:solidFill>
                    <a:srgbClr val="293470"/>
                  </a:solidFill>
                  <a:latin typeface="DM Sans" pitchFamily="34" charset="0"/>
                  <a:ea typeface="DM Sans" pitchFamily="34" charset="-122"/>
                  <a:cs typeface="DM Sans" pitchFamily="34" charset="-120"/>
                </a:rPr>
                <a:t> Teórico K</a:t>
              </a:r>
            </a:p>
          </p:txBody>
        </p:sp>
        <p:sp>
          <p:nvSpPr>
            <p:cNvPr id="413" name="Caja">
              <a:extLst>
                <a:ext uri="{FF2B5EF4-FFF2-40B4-BE49-F238E27FC236}">
                  <a16:creationId xmlns:a16="http://schemas.microsoft.com/office/drawing/2014/main" id="{193D7B09-3F9B-1DFE-9400-AE95100A4435}"/>
                </a:ext>
              </a:extLst>
            </p:cNvPr>
            <p:cNvSpPr/>
            <p:nvPr/>
          </p:nvSpPr>
          <p:spPr>
            <a:xfrm>
              <a:off x="6858000" y="4953000"/>
              <a:ext cx="3810000" cy="1168400"/>
            </a:xfrm>
            <a:prstGeom prst="roundRect">
              <a:avLst>
                <a:gd name="adj" fmla="val 8421"/>
              </a:avLst>
            </a:prstGeom>
            <a:solidFill>
              <a:srgbClr val="FFFFFF"/>
            </a:solidFill>
            <a:ln w="19050">
              <a:solidFill>
                <a:srgbClr val="293470"/>
              </a:solidFill>
              <a:prstDash val="solid"/>
            </a:ln>
          </p:spPr>
          <p:txBody>
            <a:bodyPr/>
            <a:lstStyle/>
            <a:p>
              <a:endParaRPr lang="es-ES_tradnl" noProof="0" dirty="0"/>
            </a:p>
          </p:txBody>
        </p:sp>
        <p:sp>
          <p:nvSpPr>
            <p:cNvPr id="414" name="Titulo caja">
              <a:extLst>
                <a:ext uri="{FF2B5EF4-FFF2-40B4-BE49-F238E27FC236}">
                  <a16:creationId xmlns:a16="http://schemas.microsoft.com/office/drawing/2014/main" id="{37089C00-7AEF-7512-D17F-A8AF55DBF823}"/>
                </a:ext>
              </a:extLst>
            </p:cNvPr>
            <p:cNvSpPr txBox="1"/>
            <p:nvPr/>
          </p:nvSpPr>
          <p:spPr>
            <a:xfrm>
              <a:off x="6858000" y="5029200"/>
              <a:ext cx="3810000" cy="254000"/>
            </a:xfrm>
            <a:prstGeom prst="rect">
              <a:avLst/>
            </a:prstGeom>
            <a:noFill/>
            <a:ln/>
          </p:spPr>
          <p:txBody>
            <a:bodyPr wrap="square" lIns="0" tIns="0" rIns="0" bIns="0" rtlCol="0" anchor="t"/>
            <a:lstStyle/>
            <a:p>
              <a:pPr marL="0" indent="0" algn="ctr">
                <a:buNone/>
              </a:pPr>
              <a:r>
                <a:rPr lang="es-ES_tradnl" sz="1200" b="1" noProof="0" dirty="0" err="1">
                  <a:solidFill>
                    <a:srgbClr val="293470"/>
                  </a:solidFill>
                  <a:latin typeface="DM Sans" pitchFamily="34" charset="0"/>
                  <a:ea typeface="DM Sans" pitchFamily="34" charset="-122"/>
                  <a:cs typeface="DM Sans" pitchFamily="34" charset="-120"/>
                </a:rPr>
                <a:t>Epsilon</a:t>
              </a:r>
              <a:r>
                <a:rPr lang="es-ES_tradnl" sz="1200" b="1" noProof="0" dirty="0">
                  <a:solidFill>
                    <a:srgbClr val="293470"/>
                  </a:solidFill>
                  <a:latin typeface="DM Sans" pitchFamily="34" charset="0"/>
                  <a:ea typeface="DM Sans" pitchFamily="34" charset="-122"/>
                  <a:cs typeface="DM Sans" pitchFamily="34" charset="-120"/>
                </a:rPr>
                <a:t> Experimental K</a:t>
              </a:r>
            </a:p>
          </p:txBody>
        </p:sp>
        <p:cxnSp>
          <p:nvCxnSpPr>
            <p:cNvPr id="415" name="Flecha">
              <a:extLst>
                <a:ext uri="{FF2B5EF4-FFF2-40B4-BE49-F238E27FC236}">
                  <a16:creationId xmlns:a16="http://schemas.microsoft.com/office/drawing/2014/main" id="{748A00BE-88F9-F46C-D099-DE5688B78750}"/>
                </a:ext>
              </a:extLst>
            </p:cNvPr>
            <p:cNvCxnSpPr/>
            <p:nvPr/>
          </p:nvCxnSpPr>
          <p:spPr>
            <a:xfrm>
              <a:off x="3810000" y="4521200"/>
              <a:ext cx="0" cy="431800"/>
            </a:xfrm>
            <a:prstGeom prst="straightConnector1">
              <a:avLst/>
            </a:prstGeom>
            <a:ln w="15875">
              <a:solidFill>
                <a:srgbClr val="6E6E6C"/>
              </a:solidFill>
              <a:prstDash val="solid"/>
              <a:tailEnd type="triangle" w="med" len="med"/>
            </a:ln>
          </p:spPr>
        </p:cxnSp>
        <p:cxnSp>
          <p:nvCxnSpPr>
            <p:cNvPr id="416" name="Flecha">
              <a:extLst>
                <a:ext uri="{FF2B5EF4-FFF2-40B4-BE49-F238E27FC236}">
                  <a16:creationId xmlns:a16="http://schemas.microsoft.com/office/drawing/2014/main" id="{D8E08106-AA9F-B026-9336-45B9C4320BFB}"/>
                </a:ext>
              </a:extLst>
            </p:cNvPr>
            <p:cNvCxnSpPr/>
            <p:nvPr/>
          </p:nvCxnSpPr>
          <p:spPr>
            <a:xfrm>
              <a:off x="8763000" y="4521200"/>
              <a:ext cx="0" cy="431800"/>
            </a:xfrm>
            <a:prstGeom prst="straightConnector1">
              <a:avLst/>
            </a:prstGeom>
            <a:ln w="15875">
              <a:solidFill>
                <a:srgbClr val="6E6E6C"/>
              </a:solidFill>
              <a:prstDash val="solid"/>
              <a:tailEnd type="triangle" w="med" len="med"/>
            </a:ln>
          </p:spPr>
        </p:cxnSp>
        <mc:AlternateContent xmlns:mc="http://schemas.openxmlformats.org/markup-compatibility/2006">
          <mc:Choice xmlns:a14="http://schemas.microsoft.com/office/drawing/2010/main" Requires="a14">
            <p:sp>
              <p:nvSpPr>
                <p:cNvPr id="430" name="Formula">
                  <a:extLst>
                    <a:ext uri="{FF2B5EF4-FFF2-40B4-BE49-F238E27FC236}">
                      <a16:creationId xmlns:a16="http://schemas.microsoft.com/office/drawing/2014/main" id="{D58A1DE5-D3A8-4DCB-53FD-EAB33092FE98}"/>
                    </a:ext>
                  </a:extLst>
                </p:cNvPr>
                <p:cNvSpPr txBox="1"/>
                <p:nvPr/>
              </p:nvSpPr>
              <p:spPr>
                <a:xfrm>
                  <a:off x="1752600" y="2159000"/>
                  <a:ext cx="4114800" cy="736600"/>
                </a:xfrm>
                <a:prstGeom prst="rect">
                  <a:avLst/>
                </a:prstGeom>
                <a:noFill/>
                <a:ln/>
              </p:spPr>
              <p:txBody>
                <a:bodyPr wrap="square" lIns="0" tIns="0" rIns="0" bIns="0" rtlCol="0" anchor="t"/>
                <a:lstStyle/>
                <a:p>
                  <a:pPr algn="ctr"/>
                  <a14:m>
                    <m:oMathPara xmlns:m="http://schemas.openxmlformats.org/officeDocument/2006/math">
                      <m:oMathParaPr>
                        <m:jc m:val="centerGroup"/>
                      </m:oMathParaPr>
                      <m:oMath xmlns:m="http://schemas.openxmlformats.org/officeDocument/2006/math">
                        <m:d>
                          <m:dPr>
                            <m:begChr m:val="{"/>
                            <m:endChr m:val="}"/>
                            <m:ctrlPr>
                              <a:rPr lang="es-ES_tradnl" sz="1300" i="1" noProof="0" smtClean="0">
                                <a:solidFill>
                                  <a:srgbClr val="3C3C3B"/>
                                </a:solidFill>
                                <a:latin typeface="Cambria Math" panose="02040503050406030204" pitchFamily="18" charset="0"/>
                              </a:rPr>
                            </m:ctrlPr>
                          </m:dPr>
                          <m:e>
                            <m:sSub>
                              <m:sSubPr>
                                <m:ctrlPr>
                                  <a:rPr lang="es-ES_tradnl" sz="1300" i="1" noProof="0" smtClean="0">
                                    <a:solidFill>
                                      <a:srgbClr val="3C3C3B"/>
                                    </a:solidFill>
                                    <a:latin typeface="Cambria Math" panose="02040503050406030204" pitchFamily="18" charset="0"/>
                                  </a:rPr>
                                </m:ctrlPr>
                              </m:sSubPr>
                              <m:e>
                                <m:r>
                                  <a:rPr lang="es-ES_tradnl" sz="1300" i="1" noProof="0" smtClean="0">
                                    <a:solidFill>
                                      <a:srgbClr val="3C3C3B"/>
                                    </a:solidFill>
                                    <a:latin typeface="Cambria Math" panose="02040503050406030204" pitchFamily="18" charset="0"/>
                                  </a:rPr>
                                  <m:t>𝜌</m:t>
                                </m:r>
                              </m:e>
                              <m:sub>
                                <m:r>
                                  <a:rPr lang="es-ES_tradnl" sz="1300" i="1" noProof="0" smtClean="0">
                                    <a:solidFill>
                                      <a:srgbClr val="3C3C3B"/>
                                    </a:solidFill>
                                    <a:latin typeface="Cambria Math" panose="02040503050406030204" pitchFamily="18" charset="0"/>
                                  </a:rPr>
                                  <m:t>𝑖</m:t>
                                </m:r>
                              </m:sub>
                            </m:sSub>
                          </m:e>
                        </m:d>
                        <m:r>
                          <a:rPr lang="es-ES_tradnl" sz="1300" i="0" noProof="0" smtClean="0">
                            <a:solidFill>
                              <a:srgbClr val="3C3C3B"/>
                            </a:solidFill>
                            <a:latin typeface="Cambria Math" panose="02040503050406030204" pitchFamily="18" charset="0"/>
                          </a:rPr>
                          <m:t>: </m:t>
                        </m:r>
                        <m:r>
                          <a:rPr lang="es-ES_tradnl" sz="1300" i="1" noProof="0" smtClean="0">
                            <a:solidFill>
                              <a:srgbClr val="3C3C3B"/>
                            </a:solidFill>
                            <a:latin typeface="Cambria Math" panose="02040503050406030204" pitchFamily="18" charset="0"/>
                          </a:rPr>
                          <m:t>𝐾</m:t>
                        </m:r>
                        <m:r>
                          <a:rPr lang="es-ES_tradnl" sz="1300" i="0" noProof="0" smtClean="0">
                            <a:solidFill>
                              <a:srgbClr val="3C3C3B"/>
                            </a:solidFill>
                            <a:latin typeface="Cambria Math" panose="02040503050406030204" pitchFamily="18" charset="0"/>
                          </a:rPr>
                          <m:t> </m:t>
                        </m:r>
                        <m:r>
                          <m:rPr>
                            <m:sty m:val="p"/>
                          </m:rPr>
                          <a:rPr lang="es-ES_tradnl" sz="1300" i="0" noProof="0" smtClean="0">
                            <a:solidFill>
                              <a:srgbClr val="3C3C3B"/>
                            </a:solidFill>
                            <a:latin typeface="Cambria Math" panose="02040503050406030204" pitchFamily="18" charset="0"/>
                          </a:rPr>
                          <m:t>estados</m:t>
                        </m:r>
                        <m:r>
                          <a:rPr lang="es-ES_tradnl" sz="1300" i="0" noProof="0" smtClean="0">
                            <a:solidFill>
                              <a:srgbClr val="3C3C3B"/>
                            </a:solidFill>
                            <a:latin typeface="Cambria Math" panose="02040503050406030204" pitchFamily="18" charset="0"/>
                          </a:rPr>
                          <m:t>  </m:t>
                        </m:r>
                        <m:r>
                          <a:rPr lang="es-ES_tradnl" sz="1300" i="1" noProof="0" smtClean="0">
                            <a:solidFill>
                              <a:srgbClr val="3C3C3B"/>
                            </a:solidFill>
                            <a:latin typeface="Cambria Math" panose="02040503050406030204" pitchFamily="18" charset="0"/>
                          </a:rPr>
                          <m:t>∀</m:t>
                        </m:r>
                        <m:r>
                          <a:rPr lang="es-ES_tradnl" sz="1300" i="1" noProof="0" smtClean="0">
                            <a:solidFill>
                              <a:srgbClr val="3C3C3B"/>
                            </a:solidFill>
                            <a:latin typeface="Cambria Math" panose="02040503050406030204" pitchFamily="18" charset="0"/>
                          </a:rPr>
                          <m:t>𝑖</m:t>
                        </m:r>
                        <m:r>
                          <a:rPr lang="es-ES_tradnl" sz="1300" i="1" noProof="0" smtClean="0">
                            <a:solidFill>
                              <a:srgbClr val="3C3C3B"/>
                            </a:solidFill>
                            <a:latin typeface="Cambria Math" panose="02040503050406030204" pitchFamily="18" charset="0"/>
                          </a:rPr>
                          <m:t>∈</m:t>
                        </m:r>
                        <m:d>
                          <m:dPr>
                            <m:begChr m:val="["/>
                            <m:ctrlPr>
                              <a:rPr lang="es-ES_tradnl" sz="1300" i="1" noProof="0" smtClean="0">
                                <a:solidFill>
                                  <a:srgbClr val="3C3C3B"/>
                                </a:solidFill>
                                <a:latin typeface="Cambria Math" panose="02040503050406030204" pitchFamily="18" charset="0"/>
                              </a:rPr>
                            </m:ctrlPr>
                          </m:dPr>
                          <m:e>
                            <m:r>
                              <a:rPr lang="es-ES_tradnl" sz="1300" i="1" noProof="0" smtClean="0">
                                <a:solidFill>
                                  <a:srgbClr val="3C3C3B"/>
                                </a:solidFill>
                                <a:latin typeface="Cambria Math" panose="02040503050406030204" pitchFamily="18" charset="0"/>
                              </a:rPr>
                              <m:t>0,</m:t>
                            </m:r>
                            <m:r>
                              <a:rPr lang="es-ES_tradnl" sz="1300" i="1" noProof="0" smtClean="0">
                                <a:solidFill>
                                  <a:srgbClr val="3C3C3B"/>
                                </a:solidFill>
                                <a:latin typeface="Cambria Math" panose="02040503050406030204" pitchFamily="18" charset="0"/>
                              </a:rPr>
                              <m:t>𝐾</m:t>
                            </m:r>
                          </m:e>
                        </m:d>
                      </m:oMath>
                    </m:oMathPara>
                  </a14:m>
                  <a:endParaRPr lang="es-ES_tradnl" sz="1300" noProof="0" dirty="0"/>
                </a:p>
                <a:p>
                  <a:pPr algn="ctr"/>
                  <a14:m>
                    <m:oMathPara xmlns:m="http://schemas.openxmlformats.org/officeDocument/2006/math">
                      <m:oMathParaPr>
                        <m:jc m:val="centerGroup"/>
                      </m:oMathParaPr>
                      <m:oMath xmlns:m="http://schemas.openxmlformats.org/officeDocument/2006/math">
                        <m:sSub>
                          <m:sSubPr>
                            <m:ctrlPr>
                              <a:rPr lang="es-ES_tradnl" sz="1300" i="1" noProof="0" smtClean="0">
                                <a:solidFill>
                                  <a:srgbClr val="3C3C3B"/>
                                </a:solidFill>
                                <a:latin typeface="Cambria Math" panose="02040503050406030204" pitchFamily="18" charset="0"/>
                              </a:rPr>
                            </m:ctrlPr>
                          </m:sSubPr>
                          <m:e>
                            <m:r>
                              <a:rPr lang="es-ES_tradnl" sz="1300" i="1" noProof="0" smtClean="0">
                                <a:solidFill>
                                  <a:srgbClr val="3C3C3B"/>
                                </a:solidFill>
                                <a:latin typeface="Cambria Math" panose="02040503050406030204" pitchFamily="18" charset="0"/>
                              </a:rPr>
                              <m:t>𝜌</m:t>
                            </m:r>
                          </m:e>
                          <m:sub>
                            <m:r>
                              <a:rPr lang="es-ES_tradnl" sz="1300" i="1" noProof="0" smtClean="0">
                                <a:solidFill>
                                  <a:srgbClr val="3C3C3B"/>
                                </a:solidFill>
                                <a:latin typeface="Cambria Math" panose="02040503050406030204" pitchFamily="18" charset="0"/>
                              </a:rPr>
                              <m:t>𝑖</m:t>
                            </m:r>
                          </m:sub>
                        </m:sSub>
                        <m:r>
                          <a:rPr lang="es-ES_tradnl" sz="1300" i="1" noProof="0" smtClean="0">
                            <a:solidFill>
                              <a:srgbClr val="3C3C3B"/>
                            </a:solidFill>
                            <a:latin typeface="Cambria Math" panose="02040503050406030204" pitchFamily="18" charset="0"/>
                          </a:rPr>
                          <m:t>=</m:t>
                        </m:r>
                        <m:d>
                          <m:dPr>
                            <m:begChr m:val="|"/>
                            <m:endChr m:val="⟩"/>
                            <m:ctrlPr>
                              <a:rPr lang="es-ES_tradnl" sz="1300" i="1" noProof="0" smtClean="0">
                                <a:solidFill>
                                  <a:srgbClr val="3C3C3B"/>
                                </a:solidFill>
                                <a:latin typeface="Cambria Math" panose="02040503050406030204" pitchFamily="18" charset="0"/>
                              </a:rPr>
                            </m:ctrlPr>
                          </m:dPr>
                          <m:e>
                            <m:sSub>
                              <m:sSubPr>
                                <m:ctrlPr>
                                  <a:rPr lang="es-ES_tradnl" sz="1300" i="1" noProof="0" smtClean="0">
                                    <a:solidFill>
                                      <a:srgbClr val="3C3C3B"/>
                                    </a:solidFill>
                                    <a:latin typeface="Cambria Math" panose="02040503050406030204" pitchFamily="18" charset="0"/>
                                  </a:rPr>
                                </m:ctrlPr>
                              </m:sSubPr>
                              <m:e>
                                <m:r>
                                  <a:rPr lang="es-ES_tradnl" sz="1300" i="1" noProof="0" smtClean="0">
                                    <a:solidFill>
                                      <a:srgbClr val="3C3C3B"/>
                                    </a:solidFill>
                                    <a:latin typeface="Cambria Math" panose="02040503050406030204" pitchFamily="18" charset="0"/>
                                  </a:rPr>
                                  <m:t>𝜓</m:t>
                                </m:r>
                              </m:e>
                              <m:sub>
                                <m:r>
                                  <a:rPr lang="es-ES_tradnl" sz="1300" i="1" noProof="0" smtClean="0">
                                    <a:solidFill>
                                      <a:srgbClr val="3C3C3B"/>
                                    </a:solidFill>
                                    <a:latin typeface="Cambria Math" panose="02040503050406030204" pitchFamily="18" charset="0"/>
                                  </a:rPr>
                                  <m:t>𝑖</m:t>
                                </m:r>
                              </m:sub>
                            </m:sSub>
                          </m:e>
                        </m:d>
                        <m:d>
                          <m:dPr>
                            <m:begChr m:val="⟨"/>
                            <m:endChr m:val="|"/>
                            <m:ctrlPr>
                              <a:rPr lang="es-ES_tradnl" sz="1300" i="1" noProof="0" smtClean="0">
                                <a:solidFill>
                                  <a:srgbClr val="3C3C3B"/>
                                </a:solidFill>
                                <a:latin typeface="Cambria Math" panose="02040503050406030204" pitchFamily="18" charset="0"/>
                              </a:rPr>
                            </m:ctrlPr>
                          </m:dPr>
                          <m:e>
                            <m:sSub>
                              <m:sSubPr>
                                <m:ctrlPr>
                                  <a:rPr lang="es-ES_tradnl" sz="1300" i="1" noProof="0" smtClean="0">
                                    <a:solidFill>
                                      <a:srgbClr val="3C3C3B"/>
                                    </a:solidFill>
                                    <a:latin typeface="Cambria Math" panose="02040503050406030204" pitchFamily="18" charset="0"/>
                                  </a:rPr>
                                </m:ctrlPr>
                              </m:sSubPr>
                              <m:e>
                                <m:r>
                                  <a:rPr lang="es-ES_tradnl" sz="1300" i="1" noProof="0" smtClean="0">
                                    <a:solidFill>
                                      <a:srgbClr val="3C3C3B"/>
                                    </a:solidFill>
                                    <a:latin typeface="Cambria Math" panose="02040503050406030204" pitchFamily="18" charset="0"/>
                                  </a:rPr>
                                  <m:t>𝜓</m:t>
                                </m:r>
                              </m:e>
                              <m:sub>
                                <m:r>
                                  <a:rPr lang="es-ES_tradnl" sz="1300" i="1" noProof="0" smtClean="0">
                                    <a:solidFill>
                                      <a:srgbClr val="3C3C3B"/>
                                    </a:solidFill>
                                    <a:latin typeface="Cambria Math" panose="02040503050406030204" pitchFamily="18" charset="0"/>
                                  </a:rPr>
                                  <m:t>𝑖</m:t>
                                </m:r>
                              </m:sub>
                            </m:sSub>
                          </m:e>
                        </m:d>
                        <m:r>
                          <a:rPr lang="es-ES_tradnl" sz="1300" i="0" noProof="0" smtClean="0">
                            <a:solidFill>
                              <a:srgbClr val="3C3C3B"/>
                            </a:solidFill>
                            <a:latin typeface="Cambria Math" panose="02040503050406030204" pitchFamily="18" charset="0"/>
                          </a:rPr>
                          <m:t>,  </m:t>
                        </m:r>
                        <m:d>
                          <m:dPr>
                            <m:begChr m:val="|"/>
                            <m:endChr m:val="⟩"/>
                            <m:ctrlPr>
                              <a:rPr lang="es-ES_tradnl" sz="1300" i="1" noProof="0" smtClean="0">
                                <a:solidFill>
                                  <a:srgbClr val="3C3C3B"/>
                                </a:solidFill>
                                <a:latin typeface="Cambria Math" panose="02040503050406030204" pitchFamily="18" charset="0"/>
                              </a:rPr>
                            </m:ctrlPr>
                          </m:dPr>
                          <m:e>
                            <m:sSub>
                              <m:sSubPr>
                                <m:ctrlPr>
                                  <a:rPr lang="es-ES_tradnl" sz="1300" i="1" noProof="0" smtClean="0">
                                    <a:solidFill>
                                      <a:srgbClr val="3C3C3B"/>
                                    </a:solidFill>
                                    <a:latin typeface="Cambria Math" panose="02040503050406030204" pitchFamily="18" charset="0"/>
                                  </a:rPr>
                                </m:ctrlPr>
                              </m:sSubPr>
                              <m:e>
                                <m:r>
                                  <a:rPr lang="es-ES_tradnl" sz="1300" i="1" noProof="0" smtClean="0">
                                    <a:solidFill>
                                      <a:srgbClr val="3C3C3B"/>
                                    </a:solidFill>
                                    <a:latin typeface="Cambria Math" panose="02040503050406030204" pitchFamily="18" charset="0"/>
                                  </a:rPr>
                                  <m:t>𝜓</m:t>
                                </m:r>
                              </m:e>
                              <m:sub>
                                <m:r>
                                  <a:rPr lang="es-ES_tradnl" sz="1300" i="1" noProof="0" smtClean="0">
                                    <a:solidFill>
                                      <a:srgbClr val="3C3C3B"/>
                                    </a:solidFill>
                                    <a:latin typeface="Cambria Math" panose="02040503050406030204" pitchFamily="18" charset="0"/>
                                  </a:rPr>
                                  <m:t>𝑖</m:t>
                                </m:r>
                              </m:sub>
                            </m:sSub>
                          </m:e>
                        </m:d>
                        <m:r>
                          <a:rPr lang="es-ES_tradnl" sz="1300" i="1" noProof="0" smtClean="0">
                            <a:solidFill>
                              <a:srgbClr val="3C3C3B"/>
                            </a:solidFill>
                            <a:latin typeface="Cambria Math" panose="02040503050406030204" pitchFamily="18" charset="0"/>
                          </a:rPr>
                          <m:t>=</m:t>
                        </m:r>
                        <m:sSub>
                          <m:sSubPr>
                            <m:ctrlPr>
                              <a:rPr lang="es-ES_tradnl" sz="1300" i="1" noProof="0" smtClean="0">
                                <a:solidFill>
                                  <a:srgbClr val="3C3C3B"/>
                                </a:solidFill>
                                <a:latin typeface="Cambria Math" panose="02040503050406030204" pitchFamily="18" charset="0"/>
                              </a:rPr>
                            </m:ctrlPr>
                          </m:sSubPr>
                          <m:e>
                            <m:r>
                              <a:rPr lang="es-ES_tradnl" sz="1300" i="1" noProof="0" smtClean="0">
                                <a:solidFill>
                                  <a:srgbClr val="3C3C3B"/>
                                </a:solidFill>
                                <a:latin typeface="Cambria Math" panose="02040503050406030204" pitchFamily="18" charset="0"/>
                              </a:rPr>
                              <m:t>𝑅</m:t>
                            </m:r>
                          </m:e>
                          <m:sub>
                            <m:r>
                              <a:rPr lang="es-ES_tradnl" sz="1300" i="1" noProof="0" smtClean="0">
                                <a:solidFill>
                                  <a:srgbClr val="3C3C3B"/>
                                </a:solidFill>
                                <a:latin typeface="Cambria Math" panose="02040503050406030204" pitchFamily="18" charset="0"/>
                              </a:rPr>
                              <m:t>𝑍</m:t>
                            </m:r>
                          </m:sub>
                        </m:sSub>
                        <m:d>
                          <m:dPr>
                            <m:ctrlPr>
                              <a:rPr lang="es-ES_tradnl" sz="1300" i="1" noProof="0" smtClean="0">
                                <a:solidFill>
                                  <a:srgbClr val="3C3C3B"/>
                                </a:solidFill>
                                <a:latin typeface="Cambria Math" panose="02040503050406030204" pitchFamily="18" charset="0"/>
                              </a:rPr>
                            </m:ctrlPr>
                          </m:dPr>
                          <m:e>
                            <m:f>
                              <m:fPr>
                                <m:ctrlPr>
                                  <a:rPr lang="es-ES_tradnl" sz="1300" i="1" noProof="0" smtClean="0">
                                    <a:solidFill>
                                      <a:srgbClr val="3C3C3B"/>
                                    </a:solidFill>
                                    <a:latin typeface="Cambria Math" panose="02040503050406030204" pitchFamily="18" charset="0"/>
                                  </a:rPr>
                                </m:ctrlPr>
                              </m:fPr>
                              <m:num>
                                <m:r>
                                  <a:rPr lang="es-ES_tradnl" sz="1300" i="1" noProof="0" smtClean="0">
                                    <a:solidFill>
                                      <a:srgbClr val="3C3C3B"/>
                                    </a:solidFill>
                                    <a:latin typeface="Cambria Math" panose="02040503050406030204" pitchFamily="18" charset="0"/>
                                  </a:rPr>
                                  <m:t>2</m:t>
                                </m:r>
                                <m:r>
                                  <a:rPr lang="es-ES_tradnl" sz="1300" i="1" noProof="0" smtClean="0">
                                    <a:solidFill>
                                      <a:srgbClr val="3C3C3B"/>
                                    </a:solidFill>
                                    <a:latin typeface="Cambria Math" panose="02040503050406030204" pitchFamily="18" charset="0"/>
                                  </a:rPr>
                                  <m:t>𝜋</m:t>
                                </m:r>
                                <m:r>
                                  <a:rPr lang="es-ES_tradnl" sz="1300" i="1" noProof="0" smtClean="0">
                                    <a:solidFill>
                                      <a:srgbClr val="3C3C3B"/>
                                    </a:solidFill>
                                    <a:latin typeface="Cambria Math" panose="02040503050406030204" pitchFamily="18" charset="0"/>
                                  </a:rPr>
                                  <m:t>𝑖</m:t>
                                </m:r>
                              </m:num>
                              <m:den>
                                <m:r>
                                  <a:rPr lang="es-ES_tradnl" sz="1300" i="1" noProof="0" smtClean="0">
                                    <a:solidFill>
                                      <a:srgbClr val="3C3C3B"/>
                                    </a:solidFill>
                                    <a:latin typeface="Cambria Math" panose="02040503050406030204" pitchFamily="18" charset="0"/>
                                  </a:rPr>
                                  <m:t>𝐾</m:t>
                                </m:r>
                              </m:den>
                            </m:f>
                          </m:e>
                        </m:d>
                        <m:r>
                          <a:rPr lang="es-ES_tradnl" sz="1300" i="1" noProof="0" smtClean="0">
                            <a:solidFill>
                              <a:srgbClr val="3C3C3B"/>
                            </a:solidFill>
                            <a:latin typeface="Cambria Math" panose="02040503050406030204" pitchFamily="18" charset="0"/>
                          </a:rPr>
                          <m:t>𝐻</m:t>
                        </m:r>
                        <m:d>
                          <m:dPr>
                            <m:begChr m:val="|"/>
                            <m:endChr m:val="⟩"/>
                            <m:ctrlPr>
                              <a:rPr lang="es-ES_tradnl" sz="1300" i="1" noProof="0" smtClean="0">
                                <a:solidFill>
                                  <a:srgbClr val="3C3C3B"/>
                                </a:solidFill>
                                <a:latin typeface="Cambria Math" panose="02040503050406030204" pitchFamily="18" charset="0"/>
                              </a:rPr>
                            </m:ctrlPr>
                          </m:dPr>
                          <m:e>
                            <m:r>
                              <a:rPr lang="es-ES_tradnl" sz="1300" i="1" noProof="0" smtClean="0">
                                <a:solidFill>
                                  <a:srgbClr val="3C3C3B"/>
                                </a:solidFill>
                                <a:latin typeface="Cambria Math" panose="02040503050406030204" pitchFamily="18" charset="0"/>
                              </a:rPr>
                              <m:t>0</m:t>
                            </m:r>
                          </m:e>
                        </m:d>
                      </m:oMath>
                    </m:oMathPara>
                  </a14:m>
                  <a:endParaRPr lang="es-ES_tradnl" sz="1300" noProof="0" dirty="0"/>
                </a:p>
              </p:txBody>
            </p:sp>
          </mc:Choice>
          <mc:Fallback>
            <p:sp>
              <p:nvSpPr>
                <p:cNvPr id="430" name="Formula">
                  <a:extLst>
                    <a:ext uri="{FF2B5EF4-FFF2-40B4-BE49-F238E27FC236}">
                      <a16:creationId xmlns:a16="http://schemas.microsoft.com/office/drawing/2014/main" id="{D58A1DE5-D3A8-4DCB-53FD-EAB33092FE98}"/>
                    </a:ext>
                  </a:extLst>
                </p:cNvPr>
                <p:cNvSpPr txBox="1">
                  <a:spLocks noRot="1" noChangeAspect="1" noMove="1" noResize="1" noEditPoints="1" noAdjustHandles="1" noChangeArrowheads="1" noChangeShapeType="1" noTextEdit="1"/>
                </p:cNvSpPr>
                <p:nvPr/>
              </p:nvSpPr>
              <p:spPr>
                <a:xfrm>
                  <a:off x="1752600" y="2159000"/>
                  <a:ext cx="4114800" cy="736600"/>
                </a:xfrm>
                <a:prstGeom prst="rect">
                  <a:avLst/>
                </a:prstGeom>
                <a:blipFill>
                  <a:blip r:embed="rId3"/>
                  <a:stretch>
                    <a:fillRect t="-1887"/>
                  </a:stretch>
                </a:blipFill>
                <a:ln/>
              </p:spPr>
              <p:txBody>
                <a:bodyPr/>
                <a:lstStyle/>
                <a:p>
                  <a:r>
                    <a:rPr lang="en-CO">
                      <a:noFill/>
                    </a:rPr>
                    <a:t> </a:t>
                  </a:r>
                </a:p>
              </p:txBody>
            </p:sp>
          </mc:Fallback>
        </mc:AlternateContent>
        <mc:AlternateContent xmlns:mc="http://schemas.openxmlformats.org/markup-compatibility/2006">
          <mc:Choice xmlns:a14="http://schemas.microsoft.com/office/drawing/2010/main" Requires="a14">
            <p:sp>
              <p:nvSpPr>
                <p:cNvPr id="431" name="Formula">
                  <a:extLst>
                    <a:ext uri="{FF2B5EF4-FFF2-40B4-BE49-F238E27FC236}">
                      <a16:creationId xmlns:a16="http://schemas.microsoft.com/office/drawing/2014/main" id="{48AF5B3A-58A0-F48D-8E2D-DA493CC507DA}"/>
                    </a:ext>
                  </a:extLst>
                </p:cNvPr>
                <p:cNvSpPr txBox="1"/>
                <p:nvPr/>
              </p:nvSpPr>
              <p:spPr>
                <a:xfrm>
                  <a:off x="6959600" y="2235200"/>
                  <a:ext cx="3606800" cy="609600"/>
                </a:xfrm>
                <a:prstGeom prst="rect">
                  <a:avLst/>
                </a:prstGeom>
                <a:noFill/>
                <a:ln/>
              </p:spPr>
              <p:txBody>
                <a:bodyPr wrap="square" lIns="0" tIns="0" rIns="0" bIns="0" rtlCol="0" anchor="t"/>
                <a:lstStyle/>
                <a:p>
                  <a:pPr algn="ctr"/>
                  <a14:m>
                    <m:oMathPara xmlns:m="http://schemas.openxmlformats.org/officeDocument/2006/math">
                      <m:oMathParaPr>
                        <m:jc m:val="centerGroup"/>
                      </m:oMathParaPr>
                      <m:oMath xmlns:m="http://schemas.openxmlformats.org/officeDocument/2006/math">
                        <m:sSub>
                          <m:sSubPr>
                            <m:ctrlPr>
                              <a:rPr lang="es-ES_tradnl" sz="1300" i="1" noProof="0" smtClean="0">
                                <a:solidFill>
                                  <a:srgbClr val="3C3C3B"/>
                                </a:solidFill>
                                <a:latin typeface="Cambria Math" panose="02040503050406030204" pitchFamily="18" charset="0"/>
                              </a:rPr>
                            </m:ctrlPr>
                          </m:sSubPr>
                          <m:e>
                            <m:r>
                              <a:rPr lang="es-ES_tradnl" sz="1300" i="1" noProof="0" smtClean="0">
                                <a:solidFill>
                                  <a:srgbClr val="3C3C3B"/>
                                </a:solidFill>
                                <a:latin typeface="Cambria Math" panose="02040503050406030204" pitchFamily="18" charset="0"/>
                              </a:rPr>
                              <m:t>𝜌</m:t>
                            </m:r>
                            <m:r>
                              <a:rPr lang="es-ES_tradnl" sz="1300" i="1" noProof="0" smtClean="0">
                                <a:solidFill>
                                  <a:srgbClr val="3C3C3B"/>
                                </a:solidFill>
                                <a:latin typeface="Cambria Math" panose="02040503050406030204" pitchFamily="18" charset="0"/>
                              </a:rPr>
                              <m:t>′</m:t>
                            </m:r>
                          </m:e>
                          <m:sub>
                            <m:r>
                              <a:rPr lang="es-ES_tradnl" sz="1300" i="1" noProof="0" smtClean="0">
                                <a:solidFill>
                                  <a:srgbClr val="3C3C3B"/>
                                </a:solidFill>
                                <a:latin typeface="Cambria Math" panose="02040503050406030204" pitchFamily="18" charset="0"/>
                              </a:rPr>
                              <m:t>𝑖</m:t>
                            </m:r>
                          </m:sub>
                        </m:sSub>
                        <m:r>
                          <a:rPr lang="es-ES_tradnl" sz="1300" i="1" noProof="0" smtClean="0">
                            <a:solidFill>
                              <a:srgbClr val="3C3C3B"/>
                            </a:solidFill>
                            <a:latin typeface="Cambria Math" panose="02040503050406030204" pitchFamily="18" charset="0"/>
                          </a:rPr>
                          <m:t>=</m:t>
                        </m:r>
                        <m:sSub>
                          <m:sSubPr>
                            <m:ctrlPr>
                              <a:rPr lang="es-ES_tradnl" sz="1300" i="1" noProof="0" smtClean="0">
                                <a:solidFill>
                                  <a:srgbClr val="3C3C3B"/>
                                </a:solidFill>
                                <a:latin typeface="Cambria Math" panose="02040503050406030204" pitchFamily="18" charset="0"/>
                              </a:rPr>
                            </m:ctrlPr>
                          </m:sSubPr>
                          <m:e>
                            <m:r>
                              <a:rPr lang="es-ES_tradnl" sz="1300" i="1" noProof="0" smtClean="0">
                                <a:solidFill>
                                  <a:srgbClr val="3C3C3B"/>
                                </a:solidFill>
                                <a:latin typeface="Cambria Math" panose="02040503050406030204" pitchFamily="18" charset="0"/>
                              </a:rPr>
                              <m:t>ℰ</m:t>
                            </m:r>
                          </m:e>
                          <m:sub>
                            <m:r>
                              <m:rPr>
                                <m:sty m:val="p"/>
                              </m:rPr>
                              <a:rPr lang="es-ES_tradnl" sz="1300" i="0" noProof="0" smtClean="0">
                                <a:solidFill>
                                  <a:srgbClr val="3C3C3B"/>
                                </a:solidFill>
                                <a:latin typeface="Cambria Math" panose="02040503050406030204" pitchFamily="18" charset="0"/>
                              </a:rPr>
                              <m:t>dep</m:t>
                            </m:r>
                          </m:sub>
                        </m:sSub>
                        <m:d>
                          <m:dPr>
                            <m:ctrlPr>
                              <a:rPr lang="es-ES_tradnl" sz="1300" i="1" noProof="0" smtClean="0">
                                <a:solidFill>
                                  <a:srgbClr val="3C3C3B"/>
                                </a:solidFill>
                                <a:latin typeface="Cambria Math" panose="02040503050406030204" pitchFamily="18" charset="0"/>
                              </a:rPr>
                            </m:ctrlPr>
                          </m:dPr>
                          <m:e>
                            <m:sSub>
                              <m:sSubPr>
                                <m:ctrlPr>
                                  <a:rPr lang="es-ES_tradnl" sz="1300" i="1" noProof="0" smtClean="0">
                                    <a:solidFill>
                                      <a:srgbClr val="3C3C3B"/>
                                    </a:solidFill>
                                    <a:latin typeface="Cambria Math" panose="02040503050406030204" pitchFamily="18" charset="0"/>
                                  </a:rPr>
                                </m:ctrlPr>
                              </m:sSubPr>
                              <m:e>
                                <m:r>
                                  <a:rPr lang="es-ES_tradnl" sz="1300" i="1" noProof="0" smtClean="0">
                                    <a:solidFill>
                                      <a:srgbClr val="3C3C3B"/>
                                    </a:solidFill>
                                    <a:latin typeface="Cambria Math" panose="02040503050406030204" pitchFamily="18" charset="0"/>
                                  </a:rPr>
                                  <m:t>𝜌</m:t>
                                </m:r>
                              </m:e>
                              <m:sub>
                                <m:r>
                                  <a:rPr lang="es-ES_tradnl" sz="1300" i="1" noProof="0" smtClean="0">
                                    <a:solidFill>
                                      <a:srgbClr val="3C3C3B"/>
                                    </a:solidFill>
                                    <a:latin typeface="Cambria Math" panose="02040503050406030204" pitchFamily="18" charset="0"/>
                                  </a:rPr>
                                  <m:t>𝑖</m:t>
                                </m:r>
                              </m:sub>
                            </m:sSub>
                          </m:e>
                        </m:d>
                        <m:r>
                          <a:rPr lang="es-ES_tradnl" sz="1300" i="1" noProof="0" smtClean="0">
                            <a:solidFill>
                              <a:srgbClr val="3C3C3B"/>
                            </a:solidFill>
                            <a:latin typeface="Cambria Math" panose="02040503050406030204" pitchFamily="18" charset="0"/>
                          </a:rPr>
                          <m:t>=</m:t>
                        </m:r>
                        <m:d>
                          <m:dPr>
                            <m:ctrlPr>
                              <a:rPr lang="es-ES_tradnl" sz="1300" i="1" noProof="0" smtClean="0">
                                <a:solidFill>
                                  <a:srgbClr val="3C3C3B"/>
                                </a:solidFill>
                                <a:latin typeface="Cambria Math" panose="02040503050406030204" pitchFamily="18" charset="0"/>
                              </a:rPr>
                            </m:ctrlPr>
                          </m:dPr>
                          <m:e>
                            <m:r>
                              <a:rPr lang="es-ES_tradnl" sz="1300" i="1" noProof="0" smtClean="0">
                                <a:solidFill>
                                  <a:srgbClr val="3C3C3B"/>
                                </a:solidFill>
                                <a:latin typeface="Cambria Math" panose="02040503050406030204" pitchFamily="18" charset="0"/>
                              </a:rPr>
                              <m:t>1−</m:t>
                            </m:r>
                            <m:r>
                              <a:rPr lang="es-ES_tradnl" sz="1300" i="1" noProof="0" smtClean="0">
                                <a:solidFill>
                                  <a:srgbClr val="3C3C3B"/>
                                </a:solidFill>
                                <a:latin typeface="Cambria Math" panose="02040503050406030204" pitchFamily="18" charset="0"/>
                              </a:rPr>
                              <m:t>𝑝</m:t>
                            </m:r>
                          </m:e>
                        </m:d>
                        <m:sSub>
                          <m:sSubPr>
                            <m:ctrlPr>
                              <a:rPr lang="es-ES_tradnl" sz="1300" i="1" noProof="0" smtClean="0">
                                <a:solidFill>
                                  <a:srgbClr val="3C3C3B"/>
                                </a:solidFill>
                                <a:latin typeface="Cambria Math" panose="02040503050406030204" pitchFamily="18" charset="0"/>
                              </a:rPr>
                            </m:ctrlPr>
                          </m:sSubPr>
                          <m:e>
                            <m:r>
                              <a:rPr lang="es-ES_tradnl" sz="1300" i="1" noProof="0" smtClean="0">
                                <a:solidFill>
                                  <a:srgbClr val="3C3C3B"/>
                                </a:solidFill>
                                <a:latin typeface="Cambria Math" panose="02040503050406030204" pitchFamily="18" charset="0"/>
                              </a:rPr>
                              <m:t>𝜌</m:t>
                            </m:r>
                          </m:e>
                          <m:sub>
                            <m:r>
                              <a:rPr lang="es-ES_tradnl" sz="1300" i="1" noProof="0" smtClean="0">
                                <a:solidFill>
                                  <a:srgbClr val="3C3C3B"/>
                                </a:solidFill>
                                <a:latin typeface="Cambria Math" panose="02040503050406030204" pitchFamily="18" charset="0"/>
                              </a:rPr>
                              <m:t>𝑖</m:t>
                            </m:r>
                          </m:sub>
                        </m:sSub>
                        <m:r>
                          <a:rPr lang="es-ES_tradnl" sz="1300" i="1" noProof="0" smtClean="0">
                            <a:solidFill>
                              <a:srgbClr val="3C3C3B"/>
                            </a:solidFill>
                            <a:latin typeface="Cambria Math" panose="02040503050406030204" pitchFamily="18" charset="0"/>
                          </a:rPr>
                          <m:t>+</m:t>
                        </m:r>
                        <m:r>
                          <a:rPr lang="es-ES_tradnl" sz="1300" i="1" noProof="0" smtClean="0">
                            <a:solidFill>
                              <a:srgbClr val="3C3C3B"/>
                            </a:solidFill>
                            <a:latin typeface="Cambria Math" panose="02040503050406030204" pitchFamily="18" charset="0"/>
                          </a:rPr>
                          <m:t>𝑝</m:t>
                        </m:r>
                        <m:f>
                          <m:fPr>
                            <m:ctrlPr>
                              <a:rPr lang="es-ES_tradnl" sz="1300" i="1" noProof="0" smtClean="0">
                                <a:solidFill>
                                  <a:srgbClr val="3C3C3B"/>
                                </a:solidFill>
                                <a:latin typeface="Cambria Math" panose="02040503050406030204" pitchFamily="18" charset="0"/>
                              </a:rPr>
                            </m:ctrlPr>
                          </m:fPr>
                          <m:num>
                            <m:r>
                              <a:rPr lang="es-ES_tradnl" sz="1300" i="1" noProof="0" smtClean="0">
                                <a:solidFill>
                                  <a:srgbClr val="3C3C3B"/>
                                </a:solidFill>
                                <a:latin typeface="Cambria Math" panose="02040503050406030204" pitchFamily="18" charset="0"/>
                              </a:rPr>
                              <m:t>𝐼</m:t>
                            </m:r>
                          </m:num>
                          <m:den>
                            <m:r>
                              <a:rPr lang="es-ES_tradnl" sz="1300" i="1" noProof="0" smtClean="0">
                                <a:solidFill>
                                  <a:srgbClr val="3C3C3B"/>
                                </a:solidFill>
                                <a:latin typeface="Cambria Math" panose="02040503050406030204" pitchFamily="18" charset="0"/>
                              </a:rPr>
                              <m:t>2</m:t>
                            </m:r>
                          </m:den>
                        </m:f>
                      </m:oMath>
                    </m:oMathPara>
                  </a14:m>
                  <a:endParaRPr lang="es-ES_tradnl" sz="1300" noProof="0" dirty="0"/>
                </a:p>
              </p:txBody>
            </p:sp>
          </mc:Choice>
          <mc:Fallback>
            <p:sp>
              <p:nvSpPr>
                <p:cNvPr id="431" name="Formula">
                  <a:extLst>
                    <a:ext uri="{FF2B5EF4-FFF2-40B4-BE49-F238E27FC236}">
                      <a16:creationId xmlns:a16="http://schemas.microsoft.com/office/drawing/2014/main" id="{48AF5B3A-58A0-F48D-8E2D-DA493CC507DA}"/>
                    </a:ext>
                  </a:extLst>
                </p:cNvPr>
                <p:cNvSpPr txBox="1">
                  <a:spLocks noRot="1" noChangeAspect="1" noMove="1" noResize="1" noEditPoints="1" noAdjustHandles="1" noChangeArrowheads="1" noChangeShapeType="1" noTextEdit="1"/>
                </p:cNvSpPr>
                <p:nvPr/>
              </p:nvSpPr>
              <p:spPr>
                <a:xfrm>
                  <a:off x="6959600" y="2235200"/>
                  <a:ext cx="3606800" cy="609600"/>
                </a:xfrm>
                <a:prstGeom prst="rect">
                  <a:avLst/>
                </a:prstGeom>
                <a:blipFill>
                  <a:blip r:embed="rId4"/>
                  <a:stretch>
                    <a:fillRect t="-2222"/>
                  </a:stretch>
                </a:blipFill>
                <a:ln/>
              </p:spPr>
              <p:txBody>
                <a:bodyPr/>
                <a:lstStyle/>
                <a:p>
                  <a:r>
                    <a:rPr lang="en-CO">
                      <a:noFill/>
                    </a:rPr>
                    <a:t> </a:t>
                  </a:r>
                </a:p>
              </p:txBody>
            </p:sp>
          </mc:Fallback>
        </mc:AlternateContent>
        <mc:AlternateContent xmlns:mc="http://schemas.openxmlformats.org/markup-compatibility/2006">
          <mc:Choice xmlns:a14="http://schemas.microsoft.com/office/drawing/2010/main" Requires="a14">
            <p:sp>
              <p:nvSpPr>
                <p:cNvPr id="432" name="Formula">
                  <a:extLst>
                    <a:ext uri="{FF2B5EF4-FFF2-40B4-BE49-F238E27FC236}">
                      <a16:creationId xmlns:a16="http://schemas.microsoft.com/office/drawing/2014/main" id="{8243876F-73CB-09A8-A198-461AF18066FE}"/>
                    </a:ext>
                  </a:extLst>
                </p:cNvPr>
                <p:cNvSpPr txBox="1"/>
                <p:nvPr/>
              </p:nvSpPr>
              <p:spPr>
                <a:xfrm>
                  <a:off x="2324100" y="4038600"/>
                  <a:ext cx="2971800" cy="381000"/>
                </a:xfrm>
                <a:prstGeom prst="rect">
                  <a:avLst/>
                </a:prstGeom>
                <a:noFill/>
                <a:ln/>
              </p:spPr>
              <p:txBody>
                <a:bodyPr wrap="square" lIns="0" tIns="0" rIns="0" bIns="0" rtlCol="0" anchor="t"/>
                <a:lstStyle/>
                <a:p>
                  <a:pPr algn="ctr"/>
                  <a14:m>
                    <m:oMathPara xmlns:m="http://schemas.openxmlformats.org/officeDocument/2006/math">
                      <m:oMathParaPr>
                        <m:jc m:val="centerGroup"/>
                      </m:oMathParaPr>
                      <m:oMath xmlns:m="http://schemas.openxmlformats.org/officeDocument/2006/math">
                        <m:sSub>
                          <m:sSubPr>
                            <m:ctrlPr>
                              <a:rPr lang="es-ES_tradnl" sz="1300" i="1" noProof="0" smtClean="0">
                                <a:solidFill>
                                  <a:srgbClr val="3C3C3B"/>
                                </a:solidFill>
                                <a:latin typeface="Cambria Math" panose="02040503050406030204" pitchFamily="18" charset="0"/>
                              </a:rPr>
                            </m:ctrlPr>
                          </m:sSubPr>
                          <m:e>
                            <m:r>
                              <a:rPr lang="es-ES_tradnl" sz="1300" i="1" noProof="0" smtClean="0">
                                <a:solidFill>
                                  <a:srgbClr val="3C3C3B"/>
                                </a:solidFill>
                                <a:latin typeface="Cambria Math" panose="02040503050406030204" pitchFamily="18" charset="0"/>
                              </a:rPr>
                              <m:t>𝑑</m:t>
                            </m:r>
                          </m:e>
                          <m:sub>
                            <m:r>
                              <a:rPr lang="es-ES_tradnl" sz="1300" i="1" noProof="0" smtClean="0">
                                <a:solidFill>
                                  <a:srgbClr val="3C3C3B"/>
                                </a:solidFill>
                                <a:latin typeface="Cambria Math" panose="02040503050406030204" pitchFamily="18" charset="0"/>
                              </a:rPr>
                              <m:t>𝑖𝑗</m:t>
                            </m:r>
                          </m:sub>
                        </m:sSub>
                        <m:r>
                          <a:rPr lang="es-ES_tradnl" sz="1300" i="1" noProof="0" smtClean="0">
                            <a:solidFill>
                              <a:srgbClr val="3C3C3B"/>
                            </a:solidFill>
                            <a:latin typeface="Cambria Math" panose="02040503050406030204" pitchFamily="18" charset="0"/>
                          </a:rPr>
                          <m:t>=</m:t>
                        </m:r>
                        <m:r>
                          <a:rPr lang="es-ES_tradnl" sz="1300" i="1" noProof="0" smtClean="0">
                            <a:solidFill>
                              <a:srgbClr val="3C3C3B"/>
                            </a:solidFill>
                            <a:latin typeface="Cambria Math" panose="02040503050406030204" pitchFamily="18" charset="0"/>
                          </a:rPr>
                          <m:t>𝜏</m:t>
                        </m:r>
                        <m:d>
                          <m:dPr>
                            <m:ctrlPr>
                              <a:rPr lang="es-ES_tradnl" sz="1300" i="1" noProof="0" smtClean="0">
                                <a:solidFill>
                                  <a:srgbClr val="3C3C3B"/>
                                </a:solidFill>
                                <a:latin typeface="Cambria Math" panose="02040503050406030204" pitchFamily="18" charset="0"/>
                              </a:rPr>
                            </m:ctrlPr>
                          </m:dPr>
                          <m:e>
                            <m:sSub>
                              <m:sSubPr>
                                <m:ctrlPr>
                                  <a:rPr lang="es-ES_tradnl" sz="1300" i="1" noProof="0" smtClean="0">
                                    <a:solidFill>
                                      <a:srgbClr val="3C3C3B"/>
                                    </a:solidFill>
                                    <a:latin typeface="Cambria Math" panose="02040503050406030204" pitchFamily="18" charset="0"/>
                                  </a:rPr>
                                </m:ctrlPr>
                              </m:sSubPr>
                              <m:e>
                                <m:r>
                                  <a:rPr lang="es-ES_tradnl" sz="1300" i="1" noProof="0" smtClean="0">
                                    <a:solidFill>
                                      <a:srgbClr val="3C3C3B"/>
                                    </a:solidFill>
                                    <a:latin typeface="Cambria Math" panose="02040503050406030204" pitchFamily="18" charset="0"/>
                                  </a:rPr>
                                  <m:t>𝜌</m:t>
                                </m:r>
                              </m:e>
                              <m:sub>
                                <m:r>
                                  <a:rPr lang="es-ES_tradnl" sz="1300" i="1" noProof="0" smtClean="0">
                                    <a:solidFill>
                                      <a:srgbClr val="3C3C3B"/>
                                    </a:solidFill>
                                    <a:latin typeface="Cambria Math" panose="02040503050406030204" pitchFamily="18" charset="0"/>
                                  </a:rPr>
                                  <m:t>𝑖</m:t>
                                </m:r>
                              </m:sub>
                            </m:sSub>
                            <m:r>
                              <a:rPr lang="es-ES_tradnl" sz="1300" i="1" noProof="0" smtClean="0">
                                <a:solidFill>
                                  <a:srgbClr val="3C3C3B"/>
                                </a:solidFill>
                                <a:latin typeface="Cambria Math" panose="02040503050406030204" pitchFamily="18" charset="0"/>
                              </a:rPr>
                              <m:t>,</m:t>
                            </m:r>
                            <m:sSub>
                              <m:sSubPr>
                                <m:ctrlPr>
                                  <a:rPr lang="es-ES_tradnl" sz="1300" i="1" noProof="0" smtClean="0">
                                    <a:solidFill>
                                      <a:srgbClr val="3C3C3B"/>
                                    </a:solidFill>
                                    <a:latin typeface="Cambria Math" panose="02040503050406030204" pitchFamily="18" charset="0"/>
                                  </a:rPr>
                                </m:ctrlPr>
                              </m:sSubPr>
                              <m:e>
                                <m:r>
                                  <a:rPr lang="es-ES_tradnl" sz="1300" i="1" noProof="0" smtClean="0">
                                    <a:solidFill>
                                      <a:srgbClr val="3C3C3B"/>
                                    </a:solidFill>
                                    <a:latin typeface="Cambria Math" panose="02040503050406030204" pitchFamily="18" charset="0"/>
                                  </a:rPr>
                                  <m:t>𝜌</m:t>
                                </m:r>
                              </m:e>
                              <m:sub>
                                <m:r>
                                  <a:rPr lang="es-ES_tradnl" sz="1300" i="1" noProof="0" smtClean="0">
                                    <a:solidFill>
                                      <a:srgbClr val="3C3C3B"/>
                                    </a:solidFill>
                                    <a:latin typeface="Cambria Math" panose="02040503050406030204" pitchFamily="18" charset="0"/>
                                  </a:rPr>
                                  <m:t>𝑗</m:t>
                                </m:r>
                              </m:sub>
                            </m:sSub>
                          </m:e>
                        </m:d>
                      </m:oMath>
                    </m:oMathPara>
                  </a14:m>
                  <a:endParaRPr lang="es-ES_tradnl" sz="1300" noProof="0" dirty="0"/>
                </a:p>
              </p:txBody>
            </p:sp>
          </mc:Choice>
          <mc:Fallback>
            <p:sp>
              <p:nvSpPr>
                <p:cNvPr id="432" name="Formula">
                  <a:extLst>
                    <a:ext uri="{FF2B5EF4-FFF2-40B4-BE49-F238E27FC236}">
                      <a16:creationId xmlns:a16="http://schemas.microsoft.com/office/drawing/2014/main" id="{8243876F-73CB-09A8-A198-461AF18066FE}"/>
                    </a:ext>
                  </a:extLst>
                </p:cNvPr>
                <p:cNvSpPr txBox="1">
                  <a:spLocks noRot="1" noChangeAspect="1" noMove="1" noResize="1" noEditPoints="1" noAdjustHandles="1" noChangeArrowheads="1" noChangeShapeType="1" noTextEdit="1"/>
                </p:cNvSpPr>
                <p:nvPr/>
              </p:nvSpPr>
              <p:spPr>
                <a:xfrm>
                  <a:off x="2324100" y="4038600"/>
                  <a:ext cx="2971800" cy="381000"/>
                </a:xfrm>
                <a:prstGeom prst="rect">
                  <a:avLst/>
                </a:prstGeom>
                <a:blipFill>
                  <a:blip r:embed="rId5"/>
                  <a:stretch>
                    <a:fillRect/>
                  </a:stretch>
                </a:blipFill>
                <a:ln/>
              </p:spPr>
              <p:txBody>
                <a:bodyPr/>
                <a:lstStyle/>
                <a:p>
                  <a:r>
                    <a:rPr lang="en-CO">
                      <a:noFill/>
                    </a:rPr>
                    <a:t> </a:t>
                  </a:r>
                </a:p>
              </p:txBody>
            </p:sp>
          </mc:Fallback>
        </mc:AlternateContent>
        <mc:AlternateContent xmlns:mc="http://schemas.openxmlformats.org/markup-compatibility/2006">
          <mc:Choice xmlns:a14="http://schemas.microsoft.com/office/drawing/2010/main" Requires="a14">
            <p:sp>
              <p:nvSpPr>
                <p:cNvPr id="433" name="Formula">
                  <a:extLst>
                    <a:ext uri="{FF2B5EF4-FFF2-40B4-BE49-F238E27FC236}">
                      <a16:creationId xmlns:a16="http://schemas.microsoft.com/office/drawing/2014/main" id="{B432AB22-9069-5F8C-5B98-966235BEA9AA}"/>
                    </a:ext>
                  </a:extLst>
                </p:cNvPr>
                <p:cNvSpPr txBox="1"/>
                <p:nvPr/>
              </p:nvSpPr>
              <p:spPr>
                <a:xfrm>
                  <a:off x="6451600" y="4038600"/>
                  <a:ext cx="4622800" cy="381000"/>
                </a:xfrm>
                <a:prstGeom prst="rect">
                  <a:avLst/>
                </a:prstGeom>
                <a:noFill/>
                <a:ln/>
              </p:spPr>
              <p:txBody>
                <a:bodyPr wrap="square" lIns="0" tIns="0" rIns="0" bIns="0" rtlCol="0" anchor="t"/>
                <a:lstStyle/>
                <a:p>
                  <a:pPr algn="ctr"/>
                  <a14:m>
                    <m:oMathPara xmlns:m="http://schemas.openxmlformats.org/officeDocument/2006/math">
                      <m:oMathParaPr>
                        <m:jc m:val="centerGroup"/>
                      </m:oMathParaPr>
                      <m:oMath xmlns:m="http://schemas.openxmlformats.org/officeDocument/2006/math">
                        <m:sSubSup>
                          <m:sSubSupPr>
                            <m:ctrlPr>
                              <a:rPr lang="es-ES_tradnl" sz="1300" i="1" noProof="0" smtClean="0">
                                <a:solidFill>
                                  <a:srgbClr val="3C3C3B"/>
                                </a:solidFill>
                                <a:latin typeface="Cambria Math" panose="02040503050406030204" pitchFamily="18" charset="0"/>
                              </a:rPr>
                            </m:ctrlPr>
                          </m:sSubSupPr>
                          <m:e>
                            <m:r>
                              <a:rPr lang="es-ES_tradnl" sz="1300" i="1" noProof="0" smtClean="0">
                                <a:solidFill>
                                  <a:srgbClr val="3C3C3B"/>
                                </a:solidFill>
                                <a:latin typeface="Cambria Math" panose="02040503050406030204" pitchFamily="18" charset="0"/>
                              </a:rPr>
                              <m:t>𝜀</m:t>
                            </m:r>
                          </m:e>
                          <m:sub>
                            <m:r>
                              <m:rPr>
                                <m:sty m:val="p"/>
                              </m:rPr>
                              <a:rPr lang="es-ES_tradnl" sz="1300" i="0" noProof="0" smtClean="0">
                                <a:solidFill>
                                  <a:srgbClr val="3C3C3B"/>
                                </a:solidFill>
                                <a:latin typeface="Cambria Math" panose="02040503050406030204" pitchFamily="18" charset="0"/>
                              </a:rPr>
                              <m:t>exp</m:t>
                            </m:r>
                          </m:sub>
                          <m:sup>
                            <m:r>
                              <a:rPr lang="es-ES_tradnl" sz="1300" i="1" noProof="0" smtClean="0">
                                <a:solidFill>
                                  <a:srgbClr val="3C3C3B"/>
                                </a:solidFill>
                                <a:latin typeface="Cambria Math" panose="02040503050406030204" pitchFamily="18" charset="0"/>
                              </a:rPr>
                              <m:t>𝑖𝑗</m:t>
                            </m:r>
                          </m:sup>
                        </m:sSubSup>
                        <m:r>
                          <a:rPr lang="es-ES_tradnl" sz="1300" i="1" noProof="0" smtClean="0">
                            <a:solidFill>
                              <a:srgbClr val="3C3C3B"/>
                            </a:solidFill>
                            <a:latin typeface="Cambria Math" panose="02040503050406030204" pitchFamily="18" charset="0"/>
                          </a:rPr>
                          <m:t>=</m:t>
                        </m:r>
                        <m:r>
                          <m:rPr>
                            <m:sty m:val="p"/>
                          </m:rPr>
                          <a:rPr lang="es-ES_tradnl" sz="1300" i="0" noProof="0" smtClean="0">
                            <a:solidFill>
                              <a:srgbClr val="3C3C3B"/>
                            </a:solidFill>
                            <a:latin typeface="Cambria Math" panose="02040503050406030204" pitchFamily="18" charset="0"/>
                          </a:rPr>
                          <m:t>max</m:t>
                        </m:r>
                        <m:d>
                          <m:dPr>
                            <m:ctrlPr>
                              <a:rPr lang="es-ES_tradnl" sz="1300" i="1" noProof="0" smtClean="0">
                                <a:solidFill>
                                  <a:srgbClr val="3C3C3B"/>
                                </a:solidFill>
                                <a:latin typeface="Cambria Math" panose="02040503050406030204" pitchFamily="18" charset="0"/>
                              </a:rPr>
                            </m:ctrlPr>
                          </m:dPr>
                          <m:e>
                            <m:r>
                              <m:rPr>
                                <m:sty m:val="p"/>
                              </m:rPr>
                              <a:rPr lang="es-ES_tradnl" sz="1300" i="0" noProof="0" smtClean="0">
                                <a:solidFill>
                                  <a:srgbClr val="3C3C3B"/>
                                </a:solidFill>
                                <a:latin typeface="Cambria Math" panose="02040503050406030204" pitchFamily="18" charset="0"/>
                              </a:rPr>
                              <m:t>dPD</m:t>
                            </m:r>
                            <m:d>
                              <m:dPr>
                                <m:ctrlPr>
                                  <a:rPr lang="es-ES_tradnl" sz="1300" i="1" noProof="0" smtClean="0">
                                    <a:solidFill>
                                      <a:srgbClr val="3C3C3B"/>
                                    </a:solidFill>
                                    <a:latin typeface="Cambria Math" panose="02040503050406030204" pitchFamily="18" charset="0"/>
                                  </a:rPr>
                                </m:ctrlPr>
                              </m:dPr>
                              <m:e>
                                <m:sSub>
                                  <m:sSubPr>
                                    <m:ctrlPr>
                                      <a:rPr lang="es-ES_tradnl" sz="1300" i="1" noProof="0" smtClean="0">
                                        <a:solidFill>
                                          <a:srgbClr val="3C3C3B"/>
                                        </a:solidFill>
                                        <a:latin typeface="Cambria Math" panose="02040503050406030204" pitchFamily="18" charset="0"/>
                                      </a:rPr>
                                    </m:ctrlPr>
                                  </m:sSubPr>
                                  <m:e>
                                    <m:r>
                                      <a:rPr lang="es-ES_tradnl" sz="1300" i="1" noProof="0" smtClean="0">
                                        <a:solidFill>
                                          <a:srgbClr val="3C3C3B"/>
                                        </a:solidFill>
                                        <a:latin typeface="Cambria Math" panose="02040503050406030204" pitchFamily="18" charset="0"/>
                                      </a:rPr>
                                      <m:t>𝜌</m:t>
                                    </m:r>
                                    <m:r>
                                      <a:rPr lang="es-ES_tradnl" sz="1300" i="1" noProof="0" smtClean="0">
                                        <a:solidFill>
                                          <a:srgbClr val="3C3C3B"/>
                                        </a:solidFill>
                                        <a:latin typeface="Cambria Math" panose="02040503050406030204" pitchFamily="18" charset="0"/>
                                      </a:rPr>
                                      <m:t>′</m:t>
                                    </m:r>
                                  </m:e>
                                  <m:sub>
                                    <m:r>
                                      <a:rPr lang="es-ES_tradnl" sz="1300" i="1" noProof="0" smtClean="0">
                                        <a:solidFill>
                                          <a:srgbClr val="3C3C3B"/>
                                        </a:solidFill>
                                        <a:latin typeface="Cambria Math" panose="02040503050406030204" pitchFamily="18" charset="0"/>
                                      </a:rPr>
                                      <m:t>𝑖</m:t>
                                    </m:r>
                                  </m:sub>
                                </m:sSub>
                                <m:r>
                                  <a:rPr lang="es-ES_tradnl" sz="1300" i="1" noProof="0" smtClean="0">
                                    <a:solidFill>
                                      <a:srgbClr val="3C3C3B"/>
                                    </a:solidFill>
                                    <a:latin typeface="Cambria Math" panose="02040503050406030204" pitchFamily="18" charset="0"/>
                                  </a:rPr>
                                  <m:t>,</m:t>
                                </m:r>
                                <m:sSub>
                                  <m:sSubPr>
                                    <m:ctrlPr>
                                      <a:rPr lang="es-ES_tradnl" sz="1300" i="1" noProof="0" smtClean="0">
                                        <a:solidFill>
                                          <a:srgbClr val="3C3C3B"/>
                                        </a:solidFill>
                                        <a:latin typeface="Cambria Math" panose="02040503050406030204" pitchFamily="18" charset="0"/>
                                      </a:rPr>
                                    </m:ctrlPr>
                                  </m:sSubPr>
                                  <m:e>
                                    <m:r>
                                      <a:rPr lang="es-ES_tradnl" sz="1300" i="1" noProof="0" smtClean="0">
                                        <a:solidFill>
                                          <a:srgbClr val="3C3C3B"/>
                                        </a:solidFill>
                                        <a:latin typeface="Cambria Math" panose="02040503050406030204" pitchFamily="18" charset="0"/>
                                      </a:rPr>
                                      <m:t>𝜌</m:t>
                                    </m:r>
                                    <m:r>
                                      <a:rPr lang="es-ES_tradnl" sz="1300" i="1" noProof="0" smtClean="0">
                                        <a:solidFill>
                                          <a:srgbClr val="3C3C3B"/>
                                        </a:solidFill>
                                        <a:latin typeface="Cambria Math" panose="02040503050406030204" pitchFamily="18" charset="0"/>
                                      </a:rPr>
                                      <m:t>′</m:t>
                                    </m:r>
                                  </m:e>
                                  <m:sub>
                                    <m:r>
                                      <a:rPr lang="es-ES_tradnl" sz="1300" i="1" noProof="0" smtClean="0">
                                        <a:solidFill>
                                          <a:srgbClr val="3C3C3B"/>
                                        </a:solidFill>
                                        <a:latin typeface="Cambria Math" panose="02040503050406030204" pitchFamily="18" charset="0"/>
                                      </a:rPr>
                                      <m:t>𝑗</m:t>
                                    </m:r>
                                  </m:sub>
                                </m:sSub>
                              </m:e>
                            </m:d>
                            <m:r>
                              <a:rPr lang="es-ES_tradnl" sz="1300" i="1" noProof="0" smtClean="0">
                                <a:solidFill>
                                  <a:srgbClr val="3C3C3B"/>
                                </a:solidFill>
                                <a:latin typeface="Cambria Math" panose="02040503050406030204" pitchFamily="18" charset="0"/>
                              </a:rPr>
                              <m:t>,</m:t>
                            </m:r>
                            <m:r>
                              <a:rPr lang="es-ES_tradnl" sz="1300" i="0" noProof="0" smtClean="0">
                                <a:solidFill>
                                  <a:srgbClr val="3C3C3B"/>
                                </a:solidFill>
                                <a:latin typeface="Cambria Math" panose="02040503050406030204" pitchFamily="18" charset="0"/>
                              </a:rPr>
                              <m:t> </m:t>
                            </m:r>
                            <m:r>
                              <m:rPr>
                                <m:sty m:val="p"/>
                              </m:rPr>
                              <a:rPr lang="es-ES_tradnl" sz="1300" i="0" noProof="0" smtClean="0">
                                <a:solidFill>
                                  <a:srgbClr val="3C3C3B"/>
                                </a:solidFill>
                                <a:latin typeface="Cambria Math" panose="02040503050406030204" pitchFamily="18" charset="0"/>
                              </a:rPr>
                              <m:t>dPD</m:t>
                            </m:r>
                            <m:d>
                              <m:dPr>
                                <m:ctrlPr>
                                  <a:rPr lang="es-ES_tradnl" sz="1300" i="1" noProof="0" smtClean="0">
                                    <a:solidFill>
                                      <a:srgbClr val="3C3C3B"/>
                                    </a:solidFill>
                                    <a:latin typeface="Cambria Math" panose="02040503050406030204" pitchFamily="18" charset="0"/>
                                  </a:rPr>
                                </m:ctrlPr>
                              </m:dPr>
                              <m:e>
                                <m:sSub>
                                  <m:sSubPr>
                                    <m:ctrlPr>
                                      <a:rPr lang="es-ES_tradnl" sz="1300" i="1" noProof="0" smtClean="0">
                                        <a:solidFill>
                                          <a:srgbClr val="3C3C3B"/>
                                        </a:solidFill>
                                        <a:latin typeface="Cambria Math" panose="02040503050406030204" pitchFamily="18" charset="0"/>
                                      </a:rPr>
                                    </m:ctrlPr>
                                  </m:sSubPr>
                                  <m:e>
                                    <m:r>
                                      <a:rPr lang="es-ES_tradnl" sz="1300" i="1" noProof="0" smtClean="0">
                                        <a:solidFill>
                                          <a:srgbClr val="3C3C3B"/>
                                        </a:solidFill>
                                        <a:latin typeface="Cambria Math" panose="02040503050406030204" pitchFamily="18" charset="0"/>
                                      </a:rPr>
                                      <m:t>𝜌</m:t>
                                    </m:r>
                                    <m:r>
                                      <a:rPr lang="es-ES_tradnl" sz="1300" i="1" noProof="0" smtClean="0">
                                        <a:solidFill>
                                          <a:srgbClr val="3C3C3B"/>
                                        </a:solidFill>
                                        <a:latin typeface="Cambria Math" panose="02040503050406030204" pitchFamily="18" charset="0"/>
                                      </a:rPr>
                                      <m:t>′</m:t>
                                    </m:r>
                                  </m:e>
                                  <m:sub>
                                    <m:r>
                                      <a:rPr lang="es-ES_tradnl" sz="1300" i="1" noProof="0" smtClean="0">
                                        <a:solidFill>
                                          <a:srgbClr val="3C3C3B"/>
                                        </a:solidFill>
                                        <a:latin typeface="Cambria Math" panose="02040503050406030204" pitchFamily="18" charset="0"/>
                                      </a:rPr>
                                      <m:t>𝑗</m:t>
                                    </m:r>
                                  </m:sub>
                                </m:sSub>
                                <m:r>
                                  <a:rPr lang="es-ES_tradnl" sz="1300" i="1" noProof="0" smtClean="0">
                                    <a:solidFill>
                                      <a:srgbClr val="3C3C3B"/>
                                    </a:solidFill>
                                    <a:latin typeface="Cambria Math" panose="02040503050406030204" pitchFamily="18" charset="0"/>
                                  </a:rPr>
                                  <m:t>,</m:t>
                                </m:r>
                                <m:sSub>
                                  <m:sSubPr>
                                    <m:ctrlPr>
                                      <a:rPr lang="es-ES_tradnl" sz="1300" i="1" noProof="0" smtClean="0">
                                        <a:solidFill>
                                          <a:srgbClr val="3C3C3B"/>
                                        </a:solidFill>
                                        <a:latin typeface="Cambria Math" panose="02040503050406030204" pitchFamily="18" charset="0"/>
                                      </a:rPr>
                                    </m:ctrlPr>
                                  </m:sSubPr>
                                  <m:e>
                                    <m:r>
                                      <a:rPr lang="es-ES_tradnl" sz="1300" i="1" noProof="0" smtClean="0">
                                        <a:solidFill>
                                          <a:srgbClr val="3C3C3B"/>
                                        </a:solidFill>
                                        <a:latin typeface="Cambria Math" panose="02040503050406030204" pitchFamily="18" charset="0"/>
                                      </a:rPr>
                                      <m:t>𝜌</m:t>
                                    </m:r>
                                    <m:r>
                                      <a:rPr lang="es-ES_tradnl" sz="1300" i="1" noProof="0" smtClean="0">
                                        <a:solidFill>
                                          <a:srgbClr val="3C3C3B"/>
                                        </a:solidFill>
                                        <a:latin typeface="Cambria Math" panose="02040503050406030204" pitchFamily="18" charset="0"/>
                                      </a:rPr>
                                      <m:t>′</m:t>
                                    </m:r>
                                  </m:e>
                                  <m:sub>
                                    <m:r>
                                      <a:rPr lang="es-ES_tradnl" sz="1300" i="1" noProof="0" smtClean="0">
                                        <a:solidFill>
                                          <a:srgbClr val="3C3C3B"/>
                                        </a:solidFill>
                                        <a:latin typeface="Cambria Math" panose="02040503050406030204" pitchFamily="18" charset="0"/>
                                      </a:rPr>
                                      <m:t>𝑖</m:t>
                                    </m:r>
                                  </m:sub>
                                </m:sSub>
                              </m:e>
                            </m:d>
                          </m:e>
                        </m:d>
                      </m:oMath>
                    </m:oMathPara>
                  </a14:m>
                  <a:endParaRPr lang="es-ES_tradnl" sz="1300" noProof="0" dirty="0"/>
                </a:p>
              </p:txBody>
            </p:sp>
          </mc:Choice>
          <mc:Fallback>
            <p:sp>
              <p:nvSpPr>
                <p:cNvPr id="433" name="Formula">
                  <a:extLst>
                    <a:ext uri="{FF2B5EF4-FFF2-40B4-BE49-F238E27FC236}">
                      <a16:creationId xmlns:a16="http://schemas.microsoft.com/office/drawing/2014/main" id="{B432AB22-9069-5F8C-5B98-966235BEA9AA}"/>
                    </a:ext>
                  </a:extLst>
                </p:cNvPr>
                <p:cNvSpPr txBox="1">
                  <a:spLocks noRot="1" noChangeAspect="1" noMove="1" noResize="1" noEditPoints="1" noAdjustHandles="1" noChangeArrowheads="1" noChangeShapeType="1" noTextEdit="1"/>
                </p:cNvSpPr>
                <p:nvPr/>
              </p:nvSpPr>
              <p:spPr>
                <a:xfrm>
                  <a:off x="6451600" y="4038600"/>
                  <a:ext cx="4622800" cy="381000"/>
                </a:xfrm>
                <a:prstGeom prst="rect">
                  <a:avLst/>
                </a:prstGeom>
                <a:blipFill>
                  <a:blip r:embed="rId6"/>
                  <a:stretch>
                    <a:fillRect/>
                  </a:stretch>
                </a:blipFill>
                <a:ln/>
              </p:spPr>
              <p:txBody>
                <a:bodyPr/>
                <a:lstStyle/>
                <a:p>
                  <a:r>
                    <a:rPr lang="en-CO">
                      <a:noFill/>
                    </a:rPr>
                    <a:t> </a:t>
                  </a:r>
                </a:p>
              </p:txBody>
            </p:sp>
          </mc:Fallback>
        </mc:AlternateContent>
        <mc:AlternateContent xmlns:mc="http://schemas.openxmlformats.org/markup-compatibility/2006">
          <mc:Choice xmlns:a14="http://schemas.microsoft.com/office/drawing/2010/main" Requires="a14">
            <p:sp>
              <p:nvSpPr>
                <p:cNvPr id="434" name="Formula">
                  <a:extLst>
                    <a:ext uri="{FF2B5EF4-FFF2-40B4-BE49-F238E27FC236}">
                      <a16:creationId xmlns:a16="http://schemas.microsoft.com/office/drawing/2014/main" id="{2C08228E-98DF-EFF6-9A3A-2C0FAC8D52DF}"/>
                    </a:ext>
                  </a:extLst>
                </p:cNvPr>
                <p:cNvSpPr txBox="1"/>
                <p:nvPr/>
              </p:nvSpPr>
              <p:spPr>
                <a:xfrm>
                  <a:off x="1752600" y="5283200"/>
                  <a:ext cx="4114800" cy="787400"/>
                </a:xfrm>
                <a:prstGeom prst="rect">
                  <a:avLst/>
                </a:prstGeom>
                <a:noFill/>
                <a:ln/>
              </p:spPr>
              <p:txBody>
                <a:bodyPr wrap="square" lIns="0" tIns="0" rIns="0" bIns="0" rtlCol="0" anchor="t"/>
                <a:lstStyle/>
                <a:p>
                  <a:pPr algn="ctr"/>
                  <a14:m>
                    <m:oMathPara xmlns:m="http://schemas.openxmlformats.org/officeDocument/2006/math">
                      <m:oMathParaPr>
                        <m:jc m:val="centerGroup"/>
                      </m:oMathParaPr>
                      <m:oMath xmlns:m="http://schemas.openxmlformats.org/officeDocument/2006/math">
                        <m:sSubSup>
                          <m:sSubSupPr>
                            <m:ctrlPr>
                              <a:rPr lang="es-ES_tradnl" sz="1300" i="1" noProof="0" smtClean="0">
                                <a:solidFill>
                                  <a:srgbClr val="3C3C3B"/>
                                </a:solidFill>
                                <a:latin typeface="Cambria Math" panose="02040503050406030204" pitchFamily="18" charset="0"/>
                              </a:rPr>
                            </m:ctrlPr>
                          </m:sSubSupPr>
                          <m:e>
                            <m:r>
                              <a:rPr lang="es-ES_tradnl" sz="1300" i="1" noProof="0" smtClean="0">
                                <a:solidFill>
                                  <a:srgbClr val="3C3C3B"/>
                                </a:solidFill>
                                <a:latin typeface="Cambria Math" panose="02040503050406030204" pitchFamily="18" charset="0"/>
                              </a:rPr>
                              <m:t>𝜀</m:t>
                            </m:r>
                          </m:e>
                          <m:sub>
                            <m:r>
                              <m:rPr>
                                <m:sty m:val="p"/>
                              </m:rPr>
                              <a:rPr lang="es-ES_tradnl" sz="1300" i="0" noProof="0" smtClean="0">
                                <a:solidFill>
                                  <a:srgbClr val="3C3C3B"/>
                                </a:solidFill>
                                <a:latin typeface="Cambria Math" panose="02040503050406030204" pitchFamily="18" charset="0"/>
                              </a:rPr>
                              <m:t>teo</m:t>
                            </m:r>
                          </m:sub>
                          <m:sup>
                            <m:r>
                              <a:rPr lang="es-ES_tradnl" sz="1300" i="1" noProof="0" smtClean="0">
                                <a:solidFill>
                                  <a:srgbClr val="3C3C3B"/>
                                </a:solidFill>
                                <a:latin typeface="Cambria Math" panose="02040503050406030204" pitchFamily="18" charset="0"/>
                              </a:rPr>
                              <m:t>𝐾</m:t>
                            </m:r>
                          </m:sup>
                        </m:sSubSup>
                        <m:r>
                          <a:rPr lang="es-ES_tradnl" sz="1300" i="1" noProof="0" smtClean="0">
                            <a:solidFill>
                              <a:srgbClr val="3C3C3B"/>
                            </a:solidFill>
                            <a:latin typeface="Cambria Math" panose="02040503050406030204" pitchFamily="18" charset="0"/>
                          </a:rPr>
                          <m:t>=</m:t>
                        </m:r>
                        <m:sSub>
                          <m:sSubPr>
                            <m:ctrlPr>
                              <a:rPr lang="es-ES_tradnl" sz="1300" i="1" noProof="0" smtClean="0">
                                <a:solidFill>
                                  <a:srgbClr val="3C3C3B"/>
                                </a:solidFill>
                                <a:latin typeface="Cambria Math" panose="02040503050406030204" pitchFamily="18" charset="0"/>
                              </a:rPr>
                            </m:ctrlPr>
                          </m:sSubPr>
                          <m:e>
                            <m:r>
                              <a:rPr lang="es-ES_tradnl" sz="1300" i="1" noProof="0" smtClean="0">
                                <a:solidFill>
                                  <a:srgbClr val="3C3C3B"/>
                                </a:solidFill>
                                <a:latin typeface="Cambria Math" panose="02040503050406030204" pitchFamily="18" charset="0"/>
                              </a:rPr>
                              <m:t>𝜀</m:t>
                            </m:r>
                          </m:e>
                          <m:sub>
                            <m:r>
                              <m:rPr>
                                <m:sty m:val="p"/>
                              </m:rPr>
                              <a:rPr lang="es-ES_tradnl" sz="1300" i="0" noProof="0" smtClean="0">
                                <a:solidFill>
                                  <a:srgbClr val="3C3C3B"/>
                                </a:solidFill>
                                <a:latin typeface="Cambria Math" panose="02040503050406030204" pitchFamily="18" charset="0"/>
                              </a:rPr>
                              <m:t>teo</m:t>
                            </m:r>
                          </m:sub>
                        </m:sSub>
                        <m:d>
                          <m:dPr>
                            <m:ctrlPr>
                              <a:rPr lang="es-ES_tradnl" sz="1300" i="1" noProof="0" smtClean="0">
                                <a:solidFill>
                                  <a:srgbClr val="3C3C3B"/>
                                </a:solidFill>
                                <a:latin typeface="Cambria Math" panose="02040503050406030204" pitchFamily="18" charset="0"/>
                              </a:rPr>
                            </m:ctrlPr>
                          </m:dPr>
                          <m:e>
                            <m:sSub>
                              <m:sSubPr>
                                <m:ctrlPr>
                                  <a:rPr lang="es-ES_tradnl" sz="1300" i="1" noProof="0" smtClean="0">
                                    <a:solidFill>
                                      <a:srgbClr val="3C3C3B"/>
                                    </a:solidFill>
                                    <a:latin typeface="Cambria Math" panose="02040503050406030204" pitchFamily="18" charset="0"/>
                                  </a:rPr>
                                </m:ctrlPr>
                              </m:sSubPr>
                              <m:e>
                                <m:r>
                                  <m:rPr>
                                    <m:sty m:val="p"/>
                                  </m:rPr>
                                  <a:rPr lang="es-ES_tradnl" sz="1300" i="0" noProof="0" smtClean="0">
                                    <a:solidFill>
                                      <a:srgbClr val="3C3C3B"/>
                                    </a:solidFill>
                                    <a:latin typeface="Cambria Math" panose="02040503050406030204" pitchFamily="18" charset="0"/>
                                  </a:rPr>
                                  <m:t>max</m:t>
                                </m:r>
                              </m:e>
                              <m:sub>
                                <m:r>
                                  <a:rPr lang="es-ES_tradnl" sz="1300" i="1" noProof="0" smtClean="0">
                                    <a:solidFill>
                                      <a:srgbClr val="3C3C3B"/>
                                    </a:solidFill>
                                    <a:latin typeface="Cambria Math" panose="02040503050406030204" pitchFamily="18" charset="0"/>
                                  </a:rPr>
                                  <m:t>𝑖𝑗</m:t>
                                </m:r>
                              </m:sub>
                            </m:sSub>
                            <m:sSub>
                              <m:sSubPr>
                                <m:ctrlPr>
                                  <a:rPr lang="es-ES_tradnl" sz="1300" i="1" noProof="0" smtClean="0">
                                    <a:solidFill>
                                      <a:srgbClr val="3C3C3B"/>
                                    </a:solidFill>
                                    <a:latin typeface="Cambria Math" panose="02040503050406030204" pitchFamily="18" charset="0"/>
                                  </a:rPr>
                                </m:ctrlPr>
                              </m:sSubPr>
                              <m:e>
                                <m:r>
                                  <a:rPr lang="es-ES_tradnl" sz="1300" b="0" i="1" noProof="0" smtClean="0">
                                    <a:solidFill>
                                      <a:srgbClr val="3C3C3B"/>
                                    </a:solidFill>
                                    <a:latin typeface="Cambria Math" panose="02040503050406030204" pitchFamily="18" charset="0"/>
                                  </a:rPr>
                                  <m:t>(</m:t>
                                </m:r>
                                <m:r>
                                  <a:rPr lang="es-ES_tradnl" sz="1300" i="1" noProof="0" smtClean="0">
                                    <a:solidFill>
                                      <a:srgbClr val="3C3C3B"/>
                                    </a:solidFill>
                                    <a:latin typeface="Cambria Math" panose="02040503050406030204" pitchFamily="18" charset="0"/>
                                  </a:rPr>
                                  <m:t>𝑑</m:t>
                                </m:r>
                              </m:e>
                              <m:sub>
                                <m:r>
                                  <a:rPr lang="es-ES_tradnl" sz="1300" i="1" noProof="0" smtClean="0">
                                    <a:solidFill>
                                      <a:srgbClr val="3C3C3B"/>
                                    </a:solidFill>
                                    <a:latin typeface="Cambria Math" panose="02040503050406030204" pitchFamily="18" charset="0"/>
                                  </a:rPr>
                                  <m:t>𝑖𝑗</m:t>
                                </m:r>
                              </m:sub>
                            </m:sSub>
                            <m:r>
                              <a:rPr lang="es-ES_tradnl" sz="1300" b="0" i="1" noProof="0" smtClean="0">
                                <a:solidFill>
                                  <a:srgbClr val="3C3C3B"/>
                                </a:solidFill>
                                <a:latin typeface="Cambria Math" panose="02040503050406030204" pitchFamily="18" charset="0"/>
                              </a:rPr>
                              <m:t>)</m:t>
                            </m:r>
                            <m:r>
                              <a:rPr lang="es-ES_tradnl" sz="1300" i="1" noProof="0" smtClean="0">
                                <a:solidFill>
                                  <a:srgbClr val="3C3C3B"/>
                                </a:solidFill>
                                <a:latin typeface="Cambria Math" panose="02040503050406030204" pitchFamily="18" charset="0"/>
                              </a:rPr>
                              <m:t>,</m:t>
                            </m:r>
                            <m:r>
                              <a:rPr lang="es-ES_tradnl" sz="1300" i="1" noProof="0" smtClean="0">
                                <a:solidFill>
                                  <a:srgbClr val="3C3C3B"/>
                                </a:solidFill>
                                <a:latin typeface="Cambria Math" panose="02040503050406030204" pitchFamily="18" charset="0"/>
                              </a:rPr>
                              <m:t>𝑝</m:t>
                            </m:r>
                          </m:e>
                        </m:d>
                      </m:oMath>
                    </m:oMathPara>
                  </a14:m>
                  <a:endParaRPr lang="es-ES_tradnl" sz="1300" noProof="0" dirty="0"/>
                </a:p>
                <a:p>
                  <a:pPr algn="ctr"/>
                  <a14:m>
                    <m:oMathPara xmlns:m="http://schemas.openxmlformats.org/officeDocument/2006/math">
                      <m:oMathParaPr>
                        <m:jc m:val="centerGroup"/>
                      </m:oMathParaPr>
                      <m:oMath xmlns:m="http://schemas.openxmlformats.org/officeDocument/2006/math">
                        <m:sSub>
                          <m:sSubPr>
                            <m:ctrlPr>
                              <a:rPr lang="es-ES_tradnl" sz="1300" i="1" noProof="0" smtClean="0">
                                <a:solidFill>
                                  <a:srgbClr val="3C3C3B"/>
                                </a:solidFill>
                                <a:latin typeface="Cambria Math" panose="02040503050406030204" pitchFamily="18" charset="0"/>
                              </a:rPr>
                            </m:ctrlPr>
                          </m:sSubPr>
                          <m:e>
                            <m:r>
                              <a:rPr lang="es-ES_tradnl" sz="1300" i="1" noProof="0" smtClean="0">
                                <a:solidFill>
                                  <a:srgbClr val="3C3C3B"/>
                                </a:solidFill>
                                <a:latin typeface="Cambria Math" panose="02040503050406030204" pitchFamily="18" charset="0"/>
                              </a:rPr>
                              <m:t>𝜀</m:t>
                            </m:r>
                          </m:e>
                          <m:sub>
                            <m:r>
                              <m:rPr>
                                <m:sty m:val="p"/>
                              </m:rPr>
                              <a:rPr lang="es-ES_tradnl" sz="1300" i="0" noProof="0" smtClean="0">
                                <a:solidFill>
                                  <a:srgbClr val="3C3C3B"/>
                                </a:solidFill>
                                <a:latin typeface="Cambria Math" panose="02040503050406030204" pitchFamily="18" charset="0"/>
                              </a:rPr>
                              <m:t>teo</m:t>
                            </m:r>
                          </m:sub>
                        </m:sSub>
                        <m:r>
                          <a:rPr lang="es-ES_tradnl" sz="1300" i="1" noProof="0" smtClean="0">
                            <a:solidFill>
                              <a:srgbClr val="3C3C3B"/>
                            </a:solidFill>
                            <a:latin typeface="Cambria Math" panose="02040503050406030204" pitchFamily="18" charset="0"/>
                          </a:rPr>
                          <m:t>=</m:t>
                        </m:r>
                        <m:r>
                          <m:rPr>
                            <m:sty m:val="p"/>
                          </m:rPr>
                          <a:rPr lang="es-ES_tradnl" sz="1300" i="0" noProof="0" smtClean="0">
                            <a:solidFill>
                              <a:srgbClr val="3C3C3B"/>
                            </a:solidFill>
                            <a:latin typeface="Cambria Math" panose="02040503050406030204" pitchFamily="18" charset="0"/>
                          </a:rPr>
                          <m:t>ln</m:t>
                        </m:r>
                        <m:d>
                          <m:dPr>
                            <m:ctrlPr>
                              <a:rPr lang="es-ES_tradnl" sz="1300" i="1" noProof="0" smtClean="0">
                                <a:solidFill>
                                  <a:srgbClr val="3C3C3B"/>
                                </a:solidFill>
                                <a:latin typeface="Cambria Math" panose="02040503050406030204" pitchFamily="18" charset="0"/>
                              </a:rPr>
                            </m:ctrlPr>
                          </m:dPr>
                          <m:e>
                            <m:r>
                              <a:rPr lang="es-ES_tradnl" sz="1300" i="1" noProof="0" smtClean="0">
                                <a:solidFill>
                                  <a:srgbClr val="3C3C3B"/>
                                </a:solidFill>
                                <a:latin typeface="Cambria Math" panose="02040503050406030204" pitchFamily="18" charset="0"/>
                              </a:rPr>
                              <m:t>1+</m:t>
                            </m:r>
                            <m:f>
                              <m:fPr>
                                <m:ctrlPr>
                                  <a:rPr lang="es-ES_tradnl" sz="1300" i="1" noProof="0" smtClean="0">
                                    <a:solidFill>
                                      <a:srgbClr val="3C3C3B"/>
                                    </a:solidFill>
                                    <a:latin typeface="Cambria Math" panose="02040503050406030204" pitchFamily="18" charset="0"/>
                                  </a:rPr>
                                </m:ctrlPr>
                              </m:fPr>
                              <m:num>
                                <m:r>
                                  <a:rPr lang="es-ES_tradnl" sz="1300" i="1" noProof="0" smtClean="0">
                                    <a:solidFill>
                                      <a:srgbClr val="3C3C3B"/>
                                    </a:solidFill>
                                    <a:latin typeface="Cambria Math" panose="02040503050406030204" pitchFamily="18" charset="0"/>
                                  </a:rPr>
                                  <m:t>1−</m:t>
                                </m:r>
                                <m:r>
                                  <a:rPr lang="es-ES_tradnl" sz="1300" i="1" noProof="0" smtClean="0">
                                    <a:solidFill>
                                      <a:srgbClr val="3C3C3B"/>
                                    </a:solidFill>
                                    <a:latin typeface="Cambria Math" panose="02040503050406030204" pitchFamily="18" charset="0"/>
                                  </a:rPr>
                                  <m:t>𝑝</m:t>
                                </m:r>
                              </m:num>
                              <m:den>
                                <m:r>
                                  <a:rPr lang="es-ES_tradnl" sz="1300" i="1" noProof="0" smtClean="0">
                                    <a:solidFill>
                                      <a:srgbClr val="3C3C3B"/>
                                    </a:solidFill>
                                    <a:latin typeface="Cambria Math" panose="02040503050406030204" pitchFamily="18" charset="0"/>
                                  </a:rPr>
                                  <m:t>𝑝</m:t>
                                </m:r>
                              </m:den>
                            </m:f>
                            <m:r>
                              <a:rPr lang="es-ES_tradnl" sz="1300" i="1" noProof="0" smtClean="0">
                                <a:solidFill>
                                  <a:srgbClr val="3C3C3B"/>
                                </a:solidFill>
                                <a:latin typeface="Cambria Math" panose="02040503050406030204" pitchFamily="18" charset="0"/>
                              </a:rPr>
                              <m:t>⋅</m:t>
                            </m:r>
                            <m:r>
                              <a:rPr lang="es-ES_tradnl" sz="1300" i="1" noProof="0" smtClean="0">
                                <a:solidFill>
                                  <a:srgbClr val="3C3C3B"/>
                                </a:solidFill>
                                <a:latin typeface="Cambria Math" panose="02040503050406030204" pitchFamily="18" charset="0"/>
                              </a:rPr>
                              <m:t>𝐷</m:t>
                            </m:r>
                            <m:r>
                              <a:rPr lang="es-ES_tradnl" sz="1300" i="1" noProof="0" smtClean="0">
                                <a:solidFill>
                                  <a:srgbClr val="3C3C3B"/>
                                </a:solidFill>
                                <a:latin typeface="Cambria Math" panose="02040503050406030204" pitchFamily="18" charset="0"/>
                              </a:rPr>
                              <m:t>⋅</m:t>
                            </m:r>
                            <m:r>
                              <a:rPr lang="es-ES_tradnl" sz="1300" i="1" noProof="0" smtClean="0">
                                <a:solidFill>
                                  <a:srgbClr val="3C3C3B"/>
                                </a:solidFill>
                                <a:latin typeface="Cambria Math" panose="02040503050406030204" pitchFamily="18" charset="0"/>
                              </a:rPr>
                              <m:t>𝑑</m:t>
                            </m:r>
                          </m:e>
                        </m:d>
                        <m:r>
                          <a:rPr lang="es-ES_tradnl" sz="1300" i="0" noProof="0" smtClean="0">
                            <a:solidFill>
                              <a:srgbClr val="3C3C3B"/>
                            </a:solidFill>
                            <a:latin typeface="Cambria Math" panose="02040503050406030204" pitchFamily="18" charset="0"/>
                          </a:rPr>
                          <m:t>,  </m:t>
                        </m:r>
                        <m:r>
                          <a:rPr lang="es-ES_tradnl" sz="1300" i="1" noProof="0" smtClean="0">
                            <a:solidFill>
                              <a:srgbClr val="3C3C3B"/>
                            </a:solidFill>
                            <a:latin typeface="Cambria Math" panose="02040503050406030204" pitchFamily="18" charset="0"/>
                          </a:rPr>
                          <m:t>𝐷</m:t>
                        </m:r>
                        <m:r>
                          <a:rPr lang="es-ES_tradnl" sz="1300" i="1" noProof="0" smtClean="0">
                            <a:solidFill>
                              <a:srgbClr val="3C3C3B"/>
                            </a:solidFill>
                            <a:latin typeface="Cambria Math" panose="02040503050406030204" pitchFamily="18" charset="0"/>
                          </a:rPr>
                          <m:t>=2</m:t>
                        </m:r>
                      </m:oMath>
                    </m:oMathPara>
                  </a14:m>
                  <a:endParaRPr lang="es-ES_tradnl" sz="1300" noProof="0" dirty="0"/>
                </a:p>
              </p:txBody>
            </p:sp>
          </mc:Choice>
          <mc:Fallback>
            <p:sp>
              <p:nvSpPr>
                <p:cNvPr id="434" name="Formula">
                  <a:extLst>
                    <a:ext uri="{FF2B5EF4-FFF2-40B4-BE49-F238E27FC236}">
                      <a16:creationId xmlns:a16="http://schemas.microsoft.com/office/drawing/2014/main" id="{2C08228E-98DF-EFF6-9A3A-2C0FAC8D52DF}"/>
                    </a:ext>
                  </a:extLst>
                </p:cNvPr>
                <p:cNvSpPr txBox="1">
                  <a:spLocks noRot="1" noChangeAspect="1" noMove="1" noResize="1" noEditPoints="1" noAdjustHandles="1" noChangeArrowheads="1" noChangeShapeType="1" noTextEdit="1"/>
                </p:cNvSpPr>
                <p:nvPr/>
              </p:nvSpPr>
              <p:spPr>
                <a:xfrm>
                  <a:off x="1752600" y="5283200"/>
                  <a:ext cx="4114800" cy="787400"/>
                </a:xfrm>
                <a:prstGeom prst="rect">
                  <a:avLst/>
                </a:prstGeom>
                <a:blipFill>
                  <a:blip r:embed="rId7"/>
                  <a:stretch>
                    <a:fillRect/>
                  </a:stretch>
                </a:blipFill>
                <a:ln/>
              </p:spPr>
              <p:txBody>
                <a:bodyPr/>
                <a:lstStyle/>
                <a:p>
                  <a:r>
                    <a:rPr lang="en-CO">
                      <a:noFill/>
                    </a:rPr>
                    <a:t> </a:t>
                  </a:r>
                </a:p>
              </p:txBody>
            </p:sp>
          </mc:Fallback>
        </mc:AlternateContent>
        <mc:AlternateContent xmlns:mc="http://schemas.openxmlformats.org/markup-compatibility/2006">
          <mc:Choice xmlns:a14="http://schemas.microsoft.com/office/drawing/2010/main" Requires="a14">
            <p:sp>
              <p:nvSpPr>
                <p:cNvPr id="435" name="Formula">
                  <a:extLst>
                    <a:ext uri="{FF2B5EF4-FFF2-40B4-BE49-F238E27FC236}">
                      <a16:creationId xmlns:a16="http://schemas.microsoft.com/office/drawing/2014/main" id="{88CDBEE7-AA51-EB5D-736D-EA7A5BBFD33D}"/>
                    </a:ext>
                  </a:extLst>
                </p:cNvPr>
                <p:cNvSpPr txBox="1"/>
                <p:nvPr/>
              </p:nvSpPr>
              <p:spPr>
                <a:xfrm>
                  <a:off x="6959600" y="5435600"/>
                  <a:ext cx="3606800" cy="381000"/>
                </a:xfrm>
                <a:prstGeom prst="rect">
                  <a:avLst/>
                </a:prstGeom>
                <a:noFill/>
                <a:ln/>
              </p:spPr>
              <p:txBody>
                <a:bodyPr wrap="square" lIns="0" tIns="0" rIns="0" bIns="0" rtlCol="0" anchor="t"/>
                <a:lstStyle/>
                <a:p>
                  <a:pPr algn="ctr"/>
                  <a14:m>
                    <m:oMathPara xmlns:m="http://schemas.openxmlformats.org/officeDocument/2006/math">
                      <m:oMathParaPr>
                        <m:jc m:val="centerGroup"/>
                      </m:oMathParaPr>
                      <m:oMath xmlns:m="http://schemas.openxmlformats.org/officeDocument/2006/math">
                        <m:sSubSup>
                          <m:sSubSupPr>
                            <m:ctrlPr>
                              <a:rPr lang="es-ES_tradnl" sz="1300" i="1" noProof="0" smtClean="0">
                                <a:solidFill>
                                  <a:srgbClr val="3C3C3B"/>
                                </a:solidFill>
                                <a:latin typeface="Cambria Math" panose="02040503050406030204" pitchFamily="18" charset="0"/>
                              </a:rPr>
                            </m:ctrlPr>
                          </m:sSubSupPr>
                          <m:e>
                            <m:r>
                              <a:rPr lang="es-ES_tradnl" sz="1300" i="1" noProof="0" smtClean="0">
                                <a:solidFill>
                                  <a:srgbClr val="3C3C3B"/>
                                </a:solidFill>
                                <a:latin typeface="Cambria Math" panose="02040503050406030204" pitchFamily="18" charset="0"/>
                              </a:rPr>
                              <m:t>𝜀</m:t>
                            </m:r>
                          </m:e>
                          <m:sub>
                            <m:r>
                              <m:rPr>
                                <m:sty m:val="p"/>
                              </m:rPr>
                              <a:rPr lang="es-ES_tradnl" sz="1300" i="0" noProof="0" smtClean="0">
                                <a:solidFill>
                                  <a:srgbClr val="3C3C3B"/>
                                </a:solidFill>
                                <a:latin typeface="Cambria Math" panose="02040503050406030204" pitchFamily="18" charset="0"/>
                              </a:rPr>
                              <m:t>exp</m:t>
                            </m:r>
                          </m:sub>
                          <m:sup>
                            <m:r>
                              <a:rPr lang="es-ES_tradnl" sz="1300" i="1" noProof="0" smtClean="0">
                                <a:solidFill>
                                  <a:srgbClr val="3C3C3B"/>
                                </a:solidFill>
                                <a:latin typeface="Cambria Math" panose="02040503050406030204" pitchFamily="18" charset="0"/>
                              </a:rPr>
                              <m:t>𝐾</m:t>
                            </m:r>
                          </m:sup>
                        </m:sSubSup>
                        <m:r>
                          <a:rPr lang="es-ES_tradnl" sz="1300" i="1" noProof="0" smtClean="0">
                            <a:solidFill>
                              <a:srgbClr val="3C3C3B"/>
                            </a:solidFill>
                            <a:latin typeface="Cambria Math" panose="02040503050406030204" pitchFamily="18" charset="0"/>
                          </a:rPr>
                          <m:t>=</m:t>
                        </m:r>
                        <m:sSub>
                          <m:sSubPr>
                            <m:ctrlPr>
                              <a:rPr lang="es-ES_tradnl" sz="1300" i="1" noProof="0" smtClean="0">
                                <a:solidFill>
                                  <a:srgbClr val="3C3C3B"/>
                                </a:solidFill>
                                <a:latin typeface="Cambria Math" panose="02040503050406030204" pitchFamily="18" charset="0"/>
                              </a:rPr>
                            </m:ctrlPr>
                          </m:sSubPr>
                          <m:e>
                            <m:r>
                              <m:rPr>
                                <m:sty m:val="p"/>
                              </m:rPr>
                              <a:rPr lang="es-ES_tradnl" sz="1300" i="0" noProof="0" smtClean="0">
                                <a:solidFill>
                                  <a:srgbClr val="3C3C3B"/>
                                </a:solidFill>
                                <a:latin typeface="Cambria Math" panose="02040503050406030204" pitchFamily="18" charset="0"/>
                              </a:rPr>
                              <m:t>max</m:t>
                            </m:r>
                          </m:e>
                          <m:sub>
                            <m:r>
                              <a:rPr lang="es-ES_tradnl" sz="1300" i="1" noProof="0" smtClean="0">
                                <a:solidFill>
                                  <a:srgbClr val="3C3C3B"/>
                                </a:solidFill>
                                <a:latin typeface="Cambria Math" panose="02040503050406030204" pitchFamily="18" charset="0"/>
                              </a:rPr>
                              <m:t>𝑖𝑗</m:t>
                            </m:r>
                          </m:sub>
                        </m:sSub>
                        <m:d>
                          <m:dPr>
                            <m:ctrlPr>
                              <a:rPr lang="es-ES_tradnl" sz="1300" i="1" noProof="0" smtClean="0">
                                <a:solidFill>
                                  <a:srgbClr val="3C3C3B"/>
                                </a:solidFill>
                                <a:latin typeface="Cambria Math" panose="02040503050406030204" pitchFamily="18" charset="0"/>
                              </a:rPr>
                            </m:ctrlPr>
                          </m:dPr>
                          <m:e>
                            <m:sSubSup>
                              <m:sSubSupPr>
                                <m:ctrlPr>
                                  <a:rPr lang="es-ES_tradnl" sz="1300" i="1" noProof="0" smtClean="0">
                                    <a:solidFill>
                                      <a:srgbClr val="3C3C3B"/>
                                    </a:solidFill>
                                    <a:latin typeface="Cambria Math" panose="02040503050406030204" pitchFamily="18" charset="0"/>
                                  </a:rPr>
                                </m:ctrlPr>
                              </m:sSubSupPr>
                              <m:e>
                                <m:r>
                                  <a:rPr lang="es-ES_tradnl" sz="1300" i="1" noProof="0" smtClean="0">
                                    <a:solidFill>
                                      <a:srgbClr val="3C3C3B"/>
                                    </a:solidFill>
                                    <a:latin typeface="Cambria Math" panose="02040503050406030204" pitchFamily="18" charset="0"/>
                                  </a:rPr>
                                  <m:t>𝜀</m:t>
                                </m:r>
                              </m:e>
                              <m:sub>
                                <m:r>
                                  <m:rPr>
                                    <m:sty m:val="p"/>
                                  </m:rPr>
                                  <a:rPr lang="es-ES_tradnl" sz="1300" i="0" noProof="0" smtClean="0">
                                    <a:solidFill>
                                      <a:srgbClr val="3C3C3B"/>
                                    </a:solidFill>
                                    <a:latin typeface="Cambria Math" panose="02040503050406030204" pitchFamily="18" charset="0"/>
                                  </a:rPr>
                                  <m:t>exp</m:t>
                                </m:r>
                              </m:sub>
                              <m:sup>
                                <m:r>
                                  <a:rPr lang="es-ES_tradnl" sz="1300" i="1" noProof="0" smtClean="0">
                                    <a:solidFill>
                                      <a:srgbClr val="3C3C3B"/>
                                    </a:solidFill>
                                    <a:latin typeface="Cambria Math" panose="02040503050406030204" pitchFamily="18" charset="0"/>
                                  </a:rPr>
                                  <m:t>𝑖𝑗</m:t>
                                </m:r>
                              </m:sup>
                            </m:sSubSup>
                          </m:e>
                        </m:d>
                      </m:oMath>
                    </m:oMathPara>
                  </a14:m>
                  <a:endParaRPr lang="es-ES_tradnl" sz="1300" noProof="0" dirty="0"/>
                </a:p>
              </p:txBody>
            </p:sp>
          </mc:Choice>
          <mc:Fallback>
            <p:sp>
              <p:nvSpPr>
                <p:cNvPr id="435" name="Formula">
                  <a:extLst>
                    <a:ext uri="{FF2B5EF4-FFF2-40B4-BE49-F238E27FC236}">
                      <a16:creationId xmlns:a16="http://schemas.microsoft.com/office/drawing/2014/main" id="{88CDBEE7-AA51-EB5D-736D-EA7A5BBFD33D}"/>
                    </a:ext>
                  </a:extLst>
                </p:cNvPr>
                <p:cNvSpPr txBox="1">
                  <a:spLocks noRot="1" noChangeAspect="1" noMove="1" noResize="1" noEditPoints="1" noAdjustHandles="1" noChangeArrowheads="1" noChangeShapeType="1" noTextEdit="1"/>
                </p:cNvSpPr>
                <p:nvPr/>
              </p:nvSpPr>
              <p:spPr>
                <a:xfrm>
                  <a:off x="6959600" y="5435600"/>
                  <a:ext cx="3606800" cy="381000"/>
                </a:xfrm>
                <a:prstGeom prst="rect">
                  <a:avLst/>
                </a:prstGeom>
                <a:blipFill>
                  <a:blip r:embed="rId8"/>
                  <a:stretch>
                    <a:fillRect t="-7407"/>
                  </a:stretch>
                </a:blipFill>
                <a:ln/>
              </p:spPr>
              <p:txBody>
                <a:bodyPr/>
                <a:lstStyle/>
                <a:p>
                  <a:r>
                    <a:rPr lang="en-CO">
                      <a:noFill/>
                    </a:rPr>
                    <a:t> </a:t>
                  </a:r>
                </a:p>
              </p:txBody>
            </p:sp>
          </mc:Fallback>
        </mc:AlternateContent>
      </p:grpSp>
      <p:sp>
        <p:nvSpPr>
          <p:cNvPr id="301" name="Barra superior">
            <a:extLst>
              <a:ext uri="{FF2B5EF4-FFF2-40B4-BE49-F238E27FC236}">
                <a16:creationId xmlns:a16="http://schemas.microsoft.com/office/drawing/2014/main" id="{FB20CCA9-C447-6943-C8CD-269F71DC90B5}"/>
              </a:ext>
            </a:extLst>
          </p:cNvPr>
          <p:cNvSpPr/>
          <p:nvPr/>
        </p:nvSpPr>
        <p:spPr>
          <a:xfrm>
            <a:off x="0" y="0"/>
            <a:ext cx="12192000" cy="76200"/>
          </a:xfrm>
          <a:prstGeom prst="rect">
            <a:avLst/>
          </a:prstGeom>
          <a:solidFill>
            <a:srgbClr val="FFEE00"/>
          </a:solidFill>
          <a:ln/>
        </p:spPr>
        <p:txBody>
          <a:bodyPr/>
          <a:lstStyle/>
          <a:p>
            <a:endParaRPr lang="es-ES_tradnl" noProof="0" dirty="0"/>
          </a:p>
        </p:txBody>
      </p:sp>
      <p:sp>
        <p:nvSpPr>
          <p:cNvPr id="302" name="Etiqueta acto">
            <a:extLst>
              <a:ext uri="{FF2B5EF4-FFF2-40B4-BE49-F238E27FC236}">
                <a16:creationId xmlns:a16="http://schemas.microsoft.com/office/drawing/2014/main" id="{B9BB5E9B-93D7-6CE0-6565-4D41C34DC474}"/>
              </a:ext>
            </a:extLst>
          </p:cNvPr>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303" name="Texto acto">
            <a:extLst>
              <a:ext uri="{FF2B5EF4-FFF2-40B4-BE49-F238E27FC236}">
                <a16:creationId xmlns:a16="http://schemas.microsoft.com/office/drawing/2014/main" id="{A020ACD4-155E-8EBE-15A1-13C7679184B2}"/>
              </a:ext>
            </a:extLst>
          </p:cNvPr>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a:solidFill>
                  <a:srgbClr val="1D1D1B"/>
                </a:solidFill>
                <a:latin typeface="DM Sans" pitchFamily="34" charset="0"/>
                <a:ea typeface="DM Sans" pitchFamily="34" charset="-122"/>
                <a:cs typeface="DM Sans" pitchFamily="34" charset="-120"/>
              </a:rPr>
              <a:t>I</a:t>
            </a:r>
            <a:endParaRPr lang="es-ES_tradnl" sz="1200" b="1" noProof="0" dirty="0">
              <a:solidFill>
                <a:srgbClr val="1D1D1B"/>
              </a:solidFill>
              <a:latin typeface="DM Sans" pitchFamily="34" charset="0"/>
              <a:ea typeface="DM Sans" pitchFamily="34" charset="-122"/>
              <a:cs typeface="DM Sans" pitchFamily="34" charset="-120"/>
            </a:endParaRPr>
          </a:p>
        </p:txBody>
      </p:sp>
      <p:sp>
        <p:nvSpPr>
          <p:cNvPr id="304" name="Texto seccion">
            <a:extLst>
              <a:ext uri="{FF2B5EF4-FFF2-40B4-BE49-F238E27FC236}">
                <a16:creationId xmlns:a16="http://schemas.microsoft.com/office/drawing/2014/main" id="{518FF204-D58A-C748-DCAF-BA333596E8D6}"/>
              </a:ext>
            </a:extLst>
          </p:cNvPr>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a:solidFill>
                  <a:srgbClr val="6E6E6C"/>
                </a:solidFill>
                <a:latin typeface="Roboto" pitchFamily="34" charset="0"/>
                <a:ea typeface="Roboto" pitchFamily="34" charset="-122"/>
                <a:cs typeface="Roboto" pitchFamily="34" charset="-120"/>
              </a:rPr>
              <a:t>DÓNDE ESTÁBAMOS</a:t>
            </a:r>
            <a:endParaRPr lang="es-ES_tradnl" sz="1200" kern="0" spc="150" noProof="0" dirty="0">
              <a:solidFill>
                <a:srgbClr val="6E6E6C"/>
              </a:solidFill>
              <a:latin typeface="Roboto" pitchFamily="34" charset="0"/>
              <a:ea typeface="Roboto" pitchFamily="34" charset="-122"/>
              <a:cs typeface="Roboto" pitchFamily="34" charset="-120"/>
            </a:endParaRPr>
          </a:p>
        </p:txBody>
      </p:sp>
      <p:sp>
        <p:nvSpPr>
          <p:cNvPr id="305" name="Subtitulo">
            <a:extLst>
              <a:ext uri="{FF2B5EF4-FFF2-40B4-BE49-F238E27FC236}">
                <a16:creationId xmlns:a16="http://schemas.microsoft.com/office/drawing/2014/main" id="{718FF3DE-81F0-3E62-E157-A6945CB5B842}"/>
              </a:ext>
            </a:extLst>
          </p:cNvPr>
          <p:cNvSpPr/>
          <p:nvPr/>
        </p:nvSpPr>
        <p:spPr>
          <a:xfrm>
            <a:off x="812800" y="1305520"/>
            <a:ext cx="10883392" cy="322560"/>
          </a:xfrm>
          <a:prstGeom prst="rect">
            <a:avLst/>
          </a:prstGeom>
          <a:noFill/>
          <a:ln/>
        </p:spPr>
        <p:txBody>
          <a:bodyPr wrap="square" lIns="0" tIns="0" rIns="0" bIns="0" rtlCol="0" anchor="t">
            <a:normAutofit fontScale="85000" lnSpcReduction="10000"/>
          </a:bodyPr>
          <a:lstStyle/>
          <a:p>
            <a:pPr marL="0" indent="0" algn="l">
              <a:lnSpc>
                <a:spcPts val="2340"/>
              </a:lnSpc>
              <a:buNone/>
            </a:pPr>
            <a:r>
              <a:rPr lang="es-ES_tradnl" sz="1800" noProof="0" dirty="0">
                <a:solidFill>
                  <a:srgbClr val="3C3C3B"/>
                </a:solidFill>
                <a:latin typeface="Roboto" pitchFamily="34" charset="0"/>
                <a:ea typeface="Roboto" pitchFamily="34" charset="-122"/>
                <a:cs typeface="Roboto" pitchFamily="34" charset="-120"/>
              </a:rPr>
              <a:t>Cómo se obtienen el </a:t>
            </a:r>
            <a:r>
              <a:rPr lang="es-ES_tradnl" sz="1800" noProof="0" dirty="0" err="1">
                <a:solidFill>
                  <a:srgbClr val="3C3C3B"/>
                </a:solidFill>
                <a:latin typeface="Roboto" pitchFamily="34" charset="0"/>
                <a:ea typeface="Roboto" pitchFamily="34" charset="-122"/>
                <a:cs typeface="Roboto" pitchFamily="34" charset="-120"/>
              </a:rPr>
              <a:t>ε</a:t>
            </a:r>
            <a:r>
              <a:rPr lang="es-ES_tradnl" sz="1800" noProof="0" dirty="0">
                <a:solidFill>
                  <a:srgbClr val="3C3C3B"/>
                </a:solidFill>
                <a:latin typeface="Roboto" pitchFamily="34" charset="0"/>
                <a:ea typeface="Roboto" pitchFamily="34" charset="-122"/>
                <a:cs typeface="Roboto" pitchFamily="34" charset="-120"/>
              </a:rPr>
              <a:t> teórico y el </a:t>
            </a:r>
            <a:r>
              <a:rPr lang="es-ES_tradnl" sz="1800" noProof="0" dirty="0" err="1">
                <a:solidFill>
                  <a:srgbClr val="3C3C3B"/>
                </a:solidFill>
                <a:latin typeface="Roboto" pitchFamily="34" charset="0"/>
                <a:ea typeface="Roboto" pitchFamily="34" charset="-122"/>
                <a:cs typeface="Roboto" pitchFamily="34" charset="-120"/>
              </a:rPr>
              <a:t>ε</a:t>
            </a:r>
            <a:r>
              <a:rPr lang="es-ES_tradnl" sz="1800" noProof="0" dirty="0">
                <a:solidFill>
                  <a:srgbClr val="3C3C3B"/>
                </a:solidFill>
                <a:latin typeface="Roboto" pitchFamily="34" charset="0"/>
                <a:ea typeface="Roboto" pitchFamily="34" charset="-122"/>
                <a:cs typeface="Roboto" pitchFamily="34" charset="-120"/>
              </a:rPr>
              <a:t> experimental de cada variable categórica en el diseño L (</a:t>
            </a:r>
            <a:r>
              <a:rPr lang="es-ES_tradnl" sz="1800" noProof="0" dirty="0" err="1">
                <a:solidFill>
                  <a:srgbClr val="3C3C3B"/>
                </a:solidFill>
                <a:latin typeface="Roboto" pitchFamily="34" charset="0"/>
                <a:ea typeface="Roboto" pitchFamily="34" charset="-122"/>
                <a:cs typeface="Roboto" pitchFamily="34" charset="-120"/>
              </a:rPr>
              <a:t>depolarizante</a:t>
            </a:r>
            <a:r>
              <a:rPr lang="es-ES_tradnl" sz="1800" noProof="0" dirty="0">
                <a:solidFill>
                  <a:srgbClr val="3C3C3B"/>
                </a:solidFill>
                <a:latin typeface="Roboto" pitchFamily="34" charset="0"/>
                <a:ea typeface="Roboto" pitchFamily="34" charset="-122"/>
                <a:cs typeface="Roboto" pitchFamily="34" charset="-120"/>
              </a:rPr>
              <a:t>, p = 0.5).</a:t>
            </a:r>
          </a:p>
        </p:txBody>
      </p:sp>
      <p:sp>
        <p:nvSpPr>
          <p:cNvPr id="306" name="Numero pagina">
            <a:extLst>
              <a:ext uri="{FF2B5EF4-FFF2-40B4-BE49-F238E27FC236}">
                <a16:creationId xmlns:a16="http://schemas.microsoft.com/office/drawing/2014/main" id="{3D26F80D-4FD9-B184-21D0-F0076FE9AA95}"/>
              </a:ext>
            </a:extLst>
          </p:cNvPr>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a:solidFill>
                  <a:srgbClr val="1D1D1B"/>
                </a:solidFill>
                <a:latin typeface="Roboto" pitchFamily="34" charset="0"/>
                <a:ea typeface="Roboto" pitchFamily="34" charset="-122"/>
                <a:cs typeface="Roboto" pitchFamily="34" charset="-120"/>
              </a:rPr>
              <a:t>11</a:t>
            </a:r>
            <a:endParaRPr lang="es-ES_tradnl" sz="1200" b="1" noProof="0" dirty="0">
              <a:solidFill>
                <a:srgbClr val="1D1D1B"/>
              </a:solidFill>
              <a:latin typeface="Roboto" pitchFamily="34" charset="0"/>
              <a:ea typeface="Roboto" pitchFamily="34" charset="-122"/>
              <a:cs typeface="Roboto" pitchFamily="34" charset="-120"/>
            </a:endParaRPr>
          </a:p>
        </p:txBody>
      </p:sp>
      <p:pic>
        <p:nvPicPr>
          <p:cNvPr id="307" name="Copied Picture 307" descr="Universidad de los Andes">
            <a:extLst>
              <a:ext uri="{FF2B5EF4-FFF2-40B4-BE49-F238E27FC236}">
                <a16:creationId xmlns:a16="http://schemas.microsoft.com/office/drawing/2014/main" id="{B712667B-0EEB-6E38-7D17-07F676AEEC4A}"/>
              </a:ext>
            </a:extLst>
          </p:cNvPr>
          <p:cNvPicPr>
            <a:picLocks noChangeAspect="1"/>
          </p:cNvPicPr>
          <p:nvPr/>
        </p:nvPicPr>
        <p:blipFill>
          <a:blip r:embed="rId9"/>
          <a:srcRect t="-117" b="-117"/>
          <a:stretch/>
        </p:blipFill>
        <p:spPr>
          <a:xfrm>
            <a:off x="10121900" y="254000"/>
            <a:ext cx="1257300" cy="381000"/>
          </a:xfrm>
          <a:prstGeom prst="rect">
            <a:avLst/>
          </a:prstGeom>
        </p:spPr>
      </p:pic>
    </p:spTree>
    <p:extLst>
      <p:ext uri="{BB962C8B-B14F-4D97-AF65-F5344CB8AC3E}">
        <p14:creationId xmlns:p14="http://schemas.microsoft.com/office/powerpoint/2010/main" val="303097026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s-ES_tradnl" noProof="0" dirty="0"/>
          </a:p>
        </p:txBody>
      </p:sp>
      <p:sp>
        <p:nvSpPr>
          <p:cNvPr id="3" name="Shape 1"/>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a:solidFill>
                  <a:srgbClr val="1D1D1B"/>
                </a:solidFill>
                <a:latin typeface="DM Sans" pitchFamily="34" charset="0"/>
                <a:ea typeface="DM Sans" pitchFamily="34" charset="-122"/>
                <a:cs typeface="DM Sans" pitchFamily="34" charset="-120"/>
              </a:rPr>
              <a:t>I</a:t>
            </a:r>
            <a:endParaRPr lang="es-ES_tradnl" sz="1200" noProof="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a:solidFill>
                  <a:srgbClr val="6E6E6C"/>
                </a:solidFill>
                <a:latin typeface="Roboto" pitchFamily="34" charset="0"/>
                <a:ea typeface="Roboto" pitchFamily="34" charset="-122"/>
                <a:cs typeface="Roboto" pitchFamily="34" charset="-120"/>
              </a:rPr>
              <a:t>DÓNDE ESTÁBAMOS</a:t>
            </a:r>
            <a:endParaRPr lang="es-ES_tradnl" sz="1200" noProof="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s-ES_tradnl" sz="2800" b="1" i="0" kern="0" spc="-50" noProof="0" dirty="0">
                <a:solidFill>
                  <a:srgbClr val="1D1D1B"/>
                </a:solidFill>
                <a:latin typeface="DM Sans" pitchFamily="34" charset="0"/>
                <a:ea typeface="DM Sans" pitchFamily="34" charset="-122"/>
                <a:cs typeface="DM Sans" pitchFamily="34" charset="-120"/>
              </a:rPr>
              <a:t>El </a:t>
            </a:r>
            <a:r>
              <a:rPr lang="es-ES_tradnl" sz="2800" b="1" i="0" kern="0" spc="-50" noProof="0" dirty="0" err="1">
                <a:solidFill>
                  <a:srgbClr val="1D1D1B"/>
                </a:solidFill>
                <a:latin typeface="DM Sans" pitchFamily="34" charset="0"/>
                <a:ea typeface="DM Sans" pitchFamily="34" charset="-122"/>
                <a:cs typeface="DM Sans" pitchFamily="34" charset="-120"/>
              </a:rPr>
              <a:t>ε</a:t>
            </a:r>
            <a:r>
              <a:rPr lang="es-ES_tradnl" sz="2800" b="1" i="0" kern="0" spc="-50" noProof="0" dirty="0">
                <a:solidFill>
                  <a:srgbClr val="1D1D1B"/>
                </a:solidFill>
                <a:latin typeface="DM Sans" pitchFamily="34" charset="0"/>
                <a:ea typeface="DM Sans" pitchFamily="34" charset="-122"/>
                <a:cs typeface="DM Sans" pitchFamily="34" charset="-120"/>
              </a:rPr>
              <a:t> del diseño L en las variables categóricas</a:t>
            </a:r>
            <a:endParaRPr lang="es-ES_tradnl" sz="2800" noProof="0" dirty="0"/>
          </a:p>
        </p:txBody>
      </p:sp>
      <p:sp>
        <p:nvSpPr>
          <p:cNvPr id="8" name="Text 5"/>
          <p:cNvSpPr/>
          <p:nvPr/>
        </p:nvSpPr>
        <p:spPr>
          <a:xfrm>
            <a:off x="812800" y="1305520"/>
            <a:ext cx="10883392" cy="322560"/>
          </a:xfrm>
          <a:prstGeom prst="rect">
            <a:avLst/>
          </a:prstGeom>
          <a:noFill/>
          <a:ln/>
        </p:spPr>
        <p:txBody>
          <a:bodyPr wrap="square" lIns="0" tIns="0" rIns="0" bIns="0" rtlCol="0" anchor="t">
            <a:normAutofit/>
          </a:bodyPr>
          <a:lstStyle/>
          <a:p>
            <a:pPr marL="0" indent="0" algn="l">
              <a:lnSpc>
                <a:spcPts val="2340"/>
              </a:lnSpc>
              <a:buNone/>
            </a:pPr>
            <a:r>
              <a:rPr lang="es-ES_tradnl" sz="1800" noProof="0" dirty="0">
                <a:solidFill>
                  <a:srgbClr val="3C3C3B"/>
                </a:solidFill>
                <a:latin typeface="Roboto" pitchFamily="34" charset="0"/>
                <a:ea typeface="Roboto" pitchFamily="34" charset="-122"/>
                <a:cs typeface="Roboto" pitchFamily="34" charset="-120"/>
              </a:rPr>
              <a:t>Lo fija el par de categorías más separado.</a:t>
            </a:r>
            <a:endParaRPr lang="es-ES_tradnl" sz="1800" noProof="0" dirty="0"/>
          </a:p>
        </p:txBody>
      </p:sp>
      <p:graphicFrame>
        <p:nvGraphicFramePr>
          <p:cNvPr id="9" name="Table 0"/>
          <p:cNvGraphicFramePr>
            <a:graphicFrameLocks noGrp="1"/>
          </p:cNvGraphicFramePr>
          <p:nvPr/>
        </p:nvGraphicFramePr>
        <p:xfrm>
          <a:off x="825500" y="1843980"/>
          <a:ext cx="10553700" cy="2222290"/>
        </p:xfrm>
        <a:graphic>
          <a:graphicData uri="http://schemas.openxmlformats.org/drawingml/2006/table">
            <a:tbl>
              <a:tblPr firstRow="1"/>
              <a:tblGrid>
                <a:gridCol w="2300000">
                  <a:extLst>
                    <a:ext uri="{9D8B030D-6E8A-4147-A177-3AD203B41FA5}">
                      <a16:colId xmlns:a16="http://schemas.microsoft.com/office/drawing/2014/main" val="20000"/>
                    </a:ext>
                  </a:extLst>
                </a:gridCol>
                <a:gridCol w="700000">
                  <a:extLst>
                    <a:ext uri="{9D8B030D-6E8A-4147-A177-3AD203B41FA5}">
                      <a16:colId xmlns:a16="http://schemas.microsoft.com/office/drawing/2014/main" val="20001"/>
                    </a:ext>
                  </a:extLst>
                </a:gridCol>
                <a:gridCol w="1900000">
                  <a:extLst>
                    <a:ext uri="{9D8B030D-6E8A-4147-A177-3AD203B41FA5}">
                      <a16:colId xmlns:a16="http://schemas.microsoft.com/office/drawing/2014/main" val="20002"/>
                    </a:ext>
                  </a:extLst>
                </a:gridCol>
                <a:gridCol w="1100000">
                  <a:extLst>
                    <a:ext uri="{9D8B030D-6E8A-4147-A177-3AD203B41FA5}">
                      <a16:colId xmlns:a16="http://schemas.microsoft.com/office/drawing/2014/main" val="20003"/>
                    </a:ext>
                  </a:extLst>
                </a:gridCol>
                <a:gridCol w="1700000">
                  <a:extLst>
                    <a:ext uri="{9D8B030D-6E8A-4147-A177-3AD203B41FA5}">
                      <a16:colId xmlns:a16="http://schemas.microsoft.com/office/drawing/2014/main" val="20004"/>
                    </a:ext>
                  </a:extLst>
                </a:gridCol>
                <a:gridCol w="1700000">
                  <a:extLst>
                    <a:ext uri="{9D8B030D-6E8A-4147-A177-3AD203B41FA5}">
                      <a16:colId xmlns:a16="http://schemas.microsoft.com/office/drawing/2014/main" val="20005"/>
                    </a:ext>
                  </a:extLst>
                </a:gridCol>
                <a:gridCol w="1153700">
                  <a:extLst>
                    <a:ext uri="{9D8B030D-6E8A-4147-A177-3AD203B41FA5}">
                      <a16:colId xmlns:a16="http://schemas.microsoft.com/office/drawing/2014/main" val="20006"/>
                    </a:ext>
                  </a:extLst>
                </a:gridCol>
              </a:tblGrid>
              <a:tr h="420000">
                <a:tc>
                  <a:txBody>
                    <a:bodyPr/>
                    <a:lstStyle/>
                    <a:p>
                      <a:pPr marL="0" indent="0" algn="l">
                        <a:lnSpc>
                          <a:spcPct val="100000"/>
                        </a:lnSpc>
                        <a:buNone/>
                      </a:pPr>
                      <a:r>
                        <a:rPr lang="es-CO" sz="1400" b="1" dirty="0">
                          <a:solidFill>
                            <a:srgbClr val="FFFFFF"/>
                          </a:solidFill>
                          <a:latin typeface="Roboto" pitchFamily="34" charset="0"/>
                          <a:ea typeface="Roboto" pitchFamily="34" charset="-122"/>
                          <a:cs typeface="Roboto" pitchFamily="34" charset="-120"/>
                        </a:rPr>
                        <a:t>Variable (qubit)</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0" cap="flat" cmpd="sng" algn="ctr">
                      <a:noFill/>
                      <a:prstDash val="solid"/>
                      <a:round/>
                      <a:headEnd type="none" w="med" len="med"/>
                      <a:tailEnd type="none" w="med" len="med"/>
                    </a:lnT>
                    <a:lnB w="9525" cap="flat" cmpd="sng" algn="ctr">
                      <a:solidFill>
                        <a:srgbClr val="D4D4D0"/>
                      </a:solidFill>
                      <a:prstDash val="solid"/>
                      <a:round/>
                      <a:headEnd type="none" w="med" len="med"/>
                      <a:tailEnd type="none" w="med" len="med"/>
                    </a:lnB>
                    <a:solidFill>
                      <a:srgbClr val="3C3C3B"/>
                    </a:solidFill>
                  </a:tcPr>
                </a:tc>
                <a:tc>
                  <a:txBody>
                    <a:bodyPr/>
                    <a:lstStyle/>
                    <a:p>
                      <a:pPr marL="0" indent="0" algn="r">
                        <a:lnSpc>
                          <a:spcPct val="100000"/>
                        </a:lnSpc>
                        <a:buNone/>
                      </a:pPr>
                      <a:r>
                        <a:rPr lang="es-CO" sz="1400" b="1" dirty="0">
                          <a:solidFill>
                            <a:srgbClr val="FFFFFF"/>
                          </a:solidFill>
                          <a:latin typeface="Roboto" pitchFamily="34" charset="0"/>
                          <a:ea typeface="Roboto" pitchFamily="34" charset="-122"/>
                          <a:cs typeface="Roboto" pitchFamily="34" charset="-120"/>
                        </a:rPr>
                        <a:t>K</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0" cap="flat" cmpd="sng" algn="ctr">
                      <a:noFill/>
                      <a:prstDash val="solid"/>
                      <a:round/>
                      <a:headEnd type="none" w="med" len="med"/>
                      <a:tailEnd type="none" w="med" len="med"/>
                    </a:lnT>
                    <a:lnB w="9525" cap="flat" cmpd="sng" algn="ctr">
                      <a:solidFill>
                        <a:srgbClr val="D4D4D0"/>
                      </a:solidFill>
                      <a:prstDash val="solid"/>
                      <a:round/>
                      <a:headEnd type="none" w="med" len="med"/>
                      <a:tailEnd type="none" w="med" len="med"/>
                    </a:lnB>
                    <a:solidFill>
                      <a:srgbClr val="3C3C3B"/>
                    </a:solidFill>
                  </a:tcPr>
                </a:tc>
                <a:tc>
                  <a:txBody>
                    <a:bodyPr/>
                    <a:lstStyle/>
                    <a:p>
                      <a:pPr marL="0" indent="0" algn="r">
                        <a:lnSpc>
                          <a:spcPct val="100000"/>
                        </a:lnSpc>
                        <a:buNone/>
                      </a:pPr>
                      <a:r>
                        <a:rPr lang="es-CO" sz="1400" b="1" dirty="0">
                          <a:solidFill>
                            <a:srgbClr val="FFFFFF"/>
                          </a:solidFill>
                          <a:latin typeface="Roboto" pitchFamily="34" charset="0"/>
                          <a:ea typeface="Roboto" pitchFamily="34" charset="-122"/>
                          <a:cs typeface="Roboto" pitchFamily="34" charset="-120"/>
                        </a:rPr>
                        <a:t>Separación del peor par</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0" cap="flat" cmpd="sng" algn="ctr">
                      <a:noFill/>
                      <a:prstDash val="solid"/>
                      <a:round/>
                      <a:headEnd type="none" w="med" len="med"/>
                      <a:tailEnd type="none" w="med" len="med"/>
                    </a:lnT>
                    <a:lnB w="9525" cap="flat" cmpd="sng" algn="ctr">
                      <a:solidFill>
                        <a:srgbClr val="D4D4D0"/>
                      </a:solidFill>
                      <a:prstDash val="solid"/>
                      <a:round/>
                      <a:headEnd type="none" w="med" len="med"/>
                      <a:tailEnd type="none" w="med" len="med"/>
                    </a:lnB>
                    <a:solidFill>
                      <a:srgbClr val="3C3C3B"/>
                    </a:solidFill>
                  </a:tcPr>
                </a:tc>
                <a:tc>
                  <a:txBody>
                    <a:bodyPr/>
                    <a:lstStyle/>
                    <a:p>
                      <a:pPr marL="0" indent="0" algn="r">
                        <a:lnSpc>
                          <a:spcPct val="100000"/>
                        </a:lnSpc>
                        <a:buNone/>
                      </a:pPr>
                      <a:r>
                        <a:rPr lang="es-CO" sz="1400" b="1" dirty="0">
                          <a:solidFill>
                            <a:srgbClr val="FFFFFF"/>
                          </a:solidFill>
                          <a:latin typeface="Roboto" pitchFamily="34" charset="0"/>
                          <a:ea typeface="Roboto" pitchFamily="34" charset="-122"/>
                          <a:cs typeface="Roboto" pitchFamily="34" charset="-120"/>
                        </a:rPr>
                        <a:t>d</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0" cap="flat" cmpd="sng" algn="ctr">
                      <a:noFill/>
                      <a:prstDash val="solid"/>
                      <a:round/>
                      <a:headEnd type="none" w="med" len="med"/>
                      <a:tailEnd type="none" w="med" len="med"/>
                    </a:lnT>
                    <a:lnB w="9525" cap="flat" cmpd="sng" algn="ctr">
                      <a:solidFill>
                        <a:srgbClr val="D4D4D0"/>
                      </a:solidFill>
                      <a:prstDash val="solid"/>
                      <a:round/>
                      <a:headEnd type="none" w="med" len="med"/>
                      <a:tailEnd type="none" w="med" len="med"/>
                    </a:lnB>
                    <a:solidFill>
                      <a:srgbClr val="3C3C3B"/>
                    </a:solidFill>
                  </a:tcPr>
                </a:tc>
                <a:tc>
                  <a:txBody>
                    <a:bodyPr/>
                    <a:lstStyle/>
                    <a:p>
                      <a:pPr marL="0" indent="0" algn="r">
                        <a:lnSpc>
                          <a:spcPct val="100000"/>
                        </a:lnSpc>
                        <a:buNone/>
                      </a:pPr>
                      <a:r>
                        <a:rPr lang="es-CO" sz="1400" b="1" dirty="0">
                          <a:solidFill>
                            <a:srgbClr val="FFFFFF"/>
                          </a:solidFill>
                          <a:latin typeface="Roboto" pitchFamily="34" charset="0"/>
                          <a:ea typeface="Roboto" pitchFamily="34" charset="-122"/>
                          <a:cs typeface="Roboto" pitchFamily="34" charset="-120"/>
                        </a:rPr>
                        <a:t>Cota (Teorema 3)</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0" cap="flat" cmpd="sng" algn="ctr">
                      <a:noFill/>
                      <a:prstDash val="solid"/>
                      <a:round/>
                      <a:headEnd type="none" w="med" len="med"/>
                      <a:tailEnd type="none" w="med" len="med"/>
                    </a:lnT>
                    <a:lnB w="9525" cap="flat" cmpd="sng" algn="ctr">
                      <a:solidFill>
                        <a:srgbClr val="D4D4D0"/>
                      </a:solidFill>
                      <a:prstDash val="solid"/>
                      <a:round/>
                      <a:headEnd type="none" w="med" len="med"/>
                      <a:tailEnd type="none" w="med" len="med"/>
                    </a:lnB>
                    <a:solidFill>
                      <a:srgbClr val="3C3C3B"/>
                    </a:solidFill>
                  </a:tcPr>
                </a:tc>
                <a:tc>
                  <a:txBody>
                    <a:bodyPr/>
                    <a:lstStyle/>
                    <a:p>
                      <a:pPr marL="0" indent="0" algn="r">
                        <a:lnSpc>
                          <a:spcPct val="100000"/>
                        </a:lnSpc>
                        <a:buNone/>
                      </a:pPr>
                      <a:r>
                        <a:rPr lang="es-CO" sz="1400" b="1" dirty="0">
                          <a:solidFill>
                            <a:srgbClr val="FFFFFF"/>
                          </a:solidFill>
                          <a:latin typeface="Roboto" pitchFamily="34" charset="0"/>
                          <a:ea typeface="Roboto" pitchFamily="34" charset="-122"/>
                          <a:cs typeface="Roboto" pitchFamily="34" charset="-120"/>
                        </a:rPr>
                        <a:t>ε experimental</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0" cap="flat" cmpd="sng" algn="ctr">
                      <a:noFill/>
                      <a:prstDash val="solid"/>
                      <a:round/>
                      <a:headEnd type="none" w="med" len="med"/>
                      <a:tailEnd type="none" w="med" len="med"/>
                    </a:lnT>
                    <a:lnB w="9525" cap="flat" cmpd="sng" algn="ctr">
                      <a:solidFill>
                        <a:srgbClr val="D4D4D0"/>
                      </a:solidFill>
                      <a:prstDash val="solid"/>
                      <a:round/>
                      <a:headEnd type="none" w="med" len="med"/>
                      <a:tailEnd type="none" w="med" len="med"/>
                    </a:lnB>
                    <a:solidFill>
                      <a:srgbClr val="3C3C3B"/>
                    </a:solidFill>
                  </a:tcPr>
                </a:tc>
                <a:tc>
                  <a:txBody>
                    <a:bodyPr/>
                    <a:lstStyle/>
                    <a:p>
                      <a:pPr marL="0" indent="0" algn="ctr">
                        <a:lnSpc>
                          <a:spcPct val="100000"/>
                        </a:lnSpc>
                        <a:buNone/>
                      </a:pPr>
                      <a:r>
                        <a:rPr lang="es-CO" sz="1400" b="1" dirty="0">
                          <a:solidFill>
                            <a:srgbClr val="FFFFFF"/>
                          </a:solidFill>
                          <a:latin typeface="Roboto" pitchFamily="34" charset="0"/>
                          <a:ea typeface="Roboto" pitchFamily="34" charset="-122"/>
                          <a:cs typeface="Roboto" pitchFamily="34" charset="-120"/>
                        </a:rPr>
                        <a:t>¿Se alcanza?</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0" cap="flat" cmpd="sng" algn="ctr">
                      <a:noFill/>
                      <a:prstDash val="solid"/>
                      <a:round/>
                      <a:headEnd type="none" w="med" len="med"/>
                      <a:tailEnd type="none" w="med" len="med"/>
                    </a:lnT>
                    <a:lnB w="9525" cap="flat" cmpd="sng" algn="ctr">
                      <a:solidFill>
                        <a:srgbClr val="D4D4D0"/>
                      </a:solidFill>
                      <a:prstDash val="solid"/>
                      <a:round/>
                      <a:headEnd type="none" w="med" len="med"/>
                      <a:tailEnd type="none" w="med" len="med"/>
                    </a:lnB>
                    <a:solidFill>
                      <a:srgbClr val="3C3C3B"/>
                    </a:solidFill>
                  </a:tcPr>
                </a:tc>
                <a:extLst>
                  <a:ext uri="{0D108BD9-81ED-4DB2-BD59-A6C34878D82A}">
                    <a16:rowId xmlns:a16="http://schemas.microsoft.com/office/drawing/2014/main" val="10000"/>
                  </a:ext>
                </a:extLst>
              </a:tr>
              <a:tr h="420000">
                <a:tc>
                  <a:txBody>
                    <a:bodyPr/>
                    <a:lstStyle/>
                    <a:p>
                      <a:pPr marL="0" indent="0" algn="l">
                        <a:lnSpc>
                          <a:spcPct val="100000"/>
                        </a:lnSpc>
                        <a:buNone/>
                      </a:pPr>
                      <a:r>
                        <a:rPr lang="es-CO" sz="1400" b="1" dirty="0">
                          <a:solidFill>
                            <a:srgbClr val="3C3C3B"/>
                          </a:solidFill>
                          <a:latin typeface="Roboto" pitchFamily="34" charset="0"/>
                          <a:ea typeface="Roboto" pitchFamily="34" charset="-122"/>
                          <a:cs typeface="Roboto" pitchFamily="34" charset="-120"/>
                        </a:rPr>
                        <a:t>housing</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CO" sz="1400" dirty="0">
                          <a:solidFill>
                            <a:srgbClr val="3C3C3B"/>
                          </a:solidFill>
                          <a:latin typeface="Roboto" pitchFamily="34" charset="0"/>
                          <a:ea typeface="Roboto" pitchFamily="34" charset="-122"/>
                          <a:cs typeface="Roboto" pitchFamily="34" charset="-120"/>
                        </a:rPr>
                        <a:t>3</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CO" sz="1400" dirty="0">
                          <a:solidFill>
                            <a:srgbClr val="3C3C3B"/>
                          </a:solidFill>
                          <a:latin typeface="Roboto" pitchFamily="34" charset="0"/>
                          <a:ea typeface="Roboto" pitchFamily="34" charset="-122"/>
                          <a:cs typeface="Roboto" pitchFamily="34" charset="-120"/>
                        </a:rPr>
                        <a:t>120°</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CO" sz="1400" dirty="0">
                          <a:solidFill>
                            <a:srgbClr val="3C3C3B"/>
                          </a:solidFill>
                          <a:latin typeface="Roboto" pitchFamily="34" charset="0"/>
                          <a:ea typeface="Roboto" pitchFamily="34" charset="-122"/>
                          <a:cs typeface="Roboto" pitchFamily="34" charset="-120"/>
                        </a:rPr>
                        <a:t>0.866</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CO" sz="1400" dirty="0">
                          <a:solidFill>
                            <a:srgbClr val="3C3C3B"/>
                          </a:solidFill>
                          <a:latin typeface="Roboto" pitchFamily="34" charset="0"/>
                          <a:ea typeface="Roboto" pitchFamily="34" charset="-122"/>
                          <a:cs typeface="Roboto" pitchFamily="34" charset="-120"/>
                        </a:rPr>
                        <a:t>1.0051</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CO" sz="1400" dirty="0">
                          <a:solidFill>
                            <a:srgbClr val="3C3C3B"/>
                          </a:solidFill>
                          <a:latin typeface="Roboto" pitchFamily="34" charset="0"/>
                          <a:ea typeface="Roboto" pitchFamily="34" charset="-122"/>
                          <a:cs typeface="Roboto" pitchFamily="34" charset="-120"/>
                        </a:rPr>
                        <a:t>0.9624</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ctr">
                        <a:lnSpc>
                          <a:spcPct val="100000"/>
                        </a:lnSpc>
                        <a:buNone/>
                      </a:pPr>
                      <a:r>
                        <a:rPr lang="es-CO" sz="1400" dirty="0">
                          <a:solidFill>
                            <a:srgbClr val="3C3C3B"/>
                          </a:solidFill>
                          <a:latin typeface="Roboto" pitchFamily="34" charset="0"/>
                          <a:ea typeface="Roboto" pitchFamily="34" charset="-122"/>
                          <a:cs typeface="Roboto" pitchFamily="34" charset="-120"/>
                        </a:rPr>
                        <a:t>no</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extLst>
                  <a:ext uri="{0D108BD9-81ED-4DB2-BD59-A6C34878D82A}">
                    <a16:rowId xmlns:a16="http://schemas.microsoft.com/office/drawing/2014/main" val="10001"/>
                  </a:ext>
                </a:extLst>
              </a:tr>
              <a:tr h="420000">
                <a:tc>
                  <a:txBody>
                    <a:bodyPr/>
                    <a:lstStyle/>
                    <a:p>
                      <a:pPr marL="0" indent="0" algn="l">
                        <a:lnSpc>
                          <a:spcPct val="100000"/>
                        </a:lnSpc>
                        <a:buNone/>
                      </a:pPr>
                      <a:r>
                        <a:rPr lang="es-CO" sz="1400" b="1" dirty="0">
                          <a:solidFill>
                            <a:srgbClr val="1D1D1B"/>
                          </a:solidFill>
                          <a:latin typeface="Roboto" pitchFamily="34" charset="0"/>
                          <a:ea typeface="Roboto" pitchFamily="34" charset="-122"/>
                          <a:cs typeface="Roboto" pitchFamily="34" charset="-120"/>
                        </a:rPr>
                        <a:t>collateral</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solidFill>
                      <a:srgbClr val="FFF8B3"/>
                    </a:solidFill>
                  </a:tcPr>
                </a:tc>
                <a:tc>
                  <a:txBody>
                    <a:bodyPr/>
                    <a:lstStyle/>
                    <a:p>
                      <a:pPr marL="0" indent="0" algn="r">
                        <a:lnSpc>
                          <a:spcPct val="100000"/>
                        </a:lnSpc>
                        <a:buNone/>
                      </a:pPr>
                      <a:r>
                        <a:rPr lang="es-CO" sz="1400" b="1" dirty="0">
                          <a:solidFill>
                            <a:srgbClr val="1D1D1B"/>
                          </a:solidFill>
                          <a:latin typeface="Roboto" pitchFamily="34" charset="0"/>
                          <a:ea typeface="Roboto" pitchFamily="34" charset="-122"/>
                          <a:cs typeface="Roboto" pitchFamily="34" charset="-120"/>
                        </a:rPr>
                        <a:t>4</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solidFill>
                      <a:srgbClr val="FFF8B3"/>
                    </a:solidFill>
                  </a:tcPr>
                </a:tc>
                <a:tc>
                  <a:txBody>
                    <a:bodyPr/>
                    <a:lstStyle/>
                    <a:p>
                      <a:pPr marL="0" indent="0" algn="r">
                        <a:lnSpc>
                          <a:spcPct val="100000"/>
                        </a:lnSpc>
                        <a:buNone/>
                      </a:pPr>
                      <a:r>
                        <a:rPr lang="es-CO" sz="1400" b="1" dirty="0">
                          <a:solidFill>
                            <a:srgbClr val="1D1D1B"/>
                          </a:solidFill>
                          <a:latin typeface="Roboto" pitchFamily="34" charset="0"/>
                          <a:ea typeface="Roboto" pitchFamily="34" charset="-122"/>
                          <a:cs typeface="Roboto" pitchFamily="34" charset="-120"/>
                        </a:rPr>
                        <a:t>180°</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solidFill>
                      <a:srgbClr val="FFF8B3"/>
                    </a:solidFill>
                  </a:tcPr>
                </a:tc>
                <a:tc>
                  <a:txBody>
                    <a:bodyPr/>
                    <a:lstStyle/>
                    <a:p>
                      <a:pPr marL="0" indent="0" algn="r">
                        <a:lnSpc>
                          <a:spcPct val="100000"/>
                        </a:lnSpc>
                        <a:buNone/>
                      </a:pPr>
                      <a:r>
                        <a:rPr lang="es-CO" sz="1400" b="1" dirty="0">
                          <a:solidFill>
                            <a:srgbClr val="1D1D1B"/>
                          </a:solidFill>
                          <a:latin typeface="Roboto" pitchFamily="34" charset="0"/>
                          <a:ea typeface="Roboto" pitchFamily="34" charset="-122"/>
                          <a:cs typeface="Roboto" pitchFamily="34" charset="-120"/>
                        </a:rPr>
                        <a:t>1</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solidFill>
                      <a:srgbClr val="FFF8B3"/>
                    </a:solidFill>
                  </a:tcPr>
                </a:tc>
                <a:tc>
                  <a:txBody>
                    <a:bodyPr/>
                    <a:lstStyle/>
                    <a:p>
                      <a:pPr marL="0" indent="0" algn="r">
                        <a:lnSpc>
                          <a:spcPct val="100000"/>
                        </a:lnSpc>
                        <a:buNone/>
                      </a:pPr>
                      <a:r>
                        <a:rPr lang="es-CO" sz="1400" b="1" dirty="0">
                          <a:solidFill>
                            <a:srgbClr val="1D1D1B"/>
                          </a:solidFill>
                          <a:latin typeface="Roboto" pitchFamily="34" charset="0"/>
                          <a:ea typeface="Roboto" pitchFamily="34" charset="-122"/>
                          <a:cs typeface="Roboto" pitchFamily="34" charset="-120"/>
                        </a:rPr>
                        <a:t>1.0986</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solidFill>
                      <a:srgbClr val="FFF8B3"/>
                    </a:solidFill>
                  </a:tcPr>
                </a:tc>
                <a:tc>
                  <a:txBody>
                    <a:bodyPr/>
                    <a:lstStyle/>
                    <a:p>
                      <a:pPr marL="0" indent="0" algn="r">
                        <a:lnSpc>
                          <a:spcPct val="100000"/>
                        </a:lnSpc>
                        <a:buNone/>
                      </a:pPr>
                      <a:r>
                        <a:rPr lang="es-CO" sz="1400" b="1" dirty="0">
                          <a:solidFill>
                            <a:srgbClr val="1D1D1B"/>
                          </a:solidFill>
                          <a:latin typeface="Roboto" pitchFamily="34" charset="0"/>
                          <a:ea typeface="Roboto" pitchFamily="34" charset="-122"/>
                          <a:cs typeface="Roboto" pitchFamily="34" charset="-120"/>
                        </a:rPr>
                        <a:t>1.0986</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solidFill>
                      <a:srgbClr val="FFF8B3"/>
                    </a:solidFill>
                  </a:tcPr>
                </a:tc>
                <a:tc>
                  <a:txBody>
                    <a:bodyPr/>
                    <a:lstStyle/>
                    <a:p>
                      <a:pPr marL="0" indent="0" algn="ctr">
                        <a:lnSpc>
                          <a:spcPct val="100000"/>
                        </a:lnSpc>
                        <a:buNone/>
                      </a:pPr>
                      <a:r>
                        <a:rPr lang="es-CO" sz="1400" b="1" dirty="0">
                          <a:solidFill>
                            <a:srgbClr val="1D1D1B"/>
                          </a:solidFill>
                          <a:latin typeface="Roboto" pitchFamily="34" charset="0"/>
                          <a:ea typeface="Roboto" pitchFamily="34" charset="-122"/>
                          <a:cs typeface="Roboto" pitchFamily="34" charset="-120"/>
                        </a:rPr>
                        <a:t>sí</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solidFill>
                      <a:srgbClr val="FFF8B3"/>
                    </a:solidFill>
                  </a:tcPr>
                </a:tc>
                <a:extLst>
                  <a:ext uri="{0D108BD9-81ED-4DB2-BD59-A6C34878D82A}">
                    <a16:rowId xmlns:a16="http://schemas.microsoft.com/office/drawing/2014/main" val="10002"/>
                  </a:ext>
                </a:extLst>
              </a:tr>
              <a:tr h="420000">
                <a:tc>
                  <a:txBody>
                    <a:bodyPr/>
                    <a:lstStyle/>
                    <a:p>
                      <a:pPr marL="0" indent="0" algn="l">
                        <a:lnSpc>
                          <a:spcPct val="100000"/>
                        </a:lnSpc>
                        <a:buNone/>
                      </a:pPr>
                      <a:r>
                        <a:rPr lang="es-CO" sz="1400" b="1" dirty="0">
                          <a:solidFill>
                            <a:srgbClr val="3C3C3B"/>
                          </a:solidFill>
                          <a:latin typeface="Roboto" pitchFamily="34" charset="0"/>
                          <a:ea typeface="Roboto" pitchFamily="34" charset="-122"/>
                          <a:cs typeface="Roboto" pitchFamily="34" charset="-120"/>
                        </a:rPr>
                        <a:t>credit_history</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CO" sz="1400" dirty="0">
                          <a:solidFill>
                            <a:srgbClr val="3C3C3B"/>
                          </a:solidFill>
                          <a:latin typeface="Roboto" pitchFamily="34" charset="0"/>
                          <a:ea typeface="Roboto" pitchFamily="34" charset="-122"/>
                          <a:cs typeface="Roboto" pitchFamily="34" charset="-120"/>
                        </a:rPr>
                        <a:t>5</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CO" sz="1400" dirty="0">
                          <a:solidFill>
                            <a:srgbClr val="3C3C3B"/>
                          </a:solidFill>
                          <a:latin typeface="Roboto" pitchFamily="34" charset="0"/>
                          <a:ea typeface="Roboto" pitchFamily="34" charset="-122"/>
                          <a:cs typeface="Roboto" pitchFamily="34" charset="-120"/>
                        </a:rPr>
                        <a:t>144°</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CO" sz="1400" dirty="0">
                          <a:solidFill>
                            <a:srgbClr val="3C3C3B"/>
                          </a:solidFill>
                          <a:latin typeface="Roboto" pitchFamily="34" charset="0"/>
                          <a:ea typeface="Roboto" pitchFamily="34" charset="-122"/>
                          <a:cs typeface="Roboto" pitchFamily="34" charset="-120"/>
                        </a:rPr>
                        <a:t>0.951</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CO" sz="1400" dirty="0">
                          <a:solidFill>
                            <a:srgbClr val="3C3C3B"/>
                          </a:solidFill>
                          <a:latin typeface="Roboto" pitchFamily="34" charset="0"/>
                          <a:ea typeface="Roboto" pitchFamily="34" charset="-122"/>
                          <a:cs typeface="Roboto" pitchFamily="34" charset="-120"/>
                        </a:rPr>
                        <a:t>1.0654</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CO" sz="1400" dirty="0">
                          <a:solidFill>
                            <a:srgbClr val="3C3C3B"/>
                          </a:solidFill>
                          <a:latin typeface="Roboto" pitchFamily="34" charset="0"/>
                          <a:ea typeface="Roboto" pitchFamily="34" charset="-122"/>
                          <a:cs typeface="Roboto" pitchFamily="34" charset="-120"/>
                        </a:rPr>
                        <a:t>1.0494</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ctr">
                        <a:lnSpc>
                          <a:spcPct val="100000"/>
                        </a:lnSpc>
                        <a:buNone/>
                      </a:pPr>
                      <a:r>
                        <a:rPr lang="es-CO" sz="1400" dirty="0">
                          <a:solidFill>
                            <a:srgbClr val="3C3C3B"/>
                          </a:solidFill>
                          <a:latin typeface="Roboto" pitchFamily="34" charset="0"/>
                          <a:ea typeface="Roboto" pitchFamily="34" charset="-122"/>
                          <a:cs typeface="Roboto" pitchFamily="34" charset="-120"/>
                        </a:rPr>
                        <a:t>no</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extLst>
                  <a:ext uri="{0D108BD9-81ED-4DB2-BD59-A6C34878D82A}">
                    <a16:rowId xmlns:a16="http://schemas.microsoft.com/office/drawing/2014/main" val="10003"/>
                  </a:ext>
                </a:extLst>
              </a:tr>
              <a:tr h="420000">
                <a:tc>
                  <a:txBody>
                    <a:bodyPr/>
                    <a:lstStyle/>
                    <a:p>
                      <a:pPr marL="0" indent="0" algn="l">
                        <a:lnSpc>
                          <a:spcPct val="100000"/>
                        </a:lnSpc>
                        <a:buNone/>
                      </a:pPr>
                      <a:r>
                        <a:rPr lang="es-CO" sz="1400" b="1" dirty="0">
                          <a:solidFill>
                            <a:srgbClr val="3C3C3B"/>
                          </a:solidFill>
                          <a:latin typeface="Roboto" pitchFamily="34" charset="0"/>
                          <a:ea typeface="Roboto" pitchFamily="34" charset="-122"/>
                          <a:cs typeface="Roboto" pitchFamily="34" charset="-120"/>
                        </a:rPr>
                        <a:t>purpose</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CO" sz="1400" dirty="0">
                          <a:solidFill>
                            <a:srgbClr val="3C3C3B"/>
                          </a:solidFill>
                          <a:latin typeface="Roboto" pitchFamily="34" charset="0"/>
                          <a:ea typeface="Roboto" pitchFamily="34" charset="-122"/>
                          <a:cs typeface="Roboto" pitchFamily="34" charset="-120"/>
                        </a:rPr>
                        <a:t>10</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CO" sz="1400" dirty="0">
                          <a:solidFill>
                            <a:srgbClr val="3C3C3B"/>
                          </a:solidFill>
                          <a:latin typeface="Roboto" pitchFamily="34" charset="0"/>
                          <a:ea typeface="Roboto" pitchFamily="34" charset="-122"/>
                          <a:cs typeface="Roboto" pitchFamily="34" charset="-120"/>
                        </a:rPr>
                        <a:t>180°</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CO" sz="1400" dirty="0">
                          <a:solidFill>
                            <a:srgbClr val="3C3C3B"/>
                          </a:solidFill>
                          <a:latin typeface="Roboto" pitchFamily="34" charset="0"/>
                          <a:ea typeface="Roboto" pitchFamily="34" charset="-122"/>
                          <a:cs typeface="Roboto" pitchFamily="34" charset="-120"/>
                        </a:rPr>
                        <a:t>1</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CO" sz="1400" dirty="0">
                          <a:solidFill>
                            <a:srgbClr val="3C3C3B"/>
                          </a:solidFill>
                          <a:latin typeface="Roboto" pitchFamily="34" charset="0"/>
                          <a:ea typeface="Roboto" pitchFamily="34" charset="-122"/>
                          <a:cs typeface="Roboto" pitchFamily="34" charset="-120"/>
                        </a:rPr>
                        <a:t>1.0986</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CO" sz="1400" dirty="0">
                          <a:solidFill>
                            <a:srgbClr val="3C3C3B"/>
                          </a:solidFill>
                          <a:latin typeface="Roboto" pitchFamily="34" charset="0"/>
                          <a:ea typeface="Roboto" pitchFamily="34" charset="-122"/>
                          <a:cs typeface="Roboto" pitchFamily="34" charset="-120"/>
                        </a:rPr>
                        <a:t>1.0986</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ctr">
                        <a:lnSpc>
                          <a:spcPct val="100000"/>
                        </a:lnSpc>
                        <a:buNone/>
                      </a:pPr>
                      <a:r>
                        <a:rPr lang="es-CO" sz="1400" dirty="0">
                          <a:solidFill>
                            <a:srgbClr val="3C3C3B"/>
                          </a:solidFill>
                          <a:latin typeface="Roboto" pitchFamily="34" charset="0"/>
                          <a:ea typeface="Roboto" pitchFamily="34" charset="-122"/>
                          <a:cs typeface="Roboto" pitchFamily="34" charset="-120"/>
                        </a:rPr>
                        <a:t>sí</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extLst>
                  <a:ext uri="{0D108BD9-81ED-4DB2-BD59-A6C34878D82A}">
                    <a16:rowId xmlns:a16="http://schemas.microsoft.com/office/drawing/2014/main" val="10004"/>
                  </a:ext>
                </a:extLst>
              </a:tr>
            </a:tbl>
          </a:graphicData>
        </a:graphic>
      </p:graphicFrame>
      <p:sp>
        <p:nvSpPr>
          <p:cNvPr id="17" name="Text 13"/>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a:solidFill>
                  <a:srgbClr val="1D1D1B"/>
                </a:solidFill>
                <a:latin typeface="Roboto" pitchFamily="34" charset="0"/>
                <a:ea typeface="Roboto" pitchFamily="34" charset="-122"/>
                <a:cs typeface="Roboto" pitchFamily="34" charset="-120"/>
              </a:rPr>
              <a:t>12</a:t>
            </a:r>
            <a:endParaRPr lang="es-ES_tradnl" sz="1200" noProof="0" dirty="0"/>
          </a:p>
        </p:txBody>
      </p:sp>
    </p:spTree>
    <p:extLst>
      <p:ext uri="{BB962C8B-B14F-4D97-AF65-F5344CB8AC3E}">
        <p14:creationId xmlns:p14="http://schemas.microsoft.com/office/powerpoint/2010/main" val="22911592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s-ES_tradnl" noProof="0" dirty="0"/>
          </a:p>
        </p:txBody>
      </p:sp>
      <p:sp>
        <p:nvSpPr>
          <p:cNvPr id="3" name="Shape 1"/>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a:solidFill>
                  <a:srgbClr val="1D1D1B"/>
                </a:solidFill>
                <a:latin typeface="DM Sans" pitchFamily="34" charset="0"/>
                <a:ea typeface="DM Sans" pitchFamily="34" charset="-122"/>
                <a:cs typeface="DM Sans" pitchFamily="34" charset="-120"/>
              </a:rPr>
              <a:t>I</a:t>
            </a:r>
            <a:endParaRPr lang="es-ES_tradnl" sz="1200" noProof="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a:solidFill>
                  <a:srgbClr val="6E6E6C"/>
                </a:solidFill>
                <a:latin typeface="Roboto" pitchFamily="34" charset="0"/>
                <a:ea typeface="Roboto" pitchFamily="34" charset="-122"/>
                <a:cs typeface="Roboto" pitchFamily="34" charset="-120"/>
              </a:rPr>
              <a:t>DÓNDE ESTÁBAMOS</a:t>
            </a:r>
            <a:endParaRPr lang="es-ES_tradnl" sz="1200" noProof="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s-ES_tradnl" sz="2800" b="1" i="0" kern="0" spc="-50" noProof="0" dirty="0" err="1">
                <a:solidFill>
                  <a:srgbClr val="1D1D1B"/>
                </a:solidFill>
                <a:latin typeface="DM Sans" pitchFamily="34" charset="0"/>
                <a:ea typeface="DM Sans" pitchFamily="34" charset="-122"/>
                <a:cs typeface="DM Sans" pitchFamily="34" charset="-120"/>
              </a:rPr>
              <a:t>Depolarizante</a:t>
            </a:r>
            <a:r>
              <a:rPr lang="es-ES_tradnl" sz="2800" b="1" i="0" kern="0" spc="-50" noProof="0" dirty="0">
                <a:solidFill>
                  <a:srgbClr val="1D1D1B"/>
                </a:solidFill>
                <a:latin typeface="DM Sans" pitchFamily="34" charset="0"/>
                <a:ea typeface="DM Sans" pitchFamily="34" charset="-122"/>
                <a:cs typeface="DM Sans" pitchFamily="34" charset="-120"/>
              </a:rPr>
              <a:t> por columna: </a:t>
            </a:r>
            <a:r>
              <a:rPr lang="es-ES_tradnl" sz="2800" b="1" i="0" kern="0" spc="-50" noProof="0" dirty="0" err="1">
                <a:solidFill>
                  <a:srgbClr val="1D1D1B"/>
                </a:solidFill>
                <a:latin typeface="DM Sans" pitchFamily="34" charset="0"/>
                <a:ea typeface="DM Sans" pitchFamily="34" charset="-122"/>
                <a:cs typeface="DM Sans" pitchFamily="34" charset="-120"/>
              </a:rPr>
              <a:t>ε</a:t>
            </a:r>
            <a:r>
              <a:rPr lang="es-ES_tradnl" sz="2800" b="1" i="0" kern="0" spc="-50" noProof="0" dirty="0">
                <a:solidFill>
                  <a:srgbClr val="1D1D1B"/>
                </a:solidFill>
                <a:latin typeface="DM Sans" pitchFamily="34" charset="0"/>
                <a:ea typeface="DM Sans" pitchFamily="34" charset="-122"/>
                <a:cs typeface="DM Sans" pitchFamily="34" charset="-120"/>
              </a:rPr>
              <a:t> en cada variable</a:t>
            </a:r>
            <a:endParaRPr lang="es-ES_tradnl" sz="2800" noProof="0" dirty="0"/>
          </a:p>
        </p:txBody>
      </p:sp>
      <p:sp>
        <p:nvSpPr>
          <p:cNvPr id="8" name="Text 5"/>
          <p:cNvSpPr/>
          <p:nvPr/>
        </p:nvSpPr>
        <p:spPr>
          <a:xfrm>
            <a:off x="812800" y="1305520"/>
            <a:ext cx="10883392" cy="322560"/>
          </a:xfrm>
          <a:prstGeom prst="rect">
            <a:avLst/>
          </a:prstGeom>
          <a:noFill/>
          <a:ln/>
        </p:spPr>
        <p:txBody>
          <a:bodyPr wrap="square" lIns="0" tIns="0" rIns="0" bIns="0" rtlCol="0" anchor="t">
            <a:normAutofit/>
          </a:bodyPr>
          <a:lstStyle/>
          <a:p>
            <a:pPr marL="0" indent="0" algn="l">
              <a:lnSpc>
                <a:spcPts val="2340"/>
              </a:lnSpc>
              <a:buNone/>
            </a:pPr>
            <a:r>
              <a:rPr lang="es-ES_tradnl" sz="1800" noProof="0" dirty="0">
                <a:solidFill>
                  <a:srgbClr val="3C3C3B"/>
                </a:solidFill>
                <a:latin typeface="Roboto" pitchFamily="34" charset="0"/>
                <a:ea typeface="Roboto" pitchFamily="34" charset="-122"/>
                <a:cs typeface="Roboto" pitchFamily="34" charset="-120"/>
              </a:rPr>
              <a:t>En las 7 columnas el </a:t>
            </a:r>
            <a:r>
              <a:rPr lang="es-ES_tradnl" sz="1800" noProof="0" dirty="0" err="1">
                <a:solidFill>
                  <a:srgbClr val="3C3C3B"/>
                </a:solidFill>
                <a:latin typeface="Roboto" pitchFamily="34" charset="0"/>
                <a:ea typeface="Roboto" pitchFamily="34" charset="-122"/>
                <a:cs typeface="Roboto" pitchFamily="34" charset="-120"/>
              </a:rPr>
              <a:t>ε</a:t>
            </a:r>
            <a:r>
              <a:rPr lang="es-ES_tradnl" sz="1800" noProof="0" dirty="0">
                <a:solidFill>
                  <a:srgbClr val="3C3C3B"/>
                </a:solidFill>
                <a:latin typeface="Roboto" pitchFamily="34" charset="0"/>
                <a:ea typeface="Roboto" pitchFamily="34" charset="-122"/>
                <a:cs typeface="Roboto" pitchFamily="34" charset="-120"/>
              </a:rPr>
              <a:t> experimental queda bajo la cota; la suma da 0.00676 contra 0.00985.</a:t>
            </a:r>
            <a:endParaRPr lang="es-ES_tradnl" sz="1800" noProof="0" dirty="0"/>
          </a:p>
        </p:txBody>
      </p:sp>
      <p:graphicFrame>
        <p:nvGraphicFramePr>
          <p:cNvPr id="9" name="Table 0"/>
          <p:cNvGraphicFramePr>
            <a:graphicFrameLocks noGrp="1"/>
          </p:cNvGraphicFramePr>
          <p:nvPr/>
        </p:nvGraphicFramePr>
        <p:xfrm>
          <a:off x="825500" y="1869380"/>
          <a:ext cx="10553700" cy="3434890"/>
        </p:xfrm>
        <a:graphic>
          <a:graphicData uri="http://schemas.openxmlformats.org/drawingml/2006/table">
            <a:tbl>
              <a:tblPr firstRow="1"/>
              <a:tblGrid>
                <a:gridCol w="3700000">
                  <a:extLst>
                    <a:ext uri="{9D8B030D-6E8A-4147-A177-3AD203B41FA5}">
                      <a16:colId xmlns:a16="http://schemas.microsoft.com/office/drawing/2014/main" val="20000"/>
                    </a:ext>
                  </a:extLst>
                </a:gridCol>
                <a:gridCol w="1900000">
                  <a:extLst>
                    <a:ext uri="{9D8B030D-6E8A-4147-A177-3AD203B41FA5}">
                      <a16:colId xmlns:a16="http://schemas.microsoft.com/office/drawing/2014/main" val="20001"/>
                    </a:ext>
                  </a:extLst>
                </a:gridCol>
                <a:gridCol w="1600000">
                  <a:extLst>
                    <a:ext uri="{9D8B030D-6E8A-4147-A177-3AD203B41FA5}">
                      <a16:colId xmlns:a16="http://schemas.microsoft.com/office/drawing/2014/main" val="20002"/>
                    </a:ext>
                  </a:extLst>
                </a:gridCol>
                <a:gridCol w="1753700">
                  <a:extLst>
                    <a:ext uri="{9D8B030D-6E8A-4147-A177-3AD203B41FA5}">
                      <a16:colId xmlns:a16="http://schemas.microsoft.com/office/drawing/2014/main" val="20003"/>
                    </a:ext>
                  </a:extLst>
                </a:gridCol>
                <a:gridCol w="1600000">
                  <a:extLst>
                    <a:ext uri="{9D8B030D-6E8A-4147-A177-3AD203B41FA5}">
                      <a16:colId xmlns:a16="http://schemas.microsoft.com/office/drawing/2014/main" val="20004"/>
                    </a:ext>
                  </a:extLst>
                </a:gridCol>
              </a:tblGrid>
              <a:tr h="420000">
                <a:tc>
                  <a:txBody>
                    <a:bodyPr/>
                    <a:lstStyle/>
                    <a:p>
                      <a:pPr marL="0" indent="0" algn="l">
                        <a:lnSpc>
                          <a:spcPct val="100000"/>
                        </a:lnSpc>
                        <a:buNone/>
                      </a:pPr>
                      <a:r>
                        <a:rPr lang="es-ES_tradnl" sz="1400" b="1" noProof="0" dirty="0">
                          <a:solidFill>
                            <a:srgbClr val="FFFFFF"/>
                          </a:solidFill>
                          <a:latin typeface="Roboto" pitchFamily="34" charset="0"/>
                          <a:ea typeface="Roboto" pitchFamily="34" charset="-122"/>
                          <a:cs typeface="Roboto" pitchFamily="34" charset="-120"/>
                        </a:rPr>
                        <a:t>Variable (</a:t>
                      </a:r>
                      <a:r>
                        <a:rPr lang="es-ES_tradnl" sz="1400" b="1" noProof="0" dirty="0" err="1">
                          <a:solidFill>
                            <a:srgbClr val="FFFFFF"/>
                          </a:solidFill>
                          <a:latin typeface="Roboto" pitchFamily="34" charset="0"/>
                          <a:ea typeface="Roboto" pitchFamily="34" charset="-122"/>
                          <a:cs typeface="Roboto" pitchFamily="34" charset="-120"/>
                        </a:rPr>
                        <a:t>qubit</a:t>
                      </a:r>
                      <a:r>
                        <a:rPr lang="es-ES_tradnl" sz="1400" b="1" noProof="0" dirty="0">
                          <a:solidFill>
                            <a:srgbClr val="FFFFFF"/>
                          </a:solidFill>
                          <a:latin typeface="Roboto" pitchFamily="34" charset="0"/>
                          <a:ea typeface="Roboto" pitchFamily="34" charset="-122"/>
                          <a:cs typeface="Roboto" pitchFamily="34" charset="-120"/>
                        </a:rPr>
                        <a:t>)</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0" cap="flat" cmpd="sng" algn="ctr">
                      <a:noFill/>
                      <a:prstDash val="solid"/>
                      <a:round/>
                      <a:headEnd type="none" w="med" len="med"/>
                      <a:tailEnd type="none" w="med" len="med"/>
                    </a:lnT>
                    <a:lnB w="9525" cap="flat" cmpd="sng" algn="ctr">
                      <a:solidFill>
                        <a:srgbClr val="D4D4D0"/>
                      </a:solidFill>
                      <a:prstDash val="solid"/>
                      <a:round/>
                      <a:headEnd type="none" w="med" len="med"/>
                      <a:tailEnd type="none" w="med" len="med"/>
                    </a:lnB>
                    <a:solidFill>
                      <a:srgbClr val="3C3C3B"/>
                    </a:solidFill>
                  </a:tcPr>
                </a:tc>
                <a:tc>
                  <a:txBody>
                    <a:bodyPr/>
                    <a:lstStyle/>
                    <a:p>
                      <a:pPr marL="0" indent="0" algn="r">
                        <a:lnSpc>
                          <a:spcPct val="100000"/>
                        </a:lnSpc>
                        <a:buNone/>
                      </a:pPr>
                      <a:r>
                        <a:rPr lang="es-ES_tradnl" sz="1400" b="1" noProof="0" dirty="0">
                          <a:solidFill>
                            <a:srgbClr val="FFFFFF"/>
                          </a:solidFill>
                          <a:latin typeface="Roboto" pitchFamily="34" charset="0"/>
                          <a:ea typeface="Roboto" pitchFamily="34" charset="-122"/>
                          <a:cs typeface="Roboto" pitchFamily="34" charset="-120"/>
                        </a:rPr>
                        <a:t>Máx. d de traza</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0" cap="flat" cmpd="sng" algn="ctr">
                      <a:noFill/>
                      <a:prstDash val="solid"/>
                      <a:round/>
                      <a:headEnd type="none" w="med" len="med"/>
                      <a:tailEnd type="none" w="med" len="med"/>
                    </a:lnT>
                    <a:lnB w="9525" cap="flat" cmpd="sng" algn="ctr">
                      <a:solidFill>
                        <a:srgbClr val="D4D4D0"/>
                      </a:solidFill>
                      <a:prstDash val="solid"/>
                      <a:round/>
                      <a:headEnd type="none" w="med" len="med"/>
                      <a:tailEnd type="none" w="med" len="med"/>
                    </a:lnB>
                    <a:solidFill>
                      <a:srgbClr val="3C3C3B"/>
                    </a:solidFill>
                  </a:tcPr>
                </a:tc>
                <a:tc>
                  <a:txBody>
                    <a:bodyPr/>
                    <a:lstStyle/>
                    <a:p>
                      <a:pPr marL="0" indent="0" algn="r">
                        <a:lnSpc>
                          <a:spcPct val="100000"/>
                        </a:lnSpc>
                        <a:buNone/>
                      </a:pPr>
                      <a:r>
                        <a:rPr lang="es-ES_tradnl" sz="1400" b="1" noProof="0" dirty="0" err="1">
                          <a:solidFill>
                            <a:srgbClr val="FFFFFF"/>
                          </a:solidFill>
                          <a:latin typeface="Roboto" pitchFamily="34" charset="0"/>
                          <a:ea typeface="Roboto" pitchFamily="34" charset="-122"/>
                          <a:cs typeface="Roboto" pitchFamily="34" charset="-120"/>
                        </a:rPr>
                        <a:t>ε</a:t>
                      </a:r>
                      <a:r>
                        <a:rPr lang="es-ES_tradnl" sz="1400" b="1" noProof="0" dirty="0">
                          <a:solidFill>
                            <a:srgbClr val="FFFFFF"/>
                          </a:solidFill>
                          <a:latin typeface="Roboto" pitchFamily="34" charset="0"/>
                          <a:ea typeface="Roboto" pitchFamily="34" charset="-122"/>
                          <a:cs typeface="Roboto" pitchFamily="34" charset="-120"/>
                        </a:rPr>
                        <a:t> teórico</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0" cap="flat" cmpd="sng" algn="ctr">
                      <a:noFill/>
                      <a:prstDash val="solid"/>
                      <a:round/>
                      <a:headEnd type="none" w="med" len="med"/>
                      <a:tailEnd type="none" w="med" len="med"/>
                    </a:lnT>
                    <a:lnB w="9525" cap="flat" cmpd="sng" algn="ctr">
                      <a:solidFill>
                        <a:srgbClr val="D4D4D0"/>
                      </a:solidFill>
                      <a:prstDash val="solid"/>
                      <a:round/>
                      <a:headEnd type="none" w="med" len="med"/>
                      <a:tailEnd type="none" w="med" len="med"/>
                    </a:lnB>
                    <a:solidFill>
                      <a:srgbClr val="3C3C3B"/>
                    </a:solidFill>
                  </a:tcPr>
                </a:tc>
                <a:tc>
                  <a:txBody>
                    <a:bodyPr/>
                    <a:lstStyle/>
                    <a:p>
                      <a:pPr marL="0" indent="0" algn="r">
                        <a:lnSpc>
                          <a:spcPct val="100000"/>
                        </a:lnSpc>
                        <a:buNone/>
                      </a:pPr>
                      <a:r>
                        <a:rPr lang="es-ES_tradnl" sz="1400" b="1" noProof="0" dirty="0" err="1">
                          <a:solidFill>
                            <a:srgbClr val="FFFFFF"/>
                          </a:solidFill>
                          <a:latin typeface="Roboto" pitchFamily="34" charset="0"/>
                          <a:ea typeface="Roboto" pitchFamily="34" charset="-122"/>
                          <a:cs typeface="Roboto" pitchFamily="34" charset="-120"/>
                        </a:rPr>
                        <a:t>ε</a:t>
                      </a:r>
                      <a:r>
                        <a:rPr lang="es-ES_tradnl" sz="1400" b="1" noProof="0" dirty="0">
                          <a:solidFill>
                            <a:srgbClr val="FFFFFF"/>
                          </a:solidFill>
                          <a:latin typeface="Roboto" pitchFamily="34" charset="0"/>
                          <a:ea typeface="Roboto" pitchFamily="34" charset="-122"/>
                          <a:cs typeface="Roboto" pitchFamily="34" charset="-120"/>
                        </a:rPr>
                        <a:t> experimental</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0" cap="flat" cmpd="sng" algn="ctr">
                      <a:noFill/>
                      <a:prstDash val="solid"/>
                      <a:round/>
                      <a:headEnd type="none" w="med" len="med"/>
                      <a:tailEnd type="none" w="med" len="med"/>
                    </a:lnT>
                    <a:lnB w="9525" cap="flat" cmpd="sng" algn="ctr">
                      <a:solidFill>
                        <a:srgbClr val="D4D4D0"/>
                      </a:solidFill>
                      <a:prstDash val="solid"/>
                      <a:round/>
                      <a:headEnd type="none" w="med" len="med"/>
                      <a:tailEnd type="none" w="med" len="med"/>
                    </a:lnB>
                    <a:solidFill>
                      <a:srgbClr val="3C3C3B"/>
                    </a:solidFill>
                  </a:tcPr>
                </a:tc>
                <a:tc>
                  <a:txBody>
                    <a:bodyPr/>
                    <a:lstStyle/>
                    <a:p>
                      <a:pPr marL="0" indent="0" algn="r">
                        <a:lnSpc>
                          <a:spcPct val="100000"/>
                        </a:lnSpc>
                        <a:buNone/>
                      </a:pPr>
                      <a:r>
                        <a:rPr lang="es-ES_tradnl" sz="1400" b="1" noProof="0" dirty="0">
                          <a:solidFill>
                            <a:srgbClr val="FFFFFF"/>
                          </a:solidFill>
                          <a:latin typeface="Roboto" pitchFamily="34" charset="0"/>
                          <a:ea typeface="Roboto" pitchFamily="34" charset="-122"/>
                          <a:cs typeface="Roboto" pitchFamily="34" charset="-120"/>
                        </a:rPr>
                        <a:t>Teo / </a:t>
                      </a:r>
                      <a:r>
                        <a:rPr lang="es-ES_tradnl" sz="1400" b="1" noProof="0" dirty="0" err="1">
                          <a:solidFill>
                            <a:srgbClr val="FFFFFF"/>
                          </a:solidFill>
                          <a:latin typeface="Roboto" pitchFamily="34" charset="0"/>
                          <a:ea typeface="Roboto" pitchFamily="34" charset="-122"/>
                          <a:cs typeface="Roboto" pitchFamily="34" charset="-120"/>
                        </a:rPr>
                        <a:t>exp</a:t>
                      </a:r>
                      <a:endParaRPr lang="es-ES_tradnl" sz="1400" b="1" noProof="0" dirty="0">
                        <a:solidFill>
                          <a:srgbClr val="FFFFFF"/>
                        </a:solidFill>
                        <a:latin typeface="Roboto" pitchFamily="34" charset="0"/>
                        <a:ea typeface="Roboto" pitchFamily="34" charset="-122"/>
                        <a:cs typeface="Roboto" pitchFamily="34" charset="-120"/>
                      </a:endParaRP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0" cap="flat" cmpd="sng" algn="ctr">
                      <a:noFill/>
                      <a:prstDash val="solid"/>
                      <a:round/>
                      <a:headEnd type="none" w="med" len="med"/>
                      <a:tailEnd type="none" w="med" len="med"/>
                    </a:lnT>
                    <a:lnB w="9525" cap="flat" cmpd="sng" algn="ctr">
                      <a:solidFill>
                        <a:srgbClr val="D4D4D0"/>
                      </a:solidFill>
                      <a:prstDash val="solid"/>
                      <a:round/>
                      <a:headEnd type="none" w="med" len="med"/>
                      <a:tailEnd type="none" w="med" len="med"/>
                    </a:lnB>
                    <a:solidFill>
                      <a:srgbClr val="3C3C3B"/>
                    </a:solidFill>
                  </a:tcPr>
                </a:tc>
                <a:extLst>
                  <a:ext uri="{0D108BD9-81ED-4DB2-BD59-A6C34878D82A}">
                    <a16:rowId xmlns:a16="http://schemas.microsoft.com/office/drawing/2014/main" val="10000"/>
                  </a:ext>
                </a:extLst>
              </a:tr>
              <a:tr h="375000">
                <a:tc>
                  <a:txBody>
                    <a:bodyPr/>
                    <a:lstStyle/>
                    <a:p>
                      <a:pPr marL="0" indent="0" algn="l">
                        <a:lnSpc>
                          <a:spcPct val="100000"/>
                        </a:lnSpc>
                        <a:buNone/>
                      </a:pPr>
                      <a:r>
                        <a:rPr lang="es-ES_tradnl" sz="1400" b="1" noProof="0" dirty="0" err="1">
                          <a:solidFill>
                            <a:srgbClr val="1D1D1B"/>
                          </a:solidFill>
                          <a:latin typeface="Roboto" pitchFamily="34" charset="0"/>
                          <a:ea typeface="Roboto" pitchFamily="34" charset="-122"/>
                          <a:cs typeface="Roboto" pitchFamily="34" charset="-120"/>
                        </a:rPr>
                        <a:t>collateral</a:t>
                      </a:r>
                      <a:endParaRPr lang="es-ES_tradnl" sz="1400" b="1" noProof="0" dirty="0">
                        <a:solidFill>
                          <a:srgbClr val="1D1D1B"/>
                        </a:solidFill>
                        <a:latin typeface="Roboto" pitchFamily="34" charset="0"/>
                        <a:ea typeface="Roboto" pitchFamily="34" charset="-122"/>
                        <a:cs typeface="Roboto" pitchFamily="34" charset="-120"/>
                      </a:endParaRP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solidFill>
                      <a:srgbClr val="FFF8B3"/>
                    </a:solidFill>
                  </a:tcPr>
                </a:tc>
                <a:tc>
                  <a:txBody>
                    <a:bodyPr/>
                    <a:lstStyle/>
                    <a:p>
                      <a:pPr marL="0" indent="0" algn="r">
                        <a:lnSpc>
                          <a:spcPct val="100000"/>
                        </a:lnSpc>
                        <a:buNone/>
                      </a:pPr>
                      <a:r>
                        <a:rPr lang="es-ES_tradnl" sz="1400" noProof="0" dirty="0">
                          <a:solidFill>
                            <a:srgbClr val="1D1D1B"/>
                          </a:solidFill>
                          <a:latin typeface="Roboto" pitchFamily="34" charset="0"/>
                          <a:ea typeface="Roboto" pitchFamily="34" charset="-122"/>
                          <a:cs typeface="Roboto" pitchFamily="34" charset="-120"/>
                        </a:rPr>
                        <a:t>0.000567</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solidFill>
                      <a:srgbClr val="FFF8B3"/>
                    </a:solidFill>
                  </a:tcPr>
                </a:tc>
                <a:tc>
                  <a:txBody>
                    <a:bodyPr/>
                    <a:lstStyle/>
                    <a:p>
                      <a:pPr marL="0" indent="0" algn="r">
                        <a:lnSpc>
                          <a:spcPct val="100000"/>
                        </a:lnSpc>
                        <a:buNone/>
                      </a:pPr>
                      <a:r>
                        <a:rPr lang="es-ES_tradnl" sz="1400" noProof="0" dirty="0">
                          <a:solidFill>
                            <a:srgbClr val="1D1D1B"/>
                          </a:solidFill>
                          <a:latin typeface="Roboto" pitchFamily="34" charset="0"/>
                          <a:ea typeface="Roboto" pitchFamily="34" charset="-122"/>
                          <a:cs typeface="Roboto" pitchFamily="34" charset="-120"/>
                        </a:rPr>
                        <a:t>0.00113</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solidFill>
                      <a:srgbClr val="FFF8B3"/>
                    </a:solidFill>
                  </a:tcPr>
                </a:tc>
                <a:tc>
                  <a:txBody>
                    <a:bodyPr/>
                    <a:lstStyle/>
                    <a:p>
                      <a:pPr marL="0" indent="0" algn="r">
                        <a:lnSpc>
                          <a:spcPct val="100000"/>
                        </a:lnSpc>
                        <a:buNone/>
                      </a:pPr>
                      <a:r>
                        <a:rPr lang="es-ES_tradnl" sz="1400" noProof="0" dirty="0">
                          <a:solidFill>
                            <a:srgbClr val="1D1D1B"/>
                          </a:solidFill>
                          <a:latin typeface="Roboto" pitchFamily="34" charset="0"/>
                          <a:ea typeface="Roboto" pitchFamily="34" charset="-122"/>
                          <a:cs typeface="Roboto" pitchFamily="34" charset="-120"/>
                        </a:rPr>
                        <a:t>0.000608</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solidFill>
                      <a:srgbClr val="FFF8B3"/>
                    </a:solidFill>
                  </a:tcPr>
                </a:tc>
                <a:tc>
                  <a:txBody>
                    <a:bodyPr/>
                    <a:lstStyle/>
                    <a:p>
                      <a:pPr marL="0" indent="0" algn="r">
                        <a:lnSpc>
                          <a:spcPct val="100000"/>
                        </a:lnSpc>
                        <a:buNone/>
                      </a:pPr>
                      <a:r>
                        <a:rPr lang="es-ES_tradnl" sz="1400" noProof="0" dirty="0">
                          <a:solidFill>
                            <a:srgbClr val="1D1D1B"/>
                          </a:solidFill>
                          <a:latin typeface="Roboto" pitchFamily="34" charset="0"/>
                          <a:ea typeface="Roboto" pitchFamily="34" charset="-122"/>
                          <a:cs typeface="Roboto" pitchFamily="34" charset="-120"/>
                        </a:rPr>
                        <a:t>1.86</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solidFill>
                      <a:srgbClr val="FFF8B3"/>
                    </a:solidFill>
                  </a:tcPr>
                </a:tc>
                <a:extLst>
                  <a:ext uri="{0D108BD9-81ED-4DB2-BD59-A6C34878D82A}">
                    <a16:rowId xmlns:a16="http://schemas.microsoft.com/office/drawing/2014/main" val="10001"/>
                  </a:ext>
                </a:extLst>
              </a:tr>
              <a:tr h="375000">
                <a:tc>
                  <a:txBody>
                    <a:bodyPr/>
                    <a:lstStyle/>
                    <a:p>
                      <a:pPr marL="0" indent="0" algn="l">
                        <a:lnSpc>
                          <a:spcPct val="100000"/>
                        </a:lnSpc>
                        <a:buNone/>
                      </a:pPr>
                      <a:r>
                        <a:rPr lang="es-ES_tradnl" sz="1400" b="1" noProof="0" dirty="0" err="1">
                          <a:solidFill>
                            <a:srgbClr val="3C3C3B"/>
                          </a:solidFill>
                          <a:latin typeface="Roboto" pitchFamily="34" charset="0"/>
                          <a:ea typeface="Roboto" pitchFamily="34" charset="-122"/>
                          <a:cs typeface="Roboto" pitchFamily="34" charset="-120"/>
                        </a:rPr>
                        <a:t>purpose</a:t>
                      </a:r>
                      <a:endParaRPr lang="es-ES_tradnl" sz="1400" b="1" noProof="0" dirty="0">
                        <a:solidFill>
                          <a:srgbClr val="3C3C3B"/>
                        </a:solidFill>
                        <a:latin typeface="Roboto" pitchFamily="34" charset="0"/>
                        <a:ea typeface="Roboto" pitchFamily="34" charset="-122"/>
                        <a:cs typeface="Roboto" pitchFamily="34" charset="-120"/>
                      </a:endParaRP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ES_tradnl" sz="1400" noProof="0" dirty="0">
                          <a:solidFill>
                            <a:srgbClr val="3C3C3B"/>
                          </a:solidFill>
                          <a:latin typeface="Roboto" pitchFamily="34" charset="0"/>
                          <a:ea typeface="Roboto" pitchFamily="34" charset="-122"/>
                          <a:cs typeface="Roboto" pitchFamily="34" charset="-120"/>
                        </a:rPr>
                        <a:t>0.000513</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ES_tradnl" sz="1400" noProof="0" dirty="0">
                          <a:solidFill>
                            <a:srgbClr val="3C3C3B"/>
                          </a:solidFill>
                          <a:latin typeface="Roboto" pitchFamily="34" charset="0"/>
                          <a:ea typeface="Roboto" pitchFamily="34" charset="-122"/>
                          <a:cs typeface="Roboto" pitchFamily="34" charset="-120"/>
                        </a:rPr>
                        <a:t>0.00103</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ES_tradnl" sz="1400" noProof="0" dirty="0">
                          <a:solidFill>
                            <a:srgbClr val="3C3C3B"/>
                          </a:solidFill>
                          <a:latin typeface="Roboto" pitchFamily="34" charset="0"/>
                          <a:ea typeface="Roboto" pitchFamily="34" charset="-122"/>
                          <a:cs typeface="Roboto" pitchFamily="34" charset="-120"/>
                        </a:rPr>
                        <a:t>0.000520</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ES_tradnl" sz="1400" noProof="0" dirty="0">
                          <a:solidFill>
                            <a:srgbClr val="3C3C3B"/>
                          </a:solidFill>
                          <a:latin typeface="Roboto" pitchFamily="34" charset="0"/>
                          <a:ea typeface="Roboto" pitchFamily="34" charset="-122"/>
                          <a:cs typeface="Roboto" pitchFamily="34" charset="-120"/>
                        </a:rPr>
                        <a:t>1.97</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extLst>
                  <a:ext uri="{0D108BD9-81ED-4DB2-BD59-A6C34878D82A}">
                    <a16:rowId xmlns:a16="http://schemas.microsoft.com/office/drawing/2014/main" val="10002"/>
                  </a:ext>
                </a:extLst>
              </a:tr>
              <a:tr h="375000">
                <a:tc>
                  <a:txBody>
                    <a:bodyPr/>
                    <a:lstStyle/>
                    <a:p>
                      <a:pPr marL="0" indent="0" algn="l">
                        <a:lnSpc>
                          <a:spcPct val="100000"/>
                        </a:lnSpc>
                        <a:buNone/>
                      </a:pPr>
                      <a:r>
                        <a:rPr lang="es-ES_tradnl" sz="1400" b="1" noProof="0" dirty="0" err="1">
                          <a:solidFill>
                            <a:srgbClr val="3C3C3B"/>
                          </a:solidFill>
                          <a:latin typeface="Roboto" pitchFamily="34" charset="0"/>
                          <a:ea typeface="Roboto" pitchFamily="34" charset="-122"/>
                          <a:cs typeface="Roboto" pitchFamily="34" charset="-120"/>
                        </a:rPr>
                        <a:t>credit_history</a:t>
                      </a:r>
                      <a:endParaRPr lang="es-ES_tradnl" sz="1400" b="1" noProof="0" dirty="0">
                        <a:solidFill>
                          <a:srgbClr val="3C3C3B"/>
                        </a:solidFill>
                        <a:latin typeface="Roboto" pitchFamily="34" charset="0"/>
                        <a:ea typeface="Roboto" pitchFamily="34" charset="-122"/>
                        <a:cs typeface="Roboto" pitchFamily="34" charset="-120"/>
                      </a:endParaRP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ES_tradnl" sz="1400" noProof="0" dirty="0">
                          <a:solidFill>
                            <a:srgbClr val="3C3C3B"/>
                          </a:solidFill>
                          <a:latin typeface="Roboto" pitchFamily="34" charset="0"/>
                          <a:ea typeface="Roboto" pitchFamily="34" charset="-122"/>
                          <a:cs typeface="Roboto" pitchFamily="34" charset="-120"/>
                        </a:rPr>
                        <a:t>0.000675</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ES_tradnl" sz="1400" noProof="0" dirty="0">
                          <a:solidFill>
                            <a:srgbClr val="3C3C3B"/>
                          </a:solidFill>
                          <a:latin typeface="Roboto" pitchFamily="34" charset="0"/>
                          <a:ea typeface="Roboto" pitchFamily="34" charset="-122"/>
                          <a:cs typeface="Roboto" pitchFamily="34" charset="-120"/>
                        </a:rPr>
                        <a:t>0.00135</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ES_tradnl" sz="1400" noProof="0" dirty="0">
                          <a:solidFill>
                            <a:srgbClr val="3C3C3B"/>
                          </a:solidFill>
                          <a:latin typeface="Roboto" pitchFamily="34" charset="0"/>
                          <a:ea typeface="Roboto" pitchFamily="34" charset="-122"/>
                          <a:cs typeface="Roboto" pitchFamily="34" charset="-120"/>
                        </a:rPr>
                        <a:t>0.000817</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ES_tradnl" sz="1400" noProof="0" dirty="0">
                          <a:solidFill>
                            <a:srgbClr val="3C3C3B"/>
                          </a:solidFill>
                          <a:latin typeface="Roboto" pitchFamily="34" charset="0"/>
                          <a:ea typeface="Roboto" pitchFamily="34" charset="-122"/>
                          <a:cs typeface="Roboto" pitchFamily="34" charset="-120"/>
                        </a:rPr>
                        <a:t>1.65</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extLst>
                  <a:ext uri="{0D108BD9-81ED-4DB2-BD59-A6C34878D82A}">
                    <a16:rowId xmlns:a16="http://schemas.microsoft.com/office/drawing/2014/main" val="10003"/>
                  </a:ext>
                </a:extLst>
              </a:tr>
              <a:tr h="375000">
                <a:tc>
                  <a:txBody>
                    <a:bodyPr/>
                    <a:lstStyle/>
                    <a:p>
                      <a:pPr marL="0" indent="0" algn="l">
                        <a:lnSpc>
                          <a:spcPct val="100000"/>
                        </a:lnSpc>
                        <a:buNone/>
                      </a:pPr>
                      <a:r>
                        <a:rPr lang="es-ES_tradnl" sz="1400" b="1" noProof="0" dirty="0" err="1">
                          <a:solidFill>
                            <a:srgbClr val="3C3C3B"/>
                          </a:solidFill>
                          <a:latin typeface="Roboto" pitchFamily="34" charset="0"/>
                          <a:ea typeface="Roboto" pitchFamily="34" charset="-122"/>
                          <a:cs typeface="Roboto" pitchFamily="34" charset="-120"/>
                        </a:rPr>
                        <a:t>housing</a:t>
                      </a:r>
                      <a:endParaRPr lang="es-ES_tradnl" sz="1400" b="1" noProof="0" dirty="0">
                        <a:solidFill>
                          <a:srgbClr val="3C3C3B"/>
                        </a:solidFill>
                        <a:latin typeface="Roboto" pitchFamily="34" charset="0"/>
                        <a:ea typeface="Roboto" pitchFamily="34" charset="-122"/>
                        <a:cs typeface="Roboto" pitchFamily="34" charset="-120"/>
                      </a:endParaRP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ES_tradnl" sz="1400" noProof="0" dirty="0">
                          <a:solidFill>
                            <a:srgbClr val="3C3C3B"/>
                          </a:solidFill>
                          <a:latin typeface="Roboto" pitchFamily="34" charset="0"/>
                          <a:ea typeface="Roboto" pitchFamily="34" charset="-122"/>
                          <a:cs typeface="Roboto" pitchFamily="34" charset="-120"/>
                        </a:rPr>
                        <a:t>0.000709</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ES_tradnl" sz="1400" noProof="0" dirty="0">
                          <a:solidFill>
                            <a:srgbClr val="3C3C3B"/>
                          </a:solidFill>
                          <a:latin typeface="Roboto" pitchFamily="34" charset="0"/>
                          <a:ea typeface="Roboto" pitchFamily="34" charset="-122"/>
                          <a:cs typeface="Roboto" pitchFamily="34" charset="-120"/>
                        </a:rPr>
                        <a:t>0.00142</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ES_tradnl" sz="1400" noProof="0" dirty="0">
                          <a:solidFill>
                            <a:srgbClr val="3C3C3B"/>
                          </a:solidFill>
                          <a:latin typeface="Roboto" pitchFamily="34" charset="0"/>
                          <a:ea typeface="Roboto" pitchFamily="34" charset="-122"/>
                          <a:cs typeface="Roboto" pitchFamily="34" charset="-120"/>
                        </a:rPr>
                        <a:t>0.000927</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ES_tradnl" sz="1400" noProof="0" dirty="0">
                          <a:solidFill>
                            <a:srgbClr val="3C3C3B"/>
                          </a:solidFill>
                          <a:latin typeface="Roboto" pitchFamily="34" charset="0"/>
                          <a:ea typeface="Roboto" pitchFamily="34" charset="-122"/>
                          <a:cs typeface="Roboto" pitchFamily="34" charset="-120"/>
                        </a:rPr>
                        <a:t>1.53</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extLst>
                  <a:ext uri="{0D108BD9-81ED-4DB2-BD59-A6C34878D82A}">
                    <a16:rowId xmlns:a16="http://schemas.microsoft.com/office/drawing/2014/main" val="10004"/>
                  </a:ext>
                </a:extLst>
              </a:tr>
              <a:tr h="375000">
                <a:tc>
                  <a:txBody>
                    <a:bodyPr/>
                    <a:lstStyle/>
                    <a:p>
                      <a:pPr marL="0" indent="0" algn="l">
                        <a:lnSpc>
                          <a:spcPct val="100000"/>
                        </a:lnSpc>
                        <a:buNone/>
                      </a:pPr>
                      <a:r>
                        <a:rPr lang="es-ES_tradnl" sz="1400" b="1" noProof="0" dirty="0" err="1">
                          <a:solidFill>
                            <a:srgbClr val="3C3C3B"/>
                          </a:solidFill>
                          <a:latin typeface="Roboto" pitchFamily="34" charset="0"/>
                          <a:ea typeface="Roboto" pitchFamily="34" charset="-122"/>
                          <a:cs typeface="Roboto" pitchFamily="34" charset="-120"/>
                        </a:rPr>
                        <a:t>status_account</a:t>
                      </a:r>
                      <a:r>
                        <a:rPr lang="es-ES_tradnl" sz="1400" b="1" noProof="0" dirty="0">
                          <a:solidFill>
                            <a:srgbClr val="3C3C3B"/>
                          </a:solidFill>
                          <a:latin typeface="Roboto" pitchFamily="34" charset="0"/>
                          <a:ea typeface="Roboto" pitchFamily="34" charset="-122"/>
                          <a:cs typeface="Roboto" pitchFamily="34" charset="-120"/>
                        </a:rPr>
                        <a:t> + </a:t>
                      </a:r>
                      <a:r>
                        <a:rPr lang="es-ES_tradnl" sz="1400" b="1" noProof="0" dirty="0" err="1">
                          <a:solidFill>
                            <a:srgbClr val="3C3C3B"/>
                          </a:solidFill>
                          <a:latin typeface="Roboto" pitchFamily="34" charset="0"/>
                          <a:ea typeface="Roboto" pitchFamily="34" charset="-122"/>
                          <a:cs typeface="Roboto" pitchFamily="34" charset="-120"/>
                        </a:rPr>
                        <a:t>month_duration</a:t>
                      </a:r>
                      <a:endParaRPr lang="es-ES_tradnl" sz="1400" b="1" noProof="0" dirty="0">
                        <a:solidFill>
                          <a:srgbClr val="3C3C3B"/>
                        </a:solidFill>
                        <a:latin typeface="Roboto" pitchFamily="34" charset="0"/>
                        <a:ea typeface="Roboto" pitchFamily="34" charset="-122"/>
                        <a:cs typeface="Roboto" pitchFamily="34" charset="-120"/>
                      </a:endParaRP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ES_tradnl" sz="1400" noProof="0" dirty="0">
                          <a:solidFill>
                            <a:srgbClr val="3C3C3B"/>
                          </a:solidFill>
                          <a:latin typeface="Roboto" pitchFamily="34" charset="0"/>
                          <a:ea typeface="Roboto" pitchFamily="34" charset="-122"/>
                          <a:cs typeface="Roboto" pitchFamily="34" charset="-120"/>
                        </a:rPr>
                        <a:t>0.000722</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ES_tradnl" sz="1400" noProof="0" dirty="0">
                          <a:solidFill>
                            <a:srgbClr val="3C3C3B"/>
                          </a:solidFill>
                          <a:latin typeface="Roboto" pitchFamily="34" charset="0"/>
                          <a:ea typeface="Roboto" pitchFamily="34" charset="-122"/>
                          <a:cs typeface="Roboto" pitchFamily="34" charset="-120"/>
                        </a:rPr>
                        <a:t>0.00144</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ES_tradnl" sz="1400" noProof="0" dirty="0">
                          <a:solidFill>
                            <a:srgbClr val="3C3C3B"/>
                          </a:solidFill>
                          <a:latin typeface="Roboto" pitchFamily="34" charset="0"/>
                          <a:ea typeface="Roboto" pitchFamily="34" charset="-122"/>
                          <a:cs typeface="Roboto" pitchFamily="34" charset="-120"/>
                        </a:rPr>
                        <a:t>0.000950</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ES_tradnl" sz="1400" noProof="0" dirty="0">
                          <a:solidFill>
                            <a:srgbClr val="3C3C3B"/>
                          </a:solidFill>
                          <a:latin typeface="Roboto" pitchFamily="34" charset="0"/>
                          <a:ea typeface="Roboto" pitchFamily="34" charset="-122"/>
                          <a:cs typeface="Roboto" pitchFamily="34" charset="-120"/>
                        </a:rPr>
                        <a:t>1.52</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extLst>
                  <a:ext uri="{0D108BD9-81ED-4DB2-BD59-A6C34878D82A}">
                    <a16:rowId xmlns:a16="http://schemas.microsoft.com/office/drawing/2014/main" val="10005"/>
                  </a:ext>
                </a:extLst>
              </a:tr>
              <a:tr h="375000">
                <a:tc>
                  <a:txBody>
                    <a:bodyPr/>
                    <a:lstStyle/>
                    <a:p>
                      <a:pPr marL="0" indent="0" algn="l">
                        <a:lnSpc>
                          <a:spcPct val="100000"/>
                        </a:lnSpc>
                        <a:buNone/>
                      </a:pPr>
                      <a:r>
                        <a:rPr lang="es-ES_tradnl" sz="1400" b="1" noProof="0" dirty="0" err="1">
                          <a:solidFill>
                            <a:srgbClr val="3C3C3B"/>
                          </a:solidFill>
                          <a:latin typeface="Roboto" pitchFamily="34" charset="0"/>
                          <a:ea typeface="Roboto" pitchFamily="34" charset="-122"/>
                          <a:cs typeface="Roboto" pitchFamily="34" charset="-120"/>
                        </a:rPr>
                        <a:t>status_savings</a:t>
                      </a:r>
                      <a:r>
                        <a:rPr lang="es-ES_tradnl" sz="1400" b="1" noProof="0" dirty="0">
                          <a:solidFill>
                            <a:srgbClr val="3C3C3B"/>
                          </a:solidFill>
                          <a:latin typeface="Roboto" pitchFamily="34" charset="0"/>
                          <a:ea typeface="Roboto" pitchFamily="34" charset="-122"/>
                          <a:cs typeface="Roboto" pitchFamily="34" charset="-120"/>
                        </a:rPr>
                        <a:t> + </a:t>
                      </a:r>
                      <a:r>
                        <a:rPr lang="es-ES_tradnl" sz="1400" b="1" noProof="0" dirty="0" err="1">
                          <a:solidFill>
                            <a:srgbClr val="3C3C3B"/>
                          </a:solidFill>
                          <a:latin typeface="Roboto" pitchFamily="34" charset="0"/>
                          <a:ea typeface="Roboto" pitchFamily="34" charset="-122"/>
                          <a:cs typeface="Roboto" pitchFamily="34" charset="-120"/>
                        </a:rPr>
                        <a:t>years_employment</a:t>
                      </a:r>
                      <a:endParaRPr lang="es-ES_tradnl" sz="1400" b="1" noProof="0" dirty="0">
                        <a:solidFill>
                          <a:srgbClr val="3C3C3B"/>
                        </a:solidFill>
                        <a:latin typeface="Roboto" pitchFamily="34" charset="0"/>
                        <a:ea typeface="Roboto" pitchFamily="34" charset="-122"/>
                        <a:cs typeface="Roboto" pitchFamily="34" charset="-120"/>
                      </a:endParaRP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ES_tradnl" sz="1400" noProof="0" dirty="0">
                          <a:solidFill>
                            <a:srgbClr val="3C3C3B"/>
                          </a:solidFill>
                          <a:latin typeface="Roboto" pitchFamily="34" charset="0"/>
                          <a:ea typeface="Roboto" pitchFamily="34" charset="-122"/>
                          <a:cs typeface="Roboto" pitchFamily="34" charset="-120"/>
                        </a:rPr>
                        <a:t>0.000820</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ES_tradnl" sz="1400" noProof="0" dirty="0">
                          <a:solidFill>
                            <a:srgbClr val="3C3C3B"/>
                          </a:solidFill>
                          <a:latin typeface="Roboto" pitchFamily="34" charset="0"/>
                          <a:ea typeface="Roboto" pitchFamily="34" charset="-122"/>
                          <a:cs typeface="Roboto" pitchFamily="34" charset="-120"/>
                        </a:rPr>
                        <a:t>0.00164</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ES_tradnl" sz="1400" noProof="0" dirty="0">
                          <a:solidFill>
                            <a:srgbClr val="3C3C3B"/>
                          </a:solidFill>
                          <a:latin typeface="Roboto" pitchFamily="34" charset="0"/>
                          <a:ea typeface="Roboto" pitchFamily="34" charset="-122"/>
                          <a:cs typeface="Roboto" pitchFamily="34" charset="-120"/>
                        </a:rPr>
                        <a:t>0.00129</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ES_tradnl" sz="1400" noProof="0" dirty="0">
                          <a:solidFill>
                            <a:srgbClr val="3C3C3B"/>
                          </a:solidFill>
                          <a:latin typeface="Roboto" pitchFamily="34" charset="0"/>
                          <a:ea typeface="Roboto" pitchFamily="34" charset="-122"/>
                          <a:cs typeface="Roboto" pitchFamily="34" charset="-120"/>
                        </a:rPr>
                        <a:t>1.27</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extLst>
                  <a:ext uri="{0D108BD9-81ED-4DB2-BD59-A6C34878D82A}">
                    <a16:rowId xmlns:a16="http://schemas.microsoft.com/office/drawing/2014/main" val="10006"/>
                  </a:ext>
                </a:extLst>
              </a:tr>
              <a:tr h="375000">
                <a:tc>
                  <a:txBody>
                    <a:bodyPr/>
                    <a:lstStyle/>
                    <a:p>
                      <a:pPr marL="0" indent="0" algn="l">
                        <a:lnSpc>
                          <a:spcPct val="100000"/>
                        </a:lnSpc>
                        <a:buNone/>
                      </a:pPr>
                      <a:r>
                        <a:rPr lang="es-ES_tradnl" sz="1400" b="1" noProof="0" dirty="0" err="1">
                          <a:solidFill>
                            <a:srgbClr val="3C3C3B"/>
                          </a:solidFill>
                          <a:latin typeface="Roboto" pitchFamily="34" charset="0"/>
                          <a:ea typeface="Roboto" pitchFamily="34" charset="-122"/>
                          <a:cs typeface="Roboto" pitchFamily="34" charset="-120"/>
                        </a:rPr>
                        <a:t>credit_amount</a:t>
                      </a:r>
                      <a:endParaRPr lang="es-ES_tradnl" sz="1400" b="1" noProof="0" dirty="0">
                        <a:solidFill>
                          <a:srgbClr val="3C3C3B"/>
                        </a:solidFill>
                        <a:latin typeface="Roboto" pitchFamily="34" charset="0"/>
                        <a:ea typeface="Roboto" pitchFamily="34" charset="-122"/>
                        <a:cs typeface="Roboto" pitchFamily="34" charset="-120"/>
                      </a:endParaRP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ES_tradnl" sz="1400" noProof="0" dirty="0">
                          <a:solidFill>
                            <a:srgbClr val="3C3C3B"/>
                          </a:solidFill>
                          <a:latin typeface="Roboto" pitchFamily="34" charset="0"/>
                          <a:ea typeface="Roboto" pitchFamily="34" charset="-122"/>
                          <a:cs typeface="Roboto" pitchFamily="34" charset="-120"/>
                        </a:rPr>
                        <a:t>0.000922</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ES_tradnl" sz="1400" noProof="0" dirty="0">
                          <a:solidFill>
                            <a:srgbClr val="3C3C3B"/>
                          </a:solidFill>
                          <a:latin typeface="Roboto" pitchFamily="34" charset="0"/>
                          <a:ea typeface="Roboto" pitchFamily="34" charset="-122"/>
                          <a:cs typeface="Roboto" pitchFamily="34" charset="-120"/>
                        </a:rPr>
                        <a:t>0.00184</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ES_tradnl" sz="1400" noProof="0" dirty="0">
                          <a:solidFill>
                            <a:srgbClr val="3C3C3B"/>
                          </a:solidFill>
                          <a:latin typeface="Roboto" pitchFamily="34" charset="0"/>
                          <a:ea typeface="Roboto" pitchFamily="34" charset="-122"/>
                          <a:cs typeface="Roboto" pitchFamily="34" charset="-120"/>
                        </a:rPr>
                        <a:t>0.00165</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ES_tradnl" sz="1400" noProof="0" dirty="0">
                          <a:solidFill>
                            <a:srgbClr val="3C3C3B"/>
                          </a:solidFill>
                          <a:latin typeface="Roboto" pitchFamily="34" charset="0"/>
                          <a:ea typeface="Roboto" pitchFamily="34" charset="-122"/>
                          <a:cs typeface="Roboto" pitchFamily="34" charset="-120"/>
                        </a:rPr>
                        <a:t>1.12</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extLst>
                  <a:ext uri="{0D108BD9-81ED-4DB2-BD59-A6C34878D82A}">
                    <a16:rowId xmlns:a16="http://schemas.microsoft.com/office/drawing/2014/main" val="10007"/>
                  </a:ext>
                </a:extLst>
              </a:tr>
              <a:tr h="380000">
                <a:tc>
                  <a:txBody>
                    <a:bodyPr/>
                    <a:lstStyle/>
                    <a:p>
                      <a:pPr marL="0" indent="0" algn="l">
                        <a:lnSpc>
                          <a:spcPct val="100000"/>
                        </a:lnSpc>
                        <a:buNone/>
                      </a:pPr>
                      <a:r>
                        <a:rPr lang="es-ES_tradnl" sz="1400" b="1" noProof="0" dirty="0" err="1">
                          <a:solidFill>
                            <a:srgbClr val="1D1D1B"/>
                          </a:solidFill>
                          <a:latin typeface="Roboto" pitchFamily="34" charset="0"/>
                          <a:ea typeface="Roboto" pitchFamily="34" charset="-122"/>
                          <a:cs typeface="Roboto" pitchFamily="34" charset="-120"/>
                        </a:rPr>
                        <a:t>Σ</a:t>
                      </a:r>
                      <a:r>
                        <a:rPr lang="es-ES_tradnl" sz="1400" b="1" noProof="0" dirty="0">
                          <a:solidFill>
                            <a:srgbClr val="1D1D1B"/>
                          </a:solidFill>
                          <a:latin typeface="Roboto" pitchFamily="34" charset="0"/>
                          <a:ea typeface="Roboto" pitchFamily="34" charset="-122"/>
                          <a:cs typeface="Roboto" pitchFamily="34" charset="-120"/>
                        </a:rPr>
                        <a:t> (Teorema 4)</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endParaRPr lang="es-ES_tradnl" noProof="0" dirty="0"/>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ES_tradnl" sz="1400" b="1" noProof="0" dirty="0">
                          <a:solidFill>
                            <a:srgbClr val="1D1D1B"/>
                          </a:solidFill>
                          <a:latin typeface="Roboto" pitchFamily="34" charset="0"/>
                          <a:ea typeface="Roboto" pitchFamily="34" charset="-122"/>
                          <a:cs typeface="Roboto" pitchFamily="34" charset="-120"/>
                        </a:rPr>
                        <a:t>0.00985</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ES_tradnl" sz="1400" b="1" noProof="0" dirty="0">
                          <a:solidFill>
                            <a:srgbClr val="1D1D1B"/>
                          </a:solidFill>
                          <a:latin typeface="Roboto" pitchFamily="34" charset="0"/>
                          <a:ea typeface="Roboto" pitchFamily="34" charset="-122"/>
                          <a:cs typeface="Roboto" pitchFamily="34" charset="-120"/>
                        </a:rPr>
                        <a:t>0.00676</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tc>
                  <a:txBody>
                    <a:bodyPr/>
                    <a:lstStyle/>
                    <a:p>
                      <a:pPr marL="0" indent="0" algn="r">
                        <a:lnSpc>
                          <a:spcPct val="100000"/>
                        </a:lnSpc>
                        <a:buNone/>
                      </a:pPr>
                      <a:r>
                        <a:rPr lang="es-ES_tradnl" sz="1400" b="1" noProof="0" dirty="0">
                          <a:solidFill>
                            <a:srgbClr val="1D1D1B"/>
                          </a:solidFill>
                          <a:latin typeface="Roboto" pitchFamily="34" charset="0"/>
                          <a:ea typeface="Roboto" pitchFamily="34" charset="-122"/>
                          <a:cs typeface="Roboto" pitchFamily="34" charset="-120"/>
                        </a:rPr>
                        <a:t>1.46</a:t>
                      </a:r>
                    </a:p>
                  </a:txBody>
                  <a:tcPr marT="57785" marB="57785" anchor="ctr">
                    <a:lnL w="0" cap="flat" cmpd="sng" algn="ctr">
                      <a:noFill/>
                      <a:prstDash val="solid"/>
                      <a:round/>
                      <a:headEnd type="none" w="med" len="med"/>
                      <a:tailEnd type="none" w="med" len="med"/>
                    </a:lnL>
                    <a:lnR w="0" cap="flat" cmpd="sng" algn="ctr">
                      <a:noFill/>
                      <a:prstDash val="solid"/>
                      <a:round/>
                      <a:headEnd type="none" w="med" len="med"/>
                      <a:tailEnd type="none" w="med" len="med"/>
                    </a:lnR>
                    <a:lnT w="9525" cap="flat" cmpd="sng" algn="ctr">
                      <a:solidFill>
                        <a:srgbClr val="D4D4D0"/>
                      </a:solidFill>
                      <a:prstDash val="solid"/>
                      <a:round/>
                      <a:headEnd type="none" w="med" len="med"/>
                      <a:tailEnd type="none" w="med" len="med"/>
                    </a:lnT>
                    <a:lnB w="9525" cap="flat" cmpd="sng" algn="ctr">
                      <a:solidFill>
                        <a:srgbClr val="D4D4D0"/>
                      </a:solid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sp>
        <p:nvSpPr>
          <p:cNvPr id="10" name="Shape 6"/>
          <p:cNvSpPr/>
          <p:nvPr/>
        </p:nvSpPr>
        <p:spPr>
          <a:xfrm>
            <a:off x="812800" y="5588000"/>
            <a:ext cx="50800" cy="482600"/>
          </a:xfrm>
          <a:prstGeom prst="rect">
            <a:avLst/>
          </a:prstGeom>
          <a:solidFill>
            <a:srgbClr val="FFEE00"/>
          </a:solidFill>
          <a:ln/>
        </p:spPr>
        <p:txBody>
          <a:bodyPr/>
          <a:lstStyle/>
          <a:p>
            <a:endParaRPr lang="es-ES_tradnl" noProof="0" dirty="0"/>
          </a:p>
        </p:txBody>
      </p:sp>
      <p:sp>
        <p:nvSpPr>
          <p:cNvPr id="13" name="Text 9"/>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a:solidFill>
                  <a:srgbClr val="1D1D1B"/>
                </a:solidFill>
                <a:latin typeface="Roboto" pitchFamily="34" charset="0"/>
                <a:ea typeface="Roboto" pitchFamily="34" charset="-122"/>
                <a:cs typeface="Roboto" pitchFamily="34" charset="-120"/>
              </a:rPr>
              <a:t>13</a:t>
            </a:r>
            <a:endParaRPr lang="es-ES_tradnl" sz="1200" noProof="0" dirty="0"/>
          </a:p>
        </p:txBody>
      </p:sp>
    </p:spTree>
    <p:extLst>
      <p:ext uri="{BB962C8B-B14F-4D97-AF65-F5344CB8AC3E}">
        <p14:creationId xmlns:p14="http://schemas.microsoft.com/office/powerpoint/2010/main" val="283119784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6">
    <p:bg>
      <p:bgPr>
        <a:solidFill>
          <a:srgbClr val="FFEE00"/>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l="-9" r="-9"/>
          <a:stretch/>
        </p:blipFill>
        <p:spPr>
          <a:xfrm>
            <a:off x="7493000" y="0"/>
            <a:ext cx="4699000" cy="6858000"/>
          </a:xfrm>
          <a:prstGeom prst="rect">
            <a:avLst/>
          </a:prstGeom>
        </p:spPr>
      </p:pic>
      <p:sp>
        <p:nvSpPr>
          <p:cNvPr id="3" name="Text 0"/>
          <p:cNvSpPr/>
          <p:nvPr/>
        </p:nvSpPr>
        <p:spPr>
          <a:xfrm>
            <a:off x="7978140" y="3937000"/>
            <a:ext cx="3401060" cy="1803400"/>
          </a:xfrm>
          <a:prstGeom prst="rect">
            <a:avLst/>
          </a:prstGeom>
          <a:noFill/>
          <a:ln/>
        </p:spPr>
        <p:txBody>
          <a:bodyPr wrap="square" lIns="0" tIns="0" rIns="0" bIns="0" rtlCol="0" anchor="t">
            <a:normAutofit fontScale="92500"/>
          </a:bodyPr>
          <a:lstStyle/>
          <a:p>
            <a:pPr marL="0" indent="0" algn="r">
              <a:lnSpc>
                <a:spcPts val="14000"/>
              </a:lnSpc>
              <a:buNone/>
            </a:pPr>
            <a:r>
              <a:rPr lang="es-ES_tradnl" sz="14000" b="1" noProof="0" dirty="0">
                <a:solidFill>
                  <a:srgbClr val="FFEE00"/>
                </a:solidFill>
                <a:latin typeface="DM Sans" pitchFamily="34" charset="0"/>
                <a:ea typeface="DM Sans" pitchFamily="34" charset="-122"/>
                <a:cs typeface="DM Sans" pitchFamily="34" charset="-120"/>
              </a:rPr>
              <a:t>II</a:t>
            </a:r>
            <a:endParaRPr lang="es-ES_tradnl" sz="14000" noProof="0" dirty="0"/>
          </a:p>
        </p:txBody>
      </p:sp>
      <p:pic>
        <p:nvPicPr>
          <p:cNvPr id="4" name="Image 1" descr="Universidad de los Andes"/>
          <p:cNvPicPr>
            <a:picLocks noChangeAspect="1"/>
          </p:cNvPicPr>
          <p:nvPr/>
        </p:nvPicPr>
        <p:blipFill>
          <a:blip r:embed="rId4"/>
          <a:srcRect/>
          <a:stretch/>
        </p:blipFill>
        <p:spPr>
          <a:xfrm>
            <a:off x="812800" y="609600"/>
            <a:ext cx="1371600" cy="431800"/>
          </a:xfrm>
          <a:prstGeom prst="rect">
            <a:avLst/>
          </a:prstGeom>
        </p:spPr>
      </p:pic>
      <p:sp>
        <p:nvSpPr>
          <p:cNvPr id="5" name="Text 1"/>
          <p:cNvSpPr/>
          <p:nvPr/>
        </p:nvSpPr>
        <p:spPr>
          <a:xfrm>
            <a:off x="812800" y="1964730"/>
            <a:ext cx="6409690" cy="274241"/>
          </a:xfrm>
          <a:prstGeom prst="rect">
            <a:avLst/>
          </a:prstGeom>
          <a:noFill/>
          <a:ln/>
        </p:spPr>
        <p:txBody>
          <a:bodyPr wrap="square" lIns="0" tIns="0" rIns="0" bIns="0" rtlCol="0" anchor="t">
            <a:normAutofit/>
          </a:bodyPr>
          <a:lstStyle/>
          <a:p>
            <a:pPr marL="0" indent="0" algn="l">
              <a:lnSpc>
                <a:spcPts val="1960"/>
              </a:lnSpc>
              <a:buNone/>
            </a:pPr>
            <a:r>
              <a:rPr lang="es-ES_tradnl" sz="1400" b="1" kern="0" spc="200" noProof="0" dirty="0">
                <a:solidFill>
                  <a:srgbClr val="1D1D1B"/>
                </a:solidFill>
                <a:latin typeface="DM Sans" pitchFamily="34" charset="0"/>
                <a:ea typeface="DM Sans" pitchFamily="34" charset="-122"/>
                <a:cs typeface="DM Sans" pitchFamily="34" charset="-120"/>
              </a:rPr>
              <a:t>ACTO II</a:t>
            </a:r>
            <a:endParaRPr lang="es-ES_tradnl" sz="1400" noProof="0" dirty="0"/>
          </a:p>
        </p:txBody>
      </p:sp>
      <p:sp>
        <p:nvSpPr>
          <p:cNvPr id="6" name="Text 2"/>
          <p:cNvSpPr>
            <a:spLocks noGrp="1"/>
          </p:cNvSpPr>
          <p:nvPr>
            <p:ph type="title"/>
          </p:nvPr>
        </p:nvSpPr>
        <p:spPr>
          <a:xfrm>
            <a:off x="812800" y="2391370"/>
            <a:ext cx="6409690" cy="1305520"/>
          </a:xfrm>
          <a:prstGeom prst="rect">
            <a:avLst/>
          </a:prstGeom>
          <a:noFill/>
          <a:ln/>
        </p:spPr>
        <p:txBody>
          <a:bodyPr wrap="square" lIns="0" tIns="0" rIns="0" bIns="0" rtlCol="0" anchor="t">
            <a:normAutofit/>
          </a:bodyPr>
          <a:lstStyle/>
          <a:p>
            <a:pPr marL="0" indent="0" algn="l">
              <a:lnSpc>
                <a:spcPts val="5040"/>
              </a:lnSpc>
              <a:buNone/>
            </a:pPr>
            <a:r>
              <a:rPr lang="es-ES_tradnl" sz="4800" b="1" i="0" kern="0" spc="-100" noProof="0" dirty="0">
                <a:solidFill>
                  <a:srgbClr val="1D1D1B"/>
                </a:solidFill>
                <a:latin typeface="DM Sans" pitchFamily="34" charset="0"/>
                <a:ea typeface="DM Sans" pitchFamily="34" charset="-122"/>
                <a:cs typeface="DM Sans" pitchFamily="34" charset="-120"/>
              </a:rPr>
              <a:t>Dónde está la privacidad</a:t>
            </a:r>
            <a:endParaRPr lang="es-ES_tradnl" sz="4800" noProof="0" dirty="0"/>
          </a:p>
        </p:txBody>
      </p:sp>
      <p:sp>
        <p:nvSpPr>
          <p:cNvPr id="7" name="Text 3"/>
          <p:cNvSpPr/>
          <p:nvPr/>
        </p:nvSpPr>
        <p:spPr>
          <a:xfrm>
            <a:off x="812800" y="3849291"/>
            <a:ext cx="6409690" cy="322560"/>
          </a:xfrm>
          <a:prstGeom prst="rect">
            <a:avLst/>
          </a:prstGeom>
          <a:noFill/>
          <a:ln/>
        </p:spPr>
        <p:txBody>
          <a:bodyPr wrap="square" lIns="0" tIns="0" rIns="0" bIns="0" rtlCol="0" anchor="t">
            <a:normAutofit/>
          </a:bodyPr>
          <a:lstStyle/>
          <a:p>
            <a:pPr marL="0" indent="0" algn="l">
              <a:lnSpc>
                <a:spcPts val="2340"/>
              </a:lnSpc>
              <a:buNone/>
            </a:pPr>
            <a:r>
              <a:rPr lang="es-ES_tradnl" sz="1800" noProof="0">
                <a:solidFill>
                  <a:srgbClr val="1D1D1B"/>
                </a:solidFill>
                <a:latin typeface="Roboto" pitchFamily="34" charset="0"/>
                <a:ea typeface="Roboto" pitchFamily="34" charset="-122"/>
                <a:cs typeface="Roboto" pitchFamily="34" charset="-120"/>
              </a:rPr>
              <a:t>4 · Medir: copias y codificación</a:t>
            </a:r>
            <a:endParaRPr lang="es-ES_tradnl" sz="1800" noProof="0" dirty="0"/>
          </a:p>
        </p:txBody>
      </p:sp>
      <p:sp>
        <p:nvSpPr>
          <p:cNvPr id="8" name="Text 4"/>
          <p:cNvSpPr/>
          <p:nvPr/>
        </p:nvSpPr>
        <p:spPr>
          <a:xfrm>
            <a:off x="812800" y="4222651"/>
            <a:ext cx="6409690" cy="322560"/>
          </a:xfrm>
          <a:prstGeom prst="rect">
            <a:avLst/>
          </a:prstGeom>
          <a:noFill/>
          <a:ln/>
        </p:spPr>
        <p:txBody>
          <a:bodyPr wrap="square" lIns="0" tIns="0" rIns="0" bIns="0" rtlCol="0" anchor="t">
            <a:normAutofit/>
          </a:bodyPr>
          <a:lstStyle/>
          <a:p>
            <a:pPr marL="0" indent="0" algn="l">
              <a:lnSpc>
                <a:spcPts val="2340"/>
              </a:lnSpc>
              <a:buNone/>
            </a:pPr>
            <a:r>
              <a:rPr lang="es-ES_tradnl" sz="1800" noProof="0">
                <a:solidFill>
                  <a:srgbClr val="1D1D1B"/>
                </a:solidFill>
                <a:latin typeface="Roboto" pitchFamily="34" charset="0"/>
                <a:ea typeface="Roboto" pitchFamily="34" charset="-122"/>
                <a:cs typeface="Roboto" pitchFamily="34" charset="-120"/>
              </a:rPr>
              <a:t>5 · El ruido visto desde un qubit</a:t>
            </a:r>
            <a:endParaRPr lang="es-ES_tradnl" sz="1800" noProof="0" dirty="0"/>
          </a:p>
        </p:txBody>
      </p:sp>
      <p:sp>
        <p:nvSpPr>
          <p:cNvPr id="9" name="Text 5"/>
          <p:cNvSpPr/>
          <p:nvPr/>
        </p:nvSpPr>
        <p:spPr>
          <a:xfrm>
            <a:off x="812800" y="4596011"/>
            <a:ext cx="6409690" cy="322560"/>
          </a:xfrm>
          <a:prstGeom prst="rect">
            <a:avLst/>
          </a:prstGeom>
          <a:noFill/>
          <a:ln/>
        </p:spPr>
        <p:txBody>
          <a:bodyPr wrap="square" lIns="0" tIns="0" rIns="0" bIns="0" rtlCol="0" anchor="t">
            <a:normAutofit/>
          </a:bodyPr>
          <a:lstStyle/>
          <a:p>
            <a:pPr marL="0" indent="0" algn="l">
              <a:lnSpc>
                <a:spcPts val="2340"/>
              </a:lnSpc>
              <a:buNone/>
            </a:pPr>
            <a:r>
              <a:rPr lang="es-ES_tradnl" sz="1800" noProof="0">
                <a:solidFill>
                  <a:srgbClr val="1D1D1B"/>
                </a:solidFill>
                <a:latin typeface="Roboto" pitchFamily="34" charset="0"/>
                <a:ea typeface="Roboto" pitchFamily="34" charset="-122"/>
                <a:cs typeface="Roboto" pitchFamily="34" charset="-120"/>
              </a:rPr>
              <a:t>6 · Una medición contra muchas</a:t>
            </a:r>
            <a:endParaRPr lang="es-ES_tradnl" sz="1800" noProof="0" dirty="0"/>
          </a:p>
        </p:txBody>
      </p:sp>
      <p:sp>
        <p:nvSpPr>
          <p:cNvPr id="23" name="Text 5"/>
          <p:cNvSpPr/>
          <p:nvPr/>
        </p:nvSpPr>
        <p:spPr>
          <a:xfrm>
            <a:off x="812800" y="4969371"/>
            <a:ext cx="6409690" cy="322560"/>
          </a:xfrm>
          <a:prstGeom prst="rect">
            <a:avLst/>
          </a:prstGeom>
          <a:noFill/>
          <a:ln/>
        </p:spPr>
        <p:txBody>
          <a:bodyPr wrap="square" lIns="0" tIns="0" rIns="0" bIns="0" rtlCol="0" anchor="t">
            <a:normAutofit/>
          </a:bodyPr>
          <a:lstStyle/>
          <a:p>
            <a:pPr marL="0" indent="0" algn="l">
              <a:lnSpc>
                <a:spcPts val="2340"/>
              </a:lnSpc>
              <a:buNone/>
            </a:pPr>
            <a:r>
              <a:rPr lang="es-ES_tradnl" sz="1800" noProof="0">
                <a:solidFill>
                  <a:srgbClr val="1D1D1B"/>
                </a:solidFill>
                <a:latin typeface="Roboto" pitchFamily="34" charset="0"/>
                <a:ea typeface="Roboto" pitchFamily="34" charset="-122"/>
                <a:cs typeface="Roboto" pitchFamily="34" charset="-120"/>
              </a:rPr>
              <a:t>7 · Diseño C contra diseño L</a:t>
            </a:r>
            <a:endParaRPr lang="es-ES_tradnl" sz="1800" noProof="0" dirty="0"/>
          </a:p>
        </p:txBody>
      </p:sp>
      <p:sp>
        <p:nvSpPr>
          <p:cNvPr id="24" name="Text 5"/>
          <p:cNvSpPr/>
          <p:nvPr/>
        </p:nvSpPr>
        <p:spPr>
          <a:xfrm>
            <a:off x="812800" y="5342731"/>
            <a:ext cx="6409690" cy="322560"/>
          </a:xfrm>
          <a:prstGeom prst="rect">
            <a:avLst/>
          </a:prstGeom>
          <a:noFill/>
          <a:ln/>
        </p:spPr>
        <p:txBody>
          <a:bodyPr wrap="square" lIns="0" tIns="0" rIns="0" bIns="0" rtlCol="0" anchor="t">
            <a:normAutofit/>
          </a:bodyPr>
          <a:lstStyle/>
          <a:p>
            <a:pPr marL="0" indent="0" algn="l">
              <a:lnSpc>
                <a:spcPts val="2340"/>
              </a:lnSpc>
              <a:buNone/>
            </a:pPr>
            <a:r>
              <a:rPr lang="es-ES_tradnl" sz="1800" noProof="0">
                <a:solidFill>
                  <a:srgbClr val="1D1D1B"/>
                </a:solidFill>
                <a:latin typeface="Roboto" pitchFamily="34" charset="0"/>
                <a:ea typeface="Roboto" pitchFamily="34" charset="-122"/>
                <a:cs typeface="Roboto" pitchFamily="34" charset="-120"/>
              </a:rPr>
              <a:t>8 · La línea base B y el experimento de medición</a:t>
            </a:r>
            <a:endParaRPr lang="es-ES_tradnl" sz="1800" noProof="0" dirty="0"/>
          </a:p>
        </p:txBody>
      </p:sp>
    </p:spTree>
    <p:extLst>
      <p:ext uri="{BB962C8B-B14F-4D97-AF65-F5344CB8AC3E}">
        <p14:creationId xmlns:p14="http://schemas.microsoft.com/office/powerpoint/2010/main" val="30975879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s-ES_tradnl" noProof="0" dirty="0"/>
          </a:p>
        </p:txBody>
      </p:sp>
      <p:sp>
        <p:nvSpPr>
          <p:cNvPr id="3" name="Shape 1"/>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dirty="0">
                <a:solidFill>
                  <a:srgbClr val="1D1D1B"/>
                </a:solidFill>
                <a:latin typeface="DM Sans" pitchFamily="34" charset="0"/>
                <a:ea typeface="DM Sans" pitchFamily="34" charset="-122"/>
                <a:cs typeface="DM Sans" pitchFamily="34" charset="-120"/>
              </a:rPr>
              <a:t>II</a:t>
            </a:r>
            <a:endParaRPr lang="es-ES_tradnl" sz="1200" noProof="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dirty="0">
                <a:solidFill>
                  <a:srgbClr val="6E6E6C"/>
                </a:solidFill>
                <a:latin typeface="Roboto" pitchFamily="34" charset="0"/>
                <a:ea typeface="Roboto" pitchFamily="34" charset="-122"/>
                <a:cs typeface="Roboto" pitchFamily="34" charset="-120"/>
              </a:rPr>
              <a:t>DÓNDE ESTÁ LA PRIVACIDAD</a:t>
            </a:r>
            <a:endParaRPr lang="es-ES_tradnl" sz="1200" noProof="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s-ES_tradnl" sz="2800" b="1" i="0" kern="0" spc="-50" noProof="0" dirty="0">
                <a:solidFill>
                  <a:srgbClr val="1D1D1B"/>
                </a:solidFill>
                <a:latin typeface="DM Sans" pitchFamily="34" charset="0"/>
                <a:ea typeface="DM Sans" pitchFamily="34" charset="-122"/>
                <a:cs typeface="DM Sans" pitchFamily="34" charset="-120"/>
              </a:rPr>
              <a:t>Cada medición consume una copia</a:t>
            </a:r>
            <a:endParaRPr lang="es-ES_tradnl" sz="2800" noProof="0" dirty="0"/>
          </a:p>
        </p:txBody>
      </p:sp>
      <p:sp>
        <p:nvSpPr>
          <p:cNvPr id="8" name="Text 5"/>
          <p:cNvSpPr/>
          <p:nvPr/>
        </p:nvSpPr>
        <p:spPr>
          <a:xfrm>
            <a:off x="812800" y="1305520"/>
            <a:ext cx="10883392" cy="322560"/>
          </a:xfrm>
          <a:prstGeom prst="rect">
            <a:avLst/>
          </a:prstGeom>
          <a:noFill/>
          <a:ln/>
        </p:spPr>
        <p:txBody>
          <a:bodyPr wrap="square" lIns="0" tIns="0" rIns="0" bIns="0" rtlCol="0" anchor="t">
            <a:normAutofit/>
          </a:bodyPr>
          <a:lstStyle/>
          <a:p>
            <a:pPr marL="0" indent="0" algn="l">
              <a:lnSpc>
                <a:spcPts val="2340"/>
              </a:lnSpc>
              <a:buNone/>
            </a:pPr>
            <a:r>
              <a:rPr lang="es-ES_tradnl" sz="1800" noProof="0" dirty="0">
                <a:solidFill>
                  <a:srgbClr val="3C3C3B"/>
                </a:solidFill>
                <a:latin typeface="Roboto" pitchFamily="34" charset="0"/>
                <a:ea typeface="Roboto" pitchFamily="34" charset="-122"/>
                <a:cs typeface="Roboto" pitchFamily="34" charset="-120"/>
              </a:rPr>
              <a:t>Una medición entrega un solo bit y gasta la copia del estado que midió.</a:t>
            </a:r>
            <a:endParaRPr lang="es-ES_tradnl" sz="1800" noProof="0" dirty="0"/>
          </a:p>
        </p:txBody>
      </p:sp>
      <p:sp>
        <p:nvSpPr>
          <p:cNvPr id="9" name="Shape 6"/>
          <p:cNvSpPr/>
          <p:nvPr/>
        </p:nvSpPr>
        <p:spPr>
          <a:xfrm>
            <a:off x="812800" y="1856680"/>
            <a:ext cx="5181600" cy="2838053"/>
          </a:xfrm>
          <a:prstGeom prst="roundRect">
            <a:avLst>
              <a:gd name="adj" fmla="val 3580"/>
            </a:avLst>
          </a:prstGeom>
          <a:solidFill>
            <a:srgbClr val="F4F4F2"/>
          </a:solidFill>
          <a:ln/>
        </p:spPr>
        <p:txBody>
          <a:bodyPr/>
          <a:lstStyle/>
          <a:p>
            <a:endParaRPr lang="es-ES_tradnl" noProof="0" dirty="0"/>
          </a:p>
        </p:txBody>
      </p:sp>
      <p:sp>
        <p:nvSpPr>
          <p:cNvPr id="10" name="Text 7"/>
          <p:cNvSpPr/>
          <p:nvPr/>
        </p:nvSpPr>
        <p:spPr>
          <a:xfrm>
            <a:off x="1066800" y="2110680"/>
            <a:ext cx="4813808" cy="299641"/>
          </a:xfrm>
          <a:prstGeom prst="rect">
            <a:avLst/>
          </a:prstGeom>
          <a:noFill/>
          <a:ln/>
        </p:spPr>
        <p:txBody>
          <a:bodyPr wrap="square" lIns="0" tIns="0" rIns="0" bIns="0" rtlCol="0" anchor="t">
            <a:normAutofit/>
          </a:bodyPr>
          <a:lstStyle/>
          <a:p>
            <a:pPr marL="0" indent="0" algn="l">
              <a:lnSpc>
                <a:spcPts val="2160"/>
              </a:lnSpc>
              <a:buNone/>
            </a:pPr>
            <a:r>
              <a:rPr lang="es-ES_tradnl" sz="1800" b="1" noProof="0" dirty="0">
                <a:solidFill>
                  <a:srgbClr val="1D1D1B"/>
                </a:solidFill>
                <a:latin typeface="DM Sans" pitchFamily="34" charset="0"/>
                <a:ea typeface="DM Sans" pitchFamily="34" charset="-122"/>
                <a:cs typeface="DM Sans" pitchFamily="34" charset="-120"/>
              </a:rPr>
              <a:t>Copias</a:t>
            </a:r>
            <a:endParaRPr lang="es-ES_tradnl" sz="1800" noProof="0" dirty="0"/>
          </a:p>
        </p:txBody>
      </p:sp>
      <p:sp>
        <p:nvSpPr>
          <p:cNvPr id="11" name="Text 8"/>
          <p:cNvSpPr/>
          <p:nvPr/>
        </p:nvSpPr>
        <p:spPr>
          <a:xfrm>
            <a:off x="1066800" y="2511921"/>
            <a:ext cx="4813808" cy="274241"/>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Un estado cuántico no se puede copiar (no clonación).</a:t>
            </a:r>
            <a:endParaRPr lang="es-ES_tradnl" sz="1400" noProof="0" dirty="0"/>
          </a:p>
        </p:txBody>
      </p:sp>
      <p:sp>
        <p:nvSpPr>
          <p:cNvPr id="12" name="Text 9"/>
          <p:cNvSpPr/>
          <p:nvPr/>
        </p:nvSpPr>
        <p:spPr>
          <a:xfrm>
            <a:off x="1066800" y="2887762"/>
            <a:ext cx="4813808" cy="523081"/>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Al medirlo colapsa al resultado obtenido: se pierde con qué probabilidad podía salir el otro.</a:t>
            </a:r>
            <a:endParaRPr lang="es-ES_tradnl" sz="1400" noProof="0" dirty="0"/>
          </a:p>
        </p:txBody>
      </p:sp>
      <p:sp>
        <p:nvSpPr>
          <p:cNvPr id="13" name="Shape 10"/>
          <p:cNvSpPr/>
          <p:nvPr/>
        </p:nvSpPr>
        <p:spPr>
          <a:xfrm>
            <a:off x="1092200" y="4191893"/>
            <a:ext cx="0" cy="248841"/>
          </a:xfrm>
          <a:prstGeom prst="line">
            <a:avLst/>
          </a:prstGeom>
          <a:noFill/>
          <a:ln w="50800">
            <a:solidFill>
              <a:srgbClr val="FFEE00"/>
            </a:solidFill>
            <a:prstDash val="solid"/>
          </a:ln>
        </p:spPr>
        <p:txBody>
          <a:bodyPr/>
          <a:lstStyle/>
          <a:p>
            <a:endParaRPr lang="es-ES_tradnl" noProof="0" dirty="0"/>
          </a:p>
        </p:txBody>
      </p:sp>
      <p:sp>
        <p:nvSpPr>
          <p:cNvPr id="14" name="Text 11"/>
          <p:cNvSpPr/>
          <p:nvPr/>
        </p:nvSpPr>
        <p:spPr>
          <a:xfrm>
            <a:off x="1244600" y="4191893"/>
            <a:ext cx="4630674" cy="274241"/>
          </a:xfrm>
          <a:prstGeom prst="rect">
            <a:avLst/>
          </a:prstGeom>
          <a:noFill/>
          <a:ln/>
        </p:spPr>
        <p:txBody>
          <a:bodyPr wrap="square" lIns="0" tIns="0" rIns="0" bIns="0" rtlCol="0" anchor="t">
            <a:normAutofit/>
          </a:bodyPr>
          <a:lstStyle/>
          <a:p>
            <a:pPr marL="0" indent="0" algn="l">
              <a:lnSpc>
                <a:spcPts val="1960"/>
              </a:lnSpc>
              <a:buNone/>
            </a:pPr>
            <a:r>
              <a:rPr lang="es-ES_tradnl" sz="1400" b="1" noProof="0" dirty="0">
                <a:solidFill>
                  <a:srgbClr val="1D1D1B"/>
                </a:solidFill>
                <a:latin typeface="Roboto" pitchFamily="34" charset="0"/>
                <a:ea typeface="Roboto" pitchFamily="34" charset="-122"/>
                <a:cs typeface="Roboto" pitchFamily="34" charset="-120"/>
              </a:rPr>
              <a:t>Cada medición necesita una copia nueva del estado.</a:t>
            </a:r>
            <a:endParaRPr lang="es-ES_tradnl" sz="1400" noProof="0" dirty="0"/>
          </a:p>
        </p:txBody>
      </p:sp>
      <p:sp>
        <p:nvSpPr>
          <p:cNvPr id="15" name="Shape 12"/>
          <p:cNvSpPr/>
          <p:nvPr/>
        </p:nvSpPr>
        <p:spPr>
          <a:xfrm>
            <a:off x="6197600" y="1856680"/>
            <a:ext cx="5181600" cy="2838053"/>
          </a:xfrm>
          <a:prstGeom prst="roundRect">
            <a:avLst>
              <a:gd name="adj" fmla="val 3580"/>
            </a:avLst>
          </a:prstGeom>
          <a:solidFill>
            <a:srgbClr val="F4F4F2"/>
          </a:solidFill>
          <a:ln/>
        </p:spPr>
        <p:txBody>
          <a:bodyPr/>
          <a:lstStyle/>
          <a:p>
            <a:endParaRPr lang="es-ES_tradnl" noProof="0" dirty="0"/>
          </a:p>
        </p:txBody>
      </p:sp>
      <p:sp>
        <p:nvSpPr>
          <p:cNvPr id="16" name="Text 13"/>
          <p:cNvSpPr/>
          <p:nvPr/>
        </p:nvSpPr>
        <p:spPr>
          <a:xfrm>
            <a:off x="6451600" y="2110680"/>
            <a:ext cx="4813808" cy="299641"/>
          </a:xfrm>
          <a:prstGeom prst="rect">
            <a:avLst/>
          </a:prstGeom>
          <a:noFill/>
          <a:ln/>
        </p:spPr>
        <p:txBody>
          <a:bodyPr wrap="square" lIns="0" tIns="0" rIns="0" bIns="0" rtlCol="0" anchor="t">
            <a:normAutofit/>
          </a:bodyPr>
          <a:lstStyle/>
          <a:p>
            <a:pPr marL="0" indent="0" algn="l">
              <a:lnSpc>
                <a:spcPts val="2160"/>
              </a:lnSpc>
              <a:buNone/>
            </a:pPr>
            <a:r>
              <a:rPr lang="es-ES_tradnl" sz="1800" b="1" noProof="0" dirty="0">
                <a:solidFill>
                  <a:srgbClr val="1D1D1B"/>
                </a:solidFill>
                <a:latin typeface="DM Sans" pitchFamily="34" charset="0"/>
                <a:ea typeface="DM Sans" pitchFamily="34" charset="-122"/>
                <a:cs typeface="DM Sans" pitchFamily="34" charset="-120"/>
              </a:rPr>
              <a:t>Leer la matriz = infinitas copias</a:t>
            </a:r>
            <a:endParaRPr lang="es-ES_tradnl" sz="1800" noProof="0" dirty="0"/>
          </a:p>
        </p:txBody>
      </p:sp>
      <p:sp>
        <p:nvSpPr>
          <p:cNvPr id="17" name="Text 14"/>
          <p:cNvSpPr/>
          <p:nvPr/>
        </p:nvSpPr>
        <p:spPr>
          <a:xfrm>
            <a:off x="6451600" y="2511921"/>
            <a:ext cx="4813808" cy="523081"/>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En la simulación se lee </a:t>
            </a:r>
            <a:r>
              <a:rPr lang="es-ES_tradnl" sz="1400" noProof="0" dirty="0" err="1">
                <a:solidFill>
                  <a:srgbClr val="3C3C3B"/>
                </a:solidFill>
                <a:latin typeface="Roboto" pitchFamily="34" charset="0"/>
                <a:ea typeface="Roboto" pitchFamily="34" charset="-122"/>
                <a:cs typeface="Roboto" pitchFamily="34" charset="-120"/>
              </a:rPr>
              <a:t>ρ</a:t>
            </a:r>
            <a:r>
              <a:rPr lang="es-ES_tradnl" sz="1400" noProof="0" dirty="0">
                <a:solidFill>
                  <a:srgbClr val="3C3C3B"/>
                </a:solidFill>
                <a:latin typeface="Roboto" pitchFamily="34" charset="0"/>
                <a:ea typeface="Roboto" pitchFamily="34" charset="-122"/>
                <a:cs typeface="Roboto" pitchFamily="34" charset="-120"/>
              </a:rPr>
              <a:t>″ completa y se calculan probabilidades exactas (error cero). Con N mediciones:</a:t>
            </a:r>
            <a:endParaRPr lang="es-ES_tradnl" sz="1400" noProof="0" dirty="0"/>
          </a:p>
        </p:txBody>
      </p:sp>
      <p:pic>
        <p:nvPicPr>
          <p:cNvPr id="18" name="Image 1" descr="error = raíz de P(1 − P)/N"/>
          <p:cNvPicPr>
            <a:picLocks noChangeAspect="1"/>
          </p:cNvPicPr>
          <p:nvPr/>
        </p:nvPicPr>
        <p:blipFill>
          <a:blip r:embed="rId4"/>
          <a:srcRect l="-201" r="-201"/>
          <a:stretch/>
        </p:blipFill>
        <p:spPr>
          <a:xfrm>
            <a:off x="6451600" y="3136602"/>
            <a:ext cx="2330450" cy="679450"/>
          </a:xfrm>
          <a:prstGeom prst="rect">
            <a:avLst/>
          </a:prstGeom>
        </p:spPr>
      </p:pic>
      <p:sp>
        <p:nvSpPr>
          <p:cNvPr id="19" name="Text 15"/>
          <p:cNvSpPr/>
          <p:nvPr/>
        </p:nvSpPr>
        <p:spPr>
          <a:xfrm>
            <a:off x="6451600" y="3943052"/>
            <a:ext cx="4813808" cy="523081"/>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Solo es cero con N → ∞. Es una herramienta de análisis, </a:t>
            </a:r>
            <a:r>
              <a:rPr lang="es-ES_tradnl" sz="1400" b="1" noProof="0" dirty="0">
                <a:solidFill>
                  <a:srgbClr val="3C3C3B"/>
                </a:solidFill>
                <a:latin typeface="Roboto" pitchFamily="34" charset="0"/>
                <a:ea typeface="Roboto" pitchFamily="34" charset="-122"/>
                <a:cs typeface="Roboto" pitchFamily="34" charset="-120"/>
              </a:rPr>
              <a:t>no algo que tenga quien recibe los datos</a:t>
            </a:r>
            <a:r>
              <a:rPr lang="es-ES_tradnl" sz="1400" noProof="0" dirty="0">
                <a:solidFill>
                  <a:srgbClr val="3C3C3B"/>
                </a:solidFill>
                <a:latin typeface="Roboto" pitchFamily="34" charset="0"/>
                <a:ea typeface="Roboto" pitchFamily="34" charset="-122"/>
                <a:cs typeface="Roboto" pitchFamily="34" charset="-120"/>
              </a:rPr>
              <a:t>.</a:t>
            </a:r>
            <a:endParaRPr lang="es-ES_tradnl" sz="1400" noProof="0" dirty="0"/>
          </a:p>
        </p:txBody>
      </p:sp>
      <p:sp>
        <p:nvSpPr>
          <p:cNvPr id="21" name="Text 17"/>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a:solidFill>
                  <a:srgbClr val="1D1D1B"/>
                </a:solidFill>
                <a:latin typeface="Roboto" pitchFamily="34" charset="0"/>
                <a:ea typeface="Roboto" pitchFamily="34" charset="-122"/>
                <a:cs typeface="Roboto" pitchFamily="34" charset="-120"/>
              </a:rPr>
              <a:t>15</a:t>
            </a:r>
            <a:endParaRPr lang="es-ES_tradnl" sz="1200" noProof="0" dirty="0"/>
          </a:p>
        </p:txBody>
      </p:sp>
    </p:spTree>
    <p:extLst>
      <p:ext uri="{BB962C8B-B14F-4D97-AF65-F5344CB8AC3E}">
        <p14:creationId xmlns:p14="http://schemas.microsoft.com/office/powerpoint/2010/main" val="403714222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s-ES_tradnl" noProof="0" dirty="0"/>
          </a:p>
        </p:txBody>
      </p:sp>
      <p:sp>
        <p:nvSpPr>
          <p:cNvPr id="3" name="Shape 1"/>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dirty="0">
                <a:solidFill>
                  <a:srgbClr val="1D1D1B"/>
                </a:solidFill>
                <a:latin typeface="DM Sans" pitchFamily="34" charset="0"/>
                <a:ea typeface="DM Sans" pitchFamily="34" charset="-122"/>
                <a:cs typeface="DM Sans" pitchFamily="34" charset="-120"/>
              </a:rPr>
              <a:t>II</a:t>
            </a:r>
            <a:endParaRPr lang="es-ES_tradnl" sz="1200" noProof="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dirty="0">
                <a:solidFill>
                  <a:srgbClr val="6E6E6C"/>
                </a:solidFill>
                <a:latin typeface="Roboto" pitchFamily="34" charset="0"/>
                <a:ea typeface="Roboto" pitchFamily="34" charset="-122"/>
                <a:cs typeface="Roboto" pitchFamily="34" charset="-120"/>
              </a:rPr>
              <a:t>DÓNDE ESTÁ LA PRIVACIDAD</a:t>
            </a:r>
            <a:endParaRPr lang="es-ES_tradnl" sz="1200" noProof="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s-ES_tradnl" sz="2800" b="1" i="0" kern="0" spc="-50" noProof="0" dirty="0">
                <a:solidFill>
                  <a:srgbClr val="1D1D1B"/>
                </a:solidFill>
                <a:latin typeface="DM Sans" pitchFamily="34" charset="0"/>
                <a:ea typeface="DM Sans" pitchFamily="34" charset="-122"/>
                <a:cs typeface="DM Sans" pitchFamily="34" charset="-120"/>
              </a:rPr>
              <a:t>Medir el estado agregado = sortear una persona</a:t>
            </a:r>
            <a:endParaRPr lang="es-ES_tradnl" sz="2800" noProof="0" dirty="0"/>
          </a:p>
        </p:txBody>
      </p:sp>
      <p:sp>
        <p:nvSpPr>
          <p:cNvPr id="8" name="Text 5"/>
          <p:cNvSpPr/>
          <p:nvPr/>
        </p:nvSpPr>
        <p:spPr>
          <a:xfrm>
            <a:off x="812800" y="1305520"/>
            <a:ext cx="10883392" cy="322560"/>
          </a:xfrm>
          <a:prstGeom prst="rect">
            <a:avLst/>
          </a:prstGeom>
          <a:noFill/>
          <a:ln/>
        </p:spPr>
        <p:txBody>
          <a:bodyPr wrap="square" lIns="0" tIns="0" rIns="0" bIns="0" rtlCol="0" anchor="t">
            <a:normAutofit/>
          </a:bodyPr>
          <a:lstStyle/>
          <a:p>
            <a:pPr marL="0" indent="0" algn="l">
              <a:lnSpc>
                <a:spcPts val="2340"/>
              </a:lnSpc>
              <a:buNone/>
            </a:pPr>
            <a:r>
              <a:rPr lang="es-ES_tradnl" sz="1800" noProof="0" dirty="0">
                <a:solidFill>
                  <a:srgbClr val="3C3C3B"/>
                </a:solidFill>
                <a:latin typeface="Roboto" pitchFamily="34" charset="0"/>
                <a:ea typeface="Roboto" pitchFamily="34" charset="-122"/>
                <a:cs typeface="Roboto" pitchFamily="34" charset="-120"/>
              </a:rPr>
              <a:t>El estado agregado es la mezcla </a:t>
            </a:r>
            <a:r>
              <a:rPr lang="es-ES_tradnl" sz="1800" noProof="0" dirty="0" err="1">
                <a:solidFill>
                  <a:srgbClr val="3C3C3B"/>
                </a:solidFill>
                <a:latin typeface="Roboto" pitchFamily="34" charset="0"/>
                <a:ea typeface="Roboto" pitchFamily="34" charset="-122"/>
                <a:cs typeface="Roboto" pitchFamily="34" charset="-120"/>
              </a:rPr>
              <a:t>ρ</a:t>
            </a:r>
            <a:r>
              <a:rPr lang="es-ES_tradnl" sz="1800" noProof="0" dirty="0">
                <a:solidFill>
                  <a:srgbClr val="3C3C3B"/>
                </a:solidFill>
                <a:latin typeface="Roboto" pitchFamily="34" charset="0"/>
                <a:ea typeface="Roboto" pitchFamily="34" charset="-122"/>
                <a:cs typeface="Roboto" pitchFamily="34" charset="-120"/>
              </a:rPr>
              <a:t> = (1/n)·</a:t>
            </a:r>
            <a:r>
              <a:rPr lang="es-ES_tradnl" sz="1800" noProof="0" dirty="0" err="1">
                <a:solidFill>
                  <a:srgbClr val="3C3C3B"/>
                </a:solidFill>
                <a:latin typeface="Roboto" pitchFamily="34" charset="0"/>
                <a:ea typeface="Roboto" pitchFamily="34" charset="-122"/>
                <a:cs typeface="Roboto" pitchFamily="34" charset="-120"/>
              </a:rPr>
              <a:t>Σ</a:t>
            </a:r>
            <a:r>
              <a:rPr lang="es-ES_tradnl" sz="1800" noProof="0" dirty="0">
                <a:solidFill>
                  <a:srgbClr val="3C3C3B"/>
                </a:solidFill>
                <a:latin typeface="Roboto" pitchFamily="34" charset="0"/>
                <a:ea typeface="Roboto" pitchFamily="34" charset="-122"/>
                <a:cs typeface="Roboto" pitchFamily="34" charset="-120"/>
              </a:rPr>
              <a:t> </a:t>
            </a:r>
            <a:r>
              <a:rPr lang="es-ES_tradnl" sz="1800" noProof="0" dirty="0" err="1">
                <a:solidFill>
                  <a:srgbClr val="3C3C3B"/>
                </a:solidFill>
                <a:latin typeface="Roboto" pitchFamily="34" charset="0"/>
                <a:ea typeface="Roboto" pitchFamily="34" charset="-122"/>
                <a:cs typeface="Roboto" pitchFamily="34" charset="-120"/>
              </a:rPr>
              <a:t>ρ</a:t>
            </a:r>
            <a:r>
              <a:rPr lang="es-ES_tradnl" sz="1800" noProof="0" dirty="0">
                <a:solidFill>
                  <a:srgbClr val="3C3C3B"/>
                </a:solidFill>
                <a:latin typeface="Roboto" pitchFamily="34" charset="0"/>
                <a:ea typeface="Roboto" pitchFamily="34" charset="-122"/>
                <a:cs typeface="Roboto" pitchFamily="34" charset="-120"/>
              </a:rPr>
              <a:t>ᵢ. Para cualquier resultado </a:t>
            </a:r>
            <a:r>
              <a:rPr lang="es-ES_tradnl" sz="1800" noProof="0" dirty="0" err="1">
                <a:solidFill>
                  <a:srgbClr val="3C3C3B"/>
                </a:solidFill>
                <a:latin typeface="Roboto" pitchFamily="34" charset="0"/>
                <a:ea typeface="Roboto" pitchFamily="34" charset="-122"/>
                <a:cs typeface="Roboto" pitchFamily="34" charset="-120"/>
              </a:rPr>
              <a:t>Π</a:t>
            </a:r>
            <a:r>
              <a:rPr lang="es-ES_tradnl" sz="1800" noProof="0" dirty="0">
                <a:solidFill>
                  <a:srgbClr val="3C3C3B"/>
                </a:solidFill>
                <a:latin typeface="Roboto" pitchFamily="34" charset="0"/>
                <a:ea typeface="Roboto" pitchFamily="34" charset="-122"/>
                <a:cs typeface="Roboto" pitchFamily="34" charset="-120"/>
              </a:rPr>
              <a:t>:</a:t>
            </a:r>
            <a:endParaRPr lang="es-ES_tradnl" sz="1800" noProof="0" dirty="0"/>
          </a:p>
        </p:txBody>
      </p:sp>
      <p:sp>
        <p:nvSpPr>
          <p:cNvPr id="9" name="Shape 6"/>
          <p:cNvSpPr/>
          <p:nvPr/>
        </p:nvSpPr>
        <p:spPr>
          <a:xfrm>
            <a:off x="812800" y="1856680"/>
            <a:ext cx="10566400" cy="1181100"/>
          </a:xfrm>
          <a:prstGeom prst="roundRect">
            <a:avLst>
              <a:gd name="adj" fmla="val 8602"/>
            </a:avLst>
          </a:prstGeom>
          <a:solidFill>
            <a:srgbClr val="F4F4F2"/>
          </a:solidFill>
          <a:ln/>
        </p:spPr>
        <p:txBody>
          <a:bodyPr/>
          <a:lstStyle/>
          <a:p>
            <a:endParaRPr lang="es-ES_tradnl" noProof="0" dirty="0"/>
          </a:p>
        </p:txBody>
      </p:sp>
      <p:pic>
        <p:nvPicPr>
          <p:cNvPr id="10" name="Image 1" descr="Tr(Πρ) = Σᵢ (1/n)·Tr(Πρᵢ) = Σᵢ P(persona i)·P(resultado | persona i)"/>
          <p:cNvPicPr>
            <a:picLocks noChangeAspect="1"/>
          </p:cNvPicPr>
          <p:nvPr/>
        </p:nvPicPr>
        <p:blipFill>
          <a:blip r:embed="rId4"/>
          <a:srcRect t="-147" b="-147"/>
          <a:stretch/>
        </p:blipFill>
        <p:spPr>
          <a:xfrm>
            <a:off x="2292350" y="2085280"/>
            <a:ext cx="7607300" cy="723900"/>
          </a:xfrm>
          <a:prstGeom prst="rect">
            <a:avLst/>
          </a:prstGeom>
        </p:spPr>
      </p:pic>
      <p:sp>
        <p:nvSpPr>
          <p:cNvPr id="11" name="Text 7"/>
          <p:cNvSpPr/>
          <p:nvPr/>
        </p:nvSpPr>
        <p:spPr>
          <a:xfrm>
            <a:off x="819150" y="3298130"/>
            <a:ext cx="2781300" cy="396180"/>
          </a:xfrm>
          <a:prstGeom prst="roundRect">
            <a:avLst>
              <a:gd name="adj" fmla="val 11220"/>
            </a:avLst>
          </a:prstGeom>
          <a:solidFill>
            <a:srgbClr val="FFFFFF"/>
          </a:solidFill>
          <a:ln w="12700">
            <a:solidFill>
              <a:srgbClr val="3C3C3B"/>
            </a:solidFill>
            <a:prstDash val="solid"/>
          </a:ln>
        </p:spPr>
        <p:txBody>
          <a:bodyPr wrap="square" lIns="120331" tIns="69531" rIns="44893" bIns="44131" rtlCol="0" anchor="t">
            <a:normAutofit/>
          </a:bodyPr>
          <a:lstStyle/>
          <a:p>
            <a:pPr marL="0" indent="0" algn="l">
              <a:lnSpc>
                <a:spcPts val="1820"/>
              </a:lnSpc>
              <a:buNone/>
            </a:pPr>
            <a:r>
              <a:rPr lang="es-ES_tradnl" sz="1400" noProof="0" dirty="0">
                <a:solidFill>
                  <a:srgbClr val="1D1D1B"/>
                </a:solidFill>
                <a:latin typeface="Roboto" pitchFamily="34" charset="0"/>
                <a:ea typeface="Roboto" pitchFamily="34" charset="-122"/>
                <a:cs typeface="Roboto" pitchFamily="34" charset="-120"/>
              </a:rPr>
              <a:t>Estado agregado </a:t>
            </a:r>
            <a:r>
              <a:rPr lang="es-ES_tradnl" sz="1400" noProof="0" dirty="0" err="1">
                <a:solidFill>
                  <a:srgbClr val="1D1D1B"/>
                </a:solidFill>
                <a:latin typeface="Roboto" pitchFamily="34" charset="0"/>
                <a:ea typeface="Roboto" pitchFamily="34" charset="-122"/>
                <a:cs typeface="Roboto" pitchFamily="34" charset="-120"/>
              </a:rPr>
              <a:t>ρ</a:t>
            </a:r>
            <a:endParaRPr lang="es-ES_tradnl" sz="1400" noProof="0" dirty="0"/>
          </a:p>
        </p:txBody>
      </p:sp>
      <p:pic>
        <p:nvPicPr>
          <p:cNvPr id="12" name="Image 2" descr="connector"/>
          <p:cNvPicPr>
            <a:picLocks noChangeAspect="1"/>
          </p:cNvPicPr>
          <p:nvPr/>
        </p:nvPicPr>
        <p:blipFill>
          <a:blip r:embed="rId5"/>
          <a:srcRect/>
          <a:stretch/>
        </p:blipFill>
        <p:spPr>
          <a:xfrm>
            <a:off x="3708400" y="3445371"/>
            <a:ext cx="355600" cy="101600"/>
          </a:xfrm>
          <a:prstGeom prst="rect">
            <a:avLst/>
          </a:prstGeom>
        </p:spPr>
      </p:pic>
      <p:sp>
        <p:nvSpPr>
          <p:cNvPr id="13" name="Text 8"/>
          <p:cNvSpPr/>
          <p:nvPr/>
        </p:nvSpPr>
        <p:spPr>
          <a:xfrm>
            <a:off x="4171950" y="3298130"/>
            <a:ext cx="2273300" cy="396180"/>
          </a:xfrm>
          <a:prstGeom prst="roundRect">
            <a:avLst>
              <a:gd name="adj" fmla="val 11220"/>
            </a:avLst>
          </a:prstGeom>
          <a:solidFill>
            <a:srgbClr val="FFFFFF"/>
          </a:solidFill>
          <a:ln w="12700">
            <a:solidFill>
              <a:srgbClr val="3C3C3B"/>
            </a:solidFill>
            <a:prstDash val="solid"/>
          </a:ln>
        </p:spPr>
        <p:txBody>
          <a:bodyPr wrap="square" lIns="120331" tIns="69531" rIns="60133" bIns="44131" rtlCol="0" anchor="t">
            <a:normAutofit/>
          </a:bodyPr>
          <a:lstStyle/>
          <a:p>
            <a:pPr marL="0" indent="0" algn="l">
              <a:lnSpc>
                <a:spcPts val="1820"/>
              </a:lnSpc>
              <a:buNone/>
            </a:pPr>
            <a:r>
              <a:rPr lang="es-ES_tradnl" sz="1400" noProof="0" dirty="0">
                <a:solidFill>
                  <a:srgbClr val="1D1D1B"/>
                </a:solidFill>
                <a:latin typeface="Roboto" pitchFamily="34" charset="0"/>
                <a:ea typeface="Roboto" pitchFamily="34" charset="-122"/>
                <a:cs typeface="Roboto" pitchFamily="34" charset="-120"/>
              </a:rPr>
              <a:t>medir una copia</a:t>
            </a:r>
            <a:endParaRPr lang="es-ES_tradnl" sz="1400" noProof="0" dirty="0"/>
          </a:p>
        </p:txBody>
      </p:sp>
      <p:pic>
        <p:nvPicPr>
          <p:cNvPr id="14" name="Image 3" descr="connector"/>
          <p:cNvPicPr>
            <a:picLocks noChangeAspect="1"/>
          </p:cNvPicPr>
          <p:nvPr/>
        </p:nvPicPr>
        <p:blipFill>
          <a:blip r:embed="rId5"/>
          <a:srcRect/>
          <a:stretch/>
        </p:blipFill>
        <p:spPr>
          <a:xfrm>
            <a:off x="6553200" y="3445371"/>
            <a:ext cx="355600" cy="101600"/>
          </a:xfrm>
          <a:prstGeom prst="rect">
            <a:avLst/>
          </a:prstGeom>
        </p:spPr>
      </p:pic>
      <p:sp>
        <p:nvSpPr>
          <p:cNvPr id="15" name="Text 9"/>
          <p:cNvSpPr/>
          <p:nvPr/>
        </p:nvSpPr>
        <p:spPr>
          <a:xfrm>
            <a:off x="7016750" y="3298130"/>
            <a:ext cx="2451100" cy="396180"/>
          </a:xfrm>
          <a:prstGeom prst="roundRect">
            <a:avLst>
              <a:gd name="adj" fmla="val 11220"/>
            </a:avLst>
          </a:prstGeom>
          <a:solidFill>
            <a:srgbClr val="FFFFFF"/>
          </a:solidFill>
          <a:ln w="12700">
            <a:solidFill>
              <a:srgbClr val="3C3C3B"/>
            </a:solidFill>
            <a:prstDash val="solid"/>
          </a:ln>
        </p:spPr>
        <p:txBody>
          <a:bodyPr wrap="square" lIns="120331" tIns="69531" rIns="54799" bIns="44131" rtlCol="0" anchor="t">
            <a:normAutofit/>
          </a:bodyPr>
          <a:lstStyle/>
          <a:p>
            <a:pPr marL="0" indent="0" algn="l">
              <a:lnSpc>
                <a:spcPts val="1820"/>
              </a:lnSpc>
              <a:buNone/>
            </a:pPr>
            <a:r>
              <a:rPr lang="es-ES_tradnl" sz="1400" noProof="0" dirty="0">
                <a:solidFill>
                  <a:srgbClr val="1D1D1B"/>
                </a:solidFill>
                <a:latin typeface="Roboto" pitchFamily="34" charset="0"/>
                <a:ea typeface="Roboto" pitchFamily="34" charset="-122"/>
                <a:cs typeface="Roboto" pitchFamily="34" charset="-120"/>
              </a:rPr>
              <a:t>resultado</a:t>
            </a:r>
            <a:endParaRPr lang="es-ES_tradnl" sz="1400" noProof="0" dirty="0"/>
          </a:p>
        </p:txBody>
      </p:sp>
      <p:sp>
        <p:nvSpPr>
          <p:cNvPr id="16" name="Text 10"/>
          <p:cNvSpPr/>
          <p:nvPr/>
        </p:nvSpPr>
        <p:spPr>
          <a:xfrm>
            <a:off x="819150" y="3808611"/>
            <a:ext cx="2781300" cy="396180"/>
          </a:xfrm>
          <a:prstGeom prst="roundRect">
            <a:avLst>
              <a:gd name="adj" fmla="val 11220"/>
            </a:avLst>
          </a:prstGeom>
          <a:solidFill>
            <a:srgbClr val="F4F4F2"/>
          </a:solidFill>
          <a:ln w="12700">
            <a:solidFill>
              <a:srgbClr val="3C3C3B"/>
            </a:solidFill>
            <a:prstDash val="solid"/>
          </a:ln>
        </p:spPr>
        <p:txBody>
          <a:bodyPr wrap="square" lIns="120331" tIns="69531" rIns="44893" bIns="44131" rtlCol="0" anchor="t">
            <a:normAutofit/>
          </a:bodyPr>
          <a:lstStyle/>
          <a:p>
            <a:pPr marL="0" indent="0" algn="l">
              <a:lnSpc>
                <a:spcPts val="1820"/>
              </a:lnSpc>
              <a:buNone/>
            </a:pPr>
            <a:r>
              <a:rPr lang="es-ES_tradnl" sz="1400" noProof="0" dirty="0">
                <a:solidFill>
                  <a:srgbClr val="1D1D1B"/>
                </a:solidFill>
                <a:latin typeface="Roboto" pitchFamily="34" charset="0"/>
                <a:ea typeface="Roboto" pitchFamily="34" charset="-122"/>
                <a:cs typeface="Roboto" pitchFamily="34" charset="-120"/>
              </a:rPr>
              <a:t>sortear una persona i (1/n)</a:t>
            </a:r>
            <a:endParaRPr lang="es-ES_tradnl" sz="1400" noProof="0" dirty="0"/>
          </a:p>
        </p:txBody>
      </p:sp>
      <p:pic>
        <p:nvPicPr>
          <p:cNvPr id="17" name="Image 4" descr="connector"/>
          <p:cNvPicPr>
            <a:picLocks noChangeAspect="1"/>
          </p:cNvPicPr>
          <p:nvPr/>
        </p:nvPicPr>
        <p:blipFill>
          <a:blip r:embed="rId5"/>
          <a:srcRect/>
          <a:stretch/>
        </p:blipFill>
        <p:spPr>
          <a:xfrm>
            <a:off x="3708400" y="3955852"/>
            <a:ext cx="355600" cy="101600"/>
          </a:xfrm>
          <a:prstGeom prst="rect">
            <a:avLst/>
          </a:prstGeom>
        </p:spPr>
      </p:pic>
      <p:sp>
        <p:nvSpPr>
          <p:cNvPr id="18" name="Text 11"/>
          <p:cNvSpPr/>
          <p:nvPr/>
        </p:nvSpPr>
        <p:spPr>
          <a:xfrm>
            <a:off x="4171950" y="3808611"/>
            <a:ext cx="2273300" cy="396180"/>
          </a:xfrm>
          <a:prstGeom prst="roundRect">
            <a:avLst>
              <a:gd name="adj" fmla="val 11220"/>
            </a:avLst>
          </a:prstGeom>
          <a:solidFill>
            <a:srgbClr val="F4F4F2"/>
          </a:solidFill>
          <a:ln w="12700">
            <a:solidFill>
              <a:srgbClr val="3C3C3B"/>
            </a:solidFill>
            <a:prstDash val="solid"/>
          </a:ln>
        </p:spPr>
        <p:txBody>
          <a:bodyPr wrap="square" lIns="120331" tIns="69531" rIns="60133" bIns="44131" rtlCol="0" anchor="t">
            <a:normAutofit/>
          </a:bodyPr>
          <a:lstStyle/>
          <a:p>
            <a:pPr marL="0" indent="0" algn="l">
              <a:lnSpc>
                <a:spcPts val="1820"/>
              </a:lnSpc>
              <a:buNone/>
            </a:pPr>
            <a:r>
              <a:rPr lang="es-ES_tradnl" sz="1400" noProof="0" dirty="0">
                <a:solidFill>
                  <a:srgbClr val="1D1D1B"/>
                </a:solidFill>
                <a:latin typeface="Roboto" pitchFamily="34" charset="0"/>
                <a:ea typeface="Roboto" pitchFamily="34" charset="-122"/>
                <a:cs typeface="Roboto" pitchFamily="34" charset="-120"/>
              </a:rPr>
              <a:t>medir su estado </a:t>
            </a:r>
            <a:r>
              <a:rPr lang="es-ES_tradnl" sz="1400" noProof="0" dirty="0" err="1">
                <a:solidFill>
                  <a:srgbClr val="1D1D1B"/>
                </a:solidFill>
                <a:latin typeface="Roboto" pitchFamily="34" charset="0"/>
                <a:ea typeface="Roboto" pitchFamily="34" charset="-122"/>
                <a:cs typeface="Roboto" pitchFamily="34" charset="-120"/>
              </a:rPr>
              <a:t>ρ</a:t>
            </a:r>
            <a:r>
              <a:rPr lang="es-ES_tradnl" sz="1400" noProof="0" dirty="0">
                <a:solidFill>
                  <a:srgbClr val="1D1D1B"/>
                </a:solidFill>
                <a:latin typeface="Roboto" pitchFamily="34" charset="0"/>
                <a:ea typeface="Roboto" pitchFamily="34" charset="-122"/>
                <a:cs typeface="Roboto" pitchFamily="34" charset="-120"/>
              </a:rPr>
              <a:t>ᵢ</a:t>
            </a:r>
            <a:endParaRPr lang="es-ES_tradnl" sz="1400" noProof="0" dirty="0"/>
          </a:p>
        </p:txBody>
      </p:sp>
      <p:pic>
        <p:nvPicPr>
          <p:cNvPr id="19" name="Image 5" descr="connector"/>
          <p:cNvPicPr>
            <a:picLocks noChangeAspect="1"/>
          </p:cNvPicPr>
          <p:nvPr/>
        </p:nvPicPr>
        <p:blipFill>
          <a:blip r:embed="rId5"/>
          <a:srcRect/>
          <a:stretch/>
        </p:blipFill>
        <p:spPr>
          <a:xfrm>
            <a:off x="6553200" y="3955852"/>
            <a:ext cx="355600" cy="101600"/>
          </a:xfrm>
          <a:prstGeom prst="rect">
            <a:avLst/>
          </a:prstGeom>
        </p:spPr>
      </p:pic>
      <p:sp>
        <p:nvSpPr>
          <p:cNvPr id="20" name="Text 12"/>
          <p:cNvSpPr/>
          <p:nvPr/>
        </p:nvSpPr>
        <p:spPr>
          <a:xfrm>
            <a:off x="7016750" y="3808611"/>
            <a:ext cx="2451100" cy="396180"/>
          </a:xfrm>
          <a:prstGeom prst="roundRect">
            <a:avLst>
              <a:gd name="adj" fmla="val 11220"/>
            </a:avLst>
          </a:prstGeom>
          <a:solidFill>
            <a:srgbClr val="F4F4F2"/>
          </a:solidFill>
          <a:ln w="12700">
            <a:solidFill>
              <a:srgbClr val="3C3C3B"/>
            </a:solidFill>
            <a:prstDash val="solid"/>
          </a:ln>
        </p:spPr>
        <p:txBody>
          <a:bodyPr wrap="square" lIns="120331" tIns="69531" rIns="54799" bIns="44131" rtlCol="0" anchor="t">
            <a:normAutofit/>
          </a:bodyPr>
          <a:lstStyle/>
          <a:p>
            <a:pPr marL="0" indent="0" algn="l">
              <a:lnSpc>
                <a:spcPts val="1820"/>
              </a:lnSpc>
              <a:buNone/>
            </a:pPr>
            <a:r>
              <a:rPr lang="es-ES_tradnl" sz="1400" noProof="0" dirty="0">
                <a:solidFill>
                  <a:srgbClr val="1D1D1B"/>
                </a:solidFill>
                <a:latin typeface="Roboto" pitchFamily="34" charset="0"/>
                <a:ea typeface="Roboto" pitchFamily="34" charset="-122"/>
                <a:cs typeface="Roboto" pitchFamily="34" charset="-120"/>
              </a:rPr>
              <a:t>resultado</a:t>
            </a:r>
            <a:endParaRPr lang="es-ES_tradnl" sz="1400" noProof="0" dirty="0"/>
          </a:p>
        </p:txBody>
      </p:sp>
      <p:sp>
        <p:nvSpPr>
          <p:cNvPr id="21" name="Text 13"/>
          <p:cNvSpPr/>
          <p:nvPr/>
        </p:nvSpPr>
        <p:spPr>
          <a:xfrm>
            <a:off x="9728200" y="3402211"/>
            <a:ext cx="1651000" cy="698500"/>
          </a:xfrm>
          <a:prstGeom prst="roundRect">
            <a:avLst>
              <a:gd name="adj" fmla="val 7273"/>
            </a:avLst>
          </a:prstGeom>
          <a:solidFill>
            <a:srgbClr val="FFEE00"/>
          </a:solidFill>
          <a:ln/>
        </p:spPr>
        <p:txBody>
          <a:bodyPr wrap="square" lIns="61321" tIns="112121" rIns="61321" bIns="86721" rtlCol="0" anchor="t">
            <a:normAutofit/>
          </a:bodyPr>
          <a:lstStyle/>
          <a:p>
            <a:pPr marL="0" indent="0" algn="ctr">
              <a:lnSpc>
                <a:spcPts val="1750"/>
              </a:lnSpc>
              <a:buNone/>
            </a:pPr>
            <a:r>
              <a:rPr lang="es-ES_tradnl" sz="1400" b="1" noProof="0" dirty="0">
                <a:solidFill>
                  <a:srgbClr val="1D1D1B"/>
                </a:solidFill>
                <a:latin typeface="DM Sans" pitchFamily="34" charset="0"/>
                <a:ea typeface="DM Sans" pitchFamily="34" charset="-122"/>
                <a:cs typeface="DM Sans" pitchFamily="34" charset="-120"/>
              </a:rPr>
              <a:t>Mismas probabilidades</a:t>
            </a:r>
            <a:endParaRPr lang="es-ES_tradnl" sz="1400" noProof="0" dirty="0"/>
          </a:p>
        </p:txBody>
      </p:sp>
      <p:sp>
        <p:nvSpPr>
          <p:cNvPr id="22" name="Text 14"/>
          <p:cNvSpPr/>
          <p:nvPr/>
        </p:nvSpPr>
        <p:spPr>
          <a:xfrm>
            <a:off x="812800" y="4465141"/>
            <a:ext cx="10883392" cy="274241"/>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Es la </a:t>
            </a:r>
            <a:r>
              <a:rPr lang="es-ES_tradnl" sz="1400" b="1" noProof="0" dirty="0">
                <a:solidFill>
                  <a:srgbClr val="3C3C3B"/>
                </a:solidFill>
                <a:latin typeface="Roboto" pitchFamily="34" charset="0"/>
                <a:ea typeface="Roboto" pitchFamily="34" charset="-122"/>
                <a:cs typeface="Roboto" pitchFamily="34" charset="-120"/>
              </a:rPr>
              <a:t>ley de probabilidad total</a:t>
            </a:r>
            <a:r>
              <a:rPr lang="es-ES_tradnl" sz="1400" noProof="0" dirty="0">
                <a:solidFill>
                  <a:srgbClr val="3C3C3B"/>
                </a:solidFill>
                <a:latin typeface="Roboto" pitchFamily="34" charset="0"/>
                <a:ea typeface="Roboto" pitchFamily="34" charset="-122"/>
                <a:cs typeface="Roboto" pitchFamily="34" charset="-120"/>
              </a:rPr>
              <a:t>: medir una copia de </a:t>
            </a:r>
            <a:r>
              <a:rPr lang="es-ES_tradnl" sz="1400" noProof="0" dirty="0" err="1">
                <a:solidFill>
                  <a:srgbClr val="3C3C3B"/>
                </a:solidFill>
                <a:latin typeface="Roboto" pitchFamily="34" charset="0"/>
                <a:ea typeface="Roboto" pitchFamily="34" charset="-122"/>
                <a:cs typeface="Roboto" pitchFamily="34" charset="-120"/>
              </a:rPr>
              <a:t>ρ</a:t>
            </a:r>
            <a:r>
              <a:rPr lang="es-ES_tradnl" sz="1400" noProof="0" dirty="0">
                <a:solidFill>
                  <a:srgbClr val="3C3C3B"/>
                </a:solidFill>
                <a:latin typeface="Roboto" pitchFamily="34" charset="0"/>
                <a:ea typeface="Roboto" pitchFamily="34" charset="-122"/>
                <a:cs typeface="Roboto" pitchFamily="34" charset="-120"/>
              </a:rPr>
              <a:t> da las mismas probabilidades que sortear una persona y medir su estado.</a:t>
            </a:r>
            <a:endParaRPr lang="es-ES_tradnl" sz="1400" noProof="0" dirty="0"/>
          </a:p>
        </p:txBody>
      </p:sp>
      <p:sp>
        <p:nvSpPr>
          <p:cNvPr id="24" name="Text 16"/>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a:solidFill>
                  <a:srgbClr val="1D1D1B"/>
                </a:solidFill>
                <a:latin typeface="Roboto" pitchFamily="34" charset="0"/>
                <a:ea typeface="Roboto" pitchFamily="34" charset="-122"/>
                <a:cs typeface="Roboto" pitchFamily="34" charset="-120"/>
              </a:rPr>
              <a:t>17</a:t>
            </a:r>
            <a:endParaRPr lang="es-ES_tradnl" sz="1200" noProof="0" dirty="0"/>
          </a:p>
        </p:txBody>
      </p:sp>
    </p:spTree>
    <p:extLst>
      <p:ext uri="{BB962C8B-B14F-4D97-AF65-F5344CB8AC3E}">
        <p14:creationId xmlns:p14="http://schemas.microsoft.com/office/powerpoint/2010/main" val="21570813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s-ES_tradnl" noProof="0" dirty="0"/>
          </a:p>
        </p:txBody>
      </p:sp>
      <p:sp>
        <p:nvSpPr>
          <p:cNvPr id="3" name="Shape 1"/>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dirty="0">
                <a:solidFill>
                  <a:srgbClr val="1D1D1B"/>
                </a:solidFill>
                <a:latin typeface="DM Sans" pitchFamily="34" charset="0"/>
                <a:ea typeface="DM Sans" pitchFamily="34" charset="-122"/>
                <a:cs typeface="DM Sans" pitchFamily="34" charset="-120"/>
              </a:rPr>
              <a:t>II</a:t>
            </a:r>
            <a:endParaRPr lang="es-ES_tradnl" sz="1200" noProof="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dirty="0">
                <a:solidFill>
                  <a:srgbClr val="6E6E6C"/>
                </a:solidFill>
                <a:latin typeface="Roboto" pitchFamily="34" charset="0"/>
                <a:ea typeface="Roboto" pitchFamily="34" charset="-122"/>
                <a:cs typeface="Roboto" pitchFamily="34" charset="-120"/>
              </a:rPr>
              <a:t>DÓNDE ESTÁ LA PRIVACIDAD</a:t>
            </a:r>
            <a:endParaRPr lang="es-ES_tradnl" sz="1200" noProof="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s-ES_tradnl" sz="2800" b="1" i="0" kern="0" spc="-50" noProof="0" dirty="0">
                <a:solidFill>
                  <a:srgbClr val="1D1D1B"/>
                </a:solidFill>
                <a:latin typeface="DM Sans" pitchFamily="34" charset="0"/>
                <a:ea typeface="DM Sans" pitchFamily="34" charset="-122"/>
                <a:cs typeface="DM Sans" pitchFamily="34" charset="-120"/>
              </a:rPr>
              <a:t>El límite de la codificación</a:t>
            </a:r>
            <a:endParaRPr lang="es-ES_tradnl" sz="2800" noProof="0" dirty="0"/>
          </a:p>
        </p:txBody>
      </p:sp>
      <p:sp>
        <p:nvSpPr>
          <p:cNvPr id="8" name="Text 5"/>
          <p:cNvSpPr/>
          <p:nvPr/>
        </p:nvSpPr>
        <p:spPr>
          <a:xfrm>
            <a:off x="812800" y="1305520"/>
            <a:ext cx="10883392" cy="619720"/>
          </a:xfrm>
          <a:prstGeom prst="rect">
            <a:avLst/>
          </a:prstGeom>
          <a:noFill/>
          <a:ln/>
        </p:spPr>
        <p:txBody>
          <a:bodyPr wrap="square" lIns="0" tIns="0" rIns="0" bIns="0" rtlCol="0" anchor="t">
            <a:normAutofit/>
          </a:bodyPr>
          <a:lstStyle/>
          <a:p>
            <a:pPr marL="0" indent="0" algn="l">
              <a:lnSpc>
                <a:spcPts val="2340"/>
              </a:lnSpc>
              <a:buNone/>
            </a:pPr>
            <a:r>
              <a:rPr lang="es-ES_tradnl" sz="1800" noProof="0" dirty="0">
                <a:solidFill>
                  <a:srgbClr val="3C3C3B"/>
                </a:solidFill>
                <a:latin typeface="Roboto" pitchFamily="34" charset="0"/>
                <a:ea typeface="Roboto" pitchFamily="34" charset="-122"/>
                <a:cs typeface="Roboto" pitchFamily="34" charset="-120"/>
              </a:rPr>
              <a:t>Aun sin ruido, una medición no recupera la categoría: en un </a:t>
            </a:r>
            <a:r>
              <a:rPr lang="es-ES_tradnl" sz="1800" noProof="0" dirty="0" err="1">
                <a:solidFill>
                  <a:srgbClr val="3C3C3B"/>
                </a:solidFill>
                <a:latin typeface="Roboto" pitchFamily="34" charset="0"/>
                <a:ea typeface="Roboto" pitchFamily="34" charset="-122"/>
                <a:cs typeface="Roboto" pitchFamily="34" charset="-120"/>
              </a:rPr>
              <a:t>qubit</a:t>
            </a:r>
            <a:r>
              <a:rPr lang="es-ES_tradnl" sz="1800" noProof="0" dirty="0">
                <a:solidFill>
                  <a:srgbClr val="3C3C3B"/>
                </a:solidFill>
                <a:latin typeface="Roboto" pitchFamily="34" charset="0"/>
                <a:ea typeface="Roboto" pitchFamily="34" charset="-122"/>
                <a:cs typeface="Roboto" pitchFamily="34" charset="-120"/>
              </a:rPr>
              <a:t> caben como mucho 2 estados ortogonales.</a:t>
            </a:r>
            <a:endParaRPr lang="es-ES_tradnl" sz="1800" noProof="0" dirty="0"/>
          </a:p>
        </p:txBody>
      </p:sp>
      <p:pic>
        <p:nvPicPr>
          <p:cNvPr id="9" name="Image 1" descr="Ecuador de la esfera de Bloch: car en +x, none en +y, real estate en −x y savings en −y, separados 90°; la medición en X es el eje horizontal"/>
          <p:cNvPicPr>
            <a:picLocks noChangeAspect="1"/>
          </p:cNvPicPr>
          <p:nvPr/>
        </p:nvPicPr>
        <p:blipFill>
          <a:blip r:embed="rId4"/>
          <a:srcRect/>
          <a:stretch/>
        </p:blipFill>
        <p:spPr>
          <a:xfrm>
            <a:off x="812800" y="2153841"/>
            <a:ext cx="4064000" cy="2794000"/>
          </a:xfrm>
          <a:prstGeom prst="rect">
            <a:avLst/>
          </a:prstGeom>
        </p:spPr>
      </p:pic>
      <p:sp>
        <p:nvSpPr>
          <p:cNvPr id="10" name="Text 6"/>
          <p:cNvSpPr/>
          <p:nvPr/>
        </p:nvSpPr>
        <p:spPr>
          <a:xfrm>
            <a:off x="4013200" y="3449538"/>
            <a:ext cx="267593" cy="228005"/>
          </a:xfrm>
          <a:prstGeom prst="rect">
            <a:avLst/>
          </a:prstGeom>
          <a:noFill/>
          <a:ln/>
        </p:spPr>
        <p:txBody>
          <a:bodyPr wrap="square" lIns="0" tIns="0" rIns="0" bIns="0" rtlCol="0" anchor="t">
            <a:normAutofit/>
          </a:bodyPr>
          <a:lstStyle/>
          <a:p>
            <a:pPr marL="0" indent="0" algn="l">
              <a:lnSpc>
                <a:spcPts val="1596"/>
              </a:lnSpc>
              <a:buNone/>
            </a:pPr>
            <a:r>
              <a:rPr lang="es-ES_tradnl" sz="1200" b="1" noProof="0" dirty="0">
                <a:solidFill>
                  <a:srgbClr val="1D1D1B"/>
                </a:solidFill>
                <a:latin typeface="Roboto" pitchFamily="34" charset="0"/>
                <a:ea typeface="Roboto" pitchFamily="34" charset="-122"/>
                <a:cs typeface="Roboto" pitchFamily="34" charset="-120"/>
              </a:rPr>
              <a:t>car</a:t>
            </a:r>
            <a:endParaRPr lang="es-ES_tradnl" sz="1200" noProof="0" dirty="0"/>
          </a:p>
        </p:txBody>
      </p:sp>
      <p:pic>
        <p:nvPicPr>
          <p:cNvPr id="11" name="Image 2" descr="|+⟩"/>
          <p:cNvPicPr>
            <a:picLocks noChangeAspect="1"/>
          </p:cNvPicPr>
          <p:nvPr/>
        </p:nvPicPr>
        <p:blipFill>
          <a:blip r:embed="rId5"/>
          <a:srcRect t="-355" b="-355"/>
          <a:stretch/>
        </p:blipFill>
        <p:spPr>
          <a:xfrm>
            <a:off x="4280793" y="3439716"/>
            <a:ext cx="298450" cy="222250"/>
          </a:xfrm>
          <a:prstGeom prst="rect">
            <a:avLst/>
          </a:prstGeom>
        </p:spPr>
      </p:pic>
      <p:sp>
        <p:nvSpPr>
          <p:cNvPr id="12" name="Text 7"/>
          <p:cNvSpPr/>
          <p:nvPr/>
        </p:nvSpPr>
        <p:spPr>
          <a:xfrm>
            <a:off x="985044" y="3334941"/>
            <a:ext cx="869156" cy="228005"/>
          </a:xfrm>
          <a:prstGeom prst="rect">
            <a:avLst/>
          </a:prstGeom>
          <a:noFill/>
          <a:ln/>
        </p:spPr>
        <p:txBody>
          <a:bodyPr wrap="square" lIns="0" tIns="0" rIns="0" bIns="0" rtlCol="0" anchor="t">
            <a:normAutofit/>
          </a:bodyPr>
          <a:lstStyle/>
          <a:p>
            <a:pPr marL="0" indent="0" algn="r">
              <a:lnSpc>
                <a:spcPts val="1596"/>
              </a:lnSpc>
              <a:buNone/>
            </a:pPr>
            <a:r>
              <a:rPr lang="es-ES_tradnl" sz="1200" b="1" noProof="0" dirty="0">
                <a:solidFill>
                  <a:srgbClr val="1D1D1B"/>
                </a:solidFill>
                <a:latin typeface="Roboto" pitchFamily="34" charset="0"/>
                <a:ea typeface="Roboto" pitchFamily="34" charset="-122"/>
                <a:cs typeface="Roboto" pitchFamily="34" charset="-120"/>
              </a:rPr>
              <a:t>real estate</a:t>
            </a:r>
            <a:endParaRPr lang="es-ES_tradnl" sz="1200" noProof="0" dirty="0"/>
          </a:p>
        </p:txBody>
      </p:sp>
      <p:pic>
        <p:nvPicPr>
          <p:cNvPr id="13" name="Image 3" descr="|−⟩"/>
          <p:cNvPicPr>
            <a:picLocks noChangeAspect="1"/>
          </p:cNvPicPr>
          <p:nvPr/>
        </p:nvPicPr>
        <p:blipFill>
          <a:blip r:embed="rId6"/>
          <a:srcRect t="-355" b="-355"/>
          <a:stretch/>
        </p:blipFill>
        <p:spPr>
          <a:xfrm>
            <a:off x="1555750" y="3537545"/>
            <a:ext cx="298450" cy="222250"/>
          </a:xfrm>
          <a:prstGeom prst="rect">
            <a:avLst/>
          </a:prstGeom>
        </p:spPr>
      </p:pic>
      <p:sp>
        <p:nvSpPr>
          <p:cNvPr id="14" name="Text 8"/>
          <p:cNvSpPr/>
          <p:nvPr/>
        </p:nvSpPr>
        <p:spPr>
          <a:xfrm>
            <a:off x="2532261" y="2255738"/>
            <a:ext cx="390128" cy="228005"/>
          </a:xfrm>
          <a:prstGeom prst="rect">
            <a:avLst/>
          </a:prstGeom>
          <a:noFill/>
          <a:ln/>
        </p:spPr>
        <p:txBody>
          <a:bodyPr wrap="square" lIns="0" tIns="0" rIns="0" bIns="0" rtlCol="0" anchor="t">
            <a:normAutofit/>
          </a:bodyPr>
          <a:lstStyle/>
          <a:p>
            <a:pPr marL="0" indent="0" algn="l">
              <a:lnSpc>
                <a:spcPts val="1596"/>
              </a:lnSpc>
              <a:buNone/>
            </a:pPr>
            <a:r>
              <a:rPr lang="es-ES_tradnl" sz="1200" b="1" noProof="0" dirty="0" err="1">
                <a:solidFill>
                  <a:srgbClr val="1D1D1B"/>
                </a:solidFill>
                <a:latin typeface="Roboto" pitchFamily="34" charset="0"/>
                <a:ea typeface="Roboto" pitchFamily="34" charset="-122"/>
                <a:cs typeface="Roboto" pitchFamily="34" charset="-120"/>
              </a:rPr>
              <a:t>none</a:t>
            </a:r>
            <a:endParaRPr lang="es-ES_tradnl" sz="1200" noProof="0" dirty="0"/>
          </a:p>
        </p:txBody>
      </p:sp>
      <p:pic>
        <p:nvPicPr>
          <p:cNvPr id="15" name="Image 4" descr="|+i⟩"/>
          <p:cNvPicPr>
            <a:picLocks noChangeAspect="1"/>
          </p:cNvPicPr>
          <p:nvPr/>
        </p:nvPicPr>
        <p:blipFill>
          <a:blip r:embed="rId7"/>
          <a:srcRect/>
          <a:stretch/>
        </p:blipFill>
        <p:spPr>
          <a:xfrm>
            <a:off x="2922389" y="2245916"/>
            <a:ext cx="361950" cy="222250"/>
          </a:xfrm>
          <a:prstGeom prst="rect">
            <a:avLst/>
          </a:prstGeom>
        </p:spPr>
      </p:pic>
      <p:sp>
        <p:nvSpPr>
          <p:cNvPr id="16" name="Text 9"/>
          <p:cNvSpPr/>
          <p:nvPr/>
        </p:nvSpPr>
        <p:spPr>
          <a:xfrm>
            <a:off x="2438400" y="4668738"/>
            <a:ext cx="577850" cy="228005"/>
          </a:xfrm>
          <a:prstGeom prst="rect">
            <a:avLst/>
          </a:prstGeom>
          <a:noFill/>
          <a:ln/>
        </p:spPr>
        <p:txBody>
          <a:bodyPr wrap="square" lIns="0" tIns="0" rIns="0" bIns="0" rtlCol="0" anchor="t">
            <a:normAutofit/>
          </a:bodyPr>
          <a:lstStyle/>
          <a:p>
            <a:pPr marL="0" indent="0" algn="l">
              <a:lnSpc>
                <a:spcPts val="1596"/>
              </a:lnSpc>
              <a:buNone/>
            </a:pPr>
            <a:r>
              <a:rPr lang="es-ES_tradnl" sz="1200" b="1" noProof="0" dirty="0" err="1">
                <a:solidFill>
                  <a:srgbClr val="1D1D1B"/>
                </a:solidFill>
                <a:latin typeface="Roboto" pitchFamily="34" charset="0"/>
                <a:ea typeface="Roboto" pitchFamily="34" charset="-122"/>
                <a:cs typeface="Roboto" pitchFamily="34" charset="-120"/>
              </a:rPr>
              <a:t>savings</a:t>
            </a:r>
            <a:endParaRPr lang="es-ES_tradnl" sz="1200" noProof="0" dirty="0"/>
          </a:p>
        </p:txBody>
      </p:sp>
      <p:pic>
        <p:nvPicPr>
          <p:cNvPr id="17" name="Image 5" descr="|−i⟩"/>
          <p:cNvPicPr>
            <a:picLocks noChangeAspect="1"/>
          </p:cNvPicPr>
          <p:nvPr/>
        </p:nvPicPr>
        <p:blipFill>
          <a:blip r:embed="rId8"/>
          <a:srcRect/>
          <a:stretch/>
        </p:blipFill>
        <p:spPr>
          <a:xfrm>
            <a:off x="3016250" y="4658916"/>
            <a:ext cx="361950" cy="222250"/>
          </a:xfrm>
          <a:prstGeom prst="rect">
            <a:avLst/>
          </a:prstGeom>
        </p:spPr>
      </p:pic>
      <p:sp>
        <p:nvSpPr>
          <p:cNvPr id="18" name="Text 10"/>
          <p:cNvSpPr/>
          <p:nvPr/>
        </p:nvSpPr>
        <p:spPr>
          <a:xfrm>
            <a:off x="812800" y="5049441"/>
            <a:ext cx="4185920" cy="452041"/>
          </a:xfrm>
          <a:prstGeom prst="rect">
            <a:avLst/>
          </a:prstGeom>
          <a:noFill/>
          <a:ln/>
        </p:spPr>
        <p:txBody>
          <a:bodyPr wrap="square" lIns="0" tIns="0" rIns="0" bIns="0" rtlCol="0" anchor="t">
            <a:normAutofit/>
          </a:bodyPr>
          <a:lstStyle/>
          <a:p>
            <a:pPr marL="0" indent="0" algn="l">
              <a:lnSpc>
                <a:spcPts val="1680"/>
              </a:lnSpc>
              <a:buNone/>
            </a:pPr>
            <a:r>
              <a:rPr lang="es-ES_tradnl" sz="1200" noProof="0" dirty="0">
                <a:solidFill>
                  <a:srgbClr val="6E6E6C"/>
                </a:solidFill>
                <a:latin typeface="Roboto" pitchFamily="34" charset="0"/>
                <a:ea typeface="Roboto" pitchFamily="34" charset="-122"/>
                <a:cs typeface="Roboto" pitchFamily="34" charset="-120"/>
              </a:rPr>
              <a:t>4 puntos en el ecuador, separados 90°. La medición en base X es el eje horizontal (azul).</a:t>
            </a:r>
            <a:endParaRPr lang="es-ES_tradnl" sz="1200" noProof="0" dirty="0"/>
          </a:p>
        </p:txBody>
      </p:sp>
      <p:sp>
        <p:nvSpPr>
          <p:cNvPr id="19" name="Shape 11"/>
          <p:cNvSpPr/>
          <p:nvPr/>
        </p:nvSpPr>
        <p:spPr>
          <a:xfrm>
            <a:off x="5184775" y="2157016"/>
            <a:ext cx="6191250" cy="1771650"/>
          </a:xfrm>
          <a:prstGeom prst="rect">
            <a:avLst/>
          </a:prstGeom>
          <a:noFill/>
          <a:ln w="6350">
            <a:solidFill>
              <a:srgbClr val="E3E3DF"/>
            </a:solidFill>
            <a:prstDash val="solid"/>
          </a:ln>
        </p:spPr>
        <p:txBody>
          <a:bodyPr/>
          <a:lstStyle/>
          <a:p>
            <a:endParaRPr lang="es-ES_tradnl" noProof="0" dirty="0"/>
          </a:p>
        </p:txBody>
      </p:sp>
      <p:sp>
        <p:nvSpPr>
          <p:cNvPr id="20" name="Shape 12"/>
          <p:cNvSpPr/>
          <p:nvPr/>
        </p:nvSpPr>
        <p:spPr>
          <a:xfrm>
            <a:off x="5187950" y="2160191"/>
            <a:ext cx="6184900" cy="342900"/>
          </a:xfrm>
          <a:prstGeom prst="rect">
            <a:avLst/>
          </a:prstGeom>
          <a:solidFill>
            <a:srgbClr val="3C3C3B"/>
          </a:solidFill>
          <a:ln/>
        </p:spPr>
        <p:txBody>
          <a:bodyPr/>
          <a:lstStyle/>
          <a:p>
            <a:endParaRPr lang="es-ES_tradnl" noProof="0" dirty="0"/>
          </a:p>
        </p:txBody>
      </p:sp>
      <p:sp>
        <p:nvSpPr>
          <p:cNvPr id="21" name="Text 13"/>
          <p:cNvSpPr/>
          <p:nvPr/>
        </p:nvSpPr>
        <p:spPr>
          <a:xfrm>
            <a:off x="5289550" y="2216051"/>
            <a:ext cx="1949069" cy="256480"/>
          </a:xfrm>
          <a:prstGeom prst="rect">
            <a:avLst/>
          </a:prstGeom>
          <a:noFill/>
          <a:ln/>
        </p:spPr>
        <p:txBody>
          <a:bodyPr wrap="square" lIns="0" tIns="0" rIns="0" bIns="0" rtlCol="0" anchor="t">
            <a:normAutofit/>
          </a:bodyPr>
          <a:lstStyle/>
          <a:p>
            <a:pPr marL="0" indent="0" algn="l">
              <a:lnSpc>
                <a:spcPts val="1820"/>
              </a:lnSpc>
              <a:buNone/>
            </a:pPr>
            <a:r>
              <a:rPr lang="es-ES_tradnl" sz="1300" b="1" noProof="0" dirty="0">
                <a:solidFill>
                  <a:srgbClr val="FFFFFF"/>
                </a:solidFill>
                <a:latin typeface="Roboto" pitchFamily="34" charset="0"/>
                <a:ea typeface="Roboto" pitchFamily="34" charset="-122"/>
                <a:cs typeface="Roboto" pitchFamily="34" charset="-120"/>
              </a:rPr>
              <a:t>Categoría</a:t>
            </a:r>
            <a:endParaRPr lang="es-ES_tradnl" sz="1300" noProof="0" dirty="0"/>
          </a:p>
        </p:txBody>
      </p:sp>
      <p:sp>
        <p:nvSpPr>
          <p:cNvPr id="22" name="Text 14"/>
          <p:cNvSpPr/>
          <p:nvPr/>
        </p:nvSpPr>
        <p:spPr>
          <a:xfrm>
            <a:off x="7385050" y="2216051"/>
            <a:ext cx="1092200" cy="256480"/>
          </a:xfrm>
          <a:prstGeom prst="rect">
            <a:avLst/>
          </a:prstGeom>
          <a:noFill/>
          <a:ln/>
        </p:spPr>
        <p:txBody>
          <a:bodyPr wrap="square" lIns="0" tIns="0" rIns="0" bIns="0" rtlCol="0" anchor="t">
            <a:normAutofit/>
          </a:bodyPr>
          <a:lstStyle/>
          <a:p>
            <a:pPr marL="0" indent="0" algn="l">
              <a:lnSpc>
                <a:spcPts val="1820"/>
              </a:lnSpc>
              <a:buNone/>
            </a:pPr>
            <a:r>
              <a:rPr lang="es-ES_tradnl" sz="1300" b="1" noProof="0" dirty="0">
                <a:solidFill>
                  <a:srgbClr val="FFFFFF"/>
                </a:solidFill>
                <a:latin typeface="Roboto" pitchFamily="34" charset="0"/>
                <a:ea typeface="Roboto" pitchFamily="34" charset="-122"/>
                <a:cs typeface="Roboto" pitchFamily="34" charset="-120"/>
              </a:rPr>
              <a:t>Estado</a:t>
            </a:r>
            <a:endParaRPr lang="es-ES_tradnl" sz="1300" noProof="0" dirty="0"/>
          </a:p>
        </p:txBody>
      </p:sp>
      <p:sp>
        <p:nvSpPr>
          <p:cNvPr id="23" name="Text 15"/>
          <p:cNvSpPr/>
          <p:nvPr/>
        </p:nvSpPr>
        <p:spPr>
          <a:xfrm>
            <a:off x="8578850" y="2216051"/>
            <a:ext cx="1460500" cy="256480"/>
          </a:xfrm>
          <a:prstGeom prst="rect">
            <a:avLst/>
          </a:prstGeom>
          <a:noFill/>
          <a:ln/>
        </p:spPr>
        <p:txBody>
          <a:bodyPr wrap="square" lIns="0" tIns="0" rIns="0" bIns="0" rtlCol="0" anchor="t">
            <a:normAutofit/>
          </a:bodyPr>
          <a:lstStyle/>
          <a:p>
            <a:pPr marL="0" indent="0" algn="r">
              <a:lnSpc>
                <a:spcPts val="1820"/>
              </a:lnSpc>
              <a:buNone/>
            </a:pPr>
            <a:r>
              <a:rPr lang="es-ES_tradnl" sz="1300" b="1" noProof="0" dirty="0">
                <a:solidFill>
                  <a:srgbClr val="FFFFFF"/>
                </a:solidFill>
                <a:latin typeface="Roboto" pitchFamily="34" charset="0"/>
                <a:ea typeface="Roboto" pitchFamily="34" charset="-122"/>
                <a:cs typeface="Roboto" pitchFamily="34" charset="-120"/>
              </a:rPr>
              <a:t>Proporción</a:t>
            </a:r>
            <a:endParaRPr lang="es-ES_tradnl" sz="1300" noProof="0" dirty="0"/>
          </a:p>
        </p:txBody>
      </p:sp>
      <p:sp>
        <p:nvSpPr>
          <p:cNvPr id="24" name="Text 16"/>
          <p:cNvSpPr/>
          <p:nvPr/>
        </p:nvSpPr>
        <p:spPr>
          <a:xfrm>
            <a:off x="10191750" y="2216051"/>
            <a:ext cx="1079500" cy="256480"/>
          </a:xfrm>
          <a:prstGeom prst="rect">
            <a:avLst/>
          </a:prstGeom>
          <a:noFill/>
          <a:ln/>
        </p:spPr>
        <p:txBody>
          <a:bodyPr wrap="square" lIns="0" tIns="0" rIns="0" bIns="0" rtlCol="0" anchor="t">
            <a:normAutofit/>
          </a:bodyPr>
          <a:lstStyle/>
          <a:p>
            <a:pPr marL="0" indent="0" algn="r">
              <a:lnSpc>
                <a:spcPts val="1820"/>
              </a:lnSpc>
              <a:buNone/>
            </a:pPr>
            <a:r>
              <a:rPr lang="es-ES_tradnl" sz="1300" b="1" noProof="0" dirty="0">
                <a:solidFill>
                  <a:srgbClr val="FFFFFF"/>
                </a:solidFill>
                <a:latin typeface="Roboto" pitchFamily="34" charset="0"/>
                <a:ea typeface="Roboto" pitchFamily="34" charset="-122"/>
                <a:cs typeface="Roboto" pitchFamily="34" charset="-120"/>
              </a:rPr>
              <a:t>P(+)</a:t>
            </a:r>
            <a:endParaRPr lang="es-ES_tradnl" sz="1300" noProof="0" dirty="0"/>
          </a:p>
        </p:txBody>
      </p:sp>
      <p:sp>
        <p:nvSpPr>
          <p:cNvPr id="25" name="Shape 17"/>
          <p:cNvSpPr/>
          <p:nvPr/>
        </p:nvSpPr>
        <p:spPr>
          <a:xfrm>
            <a:off x="5187950" y="2503091"/>
            <a:ext cx="6184900" cy="355600"/>
          </a:xfrm>
          <a:prstGeom prst="rect">
            <a:avLst/>
          </a:prstGeom>
          <a:solidFill>
            <a:srgbClr val="FFFFFF"/>
          </a:solidFill>
          <a:ln/>
        </p:spPr>
        <p:txBody>
          <a:bodyPr/>
          <a:lstStyle/>
          <a:p>
            <a:endParaRPr lang="es-ES_tradnl" noProof="0" dirty="0"/>
          </a:p>
        </p:txBody>
      </p:sp>
      <p:sp>
        <p:nvSpPr>
          <p:cNvPr id="26" name="Shape 18"/>
          <p:cNvSpPr/>
          <p:nvPr/>
        </p:nvSpPr>
        <p:spPr>
          <a:xfrm>
            <a:off x="5187950" y="2506266"/>
            <a:ext cx="6184900" cy="0"/>
          </a:xfrm>
          <a:prstGeom prst="line">
            <a:avLst/>
          </a:prstGeom>
          <a:noFill/>
          <a:ln w="6350">
            <a:solidFill>
              <a:srgbClr val="E3E3DF"/>
            </a:solidFill>
            <a:prstDash val="solid"/>
          </a:ln>
        </p:spPr>
        <p:txBody>
          <a:bodyPr/>
          <a:lstStyle/>
          <a:p>
            <a:endParaRPr lang="es-ES_tradnl" noProof="0" dirty="0"/>
          </a:p>
        </p:txBody>
      </p:sp>
      <p:sp>
        <p:nvSpPr>
          <p:cNvPr id="27" name="Text 19"/>
          <p:cNvSpPr/>
          <p:nvPr/>
        </p:nvSpPr>
        <p:spPr>
          <a:xfrm>
            <a:off x="5289550" y="2568476"/>
            <a:ext cx="1949069" cy="256480"/>
          </a:xfrm>
          <a:prstGeom prst="rect">
            <a:avLst/>
          </a:prstGeom>
          <a:noFill/>
          <a:ln/>
        </p:spPr>
        <p:txBody>
          <a:bodyPr wrap="square" lIns="0" tIns="0" rIns="0" bIns="0" rtlCol="0" anchor="t">
            <a:normAutofit/>
          </a:bodyPr>
          <a:lstStyle/>
          <a:p>
            <a:pPr marL="0" indent="0" algn="l">
              <a:lnSpc>
                <a:spcPts val="1820"/>
              </a:lnSpc>
              <a:buNone/>
            </a:pPr>
            <a:r>
              <a:rPr lang="es-ES_tradnl" sz="1300" noProof="0" dirty="0">
                <a:solidFill>
                  <a:srgbClr val="293470"/>
                </a:solidFill>
                <a:latin typeface="Roboto" pitchFamily="34" charset="0"/>
                <a:ea typeface="Roboto" pitchFamily="34" charset="-122"/>
                <a:cs typeface="Roboto" pitchFamily="34" charset="-120"/>
              </a:rPr>
              <a:t>car</a:t>
            </a:r>
            <a:endParaRPr lang="es-ES_tradnl" sz="1300" noProof="0" dirty="0"/>
          </a:p>
        </p:txBody>
      </p:sp>
      <p:pic>
        <p:nvPicPr>
          <p:cNvPr id="28" name="Image 6" descr="|+⟩"/>
          <p:cNvPicPr>
            <a:picLocks noChangeAspect="1"/>
          </p:cNvPicPr>
          <p:nvPr/>
        </p:nvPicPr>
        <p:blipFill>
          <a:blip r:embed="rId5"/>
          <a:srcRect t="-355" b="-355"/>
          <a:stretch/>
        </p:blipFill>
        <p:spPr>
          <a:xfrm>
            <a:off x="7385050" y="2572941"/>
            <a:ext cx="298450" cy="222250"/>
          </a:xfrm>
          <a:prstGeom prst="rect">
            <a:avLst/>
          </a:prstGeom>
        </p:spPr>
      </p:pic>
      <p:sp>
        <p:nvSpPr>
          <p:cNvPr id="29" name="Text 20"/>
          <p:cNvSpPr/>
          <p:nvPr/>
        </p:nvSpPr>
        <p:spPr>
          <a:xfrm>
            <a:off x="8578850" y="2568476"/>
            <a:ext cx="1460500" cy="256480"/>
          </a:xfrm>
          <a:prstGeom prst="rect">
            <a:avLst/>
          </a:prstGeom>
          <a:noFill/>
          <a:ln/>
        </p:spPr>
        <p:txBody>
          <a:bodyPr wrap="square" lIns="0" tIns="0" rIns="0" bIns="0" rtlCol="0" anchor="t">
            <a:normAutofit/>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0.232</a:t>
            </a:r>
            <a:endParaRPr lang="es-ES_tradnl" sz="1300" noProof="0" dirty="0"/>
          </a:p>
        </p:txBody>
      </p:sp>
      <p:sp>
        <p:nvSpPr>
          <p:cNvPr id="30" name="Text 21"/>
          <p:cNvSpPr/>
          <p:nvPr/>
        </p:nvSpPr>
        <p:spPr>
          <a:xfrm>
            <a:off x="10191750" y="2568476"/>
            <a:ext cx="1079500" cy="256480"/>
          </a:xfrm>
          <a:prstGeom prst="rect">
            <a:avLst/>
          </a:prstGeom>
          <a:noFill/>
          <a:ln/>
        </p:spPr>
        <p:txBody>
          <a:bodyPr wrap="square" lIns="0" tIns="0" rIns="0" bIns="0" rtlCol="0" anchor="t">
            <a:normAutofit/>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1</a:t>
            </a:r>
            <a:endParaRPr lang="es-ES_tradnl" sz="1300" noProof="0" dirty="0"/>
          </a:p>
        </p:txBody>
      </p:sp>
      <p:sp>
        <p:nvSpPr>
          <p:cNvPr id="31" name="Shape 22"/>
          <p:cNvSpPr/>
          <p:nvPr/>
        </p:nvSpPr>
        <p:spPr>
          <a:xfrm>
            <a:off x="5187950" y="2858691"/>
            <a:ext cx="6184900" cy="355600"/>
          </a:xfrm>
          <a:prstGeom prst="rect">
            <a:avLst/>
          </a:prstGeom>
          <a:solidFill>
            <a:srgbClr val="F4F4F2"/>
          </a:solidFill>
          <a:ln/>
        </p:spPr>
        <p:txBody>
          <a:bodyPr/>
          <a:lstStyle/>
          <a:p>
            <a:endParaRPr lang="es-ES_tradnl" noProof="0" dirty="0"/>
          </a:p>
        </p:txBody>
      </p:sp>
      <p:sp>
        <p:nvSpPr>
          <p:cNvPr id="32" name="Shape 23"/>
          <p:cNvSpPr/>
          <p:nvPr/>
        </p:nvSpPr>
        <p:spPr>
          <a:xfrm>
            <a:off x="5187950" y="2861866"/>
            <a:ext cx="6184900" cy="0"/>
          </a:xfrm>
          <a:prstGeom prst="line">
            <a:avLst/>
          </a:prstGeom>
          <a:noFill/>
          <a:ln w="6350">
            <a:solidFill>
              <a:srgbClr val="E3E3DF"/>
            </a:solidFill>
            <a:prstDash val="solid"/>
          </a:ln>
        </p:spPr>
        <p:txBody>
          <a:bodyPr/>
          <a:lstStyle/>
          <a:p>
            <a:endParaRPr lang="es-ES_tradnl" noProof="0" dirty="0"/>
          </a:p>
        </p:txBody>
      </p:sp>
      <p:sp>
        <p:nvSpPr>
          <p:cNvPr id="33" name="Text 24"/>
          <p:cNvSpPr/>
          <p:nvPr/>
        </p:nvSpPr>
        <p:spPr>
          <a:xfrm>
            <a:off x="5289550" y="2924076"/>
            <a:ext cx="1949069" cy="256480"/>
          </a:xfrm>
          <a:prstGeom prst="rect">
            <a:avLst/>
          </a:prstGeom>
          <a:noFill/>
          <a:ln/>
        </p:spPr>
        <p:txBody>
          <a:bodyPr wrap="square" lIns="0" tIns="0" rIns="0" bIns="0" rtlCol="0" anchor="t">
            <a:normAutofit/>
          </a:bodyPr>
          <a:lstStyle/>
          <a:p>
            <a:pPr marL="0" indent="0" algn="l">
              <a:lnSpc>
                <a:spcPts val="1820"/>
              </a:lnSpc>
              <a:buNone/>
            </a:pPr>
            <a:r>
              <a:rPr lang="es-ES_tradnl" sz="1300" noProof="0" dirty="0" err="1">
                <a:solidFill>
                  <a:srgbClr val="293470"/>
                </a:solidFill>
                <a:latin typeface="Roboto" pitchFamily="34" charset="0"/>
                <a:ea typeface="Roboto" pitchFamily="34" charset="-122"/>
                <a:cs typeface="Roboto" pitchFamily="34" charset="-120"/>
              </a:rPr>
              <a:t>none</a:t>
            </a:r>
            <a:endParaRPr lang="es-ES_tradnl" sz="1300" noProof="0" dirty="0"/>
          </a:p>
        </p:txBody>
      </p:sp>
      <p:pic>
        <p:nvPicPr>
          <p:cNvPr id="34" name="Image 7" descr="|+i⟩"/>
          <p:cNvPicPr>
            <a:picLocks noChangeAspect="1"/>
          </p:cNvPicPr>
          <p:nvPr/>
        </p:nvPicPr>
        <p:blipFill>
          <a:blip r:embed="rId7"/>
          <a:srcRect/>
          <a:stretch/>
        </p:blipFill>
        <p:spPr>
          <a:xfrm>
            <a:off x="7385050" y="2928541"/>
            <a:ext cx="361950" cy="222250"/>
          </a:xfrm>
          <a:prstGeom prst="rect">
            <a:avLst/>
          </a:prstGeom>
        </p:spPr>
      </p:pic>
      <p:sp>
        <p:nvSpPr>
          <p:cNvPr id="35" name="Text 25"/>
          <p:cNvSpPr/>
          <p:nvPr/>
        </p:nvSpPr>
        <p:spPr>
          <a:xfrm>
            <a:off x="8578850" y="2924076"/>
            <a:ext cx="1460500" cy="256480"/>
          </a:xfrm>
          <a:prstGeom prst="rect">
            <a:avLst/>
          </a:prstGeom>
          <a:noFill/>
          <a:ln/>
        </p:spPr>
        <p:txBody>
          <a:bodyPr wrap="square" lIns="0" tIns="0" rIns="0" bIns="0" rtlCol="0" anchor="t">
            <a:normAutofit/>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0.282</a:t>
            </a:r>
            <a:endParaRPr lang="es-ES_tradnl" sz="1300" noProof="0" dirty="0"/>
          </a:p>
        </p:txBody>
      </p:sp>
      <p:sp>
        <p:nvSpPr>
          <p:cNvPr id="36" name="Text 26"/>
          <p:cNvSpPr/>
          <p:nvPr/>
        </p:nvSpPr>
        <p:spPr>
          <a:xfrm>
            <a:off x="10191750" y="2924076"/>
            <a:ext cx="1079500" cy="256480"/>
          </a:xfrm>
          <a:prstGeom prst="rect">
            <a:avLst/>
          </a:prstGeom>
          <a:noFill/>
          <a:ln/>
        </p:spPr>
        <p:txBody>
          <a:bodyPr wrap="square" lIns="0" tIns="0" rIns="0" bIns="0" rtlCol="0" anchor="t">
            <a:normAutofit/>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½</a:t>
            </a:r>
            <a:endParaRPr lang="es-ES_tradnl" sz="1300" noProof="0" dirty="0"/>
          </a:p>
        </p:txBody>
      </p:sp>
      <p:sp>
        <p:nvSpPr>
          <p:cNvPr id="37" name="Shape 27"/>
          <p:cNvSpPr/>
          <p:nvPr/>
        </p:nvSpPr>
        <p:spPr>
          <a:xfrm>
            <a:off x="5187950" y="3214291"/>
            <a:ext cx="6184900" cy="355600"/>
          </a:xfrm>
          <a:prstGeom prst="rect">
            <a:avLst/>
          </a:prstGeom>
          <a:solidFill>
            <a:srgbClr val="FFFFFF"/>
          </a:solidFill>
          <a:ln/>
        </p:spPr>
        <p:txBody>
          <a:bodyPr/>
          <a:lstStyle/>
          <a:p>
            <a:endParaRPr lang="es-ES_tradnl" noProof="0" dirty="0"/>
          </a:p>
        </p:txBody>
      </p:sp>
      <p:sp>
        <p:nvSpPr>
          <p:cNvPr id="38" name="Shape 28"/>
          <p:cNvSpPr/>
          <p:nvPr/>
        </p:nvSpPr>
        <p:spPr>
          <a:xfrm>
            <a:off x="5187950" y="3217466"/>
            <a:ext cx="6184900" cy="0"/>
          </a:xfrm>
          <a:prstGeom prst="line">
            <a:avLst/>
          </a:prstGeom>
          <a:noFill/>
          <a:ln w="6350">
            <a:solidFill>
              <a:srgbClr val="E3E3DF"/>
            </a:solidFill>
            <a:prstDash val="solid"/>
          </a:ln>
        </p:spPr>
        <p:txBody>
          <a:bodyPr/>
          <a:lstStyle/>
          <a:p>
            <a:endParaRPr lang="es-ES_tradnl" noProof="0" dirty="0"/>
          </a:p>
        </p:txBody>
      </p:sp>
      <p:sp>
        <p:nvSpPr>
          <p:cNvPr id="39" name="Text 29"/>
          <p:cNvSpPr/>
          <p:nvPr/>
        </p:nvSpPr>
        <p:spPr>
          <a:xfrm>
            <a:off x="5289550" y="3279676"/>
            <a:ext cx="1949069" cy="256480"/>
          </a:xfrm>
          <a:prstGeom prst="rect">
            <a:avLst/>
          </a:prstGeom>
          <a:noFill/>
          <a:ln/>
        </p:spPr>
        <p:txBody>
          <a:bodyPr wrap="square" lIns="0" tIns="0" rIns="0" bIns="0" rtlCol="0" anchor="t">
            <a:normAutofit/>
          </a:bodyPr>
          <a:lstStyle/>
          <a:p>
            <a:pPr marL="0" indent="0" algn="l">
              <a:lnSpc>
                <a:spcPts val="1820"/>
              </a:lnSpc>
              <a:buNone/>
            </a:pPr>
            <a:r>
              <a:rPr lang="es-ES_tradnl" sz="1300" noProof="0" dirty="0">
                <a:solidFill>
                  <a:srgbClr val="293470"/>
                </a:solidFill>
                <a:latin typeface="Roboto" pitchFamily="34" charset="0"/>
                <a:ea typeface="Roboto" pitchFamily="34" charset="-122"/>
                <a:cs typeface="Roboto" pitchFamily="34" charset="-120"/>
              </a:rPr>
              <a:t>real estate</a:t>
            </a:r>
            <a:endParaRPr lang="es-ES_tradnl" sz="1300" noProof="0" dirty="0"/>
          </a:p>
        </p:txBody>
      </p:sp>
      <p:pic>
        <p:nvPicPr>
          <p:cNvPr id="40" name="Image 8" descr="|−⟩"/>
          <p:cNvPicPr>
            <a:picLocks noChangeAspect="1"/>
          </p:cNvPicPr>
          <p:nvPr/>
        </p:nvPicPr>
        <p:blipFill>
          <a:blip r:embed="rId6"/>
          <a:srcRect t="-355" b="-355"/>
          <a:stretch/>
        </p:blipFill>
        <p:spPr>
          <a:xfrm>
            <a:off x="7385050" y="3284141"/>
            <a:ext cx="298450" cy="222250"/>
          </a:xfrm>
          <a:prstGeom prst="rect">
            <a:avLst/>
          </a:prstGeom>
        </p:spPr>
      </p:pic>
      <p:sp>
        <p:nvSpPr>
          <p:cNvPr id="41" name="Text 30"/>
          <p:cNvSpPr/>
          <p:nvPr/>
        </p:nvSpPr>
        <p:spPr>
          <a:xfrm>
            <a:off x="8578850" y="3279676"/>
            <a:ext cx="1460500" cy="256480"/>
          </a:xfrm>
          <a:prstGeom prst="rect">
            <a:avLst/>
          </a:prstGeom>
          <a:noFill/>
          <a:ln/>
        </p:spPr>
        <p:txBody>
          <a:bodyPr wrap="square" lIns="0" tIns="0" rIns="0" bIns="0" rtlCol="0" anchor="t">
            <a:normAutofit/>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0.332</a:t>
            </a:r>
            <a:endParaRPr lang="es-ES_tradnl" sz="1300" noProof="0" dirty="0"/>
          </a:p>
        </p:txBody>
      </p:sp>
      <p:sp>
        <p:nvSpPr>
          <p:cNvPr id="42" name="Text 31"/>
          <p:cNvSpPr/>
          <p:nvPr/>
        </p:nvSpPr>
        <p:spPr>
          <a:xfrm>
            <a:off x="10191750" y="3279676"/>
            <a:ext cx="1079500" cy="256480"/>
          </a:xfrm>
          <a:prstGeom prst="rect">
            <a:avLst/>
          </a:prstGeom>
          <a:noFill/>
          <a:ln/>
        </p:spPr>
        <p:txBody>
          <a:bodyPr wrap="square" lIns="0" tIns="0" rIns="0" bIns="0" rtlCol="0" anchor="t">
            <a:normAutofit/>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0</a:t>
            </a:r>
            <a:endParaRPr lang="es-ES_tradnl" sz="1300" noProof="0" dirty="0"/>
          </a:p>
        </p:txBody>
      </p:sp>
      <p:sp>
        <p:nvSpPr>
          <p:cNvPr id="43" name="Shape 32"/>
          <p:cNvSpPr/>
          <p:nvPr/>
        </p:nvSpPr>
        <p:spPr>
          <a:xfrm>
            <a:off x="5187950" y="3569891"/>
            <a:ext cx="6184900" cy="355600"/>
          </a:xfrm>
          <a:prstGeom prst="rect">
            <a:avLst/>
          </a:prstGeom>
          <a:solidFill>
            <a:srgbClr val="F4F4F2"/>
          </a:solidFill>
          <a:ln/>
        </p:spPr>
        <p:txBody>
          <a:bodyPr/>
          <a:lstStyle/>
          <a:p>
            <a:endParaRPr lang="es-ES_tradnl" noProof="0" dirty="0"/>
          </a:p>
        </p:txBody>
      </p:sp>
      <p:sp>
        <p:nvSpPr>
          <p:cNvPr id="44" name="Shape 33"/>
          <p:cNvSpPr/>
          <p:nvPr/>
        </p:nvSpPr>
        <p:spPr>
          <a:xfrm>
            <a:off x="5187950" y="3573066"/>
            <a:ext cx="6184900" cy="0"/>
          </a:xfrm>
          <a:prstGeom prst="line">
            <a:avLst/>
          </a:prstGeom>
          <a:noFill/>
          <a:ln w="6350">
            <a:solidFill>
              <a:srgbClr val="E3E3DF"/>
            </a:solidFill>
            <a:prstDash val="solid"/>
          </a:ln>
        </p:spPr>
        <p:txBody>
          <a:bodyPr/>
          <a:lstStyle/>
          <a:p>
            <a:endParaRPr lang="es-ES_tradnl" noProof="0" dirty="0"/>
          </a:p>
        </p:txBody>
      </p:sp>
      <p:sp>
        <p:nvSpPr>
          <p:cNvPr id="45" name="Text 34"/>
          <p:cNvSpPr/>
          <p:nvPr/>
        </p:nvSpPr>
        <p:spPr>
          <a:xfrm>
            <a:off x="5289550" y="3635276"/>
            <a:ext cx="1949069" cy="256480"/>
          </a:xfrm>
          <a:prstGeom prst="rect">
            <a:avLst/>
          </a:prstGeom>
          <a:noFill/>
          <a:ln/>
        </p:spPr>
        <p:txBody>
          <a:bodyPr wrap="square" lIns="0" tIns="0" rIns="0" bIns="0" rtlCol="0" anchor="t">
            <a:normAutofit/>
          </a:bodyPr>
          <a:lstStyle/>
          <a:p>
            <a:pPr marL="0" indent="0" algn="l">
              <a:lnSpc>
                <a:spcPts val="1820"/>
              </a:lnSpc>
              <a:buNone/>
            </a:pPr>
            <a:r>
              <a:rPr lang="es-ES_tradnl" sz="1300" noProof="0" dirty="0" err="1">
                <a:solidFill>
                  <a:srgbClr val="293470"/>
                </a:solidFill>
                <a:latin typeface="Roboto" pitchFamily="34" charset="0"/>
                <a:ea typeface="Roboto" pitchFamily="34" charset="-122"/>
                <a:cs typeface="Roboto" pitchFamily="34" charset="-120"/>
              </a:rPr>
              <a:t>savings</a:t>
            </a:r>
            <a:endParaRPr lang="es-ES_tradnl" sz="1300" noProof="0" dirty="0"/>
          </a:p>
        </p:txBody>
      </p:sp>
      <p:pic>
        <p:nvPicPr>
          <p:cNvPr id="46" name="Image 9" descr="|−i⟩"/>
          <p:cNvPicPr>
            <a:picLocks noChangeAspect="1"/>
          </p:cNvPicPr>
          <p:nvPr/>
        </p:nvPicPr>
        <p:blipFill>
          <a:blip r:embed="rId8"/>
          <a:srcRect/>
          <a:stretch/>
        </p:blipFill>
        <p:spPr>
          <a:xfrm>
            <a:off x="7385050" y="3639741"/>
            <a:ext cx="361950" cy="222250"/>
          </a:xfrm>
          <a:prstGeom prst="rect">
            <a:avLst/>
          </a:prstGeom>
        </p:spPr>
      </p:pic>
      <p:sp>
        <p:nvSpPr>
          <p:cNvPr id="47" name="Text 35"/>
          <p:cNvSpPr/>
          <p:nvPr/>
        </p:nvSpPr>
        <p:spPr>
          <a:xfrm>
            <a:off x="8578850" y="3635276"/>
            <a:ext cx="1460500" cy="256480"/>
          </a:xfrm>
          <a:prstGeom prst="rect">
            <a:avLst/>
          </a:prstGeom>
          <a:noFill/>
          <a:ln/>
        </p:spPr>
        <p:txBody>
          <a:bodyPr wrap="square" lIns="0" tIns="0" rIns="0" bIns="0" rtlCol="0" anchor="t">
            <a:normAutofit/>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0.154</a:t>
            </a:r>
            <a:endParaRPr lang="es-ES_tradnl" sz="1300" noProof="0" dirty="0"/>
          </a:p>
        </p:txBody>
      </p:sp>
      <p:sp>
        <p:nvSpPr>
          <p:cNvPr id="48" name="Text 36"/>
          <p:cNvSpPr/>
          <p:nvPr/>
        </p:nvSpPr>
        <p:spPr>
          <a:xfrm>
            <a:off x="10191750" y="3635276"/>
            <a:ext cx="1079500" cy="256480"/>
          </a:xfrm>
          <a:prstGeom prst="rect">
            <a:avLst/>
          </a:prstGeom>
          <a:noFill/>
          <a:ln/>
        </p:spPr>
        <p:txBody>
          <a:bodyPr wrap="square" lIns="0" tIns="0" rIns="0" bIns="0" rtlCol="0" anchor="t">
            <a:normAutofit/>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½</a:t>
            </a:r>
            <a:endParaRPr lang="es-ES_tradnl" sz="1300" noProof="0" dirty="0"/>
          </a:p>
        </p:txBody>
      </p:sp>
      <p:sp>
        <p:nvSpPr>
          <p:cNvPr id="49" name="Text 37"/>
          <p:cNvSpPr/>
          <p:nvPr/>
        </p:nvSpPr>
        <p:spPr>
          <a:xfrm>
            <a:off x="5181600" y="4084241"/>
            <a:ext cx="6383528" cy="238720"/>
          </a:xfrm>
          <a:prstGeom prst="rect">
            <a:avLst/>
          </a:prstGeom>
          <a:noFill/>
          <a:ln/>
        </p:spPr>
        <p:txBody>
          <a:bodyPr wrap="square" lIns="0" tIns="0" rIns="0" bIns="0" rtlCol="0" anchor="t">
            <a:normAutofit/>
          </a:bodyPr>
          <a:lstStyle/>
          <a:p>
            <a:pPr marL="0" indent="0" algn="l">
              <a:lnSpc>
                <a:spcPts val="1680"/>
              </a:lnSpc>
              <a:buNone/>
            </a:pPr>
            <a:r>
              <a:rPr lang="es-ES_tradnl" sz="1200" b="1" noProof="0" dirty="0">
                <a:solidFill>
                  <a:srgbClr val="1D1D1B"/>
                </a:solidFill>
                <a:latin typeface="Roboto" pitchFamily="34" charset="0"/>
                <a:ea typeface="Roboto" pitchFamily="34" charset="-122"/>
                <a:cs typeface="Roboto" pitchFamily="34" charset="-120"/>
              </a:rPr>
              <a:t>Lo que estima F, sin ruido:</a:t>
            </a:r>
            <a:endParaRPr lang="es-ES_tradnl" sz="1200" noProof="0" dirty="0"/>
          </a:p>
        </p:txBody>
      </p:sp>
      <p:pic>
        <p:nvPicPr>
          <p:cNvPr id="50" name="Image 10" descr="E[F] = 0.232·1 + 0.282·½ + 0.332·0 + 0.154·½ = 0.45"/>
          <p:cNvPicPr>
            <a:picLocks noChangeAspect="1"/>
          </p:cNvPicPr>
          <p:nvPr/>
        </p:nvPicPr>
        <p:blipFill>
          <a:blip r:embed="rId9"/>
          <a:srcRect t="-343" b="-343"/>
          <a:stretch/>
        </p:blipFill>
        <p:spPr>
          <a:xfrm>
            <a:off x="5181600" y="4399161"/>
            <a:ext cx="5346700" cy="311150"/>
          </a:xfrm>
          <a:prstGeom prst="rect">
            <a:avLst/>
          </a:prstGeom>
        </p:spPr>
      </p:pic>
      <p:sp>
        <p:nvSpPr>
          <p:cNvPr id="51" name="Text 38"/>
          <p:cNvSpPr/>
          <p:nvPr/>
        </p:nvSpPr>
        <p:spPr>
          <a:xfrm>
            <a:off x="5181600" y="4811911"/>
            <a:ext cx="6383528" cy="523081"/>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Es </a:t>
            </a:r>
            <a:r>
              <a:rPr lang="es-ES_tradnl" sz="1400" b="1" noProof="0" dirty="0">
                <a:solidFill>
                  <a:srgbClr val="3C3C3B"/>
                </a:solidFill>
                <a:latin typeface="Roboto" pitchFamily="34" charset="0"/>
                <a:ea typeface="Roboto" pitchFamily="34" charset="-122"/>
                <a:cs typeface="Roboto" pitchFamily="34" charset="-120"/>
              </a:rPr>
              <a:t>una sola combinación</a:t>
            </a:r>
            <a:r>
              <a:rPr lang="es-ES_tradnl" sz="1400" noProof="0" dirty="0">
                <a:solidFill>
                  <a:srgbClr val="3C3C3B"/>
                </a:solidFill>
                <a:latin typeface="Roboto" pitchFamily="34" charset="0"/>
                <a:ea typeface="Roboto" pitchFamily="34" charset="-122"/>
                <a:cs typeface="Roboto" pitchFamily="34" charset="-120"/>
              </a:rPr>
              <a:t> de las proporciones, no los 4 conteos: un número para 3 incógnitas, y </a:t>
            </a:r>
            <a:r>
              <a:rPr lang="es-ES_tradnl" sz="1400" noProof="0" dirty="0" err="1">
                <a:solidFill>
                  <a:srgbClr val="293470"/>
                </a:solidFill>
                <a:latin typeface="Roboto" pitchFamily="34" charset="0"/>
                <a:ea typeface="Roboto" pitchFamily="34" charset="-122"/>
                <a:cs typeface="Roboto" pitchFamily="34" charset="-120"/>
              </a:rPr>
              <a:t>none</a:t>
            </a:r>
            <a:r>
              <a:rPr lang="es-ES_tradnl" sz="1400" noProof="0" dirty="0">
                <a:solidFill>
                  <a:srgbClr val="3C3C3B"/>
                </a:solidFill>
                <a:latin typeface="Roboto" pitchFamily="34" charset="0"/>
                <a:ea typeface="Roboto" pitchFamily="34" charset="-122"/>
                <a:cs typeface="Roboto" pitchFamily="34" charset="-120"/>
              </a:rPr>
              <a:t> y </a:t>
            </a:r>
            <a:r>
              <a:rPr lang="es-ES_tradnl" sz="1400" noProof="0" dirty="0" err="1">
                <a:solidFill>
                  <a:srgbClr val="293470"/>
                </a:solidFill>
                <a:latin typeface="Roboto" pitchFamily="34" charset="0"/>
                <a:ea typeface="Roboto" pitchFamily="34" charset="-122"/>
                <a:cs typeface="Roboto" pitchFamily="34" charset="-120"/>
              </a:rPr>
              <a:t>savings</a:t>
            </a:r>
            <a:r>
              <a:rPr lang="es-ES_tradnl" sz="1400" noProof="0" dirty="0">
                <a:solidFill>
                  <a:srgbClr val="3C3C3B"/>
                </a:solidFill>
                <a:latin typeface="Roboto" pitchFamily="34" charset="0"/>
                <a:ea typeface="Roboto" pitchFamily="34" charset="-122"/>
                <a:cs typeface="Roboto" pitchFamily="34" charset="-120"/>
              </a:rPr>
              <a:t> entran con el mismo peso.</a:t>
            </a:r>
            <a:endParaRPr lang="es-ES_tradnl" sz="1400" noProof="0" dirty="0"/>
          </a:p>
        </p:txBody>
      </p:sp>
      <p:sp>
        <p:nvSpPr>
          <p:cNvPr id="53" name="Text 40"/>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a:solidFill>
                  <a:srgbClr val="1D1D1B"/>
                </a:solidFill>
                <a:latin typeface="Roboto" pitchFamily="34" charset="0"/>
                <a:ea typeface="Roboto" pitchFamily="34" charset="-122"/>
                <a:cs typeface="Roboto" pitchFamily="34" charset="-120"/>
              </a:rPr>
              <a:t>18</a:t>
            </a:r>
            <a:endParaRPr lang="es-ES_tradnl" sz="1200" noProof="0" dirty="0"/>
          </a:p>
        </p:txBody>
      </p:sp>
    </p:spTree>
    <p:extLst>
      <p:ext uri="{BB962C8B-B14F-4D97-AF65-F5344CB8AC3E}">
        <p14:creationId xmlns:p14="http://schemas.microsoft.com/office/powerpoint/2010/main" val="253608286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s-ES_tradnl" noProof="0" dirty="0"/>
          </a:p>
        </p:txBody>
      </p:sp>
      <p:sp>
        <p:nvSpPr>
          <p:cNvPr id="3" name="Shape 1"/>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dirty="0">
                <a:solidFill>
                  <a:srgbClr val="1D1D1B"/>
                </a:solidFill>
                <a:latin typeface="DM Sans" pitchFamily="34" charset="0"/>
                <a:ea typeface="DM Sans" pitchFamily="34" charset="-122"/>
                <a:cs typeface="DM Sans" pitchFamily="34" charset="-120"/>
              </a:rPr>
              <a:t>II</a:t>
            </a:r>
            <a:endParaRPr lang="es-ES_tradnl" sz="1200" noProof="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dirty="0">
                <a:solidFill>
                  <a:srgbClr val="6E6E6C"/>
                </a:solidFill>
                <a:latin typeface="Roboto" pitchFamily="34" charset="0"/>
                <a:ea typeface="Roboto" pitchFamily="34" charset="-122"/>
                <a:cs typeface="Roboto" pitchFamily="34" charset="-120"/>
              </a:rPr>
              <a:t>DÓNDE ESTÁ LA PRIVACIDAD</a:t>
            </a:r>
            <a:endParaRPr lang="es-ES_tradnl" sz="1200" noProof="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s-ES_tradnl" sz="2800" b="1" i="0" kern="0" spc="-50" noProof="0" dirty="0">
                <a:solidFill>
                  <a:srgbClr val="1D1D1B"/>
                </a:solidFill>
                <a:latin typeface="DM Sans" pitchFamily="34" charset="0"/>
                <a:ea typeface="DM Sans" pitchFamily="34" charset="-122"/>
                <a:cs typeface="DM Sans" pitchFamily="34" charset="-120"/>
              </a:rPr>
              <a:t>El ruido visto desde un </a:t>
            </a:r>
            <a:r>
              <a:rPr lang="es-ES_tradnl" sz="2800" b="1" i="0" kern="0" spc="-50" noProof="0" dirty="0" err="1">
                <a:solidFill>
                  <a:srgbClr val="1D1D1B"/>
                </a:solidFill>
                <a:latin typeface="DM Sans" pitchFamily="34" charset="0"/>
                <a:ea typeface="DM Sans" pitchFamily="34" charset="-122"/>
                <a:cs typeface="DM Sans" pitchFamily="34" charset="-120"/>
              </a:rPr>
              <a:t>qubit</a:t>
            </a:r>
            <a:endParaRPr lang="es-ES_tradnl" sz="2800" noProof="0" dirty="0"/>
          </a:p>
        </p:txBody>
      </p:sp>
      <p:sp>
        <p:nvSpPr>
          <p:cNvPr id="8" name="Text 5"/>
          <p:cNvSpPr/>
          <p:nvPr/>
        </p:nvSpPr>
        <p:spPr>
          <a:xfrm>
            <a:off x="812800" y="1305520"/>
            <a:ext cx="10883392" cy="322560"/>
          </a:xfrm>
          <a:prstGeom prst="rect">
            <a:avLst/>
          </a:prstGeom>
          <a:noFill/>
          <a:ln/>
        </p:spPr>
        <p:txBody>
          <a:bodyPr wrap="square" lIns="0" tIns="0" rIns="0" bIns="0" rtlCol="0" anchor="t">
            <a:normAutofit/>
          </a:bodyPr>
          <a:lstStyle/>
          <a:p>
            <a:pPr marL="0" indent="0" algn="l">
              <a:lnSpc>
                <a:spcPts val="2340"/>
              </a:lnSpc>
              <a:buNone/>
            </a:pPr>
            <a:r>
              <a:rPr lang="es-ES_tradnl" sz="1800" noProof="0" dirty="0">
                <a:solidFill>
                  <a:srgbClr val="3C3C3B"/>
                </a:solidFill>
                <a:latin typeface="Roboto" pitchFamily="34" charset="0"/>
                <a:ea typeface="Roboto" pitchFamily="34" charset="-122"/>
                <a:cs typeface="Roboto" pitchFamily="34" charset="-120"/>
              </a:rPr>
              <a:t>El ruido corre el promedio hacia ½, y lo hace de forma determinista.</a:t>
            </a:r>
            <a:endParaRPr lang="es-ES_tradnl" sz="1800" noProof="0" dirty="0"/>
          </a:p>
        </p:txBody>
      </p:sp>
      <p:sp>
        <p:nvSpPr>
          <p:cNvPr id="9" name="Text 6"/>
          <p:cNvSpPr/>
          <p:nvPr/>
        </p:nvSpPr>
        <p:spPr>
          <a:xfrm>
            <a:off x="812800" y="1856680"/>
            <a:ext cx="4970780" cy="238720"/>
          </a:xfrm>
          <a:prstGeom prst="rect">
            <a:avLst/>
          </a:prstGeom>
          <a:noFill/>
          <a:ln/>
        </p:spPr>
        <p:txBody>
          <a:bodyPr wrap="square" lIns="0" tIns="0" rIns="0" bIns="0" rtlCol="0" anchor="t">
            <a:normAutofit/>
          </a:bodyPr>
          <a:lstStyle/>
          <a:p>
            <a:pPr marL="0" indent="0" algn="l">
              <a:lnSpc>
                <a:spcPts val="1680"/>
              </a:lnSpc>
              <a:buNone/>
            </a:pPr>
            <a:r>
              <a:rPr lang="es-ES_tradnl" sz="1200" b="1" kern="0" spc="100" noProof="0" dirty="0">
                <a:solidFill>
                  <a:srgbClr val="6E6E6C"/>
                </a:solidFill>
                <a:latin typeface="Roboto" pitchFamily="34" charset="0"/>
                <a:ea typeface="Roboto" pitchFamily="34" charset="-122"/>
                <a:cs typeface="Roboto" pitchFamily="34" charset="-120"/>
              </a:rPr>
              <a:t>UNA PERSONA</a:t>
            </a:r>
            <a:endParaRPr lang="es-ES_tradnl" sz="1200" noProof="0" dirty="0"/>
          </a:p>
        </p:txBody>
      </p:sp>
      <p:pic>
        <p:nvPicPr>
          <p:cNvPr id="10" name="Image 1" descr="P″(+) = (1−p)·P(+) + p/2"/>
          <p:cNvPicPr>
            <a:picLocks noChangeAspect="1"/>
          </p:cNvPicPr>
          <p:nvPr/>
        </p:nvPicPr>
        <p:blipFill>
          <a:blip r:embed="rId4"/>
          <a:srcRect t="-218" b="-218"/>
          <a:stretch/>
        </p:blipFill>
        <p:spPr>
          <a:xfrm>
            <a:off x="812800" y="2146201"/>
            <a:ext cx="3321050" cy="571500"/>
          </a:xfrm>
          <a:prstGeom prst="rect">
            <a:avLst/>
          </a:prstGeom>
        </p:spPr>
      </p:pic>
      <p:sp>
        <p:nvSpPr>
          <p:cNvPr id="11" name="Text 7"/>
          <p:cNvSpPr/>
          <p:nvPr/>
        </p:nvSpPr>
        <p:spPr>
          <a:xfrm>
            <a:off x="812800" y="2882801"/>
            <a:ext cx="1320800" cy="228005"/>
          </a:xfrm>
          <a:prstGeom prst="rect">
            <a:avLst/>
          </a:prstGeom>
          <a:noFill/>
          <a:ln/>
        </p:spPr>
        <p:txBody>
          <a:bodyPr wrap="square" lIns="0" tIns="0" rIns="0" bIns="0" rtlCol="0" anchor="t">
            <a:normAutofit/>
          </a:bodyPr>
          <a:lstStyle/>
          <a:p>
            <a:pPr marL="0" indent="0" algn="l">
              <a:lnSpc>
                <a:spcPts val="1596"/>
              </a:lnSpc>
              <a:buNone/>
            </a:pPr>
            <a:r>
              <a:rPr lang="es-ES_tradnl" sz="1200" b="1" noProof="0" dirty="0">
                <a:solidFill>
                  <a:srgbClr val="1D1D1B"/>
                </a:solidFill>
                <a:latin typeface="Roboto" pitchFamily="34" charset="0"/>
                <a:ea typeface="Roboto" pitchFamily="34" charset="-122"/>
                <a:cs typeface="Roboto" pitchFamily="34" charset="-120"/>
              </a:rPr>
              <a:t>real estate</a:t>
            </a:r>
            <a:endParaRPr lang="es-ES_tradnl" sz="1200" noProof="0" dirty="0"/>
          </a:p>
        </p:txBody>
      </p:sp>
      <p:sp>
        <p:nvSpPr>
          <p:cNvPr id="12" name="Text 8"/>
          <p:cNvSpPr/>
          <p:nvPr/>
        </p:nvSpPr>
        <p:spPr>
          <a:xfrm>
            <a:off x="2438400" y="2882801"/>
            <a:ext cx="1574800" cy="228005"/>
          </a:xfrm>
          <a:prstGeom prst="rect">
            <a:avLst/>
          </a:prstGeom>
          <a:noFill/>
          <a:ln/>
        </p:spPr>
        <p:txBody>
          <a:bodyPr wrap="square" lIns="0" tIns="0" rIns="0" bIns="0" rtlCol="0" anchor="t">
            <a:normAutofit/>
          </a:bodyPr>
          <a:lstStyle/>
          <a:p>
            <a:pPr marL="0" indent="0" algn="ctr">
              <a:lnSpc>
                <a:spcPts val="1596"/>
              </a:lnSpc>
              <a:buNone/>
            </a:pPr>
            <a:r>
              <a:rPr lang="es-ES_tradnl" sz="1200" b="1" noProof="0" dirty="0" err="1">
                <a:solidFill>
                  <a:srgbClr val="1D1D1B"/>
                </a:solidFill>
                <a:latin typeface="Roboto" pitchFamily="34" charset="0"/>
                <a:ea typeface="Roboto" pitchFamily="34" charset="-122"/>
                <a:cs typeface="Roboto" pitchFamily="34" charset="-120"/>
              </a:rPr>
              <a:t>none</a:t>
            </a:r>
            <a:r>
              <a:rPr lang="es-ES_tradnl" sz="1200" b="1" noProof="0" dirty="0">
                <a:solidFill>
                  <a:srgbClr val="1D1D1B"/>
                </a:solidFill>
                <a:latin typeface="Roboto" pitchFamily="34" charset="0"/>
                <a:ea typeface="Roboto" pitchFamily="34" charset="-122"/>
                <a:cs typeface="Roboto" pitchFamily="34" charset="-120"/>
              </a:rPr>
              <a:t>, </a:t>
            </a:r>
            <a:r>
              <a:rPr lang="es-ES_tradnl" sz="1200" b="1" noProof="0" dirty="0" err="1">
                <a:solidFill>
                  <a:srgbClr val="1D1D1B"/>
                </a:solidFill>
                <a:latin typeface="Roboto" pitchFamily="34" charset="0"/>
                <a:ea typeface="Roboto" pitchFamily="34" charset="-122"/>
                <a:cs typeface="Roboto" pitchFamily="34" charset="-120"/>
              </a:rPr>
              <a:t>savings</a:t>
            </a:r>
            <a:endParaRPr lang="es-ES_tradnl" sz="1200" noProof="0" dirty="0"/>
          </a:p>
        </p:txBody>
      </p:sp>
      <p:sp>
        <p:nvSpPr>
          <p:cNvPr id="13" name="Text 9"/>
          <p:cNvSpPr/>
          <p:nvPr/>
        </p:nvSpPr>
        <p:spPr>
          <a:xfrm>
            <a:off x="4318000" y="2882801"/>
            <a:ext cx="1320800" cy="228005"/>
          </a:xfrm>
          <a:prstGeom prst="rect">
            <a:avLst/>
          </a:prstGeom>
          <a:noFill/>
          <a:ln/>
        </p:spPr>
        <p:txBody>
          <a:bodyPr wrap="square" lIns="0" tIns="0" rIns="0" bIns="0" rtlCol="0" anchor="t">
            <a:normAutofit/>
          </a:bodyPr>
          <a:lstStyle/>
          <a:p>
            <a:pPr marL="0" indent="0" algn="r">
              <a:lnSpc>
                <a:spcPts val="1596"/>
              </a:lnSpc>
              <a:buNone/>
            </a:pPr>
            <a:r>
              <a:rPr lang="es-ES_tradnl" sz="1200" b="1" noProof="0" dirty="0">
                <a:solidFill>
                  <a:srgbClr val="1D1D1B"/>
                </a:solidFill>
                <a:latin typeface="Roboto" pitchFamily="34" charset="0"/>
                <a:ea typeface="Roboto" pitchFamily="34" charset="-122"/>
                <a:cs typeface="Roboto" pitchFamily="34" charset="-120"/>
              </a:rPr>
              <a:t>car</a:t>
            </a:r>
            <a:endParaRPr lang="es-ES_tradnl" sz="1200" noProof="0" dirty="0"/>
          </a:p>
        </p:txBody>
      </p:sp>
      <p:sp>
        <p:nvSpPr>
          <p:cNvPr id="14" name="Shape 10"/>
          <p:cNvSpPr/>
          <p:nvPr/>
        </p:nvSpPr>
        <p:spPr>
          <a:xfrm>
            <a:off x="990600" y="3162201"/>
            <a:ext cx="152400" cy="152400"/>
          </a:xfrm>
          <a:prstGeom prst="roundRect">
            <a:avLst>
              <a:gd name="adj" fmla="val 50000"/>
            </a:avLst>
          </a:prstGeom>
          <a:solidFill>
            <a:srgbClr val="3C3C3B"/>
          </a:solidFill>
          <a:ln/>
        </p:spPr>
        <p:txBody>
          <a:bodyPr/>
          <a:lstStyle/>
          <a:p>
            <a:endParaRPr lang="es-ES_tradnl" noProof="0" dirty="0"/>
          </a:p>
        </p:txBody>
      </p:sp>
      <p:sp>
        <p:nvSpPr>
          <p:cNvPr id="15" name="Shape 11"/>
          <p:cNvSpPr/>
          <p:nvPr/>
        </p:nvSpPr>
        <p:spPr>
          <a:xfrm>
            <a:off x="3149600" y="3162201"/>
            <a:ext cx="152400" cy="152400"/>
          </a:xfrm>
          <a:prstGeom prst="roundRect">
            <a:avLst>
              <a:gd name="adj" fmla="val 50000"/>
            </a:avLst>
          </a:prstGeom>
          <a:solidFill>
            <a:srgbClr val="3C3C3B"/>
          </a:solidFill>
          <a:ln/>
        </p:spPr>
        <p:txBody>
          <a:bodyPr/>
          <a:lstStyle/>
          <a:p>
            <a:endParaRPr lang="es-ES_tradnl" noProof="0" dirty="0"/>
          </a:p>
        </p:txBody>
      </p:sp>
      <p:sp>
        <p:nvSpPr>
          <p:cNvPr id="16" name="Shape 12"/>
          <p:cNvSpPr/>
          <p:nvPr/>
        </p:nvSpPr>
        <p:spPr>
          <a:xfrm>
            <a:off x="5308600" y="3162201"/>
            <a:ext cx="152400" cy="152400"/>
          </a:xfrm>
          <a:prstGeom prst="roundRect">
            <a:avLst>
              <a:gd name="adj" fmla="val 50000"/>
            </a:avLst>
          </a:prstGeom>
          <a:solidFill>
            <a:srgbClr val="3C3C3B"/>
          </a:solidFill>
          <a:ln/>
        </p:spPr>
        <p:txBody>
          <a:bodyPr/>
          <a:lstStyle/>
          <a:p>
            <a:endParaRPr lang="es-ES_tradnl" noProof="0" dirty="0"/>
          </a:p>
        </p:txBody>
      </p:sp>
      <p:sp>
        <p:nvSpPr>
          <p:cNvPr id="17" name="Shape 13"/>
          <p:cNvSpPr/>
          <p:nvPr/>
        </p:nvSpPr>
        <p:spPr>
          <a:xfrm>
            <a:off x="1066800" y="3860701"/>
            <a:ext cx="4318000" cy="25400"/>
          </a:xfrm>
          <a:prstGeom prst="rect">
            <a:avLst/>
          </a:prstGeom>
          <a:solidFill>
            <a:srgbClr val="3C3C3B"/>
          </a:solidFill>
          <a:ln/>
        </p:spPr>
        <p:txBody>
          <a:bodyPr/>
          <a:lstStyle/>
          <a:p>
            <a:endParaRPr lang="es-ES_tradnl" noProof="0" dirty="0"/>
          </a:p>
        </p:txBody>
      </p:sp>
      <p:pic>
        <p:nvPicPr>
          <p:cNvPr id="18" name="Image 2" descr="connector"/>
          <p:cNvPicPr>
            <a:picLocks noChangeAspect="1"/>
          </p:cNvPicPr>
          <p:nvPr/>
        </p:nvPicPr>
        <p:blipFill>
          <a:blip r:embed="rId5"/>
          <a:srcRect/>
          <a:stretch/>
        </p:blipFill>
        <p:spPr>
          <a:xfrm>
            <a:off x="1092200" y="3225701"/>
            <a:ext cx="990600" cy="641350"/>
          </a:xfrm>
          <a:prstGeom prst="rect">
            <a:avLst/>
          </a:prstGeom>
        </p:spPr>
      </p:pic>
      <p:pic>
        <p:nvPicPr>
          <p:cNvPr id="19" name="Image 3" descr="connector"/>
          <p:cNvPicPr>
            <a:picLocks noChangeAspect="1"/>
          </p:cNvPicPr>
          <p:nvPr/>
        </p:nvPicPr>
        <p:blipFill>
          <a:blip r:embed="rId6"/>
          <a:srcRect/>
          <a:stretch/>
        </p:blipFill>
        <p:spPr>
          <a:xfrm>
            <a:off x="3175000" y="3276501"/>
            <a:ext cx="101600" cy="520700"/>
          </a:xfrm>
          <a:prstGeom prst="rect">
            <a:avLst/>
          </a:prstGeom>
        </p:spPr>
      </p:pic>
      <p:pic>
        <p:nvPicPr>
          <p:cNvPr id="20" name="Image 4" descr="connector"/>
          <p:cNvPicPr>
            <a:picLocks noChangeAspect="1"/>
          </p:cNvPicPr>
          <p:nvPr/>
        </p:nvPicPr>
        <p:blipFill>
          <a:blip r:embed="rId7"/>
          <a:srcRect/>
          <a:stretch/>
        </p:blipFill>
        <p:spPr>
          <a:xfrm>
            <a:off x="4368800" y="3225701"/>
            <a:ext cx="990600" cy="641350"/>
          </a:xfrm>
          <a:prstGeom prst="rect">
            <a:avLst/>
          </a:prstGeom>
        </p:spPr>
      </p:pic>
      <p:sp>
        <p:nvSpPr>
          <p:cNvPr id="21" name="Shape 14"/>
          <p:cNvSpPr/>
          <p:nvPr/>
        </p:nvSpPr>
        <p:spPr>
          <a:xfrm>
            <a:off x="2047875" y="3774976"/>
            <a:ext cx="196850" cy="196850"/>
          </a:xfrm>
          <a:prstGeom prst="roundRect">
            <a:avLst>
              <a:gd name="adj" fmla="val 50000"/>
            </a:avLst>
          </a:prstGeom>
          <a:solidFill>
            <a:srgbClr val="FFEE00"/>
          </a:solidFill>
          <a:ln w="19050">
            <a:solidFill>
              <a:srgbClr val="1D1D1B"/>
            </a:solidFill>
            <a:prstDash val="solid"/>
          </a:ln>
        </p:spPr>
        <p:txBody>
          <a:bodyPr/>
          <a:lstStyle/>
          <a:p>
            <a:endParaRPr lang="es-ES_tradnl" noProof="0" dirty="0"/>
          </a:p>
        </p:txBody>
      </p:sp>
      <p:sp>
        <p:nvSpPr>
          <p:cNvPr id="22" name="Shape 15"/>
          <p:cNvSpPr/>
          <p:nvPr/>
        </p:nvSpPr>
        <p:spPr>
          <a:xfrm>
            <a:off x="3127375" y="3774976"/>
            <a:ext cx="196850" cy="196850"/>
          </a:xfrm>
          <a:prstGeom prst="roundRect">
            <a:avLst>
              <a:gd name="adj" fmla="val 50000"/>
            </a:avLst>
          </a:prstGeom>
          <a:solidFill>
            <a:srgbClr val="FFEE00"/>
          </a:solidFill>
          <a:ln w="19050">
            <a:solidFill>
              <a:srgbClr val="1D1D1B"/>
            </a:solidFill>
            <a:prstDash val="solid"/>
          </a:ln>
        </p:spPr>
        <p:txBody>
          <a:bodyPr/>
          <a:lstStyle/>
          <a:p>
            <a:endParaRPr lang="es-ES_tradnl" noProof="0" dirty="0"/>
          </a:p>
        </p:txBody>
      </p:sp>
      <p:sp>
        <p:nvSpPr>
          <p:cNvPr id="23" name="Shape 16"/>
          <p:cNvSpPr/>
          <p:nvPr/>
        </p:nvSpPr>
        <p:spPr>
          <a:xfrm>
            <a:off x="4206875" y="3774976"/>
            <a:ext cx="196850" cy="196850"/>
          </a:xfrm>
          <a:prstGeom prst="roundRect">
            <a:avLst>
              <a:gd name="adj" fmla="val 50000"/>
            </a:avLst>
          </a:prstGeom>
          <a:solidFill>
            <a:srgbClr val="FFEE00"/>
          </a:solidFill>
          <a:ln w="19050">
            <a:solidFill>
              <a:srgbClr val="1D1D1B"/>
            </a:solidFill>
            <a:prstDash val="solid"/>
          </a:ln>
        </p:spPr>
        <p:txBody>
          <a:bodyPr/>
          <a:lstStyle/>
          <a:p>
            <a:endParaRPr lang="es-ES_tradnl" noProof="0" dirty="0"/>
          </a:p>
        </p:txBody>
      </p:sp>
      <p:sp>
        <p:nvSpPr>
          <p:cNvPr id="24" name="Text 17"/>
          <p:cNvSpPr/>
          <p:nvPr/>
        </p:nvSpPr>
        <p:spPr>
          <a:xfrm>
            <a:off x="787400" y="4000401"/>
            <a:ext cx="558800" cy="215900"/>
          </a:xfrm>
          <a:prstGeom prst="rect">
            <a:avLst/>
          </a:prstGeom>
          <a:noFill/>
          <a:ln/>
        </p:spPr>
        <p:txBody>
          <a:bodyPr wrap="square" lIns="0" tIns="0" rIns="0" bIns="0" rtlCol="0" anchor="t">
            <a:normAutofit/>
          </a:bodyPr>
          <a:lstStyle/>
          <a:p>
            <a:pPr marL="0" indent="0" algn="ctr">
              <a:lnSpc>
                <a:spcPts val="1500"/>
              </a:lnSpc>
              <a:buNone/>
            </a:pPr>
            <a:r>
              <a:rPr lang="es-ES_tradnl" sz="1200" noProof="0" dirty="0">
                <a:solidFill>
                  <a:srgbClr val="3C3C3B"/>
                </a:solidFill>
                <a:latin typeface="Roboto" pitchFamily="34" charset="0"/>
                <a:ea typeface="Roboto" pitchFamily="34" charset="-122"/>
                <a:cs typeface="Roboto" pitchFamily="34" charset="-120"/>
              </a:rPr>
              <a:t>0</a:t>
            </a:r>
            <a:endParaRPr lang="es-ES_tradnl" sz="1200" noProof="0" dirty="0"/>
          </a:p>
        </p:txBody>
      </p:sp>
      <p:sp>
        <p:nvSpPr>
          <p:cNvPr id="25" name="Text 18"/>
          <p:cNvSpPr/>
          <p:nvPr/>
        </p:nvSpPr>
        <p:spPr>
          <a:xfrm>
            <a:off x="1866900" y="4000401"/>
            <a:ext cx="558800" cy="215900"/>
          </a:xfrm>
          <a:prstGeom prst="rect">
            <a:avLst/>
          </a:prstGeom>
          <a:noFill/>
          <a:ln/>
        </p:spPr>
        <p:txBody>
          <a:bodyPr wrap="square" lIns="0" tIns="0" rIns="0" bIns="0" rtlCol="0" anchor="t">
            <a:normAutofit/>
          </a:bodyPr>
          <a:lstStyle/>
          <a:p>
            <a:pPr marL="0" indent="0" algn="ctr">
              <a:lnSpc>
                <a:spcPts val="1500"/>
              </a:lnSpc>
              <a:buNone/>
            </a:pPr>
            <a:r>
              <a:rPr lang="es-ES_tradnl" sz="1200" b="1" noProof="0" dirty="0">
                <a:solidFill>
                  <a:srgbClr val="1D1D1B"/>
                </a:solidFill>
                <a:latin typeface="Roboto" pitchFamily="34" charset="0"/>
                <a:ea typeface="Roboto" pitchFamily="34" charset="-122"/>
                <a:cs typeface="Roboto" pitchFamily="34" charset="-120"/>
              </a:rPr>
              <a:t>0.25</a:t>
            </a:r>
            <a:endParaRPr lang="es-ES_tradnl" sz="1200" noProof="0" dirty="0"/>
          </a:p>
        </p:txBody>
      </p:sp>
      <p:sp>
        <p:nvSpPr>
          <p:cNvPr id="26" name="Text 19"/>
          <p:cNvSpPr/>
          <p:nvPr/>
        </p:nvSpPr>
        <p:spPr>
          <a:xfrm>
            <a:off x="2946400" y="4000401"/>
            <a:ext cx="558800" cy="215900"/>
          </a:xfrm>
          <a:prstGeom prst="rect">
            <a:avLst/>
          </a:prstGeom>
          <a:noFill/>
          <a:ln/>
        </p:spPr>
        <p:txBody>
          <a:bodyPr wrap="square" lIns="0" tIns="0" rIns="0" bIns="0" rtlCol="0" anchor="t">
            <a:normAutofit/>
          </a:bodyPr>
          <a:lstStyle/>
          <a:p>
            <a:pPr marL="0" indent="0" algn="ctr">
              <a:lnSpc>
                <a:spcPts val="1500"/>
              </a:lnSpc>
              <a:buNone/>
            </a:pPr>
            <a:r>
              <a:rPr lang="es-ES_tradnl" sz="1200" b="1" noProof="0" dirty="0">
                <a:solidFill>
                  <a:srgbClr val="1D1D1B"/>
                </a:solidFill>
                <a:latin typeface="Roboto" pitchFamily="34" charset="0"/>
                <a:ea typeface="Roboto" pitchFamily="34" charset="-122"/>
                <a:cs typeface="Roboto" pitchFamily="34" charset="-120"/>
              </a:rPr>
              <a:t>0.5</a:t>
            </a:r>
            <a:endParaRPr lang="es-ES_tradnl" sz="1200" noProof="0" dirty="0"/>
          </a:p>
        </p:txBody>
      </p:sp>
      <p:sp>
        <p:nvSpPr>
          <p:cNvPr id="27" name="Text 20"/>
          <p:cNvSpPr/>
          <p:nvPr/>
        </p:nvSpPr>
        <p:spPr>
          <a:xfrm>
            <a:off x="4025900" y="4000401"/>
            <a:ext cx="558800" cy="215900"/>
          </a:xfrm>
          <a:prstGeom prst="rect">
            <a:avLst/>
          </a:prstGeom>
          <a:noFill/>
          <a:ln/>
        </p:spPr>
        <p:txBody>
          <a:bodyPr wrap="square" lIns="0" tIns="0" rIns="0" bIns="0" rtlCol="0" anchor="t">
            <a:normAutofit/>
          </a:bodyPr>
          <a:lstStyle/>
          <a:p>
            <a:pPr marL="0" indent="0" algn="ctr">
              <a:lnSpc>
                <a:spcPts val="1500"/>
              </a:lnSpc>
              <a:buNone/>
            </a:pPr>
            <a:r>
              <a:rPr lang="es-ES_tradnl" sz="1200" b="1" noProof="0" dirty="0">
                <a:solidFill>
                  <a:srgbClr val="1D1D1B"/>
                </a:solidFill>
                <a:latin typeface="Roboto" pitchFamily="34" charset="0"/>
                <a:ea typeface="Roboto" pitchFamily="34" charset="-122"/>
                <a:cs typeface="Roboto" pitchFamily="34" charset="-120"/>
              </a:rPr>
              <a:t>0.75</a:t>
            </a:r>
            <a:endParaRPr lang="es-ES_tradnl" sz="1200" noProof="0" dirty="0"/>
          </a:p>
        </p:txBody>
      </p:sp>
      <p:sp>
        <p:nvSpPr>
          <p:cNvPr id="28" name="Text 21"/>
          <p:cNvSpPr/>
          <p:nvPr/>
        </p:nvSpPr>
        <p:spPr>
          <a:xfrm>
            <a:off x="5105400" y="4000401"/>
            <a:ext cx="558800" cy="215900"/>
          </a:xfrm>
          <a:prstGeom prst="rect">
            <a:avLst/>
          </a:prstGeom>
          <a:noFill/>
          <a:ln/>
        </p:spPr>
        <p:txBody>
          <a:bodyPr wrap="square" lIns="0" tIns="0" rIns="0" bIns="0" rtlCol="0" anchor="t">
            <a:normAutofit/>
          </a:bodyPr>
          <a:lstStyle/>
          <a:p>
            <a:pPr marL="0" indent="0" algn="ctr">
              <a:lnSpc>
                <a:spcPts val="1500"/>
              </a:lnSpc>
              <a:buNone/>
            </a:pPr>
            <a:r>
              <a:rPr lang="es-ES_tradnl" sz="1200" noProof="0" dirty="0">
                <a:solidFill>
                  <a:srgbClr val="3C3C3B"/>
                </a:solidFill>
                <a:latin typeface="Roboto" pitchFamily="34" charset="0"/>
                <a:ea typeface="Roboto" pitchFamily="34" charset="-122"/>
                <a:cs typeface="Roboto" pitchFamily="34" charset="-120"/>
              </a:rPr>
              <a:t>1</a:t>
            </a:r>
            <a:endParaRPr lang="es-ES_tradnl" sz="1200" noProof="0" dirty="0"/>
          </a:p>
        </p:txBody>
      </p:sp>
      <p:sp>
        <p:nvSpPr>
          <p:cNvPr id="29" name="Text 22"/>
          <p:cNvSpPr/>
          <p:nvPr/>
        </p:nvSpPr>
        <p:spPr>
          <a:xfrm>
            <a:off x="812800" y="4229001"/>
            <a:ext cx="4970780" cy="215900"/>
          </a:xfrm>
          <a:prstGeom prst="rect">
            <a:avLst/>
          </a:prstGeom>
          <a:noFill/>
          <a:ln/>
        </p:spPr>
        <p:txBody>
          <a:bodyPr wrap="square" lIns="0" tIns="0" rIns="0" bIns="0" rtlCol="0" anchor="t">
            <a:normAutofit/>
          </a:bodyPr>
          <a:lstStyle/>
          <a:p>
            <a:pPr marL="0" indent="0" algn="l">
              <a:lnSpc>
                <a:spcPts val="1500"/>
              </a:lnSpc>
              <a:buNone/>
            </a:pPr>
            <a:r>
              <a:rPr lang="es-ES_tradnl" sz="1200" noProof="0" dirty="0">
                <a:solidFill>
                  <a:srgbClr val="6E6E6C"/>
                </a:solidFill>
                <a:latin typeface="Roboto" pitchFamily="34" charset="0"/>
                <a:ea typeface="Roboto" pitchFamily="34" charset="-122"/>
                <a:cs typeface="Roboto" pitchFamily="34" charset="-120"/>
              </a:rPr>
              <a:t>Arriba, P(+) sin ruido; abajo, con p = 0.5. Con p = 1, todas dan ½.</a:t>
            </a:r>
            <a:endParaRPr lang="es-ES_tradnl" sz="1200" noProof="0" dirty="0"/>
          </a:p>
        </p:txBody>
      </p:sp>
      <p:sp>
        <p:nvSpPr>
          <p:cNvPr id="30" name="Text 23"/>
          <p:cNvSpPr/>
          <p:nvPr/>
        </p:nvSpPr>
        <p:spPr>
          <a:xfrm>
            <a:off x="6045200" y="1856680"/>
            <a:ext cx="5494020" cy="238720"/>
          </a:xfrm>
          <a:prstGeom prst="rect">
            <a:avLst/>
          </a:prstGeom>
          <a:noFill/>
          <a:ln/>
        </p:spPr>
        <p:txBody>
          <a:bodyPr wrap="square" lIns="0" tIns="0" rIns="0" bIns="0" rtlCol="0" anchor="t">
            <a:normAutofit/>
          </a:bodyPr>
          <a:lstStyle/>
          <a:p>
            <a:pPr marL="0" indent="0" algn="l">
              <a:lnSpc>
                <a:spcPts val="1680"/>
              </a:lnSpc>
              <a:buNone/>
            </a:pPr>
            <a:r>
              <a:rPr lang="es-ES_tradnl" sz="1200" b="1" kern="0" spc="100" noProof="0" dirty="0">
                <a:solidFill>
                  <a:srgbClr val="6E6E6C"/>
                </a:solidFill>
                <a:latin typeface="Roboto" pitchFamily="34" charset="0"/>
                <a:ea typeface="Roboto" pitchFamily="34" charset="-122"/>
                <a:cs typeface="Roboto" pitchFamily="34" charset="-120"/>
              </a:rPr>
              <a:t>PROMEDIANDO SOBRE LAS PERSONAS</a:t>
            </a:r>
            <a:endParaRPr lang="es-ES_tradnl" sz="1200" noProof="0" dirty="0"/>
          </a:p>
        </p:txBody>
      </p:sp>
      <p:pic>
        <p:nvPicPr>
          <p:cNvPr id="31" name="Image 5" descr="E[F_C] − ½ = (1−p)·(E[F_B] − ½)"/>
          <p:cNvPicPr>
            <a:picLocks noChangeAspect="1"/>
          </p:cNvPicPr>
          <p:nvPr/>
        </p:nvPicPr>
        <p:blipFill>
          <a:blip r:embed="rId8"/>
          <a:srcRect t="-318" b="-318"/>
          <a:stretch/>
        </p:blipFill>
        <p:spPr>
          <a:xfrm>
            <a:off x="6045200" y="2146201"/>
            <a:ext cx="3740150" cy="368300"/>
          </a:xfrm>
          <a:prstGeom prst="rect">
            <a:avLst/>
          </a:prstGeom>
        </p:spPr>
      </p:pic>
      <p:sp>
        <p:nvSpPr>
          <p:cNvPr id="32" name="Shape 24"/>
          <p:cNvSpPr/>
          <p:nvPr/>
        </p:nvSpPr>
        <p:spPr>
          <a:xfrm>
            <a:off x="6064250" y="2666901"/>
            <a:ext cx="0" cy="746522"/>
          </a:xfrm>
          <a:prstGeom prst="line">
            <a:avLst/>
          </a:prstGeom>
          <a:noFill/>
          <a:ln w="38100">
            <a:solidFill>
              <a:srgbClr val="FFEE00"/>
            </a:solidFill>
            <a:prstDash val="solid"/>
          </a:ln>
        </p:spPr>
        <p:txBody>
          <a:bodyPr/>
          <a:lstStyle/>
          <a:p>
            <a:endParaRPr lang="es-ES_tradnl" noProof="0" dirty="0"/>
          </a:p>
        </p:txBody>
      </p:sp>
      <p:sp>
        <p:nvSpPr>
          <p:cNvPr id="33" name="Text 25"/>
          <p:cNvSpPr/>
          <p:nvPr/>
        </p:nvSpPr>
        <p:spPr>
          <a:xfrm>
            <a:off x="6210300" y="2666901"/>
            <a:ext cx="5323967" cy="771922"/>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El ruido multiplica la distancia a ½ por (1 − p): empuja hacia ½, el valor del estado totalmente mezclado, </a:t>
            </a:r>
            <a:r>
              <a:rPr lang="es-ES_tradnl" sz="1400" b="1" noProof="0" dirty="0">
                <a:solidFill>
                  <a:srgbClr val="3C3C3B"/>
                </a:solidFill>
                <a:latin typeface="Roboto" pitchFamily="34" charset="0"/>
                <a:ea typeface="Roboto" pitchFamily="34" charset="-122"/>
                <a:cs typeface="Roboto" pitchFamily="34" charset="-120"/>
              </a:rPr>
              <a:t>no hacia el promedio de los datos</a:t>
            </a:r>
            <a:r>
              <a:rPr lang="es-ES_tradnl" sz="1400" noProof="0" dirty="0">
                <a:solidFill>
                  <a:srgbClr val="3C3C3B"/>
                </a:solidFill>
                <a:latin typeface="Roboto" pitchFamily="34" charset="0"/>
                <a:ea typeface="Roboto" pitchFamily="34" charset="-122"/>
                <a:cs typeface="Roboto" pitchFamily="34" charset="-120"/>
              </a:rPr>
              <a:t>.</a:t>
            </a:r>
            <a:endParaRPr lang="es-ES_tradnl" sz="1400" noProof="0" dirty="0"/>
          </a:p>
        </p:txBody>
      </p:sp>
      <p:sp>
        <p:nvSpPr>
          <p:cNvPr id="34" name="Shape 26"/>
          <p:cNvSpPr/>
          <p:nvPr/>
        </p:nvSpPr>
        <p:spPr>
          <a:xfrm>
            <a:off x="6064250" y="3515023"/>
            <a:ext cx="0" cy="497681"/>
          </a:xfrm>
          <a:prstGeom prst="line">
            <a:avLst/>
          </a:prstGeom>
          <a:noFill/>
          <a:ln w="38100">
            <a:solidFill>
              <a:srgbClr val="FFEE00"/>
            </a:solidFill>
            <a:prstDash val="solid"/>
          </a:ln>
        </p:spPr>
        <p:txBody>
          <a:bodyPr/>
          <a:lstStyle/>
          <a:p>
            <a:endParaRPr lang="es-ES_tradnl" noProof="0" dirty="0"/>
          </a:p>
        </p:txBody>
      </p:sp>
      <p:sp>
        <p:nvSpPr>
          <p:cNvPr id="35" name="Text 27"/>
          <p:cNvSpPr/>
          <p:nvPr/>
        </p:nvSpPr>
        <p:spPr>
          <a:xfrm>
            <a:off x="6210300" y="3515023"/>
            <a:ext cx="5323967" cy="523081"/>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(1 − p) es el mismo factor con que el </a:t>
            </a:r>
            <a:r>
              <a:rPr lang="es-ES_tradnl" sz="1400" noProof="0" dirty="0" err="1">
                <a:solidFill>
                  <a:srgbClr val="3C3C3B"/>
                </a:solidFill>
                <a:latin typeface="Roboto" pitchFamily="34" charset="0"/>
                <a:ea typeface="Roboto" pitchFamily="34" charset="-122"/>
                <a:cs typeface="Roboto" pitchFamily="34" charset="-120"/>
              </a:rPr>
              <a:t>depolarizante</a:t>
            </a:r>
            <a:r>
              <a:rPr lang="es-ES_tradnl" sz="1400" noProof="0" dirty="0">
                <a:solidFill>
                  <a:srgbClr val="3C3C3B"/>
                </a:solidFill>
                <a:latin typeface="Roboto" pitchFamily="34" charset="0"/>
                <a:ea typeface="Roboto" pitchFamily="34" charset="-122"/>
                <a:cs typeface="Roboto" pitchFamily="34" charset="-120"/>
              </a:rPr>
              <a:t> encoge el vector de Bloch.</a:t>
            </a:r>
            <a:endParaRPr lang="es-ES_tradnl" sz="1400" noProof="0" dirty="0"/>
          </a:p>
        </p:txBody>
      </p:sp>
      <p:sp>
        <p:nvSpPr>
          <p:cNvPr id="36" name="Shape 28"/>
          <p:cNvSpPr/>
          <p:nvPr/>
        </p:nvSpPr>
        <p:spPr>
          <a:xfrm>
            <a:off x="6064250" y="4114304"/>
            <a:ext cx="0" cy="746522"/>
          </a:xfrm>
          <a:prstGeom prst="line">
            <a:avLst/>
          </a:prstGeom>
          <a:noFill/>
          <a:ln w="38100">
            <a:solidFill>
              <a:srgbClr val="FFEE00"/>
            </a:solidFill>
            <a:prstDash val="solid"/>
          </a:ln>
        </p:spPr>
        <p:txBody>
          <a:bodyPr/>
          <a:lstStyle/>
          <a:p>
            <a:endParaRPr lang="es-ES_tradnl" noProof="0" dirty="0"/>
          </a:p>
        </p:txBody>
      </p:sp>
      <p:sp>
        <p:nvSpPr>
          <p:cNvPr id="37" name="Text 29"/>
          <p:cNvSpPr/>
          <p:nvPr/>
        </p:nvSpPr>
        <p:spPr>
          <a:xfrm>
            <a:off x="6210300" y="4114304"/>
            <a:ext cx="5323967" cy="771922"/>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Con </a:t>
            </a:r>
            <a:r>
              <a:rPr lang="es-ES_tradnl" sz="1400" noProof="0" dirty="0" err="1">
                <a:solidFill>
                  <a:srgbClr val="293470"/>
                </a:solidFill>
                <a:latin typeface="Roboto" pitchFamily="34" charset="0"/>
                <a:ea typeface="Roboto" pitchFamily="34" charset="-122"/>
                <a:cs typeface="Roboto" pitchFamily="34" charset="-120"/>
              </a:rPr>
              <a:t>collateral</a:t>
            </a:r>
            <a:r>
              <a:rPr lang="es-ES_tradnl" sz="1400" noProof="0" dirty="0">
                <a:solidFill>
                  <a:srgbClr val="3C3C3B"/>
                </a:solidFill>
                <a:latin typeface="Roboto" pitchFamily="34" charset="0"/>
                <a:ea typeface="Roboto" pitchFamily="34" charset="-122"/>
                <a:cs typeface="Roboto" pitchFamily="34" charset="-120"/>
              </a:rPr>
              <a:t> el corrimiento es chico (0.45 → 0.475) porque 0.45 ya estaba cerca de ½. Si el centro fuera 0.9, el mismo ruido lo llevaría a 0.7.</a:t>
            </a:r>
            <a:endParaRPr lang="es-ES_tradnl" sz="1400" noProof="0" dirty="0"/>
          </a:p>
        </p:txBody>
      </p:sp>
      <p:sp>
        <p:nvSpPr>
          <p:cNvPr id="39" name="Text 31"/>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a:solidFill>
                  <a:srgbClr val="1D1D1B"/>
                </a:solidFill>
                <a:latin typeface="Roboto" pitchFamily="34" charset="0"/>
                <a:ea typeface="Roboto" pitchFamily="34" charset="-122"/>
                <a:cs typeface="Roboto" pitchFamily="34" charset="-120"/>
              </a:rPr>
              <a:t>19</a:t>
            </a:r>
            <a:endParaRPr lang="es-ES_tradnl" sz="1200" noProof="0" dirty="0"/>
          </a:p>
        </p:txBody>
      </p:sp>
    </p:spTree>
    <p:extLst>
      <p:ext uri="{BB962C8B-B14F-4D97-AF65-F5344CB8AC3E}">
        <p14:creationId xmlns:p14="http://schemas.microsoft.com/office/powerpoint/2010/main" val="85375689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s-ES_tradnl" noProof="0" dirty="0"/>
          </a:p>
        </p:txBody>
      </p:sp>
      <p:sp>
        <p:nvSpPr>
          <p:cNvPr id="3" name="Shape 1"/>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dirty="0">
                <a:solidFill>
                  <a:srgbClr val="1D1D1B"/>
                </a:solidFill>
                <a:latin typeface="DM Sans" pitchFamily="34" charset="0"/>
                <a:ea typeface="DM Sans" pitchFamily="34" charset="-122"/>
                <a:cs typeface="DM Sans" pitchFamily="34" charset="-120"/>
              </a:rPr>
              <a:t>II</a:t>
            </a:r>
            <a:endParaRPr lang="es-ES_tradnl" sz="1200" noProof="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dirty="0">
                <a:solidFill>
                  <a:srgbClr val="6E6E6C"/>
                </a:solidFill>
                <a:latin typeface="Roboto" pitchFamily="34" charset="0"/>
                <a:ea typeface="Roboto" pitchFamily="34" charset="-122"/>
                <a:cs typeface="Roboto" pitchFamily="34" charset="-120"/>
              </a:rPr>
              <a:t>DÓNDE ESTÁ LA PRIVACIDAD</a:t>
            </a:r>
            <a:endParaRPr lang="es-ES_tradnl" sz="1200" noProof="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s-ES_tradnl" sz="2800" b="1" i="0" kern="0" spc="-50" noProof="0" dirty="0">
                <a:solidFill>
                  <a:srgbClr val="1D1D1B"/>
                </a:solidFill>
                <a:latin typeface="DM Sans" pitchFamily="34" charset="0"/>
                <a:ea typeface="DM Sans" pitchFamily="34" charset="-122"/>
                <a:cs typeface="DM Sans" pitchFamily="34" charset="-120"/>
              </a:rPr>
              <a:t>Corregir el centro, no la dispersión</a:t>
            </a:r>
            <a:endParaRPr lang="es-ES_tradnl" sz="2800" noProof="0" dirty="0"/>
          </a:p>
        </p:txBody>
      </p:sp>
      <mc:AlternateContent xmlns:mc="http://schemas.openxmlformats.org/markup-compatibility/2006">
        <mc:Choice xmlns:a14="http://schemas.microsoft.com/office/drawing/2010/main" Requires="a14">
          <p:sp>
            <p:nvSpPr>
              <p:cNvPr id="8" name="Text 5"/>
              <p:cNvSpPr/>
              <p:nvPr/>
            </p:nvSpPr>
            <p:spPr>
              <a:xfrm>
                <a:off x="812800" y="1305520"/>
                <a:ext cx="10883392" cy="322560"/>
              </a:xfrm>
              <a:prstGeom prst="rect">
                <a:avLst/>
              </a:prstGeom>
              <a:noFill/>
              <a:ln/>
            </p:spPr>
            <p:txBody>
              <a:bodyPr wrap="square" lIns="0" tIns="0" rIns="0" bIns="0" rtlCol="0" anchor="t">
                <a:normAutofit/>
              </a:bodyPr>
              <a:lstStyle/>
              <a:p>
                <a:pPr marL="0" indent="0" algn="l">
                  <a:lnSpc>
                    <a:spcPts val="2340"/>
                  </a:lnSpc>
                  <a:buNone/>
                </a:pPr>
                <a14:m>
                  <m:oMath xmlns:m="http://schemas.openxmlformats.org/officeDocument/2006/math">
                    <m:acc>
                      <m:accPr>
                        <m:chr m:val="̂"/>
                        <m:ctrlPr>
                          <a:rPr lang="es-ES_tradnl" sz="1800" b="0" i="1" noProof="0" smtClean="0">
                            <a:solidFill>
                              <a:srgbClr val="3C3C3B"/>
                            </a:solidFill>
                            <a:latin typeface="Cambria Math" panose="02040503050406030204" pitchFamily="18" charset="0"/>
                            <a:ea typeface="Roboto" pitchFamily="34" charset="-122"/>
                          </a:rPr>
                        </m:ctrlPr>
                      </m:accPr>
                      <m:e>
                        <m:r>
                          <a:rPr lang="es-ES_tradnl" sz="1800" b="0" i="1" noProof="0" smtClean="0">
                            <a:solidFill>
                              <a:srgbClr val="3C3C3B"/>
                            </a:solidFill>
                            <a:latin typeface="Cambria Math" panose="02040503050406030204" pitchFamily="18" charset="0"/>
                            <a:ea typeface="Roboto" pitchFamily="34" charset="-122"/>
                          </a:rPr>
                          <m:t>𝐹</m:t>
                        </m:r>
                      </m:e>
                    </m:acc>
                    <m:r>
                      <a:rPr lang="es-ES_tradnl" sz="1800" b="0" i="1" noProof="0" smtClean="0">
                        <a:solidFill>
                          <a:srgbClr val="3C3C3B"/>
                        </a:solidFill>
                        <a:latin typeface="Cambria Math" panose="02040503050406030204" pitchFamily="18" charset="0"/>
                        <a:ea typeface="Roboto" pitchFamily="34" charset="-122"/>
                      </a:rPr>
                      <m:t> </m:t>
                    </m:r>
                  </m:oMath>
                </a14:m>
                <a:r>
                  <a:rPr lang="es-ES_tradnl" sz="1800" noProof="0" dirty="0">
                    <a:solidFill>
                      <a:srgbClr val="3C3C3B"/>
                    </a:solidFill>
                    <a:latin typeface="Roboto" pitchFamily="34" charset="0"/>
                    <a:ea typeface="Roboto" pitchFamily="34" charset="-122"/>
                    <a:cs typeface="Roboto" pitchFamily="34" charset="-120"/>
                  </a:rPr>
                  <a:t>queda centrada en el valor verdadero, pero unas 2.8 veces más ancha.</a:t>
                </a:r>
                <a:endParaRPr lang="es-ES_tradnl" sz="1800" noProof="0" dirty="0"/>
              </a:p>
            </p:txBody>
          </p:sp>
        </mc:Choice>
        <mc:Fallback>
          <p:sp>
            <p:nvSpPr>
              <p:cNvPr id="8" name="Text 5"/>
              <p:cNvSpPr>
                <a:spLocks noRot="1" noChangeAspect="1" noMove="1" noResize="1" noEditPoints="1" noAdjustHandles="1" noChangeArrowheads="1" noChangeShapeType="1" noTextEdit="1"/>
              </p:cNvSpPr>
              <p:nvPr/>
            </p:nvSpPr>
            <p:spPr>
              <a:xfrm>
                <a:off x="812800" y="1305520"/>
                <a:ext cx="10883392" cy="322560"/>
              </a:xfrm>
              <a:prstGeom prst="rect">
                <a:avLst/>
              </a:prstGeom>
              <a:blipFill>
                <a:blip r:embed="rId4"/>
                <a:stretch>
                  <a:fillRect l="-698" t="-22222" b="-22222"/>
                </a:stretch>
              </a:blipFill>
              <a:ln/>
            </p:spPr>
            <p:txBody>
              <a:bodyPr/>
              <a:lstStyle/>
              <a:p>
                <a:r>
                  <a:rPr lang="en-CO">
                    <a:noFill/>
                  </a:rPr>
                  <a:t> </a:t>
                </a:r>
              </a:p>
            </p:txBody>
          </p:sp>
        </mc:Fallback>
      </mc:AlternateContent>
      <p:pic>
        <p:nvPicPr>
          <p:cNvPr id="9" name="Image 1" descr="F̂ = (F_C − p/2)/(1 − p)"/>
          <p:cNvPicPr>
            <a:picLocks noChangeAspect="1"/>
          </p:cNvPicPr>
          <p:nvPr/>
        </p:nvPicPr>
        <p:blipFill>
          <a:blip r:embed="rId5"/>
          <a:srcRect l="-149" r="-149"/>
          <a:stretch/>
        </p:blipFill>
        <p:spPr>
          <a:xfrm>
            <a:off x="812800" y="1805880"/>
            <a:ext cx="1854200" cy="711200"/>
          </a:xfrm>
          <a:prstGeom prst="rect">
            <a:avLst/>
          </a:prstGeom>
        </p:spPr>
      </p:pic>
      <p:sp>
        <p:nvSpPr>
          <p:cNvPr id="10" name="Text 6"/>
          <p:cNvSpPr/>
          <p:nvPr/>
        </p:nvSpPr>
        <p:spPr>
          <a:xfrm>
            <a:off x="812800" y="2618680"/>
            <a:ext cx="4578350" cy="771922"/>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Solo usa lo medido y el parámetro público p, no el valor verdadero. Es un estimador insesgado, como en el </a:t>
            </a:r>
            <a:r>
              <a:rPr lang="es-ES_tradnl" sz="1400" i="1" noProof="0" dirty="0" err="1">
                <a:solidFill>
                  <a:srgbClr val="3C3C3B"/>
                </a:solidFill>
                <a:latin typeface="Roboto" pitchFamily="34" charset="0"/>
                <a:ea typeface="Roboto" pitchFamily="34" charset="-122"/>
                <a:cs typeface="Roboto" pitchFamily="34" charset="-120"/>
              </a:rPr>
              <a:t>randomized</a:t>
            </a:r>
            <a:r>
              <a:rPr lang="es-ES_tradnl" sz="1400" i="1" noProof="0" dirty="0">
                <a:solidFill>
                  <a:srgbClr val="3C3C3B"/>
                </a:solidFill>
                <a:latin typeface="Roboto" pitchFamily="34" charset="0"/>
                <a:ea typeface="Roboto" pitchFamily="34" charset="-122"/>
                <a:cs typeface="Roboto" pitchFamily="34" charset="-120"/>
              </a:rPr>
              <a:t> response</a:t>
            </a:r>
            <a:r>
              <a:rPr lang="es-ES_tradnl" sz="1400" noProof="0" dirty="0">
                <a:solidFill>
                  <a:srgbClr val="3C3C3B"/>
                </a:solidFill>
                <a:latin typeface="Roboto" pitchFamily="34" charset="0"/>
                <a:ea typeface="Roboto" pitchFamily="34" charset="-122"/>
                <a:cs typeface="Roboto" pitchFamily="34" charset="-120"/>
              </a:rPr>
              <a:t> clásico.</a:t>
            </a:r>
            <a:endParaRPr lang="es-ES_tradnl" sz="1400" noProof="0" dirty="0"/>
          </a:p>
        </p:txBody>
      </p:sp>
      <p:sp>
        <p:nvSpPr>
          <p:cNvPr id="11" name="Shape 7"/>
          <p:cNvSpPr/>
          <p:nvPr/>
        </p:nvSpPr>
        <p:spPr>
          <a:xfrm>
            <a:off x="5562600" y="1805880"/>
            <a:ext cx="2832100" cy="1612702"/>
          </a:xfrm>
          <a:prstGeom prst="roundRect">
            <a:avLst>
              <a:gd name="adj" fmla="val 6300"/>
            </a:avLst>
          </a:prstGeom>
          <a:solidFill>
            <a:srgbClr val="F4F4F2"/>
          </a:solidFill>
          <a:ln/>
        </p:spPr>
        <p:txBody>
          <a:bodyPr/>
          <a:lstStyle/>
          <a:p>
            <a:endParaRPr lang="es-ES_tradnl" noProof="0" dirty="0"/>
          </a:p>
        </p:txBody>
      </p:sp>
      <p:sp>
        <p:nvSpPr>
          <p:cNvPr id="12" name="Text 8"/>
          <p:cNvSpPr/>
          <p:nvPr/>
        </p:nvSpPr>
        <p:spPr>
          <a:xfrm>
            <a:off x="5740400" y="1958280"/>
            <a:ext cx="2550795" cy="238720"/>
          </a:xfrm>
          <a:prstGeom prst="rect">
            <a:avLst/>
          </a:prstGeom>
          <a:noFill/>
          <a:ln/>
        </p:spPr>
        <p:txBody>
          <a:bodyPr wrap="square" lIns="0" tIns="0" rIns="0" bIns="0" rtlCol="0" anchor="t">
            <a:normAutofit/>
          </a:bodyPr>
          <a:lstStyle/>
          <a:p>
            <a:pPr marL="0" indent="0" algn="l">
              <a:lnSpc>
                <a:spcPts val="1680"/>
              </a:lnSpc>
              <a:buNone/>
            </a:pPr>
            <a:r>
              <a:rPr lang="es-ES_tradnl" sz="1400" b="1" noProof="0" dirty="0">
                <a:solidFill>
                  <a:srgbClr val="1D1D1B"/>
                </a:solidFill>
                <a:latin typeface="DM Sans" pitchFamily="34" charset="0"/>
                <a:ea typeface="DM Sans" pitchFamily="34" charset="-122"/>
                <a:cs typeface="DM Sans" pitchFamily="34" charset="-120"/>
              </a:rPr>
              <a:t>Centro</a:t>
            </a:r>
            <a:endParaRPr lang="es-ES_tradnl" sz="1400" noProof="0" dirty="0"/>
          </a:p>
        </p:txBody>
      </p:sp>
      <p:sp>
        <p:nvSpPr>
          <p:cNvPr id="13" name="Text 9"/>
          <p:cNvSpPr/>
          <p:nvPr/>
        </p:nvSpPr>
        <p:spPr>
          <a:xfrm>
            <a:off x="5740400" y="2235101"/>
            <a:ext cx="2550795" cy="452041"/>
          </a:xfrm>
          <a:prstGeom prst="rect">
            <a:avLst/>
          </a:prstGeom>
          <a:noFill/>
          <a:ln/>
        </p:spPr>
        <p:txBody>
          <a:bodyPr wrap="square" lIns="0" tIns="0" rIns="0" bIns="0" rtlCol="0" anchor="t">
            <a:normAutofit/>
          </a:bodyPr>
          <a:lstStyle/>
          <a:p>
            <a:pPr marL="0" indent="0" algn="l">
              <a:lnSpc>
                <a:spcPts val="1680"/>
              </a:lnSpc>
              <a:buNone/>
            </a:pPr>
            <a:r>
              <a:rPr lang="es-ES_tradnl" sz="1200" noProof="0" dirty="0">
                <a:solidFill>
                  <a:srgbClr val="3C3C3B"/>
                </a:solidFill>
                <a:latin typeface="Roboto" pitchFamily="34" charset="0"/>
                <a:ea typeface="Roboto" pitchFamily="34" charset="-122"/>
                <a:cs typeface="Roboto" pitchFamily="34" charset="-120"/>
              </a:rPr>
              <a:t>Se corre hacia ½ de forma determinista.</a:t>
            </a:r>
            <a:endParaRPr lang="es-ES_tradnl" sz="1200" noProof="0" dirty="0"/>
          </a:p>
        </p:txBody>
      </p:sp>
      <p:sp>
        <p:nvSpPr>
          <p:cNvPr id="14" name="Text 10"/>
          <p:cNvSpPr/>
          <p:nvPr/>
        </p:nvSpPr>
        <p:spPr>
          <a:xfrm>
            <a:off x="5740400" y="3002062"/>
            <a:ext cx="863104" cy="264120"/>
          </a:xfrm>
          <a:prstGeom prst="roundRect">
            <a:avLst>
              <a:gd name="adj" fmla="val 14425"/>
            </a:avLst>
          </a:prstGeom>
          <a:solidFill>
            <a:srgbClr val="293470"/>
          </a:solidFill>
          <a:ln/>
        </p:spPr>
        <p:txBody>
          <a:bodyPr wrap="none" lIns="0" tIns="0" rIns="0" bIns="0" rtlCol="0" anchor="ctr">
            <a:normAutofit/>
          </a:bodyPr>
          <a:lstStyle/>
          <a:p>
            <a:pPr marL="0" indent="0" algn="ctr">
              <a:lnSpc>
                <a:spcPts val="1680"/>
              </a:lnSpc>
              <a:buNone/>
            </a:pPr>
            <a:r>
              <a:rPr lang="es-ES_tradnl" sz="1200" b="1" noProof="0" dirty="0">
                <a:solidFill>
                  <a:srgbClr val="FFFFFF"/>
                </a:solidFill>
                <a:latin typeface="Roboto" pitchFamily="34" charset="0"/>
                <a:ea typeface="Roboto" pitchFamily="34" charset="-122"/>
                <a:cs typeface="Roboto" pitchFamily="34" charset="-120"/>
              </a:rPr>
              <a:t>se corrige</a:t>
            </a:r>
            <a:endParaRPr lang="es-ES_tradnl" sz="1200" noProof="0" dirty="0"/>
          </a:p>
        </p:txBody>
      </p:sp>
      <p:sp>
        <p:nvSpPr>
          <p:cNvPr id="15" name="Shape 11"/>
          <p:cNvSpPr/>
          <p:nvPr/>
        </p:nvSpPr>
        <p:spPr>
          <a:xfrm>
            <a:off x="8547100" y="1805880"/>
            <a:ext cx="2832100" cy="1612702"/>
          </a:xfrm>
          <a:prstGeom prst="roundRect">
            <a:avLst>
              <a:gd name="adj" fmla="val 6300"/>
            </a:avLst>
          </a:prstGeom>
          <a:solidFill>
            <a:srgbClr val="F4F4F2"/>
          </a:solidFill>
          <a:ln/>
        </p:spPr>
        <p:txBody>
          <a:bodyPr/>
          <a:lstStyle/>
          <a:p>
            <a:endParaRPr lang="es-ES_tradnl" noProof="0" dirty="0"/>
          </a:p>
        </p:txBody>
      </p:sp>
      <p:sp>
        <p:nvSpPr>
          <p:cNvPr id="16" name="Text 12"/>
          <p:cNvSpPr/>
          <p:nvPr/>
        </p:nvSpPr>
        <p:spPr>
          <a:xfrm>
            <a:off x="8724900" y="1958280"/>
            <a:ext cx="2550795" cy="238720"/>
          </a:xfrm>
          <a:prstGeom prst="rect">
            <a:avLst/>
          </a:prstGeom>
          <a:noFill/>
          <a:ln/>
        </p:spPr>
        <p:txBody>
          <a:bodyPr wrap="square" lIns="0" tIns="0" rIns="0" bIns="0" rtlCol="0" anchor="t">
            <a:normAutofit/>
          </a:bodyPr>
          <a:lstStyle/>
          <a:p>
            <a:pPr marL="0" indent="0" algn="l">
              <a:lnSpc>
                <a:spcPts val="1680"/>
              </a:lnSpc>
              <a:buNone/>
            </a:pPr>
            <a:r>
              <a:rPr lang="es-ES_tradnl" sz="1400" b="1" noProof="0" dirty="0">
                <a:solidFill>
                  <a:srgbClr val="1D1D1B"/>
                </a:solidFill>
                <a:latin typeface="DM Sans" pitchFamily="34" charset="0"/>
                <a:ea typeface="DM Sans" pitchFamily="34" charset="-122"/>
                <a:cs typeface="DM Sans" pitchFamily="34" charset="-120"/>
              </a:rPr>
              <a:t>Dispersión</a:t>
            </a:r>
            <a:endParaRPr lang="es-ES_tradnl" sz="1400" noProof="0" dirty="0"/>
          </a:p>
        </p:txBody>
      </p:sp>
      <p:sp>
        <p:nvSpPr>
          <p:cNvPr id="17" name="Text 13"/>
          <p:cNvSpPr/>
          <p:nvPr/>
        </p:nvSpPr>
        <p:spPr>
          <a:xfrm>
            <a:off x="8724900" y="2235101"/>
            <a:ext cx="2550795" cy="665361"/>
          </a:xfrm>
          <a:prstGeom prst="rect">
            <a:avLst/>
          </a:prstGeom>
          <a:noFill/>
          <a:ln/>
        </p:spPr>
        <p:txBody>
          <a:bodyPr wrap="square" lIns="0" tIns="0" rIns="0" bIns="0" rtlCol="0" anchor="t">
            <a:normAutofit/>
          </a:bodyPr>
          <a:lstStyle/>
          <a:p>
            <a:pPr marL="0" indent="0" algn="l">
              <a:lnSpc>
                <a:spcPts val="1680"/>
              </a:lnSpc>
              <a:buNone/>
            </a:pPr>
            <a:r>
              <a:rPr lang="es-ES_tradnl" sz="1200" noProof="0" dirty="0">
                <a:solidFill>
                  <a:srgbClr val="3C3C3B"/>
                </a:solidFill>
                <a:latin typeface="Roboto" pitchFamily="34" charset="0"/>
                <a:ea typeface="Roboto" pitchFamily="34" charset="-122"/>
                <a:cs typeface="Roboto" pitchFamily="34" charset="-120"/>
              </a:rPr>
              <a:t>Aumenta: cada persona es una moneda más impredecible (</a:t>
            </a:r>
            <a:r>
              <a:rPr lang="es-ES_tradnl" sz="1200" noProof="0" dirty="0">
                <a:solidFill>
                  <a:srgbClr val="293470"/>
                </a:solidFill>
                <a:latin typeface="Roboto" pitchFamily="34" charset="0"/>
                <a:ea typeface="Roboto" pitchFamily="34" charset="-122"/>
                <a:cs typeface="Roboto" pitchFamily="34" charset="-120"/>
              </a:rPr>
              <a:t>car</a:t>
            </a:r>
            <a:r>
              <a:rPr lang="es-ES_tradnl" sz="1200" noProof="0" dirty="0">
                <a:solidFill>
                  <a:srgbClr val="3C3C3B"/>
                </a:solidFill>
                <a:latin typeface="Roboto" pitchFamily="34" charset="0"/>
                <a:ea typeface="Roboto" pitchFamily="34" charset="-122"/>
                <a:cs typeface="Roboto" pitchFamily="34" charset="-120"/>
              </a:rPr>
              <a:t>: varianza de 0 a 0.1875).</a:t>
            </a:r>
            <a:endParaRPr lang="es-ES_tradnl" sz="1200" noProof="0" dirty="0"/>
          </a:p>
        </p:txBody>
      </p:sp>
      <p:sp>
        <p:nvSpPr>
          <p:cNvPr id="18" name="Text 14"/>
          <p:cNvSpPr/>
          <p:nvPr/>
        </p:nvSpPr>
        <p:spPr>
          <a:xfrm>
            <a:off x="8724900" y="3002062"/>
            <a:ext cx="1072455" cy="264120"/>
          </a:xfrm>
          <a:prstGeom prst="roundRect">
            <a:avLst>
              <a:gd name="adj" fmla="val 14425"/>
            </a:avLst>
          </a:prstGeom>
          <a:solidFill>
            <a:srgbClr val="FFEE00"/>
          </a:solidFill>
          <a:ln/>
        </p:spPr>
        <p:txBody>
          <a:bodyPr wrap="none" lIns="0" tIns="0" rIns="0" bIns="0" rtlCol="0" anchor="ctr">
            <a:normAutofit/>
          </a:bodyPr>
          <a:lstStyle/>
          <a:p>
            <a:pPr marL="0" indent="0" algn="ctr">
              <a:lnSpc>
                <a:spcPts val="1680"/>
              </a:lnSpc>
              <a:buNone/>
            </a:pPr>
            <a:r>
              <a:rPr lang="es-ES_tradnl" sz="1200" b="1" noProof="0" dirty="0">
                <a:solidFill>
                  <a:srgbClr val="1D1D1B"/>
                </a:solidFill>
                <a:latin typeface="Roboto" pitchFamily="34" charset="0"/>
                <a:ea typeface="Roboto" pitchFamily="34" charset="-122"/>
                <a:cs typeface="Roboto" pitchFamily="34" charset="-120"/>
              </a:rPr>
              <a:t>no se corrige</a:t>
            </a:r>
            <a:endParaRPr lang="es-ES_tradnl" sz="1200" noProof="0" dirty="0"/>
          </a:p>
        </p:txBody>
      </p:sp>
      <p:sp>
        <p:nvSpPr>
          <p:cNvPr id="19" name="Shape 15"/>
          <p:cNvSpPr/>
          <p:nvPr/>
        </p:nvSpPr>
        <p:spPr>
          <a:xfrm>
            <a:off x="5467350" y="3621782"/>
            <a:ext cx="0" cy="1435100"/>
          </a:xfrm>
          <a:prstGeom prst="line">
            <a:avLst/>
          </a:prstGeom>
          <a:noFill/>
          <a:ln w="12700">
            <a:solidFill>
              <a:srgbClr val="6E6E6C"/>
            </a:solidFill>
            <a:prstDash val="dash"/>
          </a:ln>
        </p:spPr>
        <p:txBody>
          <a:bodyPr/>
          <a:lstStyle/>
          <a:p>
            <a:endParaRPr lang="es-ES_tradnl" noProof="0" dirty="0"/>
          </a:p>
        </p:txBody>
      </p:sp>
      <p:sp>
        <p:nvSpPr>
          <p:cNvPr id="20" name="Shape 16"/>
          <p:cNvSpPr/>
          <p:nvPr/>
        </p:nvSpPr>
        <p:spPr>
          <a:xfrm>
            <a:off x="2844800" y="5069582"/>
            <a:ext cx="5994400" cy="12700"/>
          </a:xfrm>
          <a:prstGeom prst="rect">
            <a:avLst/>
          </a:prstGeom>
          <a:solidFill>
            <a:srgbClr val="B9B9B5"/>
          </a:solidFill>
          <a:ln/>
        </p:spPr>
        <p:txBody>
          <a:bodyPr/>
          <a:lstStyle/>
          <a:p>
            <a:endParaRPr lang="es-ES_tradnl" noProof="0" dirty="0"/>
          </a:p>
        </p:txBody>
      </p:sp>
      <p:sp>
        <p:nvSpPr>
          <p:cNvPr id="21" name="Text 17"/>
          <p:cNvSpPr/>
          <p:nvPr/>
        </p:nvSpPr>
        <p:spPr>
          <a:xfrm>
            <a:off x="812800" y="3761482"/>
            <a:ext cx="1962150" cy="254695"/>
          </a:xfrm>
          <a:prstGeom prst="rect">
            <a:avLst/>
          </a:prstGeom>
          <a:noFill/>
          <a:ln/>
        </p:spPr>
        <p:txBody>
          <a:bodyPr wrap="square" lIns="0" tIns="0" rIns="0" bIns="0" rtlCol="0" anchor="t">
            <a:normAutofit/>
          </a:bodyPr>
          <a:lstStyle/>
          <a:p>
            <a:pPr marL="0" indent="0" algn="l">
              <a:lnSpc>
                <a:spcPts val="1806"/>
              </a:lnSpc>
              <a:buNone/>
            </a:pPr>
            <a:r>
              <a:rPr lang="es-ES_tradnl" sz="1400" b="1" noProof="0" dirty="0">
                <a:solidFill>
                  <a:srgbClr val="1D1D1B"/>
                </a:solidFill>
                <a:latin typeface="Roboto" pitchFamily="34" charset="0"/>
                <a:ea typeface="Roboto" pitchFamily="34" charset="-122"/>
                <a:cs typeface="Roboto" pitchFamily="34" charset="-120"/>
              </a:rPr>
              <a:t>B · sin ruido</a:t>
            </a:r>
            <a:endParaRPr lang="es-ES_tradnl" sz="1400" noProof="0" dirty="0"/>
          </a:p>
        </p:txBody>
      </p:sp>
      <p:sp>
        <p:nvSpPr>
          <p:cNvPr id="22" name="Shape 18"/>
          <p:cNvSpPr/>
          <p:nvPr/>
        </p:nvSpPr>
        <p:spPr>
          <a:xfrm>
            <a:off x="4692650" y="3831332"/>
            <a:ext cx="1549400" cy="88900"/>
          </a:xfrm>
          <a:prstGeom prst="rect">
            <a:avLst/>
          </a:prstGeom>
          <a:solidFill>
            <a:srgbClr val="3C3C3B"/>
          </a:solidFill>
          <a:ln/>
        </p:spPr>
        <p:txBody>
          <a:bodyPr/>
          <a:lstStyle/>
          <a:p>
            <a:endParaRPr lang="es-ES_tradnl" noProof="0" dirty="0"/>
          </a:p>
        </p:txBody>
      </p:sp>
      <p:sp>
        <p:nvSpPr>
          <p:cNvPr id="23" name="Shape 19"/>
          <p:cNvSpPr/>
          <p:nvPr/>
        </p:nvSpPr>
        <p:spPr>
          <a:xfrm>
            <a:off x="5391150" y="3799582"/>
            <a:ext cx="152400" cy="152400"/>
          </a:xfrm>
          <a:prstGeom prst="roundRect">
            <a:avLst>
              <a:gd name="adj" fmla="val 50000"/>
            </a:avLst>
          </a:prstGeom>
          <a:solidFill>
            <a:srgbClr val="3C3C3B"/>
          </a:solidFill>
          <a:ln/>
        </p:spPr>
        <p:txBody>
          <a:bodyPr/>
          <a:lstStyle/>
          <a:p>
            <a:endParaRPr lang="es-ES_tradnl" noProof="0" dirty="0"/>
          </a:p>
        </p:txBody>
      </p:sp>
      <p:sp>
        <p:nvSpPr>
          <p:cNvPr id="24" name="Text 20"/>
          <p:cNvSpPr/>
          <p:nvPr/>
        </p:nvSpPr>
        <p:spPr>
          <a:xfrm>
            <a:off x="9004300" y="3774182"/>
            <a:ext cx="2446147" cy="228402"/>
          </a:xfrm>
          <a:prstGeom prst="rect">
            <a:avLst/>
          </a:prstGeom>
          <a:noFill/>
          <a:ln/>
        </p:spPr>
        <p:txBody>
          <a:bodyPr wrap="square" lIns="0" tIns="0" rIns="0" bIns="0" rtlCol="0" anchor="t">
            <a:normAutofit/>
          </a:bodyPr>
          <a:lstStyle/>
          <a:p>
            <a:pPr marL="0" indent="0" algn="l">
              <a:lnSpc>
                <a:spcPts val="1599"/>
              </a:lnSpc>
              <a:buNone/>
            </a:pPr>
            <a:r>
              <a:rPr lang="es-ES_tradnl" sz="1300" noProof="0" dirty="0">
                <a:solidFill>
                  <a:srgbClr val="3C3C3B"/>
                </a:solidFill>
                <a:latin typeface="Roboto" pitchFamily="34" charset="0"/>
                <a:ea typeface="Roboto" pitchFamily="34" charset="-122"/>
                <a:cs typeface="Roboto" pitchFamily="34" charset="-120"/>
              </a:rPr>
              <a:t>0.450 · </a:t>
            </a:r>
            <a:r>
              <a:rPr lang="es-ES_tradnl" sz="1300" noProof="0" dirty="0" err="1">
                <a:solidFill>
                  <a:srgbClr val="3C3C3B"/>
                </a:solidFill>
                <a:latin typeface="Roboto" pitchFamily="34" charset="0"/>
                <a:ea typeface="Roboto" pitchFamily="34" charset="-122"/>
                <a:cs typeface="Roboto" pitchFamily="34" charset="-120"/>
              </a:rPr>
              <a:t>std</a:t>
            </a:r>
            <a:r>
              <a:rPr lang="es-ES_tradnl" sz="1300" noProof="0" dirty="0">
                <a:solidFill>
                  <a:srgbClr val="3C3C3B"/>
                </a:solidFill>
                <a:latin typeface="Roboto" pitchFamily="34" charset="0"/>
                <a:ea typeface="Roboto" pitchFamily="34" charset="-122"/>
                <a:cs typeface="Roboto" pitchFamily="34" charset="-120"/>
              </a:rPr>
              <a:t> 0.0103</a:t>
            </a:r>
            <a:endParaRPr lang="es-ES_tradnl" sz="1300" noProof="0" dirty="0"/>
          </a:p>
        </p:txBody>
      </p:sp>
      <p:sp>
        <p:nvSpPr>
          <p:cNvPr id="25" name="Text 21"/>
          <p:cNvSpPr/>
          <p:nvPr/>
        </p:nvSpPr>
        <p:spPr>
          <a:xfrm>
            <a:off x="812800" y="4269482"/>
            <a:ext cx="1962150" cy="254695"/>
          </a:xfrm>
          <a:prstGeom prst="rect">
            <a:avLst/>
          </a:prstGeom>
          <a:noFill/>
          <a:ln/>
        </p:spPr>
        <p:txBody>
          <a:bodyPr wrap="square" lIns="0" tIns="0" rIns="0" bIns="0" rtlCol="0" anchor="t">
            <a:normAutofit/>
          </a:bodyPr>
          <a:lstStyle/>
          <a:p>
            <a:pPr marL="0" indent="0" algn="l">
              <a:lnSpc>
                <a:spcPts val="1806"/>
              </a:lnSpc>
              <a:buNone/>
            </a:pPr>
            <a:r>
              <a:rPr lang="es-ES_tradnl" sz="1400" b="1" noProof="0" dirty="0">
                <a:solidFill>
                  <a:srgbClr val="1D1D1B"/>
                </a:solidFill>
                <a:latin typeface="Roboto" pitchFamily="34" charset="0"/>
                <a:ea typeface="Roboto" pitchFamily="34" charset="-122"/>
                <a:cs typeface="Roboto" pitchFamily="34" charset="-120"/>
              </a:rPr>
              <a:t>C · sin corregir</a:t>
            </a:r>
            <a:endParaRPr lang="es-ES_tradnl" sz="1400" noProof="0" dirty="0"/>
          </a:p>
        </p:txBody>
      </p:sp>
      <p:sp>
        <p:nvSpPr>
          <p:cNvPr id="26" name="Shape 22"/>
          <p:cNvSpPr/>
          <p:nvPr/>
        </p:nvSpPr>
        <p:spPr>
          <a:xfrm>
            <a:off x="5340350" y="4332982"/>
            <a:ext cx="2127250" cy="101600"/>
          </a:xfrm>
          <a:prstGeom prst="rect">
            <a:avLst/>
          </a:prstGeom>
          <a:solidFill>
            <a:srgbClr val="FFEE00"/>
          </a:solidFill>
          <a:ln w="12700">
            <a:solidFill>
              <a:srgbClr val="1D1D1B"/>
            </a:solidFill>
            <a:prstDash val="solid"/>
          </a:ln>
        </p:spPr>
        <p:txBody>
          <a:bodyPr/>
          <a:lstStyle/>
          <a:p>
            <a:endParaRPr lang="es-ES_tradnl" noProof="0" dirty="0"/>
          </a:p>
        </p:txBody>
      </p:sp>
      <p:sp>
        <p:nvSpPr>
          <p:cNvPr id="27" name="Shape 23"/>
          <p:cNvSpPr/>
          <p:nvPr/>
        </p:nvSpPr>
        <p:spPr>
          <a:xfrm>
            <a:off x="6321425" y="4298057"/>
            <a:ext cx="171450" cy="171450"/>
          </a:xfrm>
          <a:prstGeom prst="roundRect">
            <a:avLst>
              <a:gd name="adj" fmla="val 50000"/>
            </a:avLst>
          </a:prstGeom>
          <a:solidFill>
            <a:srgbClr val="FFEE00"/>
          </a:solidFill>
          <a:ln w="19050">
            <a:solidFill>
              <a:srgbClr val="1D1D1B"/>
            </a:solidFill>
            <a:prstDash val="solid"/>
          </a:ln>
        </p:spPr>
        <p:txBody>
          <a:bodyPr/>
          <a:lstStyle/>
          <a:p>
            <a:endParaRPr lang="es-ES_tradnl" noProof="0" dirty="0"/>
          </a:p>
        </p:txBody>
      </p:sp>
      <p:sp>
        <p:nvSpPr>
          <p:cNvPr id="28" name="Text 24"/>
          <p:cNvSpPr/>
          <p:nvPr/>
        </p:nvSpPr>
        <p:spPr>
          <a:xfrm>
            <a:off x="9004300" y="4282182"/>
            <a:ext cx="2446147" cy="228402"/>
          </a:xfrm>
          <a:prstGeom prst="rect">
            <a:avLst/>
          </a:prstGeom>
          <a:noFill/>
          <a:ln/>
        </p:spPr>
        <p:txBody>
          <a:bodyPr wrap="square" lIns="0" tIns="0" rIns="0" bIns="0" rtlCol="0" anchor="t">
            <a:normAutofit/>
          </a:bodyPr>
          <a:lstStyle/>
          <a:p>
            <a:pPr marL="0" indent="0" algn="l">
              <a:lnSpc>
                <a:spcPts val="1599"/>
              </a:lnSpc>
              <a:buNone/>
            </a:pPr>
            <a:r>
              <a:rPr lang="es-ES_tradnl" sz="1300" noProof="0" dirty="0">
                <a:solidFill>
                  <a:srgbClr val="3C3C3B"/>
                </a:solidFill>
                <a:latin typeface="Roboto" pitchFamily="34" charset="0"/>
                <a:ea typeface="Roboto" pitchFamily="34" charset="-122"/>
                <a:cs typeface="Roboto" pitchFamily="34" charset="-120"/>
              </a:rPr>
              <a:t>0.475 · </a:t>
            </a:r>
            <a:r>
              <a:rPr lang="es-ES_tradnl" sz="1300" noProof="0" dirty="0" err="1">
                <a:solidFill>
                  <a:srgbClr val="3C3C3B"/>
                </a:solidFill>
                <a:latin typeface="Roboto" pitchFamily="34" charset="0"/>
                <a:ea typeface="Roboto" pitchFamily="34" charset="-122"/>
                <a:cs typeface="Roboto" pitchFamily="34" charset="-120"/>
              </a:rPr>
              <a:t>std</a:t>
            </a:r>
            <a:r>
              <a:rPr lang="es-ES_tradnl" sz="1300" noProof="0" dirty="0">
                <a:solidFill>
                  <a:srgbClr val="3C3C3B"/>
                </a:solidFill>
                <a:latin typeface="Roboto" pitchFamily="34" charset="0"/>
                <a:ea typeface="Roboto" pitchFamily="34" charset="-122"/>
                <a:cs typeface="Roboto" pitchFamily="34" charset="-120"/>
              </a:rPr>
              <a:t> 0.0143 · ×1.4</a:t>
            </a:r>
            <a:endParaRPr lang="es-ES_tradnl" sz="1300" noProof="0" dirty="0"/>
          </a:p>
        </p:txBody>
      </p:sp>
      <p:sp>
        <p:nvSpPr>
          <p:cNvPr id="29" name="Text 25"/>
          <p:cNvSpPr/>
          <p:nvPr/>
        </p:nvSpPr>
        <p:spPr>
          <a:xfrm>
            <a:off x="812800" y="4777482"/>
            <a:ext cx="1962150" cy="254695"/>
          </a:xfrm>
          <a:prstGeom prst="rect">
            <a:avLst/>
          </a:prstGeom>
          <a:noFill/>
          <a:ln/>
        </p:spPr>
        <p:txBody>
          <a:bodyPr wrap="square" lIns="0" tIns="0" rIns="0" bIns="0" rtlCol="0" anchor="t">
            <a:normAutofit/>
          </a:bodyPr>
          <a:lstStyle/>
          <a:p>
            <a:pPr marL="0" indent="0" algn="l">
              <a:lnSpc>
                <a:spcPts val="1806"/>
              </a:lnSpc>
              <a:buNone/>
            </a:pPr>
            <a:r>
              <a:rPr lang="es-ES_tradnl" sz="1400" b="1" noProof="0" dirty="0">
                <a:solidFill>
                  <a:srgbClr val="1D1D1B"/>
                </a:solidFill>
                <a:latin typeface="Roboto" pitchFamily="34" charset="0"/>
                <a:ea typeface="Roboto" pitchFamily="34" charset="-122"/>
                <a:cs typeface="Roboto" pitchFamily="34" charset="-120"/>
              </a:rPr>
              <a:t>F̂ · C corregida</a:t>
            </a:r>
            <a:endParaRPr lang="es-ES_tradnl" sz="1400" noProof="0" dirty="0"/>
          </a:p>
        </p:txBody>
      </p:sp>
      <p:sp>
        <p:nvSpPr>
          <p:cNvPr id="30" name="Shape 26"/>
          <p:cNvSpPr/>
          <p:nvPr/>
        </p:nvSpPr>
        <p:spPr>
          <a:xfrm>
            <a:off x="3333750" y="4847332"/>
            <a:ext cx="4267200" cy="88900"/>
          </a:xfrm>
          <a:prstGeom prst="rect">
            <a:avLst/>
          </a:prstGeom>
          <a:solidFill>
            <a:srgbClr val="293470"/>
          </a:solidFill>
          <a:ln/>
        </p:spPr>
        <p:txBody>
          <a:bodyPr/>
          <a:lstStyle/>
          <a:p>
            <a:endParaRPr lang="es-ES_tradnl" noProof="0" dirty="0"/>
          </a:p>
        </p:txBody>
      </p:sp>
      <p:sp>
        <p:nvSpPr>
          <p:cNvPr id="31" name="Shape 27"/>
          <p:cNvSpPr/>
          <p:nvPr/>
        </p:nvSpPr>
        <p:spPr>
          <a:xfrm>
            <a:off x="5391150" y="4815582"/>
            <a:ext cx="152400" cy="152400"/>
          </a:xfrm>
          <a:prstGeom prst="roundRect">
            <a:avLst>
              <a:gd name="adj" fmla="val 50000"/>
            </a:avLst>
          </a:prstGeom>
          <a:solidFill>
            <a:srgbClr val="293470"/>
          </a:solidFill>
          <a:ln/>
        </p:spPr>
        <p:txBody>
          <a:bodyPr/>
          <a:lstStyle/>
          <a:p>
            <a:endParaRPr lang="es-ES_tradnl" noProof="0" dirty="0"/>
          </a:p>
        </p:txBody>
      </p:sp>
      <p:sp>
        <p:nvSpPr>
          <p:cNvPr id="32" name="Text 28"/>
          <p:cNvSpPr/>
          <p:nvPr/>
        </p:nvSpPr>
        <p:spPr>
          <a:xfrm>
            <a:off x="9004300" y="4790182"/>
            <a:ext cx="2446147" cy="228402"/>
          </a:xfrm>
          <a:prstGeom prst="rect">
            <a:avLst/>
          </a:prstGeom>
          <a:noFill/>
          <a:ln/>
        </p:spPr>
        <p:txBody>
          <a:bodyPr wrap="square" lIns="0" tIns="0" rIns="0" bIns="0" rtlCol="0" anchor="t">
            <a:normAutofit/>
          </a:bodyPr>
          <a:lstStyle/>
          <a:p>
            <a:pPr marL="0" indent="0" algn="l">
              <a:lnSpc>
                <a:spcPts val="1599"/>
              </a:lnSpc>
              <a:buNone/>
            </a:pPr>
            <a:r>
              <a:rPr lang="es-ES_tradnl" sz="1300" b="1" noProof="0" dirty="0">
                <a:solidFill>
                  <a:srgbClr val="1D1D1B"/>
                </a:solidFill>
                <a:latin typeface="Roboto" pitchFamily="34" charset="0"/>
                <a:ea typeface="Roboto" pitchFamily="34" charset="-122"/>
                <a:cs typeface="Roboto" pitchFamily="34" charset="-120"/>
              </a:rPr>
              <a:t>0.450 · </a:t>
            </a:r>
            <a:r>
              <a:rPr lang="es-ES_tradnl" sz="1300" b="1" noProof="0" dirty="0" err="1">
                <a:solidFill>
                  <a:srgbClr val="1D1D1B"/>
                </a:solidFill>
                <a:latin typeface="Roboto" pitchFamily="34" charset="0"/>
                <a:ea typeface="Roboto" pitchFamily="34" charset="-122"/>
                <a:cs typeface="Roboto" pitchFamily="34" charset="-120"/>
              </a:rPr>
              <a:t>std</a:t>
            </a:r>
            <a:r>
              <a:rPr lang="es-ES_tradnl" sz="1300" b="1" noProof="0" dirty="0">
                <a:solidFill>
                  <a:srgbClr val="1D1D1B"/>
                </a:solidFill>
                <a:latin typeface="Roboto" pitchFamily="34" charset="0"/>
                <a:ea typeface="Roboto" pitchFamily="34" charset="-122"/>
                <a:cs typeface="Roboto" pitchFamily="34" charset="-120"/>
              </a:rPr>
              <a:t> 0.0285 · ×2.8</a:t>
            </a:r>
            <a:endParaRPr lang="es-ES_tradnl" sz="1300" noProof="0" dirty="0"/>
          </a:p>
        </p:txBody>
      </p:sp>
      <p:sp>
        <p:nvSpPr>
          <p:cNvPr id="33" name="Text 29"/>
          <p:cNvSpPr/>
          <p:nvPr/>
        </p:nvSpPr>
        <p:spPr>
          <a:xfrm>
            <a:off x="3314700" y="5145782"/>
            <a:ext cx="558800" cy="215900"/>
          </a:xfrm>
          <a:prstGeom prst="rect">
            <a:avLst/>
          </a:prstGeom>
          <a:noFill/>
          <a:ln/>
        </p:spPr>
        <p:txBody>
          <a:bodyPr wrap="square" lIns="0" tIns="0" rIns="0" bIns="0" rtlCol="0" anchor="t">
            <a:normAutofit/>
          </a:bodyPr>
          <a:lstStyle/>
          <a:p>
            <a:pPr marL="0" indent="0" algn="ctr">
              <a:lnSpc>
                <a:spcPts val="1500"/>
              </a:lnSpc>
              <a:buNone/>
            </a:pPr>
            <a:r>
              <a:rPr lang="es-ES_tradnl" sz="1200" noProof="0" dirty="0">
                <a:solidFill>
                  <a:srgbClr val="3C3C3B"/>
                </a:solidFill>
                <a:latin typeface="Roboto" pitchFamily="34" charset="0"/>
                <a:ea typeface="Roboto" pitchFamily="34" charset="-122"/>
                <a:cs typeface="Roboto" pitchFamily="34" charset="-120"/>
              </a:rPr>
              <a:t>0.40</a:t>
            </a:r>
            <a:endParaRPr lang="es-ES_tradnl" sz="1200" noProof="0" dirty="0"/>
          </a:p>
        </p:txBody>
      </p:sp>
      <p:sp>
        <p:nvSpPr>
          <p:cNvPr id="34" name="Text 30"/>
          <p:cNvSpPr/>
          <p:nvPr/>
        </p:nvSpPr>
        <p:spPr>
          <a:xfrm>
            <a:off x="5187950" y="5145782"/>
            <a:ext cx="558800" cy="215900"/>
          </a:xfrm>
          <a:prstGeom prst="rect">
            <a:avLst/>
          </a:prstGeom>
          <a:noFill/>
          <a:ln/>
        </p:spPr>
        <p:txBody>
          <a:bodyPr wrap="square" lIns="0" tIns="0" rIns="0" bIns="0" rtlCol="0" anchor="t">
            <a:normAutofit/>
          </a:bodyPr>
          <a:lstStyle/>
          <a:p>
            <a:pPr marL="0" indent="0" algn="ctr">
              <a:lnSpc>
                <a:spcPts val="1500"/>
              </a:lnSpc>
              <a:buNone/>
            </a:pPr>
            <a:r>
              <a:rPr lang="es-ES_tradnl" sz="1200" b="1" noProof="0" dirty="0">
                <a:solidFill>
                  <a:srgbClr val="1D1D1B"/>
                </a:solidFill>
                <a:latin typeface="Roboto" pitchFamily="34" charset="0"/>
                <a:ea typeface="Roboto" pitchFamily="34" charset="-122"/>
                <a:cs typeface="Roboto" pitchFamily="34" charset="-120"/>
              </a:rPr>
              <a:t>0.45</a:t>
            </a:r>
            <a:endParaRPr lang="es-ES_tradnl" sz="1200" noProof="0" dirty="0"/>
          </a:p>
        </p:txBody>
      </p:sp>
      <p:sp>
        <p:nvSpPr>
          <p:cNvPr id="35" name="Text 31"/>
          <p:cNvSpPr/>
          <p:nvPr/>
        </p:nvSpPr>
        <p:spPr>
          <a:xfrm>
            <a:off x="7061200" y="5145782"/>
            <a:ext cx="558800" cy="215900"/>
          </a:xfrm>
          <a:prstGeom prst="rect">
            <a:avLst/>
          </a:prstGeom>
          <a:noFill/>
          <a:ln/>
        </p:spPr>
        <p:txBody>
          <a:bodyPr wrap="square" lIns="0" tIns="0" rIns="0" bIns="0" rtlCol="0" anchor="t">
            <a:normAutofit/>
          </a:bodyPr>
          <a:lstStyle/>
          <a:p>
            <a:pPr marL="0" indent="0" algn="ctr">
              <a:lnSpc>
                <a:spcPts val="1500"/>
              </a:lnSpc>
              <a:buNone/>
            </a:pPr>
            <a:r>
              <a:rPr lang="es-ES_tradnl" sz="1200" noProof="0" dirty="0">
                <a:solidFill>
                  <a:srgbClr val="3C3C3B"/>
                </a:solidFill>
                <a:latin typeface="Roboto" pitchFamily="34" charset="0"/>
                <a:ea typeface="Roboto" pitchFamily="34" charset="-122"/>
                <a:cs typeface="Roboto" pitchFamily="34" charset="-120"/>
              </a:rPr>
              <a:t>0.50</a:t>
            </a:r>
            <a:endParaRPr lang="es-ES_tradnl" sz="1200" noProof="0" dirty="0"/>
          </a:p>
        </p:txBody>
      </p:sp>
      <p:sp>
        <p:nvSpPr>
          <p:cNvPr id="36" name="Text 32"/>
          <p:cNvSpPr/>
          <p:nvPr/>
        </p:nvSpPr>
        <p:spPr>
          <a:xfrm>
            <a:off x="9004300" y="5145782"/>
            <a:ext cx="2446147" cy="215900"/>
          </a:xfrm>
          <a:prstGeom prst="rect">
            <a:avLst/>
          </a:prstGeom>
          <a:noFill/>
          <a:ln/>
        </p:spPr>
        <p:txBody>
          <a:bodyPr wrap="square" lIns="0" tIns="0" rIns="0" bIns="0" rtlCol="0" anchor="t">
            <a:normAutofit/>
          </a:bodyPr>
          <a:lstStyle/>
          <a:p>
            <a:pPr marL="0" indent="0" algn="l">
              <a:lnSpc>
                <a:spcPts val="1500"/>
              </a:lnSpc>
              <a:buNone/>
            </a:pPr>
            <a:r>
              <a:rPr lang="es-ES_tradnl" sz="1200" noProof="0" dirty="0">
                <a:solidFill>
                  <a:srgbClr val="6E6E6C"/>
                </a:solidFill>
                <a:latin typeface="Roboto" pitchFamily="34" charset="0"/>
                <a:ea typeface="Roboto" pitchFamily="34" charset="-122"/>
                <a:cs typeface="Roboto" pitchFamily="34" charset="-120"/>
              </a:rPr>
              <a:t>barras: centro ± 2·std</a:t>
            </a:r>
            <a:endParaRPr lang="es-ES_tradnl" sz="1200" noProof="0" dirty="0"/>
          </a:p>
        </p:txBody>
      </p:sp>
      <p:sp>
        <p:nvSpPr>
          <p:cNvPr id="38" name="Text 34"/>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a:solidFill>
                  <a:srgbClr val="1D1D1B"/>
                </a:solidFill>
                <a:latin typeface="Roboto" pitchFamily="34" charset="0"/>
                <a:ea typeface="Roboto" pitchFamily="34" charset="-122"/>
                <a:cs typeface="Roboto" pitchFamily="34" charset="-120"/>
              </a:rPr>
              <a:t>20</a:t>
            </a:r>
            <a:endParaRPr lang="es-ES_tradnl" sz="1200" noProof="0" dirty="0"/>
          </a:p>
        </p:txBody>
      </p:sp>
    </p:spTree>
    <p:extLst>
      <p:ext uri="{BB962C8B-B14F-4D97-AF65-F5344CB8AC3E}">
        <p14:creationId xmlns:p14="http://schemas.microsoft.com/office/powerpoint/2010/main" val="98738424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s-ES_tradnl" noProof="0" dirty="0"/>
          </a:p>
        </p:txBody>
      </p:sp>
      <p:sp>
        <p:nvSpPr>
          <p:cNvPr id="3" name="Shape 1"/>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dirty="0">
                <a:solidFill>
                  <a:srgbClr val="1D1D1B"/>
                </a:solidFill>
                <a:latin typeface="DM Sans" pitchFamily="34" charset="0"/>
                <a:ea typeface="DM Sans" pitchFamily="34" charset="-122"/>
                <a:cs typeface="DM Sans" pitchFamily="34" charset="-120"/>
              </a:rPr>
              <a:t>II</a:t>
            </a:r>
            <a:endParaRPr lang="es-ES_tradnl" sz="1200" noProof="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dirty="0">
                <a:solidFill>
                  <a:srgbClr val="6E6E6C"/>
                </a:solidFill>
                <a:latin typeface="Roboto" pitchFamily="34" charset="0"/>
                <a:ea typeface="Roboto" pitchFamily="34" charset="-122"/>
                <a:cs typeface="Roboto" pitchFamily="34" charset="-120"/>
              </a:rPr>
              <a:t>DÓNDE ESTÁ LA PRIVACIDAD</a:t>
            </a:r>
            <a:endParaRPr lang="es-ES_tradnl" sz="1200" noProof="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s-ES_tradnl" sz="2800" b="1" i="0" kern="0" spc="-50" noProof="0" dirty="0">
                <a:solidFill>
                  <a:srgbClr val="1D1D1B"/>
                </a:solidFill>
                <a:latin typeface="DM Sans" pitchFamily="34" charset="0"/>
                <a:ea typeface="DM Sans" pitchFamily="34" charset="-122"/>
                <a:cs typeface="DM Sans" pitchFamily="34" charset="-120"/>
              </a:rPr>
              <a:t>Una medición: lo que aprende el atacante</a:t>
            </a:r>
            <a:endParaRPr lang="es-ES_tradnl" sz="2800" noProof="0" dirty="0"/>
          </a:p>
        </p:txBody>
      </p:sp>
      <p:sp>
        <p:nvSpPr>
          <p:cNvPr id="8" name="Text 5"/>
          <p:cNvSpPr/>
          <p:nvPr/>
        </p:nvSpPr>
        <p:spPr>
          <a:xfrm>
            <a:off x="812800" y="1305520"/>
            <a:ext cx="10883392" cy="322560"/>
          </a:xfrm>
          <a:prstGeom prst="rect">
            <a:avLst/>
          </a:prstGeom>
          <a:noFill/>
          <a:ln/>
        </p:spPr>
        <p:txBody>
          <a:bodyPr wrap="square" lIns="0" tIns="0" rIns="0" bIns="0" rtlCol="0" anchor="t">
            <a:normAutofit/>
          </a:bodyPr>
          <a:lstStyle/>
          <a:p>
            <a:pPr marL="0" indent="0" algn="l">
              <a:lnSpc>
                <a:spcPts val="2340"/>
              </a:lnSpc>
              <a:buNone/>
            </a:pPr>
            <a:r>
              <a:rPr lang="es-ES_tradnl" sz="1800" noProof="0" dirty="0">
                <a:solidFill>
                  <a:srgbClr val="3C3C3B"/>
                </a:solidFill>
                <a:latin typeface="Roboto" pitchFamily="34" charset="0"/>
                <a:ea typeface="Roboto" pitchFamily="34" charset="-122"/>
                <a:cs typeface="Roboto" pitchFamily="34" charset="-120"/>
              </a:rPr>
              <a:t>El atacante sabe que A tiene </a:t>
            </a:r>
            <a:r>
              <a:rPr lang="es-ES_tradnl" sz="1800" noProof="0" dirty="0">
                <a:solidFill>
                  <a:srgbClr val="293470"/>
                </a:solidFill>
                <a:latin typeface="Roboto" pitchFamily="34" charset="0"/>
                <a:ea typeface="Roboto" pitchFamily="34" charset="-122"/>
                <a:cs typeface="Roboto" pitchFamily="34" charset="-120"/>
              </a:rPr>
              <a:t>car</a:t>
            </a:r>
            <a:r>
              <a:rPr lang="es-ES_tradnl" sz="1800" noProof="0" dirty="0">
                <a:solidFill>
                  <a:srgbClr val="3C3C3B"/>
                </a:solidFill>
                <a:latin typeface="Roboto" pitchFamily="34" charset="0"/>
                <a:ea typeface="Roboto" pitchFamily="34" charset="-122"/>
                <a:cs typeface="Roboto" pitchFamily="34" charset="-120"/>
              </a:rPr>
              <a:t> o </a:t>
            </a:r>
            <a:r>
              <a:rPr lang="es-ES_tradnl" sz="1800" noProof="0" dirty="0">
                <a:solidFill>
                  <a:srgbClr val="293470"/>
                </a:solidFill>
                <a:latin typeface="Roboto" pitchFamily="34" charset="0"/>
                <a:ea typeface="Roboto" pitchFamily="34" charset="-122"/>
                <a:cs typeface="Roboto" pitchFamily="34" charset="-120"/>
              </a:rPr>
              <a:t>real estate</a:t>
            </a:r>
            <a:r>
              <a:rPr lang="es-ES_tradnl" sz="1800" noProof="0" dirty="0">
                <a:solidFill>
                  <a:srgbClr val="3C3C3B"/>
                </a:solidFill>
                <a:latin typeface="Roboto" pitchFamily="34" charset="0"/>
                <a:ea typeface="Roboto" pitchFamily="34" charset="-122"/>
                <a:cs typeface="Roboto" pitchFamily="34" charset="-120"/>
              </a:rPr>
              <a:t>, y ve un solo resultado: «+».</a:t>
            </a:r>
            <a:endParaRPr lang="es-ES_tradnl" sz="1800" noProof="0" dirty="0"/>
          </a:p>
        </p:txBody>
      </p:sp>
      <p:sp>
        <p:nvSpPr>
          <p:cNvPr id="9" name="Text 6"/>
          <p:cNvSpPr/>
          <p:nvPr/>
        </p:nvSpPr>
        <p:spPr>
          <a:xfrm>
            <a:off x="812800" y="1856680"/>
            <a:ext cx="279400" cy="279400"/>
          </a:xfrm>
          <a:custGeom>
            <a:avLst/>
            <a:gdLst/>
            <a:ahLst/>
            <a:cxnLst/>
            <a:rect l="l" t="t" r="r" b="b"/>
            <a:pathLst>
              <a:path w="279400" h="279400">
                <a:moveTo>
                  <a:pt x="139700" y="0"/>
                </a:moveTo>
                <a:lnTo>
                  <a:pt x="139700" y="0"/>
                </a:lnTo>
                <a:arcTo wR="139700" hR="139700" stAng="16200000" swAng="5400000"/>
                <a:lnTo>
                  <a:pt x="279400" y="139700"/>
                </a:lnTo>
                <a:arcTo wR="139700" hR="139700" stAng="0" swAng="5400000"/>
                <a:lnTo>
                  <a:pt x="139700" y="279400"/>
                </a:lnTo>
                <a:arcTo wR="139700" hR="139700" stAng="5400000" swAng="5400000"/>
                <a:lnTo>
                  <a:pt x="0" y="139700"/>
                </a:lnTo>
                <a:arcTo wR="139700" hR="139700" stAng="10800000" swAng="5400000"/>
                <a:close/>
              </a:path>
            </a:pathLst>
          </a:custGeom>
          <a:solidFill>
            <a:srgbClr val="FFEE00"/>
          </a:solidFill>
          <a:ln/>
        </p:spPr>
        <p:txBody>
          <a:bodyPr wrap="square" lIns="0" tIns="0" rIns="0" bIns="0" rtlCol="0" anchor="t">
            <a:normAutofit/>
          </a:bodyPr>
          <a:lstStyle/>
          <a:p>
            <a:pPr marL="0" indent="0" algn="ctr">
              <a:lnSpc>
                <a:spcPts val="2196"/>
              </a:lnSpc>
              <a:buNone/>
            </a:pPr>
            <a:r>
              <a:rPr lang="es-ES_tradnl" sz="1200" b="1" noProof="0" dirty="0">
                <a:solidFill>
                  <a:srgbClr val="1D1D1B"/>
                </a:solidFill>
                <a:latin typeface="Roboto" pitchFamily="34" charset="0"/>
                <a:ea typeface="Roboto" pitchFamily="34" charset="-122"/>
                <a:cs typeface="Roboto" pitchFamily="34" charset="-120"/>
              </a:rPr>
              <a:t>1</a:t>
            </a:r>
            <a:endParaRPr lang="es-ES_tradnl" sz="1200" noProof="0" dirty="0"/>
          </a:p>
        </p:txBody>
      </p:sp>
      <p:sp>
        <p:nvSpPr>
          <p:cNvPr id="10" name="Text 7"/>
          <p:cNvSpPr/>
          <p:nvPr/>
        </p:nvSpPr>
        <p:spPr>
          <a:xfrm>
            <a:off x="1219200" y="1856680"/>
            <a:ext cx="7220712" cy="274241"/>
          </a:xfrm>
          <a:prstGeom prst="rect">
            <a:avLst/>
          </a:prstGeom>
          <a:noFill/>
          <a:ln/>
        </p:spPr>
        <p:txBody>
          <a:bodyPr wrap="square" lIns="0" tIns="0" rIns="0" bIns="0" rtlCol="0" anchor="t">
            <a:normAutofit/>
          </a:bodyPr>
          <a:lstStyle/>
          <a:p>
            <a:pPr marL="0" indent="0" algn="l">
              <a:lnSpc>
                <a:spcPts val="1960"/>
              </a:lnSpc>
              <a:buNone/>
            </a:pPr>
            <a:r>
              <a:rPr lang="es-ES_tradnl" sz="1400" b="1" noProof="0" dirty="0">
                <a:solidFill>
                  <a:srgbClr val="3C3C3B"/>
                </a:solidFill>
                <a:latin typeface="Roboto" pitchFamily="34" charset="0"/>
                <a:ea typeface="Roboto" pitchFamily="34" charset="-122"/>
                <a:cs typeface="Roboto" pitchFamily="34" charset="-120"/>
              </a:rPr>
              <a:t>Con ruido</a:t>
            </a:r>
            <a:r>
              <a:rPr lang="es-ES_tradnl" sz="1400" noProof="0" dirty="0">
                <a:solidFill>
                  <a:srgbClr val="3C3C3B"/>
                </a:solidFill>
                <a:latin typeface="Roboto" pitchFamily="34" charset="0"/>
                <a:ea typeface="Roboto" pitchFamily="34" charset="-122"/>
                <a:cs typeface="Roboto" pitchFamily="34" charset="-120"/>
              </a:rPr>
              <a:t> (p = 0.5):</a:t>
            </a:r>
            <a:endParaRPr lang="es-ES_tradnl" sz="1400" noProof="0" dirty="0"/>
          </a:p>
        </p:txBody>
      </p:sp>
      <p:pic>
        <p:nvPicPr>
          <p:cNvPr id="11" name="Image 1" descr="P(+ | car) / P(+ | real estate) = 0.75 / 0.25 = 3"/>
          <p:cNvPicPr>
            <a:picLocks noChangeAspect="1"/>
          </p:cNvPicPr>
          <p:nvPr/>
        </p:nvPicPr>
        <p:blipFill>
          <a:blip r:embed="rId4"/>
          <a:srcRect l="-192" r="-192"/>
          <a:stretch/>
        </p:blipFill>
        <p:spPr>
          <a:xfrm>
            <a:off x="1219200" y="2156321"/>
            <a:ext cx="3390900" cy="660400"/>
          </a:xfrm>
          <a:prstGeom prst="rect">
            <a:avLst/>
          </a:prstGeom>
        </p:spPr>
      </p:pic>
      <p:sp>
        <p:nvSpPr>
          <p:cNvPr id="12" name="Text 8"/>
          <p:cNvSpPr/>
          <p:nvPr/>
        </p:nvSpPr>
        <p:spPr>
          <a:xfrm>
            <a:off x="812800" y="2994521"/>
            <a:ext cx="279400" cy="279400"/>
          </a:xfrm>
          <a:custGeom>
            <a:avLst/>
            <a:gdLst/>
            <a:ahLst/>
            <a:cxnLst/>
            <a:rect l="l" t="t" r="r" b="b"/>
            <a:pathLst>
              <a:path w="279400" h="279400">
                <a:moveTo>
                  <a:pt x="139700" y="0"/>
                </a:moveTo>
                <a:lnTo>
                  <a:pt x="139700" y="0"/>
                </a:lnTo>
                <a:arcTo wR="139700" hR="139700" stAng="16200000" swAng="5400000"/>
                <a:lnTo>
                  <a:pt x="279400" y="139700"/>
                </a:lnTo>
                <a:arcTo wR="139700" hR="139700" stAng="0" swAng="5400000"/>
                <a:lnTo>
                  <a:pt x="139700" y="279400"/>
                </a:lnTo>
                <a:arcTo wR="139700" hR="139700" stAng="5400000" swAng="5400000"/>
                <a:lnTo>
                  <a:pt x="0" y="139700"/>
                </a:lnTo>
                <a:arcTo wR="139700" hR="139700" stAng="10800000" swAng="5400000"/>
                <a:close/>
              </a:path>
            </a:pathLst>
          </a:custGeom>
          <a:solidFill>
            <a:srgbClr val="FFEE00"/>
          </a:solidFill>
          <a:ln/>
        </p:spPr>
        <p:txBody>
          <a:bodyPr wrap="square" lIns="0" tIns="0" rIns="0" bIns="0" rtlCol="0" anchor="t">
            <a:normAutofit/>
          </a:bodyPr>
          <a:lstStyle/>
          <a:p>
            <a:pPr marL="0" indent="0" algn="ctr">
              <a:lnSpc>
                <a:spcPts val="2196"/>
              </a:lnSpc>
              <a:buNone/>
            </a:pPr>
            <a:r>
              <a:rPr lang="es-ES_tradnl" sz="1200" b="1" noProof="0" dirty="0">
                <a:solidFill>
                  <a:srgbClr val="1D1D1B"/>
                </a:solidFill>
                <a:latin typeface="Roboto" pitchFamily="34" charset="0"/>
                <a:ea typeface="Roboto" pitchFamily="34" charset="-122"/>
                <a:cs typeface="Roboto" pitchFamily="34" charset="-120"/>
              </a:rPr>
              <a:t>2</a:t>
            </a:r>
            <a:endParaRPr lang="es-ES_tradnl" sz="1200" noProof="0" dirty="0"/>
          </a:p>
        </p:txBody>
      </p:sp>
      <p:sp>
        <p:nvSpPr>
          <p:cNvPr id="13" name="Text 9"/>
          <p:cNvSpPr/>
          <p:nvPr/>
        </p:nvSpPr>
        <p:spPr>
          <a:xfrm>
            <a:off x="1219200" y="2994521"/>
            <a:ext cx="7220712" cy="523081"/>
          </a:xfrm>
          <a:prstGeom prst="rect">
            <a:avLst/>
          </a:prstGeom>
          <a:noFill/>
          <a:ln/>
        </p:spPr>
        <p:txBody>
          <a:bodyPr wrap="square" lIns="0" tIns="0" rIns="0" bIns="0" rtlCol="0" anchor="t">
            <a:normAutofit/>
          </a:bodyPr>
          <a:lstStyle/>
          <a:p>
            <a:pPr marL="0" indent="0" algn="l">
              <a:lnSpc>
                <a:spcPts val="1960"/>
              </a:lnSpc>
              <a:buNone/>
            </a:pPr>
            <a:r>
              <a:rPr lang="es-ES_tradnl" sz="1400" b="1" noProof="0" dirty="0">
                <a:solidFill>
                  <a:srgbClr val="3C3C3B"/>
                </a:solidFill>
                <a:latin typeface="Roboto" pitchFamily="34" charset="0"/>
                <a:ea typeface="Roboto" pitchFamily="34" charset="-122"/>
                <a:cs typeface="Roboto" pitchFamily="34" charset="-120"/>
              </a:rPr>
              <a:t>Sin ruido:</a:t>
            </a:r>
            <a:r>
              <a:rPr lang="es-ES_tradnl" sz="1400" noProof="0" dirty="0">
                <a:solidFill>
                  <a:srgbClr val="3C3C3B"/>
                </a:solidFill>
                <a:latin typeface="Roboto" pitchFamily="34" charset="0"/>
                <a:ea typeface="Roboto" pitchFamily="34" charset="-122"/>
                <a:cs typeface="Roboto" pitchFamily="34" charset="-120"/>
              </a:rPr>
              <a:t> P(+ | car) = 1 y P(+ | real estate) = 0. El cociente es ∞: un «+» revela con certeza que A tiene car (</a:t>
            </a:r>
            <a:r>
              <a:rPr lang="es-ES_tradnl" sz="1400" noProof="0" dirty="0" err="1">
                <a:solidFill>
                  <a:srgbClr val="3C3C3B"/>
                </a:solidFill>
                <a:latin typeface="Roboto" pitchFamily="34" charset="0"/>
                <a:ea typeface="Roboto" pitchFamily="34" charset="-122"/>
                <a:cs typeface="Roboto" pitchFamily="34" charset="-120"/>
              </a:rPr>
              <a:t>ε</a:t>
            </a:r>
            <a:r>
              <a:rPr lang="es-ES_tradnl" sz="1400" noProof="0" dirty="0">
                <a:solidFill>
                  <a:srgbClr val="3C3C3B"/>
                </a:solidFill>
                <a:latin typeface="Roboto" pitchFamily="34" charset="0"/>
                <a:ea typeface="Roboto" pitchFamily="34" charset="-122"/>
                <a:cs typeface="Roboto" pitchFamily="34" charset="-120"/>
              </a:rPr>
              <a:t> = ∞).</a:t>
            </a:r>
            <a:endParaRPr lang="es-ES_tradnl" sz="1400" noProof="0" dirty="0"/>
          </a:p>
        </p:txBody>
      </p:sp>
      <p:sp>
        <p:nvSpPr>
          <p:cNvPr id="14" name="Text 10"/>
          <p:cNvSpPr/>
          <p:nvPr/>
        </p:nvSpPr>
        <p:spPr>
          <a:xfrm>
            <a:off x="812800" y="3670002"/>
            <a:ext cx="279400" cy="279400"/>
          </a:xfrm>
          <a:custGeom>
            <a:avLst/>
            <a:gdLst/>
            <a:ahLst/>
            <a:cxnLst/>
            <a:rect l="l" t="t" r="r" b="b"/>
            <a:pathLst>
              <a:path w="279400" h="279400">
                <a:moveTo>
                  <a:pt x="139700" y="0"/>
                </a:moveTo>
                <a:lnTo>
                  <a:pt x="139700" y="0"/>
                </a:lnTo>
                <a:arcTo wR="139700" hR="139700" stAng="16200000" swAng="5400000"/>
                <a:lnTo>
                  <a:pt x="279400" y="139700"/>
                </a:lnTo>
                <a:arcTo wR="139700" hR="139700" stAng="0" swAng="5400000"/>
                <a:lnTo>
                  <a:pt x="139700" y="279400"/>
                </a:lnTo>
                <a:arcTo wR="139700" hR="139700" stAng="5400000" swAng="5400000"/>
                <a:lnTo>
                  <a:pt x="0" y="139700"/>
                </a:lnTo>
                <a:arcTo wR="139700" hR="139700" stAng="10800000" swAng="5400000"/>
                <a:close/>
              </a:path>
            </a:pathLst>
          </a:custGeom>
          <a:solidFill>
            <a:srgbClr val="FFEE00"/>
          </a:solidFill>
          <a:ln/>
        </p:spPr>
        <p:txBody>
          <a:bodyPr wrap="square" lIns="0" tIns="0" rIns="0" bIns="0" rtlCol="0" anchor="t">
            <a:normAutofit/>
          </a:bodyPr>
          <a:lstStyle/>
          <a:p>
            <a:pPr marL="0" indent="0" algn="ctr">
              <a:lnSpc>
                <a:spcPts val="2196"/>
              </a:lnSpc>
              <a:buNone/>
            </a:pPr>
            <a:r>
              <a:rPr lang="es-ES_tradnl" sz="1200" b="1" noProof="0" dirty="0">
                <a:solidFill>
                  <a:srgbClr val="1D1D1B"/>
                </a:solidFill>
                <a:latin typeface="Roboto" pitchFamily="34" charset="0"/>
                <a:ea typeface="Roboto" pitchFamily="34" charset="-122"/>
                <a:cs typeface="Roboto" pitchFamily="34" charset="-120"/>
              </a:rPr>
              <a:t>3</a:t>
            </a:r>
            <a:endParaRPr lang="es-ES_tradnl" sz="1200" noProof="0" dirty="0"/>
          </a:p>
        </p:txBody>
      </p:sp>
      <p:sp>
        <p:nvSpPr>
          <p:cNvPr id="15" name="Text 11"/>
          <p:cNvSpPr/>
          <p:nvPr/>
        </p:nvSpPr>
        <p:spPr>
          <a:xfrm>
            <a:off x="1219200" y="3670002"/>
            <a:ext cx="7220712" cy="523081"/>
          </a:xfrm>
          <a:prstGeom prst="rect">
            <a:avLst/>
          </a:prstGeom>
          <a:noFill/>
          <a:ln/>
        </p:spPr>
        <p:txBody>
          <a:bodyPr wrap="square" lIns="0" tIns="0" rIns="0" bIns="0" rtlCol="0" anchor="t">
            <a:normAutofit/>
          </a:bodyPr>
          <a:lstStyle/>
          <a:p>
            <a:pPr marL="0" indent="0" algn="l">
              <a:lnSpc>
                <a:spcPts val="1960"/>
              </a:lnSpc>
              <a:buNone/>
            </a:pPr>
            <a:r>
              <a:rPr lang="es-ES_tradnl" sz="1400" b="1" noProof="0" dirty="0">
                <a:solidFill>
                  <a:srgbClr val="3C3C3B"/>
                </a:solidFill>
                <a:latin typeface="Roboto" pitchFamily="34" charset="0"/>
                <a:ea typeface="Roboto" pitchFamily="34" charset="-122"/>
                <a:cs typeface="Roboto" pitchFamily="34" charset="-120"/>
              </a:rPr>
              <a:t>Teorema 3 para un </a:t>
            </a:r>
            <a:r>
              <a:rPr lang="es-ES_tradnl" sz="1400" b="1" noProof="0" dirty="0" err="1">
                <a:solidFill>
                  <a:srgbClr val="3C3C3B"/>
                </a:solidFill>
                <a:latin typeface="Roboto" pitchFamily="34" charset="0"/>
                <a:ea typeface="Roboto" pitchFamily="34" charset="-122"/>
                <a:cs typeface="Roboto" pitchFamily="34" charset="-120"/>
              </a:rPr>
              <a:t>qubit</a:t>
            </a:r>
            <a:r>
              <a:rPr lang="es-ES_tradnl" sz="1400" b="1" noProof="0" dirty="0">
                <a:solidFill>
                  <a:srgbClr val="3C3C3B"/>
                </a:solidFill>
                <a:latin typeface="Roboto" pitchFamily="34" charset="0"/>
                <a:ea typeface="Roboto" pitchFamily="34" charset="-122"/>
                <a:cs typeface="Roboto" pitchFamily="34" charset="-120"/>
              </a:rPr>
              <a:t>:</a:t>
            </a:r>
            <a:r>
              <a:rPr lang="es-ES_tradnl" sz="1400" noProof="0" dirty="0">
                <a:solidFill>
                  <a:srgbClr val="3C3C3B"/>
                </a:solidFill>
                <a:latin typeface="Roboto" pitchFamily="34" charset="0"/>
                <a:ea typeface="Roboto" pitchFamily="34" charset="-122"/>
                <a:cs typeface="Roboto" pitchFamily="34" charset="-120"/>
              </a:rPr>
              <a:t> D = 2, d = 1 (los estados de </a:t>
            </a:r>
            <a:r>
              <a:rPr lang="es-ES_tradnl" sz="1400" noProof="0" dirty="0">
                <a:solidFill>
                  <a:srgbClr val="293470"/>
                </a:solidFill>
                <a:latin typeface="Roboto" pitchFamily="34" charset="0"/>
                <a:ea typeface="Roboto" pitchFamily="34" charset="-122"/>
                <a:cs typeface="Roboto" pitchFamily="34" charset="-120"/>
              </a:rPr>
              <a:t>car</a:t>
            </a:r>
            <a:r>
              <a:rPr lang="es-ES_tradnl" sz="1400" noProof="0" dirty="0">
                <a:solidFill>
                  <a:srgbClr val="3C3C3B"/>
                </a:solidFill>
                <a:latin typeface="Roboto" pitchFamily="34" charset="0"/>
                <a:ea typeface="Roboto" pitchFamily="34" charset="-122"/>
                <a:cs typeface="Roboto" pitchFamily="34" charset="-120"/>
              </a:rPr>
              <a:t> y </a:t>
            </a:r>
            <a:r>
              <a:rPr lang="es-ES_tradnl" sz="1400" noProof="0" dirty="0">
                <a:solidFill>
                  <a:srgbClr val="293470"/>
                </a:solidFill>
                <a:latin typeface="Roboto" pitchFamily="34" charset="0"/>
                <a:ea typeface="Roboto" pitchFamily="34" charset="-122"/>
                <a:cs typeface="Roboto" pitchFamily="34" charset="-120"/>
              </a:rPr>
              <a:t>real estate</a:t>
            </a:r>
            <a:r>
              <a:rPr lang="es-ES_tradnl" sz="1400" noProof="0" dirty="0">
                <a:solidFill>
                  <a:srgbClr val="3C3C3B"/>
                </a:solidFill>
                <a:latin typeface="Roboto" pitchFamily="34" charset="0"/>
                <a:ea typeface="Roboto" pitchFamily="34" charset="-122"/>
                <a:cs typeface="Roboto" pitchFamily="34" charset="-120"/>
              </a:rPr>
              <a:t> son ortogonales), p = 0.5.</a:t>
            </a:r>
            <a:endParaRPr lang="es-ES_tradnl" sz="1400" noProof="0" dirty="0"/>
          </a:p>
        </p:txBody>
      </p:sp>
      <p:pic>
        <p:nvPicPr>
          <p:cNvPr id="16" name="Image 2" descr="ε = ln(1 + 1·1·2) = ln 3 ≈ 1.10, e^ε = 3"/>
          <p:cNvPicPr>
            <a:picLocks noChangeAspect="1"/>
          </p:cNvPicPr>
          <p:nvPr/>
        </p:nvPicPr>
        <p:blipFill>
          <a:blip r:embed="rId5"/>
          <a:srcRect t="-357" b="-357"/>
          <a:stretch/>
        </p:blipFill>
        <p:spPr>
          <a:xfrm>
            <a:off x="1219200" y="4218484"/>
            <a:ext cx="4933950" cy="317500"/>
          </a:xfrm>
          <a:prstGeom prst="rect">
            <a:avLst/>
          </a:prstGeom>
        </p:spPr>
      </p:pic>
      <p:sp>
        <p:nvSpPr>
          <p:cNvPr id="17" name="Text 12"/>
          <p:cNvSpPr/>
          <p:nvPr/>
        </p:nvSpPr>
        <p:spPr>
          <a:xfrm>
            <a:off x="1219200" y="4586784"/>
            <a:ext cx="7220712" cy="274241"/>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Coincide con el cociente: </a:t>
            </a:r>
            <a:r>
              <a:rPr lang="es-ES_tradnl" sz="1400" b="1" noProof="0" dirty="0">
                <a:solidFill>
                  <a:srgbClr val="3C3C3B"/>
                </a:solidFill>
                <a:latin typeface="Roboto" pitchFamily="34" charset="0"/>
                <a:ea typeface="Roboto" pitchFamily="34" charset="-122"/>
                <a:cs typeface="Roboto" pitchFamily="34" charset="-120"/>
              </a:rPr>
              <a:t>para este par, la cota se alcanza.</a:t>
            </a:r>
            <a:endParaRPr lang="es-ES_tradnl" sz="1400" noProof="0" dirty="0"/>
          </a:p>
        </p:txBody>
      </p:sp>
      <p:sp>
        <p:nvSpPr>
          <p:cNvPr id="18" name="Shape 13"/>
          <p:cNvSpPr/>
          <p:nvPr/>
        </p:nvSpPr>
        <p:spPr>
          <a:xfrm>
            <a:off x="8585200" y="1856680"/>
            <a:ext cx="2794000" cy="2979341"/>
          </a:xfrm>
          <a:prstGeom prst="roundRect">
            <a:avLst>
              <a:gd name="adj" fmla="val 3636"/>
            </a:avLst>
          </a:prstGeom>
          <a:solidFill>
            <a:srgbClr val="1D1D1B"/>
          </a:solidFill>
          <a:ln/>
        </p:spPr>
        <p:txBody>
          <a:bodyPr/>
          <a:lstStyle/>
          <a:p>
            <a:endParaRPr lang="es-ES_tradnl" noProof="0" dirty="0"/>
          </a:p>
        </p:txBody>
      </p:sp>
      <p:sp>
        <p:nvSpPr>
          <p:cNvPr id="19" name="Text 14"/>
          <p:cNvSpPr/>
          <p:nvPr/>
        </p:nvSpPr>
        <p:spPr>
          <a:xfrm>
            <a:off x="8839200" y="2110680"/>
            <a:ext cx="2354580" cy="1295400"/>
          </a:xfrm>
          <a:prstGeom prst="rect">
            <a:avLst/>
          </a:prstGeom>
          <a:noFill/>
          <a:ln/>
        </p:spPr>
        <p:txBody>
          <a:bodyPr wrap="square" lIns="0" tIns="0" rIns="0" bIns="0" rtlCol="0" anchor="t">
            <a:normAutofit fontScale="92500"/>
          </a:bodyPr>
          <a:lstStyle/>
          <a:p>
            <a:pPr marL="0" indent="0" algn="l">
              <a:lnSpc>
                <a:spcPts val="10000"/>
              </a:lnSpc>
              <a:buNone/>
            </a:pPr>
            <a:r>
              <a:rPr lang="es-ES_tradnl" sz="10000" b="1" kern="0" spc="-300" noProof="0" dirty="0">
                <a:solidFill>
                  <a:srgbClr val="FFEE00"/>
                </a:solidFill>
                <a:latin typeface="DM Sans" pitchFamily="34" charset="0"/>
                <a:ea typeface="DM Sans" pitchFamily="34" charset="-122"/>
                <a:cs typeface="DM Sans" pitchFamily="34" charset="-120"/>
              </a:rPr>
              <a:t>×3</a:t>
            </a:r>
            <a:endParaRPr lang="es-ES_tradnl" sz="10000" noProof="0" dirty="0"/>
          </a:p>
        </p:txBody>
      </p:sp>
      <p:sp>
        <p:nvSpPr>
          <p:cNvPr id="20" name="Text 15"/>
          <p:cNvSpPr/>
          <p:nvPr/>
        </p:nvSpPr>
        <p:spPr>
          <a:xfrm>
            <a:off x="8839200" y="3482280"/>
            <a:ext cx="2354580" cy="596900"/>
          </a:xfrm>
          <a:prstGeom prst="rect">
            <a:avLst/>
          </a:prstGeom>
          <a:noFill/>
          <a:ln/>
        </p:spPr>
        <p:txBody>
          <a:bodyPr wrap="square" lIns="0" tIns="0" rIns="0" bIns="0" rtlCol="0" anchor="t">
            <a:normAutofit/>
          </a:bodyPr>
          <a:lstStyle/>
          <a:p>
            <a:pPr marL="0" indent="0" algn="l">
              <a:lnSpc>
                <a:spcPts val="2250"/>
              </a:lnSpc>
              <a:buNone/>
            </a:pPr>
            <a:r>
              <a:rPr lang="es-ES_tradnl" sz="1800" noProof="0" dirty="0">
                <a:solidFill>
                  <a:srgbClr val="F7F7F5"/>
                </a:solidFill>
                <a:latin typeface="DM Sans" pitchFamily="34" charset="0"/>
                <a:ea typeface="DM Sans" pitchFamily="34" charset="-122"/>
                <a:cs typeface="DM Sans" pitchFamily="34" charset="-120"/>
              </a:rPr>
              <a:t>como máximo en las </a:t>
            </a:r>
            <a:r>
              <a:rPr lang="es-ES_tradnl" sz="1800" noProof="0" dirty="0" err="1">
                <a:solidFill>
                  <a:srgbClr val="F7F7F5"/>
                </a:solidFill>
                <a:latin typeface="DM Sans" pitchFamily="34" charset="0"/>
                <a:ea typeface="DM Sans" pitchFamily="34" charset="-122"/>
                <a:cs typeface="DM Sans" pitchFamily="34" charset="-120"/>
              </a:rPr>
              <a:t>odds</a:t>
            </a:r>
            <a:r>
              <a:rPr lang="es-ES_tradnl" sz="1800" noProof="0" dirty="0">
                <a:solidFill>
                  <a:srgbClr val="F7F7F5"/>
                </a:solidFill>
                <a:latin typeface="DM Sans" pitchFamily="34" charset="0"/>
                <a:ea typeface="DM Sans" pitchFamily="34" charset="-122"/>
                <a:cs typeface="DM Sans" pitchFamily="34" charset="-120"/>
              </a:rPr>
              <a:t> del atacante</a:t>
            </a:r>
            <a:endParaRPr lang="es-ES_tradnl" sz="1800" noProof="0" dirty="0"/>
          </a:p>
        </p:txBody>
      </p:sp>
      <p:sp>
        <p:nvSpPr>
          <p:cNvPr id="21" name="Text 16"/>
          <p:cNvSpPr/>
          <p:nvPr/>
        </p:nvSpPr>
        <p:spPr>
          <a:xfrm>
            <a:off x="8839200" y="4155380"/>
            <a:ext cx="2354580" cy="452041"/>
          </a:xfrm>
          <a:prstGeom prst="rect">
            <a:avLst/>
          </a:prstGeom>
          <a:noFill/>
          <a:ln/>
        </p:spPr>
        <p:txBody>
          <a:bodyPr wrap="square" lIns="0" tIns="0" rIns="0" bIns="0" rtlCol="0" anchor="t">
            <a:normAutofit/>
          </a:bodyPr>
          <a:lstStyle/>
          <a:p>
            <a:pPr marL="0" indent="0" algn="l">
              <a:lnSpc>
                <a:spcPts val="1680"/>
              </a:lnSpc>
              <a:buNone/>
            </a:pPr>
            <a:r>
              <a:rPr lang="es-ES_tradnl" sz="1200" noProof="0" dirty="0" err="1">
                <a:solidFill>
                  <a:srgbClr val="D4D4D0"/>
                </a:solidFill>
                <a:latin typeface="Roboto" pitchFamily="34" charset="0"/>
                <a:ea typeface="Roboto" pitchFamily="34" charset="-122"/>
                <a:cs typeface="Roboto" pitchFamily="34" charset="-120"/>
              </a:rPr>
              <a:t>e^ε</a:t>
            </a:r>
            <a:r>
              <a:rPr lang="es-ES_tradnl" sz="1200" noProof="0" dirty="0">
                <a:solidFill>
                  <a:srgbClr val="D4D4D0"/>
                </a:solidFill>
                <a:latin typeface="Roboto" pitchFamily="34" charset="0"/>
                <a:ea typeface="Roboto" pitchFamily="34" charset="-122"/>
                <a:cs typeface="Roboto" pitchFamily="34" charset="-120"/>
              </a:rPr>
              <a:t> con </a:t>
            </a:r>
            <a:r>
              <a:rPr lang="es-ES_tradnl" sz="1200" noProof="0" dirty="0" err="1">
                <a:solidFill>
                  <a:srgbClr val="D4D4D0"/>
                </a:solidFill>
                <a:latin typeface="Roboto" pitchFamily="34" charset="0"/>
                <a:ea typeface="Roboto" pitchFamily="34" charset="-122"/>
                <a:cs typeface="Roboto" pitchFamily="34" charset="-120"/>
              </a:rPr>
              <a:t>ε</a:t>
            </a:r>
            <a:r>
              <a:rPr lang="es-ES_tradnl" sz="1200" noProof="0" dirty="0">
                <a:solidFill>
                  <a:srgbClr val="D4D4D0"/>
                </a:solidFill>
                <a:latin typeface="Roboto" pitchFamily="34" charset="0"/>
                <a:ea typeface="Roboto" pitchFamily="34" charset="-122"/>
                <a:cs typeface="Roboto" pitchFamily="34" charset="-120"/>
              </a:rPr>
              <a:t> = </a:t>
            </a:r>
            <a:r>
              <a:rPr lang="es-ES_tradnl" sz="1200" noProof="0" dirty="0" err="1">
                <a:solidFill>
                  <a:srgbClr val="D4D4D0"/>
                </a:solidFill>
                <a:latin typeface="Roboto" pitchFamily="34" charset="0"/>
                <a:ea typeface="Roboto" pitchFamily="34" charset="-122"/>
                <a:cs typeface="Roboto" pitchFamily="34" charset="-120"/>
              </a:rPr>
              <a:t>ln</a:t>
            </a:r>
            <a:r>
              <a:rPr lang="es-ES_tradnl" sz="1200" noProof="0" dirty="0">
                <a:solidFill>
                  <a:srgbClr val="D4D4D0"/>
                </a:solidFill>
                <a:latin typeface="Roboto" pitchFamily="34" charset="0"/>
                <a:ea typeface="Roboto" pitchFamily="34" charset="-122"/>
                <a:cs typeface="Roboto" pitchFamily="34" charset="-120"/>
              </a:rPr>
              <a:t> 3, sepa lo que sepa de antemano.</a:t>
            </a:r>
            <a:endParaRPr lang="es-ES_tradnl" sz="1200" noProof="0" dirty="0"/>
          </a:p>
        </p:txBody>
      </p:sp>
      <p:sp>
        <p:nvSpPr>
          <p:cNvPr id="23" name="Text 18"/>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a:solidFill>
                  <a:srgbClr val="1D1D1B"/>
                </a:solidFill>
                <a:latin typeface="Roboto" pitchFamily="34" charset="0"/>
                <a:ea typeface="Roboto" pitchFamily="34" charset="-122"/>
                <a:cs typeface="Roboto" pitchFamily="34" charset="-120"/>
              </a:rPr>
              <a:t>21</a:t>
            </a:r>
            <a:endParaRPr lang="es-ES_tradnl" sz="1200" noProof="0" dirty="0"/>
          </a:p>
        </p:txBody>
      </p:sp>
    </p:spTree>
    <p:extLst>
      <p:ext uri="{BB962C8B-B14F-4D97-AF65-F5344CB8AC3E}">
        <p14:creationId xmlns:p14="http://schemas.microsoft.com/office/powerpoint/2010/main" val="44065090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s-ES_tradnl" noProof="0" dirty="0"/>
          </a:p>
        </p:txBody>
      </p:sp>
      <p:sp>
        <p:nvSpPr>
          <p:cNvPr id="3" name="Shape 1"/>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dirty="0">
                <a:solidFill>
                  <a:srgbClr val="1D1D1B"/>
                </a:solidFill>
                <a:latin typeface="DM Sans" pitchFamily="34" charset="0"/>
                <a:ea typeface="DM Sans" pitchFamily="34" charset="-122"/>
                <a:cs typeface="DM Sans" pitchFamily="34" charset="-120"/>
              </a:rPr>
              <a:t>II</a:t>
            </a:r>
            <a:endParaRPr lang="es-ES_tradnl" sz="1200" noProof="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dirty="0">
                <a:solidFill>
                  <a:srgbClr val="6E6E6C"/>
                </a:solidFill>
                <a:latin typeface="Roboto" pitchFamily="34" charset="0"/>
                <a:ea typeface="Roboto" pitchFamily="34" charset="-122"/>
                <a:cs typeface="Roboto" pitchFamily="34" charset="-120"/>
              </a:rPr>
              <a:t>DÓNDE ESTÁ LA PRIVACIDAD</a:t>
            </a:r>
            <a:endParaRPr lang="es-ES_tradnl" sz="1200" noProof="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s-ES_tradnl" sz="2800" b="1" i="0" kern="0" spc="-50" noProof="0" dirty="0">
                <a:solidFill>
                  <a:srgbClr val="1D1D1B"/>
                </a:solidFill>
                <a:latin typeface="DM Sans" pitchFamily="34" charset="0"/>
                <a:ea typeface="DM Sans" pitchFamily="34" charset="-122"/>
                <a:cs typeface="DM Sans" pitchFamily="34" charset="-120"/>
              </a:rPr>
              <a:t>Una medición inclina, pero no decide</a:t>
            </a:r>
            <a:endParaRPr lang="es-ES_tradnl" sz="2800" noProof="0" dirty="0"/>
          </a:p>
        </p:txBody>
      </p:sp>
      <p:sp>
        <p:nvSpPr>
          <p:cNvPr id="8" name="Shape 5"/>
          <p:cNvSpPr/>
          <p:nvPr/>
        </p:nvSpPr>
        <p:spPr>
          <a:xfrm>
            <a:off x="812800" y="1407120"/>
            <a:ext cx="10566400" cy="965200"/>
          </a:xfrm>
          <a:prstGeom prst="roundRect">
            <a:avLst>
              <a:gd name="adj" fmla="val 10526"/>
            </a:avLst>
          </a:prstGeom>
          <a:solidFill>
            <a:srgbClr val="F4F4F2"/>
          </a:solidFill>
          <a:ln/>
        </p:spPr>
        <p:txBody>
          <a:bodyPr/>
          <a:lstStyle/>
          <a:p>
            <a:endParaRPr lang="es-ES_tradnl" noProof="0" dirty="0"/>
          </a:p>
        </p:txBody>
      </p:sp>
      <p:sp>
        <p:nvSpPr>
          <p:cNvPr id="9" name="Text 6"/>
          <p:cNvSpPr/>
          <p:nvPr/>
        </p:nvSpPr>
        <p:spPr>
          <a:xfrm>
            <a:off x="1066800" y="1658640"/>
            <a:ext cx="1962150" cy="487561"/>
          </a:xfrm>
          <a:prstGeom prst="rect">
            <a:avLst/>
          </a:prstGeom>
          <a:noFill/>
          <a:ln/>
        </p:spPr>
        <p:txBody>
          <a:bodyPr wrap="square" lIns="0" tIns="0" rIns="0" bIns="0" rtlCol="0" anchor="t">
            <a:normAutofit/>
          </a:bodyPr>
          <a:lstStyle/>
          <a:p>
            <a:pPr marL="0" indent="0" algn="l">
              <a:lnSpc>
                <a:spcPts val="1820"/>
              </a:lnSpc>
              <a:buNone/>
            </a:pPr>
            <a:r>
              <a:rPr lang="es-ES_tradnl" sz="1400" b="1" noProof="0" dirty="0">
                <a:solidFill>
                  <a:srgbClr val="1D1D1B"/>
                </a:solidFill>
                <a:latin typeface="Roboto" pitchFamily="34" charset="0"/>
                <a:ea typeface="Roboto" pitchFamily="34" charset="-122"/>
                <a:cs typeface="Roboto" pitchFamily="34" charset="-120"/>
              </a:rPr>
              <a:t>Bayes, para cualquier atacante:</a:t>
            </a:r>
            <a:endParaRPr lang="es-ES_tradnl" sz="1400" noProof="0" dirty="0"/>
          </a:p>
        </p:txBody>
      </p:sp>
      <p:pic>
        <p:nvPicPr>
          <p:cNvPr id="10" name="Image 1" descr="odds después = odds antes × P(+ | car) / P(+ | real estate)"/>
          <p:cNvPicPr>
            <a:picLocks noChangeAspect="1"/>
          </p:cNvPicPr>
          <p:nvPr/>
        </p:nvPicPr>
        <p:blipFill>
          <a:blip r:embed="rId4"/>
          <a:srcRect l="-139" r="-139"/>
          <a:stretch/>
        </p:blipFill>
        <p:spPr>
          <a:xfrm>
            <a:off x="3276600" y="1559520"/>
            <a:ext cx="4914900" cy="660400"/>
          </a:xfrm>
          <a:prstGeom prst="rect">
            <a:avLst/>
          </a:prstGeom>
        </p:spPr>
      </p:pic>
      <p:sp>
        <p:nvSpPr>
          <p:cNvPr id="11" name="Shape 7"/>
          <p:cNvSpPr/>
          <p:nvPr/>
        </p:nvSpPr>
        <p:spPr>
          <a:xfrm>
            <a:off x="819150" y="2581870"/>
            <a:ext cx="3416300" cy="2102941"/>
          </a:xfrm>
          <a:prstGeom prst="roundRect">
            <a:avLst>
              <a:gd name="adj" fmla="val 4529"/>
            </a:avLst>
          </a:prstGeom>
          <a:noFill/>
          <a:ln w="12700">
            <a:solidFill>
              <a:srgbClr val="3C3C3B"/>
            </a:solidFill>
            <a:prstDash val="solid"/>
          </a:ln>
        </p:spPr>
        <p:txBody>
          <a:bodyPr/>
          <a:lstStyle/>
          <a:p>
            <a:endParaRPr lang="es-ES_tradnl" noProof="0" dirty="0"/>
          </a:p>
        </p:txBody>
      </p:sp>
      <p:sp>
        <p:nvSpPr>
          <p:cNvPr id="12" name="Text 8"/>
          <p:cNvSpPr/>
          <p:nvPr/>
        </p:nvSpPr>
        <p:spPr>
          <a:xfrm>
            <a:off x="1028700" y="2791420"/>
            <a:ext cx="3087116" cy="238720"/>
          </a:xfrm>
          <a:prstGeom prst="rect">
            <a:avLst/>
          </a:prstGeom>
          <a:noFill/>
          <a:ln/>
        </p:spPr>
        <p:txBody>
          <a:bodyPr wrap="square" lIns="0" tIns="0" rIns="0" bIns="0" rtlCol="0" anchor="t">
            <a:normAutofit fontScale="92500"/>
          </a:bodyPr>
          <a:lstStyle/>
          <a:p>
            <a:pPr marL="0" indent="0" algn="l">
              <a:lnSpc>
                <a:spcPts val="1680"/>
              </a:lnSpc>
              <a:buNone/>
            </a:pPr>
            <a:r>
              <a:rPr lang="es-ES_tradnl" sz="1200" b="1" kern="0" spc="100" noProof="0" dirty="0">
                <a:solidFill>
                  <a:srgbClr val="6E6E6C"/>
                </a:solidFill>
                <a:latin typeface="Roboto" pitchFamily="34" charset="0"/>
                <a:ea typeface="Roboto" pitchFamily="34" charset="-122"/>
                <a:cs typeface="Roboto" pitchFamily="34" charset="-120"/>
              </a:rPr>
              <a:t>SIN INFORMACIÓN (IGUAL PROPORCION)</a:t>
            </a:r>
            <a:endParaRPr lang="es-ES_tradnl" sz="1200" noProof="0" dirty="0"/>
          </a:p>
        </p:txBody>
      </p:sp>
      <p:sp>
        <p:nvSpPr>
          <p:cNvPr id="13" name="Text 9"/>
          <p:cNvSpPr/>
          <p:nvPr/>
        </p:nvSpPr>
        <p:spPr>
          <a:xfrm>
            <a:off x="1028700" y="3068241"/>
            <a:ext cx="3087116" cy="238720"/>
          </a:xfrm>
          <a:prstGeom prst="rect">
            <a:avLst/>
          </a:prstGeom>
          <a:noFill/>
          <a:ln/>
        </p:spPr>
        <p:txBody>
          <a:bodyPr wrap="square" lIns="0" tIns="0" rIns="0" bIns="0" rtlCol="0" anchor="t">
            <a:normAutofit/>
          </a:bodyPr>
          <a:lstStyle/>
          <a:p>
            <a:pPr marL="0" indent="0" algn="l">
              <a:lnSpc>
                <a:spcPts val="1680"/>
              </a:lnSpc>
              <a:buNone/>
            </a:pPr>
            <a:r>
              <a:rPr lang="es-ES_tradnl" sz="1200" noProof="0" dirty="0" err="1">
                <a:solidFill>
                  <a:srgbClr val="3C3C3B"/>
                </a:solidFill>
                <a:latin typeface="Roboto" pitchFamily="34" charset="0"/>
                <a:ea typeface="Roboto" pitchFamily="34" charset="-122"/>
                <a:cs typeface="Roboto" pitchFamily="34" charset="-120"/>
              </a:rPr>
              <a:t>odds</a:t>
            </a:r>
            <a:r>
              <a:rPr lang="es-ES_tradnl" sz="1200" noProof="0" dirty="0">
                <a:solidFill>
                  <a:srgbClr val="3C3C3B"/>
                </a:solidFill>
                <a:latin typeface="Roboto" pitchFamily="34" charset="0"/>
                <a:ea typeface="Roboto" pitchFamily="34" charset="-122"/>
                <a:cs typeface="Roboto" pitchFamily="34" charset="-120"/>
              </a:rPr>
              <a:t> antes = 1</a:t>
            </a:r>
            <a:endParaRPr lang="es-ES_tradnl" sz="1200" noProof="0" dirty="0"/>
          </a:p>
        </p:txBody>
      </p:sp>
      <p:sp>
        <p:nvSpPr>
          <p:cNvPr id="14" name="Text 10"/>
          <p:cNvSpPr/>
          <p:nvPr/>
        </p:nvSpPr>
        <p:spPr>
          <a:xfrm>
            <a:off x="1028700" y="3345061"/>
            <a:ext cx="3087116" cy="665460"/>
          </a:xfrm>
          <a:prstGeom prst="rect">
            <a:avLst/>
          </a:prstGeom>
          <a:noFill/>
          <a:ln/>
        </p:spPr>
        <p:txBody>
          <a:bodyPr wrap="square" lIns="0" tIns="0" rIns="0" bIns="0" rtlCol="0" anchor="t">
            <a:normAutofit/>
          </a:bodyPr>
          <a:lstStyle/>
          <a:p>
            <a:pPr marL="0" indent="0" algn="l">
              <a:lnSpc>
                <a:spcPts val="5040"/>
              </a:lnSpc>
              <a:buNone/>
            </a:pPr>
            <a:r>
              <a:rPr lang="es-ES_tradnl" sz="4800" b="1" kern="0" spc="-100" noProof="0" dirty="0">
                <a:solidFill>
                  <a:srgbClr val="293470"/>
                </a:solidFill>
                <a:latin typeface="DM Sans" pitchFamily="34" charset="0"/>
                <a:ea typeface="DM Sans" pitchFamily="34" charset="-122"/>
                <a:cs typeface="DM Sans" pitchFamily="34" charset="-120"/>
              </a:rPr>
              <a:t>3</a:t>
            </a:r>
            <a:endParaRPr lang="es-ES_tradnl" sz="4800" noProof="0" dirty="0"/>
          </a:p>
        </p:txBody>
      </p:sp>
      <p:sp>
        <p:nvSpPr>
          <p:cNvPr id="15" name="Text 11"/>
          <p:cNvSpPr/>
          <p:nvPr/>
        </p:nvSpPr>
        <p:spPr>
          <a:xfrm>
            <a:off x="1028700" y="4048621"/>
            <a:ext cx="3087116" cy="238720"/>
          </a:xfrm>
          <a:prstGeom prst="rect">
            <a:avLst/>
          </a:prstGeom>
          <a:noFill/>
          <a:ln/>
        </p:spPr>
        <p:txBody>
          <a:bodyPr wrap="square" lIns="0" tIns="0" rIns="0" bIns="0" rtlCol="0" anchor="t">
            <a:normAutofit/>
          </a:bodyPr>
          <a:lstStyle/>
          <a:p>
            <a:pPr marL="0" indent="0" algn="l">
              <a:lnSpc>
                <a:spcPts val="1680"/>
              </a:lnSpc>
              <a:buNone/>
            </a:pPr>
            <a:r>
              <a:rPr lang="es-ES_tradnl" sz="1200" noProof="0" dirty="0" err="1">
                <a:solidFill>
                  <a:srgbClr val="3C3C3B"/>
                </a:solidFill>
                <a:latin typeface="Roboto" pitchFamily="34" charset="0"/>
                <a:ea typeface="Roboto" pitchFamily="34" charset="-122"/>
                <a:cs typeface="Roboto" pitchFamily="34" charset="-120"/>
              </a:rPr>
              <a:t>odds</a:t>
            </a:r>
            <a:r>
              <a:rPr lang="es-ES_tradnl" sz="1200" noProof="0" dirty="0">
                <a:solidFill>
                  <a:srgbClr val="3C3C3B"/>
                </a:solidFill>
                <a:latin typeface="Roboto" pitchFamily="34" charset="0"/>
                <a:ea typeface="Roboto" pitchFamily="34" charset="-122"/>
                <a:cs typeface="Roboto" pitchFamily="34" charset="-120"/>
              </a:rPr>
              <a:t> después de un «+»</a:t>
            </a:r>
            <a:endParaRPr lang="es-ES_tradnl" sz="1200" noProof="0" dirty="0"/>
          </a:p>
        </p:txBody>
      </p:sp>
      <p:sp>
        <p:nvSpPr>
          <p:cNvPr id="16" name="Shape 12"/>
          <p:cNvSpPr/>
          <p:nvPr/>
        </p:nvSpPr>
        <p:spPr>
          <a:xfrm>
            <a:off x="4400550" y="2581870"/>
            <a:ext cx="3416300" cy="2102941"/>
          </a:xfrm>
          <a:prstGeom prst="roundRect">
            <a:avLst>
              <a:gd name="adj" fmla="val 4529"/>
            </a:avLst>
          </a:prstGeom>
          <a:noFill/>
          <a:ln w="12700">
            <a:solidFill>
              <a:srgbClr val="3C3C3B"/>
            </a:solidFill>
            <a:prstDash val="solid"/>
          </a:ln>
        </p:spPr>
        <p:txBody>
          <a:bodyPr/>
          <a:lstStyle/>
          <a:p>
            <a:endParaRPr lang="es-ES_tradnl" noProof="0" dirty="0"/>
          </a:p>
        </p:txBody>
      </p:sp>
      <p:sp>
        <p:nvSpPr>
          <p:cNvPr id="17" name="Text 13"/>
          <p:cNvSpPr/>
          <p:nvPr/>
        </p:nvSpPr>
        <p:spPr>
          <a:xfrm>
            <a:off x="4610100" y="2791420"/>
            <a:ext cx="3087116" cy="452041"/>
          </a:xfrm>
          <a:prstGeom prst="rect">
            <a:avLst/>
          </a:prstGeom>
          <a:noFill/>
          <a:ln/>
        </p:spPr>
        <p:txBody>
          <a:bodyPr wrap="square" lIns="0" tIns="0" rIns="0" bIns="0" rtlCol="0" anchor="t">
            <a:normAutofit/>
          </a:bodyPr>
          <a:lstStyle/>
          <a:p>
            <a:pPr marL="0" indent="0" algn="l">
              <a:lnSpc>
                <a:spcPts val="1680"/>
              </a:lnSpc>
              <a:buNone/>
            </a:pPr>
            <a:r>
              <a:rPr lang="es-ES_tradnl" sz="1200" b="1" kern="0" spc="100" noProof="0" dirty="0">
                <a:solidFill>
                  <a:srgbClr val="6E6E6C"/>
                </a:solidFill>
                <a:latin typeface="Roboto" pitchFamily="34" charset="0"/>
                <a:ea typeface="Roboto" pitchFamily="34" charset="-122"/>
                <a:cs typeface="Roboto" pitchFamily="34" charset="-120"/>
              </a:rPr>
              <a:t>CON LAS PROPORCIONES DEL DATASET</a:t>
            </a:r>
            <a:endParaRPr lang="es-ES_tradnl" sz="1200" noProof="0" dirty="0"/>
          </a:p>
        </p:txBody>
      </p:sp>
      <p:sp>
        <p:nvSpPr>
          <p:cNvPr id="18" name="Text 14"/>
          <p:cNvSpPr/>
          <p:nvPr/>
        </p:nvSpPr>
        <p:spPr>
          <a:xfrm>
            <a:off x="4610100" y="3281561"/>
            <a:ext cx="3087116" cy="238720"/>
          </a:xfrm>
          <a:prstGeom prst="rect">
            <a:avLst/>
          </a:prstGeom>
          <a:noFill/>
          <a:ln/>
        </p:spPr>
        <p:txBody>
          <a:bodyPr wrap="square" lIns="0" tIns="0" rIns="0" bIns="0" rtlCol="0" anchor="t">
            <a:normAutofit/>
          </a:bodyPr>
          <a:lstStyle/>
          <a:p>
            <a:pPr marL="0" indent="0" algn="l">
              <a:lnSpc>
                <a:spcPts val="1680"/>
              </a:lnSpc>
              <a:buNone/>
            </a:pPr>
            <a:r>
              <a:rPr lang="es-ES_tradnl" sz="1200" noProof="0" dirty="0" err="1">
                <a:solidFill>
                  <a:srgbClr val="3C3C3B"/>
                </a:solidFill>
                <a:latin typeface="Roboto" pitchFamily="34" charset="0"/>
                <a:ea typeface="Roboto" pitchFamily="34" charset="-122"/>
                <a:cs typeface="Roboto" pitchFamily="34" charset="-120"/>
              </a:rPr>
              <a:t>odds</a:t>
            </a:r>
            <a:r>
              <a:rPr lang="es-ES_tradnl" sz="1200" noProof="0" dirty="0">
                <a:solidFill>
                  <a:srgbClr val="3C3C3B"/>
                </a:solidFill>
                <a:latin typeface="Roboto" pitchFamily="34" charset="0"/>
                <a:ea typeface="Roboto" pitchFamily="34" charset="-122"/>
                <a:cs typeface="Roboto" pitchFamily="34" charset="-120"/>
              </a:rPr>
              <a:t> antes = 0.232 / 0.332 = 0.70</a:t>
            </a:r>
            <a:endParaRPr lang="es-ES_tradnl" sz="1200" noProof="0" dirty="0"/>
          </a:p>
        </p:txBody>
      </p:sp>
      <p:sp>
        <p:nvSpPr>
          <p:cNvPr id="19" name="Text 15"/>
          <p:cNvSpPr/>
          <p:nvPr/>
        </p:nvSpPr>
        <p:spPr>
          <a:xfrm>
            <a:off x="4610100" y="3558381"/>
            <a:ext cx="3087116" cy="665460"/>
          </a:xfrm>
          <a:prstGeom prst="rect">
            <a:avLst/>
          </a:prstGeom>
          <a:noFill/>
          <a:ln/>
        </p:spPr>
        <p:txBody>
          <a:bodyPr wrap="square" lIns="0" tIns="0" rIns="0" bIns="0" rtlCol="0" anchor="t">
            <a:normAutofit/>
          </a:bodyPr>
          <a:lstStyle/>
          <a:p>
            <a:pPr marL="0" indent="0" algn="l">
              <a:lnSpc>
                <a:spcPts val="5040"/>
              </a:lnSpc>
              <a:buNone/>
            </a:pPr>
            <a:r>
              <a:rPr lang="es-ES_tradnl" sz="4800" b="1" kern="0" spc="-100" noProof="0" dirty="0">
                <a:solidFill>
                  <a:srgbClr val="293470"/>
                </a:solidFill>
                <a:latin typeface="DM Sans" pitchFamily="34" charset="0"/>
                <a:ea typeface="DM Sans" pitchFamily="34" charset="-122"/>
                <a:cs typeface="DM Sans" pitchFamily="34" charset="-120"/>
              </a:rPr>
              <a:t>≈ 2.1</a:t>
            </a:r>
            <a:endParaRPr lang="es-ES_tradnl" sz="4800" noProof="0" dirty="0"/>
          </a:p>
        </p:txBody>
      </p:sp>
      <p:sp>
        <p:nvSpPr>
          <p:cNvPr id="20" name="Text 16"/>
          <p:cNvSpPr/>
          <p:nvPr/>
        </p:nvSpPr>
        <p:spPr>
          <a:xfrm>
            <a:off x="4610100" y="4261941"/>
            <a:ext cx="3087116" cy="238720"/>
          </a:xfrm>
          <a:prstGeom prst="rect">
            <a:avLst/>
          </a:prstGeom>
          <a:noFill/>
          <a:ln/>
        </p:spPr>
        <p:txBody>
          <a:bodyPr wrap="square" lIns="0" tIns="0" rIns="0" bIns="0" rtlCol="0" anchor="t">
            <a:normAutofit/>
          </a:bodyPr>
          <a:lstStyle/>
          <a:p>
            <a:pPr marL="0" indent="0" algn="l">
              <a:lnSpc>
                <a:spcPts val="1680"/>
              </a:lnSpc>
              <a:buNone/>
            </a:pPr>
            <a:r>
              <a:rPr lang="es-ES_tradnl" sz="1200" noProof="0" dirty="0" err="1">
                <a:solidFill>
                  <a:srgbClr val="3C3C3B"/>
                </a:solidFill>
                <a:latin typeface="Roboto" pitchFamily="34" charset="0"/>
                <a:ea typeface="Roboto" pitchFamily="34" charset="-122"/>
                <a:cs typeface="Roboto" pitchFamily="34" charset="-120"/>
              </a:rPr>
              <a:t>odds</a:t>
            </a:r>
            <a:r>
              <a:rPr lang="es-ES_tradnl" sz="1200" noProof="0" dirty="0">
                <a:solidFill>
                  <a:srgbClr val="3C3C3B"/>
                </a:solidFill>
                <a:latin typeface="Roboto" pitchFamily="34" charset="0"/>
                <a:ea typeface="Roboto" pitchFamily="34" charset="-122"/>
                <a:cs typeface="Roboto" pitchFamily="34" charset="-120"/>
              </a:rPr>
              <a:t> después de un «+»</a:t>
            </a:r>
            <a:endParaRPr lang="es-ES_tradnl" sz="1200" noProof="0" dirty="0"/>
          </a:p>
        </p:txBody>
      </p:sp>
      <p:sp>
        <p:nvSpPr>
          <p:cNvPr id="21" name="Shape 17"/>
          <p:cNvSpPr/>
          <p:nvPr/>
        </p:nvSpPr>
        <p:spPr>
          <a:xfrm>
            <a:off x="7975600" y="2575520"/>
            <a:ext cx="3403600" cy="2115641"/>
          </a:xfrm>
          <a:prstGeom prst="roundRect">
            <a:avLst>
              <a:gd name="adj" fmla="val 4802"/>
            </a:avLst>
          </a:prstGeom>
          <a:solidFill>
            <a:srgbClr val="1D1D1B"/>
          </a:solidFill>
          <a:ln/>
        </p:spPr>
        <p:txBody>
          <a:bodyPr/>
          <a:lstStyle/>
          <a:p>
            <a:endParaRPr lang="es-ES_tradnl" noProof="0" dirty="0"/>
          </a:p>
        </p:txBody>
      </p:sp>
      <p:sp>
        <p:nvSpPr>
          <p:cNvPr id="22" name="Text 18"/>
          <p:cNvSpPr/>
          <p:nvPr/>
        </p:nvSpPr>
        <p:spPr>
          <a:xfrm>
            <a:off x="8178800" y="2778720"/>
            <a:ext cx="3087116" cy="238720"/>
          </a:xfrm>
          <a:prstGeom prst="rect">
            <a:avLst/>
          </a:prstGeom>
          <a:noFill/>
          <a:ln/>
        </p:spPr>
        <p:txBody>
          <a:bodyPr wrap="square" lIns="0" tIns="0" rIns="0" bIns="0" rtlCol="0" anchor="t">
            <a:normAutofit/>
          </a:bodyPr>
          <a:lstStyle/>
          <a:p>
            <a:pPr marL="0" indent="0" algn="l">
              <a:lnSpc>
                <a:spcPts val="1680"/>
              </a:lnSpc>
              <a:buNone/>
            </a:pPr>
            <a:r>
              <a:rPr lang="es-ES_tradnl" sz="1200" b="1" kern="0" spc="100" noProof="0" dirty="0">
                <a:solidFill>
                  <a:srgbClr val="FFEE00"/>
                </a:solidFill>
                <a:latin typeface="Roboto" pitchFamily="34" charset="0"/>
                <a:ea typeface="Roboto" pitchFamily="34" charset="-122"/>
                <a:cs typeface="Roboto" pitchFamily="34" charset="-120"/>
              </a:rPr>
              <a:t>LA MISMA PERSONA, 10 VECES</a:t>
            </a:r>
            <a:endParaRPr lang="es-ES_tradnl" sz="1200" noProof="0" dirty="0"/>
          </a:p>
        </p:txBody>
      </p:sp>
      <p:sp>
        <p:nvSpPr>
          <p:cNvPr id="23" name="Text 19"/>
          <p:cNvSpPr/>
          <p:nvPr/>
        </p:nvSpPr>
        <p:spPr>
          <a:xfrm>
            <a:off x="8178800" y="3055541"/>
            <a:ext cx="3087116" cy="238720"/>
          </a:xfrm>
          <a:prstGeom prst="rect">
            <a:avLst/>
          </a:prstGeom>
          <a:noFill/>
          <a:ln/>
        </p:spPr>
        <p:txBody>
          <a:bodyPr wrap="square" lIns="0" tIns="0" rIns="0" bIns="0" rtlCol="0" anchor="t">
            <a:normAutofit/>
          </a:bodyPr>
          <a:lstStyle/>
          <a:p>
            <a:pPr marL="0" indent="0" algn="l">
              <a:lnSpc>
                <a:spcPts val="1680"/>
              </a:lnSpc>
              <a:buNone/>
            </a:pPr>
            <a:r>
              <a:rPr lang="es-ES_tradnl" sz="1200" noProof="0" dirty="0">
                <a:solidFill>
                  <a:srgbClr val="F7F7F5"/>
                </a:solidFill>
                <a:latin typeface="Roboto" pitchFamily="34" charset="0"/>
                <a:ea typeface="Roboto" pitchFamily="34" charset="-122"/>
                <a:cs typeface="Roboto" pitchFamily="34" charset="-120"/>
              </a:rPr>
              <a:t>10 resultados «+»</a:t>
            </a:r>
            <a:endParaRPr lang="es-ES_tradnl" sz="1200" noProof="0" dirty="0"/>
          </a:p>
        </p:txBody>
      </p:sp>
      <p:sp>
        <p:nvSpPr>
          <p:cNvPr id="24" name="Text 20"/>
          <p:cNvSpPr/>
          <p:nvPr/>
        </p:nvSpPr>
        <p:spPr>
          <a:xfrm>
            <a:off x="8178800" y="3332361"/>
            <a:ext cx="3087116" cy="665460"/>
          </a:xfrm>
          <a:prstGeom prst="rect">
            <a:avLst/>
          </a:prstGeom>
          <a:noFill/>
          <a:ln/>
        </p:spPr>
        <p:txBody>
          <a:bodyPr wrap="square" lIns="0" tIns="0" rIns="0" bIns="0" rtlCol="0" anchor="t">
            <a:normAutofit/>
          </a:bodyPr>
          <a:lstStyle/>
          <a:p>
            <a:pPr marL="0" indent="0" algn="l">
              <a:lnSpc>
                <a:spcPts val="5040"/>
              </a:lnSpc>
              <a:buNone/>
            </a:pPr>
            <a:r>
              <a:rPr lang="es-ES_tradnl" sz="4800" b="1" kern="0" spc="-100" noProof="0" dirty="0">
                <a:solidFill>
                  <a:srgbClr val="FFEE00"/>
                </a:solidFill>
                <a:latin typeface="DM Sans" pitchFamily="34" charset="0"/>
                <a:ea typeface="DM Sans" pitchFamily="34" charset="-122"/>
                <a:cs typeface="DM Sans" pitchFamily="34" charset="-120"/>
              </a:rPr>
              <a:t>≈ 59 000</a:t>
            </a:r>
            <a:endParaRPr lang="es-ES_tradnl" sz="4800" noProof="0" dirty="0"/>
          </a:p>
        </p:txBody>
      </p:sp>
      <p:sp>
        <p:nvSpPr>
          <p:cNvPr id="25" name="Text 21"/>
          <p:cNvSpPr/>
          <p:nvPr/>
        </p:nvSpPr>
        <p:spPr>
          <a:xfrm>
            <a:off x="8178800" y="4035921"/>
            <a:ext cx="3087116" cy="452041"/>
          </a:xfrm>
          <a:prstGeom prst="rect">
            <a:avLst/>
          </a:prstGeom>
          <a:noFill/>
          <a:ln/>
        </p:spPr>
        <p:txBody>
          <a:bodyPr wrap="square" lIns="0" tIns="0" rIns="0" bIns="0" rtlCol="0" anchor="t">
            <a:normAutofit/>
          </a:bodyPr>
          <a:lstStyle/>
          <a:p>
            <a:pPr marL="0" indent="0" algn="l">
              <a:lnSpc>
                <a:spcPts val="1680"/>
              </a:lnSpc>
              <a:buNone/>
            </a:pPr>
            <a:r>
              <a:rPr lang="es-ES_tradnl" sz="1200" noProof="0" dirty="0">
                <a:solidFill>
                  <a:srgbClr val="D4D4D0"/>
                </a:solidFill>
                <a:latin typeface="Roboto" pitchFamily="34" charset="0"/>
                <a:ea typeface="Roboto" pitchFamily="34" charset="-122"/>
                <a:cs typeface="Roboto" pitchFamily="34" charset="-120"/>
              </a:rPr>
              <a:t>3¹⁰: queda prácticamente seguro. Equivale a </a:t>
            </a:r>
            <a:r>
              <a:rPr lang="es-ES_tradnl" sz="1200" noProof="0" dirty="0" err="1">
                <a:solidFill>
                  <a:srgbClr val="D4D4D0"/>
                </a:solidFill>
                <a:latin typeface="Roboto" pitchFamily="34" charset="0"/>
                <a:ea typeface="Roboto" pitchFamily="34" charset="-122"/>
                <a:cs typeface="Roboto" pitchFamily="34" charset="-120"/>
              </a:rPr>
              <a:t>ε</a:t>
            </a:r>
            <a:r>
              <a:rPr lang="es-ES_tradnl" sz="1200" noProof="0" dirty="0">
                <a:solidFill>
                  <a:srgbClr val="D4D4D0"/>
                </a:solidFill>
                <a:latin typeface="Roboto" pitchFamily="34" charset="0"/>
                <a:ea typeface="Roboto" pitchFamily="34" charset="-122"/>
                <a:cs typeface="Roboto" pitchFamily="34" charset="-120"/>
              </a:rPr>
              <a:t> total = 10·ln 3 ≈ 11 (Teorema 4).</a:t>
            </a:r>
            <a:endParaRPr lang="es-ES_tradnl" sz="1200" noProof="0" dirty="0"/>
          </a:p>
        </p:txBody>
      </p:sp>
      <p:sp>
        <p:nvSpPr>
          <p:cNvPr id="26" name="Shape 22"/>
          <p:cNvSpPr/>
          <p:nvPr/>
        </p:nvSpPr>
        <p:spPr>
          <a:xfrm>
            <a:off x="838200" y="4894362"/>
            <a:ext cx="0" cy="497681"/>
          </a:xfrm>
          <a:prstGeom prst="line">
            <a:avLst/>
          </a:prstGeom>
          <a:noFill/>
          <a:ln w="50800">
            <a:solidFill>
              <a:srgbClr val="FFEE00"/>
            </a:solidFill>
            <a:prstDash val="solid"/>
          </a:ln>
        </p:spPr>
        <p:txBody>
          <a:bodyPr/>
          <a:lstStyle/>
          <a:p>
            <a:endParaRPr lang="es-ES_tradnl" noProof="0" dirty="0"/>
          </a:p>
        </p:txBody>
      </p:sp>
      <p:sp>
        <p:nvSpPr>
          <p:cNvPr id="27" name="Text 23"/>
          <p:cNvSpPr/>
          <p:nvPr/>
        </p:nvSpPr>
        <p:spPr>
          <a:xfrm>
            <a:off x="990600" y="4894362"/>
            <a:ext cx="10700258" cy="523081"/>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Un resultado multiplica las </a:t>
            </a:r>
            <a:r>
              <a:rPr lang="es-ES_tradnl" sz="1400" noProof="0" dirty="0" err="1">
                <a:solidFill>
                  <a:srgbClr val="3C3C3B"/>
                </a:solidFill>
                <a:latin typeface="Roboto" pitchFamily="34" charset="0"/>
                <a:ea typeface="Roboto" pitchFamily="34" charset="-122"/>
                <a:cs typeface="Roboto" pitchFamily="34" charset="-120"/>
              </a:rPr>
              <a:t>odds</a:t>
            </a:r>
            <a:r>
              <a:rPr lang="es-ES_tradnl" sz="1400" noProof="0" dirty="0">
                <a:solidFill>
                  <a:srgbClr val="3C3C3B"/>
                </a:solidFill>
                <a:latin typeface="Roboto" pitchFamily="34" charset="0"/>
                <a:ea typeface="Roboto" pitchFamily="34" charset="-122"/>
                <a:cs typeface="Roboto" pitchFamily="34" charset="-120"/>
              </a:rPr>
              <a:t> como máximo por 3, sepa lo que sepa el atacante. </a:t>
            </a:r>
            <a:r>
              <a:rPr lang="es-ES_tradnl" sz="1400" b="1" noProof="0" dirty="0">
                <a:solidFill>
                  <a:srgbClr val="3C3C3B"/>
                </a:solidFill>
                <a:latin typeface="Roboto" pitchFamily="34" charset="0"/>
                <a:ea typeface="Roboto" pitchFamily="34" charset="-122"/>
                <a:cs typeface="Roboto" pitchFamily="34" charset="-120"/>
              </a:rPr>
              <a:t>Lo que rompe la garantía es medir varias veces a la misma persona:</a:t>
            </a:r>
            <a:r>
              <a:rPr lang="es-ES_tradnl" sz="1400" noProof="0" dirty="0">
                <a:solidFill>
                  <a:srgbClr val="3C3C3B"/>
                </a:solidFill>
                <a:latin typeface="Roboto" pitchFamily="34" charset="0"/>
                <a:ea typeface="Roboto" pitchFamily="34" charset="-122"/>
                <a:cs typeface="Roboto" pitchFamily="34" charset="-120"/>
              </a:rPr>
              <a:t> cada lectura vuelve a multiplicar.</a:t>
            </a:r>
            <a:endParaRPr lang="es-ES_tradnl" sz="1400" noProof="0" dirty="0"/>
          </a:p>
        </p:txBody>
      </p:sp>
      <p:sp>
        <p:nvSpPr>
          <p:cNvPr id="29" name="Text 25"/>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a:solidFill>
                  <a:srgbClr val="1D1D1B"/>
                </a:solidFill>
                <a:latin typeface="Roboto" pitchFamily="34" charset="0"/>
                <a:ea typeface="Roboto" pitchFamily="34" charset="-122"/>
                <a:cs typeface="Roboto" pitchFamily="34" charset="-120"/>
              </a:rPr>
              <a:t>22</a:t>
            </a:r>
            <a:endParaRPr lang="es-ES_tradnl" sz="1200" noProof="0" dirty="0"/>
          </a:p>
        </p:txBody>
      </p:sp>
    </p:spTree>
    <p:extLst>
      <p:ext uri="{BB962C8B-B14F-4D97-AF65-F5344CB8AC3E}">
        <p14:creationId xmlns:p14="http://schemas.microsoft.com/office/powerpoint/2010/main" val="108723665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s-ES_tradnl" noProof="0" dirty="0"/>
          </a:p>
        </p:txBody>
      </p:sp>
      <p:sp>
        <p:nvSpPr>
          <p:cNvPr id="3" name="Shape 1"/>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dirty="0">
                <a:solidFill>
                  <a:srgbClr val="1D1D1B"/>
                </a:solidFill>
                <a:latin typeface="DM Sans" pitchFamily="34" charset="0"/>
                <a:ea typeface="DM Sans" pitchFamily="34" charset="-122"/>
                <a:cs typeface="DM Sans" pitchFamily="34" charset="-120"/>
              </a:rPr>
              <a:t>II</a:t>
            </a:r>
            <a:endParaRPr lang="es-ES_tradnl" sz="1200" noProof="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dirty="0">
                <a:solidFill>
                  <a:srgbClr val="6E6E6C"/>
                </a:solidFill>
                <a:latin typeface="Roboto" pitchFamily="34" charset="0"/>
                <a:ea typeface="Roboto" pitchFamily="34" charset="-122"/>
                <a:cs typeface="Roboto" pitchFamily="34" charset="-120"/>
              </a:rPr>
              <a:t>DÓNDE ESTÁ LA PRIVACIDAD</a:t>
            </a:r>
            <a:endParaRPr lang="es-ES_tradnl" sz="1200" noProof="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s-ES_tradnl" sz="2800" b="1" i="0" kern="0" spc="-50" noProof="0" dirty="0">
                <a:solidFill>
                  <a:srgbClr val="1D1D1B"/>
                </a:solidFill>
                <a:latin typeface="DM Sans" pitchFamily="34" charset="0"/>
                <a:ea typeface="DM Sans" pitchFamily="34" charset="-122"/>
                <a:cs typeface="DM Sans" pitchFamily="34" charset="-120"/>
              </a:rPr>
              <a:t>Una persona 10 veces contra 1000 personas una vez</a:t>
            </a:r>
            <a:endParaRPr lang="es-ES_tradnl" sz="2800" noProof="0" dirty="0"/>
          </a:p>
        </p:txBody>
      </p:sp>
      <p:sp>
        <p:nvSpPr>
          <p:cNvPr id="8" name="Text 5"/>
          <p:cNvSpPr/>
          <p:nvPr/>
        </p:nvSpPr>
        <p:spPr>
          <a:xfrm>
            <a:off x="812800" y="1305520"/>
            <a:ext cx="10883392" cy="322560"/>
          </a:xfrm>
          <a:prstGeom prst="rect">
            <a:avLst/>
          </a:prstGeom>
          <a:noFill/>
          <a:ln/>
        </p:spPr>
        <p:txBody>
          <a:bodyPr wrap="square" lIns="0" tIns="0" rIns="0" bIns="0" rtlCol="0" anchor="t">
            <a:normAutofit/>
          </a:bodyPr>
          <a:lstStyle/>
          <a:p>
            <a:pPr marL="0" indent="0" algn="l">
              <a:lnSpc>
                <a:spcPts val="2340"/>
              </a:lnSpc>
              <a:buNone/>
            </a:pPr>
            <a:r>
              <a:rPr lang="es-ES_tradnl" sz="1800" noProof="0" dirty="0">
                <a:solidFill>
                  <a:srgbClr val="3C3C3B"/>
                </a:solidFill>
                <a:latin typeface="Roboto" pitchFamily="34" charset="0"/>
                <a:ea typeface="Roboto" pitchFamily="34" charset="-122"/>
                <a:cs typeface="Roboto" pitchFamily="34" charset="-120"/>
              </a:rPr>
              <a:t>Medir a personas distintas una vez cada una no rompe la garantía.</a:t>
            </a:r>
            <a:endParaRPr lang="es-ES_tradnl" sz="1800" noProof="0" dirty="0"/>
          </a:p>
        </p:txBody>
      </p:sp>
      <p:graphicFrame>
        <p:nvGraphicFramePr>
          <p:cNvPr id="9" name="Table 0"/>
          <p:cNvGraphicFramePr>
            <a:graphicFrameLocks noGrp="1"/>
          </p:cNvGraphicFramePr>
          <p:nvPr/>
        </p:nvGraphicFramePr>
        <p:xfrm>
          <a:off x="825500" y="1843980"/>
          <a:ext cx="10553700" cy="2353250"/>
        </p:xfrm>
        <a:graphic>
          <a:graphicData uri="http://schemas.openxmlformats.org/drawingml/2006/table">
            <a:tbl>
              <a:tblPr/>
              <a:tblGrid>
                <a:gridCol w="3166110">
                  <a:extLst>
                    <a:ext uri="{9D8B030D-6E8A-4147-A177-3AD203B41FA5}">
                      <a16:colId xmlns:a16="http://schemas.microsoft.com/office/drawing/2014/main" val="20000"/>
                    </a:ext>
                  </a:extLst>
                </a:gridCol>
                <a:gridCol w="3693795">
                  <a:extLst>
                    <a:ext uri="{9D8B030D-6E8A-4147-A177-3AD203B41FA5}">
                      <a16:colId xmlns:a16="http://schemas.microsoft.com/office/drawing/2014/main" val="20001"/>
                    </a:ext>
                  </a:extLst>
                </a:gridCol>
                <a:gridCol w="3693795">
                  <a:extLst>
                    <a:ext uri="{9D8B030D-6E8A-4147-A177-3AD203B41FA5}">
                      <a16:colId xmlns:a16="http://schemas.microsoft.com/office/drawing/2014/main" val="20002"/>
                    </a:ext>
                  </a:extLst>
                </a:gridCol>
              </a:tblGrid>
              <a:tr h="359271">
                <a:tc>
                  <a:txBody>
                    <a:bodyPr/>
                    <a:lstStyle/>
                    <a:p>
                      <a:pPr marL="0" indent="0">
                        <a:lnSpc>
                          <a:spcPts val="1820"/>
                        </a:lnSpc>
                        <a:buNone/>
                      </a:pP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333332"/>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333332"/>
                      </a:solidFill>
                      <a:prstDash val="solid"/>
                      <a:round/>
                      <a:headEnd type="none" w="med" len="med"/>
                      <a:tailEnd type="none" w="med" len="med"/>
                    </a:lnB>
                    <a:solidFill>
                      <a:srgbClr val="3C3C3B"/>
                    </a:solidFill>
                  </a:tcPr>
                </a:tc>
                <a:tc>
                  <a:txBody>
                    <a:bodyPr/>
                    <a:lstStyle/>
                    <a:p>
                      <a:pPr marL="0" indent="0">
                        <a:lnSpc>
                          <a:spcPts val="1820"/>
                        </a:lnSpc>
                        <a:buNone/>
                      </a:pPr>
                      <a:r>
                        <a:rPr lang="es-ES_tradnl" sz="1300" b="1" noProof="0" dirty="0">
                          <a:solidFill>
                            <a:srgbClr val="FFFFFF"/>
                          </a:solidFill>
                          <a:latin typeface="Roboto" pitchFamily="34" charset="0"/>
                          <a:ea typeface="Roboto" pitchFamily="34" charset="-122"/>
                          <a:cs typeface="Roboto" pitchFamily="34" charset="-120"/>
                        </a:rPr>
                        <a:t>La misma persona, 10 veces</a:t>
                      </a:r>
                      <a:endParaRPr lang="es-ES_tradnl" sz="1300" noProof="0" dirty="0">
                        <a:latin typeface="Roboto" charset="0"/>
                        <a:ea typeface="Roboto" charset="0"/>
                        <a:cs typeface="Roboto" charset="0"/>
                      </a:endParaRPr>
                    </a:p>
                  </a:txBody>
                  <a:tcPr marL="57785" marR="57785" marT="57785" marB="57785">
                    <a:lnL w="12700" cap="flat" cmpd="sng" algn="ctr">
                      <a:solidFill>
                        <a:srgbClr val="333332"/>
                      </a:solidFill>
                      <a:prstDash val="solid"/>
                      <a:round/>
                      <a:headEnd type="none" w="med" len="med"/>
                      <a:tailEnd type="none" w="med" len="med"/>
                    </a:lnL>
                    <a:lnR w="12700" cap="flat" cmpd="sng" algn="ctr">
                      <a:solidFill>
                        <a:srgbClr val="333332"/>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333332"/>
                      </a:solidFill>
                      <a:prstDash val="solid"/>
                      <a:round/>
                      <a:headEnd type="none" w="med" len="med"/>
                      <a:tailEnd type="none" w="med" len="med"/>
                    </a:lnB>
                    <a:solidFill>
                      <a:srgbClr val="3C3C3B"/>
                    </a:solidFill>
                  </a:tcPr>
                </a:tc>
                <a:tc>
                  <a:txBody>
                    <a:bodyPr/>
                    <a:lstStyle/>
                    <a:p>
                      <a:pPr marL="0" indent="0">
                        <a:lnSpc>
                          <a:spcPts val="1820"/>
                        </a:lnSpc>
                        <a:buNone/>
                      </a:pPr>
                      <a:r>
                        <a:rPr lang="es-ES_tradnl" sz="1300" b="1" noProof="0" dirty="0">
                          <a:solidFill>
                            <a:srgbClr val="FFFFFF"/>
                          </a:solidFill>
                          <a:latin typeface="Roboto" pitchFamily="34" charset="0"/>
                          <a:ea typeface="Roboto" pitchFamily="34" charset="-122"/>
                          <a:cs typeface="Roboto" pitchFamily="34" charset="-120"/>
                        </a:rPr>
                        <a:t>1000 personas, una vez cada una</a:t>
                      </a:r>
                      <a:endParaRPr lang="es-ES_tradnl" sz="1300" noProof="0" dirty="0">
                        <a:latin typeface="Roboto" charset="0"/>
                        <a:ea typeface="Roboto" charset="0"/>
                        <a:cs typeface="Roboto" charset="0"/>
                      </a:endParaRPr>
                    </a:p>
                  </a:txBody>
                  <a:tcPr marL="57785" marR="57785" marT="57785" marB="57785">
                    <a:lnL w="12700" cap="flat" cmpd="sng" algn="ctr">
                      <a:solidFill>
                        <a:srgbClr val="333332"/>
                      </a:solidFill>
                      <a:prstDash val="solid"/>
                      <a:round/>
                      <a:headEnd type="none" w="med" len="med"/>
                      <a:tailEnd type="none" w="med" len="med"/>
                    </a:lnL>
                    <a:lnR w="12700" cap="flat" cmpd="sng" algn="ctr">
                      <a:solidFill>
                        <a:srgbClr val="333332"/>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333332"/>
                      </a:solidFill>
                      <a:prstDash val="solid"/>
                      <a:round/>
                      <a:headEnd type="none" w="med" len="med"/>
                      <a:tailEnd type="none" w="med" len="med"/>
                    </a:lnB>
                    <a:solidFill>
                      <a:srgbClr val="3C3C3B"/>
                    </a:solidFill>
                  </a:tcPr>
                </a:tc>
                <a:extLst>
                  <a:ext uri="{0D108BD9-81ED-4DB2-BD59-A6C34878D82A}">
                    <a16:rowId xmlns:a16="http://schemas.microsoft.com/office/drawing/2014/main" val="10000"/>
                  </a:ext>
                </a:extLst>
              </a:tr>
              <a:tr h="359271">
                <a:tc>
                  <a:txBody>
                    <a:bodyPr/>
                    <a:lstStyle/>
                    <a:p>
                      <a:pPr marL="0" indent="0">
                        <a:lnSpc>
                          <a:spcPts val="1820"/>
                        </a:lnSpc>
                        <a:buNone/>
                      </a:pPr>
                      <a:r>
                        <a:rPr lang="es-ES_tradnl" sz="1300" noProof="0" dirty="0">
                          <a:solidFill>
                            <a:srgbClr val="1D1D1B"/>
                          </a:solidFill>
                          <a:latin typeface="Roboto" pitchFamily="34" charset="0"/>
                          <a:ea typeface="Roboto" pitchFamily="34" charset="-122"/>
                          <a:cs typeface="Roboto" pitchFamily="34" charset="-120"/>
                        </a:rPr>
                        <a:t>¿Qué monedas (Bernoulli) se tiran?</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333332"/>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820"/>
                        </a:lnSpc>
                        <a:buNone/>
                      </a:pPr>
                      <a:r>
                        <a:rPr lang="es-ES_tradnl" sz="1300" noProof="0" dirty="0">
                          <a:solidFill>
                            <a:srgbClr val="3C3C3B"/>
                          </a:solidFill>
                          <a:latin typeface="Roboto" pitchFamily="34" charset="0"/>
                          <a:ea typeface="Roboto" pitchFamily="34" charset="-122"/>
                          <a:cs typeface="Roboto" pitchFamily="34" charset="-120"/>
                        </a:rPr>
                        <a:t>la misma moneda P_A, 10 veces</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333332"/>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820"/>
                        </a:lnSpc>
                        <a:buNone/>
                      </a:pPr>
                      <a:r>
                        <a:rPr lang="es-ES_tradnl" sz="1300" noProof="0" dirty="0">
                          <a:solidFill>
                            <a:srgbClr val="3C3C3B"/>
                          </a:solidFill>
                          <a:latin typeface="Roboto" pitchFamily="34" charset="0"/>
                          <a:ea typeface="Roboto" pitchFamily="34" charset="-122"/>
                          <a:cs typeface="Roboto" pitchFamily="34" charset="-120"/>
                        </a:rPr>
                        <a:t>1000 monedas distintas (una P_i por persona), una vez cada una</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333332"/>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extLst>
                  <a:ext uri="{0D108BD9-81ED-4DB2-BD59-A6C34878D82A}">
                    <a16:rowId xmlns:a16="http://schemas.microsoft.com/office/drawing/2014/main" val="10099"/>
                  </a:ext>
                </a:extLst>
              </a:tr>
              <a:tr h="359271">
                <a:tc>
                  <a:txBody>
                    <a:bodyPr/>
                    <a:lstStyle/>
                    <a:p>
                      <a:pPr marL="0" indent="0">
                        <a:lnSpc>
                          <a:spcPts val="1820"/>
                        </a:lnSpc>
                        <a:buNone/>
                      </a:pPr>
                      <a:r>
                        <a:rPr lang="es-ES_tradnl" sz="1300" noProof="0" dirty="0">
                          <a:solidFill>
                            <a:srgbClr val="1D1D1B"/>
                          </a:solidFill>
                          <a:latin typeface="Roboto" pitchFamily="34" charset="0"/>
                          <a:ea typeface="Roboto" pitchFamily="34" charset="-122"/>
                          <a:cs typeface="Roboto" pitchFamily="34" charset="-120"/>
                        </a:rPr>
                        <a:t>Resultados que dependen de A</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820"/>
                        </a:lnSpc>
                        <a:buNone/>
                      </a:pPr>
                      <a:r>
                        <a:rPr lang="es-ES_tradnl" sz="1300" noProof="0" dirty="0">
                          <a:solidFill>
                            <a:srgbClr val="3C3C3B"/>
                          </a:solidFill>
                          <a:latin typeface="Roboto" pitchFamily="34" charset="0"/>
                          <a:ea typeface="Roboto" pitchFamily="34" charset="-122"/>
                          <a:cs typeface="Roboto" pitchFamily="34" charset="-120"/>
                        </a:rPr>
                        <a:t>10</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820"/>
                        </a:lnSpc>
                        <a:buNone/>
                      </a:pPr>
                      <a:r>
                        <a:rPr lang="es-ES_tradnl" sz="1300" noProof="0" dirty="0">
                          <a:solidFill>
                            <a:srgbClr val="3C3C3B"/>
                          </a:solidFill>
                          <a:latin typeface="Roboto" pitchFamily="34" charset="0"/>
                          <a:ea typeface="Roboto" pitchFamily="34" charset="-122"/>
                          <a:cs typeface="Roboto" pitchFamily="34" charset="-120"/>
                        </a:rPr>
                        <a:t>1</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extLst>
                  <a:ext uri="{0D108BD9-81ED-4DB2-BD59-A6C34878D82A}">
                    <a16:rowId xmlns:a16="http://schemas.microsoft.com/office/drawing/2014/main" val="10001"/>
                  </a:ext>
                </a:extLst>
              </a:tr>
              <a:tr h="359271">
                <a:tc>
                  <a:txBody>
                    <a:bodyPr/>
                    <a:lstStyle/>
                    <a:p>
                      <a:pPr marL="0" indent="0">
                        <a:lnSpc>
                          <a:spcPts val="1820"/>
                        </a:lnSpc>
                        <a:buNone/>
                      </a:pPr>
                      <a:r>
                        <a:rPr lang="es-ES_tradnl" sz="1300" noProof="0" dirty="0" err="1">
                          <a:solidFill>
                            <a:srgbClr val="1D1D1B"/>
                          </a:solidFill>
                          <a:latin typeface="Roboto" pitchFamily="34" charset="0"/>
                          <a:ea typeface="Roboto" pitchFamily="34" charset="-122"/>
                          <a:cs typeface="Roboto" pitchFamily="34" charset="-120"/>
                        </a:rPr>
                        <a:t>ε</a:t>
                      </a:r>
                      <a:r>
                        <a:rPr lang="es-ES_tradnl" sz="1300" noProof="0" dirty="0">
                          <a:solidFill>
                            <a:srgbClr val="1D1D1B"/>
                          </a:solidFill>
                          <a:latin typeface="Roboto" pitchFamily="34" charset="0"/>
                          <a:ea typeface="Roboto" pitchFamily="34" charset="-122"/>
                          <a:cs typeface="Roboto" pitchFamily="34" charset="-120"/>
                        </a:rPr>
                        <a:t> sobre A</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nSpc>
                          <a:spcPts val="1820"/>
                        </a:lnSpc>
                        <a:buNone/>
                      </a:pPr>
                      <a:r>
                        <a:rPr lang="es-ES_tradnl" sz="1300" noProof="0" dirty="0">
                          <a:solidFill>
                            <a:srgbClr val="3C3C3B"/>
                          </a:solidFill>
                          <a:latin typeface="Roboto" pitchFamily="34" charset="0"/>
                          <a:ea typeface="Roboto" pitchFamily="34" charset="-122"/>
                          <a:cs typeface="Roboto" pitchFamily="34" charset="-120"/>
                        </a:rPr>
                        <a:t>10·ln 3 ≈ 11 (composición, Teorema 4)</a:t>
                      </a:r>
                      <a:endParaRPr lang="es-ES_tradnl" sz="1300" noProof="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nSpc>
                          <a:spcPts val="1820"/>
                        </a:lnSpc>
                        <a:buNone/>
                      </a:pPr>
                      <a:r>
                        <a:rPr lang="es-ES_tradnl" sz="1300" noProof="0" dirty="0" err="1">
                          <a:solidFill>
                            <a:srgbClr val="3C3C3B"/>
                          </a:solidFill>
                          <a:latin typeface="Roboto" pitchFamily="34" charset="0"/>
                          <a:ea typeface="Roboto" pitchFamily="34" charset="-122"/>
                          <a:cs typeface="Roboto" pitchFamily="34" charset="-120"/>
                        </a:rPr>
                        <a:t>ln</a:t>
                      </a:r>
                      <a:r>
                        <a:rPr lang="es-ES_tradnl" sz="1300" noProof="0" dirty="0">
                          <a:solidFill>
                            <a:srgbClr val="3C3C3B"/>
                          </a:solidFill>
                          <a:latin typeface="Roboto" pitchFamily="34" charset="0"/>
                          <a:ea typeface="Roboto" pitchFamily="34" charset="-122"/>
                          <a:cs typeface="Roboto" pitchFamily="34" charset="-120"/>
                        </a:rPr>
                        <a:t> 3 ≈ 1.10 (composición paralela)</a:t>
                      </a:r>
                      <a:endParaRPr lang="es-ES_tradnl" sz="1300" noProof="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extLst>
                  <a:ext uri="{0D108BD9-81ED-4DB2-BD59-A6C34878D82A}">
                    <a16:rowId xmlns:a16="http://schemas.microsoft.com/office/drawing/2014/main" val="10002"/>
                  </a:ext>
                </a:extLst>
              </a:tr>
              <a:tr h="359271">
                <a:tc>
                  <a:txBody>
                    <a:bodyPr/>
                    <a:lstStyle/>
                    <a:p>
                      <a:pPr marL="0" indent="0">
                        <a:lnSpc>
                          <a:spcPts val="1820"/>
                        </a:lnSpc>
                        <a:buNone/>
                      </a:pPr>
                      <a:r>
                        <a:rPr lang="es-ES_tradnl" sz="1300" noProof="0" dirty="0">
                          <a:solidFill>
                            <a:srgbClr val="1D1D1B"/>
                          </a:solidFill>
                          <a:latin typeface="Roboto" pitchFamily="34" charset="0"/>
                          <a:ea typeface="Roboto" pitchFamily="34" charset="-122"/>
                          <a:cs typeface="Roboto" pitchFamily="34" charset="-120"/>
                        </a:rPr>
                        <a:t>¿Qué aprende el atacante?</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3C1"/>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820"/>
                        </a:lnSpc>
                        <a:buNone/>
                      </a:pPr>
                      <a:r>
                        <a:rPr lang="es-ES_tradnl" sz="1300" noProof="0" dirty="0">
                          <a:solidFill>
                            <a:srgbClr val="3C3C3B"/>
                          </a:solidFill>
                          <a:latin typeface="Roboto" pitchFamily="34" charset="0"/>
                          <a:ea typeface="Roboto" pitchFamily="34" charset="-122"/>
                          <a:cs typeface="Roboto" pitchFamily="34" charset="-120"/>
                        </a:rPr>
                        <a:t>la categoría de A, casi con certeza</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3C1"/>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820"/>
                        </a:lnSpc>
                        <a:buNone/>
                      </a:pPr>
                      <a:r>
                        <a:rPr lang="es-ES_tradnl" sz="1300" noProof="0" dirty="0">
                          <a:solidFill>
                            <a:srgbClr val="3C3C3B"/>
                          </a:solidFill>
                          <a:latin typeface="Roboto" pitchFamily="34" charset="0"/>
                          <a:ea typeface="Roboto" pitchFamily="34" charset="-122"/>
                          <a:cs typeface="Roboto" pitchFamily="34" charset="-120"/>
                        </a:rPr>
                        <a:t>un factor 3 como máximo</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3C1"/>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extLst>
                  <a:ext uri="{0D108BD9-81ED-4DB2-BD59-A6C34878D82A}">
                    <a16:rowId xmlns:a16="http://schemas.microsoft.com/office/drawing/2014/main" val="10003"/>
                  </a:ext>
                </a:extLst>
              </a:tr>
              <a:tr h="359271">
                <a:tc>
                  <a:txBody>
                    <a:bodyPr/>
                    <a:lstStyle/>
                    <a:p>
                      <a:pPr marL="0" indent="0">
                        <a:lnSpc>
                          <a:spcPts val="1820"/>
                        </a:lnSpc>
                        <a:buNone/>
                      </a:pPr>
                      <a:r>
                        <a:rPr lang="es-ES_tradnl" sz="1300" noProof="0" dirty="0">
                          <a:solidFill>
                            <a:srgbClr val="1D1D1B"/>
                          </a:solidFill>
                          <a:latin typeface="Roboto" pitchFamily="34" charset="0"/>
                          <a:ea typeface="Roboto" pitchFamily="34" charset="-122"/>
                          <a:cs typeface="Roboto" pitchFamily="34" charset="-120"/>
                        </a:rPr>
                        <a:t>¿Qué aprende el analista?</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nSpc>
                          <a:spcPts val="1820"/>
                        </a:lnSpc>
                        <a:buNone/>
                      </a:pPr>
                      <a:r>
                        <a:rPr lang="es-ES_tradnl" sz="1300" noProof="0" dirty="0">
                          <a:solidFill>
                            <a:srgbClr val="3C3C3B"/>
                          </a:solidFill>
                          <a:latin typeface="Roboto" pitchFamily="34" charset="0"/>
                          <a:ea typeface="Roboto" pitchFamily="34" charset="-122"/>
                          <a:cs typeface="Roboto" pitchFamily="34" charset="-120"/>
                        </a:rPr>
                        <a:t>—</a:t>
                      </a:r>
                      <a:endParaRPr lang="es-ES_tradnl" sz="1300" noProof="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nSpc>
                          <a:spcPts val="1820"/>
                        </a:lnSpc>
                        <a:buNone/>
                      </a:pPr>
                      <a:r>
                        <a:rPr lang="es-ES_tradnl" sz="1300" noProof="0" dirty="0">
                          <a:solidFill>
                            <a:srgbClr val="3C3C3B"/>
                          </a:solidFill>
                          <a:latin typeface="Roboto" pitchFamily="34" charset="0"/>
                          <a:ea typeface="Roboto" pitchFamily="34" charset="-122"/>
                          <a:cs typeface="Roboto" pitchFamily="34" charset="-120"/>
                        </a:rPr>
                        <a:t>la estadística de la población (F̂), std ≈ 0.029</a:t>
                      </a:r>
                      <a:endParaRPr lang="es-ES_tradnl" sz="1300" noProof="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extLst>
                  <a:ext uri="{0D108BD9-81ED-4DB2-BD59-A6C34878D82A}">
                    <a16:rowId xmlns:a16="http://schemas.microsoft.com/office/drawing/2014/main" val="10004"/>
                  </a:ext>
                </a:extLst>
              </a:tr>
            </a:tbl>
          </a:graphicData>
        </a:graphic>
      </p:graphicFrame>
      <p:sp>
        <p:nvSpPr>
          <p:cNvPr id="10" name="Shape 6"/>
          <p:cNvSpPr/>
          <p:nvPr/>
        </p:nvSpPr>
        <p:spPr>
          <a:xfrm>
            <a:off x="812800" y="4400429"/>
            <a:ext cx="5207000" cy="1272381"/>
          </a:xfrm>
          <a:prstGeom prst="roundRect">
            <a:avLst>
              <a:gd name="adj" fmla="val 7985"/>
            </a:avLst>
          </a:prstGeom>
          <a:solidFill>
            <a:srgbClr val="F4F4F2"/>
          </a:solidFill>
          <a:ln/>
        </p:spPr>
        <p:txBody>
          <a:bodyPr/>
          <a:lstStyle/>
          <a:p>
            <a:endParaRPr lang="es-ES_tradnl" noProof="0" dirty="0"/>
          </a:p>
        </p:txBody>
      </p:sp>
      <p:sp>
        <p:nvSpPr>
          <p:cNvPr id="11" name="Text 7"/>
          <p:cNvSpPr/>
          <p:nvPr/>
        </p:nvSpPr>
        <p:spPr>
          <a:xfrm>
            <a:off x="1016000" y="4578229"/>
            <a:ext cx="4944618" cy="238720"/>
          </a:xfrm>
          <a:prstGeom prst="rect">
            <a:avLst/>
          </a:prstGeom>
          <a:noFill/>
          <a:ln/>
        </p:spPr>
        <p:txBody>
          <a:bodyPr wrap="square" lIns="0" tIns="0" rIns="0" bIns="0" rtlCol="0" anchor="t">
            <a:normAutofit/>
          </a:bodyPr>
          <a:lstStyle/>
          <a:p>
            <a:pPr marL="0" indent="0" algn="l">
              <a:lnSpc>
                <a:spcPts val="1680"/>
              </a:lnSpc>
              <a:buNone/>
            </a:pPr>
            <a:r>
              <a:rPr lang="es-ES_tradnl" sz="1400" b="1" noProof="0" dirty="0">
                <a:solidFill>
                  <a:srgbClr val="1D1D1B"/>
                </a:solidFill>
                <a:latin typeface="DM Sans" pitchFamily="34" charset="0"/>
                <a:ea typeface="DM Sans" pitchFamily="34" charset="-122"/>
                <a:cs typeface="DM Sans" pitchFamily="34" charset="-120"/>
              </a:rPr>
              <a:t>Composición paralela</a:t>
            </a:r>
            <a:endParaRPr lang="es-ES_tradnl" sz="1400" noProof="0" dirty="0"/>
          </a:p>
        </p:txBody>
      </p:sp>
      <p:sp>
        <p:nvSpPr>
          <p:cNvPr id="12" name="Text 8"/>
          <p:cNvSpPr/>
          <p:nvPr/>
        </p:nvSpPr>
        <p:spPr>
          <a:xfrm>
            <a:off x="1016000" y="4855049"/>
            <a:ext cx="4944618" cy="665361"/>
          </a:xfrm>
          <a:prstGeom prst="rect">
            <a:avLst/>
          </a:prstGeom>
          <a:noFill/>
          <a:ln/>
        </p:spPr>
        <p:txBody>
          <a:bodyPr wrap="square" lIns="0" tIns="0" rIns="0" bIns="0" rtlCol="0" anchor="t">
            <a:normAutofit/>
          </a:bodyPr>
          <a:lstStyle/>
          <a:p>
            <a:pPr marL="0" indent="0" algn="l">
              <a:lnSpc>
                <a:spcPts val="1680"/>
              </a:lnSpc>
              <a:buNone/>
            </a:pPr>
            <a:r>
              <a:rPr lang="es-ES_tradnl" sz="1200" noProof="0" dirty="0">
                <a:solidFill>
                  <a:srgbClr val="3C3C3B"/>
                </a:solidFill>
                <a:latin typeface="Roboto" pitchFamily="34" charset="0"/>
                <a:ea typeface="Roboto" pitchFamily="34" charset="-122"/>
                <a:cs typeface="Roboto" pitchFamily="34" charset="-120"/>
              </a:rPr>
              <a:t>Mecanismos sobre datos disjuntos (uno por persona) no acumulan </a:t>
            </a:r>
            <a:r>
              <a:rPr lang="es-ES_tradnl" sz="1200" noProof="0" dirty="0" err="1">
                <a:solidFill>
                  <a:srgbClr val="3C3C3B"/>
                </a:solidFill>
                <a:latin typeface="Roboto" pitchFamily="34" charset="0"/>
                <a:ea typeface="Roboto" pitchFamily="34" charset="-122"/>
                <a:cs typeface="Roboto" pitchFamily="34" charset="-120"/>
              </a:rPr>
              <a:t>ε</a:t>
            </a:r>
            <a:r>
              <a:rPr lang="es-ES_tradnl" sz="1200" noProof="0" dirty="0">
                <a:solidFill>
                  <a:srgbClr val="3C3C3B"/>
                </a:solidFill>
                <a:latin typeface="Roboto" pitchFamily="34" charset="0"/>
                <a:ea typeface="Roboto" pitchFamily="34" charset="-122"/>
                <a:cs typeface="Roboto" pitchFamily="34" charset="-120"/>
              </a:rPr>
              <a:t>. Si se saca a A, cambia solo su resultado: los otros 999 no dependen de A.</a:t>
            </a:r>
            <a:endParaRPr lang="es-ES_tradnl" sz="1200" noProof="0" dirty="0"/>
          </a:p>
        </p:txBody>
      </p:sp>
      <p:sp>
        <p:nvSpPr>
          <p:cNvPr id="13" name="Shape 9"/>
          <p:cNvSpPr/>
          <p:nvPr/>
        </p:nvSpPr>
        <p:spPr>
          <a:xfrm>
            <a:off x="6172200" y="4400429"/>
            <a:ext cx="5207000" cy="1272381"/>
          </a:xfrm>
          <a:prstGeom prst="roundRect">
            <a:avLst>
              <a:gd name="adj" fmla="val 7985"/>
            </a:avLst>
          </a:prstGeom>
          <a:solidFill>
            <a:srgbClr val="F4F4F2"/>
          </a:solidFill>
          <a:ln/>
        </p:spPr>
        <p:txBody>
          <a:bodyPr/>
          <a:lstStyle/>
          <a:p>
            <a:endParaRPr lang="es-ES_tradnl" noProof="0" dirty="0"/>
          </a:p>
        </p:txBody>
      </p:sp>
      <p:sp>
        <p:nvSpPr>
          <p:cNvPr id="14" name="Text 10"/>
          <p:cNvSpPr/>
          <p:nvPr/>
        </p:nvSpPr>
        <p:spPr>
          <a:xfrm>
            <a:off x="6375400" y="4578229"/>
            <a:ext cx="4944618" cy="238720"/>
          </a:xfrm>
          <a:prstGeom prst="rect">
            <a:avLst/>
          </a:prstGeom>
          <a:noFill/>
          <a:ln/>
        </p:spPr>
        <p:txBody>
          <a:bodyPr wrap="square" lIns="0" tIns="0" rIns="0" bIns="0" rtlCol="0" anchor="t">
            <a:normAutofit/>
          </a:bodyPr>
          <a:lstStyle/>
          <a:p>
            <a:pPr marL="0" indent="0" algn="l">
              <a:lnSpc>
                <a:spcPts val="1680"/>
              </a:lnSpc>
              <a:buNone/>
            </a:pPr>
            <a:r>
              <a:rPr lang="es-ES_tradnl" sz="1400" b="1" noProof="0" dirty="0">
                <a:solidFill>
                  <a:srgbClr val="1D1D1B"/>
                </a:solidFill>
                <a:latin typeface="DM Sans" pitchFamily="34" charset="0"/>
                <a:ea typeface="DM Sans" pitchFamily="34" charset="-122"/>
                <a:cs typeface="DM Sans" pitchFamily="34" charset="-120"/>
              </a:rPr>
              <a:t>A en la población</a:t>
            </a:r>
            <a:endParaRPr lang="es-ES_tradnl" sz="1400" noProof="0" dirty="0"/>
          </a:p>
        </p:txBody>
      </p:sp>
      <p:sp>
        <p:nvSpPr>
          <p:cNvPr id="15" name="Text 11"/>
          <p:cNvSpPr/>
          <p:nvPr/>
        </p:nvSpPr>
        <p:spPr>
          <a:xfrm>
            <a:off x="6375400" y="4855049"/>
            <a:ext cx="4944618" cy="452041"/>
          </a:xfrm>
          <a:prstGeom prst="rect">
            <a:avLst/>
          </a:prstGeom>
          <a:noFill/>
          <a:ln/>
        </p:spPr>
        <p:txBody>
          <a:bodyPr wrap="square" lIns="0" tIns="0" rIns="0" bIns="0" rtlCol="0" anchor="t">
            <a:normAutofit/>
          </a:bodyPr>
          <a:lstStyle/>
          <a:p>
            <a:pPr marL="0" indent="0" algn="l">
              <a:lnSpc>
                <a:spcPts val="1680"/>
              </a:lnSpc>
              <a:buNone/>
            </a:pPr>
            <a:r>
              <a:rPr lang="es-ES_tradnl" sz="1200" noProof="0" dirty="0">
                <a:solidFill>
                  <a:srgbClr val="3C3C3B"/>
                </a:solidFill>
                <a:latin typeface="Roboto" pitchFamily="34" charset="0"/>
                <a:ea typeface="Roboto" pitchFamily="34" charset="-122"/>
                <a:cs typeface="Roboto" pitchFamily="34" charset="-120"/>
              </a:rPr>
              <a:t>A aporta 1/1000 = 0.001 a F, que queda enterrado en una dispersión de ≈ 0.015, la suma del azar de las 1000 monedas.</a:t>
            </a:r>
            <a:endParaRPr lang="es-ES_tradnl" sz="1200" noProof="0" dirty="0"/>
          </a:p>
        </p:txBody>
      </p:sp>
      <p:sp>
        <p:nvSpPr>
          <p:cNvPr id="17" name="Text 13"/>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a:solidFill>
                  <a:srgbClr val="1D1D1B"/>
                </a:solidFill>
                <a:latin typeface="Roboto" pitchFamily="34" charset="0"/>
                <a:ea typeface="Roboto" pitchFamily="34" charset="-122"/>
                <a:cs typeface="Roboto" pitchFamily="34" charset="-120"/>
              </a:rPr>
              <a:t>23</a:t>
            </a:r>
            <a:endParaRPr lang="es-ES_tradnl" sz="1200" noProof="0" dirty="0"/>
          </a:p>
        </p:txBody>
      </p:sp>
    </p:spTree>
    <p:extLst>
      <p:ext uri="{BB962C8B-B14F-4D97-AF65-F5344CB8AC3E}">
        <p14:creationId xmlns:p14="http://schemas.microsoft.com/office/powerpoint/2010/main" val="86360572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s-ES_tradnl" noProof="0" dirty="0"/>
          </a:p>
        </p:txBody>
      </p:sp>
      <p:sp>
        <p:nvSpPr>
          <p:cNvPr id="3" name="Shape 1"/>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dirty="0">
                <a:solidFill>
                  <a:srgbClr val="1D1D1B"/>
                </a:solidFill>
                <a:latin typeface="DM Sans" pitchFamily="34" charset="0"/>
                <a:ea typeface="DM Sans" pitchFamily="34" charset="-122"/>
                <a:cs typeface="DM Sans" pitchFamily="34" charset="-120"/>
              </a:rPr>
              <a:t>II</a:t>
            </a:r>
            <a:endParaRPr lang="es-ES_tradnl" sz="1200" noProof="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dirty="0">
                <a:solidFill>
                  <a:srgbClr val="6E6E6C"/>
                </a:solidFill>
                <a:latin typeface="Roboto" pitchFamily="34" charset="0"/>
                <a:ea typeface="Roboto" pitchFamily="34" charset="-122"/>
                <a:cs typeface="Roboto" pitchFamily="34" charset="-120"/>
              </a:rPr>
              <a:t>DÓNDE ESTÁ LA PRIVACIDAD</a:t>
            </a:r>
            <a:endParaRPr lang="es-ES_tradnl" sz="1200" noProof="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s-ES_tradnl" sz="2800" b="1" i="0" kern="0" spc="-50" noProof="0" dirty="0">
                <a:solidFill>
                  <a:srgbClr val="1D1D1B"/>
                </a:solidFill>
                <a:latin typeface="DM Sans" pitchFamily="34" charset="0"/>
                <a:ea typeface="DM Sans" pitchFamily="34" charset="-122"/>
                <a:cs typeface="DM Sans" pitchFamily="34" charset="-120"/>
              </a:rPr>
              <a:t>Con 1 </a:t>
            </a:r>
            <a:r>
              <a:rPr lang="es-ES_tradnl" sz="2800" b="1" i="0" kern="0" spc="-50" noProof="0" dirty="0" err="1">
                <a:solidFill>
                  <a:srgbClr val="1D1D1B"/>
                </a:solidFill>
                <a:latin typeface="DM Sans" pitchFamily="34" charset="0"/>
                <a:ea typeface="DM Sans" pitchFamily="34" charset="-122"/>
                <a:cs typeface="DM Sans" pitchFamily="34" charset="-120"/>
              </a:rPr>
              <a:t>qubit</a:t>
            </a:r>
            <a:r>
              <a:rPr lang="es-ES_tradnl" sz="2800" b="1" i="0" kern="0" spc="-50" noProof="0" dirty="0">
                <a:solidFill>
                  <a:srgbClr val="1D1D1B"/>
                </a:solidFill>
                <a:latin typeface="DM Sans" pitchFamily="34" charset="0"/>
                <a:ea typeface="DM Sans" pitchFamily="34" charset="-122"/>
                <a:cs typeface="DM Sans" pitchFamily="34" charset="-120"/>
              </a:rPr>
              <a:t>, ninguno domina</a:t>
            </a:r>
            <a:endParaRPr lang="es-ES_tradnl" sz="2800" noProof="0" dirty="0"/>
          </a:p>
        </p:txBody>
      </p:sp>
      <p:sp>
        <p:nvSpPr>
          <p:cNvPr id="8" name="Text 5"/>
          <p:cNvSpPr/>
          <p:nvPr/>
        </p:nvSpPr>
        <p:spPr>
          <a:xfrm>
            <a:off x="812800" y="1305520"/>
            <a:ext cx="10883392" cy="322560"/>
          </a:xfrm>
          <a:prstGeom prst="rect">
            <a:avLst/>
          </a:prstGeom>
          <a:noFill/>
          <a:ln/>
        </p:spPr>
        <p:txBody>
          <a:bodyPr wrap="square" lIns="0" tIns="0" rIns="0" bIns="0" rtlCol="0" anchor="t">
            <a:normAutofit/>
          </a:bodyPr>
          <a:lstStyle/>
          <a:p>
            <a:pPr marL="0" indent="0" algn="l">
              <a:lnSpc>
                <a:spcPts val="2340"/>
              </a:lnSpc>
              <a:buNone/>
            </a:pPr>
            <a:r>
              <a:rPr lang="es-ES_tradnl" sz="1800" noProof="0" dirty="0">
                <a:solidFill>
                  <a:srgbClr val="3C3C3B"/>
                </a:solidFill>
                <a:latin typeface="Roboto" pitchFamily="34" charset="0"/>
                <a:ea typeface="Roboto" pitchFamily="34" charset="-122"/>
                <a:cs typeface="Roboto" pitchFamily="34" charset="-120"/>
              </a:rPr>
              <a:t>Solo </a:t>
            </a:r>
            <a:r>
              <a:rPr lang="es-ES_tradnl" sz="1800" noProof="0" dirty="0" err="1">
                <a:solidFill>
                  <a:srgbClr val="293470"/>
                </a:solidFill>
                <a:latin typeface="Roboto" pitchFamily="34" charset="0"/>
                <a:ea typeface="Roboto" pitchFamily="34" charset="-122"/>
                <a:cs typeface="Roboto" pitchFamily="34" charset="-120"/>
              </a:rPr>
              <a:t>collateral</a:t>
            </a:r>
            <a:r>
              <a:rPr lang="es-ES_tradnl" sz="1800" noProof="0" dirty="0">
                <a:solidFill>
                  <a:srgbClr val="3C3C3B"/>
                </a:solidFill>
                <a:latin typeface="Roboto" pitchFamily="34" charset="0"/>
                <a:ea typeface="Roboto" pitchFamily="34" charset="-122"/>
                <a:cs typeface="Roboto" pitchFamily="34" charset="-120"/>
              </a:rPr>
              <a:t> (coherente con el histograma), N = 1000.</a:t>
            </a:r>
            <a:endParaRPr lang="es-ES_tradnl" sz="1800" noProof="0" dirty="0"/>
          </a:p>
        </p:txBody>
      </p:sp>
      <p:sp>
        <p:nvSpPr>
          <p:cNvPr id="9" name="Shape 6"/>
          <p:cNvSpPr/>
          <p:nvPr/>
        </p:nvSpPr>
        <p:spPr>
          <a:xfrm>
            <a:off x="812800" y="1831280"/>
            <a:ext cx="5181600" cy="2097881"/>
          </a:xfrm>
          <a:prstGeom prst="roundRect">
            <a:avLst>
              <a:gd name="adj" fmla="val 4843"/>
            </a:avLst>
          </a:prstGeom>
          <a:solidFill>
            <a:srgbClr val="F4F4F2"/>
          </a:solidFill>
          <a:ln/>
        </p:spPr>
        <p:txBody>
          <a:bodyPr/>
          <a:lstStyle/>
          <a:p>
            <a:endParaRPr lang="es-ES_tradnl" noProof="0" dirty="0"/>
          </a:p>
        </p:txBody>
      </p:sp>
      <p:sp>
        <p:nvSpPr>
          <p:cNvPr id="10" name="Text 7"/>
          <p:cNvSpPr/>
          <p:nvPr/>
        </p:nvSpPr>
        <p:spPr>
          <a:xfrm>
            <a:off x="1066800" y="2059880"/>
            <a:ext cx="355600" cy="355600"/>
          </a:xfrm>
          <a:custGeom>
            <a:avLst/>
            <a:gdLst/>
            <a:ahLst/>
            <a:cxnLst/>
            <a:rect l="l" t="t" r="r" b="b"/>
            <a:pathLst>
              <a:path w="355600" h="355600">
                <a:moveTo>
                  <a:pt x="50800" y="0"/>
                </a:moveTo>
                <a:lnTo>
                  <a:pt x="304800" y="0"/>
                </a:lnTo>
                <a:arcTo wR="50800" hR="50800" stAng="16200000" swAng="5400000"/>
                <a:lnTo>
                  <a:pt x="355600" y="304800"/>
                </a:lnTo>
                <a:arcTo wR="50800" hR="50800" stAng="0" swAng="5400000"/>
                <a:lnTo>
                  <a:pt x="50800" y="355600"/>
                </a:lnTo>
                <a:arcTo wR="50800" hR="50800" stAng="5400000" swAng="5400000"/>
                <a:lnTo>
                  <a:pt x="0" y="50800"/>
                </a:lnTo>
                <a:arcTo wR="50800" hR="50800" stAng="10800000" swAng="5400000"/>
                <a:close/>
              </a:path>
            </a:pathLst>
          </a:custGeom>
          <a:solidFill>
            <a:srgbClr val="293470"/>
          </a:solidFill>
          <a:ln/>
        </p:spPr>
        <p:txBody>
          <a:bodyPr wrap="square" lIns="0" tIns="0" rIns="0" bIns="0" rtlCol="0" anchor="t">
            <a:normAutofit/>
          </a:bodyPr>
          <a:lstStyle/>
          <a:p>
            <a:pPr marL="0" indent="0" algn="ctr">
              <a:lnSpc>
                <a:spcPts val="2800"/>
              </a:lnSpc>
              <a:buNone/>
            </a:pPr>
            <a:r>
              <a:rPr lang="es-ES_tradnl" sz="1600" b="1" noProof="0" dirty="0">
                <a:solidFill>
                  <a:srgbClr val="FFFFFF"/>
                </a:solidFill>
                <a:latin typeface="DM Sans" pitchFamily="34" charset="0"/>
                <a:ea typeface="DM Sans" pitchFamily="34" charset="-122"/>
                <a:cs typeface="DM Sans" pitchFamily="34" charset="-120"/>
              </a:rPr>
              <a:t>C</a:t>
            </a:r>
            <a:endParaRPr lang="es-ES_tradnl" sz="1600" noProof="0" dirty="0"/>
          </a:p>
        </p:txBody>
      </p:sp>
      <p:sp>
        <p:nvSpPr>
          <p:cNvPr id="11" name="Text 8"/>
          <p:cNvSpPr/>
          <p:nvPr/>
        </p:nvSpPr>
        <p:spPr>
          <a:xfrm>
            <a:off x="1549400" y="2100560"/>
            <a:ext cx="1947505" cy="299641"/>
          </a:xfrm>
          <a:prstGeom prst="rect">
            <a:avLst/>
          </a:prstGeom>
          <a:noFill/>
          <a:ln/>
        </p:spPr>
        <p:txBody>
          <a:bodyPr wrap="square" lIns="0" tIns="0" rIns="0" bIns="0" rtlCol="0" anchor="t">
            <a:normAutofit/>
          </a:bodyPr>
          <a:lstStyle/>
          <a:p>
            <a:pPr marL="0" indent="0" algn="l">
              <a:lnSpc>
                <a:spcPts val="2160"/>
              </a:lnSpc>
              <a:buNone/>
            </a:pPr>
            <a:r>
              <a:rPr lang="es-ES_tradnl" sz="1800" b="1" noProof="0" dirty="0">
                <a:solidFill>
                  <a:srgbClr val="1D1D1B"/>
                </a:solidFill>
                <a:latin typeface="DM Sans" pitchFamily="34" charset="0"/>
                <a:ea typeface="DM Sans" pitchFamily="34" charset="-122"/>
                <a:cs typeface="DM Sans" pitchFamily="34" charset="-120"/>
              </a:rPr>
              <a:t>Diseño central</a:t>
            </a:r>
            <a:endParaRPr lang="es-ES_tradnl" sz="1800" noProof="0" dirty="0"/>
          </a:p>
        </p:txBody>
      </p:sp>
      <p:sp>
        <p:nvSpPr>
          <p:cNvPr id="12" name="Text 9"/>
          <p:cNvSpPr/>
          <p:nvPr/>
        </p:nvSpPr>
        <p:spPr>
          <a:xfrm>
            <a:off x="1066800" y="2567880"/>
            <a:ext cx="2302256" cy="238720"/>
          </a:xfrm>
          <a:prstGeom prst="rect">
            <a:avLst/>
          </a:prstGeom>
          <a:noFill/>
          <a:ln/>
        </p:spPr>
        <p:txBody>
          <a:bodyPr wrap="square" lIns="0" tIns="0" rIns="0" bIns="0" rtlCol="0" anchor="t">
            <a:normAutofit/>
          </a:bodyPr>
          <a:lstStyle/>
          <a:p>
            <a:pPr marL="0" indent="0" algn="l">
              <a:lnSpc>
                <a:spcPts val="1680"/>
              </a:lnSpc>
              <a:buNone/>
            </a:pPr>
            <a:r>
              <a:rPr lang="es-ES_tradnl" sz="1200" b="1" kern="0" spc="100" noProof="0" dirty="0" err="1">
                <a:solidFill>
                  <a:srgbClr val="6E6E6C"/>
                </a:solidFill>
                <a:latin typeface="Roboto" pitchFamily="34" charset="0"/>
                <a:ea typeface="Roboto" pitchFamily="34" charset="-122"/>
                <a:cs typeface="Roboto" pitchFamily="34" charset="-120"/>
              </a:rPr>
              <a:t>Ε</a:t>
            </a:r>
            <a:r>
              <a:rPr lang="es-ES_tradnl" sz="1200" b="1" kern="0" spc="100" noProof="0" dirty="0">
                <a:solidFill>
                  <a:srgbClr val="6E6E6C"/>
                </a:solidFill>
                <a:latin typeface="Roboto" pitchFamily="34" charset="0"/>
                <a:ea typeface="Roboto" pitchFamily="34" charset="-122"/>
                <a:cs typeface="Roboto" pitchFamily="34" charset="-120"/>
              </a:rPr>
              <a:t> TOTAL = COPIA X 1000</a:t>
            </a:r>
            <a:endParaRPr lang="es-ES_tradnl" sz="1200" noProof="0" dirty="0"/>
          </a:p>
        </p:txBody>
      </p:sp>
      <p:sp>
        <p:nvSpPr>
          <p:cNvPr id="13" name="Text 10"/>
          <p:cNvSpPr/>
          <p:nvPr/>
        </p:nvSpPr>
        <p:spPr>
          <a:xfrm>
            <a:off x="1066800" y="2832001"/>
            <a:ext cx="2302256" cy="416520"/>
          </a:xfrm>
          <a:prstGeom prst="rect">
            <a:avLst/>
          </a:prstGeom>
          <a:noFill/>
          <a:ln/>
        </p:spPr>
        <p:txBody>
          <a:bodyPr wrap="square" lIns="0" tIns="0" rIns="0" bIns="0" rtlCol="0" anchor="t">
            <a:normAutofit/>
          </a:bodyPr>
          <a:lstStyle/>
          <a:p>
            <a:pPr marL="0" indent="0" algn="l">
              <a:lnSpc>
                <a:spcPts val="3080"/>
              </a:lnSpc>
              <a:buNone/>
            </a:pPr>
            <a:r>
              <a:rPr lang="es-ES_tradnl" sz="2800" b="1" noProof="0" dirty="0">
                <a:solidFill>
                  <a:srgbClr val="293470"/>
                </a:solidFill>
                <a:latin typeface="DM Sans" pitchFamily="34" charset="0"/>
                <a:ea typeface="DM Sans" pitchFamily="34" charset="-122"/>
                <a:cs typeface="DM Sans" pitchFamily="34" charset="-120"/>
              </a:rPr>
              <a:t>0.61</a:t>
            </a:r>
            <a:endParaRPr lang="es-ES_tradnl" sz="2800" noProof="0" dirty="0"/>
          </a:p>
        </p:txBody>
      </p:sp>
      <p:sp>
        <p:nvSpPr>
          <p:cNvPr id="14" name="Text 11"/>
          <p:cNvSpPr/>
          <p:nvPr/>
        </p:nvSpPr>
        <p:spPr>
          <a:xfrm>
            <a:off x="1066800" y="3273921"/>
            <a:ext cx="1536700" cy="452041"/>
          </a:xfrm>
          <a:prstGeom prst="rect">
            <a:avLst/>
          </a:prstGeom>
          <a:noFill/>
          <a:ln/>
        </p:spPr>
        <p:txBody>
          <a:bodyPr wrap="square" lIns="0" tIns="0" rIns="0" bIns="0" rtlCol="0" anchor="t">
            <a:normAutofit/>
          </a:bodyPr>
          <a:lstStyle/>
          <a:p>
            <a:pPr marL="0" indent="0" algn="l">
              <a:lnSpc>
                <a:spcPts val="1680"/>
              </a:lnSpc>
              <a:buNone/>
            </a:pPr>
            <a:r>
              <a:rPr lang="es-ES_tradnl" sz="1200" noProof="0" dirty="0">
                <a:solidFill>
                  <a:srgbClr val="3C3C3B"/>
                </a:solidFill>
                <a:latin typeface="Roboto" pitchFamily="34" charset="0"/>
                <a:ea typeface="Roboto" pitchFamily="34" charset="-122"/>
                <a:cs typeface="Roboto" pitchFamily="34" charset="-120"/>
              </a:rPr>
              <a:t>Por copia: 0.000608 </a:t>
            </a:r>
          </a:p>
          <a:p>
            <a:pPr marL="0" indent="0" algn="l">
              <a:lnSpc>
                <a:spcPts val="1680"/>
              </a:lnSpc>
              <a:buNone/>
            </a:pPr>
            <a:r>
              <a:rPr lang="es-ES_tradnl" sz="1200" noProof="0" dirty="0">
                <a:solidFill>
                  <a:srgbClr val="3C3C3B"/>
                </a:solidFill>
                <a:latin typeface="Roboto" pitchFamily="34" charset="0"/>
                <a:ea typeface="Roboto" pitchFamily="34" charset="-122"/>
                <a:cs typeface="Roboto" pitchFamily="34" charset="-120"/>
              </a:rPr>
              <a:t>(</a:t>
            </a:r>
            <a:r>
              <a:rPr lang="es-ES_tradnl" sz="1200" noProof="0" dirty="0" err="1">
                <a:solidFill>
                  <a:srgbClr val="3C3C3B"/>
                </a:solidFill>
                <a:latin typeface="Roboto" pitchFamily="34" charset="0"/>
                <a:ea typeface="Roboto" pitchFamily="34" charset="-122"/>
                <a:cs typeface="Roboto" pitchFamily="34" charset="-120"/>
              </a:rPr>
              <a:t>Teorico</a:t>
            </a:r>
            <a:r>
              <a:rPr lang="es-ES_tradnl" sz="1200" noProof="0" dirty="0">
                <a:solidFill>
                  <a:srgbClr val="3C3C3B"/>
                </a:solidFill>
                <a:latin typeface="Roboto" pitchFamily="34" charset="0"/>
                <a:ea typeface="Roboto" pitchFamily="34" charset="-122"/>
                <a:cs typeface="Roboto" pitchFamily="34" charset="-120"/>
              </a:rPr>
              <a:t> 0.00113)</a:t>
            </a:r>
            <a:endParaRPr lang="es-ES_tradnl" sz="1200" noProof="0" dirty="0"/>
          </a:p>
        </p:txBody>
      </p:sp>
      <p:sp>
        <p:nvSpPr>
          <p:cNvPr id="15" name="Text 12"/>
          <p:cNvSpPr/>
          <p:nvPr/>
        </p:nvSpPr>
        <p:spPr>
          <a:xfrm>
            <a:off x="3505200" y="2567880"/>
            <a:ext cx="2302256" cy="238720"/>
          </a:xfrm>
          <a:prstGeom prst="rect">
            <a:avLst/>
          </a:prstGeom>
          <a:noFill/>
          <a:ln/>
        </p:spPr>
        <p:txBody>
          <a:bodyPr wrap="square" lIns="0" tIns="0" rIns="0" bIns="0" rtlCol="0" anchor="t">
            <a:normAutofit/>
          </a:bodyPr>
          <a:lstStyle/>
          <a:p>
            <a:pPr marL="0" indent="0" algn="l">
              <a:lnSpc>
                <a:spcPts val="1680"/>
              </a:lnSpc>
              <a:buNone/>
            </a:pPr>
            <a:r>
              <a:rPr lang="es-ES_tradnl" sz="1200" b="1" kern="0" spc="100" noProof="0" dirty="0">
                <a:solidFill>
                  <a:srgbClr val="6E6E6C"/>
                </a:solidFill>
                <a:latin typeface="Roboto" pitchFamily="34" charset="0"/>
                <a:ea typeface="Roboto" pitchFamily="34" charset="-122"/>
                <a:cs typeface="Roboto" pitchFamily="34" charset="-120"/>
              </a:rPr>
              <a:t>STD(F̂)</a:t>
            </a:r>
            <a:endParaRPr lang="es-ES_tradnl" sz="1200" noProof="0" dirty="0"/>
          </a:p>
        </p:txBody>
      </p:sp>
      <p:sp>
        <p:nvSpPr>
          <p:cNvPr id="16" name="Text 13"/>
          <p:cNvSpPr/>
          <p:nvPr/>
        </p:nvSpPr>
        <p:spPr>
          <a:xfrm>
            <a:off x="3505200" y="2832001"/>
            <a:ext cx="2302256" cy="416520"/>
          </a:xfrm>
          <a:prstGeom prst="rect">
            <a:avLst/>
          </a:prstGeom>
          <a:noFill/>
          <a:ln/>
        </p:spPr>
        <p:txBody>
          <a:bodyPr wrap="square" lIns="0" tIns="0" rIns="0" bIns="0" rtlCol="0" anchor="t">
            <a:normAutofit/>
          </a:bodyPr>
          <a:lstStyle/>
          <a:p>
            <a:pPr marL="0" indent="0" algn="l">
              <a:lnSpc>
                <a:spcPts val="3080"/>
              </a:lnSpc>
              <a:buNone/>
            </a:pPr>
            <a:r>
              <a:rPr lang="es-ES_tradnl" sz="2800" b="1" noProof="0" dirty="0">
                <a:solidFill>
                  <a:srgbClr val="1D1D1B"/>
                </a:solidFill>
                <a:latin typeface="DM Sans" pitchFamily="34" charset="0"/>
                <a:ea typeface="DM Sans" pitchFamily="34" charset="-122"/>
                <a:cs typeface="DM Sans" pitchFamily="34" charset="-120"/>
              </a:rPr>
              <a:t>0.0316</a:t>
            </a:r>
            <a:endParaRPr lang="es-ES_tradnl" sz="2800" noProof="0" dirty="0"/>
          </a:p>
        </p:txBody>
      </p:sp>
      <p:sp>
        <p:nvSpPr>
          <p:cNvPr id="17" name="Shape 14"/>
          <p:cNvSpPr/>
          <p:nvPr/>
        </p:nvSpPr>
        <p:spPr>
          <a:xfrm>
            <a:off x="6197600" y="1831280"/>
            <a:ext cx="5181600" cy="2097881"/>
          </a:xfrm>
          <a:prstGeom prst="roundRect">
            <a:avLst>
              <a:gd name="adj" fmla="val 4843"/>
            </a:avLst>
          </a:prstGeom>
          <a:solidFill>
            <a:srgbClr val="F4F4F2"/>
          </a:solidFill>
          <a:ln/>
        </p:spPr>
        <p:txBody>
          <a:bodyPr/>
          <a:lstStyle/>
          <a:p>
            <a:endParaRPr lang="es-ES_tradnl" noProof="0" dirty="0"/>
          </a:p>
        </p:txBody>
      </p:sp>
      <p:sp>
        <p:nvSpPr>
          <p:cNvPr id="18" name="Text 15"/>
          <p:cNvSpPr/>
          <p:nvPr/>
        </p:nvSpPr>
        <p:spPr>
          <a:xfrm>
            <a:off x="6451600" y="2059880"/>
            <a:ext cx="355600" cy="355600"/>
          </a:xfrm>
          <a:custGeom>
            <a:avLst/>
            <a:gdLst/>
            <a:ahLst/>
            <a:cxnLst/>
            <a:rect l="l" t="t" r="r" b="b"/>
            <a:pathLst>
              <a:path w="355600" h="355600">
                <a:moveTo>
                  <a:pt x="50800" y="0"/>
                </a:moveTo>
                <a:lnTo>
                  <a:pt x="304800" y="0"/>
                </a:lnTo>
                <a:arcTo wR="50800" hR="50800" stAng="16200000" swAng="5400000"/>
                <a:lnTo>
                  <a:pt x="355600" y="304800"/>
                </a:lnTo>
                <a:arcTo wR="50800" hR="50800" stAng="0" swAng="5400000"/>
                <a:lnTo>
                  <a:pt x="50800" y="355600"/>
                </a:lnTo>
                <a:arcTo wR="50800" hR="50800" stAng="5400000" swAng="5400000"/>
                <a:lnTo>
                  <a:pt x="0" y="50800"/>
                </a:lnTo>
                <a:arcTo wR="50800" hR="50800" stAng="10800000" swAng="5400000"/>
                <a:close/>
              </a:path>
            </a:pathLst>
          </a:custGeom>
          <a:solidFill>
            <a:srgbClr val="FFEE00"/>
          </a:solidFill>
          <a:ln/>
        </p:spPr>
        <p:txBody>
          <a:bodyPr wrap="square" lIns="0" tIns="0" rIns="0" bIns="0" rtlCol="0" anchor="t">
            <a:normAutofit/>
          </a:bodyPr>
          <a:lstStyle/>
          <a:p>
            <a:pPr marL="0" indent="0" algn="ctr">
              <a:lnSpc>
                <a:spcPts val="2800"/>
              </a:lnSpc>
              <a:buNone/>
            </a:pPr>
            <a:r>
              <a:rPr lang="es-ES_tradnl" sz="1600" b="1" noProof="0" dirty="0">
                <a:solidFill>
                  <a:srgbClr val="1D1D1B"/>
                </a:solidFill>
                <a:latin typeface="DM Sans" pitchFamily="34" charset="0"/>
                <a:ea typeface="DM Sans" pitchFamily="34" charset="-122"/>
                <a:cs typeface="DM Sans" pitchFamily="34" charset="-120"/>
              </a:rPr>
              <a:t>L</a:t>
            </a:r>
            <a:endParaRPr lang="es-ES_tradnl" sz="1600" noProof="0" dirty="0"/>
          </a:p>
        </p:txBody>
      </p:sp>
      <p:sp>
        <p:nvSpPr>
          <p:cNvPr id="19" name="Text 16"/>
          <p:cNvSpPr/>
          <p:nvPr/>
        </p:nvSpPr>
        <p:spPr>
          <a:xfrm>
            <a:off x="6934200" y="2100560"/>
            <a:ext cx="1622465" cy="299641"/>
          </a:xfrm>
          <a:prstGeom prst="rect">
            <a:avLst/>
          </a:prstGeom>
          <a:noFill/>
          <a:ln/>
        </p:spPr>
        <p:txBody>
          <a:bodyPr wrap="square" lIns="0" tIns="0" rIns="0" bIns="0" rtlCol="0" anchor="t">
            <a:normAutofit/>
          </a:bodyPr>
          <a:lstStyle/>
          <a:p>
            <a:pPr marL="0" indent="0" algn="l">
              <a:lnSpc>
                <a:spcPts val="2160"/>
              </a:lnSpc>
              <a:buNone/>
            </a:pPr>
            <a:r>
              <a:rPr lang="es-ES_tradnl" sz="1800" b="1" noProof="0" dirty="0">
                <a:solidFill>
                  <a:srgbClr val="1D1D1B"/>
                </a:solidFill>
                <a:latin typeface="DM Sans" pitchFamily="34" charset="0"/>
                <a:ea typeface="DM Sans" pitchFamily="34" charset="-122"/>
                <a:cs typeface="DM Sans" pitchFamily="34" charset="-120"/>
              </a:rPr>
              <a:t>Diseño local</a:t>
            </a:r>
            <a:endParaRPr lang="es-ES_tradnl" sz="1800" noProof="0" dirty="0"/>
          </a:p>
        </p:txBody>
      </p:sp>
      <p:sp>
        <p:nvSpPr>
          <p:cNvPr id="20" name="Text 17"/>
          <p:cNvSpPr/>
          <p:nvPr/>
        </p:nvSpPr>
        <p:spPr>
          <a:xfrm>
            <a:off x="6451600" y="2567880"/>
            <a:ext cx="2302256" cy="238720"/>
          </a:xfrm>
          <a:prstGeom prst="rect">
            <a:avLst/>
          </a:prstGeom>
          <a:noFill/>
          <a:ln/>
        </p:spPr>
        <p:txBody>
          <a:bodyPr wrap="square" lIns="0" tIns="0" rIns="0" bIns="0" rtlCol="0" anchor="t">
            <a:normAutofit/>
          </a:bodyPr>
          <a:lstStyle/>
          <a:p>
            <a:pPr marL="0" indent="0" algn="l">
              <a:lnSpc>
                <a:spcPts val="1680"/>
              </a:lnSpc>
              <a:buNone/>
            </a:pPr>
            <a:r>
              <a:rPr lang="es-ES_tradnl" sz="1200" b="1" kern="0" spc="100" noProof="0" dirty="0" err="1">
                <a:solidFill>
                  <a:srgbClr val="6E6E6C"/>
                </a:solidFill>
                <a:latin typeface="Roboto" pitchFamily="34" charset="0"/>
                <a:ea typeface="Roboto" pitchFamily="34" charset="-122"/>
                <a:cs typeface="Roboto" pitchFamily="34" charset="-120"/>
              </a:rPr>
              <a:t>Ε</a:t>
            </a:r>
            <a:r>
              <a:rPr lang="es-ES_tradnl" sz="1200" b="1" kern="0" spc="100" noProof="0" dirty="0">
                <a:solidFill>
                  <a:srgbClr val="6E6E6C"/>
                </a:solidFill>
                <a:latin typeface="Roboto" pitchFamily="34" charset="0"/>
                <a:ea typeface="Roboto" pitchFamily="34" charset="-122"/>
                <a:cs typeface="Roboto" pitchFamily="34" charset="-120"/>
              </a:rPr>
              <a:t> TOTAL</a:t>
            </a:r>
            <a:endParaRPr lang="es-ES_tradnl" sz="1200" noProof="0" dirty="0"/>
          </a:p>
        </p:txBody>
      </p:sp>
      <p:sp>
        <p:nvSpPr>
          <p:cNvPr id="21" name="Text 18"/>
          <p:cNvSpPr/>
          <p:nvPr/>
        </p:nvSpPr>
        <p:spPr>
          <a:xfrm>
            <a:off x="6451600" y="2832001"/>
            <a:ext cx="2302256" cy="416520"/>
          </a:xfrm>
          <a:prstGeom prst="rect">
            <a:avLst/>
          </a:prstGeom>
          <a:noFill/>
          <a:ln/>
        </p:spPr>
        <p:txBody>
          <a:bodyPr wrap="square" lIns="0" tIns="0" rIns="0" bIns="0" rtlCol="0" anchor="t">
            <a:normAutofit/>
          </a:bodyPr>
          <a:lstStyle/>
          <a:p>
            <a:pPr marL="0" indent="0" algn="l">
              <a:lnSpc>
                <a:spcPts val="3080"/>
              </a:lnSpc>
              <a:buNone/>
            </a:pPr>
            <a:r>
              <a:rPr lang="es-ES_tradnl" sz="2800" b="1" noProof="0" dirty="0">
                <a:solidFill>
                  <a:srgbClr val="293470"/>
                </a:solidFill>
                <a:latin typeface="DM Sans" pitchFamily="34" charset="0"/>
                <a:ea typeface="DM Sans" pitchFamily="34" charset="-122"/>
                <a:cs typeface="DM Sans" pitchFamily="34" charset="-120"/>
              </a:rPr>
              <a:t>1.10</a:t>
            </a:r>
            <a:endParaRPr lang="es-ES_tradnl" sz="2800" noProof="0" dirty="0"/>
          </a:p>
        </p:txBody>
      </p:sp>
      <p:sp>
        <p:nvSpPr>
          <p:cNvPr id="22" name="Text 19"/>
          <p:cNvSpPr/>
          <p:nvPr/>
        </p:nvSpPr>
        <p:spPr>
          <a:xfrm>
            <a:off x="6451600" y="3273920"/>
            <a:ext cx="2302256" cy="416519"/>
          </a:xfrm>
          <a:prstGeom prst="rect">
            <a:avLst/>
          </a:prstGeom>
          <a:noFill/>
          <a:ln/>
        </p:spPr>
        <p:txBody>
          <a:bodyPr wrap="square" lIns="0" tIns="0" rIns="0" bIns="0" rtlCol="0" anchor="t">
            <a:normAutofit/>
          </a:bodyPr>
          <a:lstStyle/>
          <a:p>
            <a:pPr marL="0" indent="0" algn="l">
              <a:lnSpc>
                <a:spcPts val="1680"/>
              </a:lnSpc>
              <a:buNone/>
            </a:pPr>
            <a:r>
              <a:rPr lang="es-ES_tradnl" sz="1200" noProof="0" dirty="0">
                <a:solidFill>
                  <a:srgbClr val="3C3C3B"/>
                </a:solidFill>
                <a:latin typeface="Roboto" pitchFamily="34" charset="0"/>
                <a:ea typeface="Roboto" pitchFamily="34" charset="-122"/>
                <a:cs typeface="Roboto" pitchFamily="34" charset="-120"/>
              </a:rPr>
              <a:t>Por copia: 1.09861</a:t>
            </a:r>
          </a:p>
          <a:p>
            <a:pPr marL="0" indent="0" algn="l">
              <a:lnSpc>
                <a:spcPts val="1680"/>
              </a:lnSpc>
              <a:buNone/>
            </a:pPr>
            <a:r>
              <a:rPr lang="es-ES_tradnl" sz="1200" noProof="0" dirty="0">
                <a:solidFill>
                  <a:srgbClr val="3C3C3B"/>
                </a:solidFill>
                <a:latin typeface="Roboto" pitchFamily="34" charset="0"/>
                <a:ea typeface="Roboto" pitchFamily="34" charset="-122"/>
                <a:cs typeface="Roboto" pitchFamily="34" charset="-120"/>
              </a:rPr>
              <a:t>(</a:t>
            </a:r>
            <a:r>
              <a:rPr lang="es-ES_tradnl" sz="1200" noProof="0" dirty="0" err="1">
                <a:solidFill>
                  <a:srgbClr val="3C3C3B"/>
                </a:solidFill>
                <a:latin typeface="Roboto" pitchFamily="34" charset="0"/>
                <a:ea typeface="Roboto" pitchFamily="34" charset="-122"/>
                <a:cs typeface="Roboto" pitchFamily="34" charset="-120"/>
              </a:rPr>
              <a:t>Teorico</a:t>
            </a:r>
            <a:r>
              <a:rPr lang="es-ES_tradnl" sz="1200" noProof="0" dirty="0">
                <a:solidFill>
                  <a:srgbClr val="3C3C3B"/>
                </a:solidFill>
                <a:latin typeface="Roboto" pitchFamily="34" charset="0"/>
                <a:ea typeface="Roboto" pitchFamily="34" charset="-122"/>
                <a:cs typeface="Roboto" pitchFamily="34" charset="-120"/>
              </a:rPr>
              <a:t> </a:t>
            </a:r>
            <a:r>
              <a:rPr lang="es-ES_tradnl" sz="1200" noProof="0" dirty="0" err="1">
                <a:solidFill>
                  <a:srgbClr val="3C3C3B"/>
                </a:solidFill>
                <a:latin typeface="Roboto" pitchFamily="34" charset="0"/>
                <a:ea typeface="Roboto" pitchFamily="34" charset="-122"/>
                <a:cs typeface="Roboto" pitchFamily="34" charset="-120"/>
              </a:rPr>
              <a:t>ln</a:t>
            </a:r>
            <a:r>
              <a:rPr lang="es-ES_tradnl" sz="1200" noProof="0" dirty="0">
                <a:solidFill>
                  <a:srgbClr val="3C3C3B"/>
                </a:solidFill>
                <a:latin typeface="Roboto" pitchFamily="34" charset="0"/>
                <a:ea typeface="Roboto" pitchFamily="34" charset="-122"/>
                <a:cs typeface="Roboto" pitchFamily="34" charset="-120"/>
              </a:rPr>
              <a:t> 3)</a:t>
            </a:r>
            <a:endParaRPr lang="es-ES_tradnl" sz="1200" noProof="0" dirty="0"/>
          </a:p>
        </p:txBody>
      </p:sp>
      <p:sp>
        <p:nvSpPr>
          <p:cNvPr id="23" name="Text 20"/>
          <p:cNvSpPr/>
          <p:nvPr/>
        </p:nvSpPr>
        <p:spPr>
          <a:xfrm>
            <a:off x="8890000" y="2567880"/>
            <a:ext cx="2302256" cy="238720"/>
          </a:xfrm>
          <a:prstGeom prst="rect">
            <a:avLst/>
          </a:prstGeom>
          <a:noFill/>
          <a:ln/>
        </p:spPr>
        <p:txBody>
          <a:bodyPr wrap="square" lIns="0" tIns="0" rIns="0" bIns="0" rtlCol="0" anchor="t">
            <a:normAutofit/>
          </a:bodyPr>
          <a:lstStyle/>
          <a:p>
            <a:pPr marL="0" indent="0" algn="l">
              <a:lnSpc>
                <a:spcPts val="1680"/>
              </a:lnSpc>
              <a:buNone/>
            </a:pPr>
            <a:r>
              <a:rPr lang="es-ES_tradnl" sz="1200" b="1" kern="0" spc="100" noProof="0" dirty="0">
                <a:solidFill>
                  <a:srgbClr val="6E6E6C"/>
                </a:solidFill>
                <a:latin typeface="Roboto" pitchFamily="34" charset="0"/>
                <a:ea typeface="Roboto" pitchFamily="34" charset="-122"/>
                <a:cs typeface="Roboto" pitchFamily="34" charset="-120"/>
              </a:rPr>
              <a:t>STD(F̂)</a:t>
            </a:r>
            <a:endParaRPr lang="es-ES_tradnl" sz="1200" noProof="0" dirty="0"/>
          </a:p>
        </p:txBody>
      </p:sp>
      <p:sp>
        <p:nvSpPr>
          <p:cNvPr id="24" name="Text 21"/>
          <p:cNvSpPr/>
          <p:nvPr/>
        </p:nvSpPr>
        <p:spPr>
          <a:xfrm>
            <a:off x="8890000" y="2832001"/>
            <a:ext cx="2302256" cy="416520"/>
          </a:xfrm>
          <a:prstGeom prst="rect">
            <a:avLst/>
          </a:prstGeom>
          <a:noFill/>
          <a:ln/>
        </p:spPr>
        <p:txBody>
          <a:bodyPr wrap="square" lIns="0" tIns="0" rIns="0" bIns="0" rtlCol="0" anchor="t">
            <a:normAutofit/>
          </a:bodyPr>
          <a:lstStyle/>
          <a:p>
            <a:pPr marL="0" indent="0" algn="l">
              <a:lnSpc>
                <a:spcPts val="3080"/>
              </a:lnSpc>
              <a:buNone/>
            </a:pPr>
            <a:r>
              <a:rPr lang="es-ES_tradnl" sz="2800" b="1" noProof="0" dirty="0">
                <a:solidFill>
                  <a:srgbClr val="1D1D1B"/>
                </a:solidFill>
                <a:latin typeface="DM Sans" pitchFamily="34" charset="0"/>
                <a:ea typeface="DM Sans" pitchFamily="34" charset="-122"/>
                <a:cs typeface="DM Sans" pitchFamily="34" charset="-120"/>
              </a:rPr>
              <a:t>0.0293</a:t>
            </a:r>
            <a:endParaRPr lang="es-ES_tradnl" sz="2800" noProof="0" dirty="0"/>
          </a:p>
        </p:txBody>
      </p:sp>
      <p:sp>
        <p:nvSpPr>
          <p:cNvPr id="25" name="Text 22"/>
          <p:cNvSpPr/>
          <p:nvPr/>
        </p:nvSpPr>
        <p:spPr>
          <a:xfrm>
            <a:off x="812800" y="4157762"/>
            <a:ext cx="5181600" cy="434280"/>
          </a:xfrm>
          <a:prstGeom prst="roundRect">
            <a:avLst>
              <a:gd name="adj" fmla="val 11698"/>
            </a:avLst>
          </a:prstGeom>
          <a:solidFill>
            <a:srgbClr val="293470"/>
          </a:solidFill>
          <a:ln/>
        </p:spPr>
        <p:txBody>
          <a:bodyPr wrap="square" lIns="137521" tIns="86721" rIns="0" bIns="61321" rtlCol="0" anchor="t">
            <a:normAutofit/>
          </a:bodyPr>
          <a:lstStyle/>
          <a:p>
            <a:pPr marL="0" indent="0" algn="l">
              <a:lnSpc>
                <a:spcPts val="1820"/>
              </a:lnSpc>
              <a:buNone/>
            </a:pPr>
            <a:r>
              <a:rPr lang="es-ES_tradnl" sz="1400" b="1" noProof="0" dirty="0">
                <a:solidFill>
                  <a:srgbClr val="FFFFFF"/>
                </a:solidFill>
                <a:latin typeface="DM Sans" pitchFamily="34" charset="0"/>
                <a:ea typeface="DM Sans" pitchFamily="34" charset="-122"/>
                <a:cs typeface="DM Sans" pitchFamily="34" charset="-120"/>
              </a:rPr>
              <a:t>C gasta menos </a:t>
            </a:r>
            <a:r>
              <a:rPr lang="es-ES_tradnl" sz="1400" b="1" noProof="0" dirty="0" err="1">
                <a:solidFill>
                  <a:srgbClr val="FFFFFF"/>
                </a:solidFill>
                <a:latin typeface="DM Sans" pitchFamily="34" charset="0"/>
                <a:ea typeface="DM Sans" pitchFamily="34" charset="-122"/>
                <a:cs typeface="DM Sans" pitchFamily="34" charset="-120"/>
              </a:rPr>
              <a:t>ε</a:t>
            </a:r>
            <a:r>
              <a:rPr lang="es-ES_tradnl" sz="1400" b="1" noProof="0" dirty="0">
                <a:solidFill>
                  <a:srgbClr val="FFFFFF"/>
                </a:solidFill>
                <a:latin typeface="DM Sans" pitchFamily="34" charset="0"/>
                <a:ea typeface="DM Sans" pitchFamily="34" charset="-122"/>
                <a:cs typeface="DM Sans" pitchFamily="34" charset="-120"/>
              </a:rPr>
              <a:t> medido.</a:t>
            </a:r>
            <a:endParaRPr lang="es-ES_tradnl" sz="1400" noProof="0" dirty="0"/>
          </a:p>
        </p:txBody>
      </p:sp>
      <p:sp>
        <p:nvSpPr>
          <p:cNvPr id="26" name="Text 23"/>
          <p:cNvSpPr/>
          <p:nvPr/>
        </p:nvSpPr>
        <p:spPr>
          <a:xfrm>
            <a:off x="6197600" y="4157762"/>
            <a:ext cx="5181600" cy="434280"/>
          </a:xfrm>
          <a:prstGeom prst="roundRect">
            <a:avLst>
              <a:gd name="adj" fmla="val 11698"/>
            </a:avLst>
          </a:prstGeom>
          <a:solidFill>
            <a:srgbClr val="FFEE00"/>
          </a:solidFill>
          <a:ln/>
        </p:spPr>
        <p:txBody>
          <a:bodyPr wrap="square" lIns="137521" tIns="86721" rIns="0" bIns="61321" rtlCol="0" anchor="t">
            <a:normAutofit/>
          </a:bodyPr>
          <a:lstStyle/>
          <a:p>
            <a:pPr marL="0" indent="0" algn="l">
              <a:lnSpc>
                <a:spcPts val="1820"/>
              </a:lnSpc>
              <a:buNone/>
            </a:pPr>
            <a:r>
              <a:rPr lang="es-ES_tradnl" sz="1400" b="1" noProof="0" dirty="0">
                <a:solidFill>
                  <a:srgbClr val="1D1D1B"/>
                </a:solidFill>
                <a:latin typeface="DM Sans" pitchFamily="34" charset="0"/>
                <a:ea typeface="DM Sans" pitchFamily="34" charset="-122"/>
                <a:cs typeface="DM Sans" pitchFamily="34" charset="-120"/>
              </a:rPr>
              <a:t>L es un poco más preciso.</a:t>
            </a:r>
            <a:endParaRPr lang="es-ES_tradnl" sz="1400" noProof="0" dirty="0"/>
          </a:p>
        </p:txBody>
      </p:sp>
      <p:sp>
        <p:nvSpPr>
          <p:cNvPr id="27" name="Text 24"/>
          <p:cNvSpPr/>
          <p:nvPr/>
        </p:nvSpPr>
        <p:spPr>
          <a:xfrm>
            <a:off x="812800" y="4820642"/>
            <a:ext cx="10883392" cy="238720"/>
          </a:xfrm>
          <a:prstGeom prst="rect">
            <a:avLst/>
          </a:prstGeom>
          <a:noFill/>
          <a:ln/>
        </p:spPr>
        <p:txBody>
          <a:bodyPr wrap="square" lIns="0" tIns="0" rIns="0" bIns="0" rtlCol="0" anchor="t">
            <a:normAutofit/>
          </a:bodyPr>
          <a:lstStyle/>
          <a:p>
            <a:pPr marL="0" indent="0" algn="l">
              <a:lnSpc>
                <a:spcPts val="1680"/>
              </a:lnSpc>
              <a:buNone/>
            </a:pPr>
            <a:r>
              <a:rPr lang="es-ES_tradnl" sz="1200" noProof="0" dirty="0">
                <a:solidFill>
                  <a:srgbClr val="6E6E6C"/>
                </a:solidFill>
                <a:latin typeface="Roboto" pitchFamily="34" charset="0"/>
                <a:ea typeface="Roboto" pitchFamily="34" charset="-122"/>
                <a:cs typeface="Roboto" pitchFamily="34" charset="-120"/>
              </a:rPr>
              <a:t>En C la línea base también es más ancha (</a:t>
            </a:r>
            <a:r>
              <a:rPr lang="es-ES_tradnl" sz="1200" noProof="0" dirty="0" err="1">
                <a:solidFill>
                  <a:srgbClr val="6E6E6C"/>
                </a:solidFill>
                <a:latin typeface="Roboto" pitchFamily="34" charset="0"/>
                <a:ea typeface="Roboto" pitchFamily="34" charset="-122"/>
                <a:cs typeface="Roboto" pitchFamily="34" charset="-120"/>
              </a:rPr>
              <a:t>std</a:t>
            </a:r>
            <a:r>
              <a:rPr lang="es-ES_tradnl" sz="1200" noProof="0" dirty="0">
                <a:solidFill>
                  <a:srgbClr val="6E6E6C"/>
                </a:solidFill>
                <a:latin typeface="Roboto" pitchFamily="34" charset="0"/>
                <a:ea typeface="Roboto" pitchFamily="34" charset="-122"/>
                <a:cs typeface="Roboto" pitchFamily="34" charset="-120"/>
              </a:rPr>
              <a:t> de B ≈ 0.0157 contra 0.0104 en L), porque el sorteo con reposición agrega varianza.</a:t>
            </a:r>
            <a:endParaRPr lang="es-ES_tradnl" sz="1200" noProof="0" dirty="0"/>
          </a:p>
        </p:txBody>
      </p:sp>
      <p:sp>
        <p:nvSpPr>
          <p:cNvPr id="29" name="Text 26"/>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a:solidFill>
                  <a:srgbClr val="1D1D1B"/>
                </a:solidFill>
                <a:latin typeface="Roboto" pitchFamily="34" charset="0"/>
                <a:ea typeface="Roboto" pitchFamily="34" charset="-122"/>
                <a:cs typeface="Roboto" pitchFamily="34" charset="-120"/>
              </a:rPr>
              <a:t>24</a:t>
            </a:r>
            <a:endParaRPr lang="es-ES_tradnl" sz="1200" noProof="0" dirty="0"/>
          </a:p>
        </p:txBody>
      </p:sp>
    </p:spTree>
    <p:extLst>
      <p:ext uri="{BB962C8B-B14F-4D97-AF65-F5344CB8AC3E}">
        <p14:creationId xmlns:p14="http://schemas.microsoft.com/office/powerpoint/2010/main" val="405319875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s-ES_tradnl" noProof="0" dirty="0"/>
          </a:p>
        </p:txBody>
      </p:sp>
      <p:sp>
        <p:nvSpPr>
          <p:cNvPr id="3" name="Shape 1"/>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dirty="0">
                <a:solidFill>
                  <a:srgbClr val="1D1D1B"/>
                </a:solidFill>
                <a:latin typeface="DM Sans" pitchFamily="34" charset="0"/>
                <a:ea typeface="DM Sans" pitchFamily="34" charset="-122"/>
                <a:cs typeface="DM Sans" pitchFamily="34" charset="-120"/>
              </a:rPr>
              <a:t>II</a:t>
            </a:r>
            <a:endParaRPr lang="es-ES_tradnl" sz="1200" noProof="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dirty="0">
                <a:solidFill>
                  <a:srgbClr val="6E6E6C"/>
                </a:solidFill>
                <a:latin typeface="Roboto" pitchFamily="34" charset="0"/>
                <a:ea typeface="Roboto" pitchFamily="34" charset="-122"/>
                <a:cs typeface="Roboto" pitchFamily="34" charset="-120"/>
              </a:rPr>
              <a:t>DÓNDE ESTÁ LA PRIVACIDAD</a:t>
            </a:r>
            <a:endParaRPr lang="es-ES_tradnl" sz="1200" noProof="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s-ES_tradnl" sz="2800" b="1" i="0" kern="0" spc="-50" noProof="0" dirty="0">
                <a:solidFill>
                  <a:srgbClr val="1D1D1B"/>
                </a:solidFill>
                <a:latin typeface="DM Sans" pitchFamily="34" charset="0"/>
                <a:ea typeface="DM Sans" pitchFamily="34" charset="-122"/>
                <a:cs typeface="DM Sans" pitchFamily="34" charset="-120"/>
              </a:rPr>
              <a:t>Con 7 </a:t>
            </a:r>
            <a:r>
              <a:rPr lang="es-ES_tradnl" sz="2800" b="1" i="0" kern="0" spc="-50" noProof="0" dirty="0" err="1">
                <a:solidFill>
                  <a:srgbClr val="1D1D1B"/>
                </a:solidFill>
                <a:latin typeface="DM Sans" pitchFamily="34" charset="0"/>
                <a:ea typeface="DM Sans" pitchFamily="34" charset="-122"/>
                <a:cs typeface="DM Sans" pitchFamily="34" charset="-120"/>
              </a:rPr>
              <a:t>qubits</a:t>
            </a:r>
            <a:r>
              <a:rPr lang="es-ES_tradnl" sz="2800" b="1" i="0" kern="0" spc="-50" noProof="0" dirty="0">
                <a:solidFill>
                  <a:srgbClr val="1D1D1B"/>
                </a:solidFill>
                <a:latin typeface="DM Sans" pitchFamily="34" charset="0"/>
                <a:ea typeface="DM Sans" pitchFamily="34" charset="-122"/>
                <a:cs typeface="DM Sans" pitchFamily="34" charset="-120"/>
              </a:rPr>
              <a:t>, C se vuelve inutilizable</a:t>
            </a:r>
            <a:endParaRPr lang="es-ES_tradnl" sz="2800" noProof="0" dirty="0"/>
          </a:p>
        </p:txBody>
      </p:sp>
      <p:sp>
        <p:nvSpPr>
          <p:cNvPr id="8" name="Text 5"/>
          <p:cNvSpPr/>
          <p:nvPr/>
        </p:nvSpPr>
        <p:spPr>
          <a:xfrm>
            <a:off x="812800" y="1305520"/>
            <a:ext cx="10883392" cy="322560"/>
          </a:xfrm>
          <a:prstGeom prst="rect">
            <a:avLst/>
          </a:prstGeom>
          <a:noFill/>
          <a:ln/>
        </p:spPr>
        <p:txBody>
          <a:bodyPr wrap="square" lIns="0" tIns="0" rIns="0" bIns="0" rtlCol="0" anchor="t">
            <a:normAutofit/>
          </a:bodyPr>
          <a:lstStyle/>
          <a:p>
            <a:pPr marL="0" indent="0" algn="l">
              <a:lnSpc>
                <a:spcPts val="2340"/>
              </a:lnSpc>
              <a:buNone/>
            </a:pPr>
            <a:r>
              <a:rPr lang="es-ES_tradnl" sz="1800" noProof="0" dirty="0">
                <a:solidFill>
                  <a:srgbClr val="3C3C3B"/>
                </a:solidFill>
                <a:latin typeface="Roboto" pitchFamily="34" charset="0"/>
                <a:ea typeface="Roboto" pitchFamily="34" charset="-122"/>
                <a:cs typeface="Roboto" pitchFamily="34" charset="-120"/>
              </a:rPr>
              <a:t>Publicación conjunta (D = 128): </a:t>
            </a:r>
            <a:r>
              <a:rPr lang="es-ES_tradnl" sz="1800" noProof="0" dirty="0" err="1">
                <a:solidFill>
                  <a:srgbClr val="3C3C3B"/>
                </a:solidFill>
                <a:latin typeface="Roboto" pitchFamily="34" charset="0"/>
                <a:ea typeface="Roboto" pitchFamily="34" charset="-122"/>
                <a:cs typeface="Roboto" pitchFamily="34" charset="-120"/>
              </a:rPr>
              <a:t>ε</a:t>
            </a:r>
            <a:r>
              <a:rPr lang="es-ES_tradnl" sz="1800" noProof="0" dirty="0">
                <a:solidFill>
                  <a:srgbClr val="3C3C3B"/>
                </a:solidFill>
                <a:latin typeface="Roboto" pitchFamily="34" charset="0"/>
                <a:ea typeface="Roboto" pitchFamily="34" charset="-122"/>
                <a:cs typeface="Roboto" pitchFamily="34" charset="-120"/>
              </a:rPr>
              <a:t> por copia = 0.106 (Acto I).</a:t>
            </a:r>
            <a:endParaRPr lang="es-ES_tradnl" sz="1800" noProof="0" dirty="0"/>
          </a:p>
        </p:txBody>
      </p:sp>
      <p:sp>
        <p:nvSpPr>
          <p:cNvPr id="9" name="Shape 6"/>
          <p:cNvSpPr/>
          <p:nvPr/>
        </p:nvSpPr>
        <p:spPr>
          <a:xfrm>
            <a:off x="819150" y="1863030"/>
            <a:ext cx="3416300" cy="2039441"/>
          </a:xfrm>
          <a:prstGeom prst="roundRect">
            <a:avLst>
              <a:gd name="adj" fmla="val 4670"/>
            </a:avLst>
          </a:prstGeom>
          <a:noFill/>
          <a:ln w="12700">
            <a:solidFill>
              <a:srgbClr val="3C3C3B"/>
            </a:solidFill>
            <a:prstDash val="solid"/>
          </a:ln>
        </p:spPr>
        <p:txBody>
          <a:bodyPr/>
          <a:lstStyle/>
          <a:p>
            <a:endParaRPr lang="es-ES_tradnl" noProof="0" dirty="0"/>
          </a:p>
        </p:txBody>
      </p:sp>
      <p:sp>
        <p:nvSpPr>
          <p:cNvPr id="10" name="Text 7"/>
          <p:cNvSpPr/>
          <p:nvPr/>
        </p:nvSpPr>
        <p:spPr>
          <a:xfrm>
            <a:off x="1028700" y="2072580"/>
            <a:ext cx="3087116" cy="238720"/>
          </a:xfrm>
          <a:prstGeom prst="rect">
            <a:avLst/>
          </a:prstGeom>
          <a:noFill/>
          <a:ln/>
        </p:spPr>
        <p:txBody>
          <a:bodyPr wrap="square" lIns="0" tIns="0" rIns="0" bIns="0" rtlCol="0" anchor="t">
            <a:normAutofit/>
          </a:bodyPr>
          <a:lstStyle/>
          <a:p>
            <a:pPr marL="0" indent="0" algn="l">
              <a:lnSpc>
                <a:spcPts val="1680"/>
              </a:lnSpc>
              <a:buNone/>
            </a:pPr>
            <a:r>
              <a:rPr lang="es-ES_tradnl" sz="1200" b="1" kern="0" spc="100" noProof="0" dirty="0">
                <a:solidFill>
                  <a:srgbClr val="6E6E6C"/>
                </a:solidFill>
                <a:latin typeface="Roboto" pitchFamily="34" charset="0"/>
                <a:ea typeface="Roboto" pitchFamily="34" charset="-122"/>
                <a:cs typeface="Roboto" pitchFamily="34" charset="-120"/>
              </a:rPr>
              <a:t>N = 1000 COPIAS</a:t>
            </a:r>
            <a:endParaRPr lang="es-ES_tradnl" sz="1200" noProof="0" dirty="0"/>
          </a:p>
        </p:txBody>
      </p:sp>
      <p:sp>
        <p:nvSpPr>
          <p:cNvPr id="11" name="Text 8"/>
          <p:cNvSpPr/>
          <p:nvPr/>
        </p:nvSpPr>
        <p:spPr>
          <a:xfrm>
            <a:off x="1028700" y="2362101"/>
            <a:ext cx="3087116" cy="665460"/>
          </a:xfrm>
          <a:prstGeom prst="rect">
            <a:avLst/>
          </a:prstGeom>
          <a:noFill/>
          <a:ln/>
        </p:spPr>
        <p:txBody>
          <a:bodyPr wrap="square" lIns="0" tIns="0" rIns="0" bIns="0" rtlCol="0" anchor="t">
            <a:normAutofit/>
          </a:bodyPr>
          <a:lstStyle/>
          <a:p>
            <a:pPr marL="0" indent="0" algn="l">
              <a:lnSpc>
                <a:spcPts val="5040"/>
              </a:lnSpc>
              <a:buNone/>
            </a:pPr>
            <a:r>
              <a:rPr lang="es-ES_tradnl" sz="4800" b="1" kern="0" spc="-100" noProof="0" dirty="0" err="1">
                <a:solidFill>
                  <a:srgbClr val="1D1D1B"/>
                </a:solidFill>
                <a:latin typeface="DM Sans" pitchFamily="34" charset="0"/>
                <a:ea typeface="DM Sans" pitchFamily="34" charset="-122"/>
                <a:cs typeface="DM Sans" pitchFamily="34" charset="-120"/>
              </a:rPr>
              <a:t>ε</a:t>
            </a:r>
            <a:r>
              <a:rPr lang="es-ES_tradnl" sz="4800" b="1" kern="0" spc="-100" noProof="0" dirty="0">
                <a:solidFill>
                  <a:srgbClr val="1D1D1B"/>
                </a:solidFill>
                <a:latin typeface="DM Sans" pitchFamily="34" charset="0"/>
                <a:ea typeface="DM Sans" pitchFamily="34" charset="-122"/>
                <a:cs typeface="DM Sans" pitchFamily="34" charset="-120"/>
              </a:rPr>
              <a:t> = 106</a:t>
            </a:r>
            <a:endParaRPr lang="es-ES_tradnl" sz="4800" noProof="0" dirty="0"/>
          </a:p>
        </p:txBody>
      </p:sp>
      <p:sp>
        <p:nvSpPr>
          <p:cNvPr id="12" name="Text 9"/>
          <p:cNvSpPr/>
          <p:nvPr/>
        </p:nvSpPr>
        <p:spPr>
          <a:xfrm>
            <a:off x="1028700" y="3078361"/>
            <a:ext cx="3087116" cy="238720"/>
          </a:xfrm>
          <a:prstGeom prst="rect">
            <a:avLst/>
          </a:prstGeom>
          <a:noFill/>
          <a:ln/>
        </p:spPr>
        <p:txBody>
          <a:bodyPr wrap="square" lIns="0" tIns="0" rIns="0" bIns="0" rtlCol="0" anchor="t">
            <a:normAutofit/>
          </a:bodyPr>
          <a:lstStyle/>
          <a:p>
            <a:pPr marL="0" indent="0" algn="l">
              <a:lnSpc>
                <a:spcPts val="1680"/>
              </a:lnSpc>
              <a:buNone/>
            </a:pPr>
            <a:r>
              <a:rPr lang="es-ES_tradnl" sz="1200" noProof="0" dirty="0">
                <a:solidFill>
                  <a:srgbClr val="3C3C3B"/>
                </a:solidFill>
                <a:latin typeface="Roboto" pitchFamily="34" charset="0"/>
                <a:ea typeface="Roboto" pitchFamily="34" charset="-122"/>
                <a:cs typeface="Roboto" pitchFamily="34" charset="-120"/>
              </a:rPr>
              <a:t>e¹⁰⁶ ≈ 10⁴⁶: no queda garantía.</a:t>
            </a:r>
            <a:endParaRPr lang="es-ES_tradnl" sz="1200" noProof="0" dirty="0"/>
          </a:p>
        </p:txBody>
      </p:sp>
      <p:sp>
        <p:nvSpPr>
          <p:cNvPr id="13" name="Shape 10"/>
          <p:cNvSpPr/>
          <p:nvPr/>
        </p:nvSpPr>
        <p:spPr>
          <a:xfrm>
            <a:off x="4400550" y="1863030"/>
            <a:ext cx="3416300" cy="2039441"/>
          </a:xfrm>
          <a:prstGeom prst="roundRect">
            <a:avLst>
              <a:gd name="adj" fmla="val 4670"/>
            </a:avLst>
          </a:prstGeom>
          <a:noFill/>
          <a:ln w="12700">
            <a:solidFill>
              <a:srgbClr val="3C3C3B"/>
            </a:solidFill>
            <a:prstDash val="solid"/>
          </a:ln>
        </p:spPr>
        <p:txBody>
          <a:bodyPr/>
          <a:lstStyle/>
          <a:p>
            <a:endParaRPr lang="es-ES_tradnl" noProof="0" dirty="0"/>
          </a:p>
        </p:txBody>
      </p:sp>
      <p:sp>
        <p:nvSpPr>
          <p:cNvPr id="14" name="Text 11"/>
          <p:cNvSpPr/>
          <p:nvPr/>
        </p:nvSpPr>
        <p:spPr>
          <a:xfrm>
            <a:off x="4610100" y="2072580"/>
            <a:ext cx="3087116" cy="238720"/>
          </a:xfrm>
          <a:prstGeom prst="rect">
            <a:avLst/>
          </a:prstGeom>
          <a:noFill/>
          <a:ln/>
        </p:spPr>
        <p:txBody>
          <a:bodyPr wrap="square" lIns="0" tIns="0" rIns="0" bIns="0" rtlCol="0" anchor="t">
            <a:normAutofit/>
          </a:bodyPr>
          <a:lstStyle/>
          <a:p>
            <a:pPr marL="0" indent="0" algn="l">
              <a:lnSpc>
                <a:spcPts val="1680"/>
              </a:lnSpc>
              <a:buNone/>
            </a:pPr>
            <a:r>
              <a:rPr lang="es-ES_tradnl" sz="1200" b="1" kern="0" spc="100" noProof="0" dirty="0">
                <a:solidFill>
                  <a:srgbClr val="6E6E6C"/>
                </a:solidFill>
                <a:latin typeface="Roboto" pitchFamily="34" charset="0"/>
                <a:ea typeface="Roboto" pitchFamily="34" charset="-122"/>
                <a:cs typeface="Roboto" pitchFamily="34" charset="-120"/>
              </a:rPr>
              <a:t>PARA </a:t>
            </a:r>
            <a:r>
              <a:rPr lang="es-ES_tradnl" sz="1200" b="1" kern="0" spc="100" noProof="0" dirty="0" err="1">
                <a:solidFill>
                  <a:srgbClr val="6E6E6C"/>
                </a:solidFill>
                <a:latin typeface="Roboto" pitchFamily="34" charset="0"/>
                <a:ea typeface="Roboto" pitchFamily="34" charset="-122"/>
                <a:cs typeface="Roboto" pitchFamily="34" charset="-120"/>
              </a:rPr>
              <a:t>Ε</a:t>
            </a:r>
            <a:r>
              <a:rPr lang="es-ES_tradnl" sz="1200" b="1" kern="0" spc="100" noProof="0" dirty="0">
                <a:solidFill>
                  <a:srgbClr val="6E6E6C"/>
                </a:solidFill>
                <a:latin typeface="Roboto" pitchFamily="34" charset="0"/>
                <a:ea typeface="Roboto" pitchFamily="34" charset="-122"/>
                <a:cs typeface="Roboto" pitchFamily="34" charset="-120"/>
              </a:rPr>
              <a:t> TOTAL ≈ 1</a:t>
            </a:r>
            <a:endParaRPr lang="es-ES_tradnl" sz="1200" noProof="0" dirty="0"/>
          </a:p>
        </p:txBody>
      </p:sp>
      <p:sp>
        <p:nvSpPr>
          <p:cNvPr id="15" name="Text 12"/>
          <p:cNvSpPr/>
          <p:nvPr/>
        </p:nvSpPr>
        <p:spPr>
          <a:xfrm>
            <a:off x="4610100" y="2362101"/>
            <a:ext cx="3087116" cy="665460"/>
          </a:xfrm>
          <a:prstGeom prst="rect">
            <a:avLst/>
          </a:prstGeom>
          <a:noFill/>
          <a:ln/>
        </p:spPr>
        <p:txBody>
          <a:bodyPr wrap="square" lIns="0" tIns="0" rIns="0" bIns="0" rtlCol="0" anchor="t">
            <a:normAutofit/>
          </a:bodyPr>
          <a:lstStyle/>
          <a:p>
            <a:pPr marL="0" indent="0" algn="l">
              <a:lnSpc>
                <a:spcPts val="5040"/>
              </a:lnSpc>
              <a:buNone/>
            </a:pPr>
            <a:r>
              <a:rPr lang="es-ES_tradnl" sz="4800" b="1" kern="0" spc="-100" noProof="0" dirty="0">
                <a:solidFill>
                  <a:srgbClr val="1D1D1B"/>
                </a:solidFill>
                <a:latin typeface="DM Sans" pitchFamily="34" charset="0"/>
                <a:ea typeface="DM Sans" pitchFamily="34" charset="-122"/>
                <a:cs typeface="DM Sans" pitchFamily="34" charset="-120"/>
              </a:rPr>
              <a:t>N ≈ 9</a:t>
            </a:r>
            <a:endParaRPr lang="es-ES_tradnl" sz="4800" noProof="0" dirty="0"/>
          </a:p>
        </p:txBody>
      </p:sp>
      <p:sp>
        <p:nvSpPr>
          <p:cNvPr id="16" name="Text 13"/>
          <p:cNvSpPr/>
          <p:nvPr/>
        </p:nvSpPr>
        <p:spPr>
          <a:xfrm>
            <a:off x="4610100" y="3078361"/>
            <a:ext cx="3087116" cy="452041"/>
          </a:xfrm>
          <a:prstGeom prst="rect">
            <a:avLst/>
          </a:prstGeom>
          <a:noFill/>
          <a:ln/>
        </p:spPr>
        <p:txBody>
          <a:bodyPr wrap="square" lIns="0" tIns="0" rIns="0" bIns="0" rtlCol="0" anchor="t">
            <a:normAutofit/>
          </a:bodyPr>
          <a:lstStyle/>
          <a:p>
            <a:pPr marL="0" indent="0" algn="l">
              <a:lnSpc>
                <a:spcPts val="1680"/>
              </a:lnSpc>
              <a:buNone/>
            </a:pPr>
            <a:r>
              <a:rPr lang="es-ES_tradnl" sz="1200" noProof="0" dirty="0" err="1">
                <a:solidFill>
                  <a:srgbClr val="3C3C3B"/>
                </a:solidFill>
                <a:latin typeface="Roboto" pitchFamily="34" charset="0"/>
                <a:ea typeface="Roboto" pitchFamily="34" charset="-122"/>
                <a:cs typeface="Roboto" pitchFamily="34" charset="-120"/>
              </a:rPr>
              <a:t>std</a:t>
            </a:r>
            <a:r>
              <a:rPr lang="es-ES_tradnl" sz="1200" noProof="0" dirty="0">
                <a:solidFill>
                  <a:srgbClr val="3C3C3B"/>
                </a:solidFill>
                <a:latin typeface="Roboto" pitchFamily="34" charset="0"/>
                <a:ea typeface="Roboto" pitchFamily="34" charset="-122"/>
                <a:cs typeface="Roboto" pitchFamily="34" charset="-120"/>
              </a:rPr>
              <a:t>(F̂) ≈ 0.33: el intervalo 0.45 ± 2·std cubre todos los valores posibles. Inútil.</a:t>
            </a:r>
            <a:endParaRPr lang="es-ES_tradnl" sz="1200" noProof="0" dirty="0"/>
          </a:p>
        </p:txBody>
      </p:sp>
      <p:sp>
        <p:nvSpPr>
          <p:cNvPr id="17" name="Shape 14"/>
          <p:cNvSpPr/>
          <p:nvPr/>
        </p:nvSpPr>
        <p:spPr>
          <a:xfrm>
            <a:off x="7975600" y="1856680"/>
            <a:ext cx="3403600" cy="2052141"/>
          </a:xfrm>
          <a:prstGeom prst="roundRect">
            <a:avLst>
              <a:gd name="adj" fmla="val 4951"/>
            </a:avLst>
          </a:prstGeom>
          <a:solidFill>
            <a:srgbClr val="FFEE00"/>
          </a:solidFill>
          <a:ln/>
        </p:spPr>
        <p:txBody>
          <a:bodyPr/>
          <a:lstStyle/>
          <a:p>
            <a:endParaRPr lang="es-ES_tradnl" noProof="0" dirty="0"/>
          </a:p>
        </p:txBody>
      </p:sp>
      <p:sp>
        <p:nvSpPr>
          <p:cNvPr id="18" name="Text 15"/>
          <p:cNvSpPr/>
          <p:nvPr/>
        </p:nvSpPr>
        <p:spPr>
          <a:xfrm>
            <a:off x="8178800" y="2059880"/>
            <a:ext cx="3087116" cy="238720"/>
          </a:xfrm>
          <a:prstGeom prst="rect">
            <a:avLst/>
          </a:prstGeom>
          <a:noFill/>
          <a:ln/>
        </p:spPr>
        <p:txBody>
          <a:bodyPr wrap="square" lIns="0" tIns="0" rIns="0" bIns="0" rtlCol="0" anchor="t">
            <a:normAutofit/>
          </a:bodyPr>
          <a:lstStyle/>
          <a:p>
            <a:pPr marL="0" indent="0" algn="l">
              <a:lnSpc>
                <a:spcPts val="1680"/>
              </a:lnSpc>
              <a:buNone/>
            </a:pPr>
            <a:r>
              <a:rPr lang="es-ES_tradnl" sz="1200" b="1" kern="0" spc="100" noProof="0" dirty="0">
                <a:solidFill>
                  <a:srgbClr val="1D1D1B"/>
                </a:solidFill>
                <a:latin typeface="Roboto" pitchFamily="34" charset="0"/>
                <a:ea typeface="Roboto" pitchFamily="34" charset="-122"/>
                <a:cs typeface="Roboto" pitchFamily="34" charset="-120"/>
              </a:rPr>
              <a:t>A IGUAL </a:t>
            </a:r>
            <a:r>
              <a:rPr lang="es-ES_tradnl" sz="1200" b="1" kern="0" spc="100" noProof="0" dirty="0" err="1">
                <a:solidFill>
                  <a:srgbClr val="1D1D1B"/>
                </a:solidFill>
                <a:latin typeface="Roboto" pitchFamily="34" charset="0"/>
                <a:ea typeface="Roboto" pitchFamily="34" charset="-122"/>
                <a:cs typeface="Roboto" pitchFamily="34" charset="-120"/>
              </a:rPr>
              <a:t>Ε</a:t>
            </a:r>
            <a:r>
              <a:rPr lang="es-ES_tradnl" sz="1200" b="1" kern="0" spc="100" noProof="0" dirty="0">
                <a:solidFill>
                  <a:srgbClr val="1D1D1B"/>
                </a:solidFill>
                <a:latin typeface="Roboto" pitchFamily="34" charset="0"/>
                <a:ea typeface="Roboto" pitchFamily="34" charset="-122"/>
                <a:cs typeface="Roboto" pitchFamily="34" charset="-120"/>
              </a:rPr>
              <a:t> QUE L</a:t>
            </a:r>
            <a:endParaRPr lang="es-ES_tradnl" sz="1200" noProof="0" dirty="0"/>
          </a:p>
        </p:txBody>
      </p:sp>
      <p:sp>
        <p:nvSpPr>
          <p:cNvPr id="19" name="Text 16"/>
          <p:cNvSpPr/>
          <p:nvPr/>
        </p:nvSpPr>
        <p:spPr>
          <a:xfrm>
            <a:off x="8178800" y="2349401"/>
            <a:ext cx="3087116" cy="665460"/>
          </a:xfrm>
          <a:prstGeom prst="rect">
            <a:avLst/>
          </a:prstGeom>
          <a:noFill/>
          <a:ln/>
        </p:spPr>
        <p:txBody>
          <a:bodyPr wrap="square" lIns="0" tIns="0" rIns="0" bIns="0" rtlCol="0" anchor="t">
            <a:normAutofit/>
          </a:bodyPr>
          <a:lstStyle/>
          <a:p>
            <a:pPr marL="0" indent="0" algn="l">
              <a:lnSpc>
                <a:spcPts val="5040"/>
              </a:lnSpc>
              <a:buNone/>
            </a:pPr>
            <a:r>
              <a:rPr lang="es-ES_tradnl" sz="4800" b="1" kern="0" spc="-100" noProof="0" dirty="0">
                <a:solidFill>
                  <a:srgbClr val="1D1D1B"/>
                </a:solidFill>
                <a:latin typeface="DM Sans" pitchFamily="34" charset="0"/>
                <a:ea typeface="DM Sans" pitchFamily="34" charset="-122"/>
                <a:cs typeface="DM Sans" pitchFamily="34" charset="-120"/>
              </a:rPr>
              <a:t>N ≈ 46</a:t>
            </a:r>
            <a:endParaRPr lang="es-ES_tradnl" sz="4800" noProof="0" dirty="0"/>
          </a:p>
        </p:txBody>
      </p:sp>
      <p:sp>
        <p:nvSpPr>
          <p:cNvPr id="20" name="Text 17"/>
          <p:cNvSpPr/>
          <p:nvPr/>
        </p:nvSpPr>
        <p:spPr>
          <a:xfrm>
            <a:off x="8178800" y="3065661"/>
            <a:ext cx="3087116" cy="665361"/>
          </a:xfrm>
          <a:prstGeom prst="rect">
            <a:avLst/>
          </a:prstGeom>
          <a:noFill/>
          <a:ln/>
        </p:spPr>
        <p:txBody>
          <a:bodyPr wrap="square" lIns="0" tIns="0" rIns="0" bIns="0" rtlCol="0" anchor="t">
            <a:normAutofit/>
          </a:bodyPr>
          <a:lstStyle/>
          <a:p>
            <a:pPr marL="0" indent="0" algn="l">
              <a:lnSpc>
                <a:spcPts val="1680"/>
              </a:lnSpc>
              <a:buNone/>
            </a:pPr>
            <a:r>
              <a:rPr lang="es-ES_tradnl" sz="1200" noProof="0" dirty="0">
                <a:solidFill>
                  <a:srgbClr val="1D1D1B"/>
                </a:solidFill>
                <a:latin typeface="Roboto" pitchFamily="34" charset="0"/>
                <a:ea typeface="Roboto" pitchFamily="34" charset="-122"/>
                <a:cs typeface="Roboto" pitchFamily="34" charset="-120"/>
              </a:rPr>
              <a:t>Cota de L: </a:t>
            </a:r>
            <a:r>
              <a:rPr lang="es-ES_tradnl" sz="1200" noProof="0" dirty="0" err="1">
                <a:solidFill>
                  <a:srgbClr val="1D1D1B"/>
                </a:solidFill>
                <a:latin typeface="Roboto" pitchFamily="34" charset="0"/>
                <a:ea typeface="Roboto" pitchFamily="34" charset="-122"/>
                <a:cs typeface="Roboto" pitchFamily="34" charset="-120"/>
              </a:rPr>
              <a:t>ln</a:t>
            </a:r>
            <a:r>
              <a:rPr lang="es-ES_tradnl" sz="1200" noProof="0" dirty="0">
                <a:solidFill>
                  <a:srgbClr val="1D1D1B"/>
                </a:solidFill>
                <a:latin typeface="Roboto" pitchFamily="34" charset="0"/>
                <a:ea typeface="Roboto" pitchFamily="34" charset="-122"/>
                <a:cs typeface="Roboto" pitchFamily="34" charset="-120"/>
              </a:rPr>
              <a:t> 129 ≈ 4.86. </a:t>
            </a:r>
            <a:r>
              <a:rPr lang="es-ES_tradnl" sz="1200" noProof="0" dirty="0" err="1">
                <a:solidFill>
                  <a:srgbClr val="1D1D1B"/>
                </a:solidFill>
                <a:latin typeface="Roboto" pitchFamily="34" charset="0"/>
                <a:ea typeface="Roboto" pitchFamily="34" charset="-122"/>
                <a:cs typeface="Roboto" pitchFamily="34" charset="-120"/>
              </a:rPr>
              <a:t>std</a:t>
            </a:r>
            <a:r>
              <a:rPr lang="es-ES_tradnl" sz="1200" noProof="0" dirty="0">
                <a:solidFill>
                  <a:srgbClr val="1D1D1B"/>
                </a:solidFill>
                <a:latin typeface="Roboto" pitchFamily="34" charset="0"/>
                <a:ea typeface="Roboto" pitchFamily="34" charset="-122"/>
                <a:cs typeface="Roboto" pitchFamily="34" charset="-120"/>
              </a:rPr>
              <a:t>(F̂) ≈ 0.15 contra 0.029 en L: </a:t>
            </a:r>
            <a:r>
              <a:rPr lang="es-ES_tradnl" sz="1200" b="1" noProof="0" dirty="0">
                <a:solidFill>
                  <a:srgbClr val="1D1D1B"/>
                </a:solidFill>
                <a:latin typeface="Roboto" pitchFamily="34" charset="0"/>
                <a:ea typeface="Roboto" pitchFamily="34" charset="-122"/>
                <a:cs typeface="Roboto" pitchFamily="34" charset="-120"/>
              </a:rPr>
              <a:t>L es unas 5 veces más preciso.</a:t>
            </a:r>
            <a:endParaRPr lang="es-ES_tradnl" sz="1200" noProof="0" dirty="0"/>
          </a:p>
        </p:txBody>
      </p:sp>
      <p:sp>
        <p:nvSpPr>
          <p:cNvPr id="21" name="Shape 18"/>
          <p:cNvSpPr/>
          <p:nvPr/>
        </p:nvSpPr>
        <p:spPr>
          <a:xfrm>
            <a:off x="819150" y="4169172"/>
            <a:ext cx="10553700" cy="571500"/>
          </a:xfrm>
          <a:prstGeom prst="roundRect">
            <a:avLst>
              <a:gd name="adj" fmla="val 12222"/>
            </a:avLst>
          </a:prstGeom>
          <a:noFill/>
          <a:ln w="12700">
            <a:solidFill>
              <a:srgbClr val="B9B9B5"/>
            </a:solidFill>
            <a:prstDash val="dash"/>
          </a:ln>
        </p:spPr>
        <p:txBody>
          <a:bodyPr/>
          <a:lstStyle/>
          <a:p>
            <a:endParaRPr lang="es-ES_tradnl" noProof="0" dirty="0"/>
          </a:p>
        </p:txBody>
      </p:sp>
      <p:pic>
        <p:nvPicPr>
          <p:cNvPr id="22" name="Image 1" descr="Warning"/>
          <p:cNvPicPr>
            <a:picLocks noChangeAspect="1"/>
          </p:cNvPicPr>
          <p:nvPr/>
        </p:nvPicPr>
        <p:blipFill>
          <a:blip r:embed="rId4"/>
          <a:srcRect/>
          <a:stretch/>
        </p:blipFill>
        <p:spPr>
          <a:xfrm>
            <a:off x="1003300" y="4302522"/>
            <a:ext cx="304800" cy="304800"/>
          </a:xfrm>
          <a:prstGeom prst="rect">
            <a:avLst/>
          </a:prstGeom>
        </p:spPr>
      </p:pic>
      <p:sp>
        <p:nvSpPr>
          <p:cNvPr id="23" name="Text 19"/>
          <p:cNvSpPr/>
          <p:nvPr/>
        </p:nvSpPr>
        <p:spPr>
          <a:xfrm>
            <a:off x="1435100" y="4330502"/>
            <a:ext cx="10046208" cy="274241"/>
          </a:xfrm>
          <a:prstGeom prst="rect">
            <a:avLst/>
          </a:prstGeom>
          <a:noFill/>
          <a:ln/>
        </p:spPr>
        <p:txBody>
          <a:bodyPr wrap="square" lIns="0" tIns="0" rIns="0" bIns="0" rtlCol="0" anchor="t">
            <a:normAutofit/>
          </a:bodyPr>
          <a:lstStyle/>
          <a:p>
            <a:pPr marL="0" indent="0" algn="l">
              <a:lnSpc>
                <a:spcPts val="1960"/>
              </a:lnSpc>
              <a:buNone/>
            </a:pPr>
            <a:r>
              <a:rPr lang="es-ES_tradnl" sz="1400" b="1" noProof="0" dirty="0">
                <a:solidFill>
                  <a:srgbClr val="3C3C3B"/>
                </a:solidFill>
                <a:latin typeface="Roboto" pitchFamily="34" charset="0"/>
                <a:ea typeface="Roboto" pitchFamily="34" charset="-122"/>
                <a:cs typeface="Roboto" pitchFamily="34" charset="-120"/>
              </a:rPr>
              <a:t>Nota honesta:</a:t>
            </a:r>
            <a:r>
              <a:rPr lang="es-ES_tradnl" sz="1400" noProof="0" dirty="0">
                <a:solidFill>
                  <a:srgbClr val="3C3C3B"/>
                </a:solidFill>
                <a:latin typeface="Roboto" pitchFamily="34" charset="0"/>
                <a:ea typeface="Roboto" pitchFamily="34" charset="-122"/>
                <a:cs typeface="Roboto" pitchFamily="34" charset="-120"/>
              </a:rPr>
              <a:t> el </a:t>
            </a:r>
            <a:r>
              <a:rPr lang="es-ES_tradnl" sz="1400" noProof="0" dirty="0" err="1">
                <a:solidFill>
                  <a:srgbClr val="3C3C3B"/>
                </a:solidFill>
                <a:latin typeface="Roboto" pitchFamily="34" charset="0"/>
                <a:ea typeface="Roboto" pitchFamily="34" charset="-122"/>
                <a:cs typeface="Roboto" pitchFamily="34" charset="-120"/>
              </a:rPr>
              <a:t>ε</a:t>
            </a:r>
            <a:r>
              <a:rPr lang="es-ES_tradnl" sz="1400" noProof="0" dirty="0">
                <a:solidFill>
                  <a:srgbClr val="3C3C3B"/>
                </a:solidFill>
                <a:latin typeface="Roboto" pitchFamily="34" charset="0"/>
                <a:ea typeface="Roboto" pitchFamily="34" charset="-122"/>
                <a:cs typeface="Roboto" pitchFamily="34" charset="-120"/>
              </a:rPr>
              <a:t> de L con 7 </a:t>
            </a:r>
            <a:r>
              <a:rPr lang="es-ES_tradnl" sz="1400" noProof="0" dirty="0" err="1">
                <a:solidFill>
                  <a:srgbClr val="3C3C3B"/>
                </a:solidFill>
                <a:latin typeface="Roboto" pitchFamily="34" charset="0"/>
                <a:ea typeface="Roboto" pitchFamily="34" charset="-122"/>
                <a:cs typeface="Roboto" pitchFamily="34" charset="-120"/>
              </a:rPr>
              <a:t>qubits</a:t>
            </a:r>
            <a:r>
              <a:rPr lang="es-ES_tradnl" sz="1400" noProof="0" dirty="0">
                <a:solidFill>
                  <a:srgbClr val="3C3C3B"/>
                </a:solidFill>
                <a:latin typeface="Roboto" pitchFamily="34" charset="0"/>
                <a:ea typeface="Roboto" pitchFamily="34" charset="-122"/>
                <a:cs typeface="Roboto" pitchFamily="34" charset="-120"/>
              </a:rPr>
              <a:t> es solo la cota (</a:t>
            </a:r>
            <a:r>
              <a:rPr lang="es-ES_tradnl" sz="1400" noProof="0" dirty="0" err="1">
                <a:solidFill>
                  <a:srgbClr val="3C3C3B"/>
                </a:solidFill>
                <a:latin typeface="Roboto" pitchFamily="34" charset="0"/>
                <a:ea typeface="Roboto" pitchFamily="34" charset="-122"/>
                <a:cs typeface="Roboto" pitchFamily="34" charset="-120"/>
              </a:rPr>
              <a:t>ln</a:t>
            </a:r>
            <a:r>
              <a:rPr lang="es-ES_tradnl" sz="1400" noProof="0" dirty="0">
                <a:solidFill>
                  <a:srgbClr val="3C3C3B"/>
                </a:solidFill>
                <a:latin typeface="Roboto" pitchFamily="34" charset="0"/>
                <a:ea typeface="Roboto" pitchFamily="34" charset="-122"/>
                <a:cs typeface="Roboto" pitchFamily="34" charset="-120"/>
              </a:rPr>
              <a:t> 129). Su cálculo experimental queda fuera de alcance.</a:t>
            </a:r>
            <a:endParaRPr lang="es-ES_tradnl" sz="1400" noProof="0" dirty="0"/>
          </a:p>
        </p:txBody>
      </p:sp>
      <p:sp>
        <p:nvSpPr>
          <p:cNvPr id="25" name="Text 21"/>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a:solidFill>
                  <a:srgbClr val="1D1D1B"/>
                </a:solidFill>
                <a:latin typeface="Roboto" pitchFamily="34" charset="0"/>
                <a:ea typeface="Roboto" pitchFamily="34" charset="-122"/>
                <a:cs typeface="Roboto" pitchFamily="34" charset="-120"/>
              </a:rPr>
              <a:t>25</a:t>
            </a:r>
            <a:endParaRPr lang="es-ES_tradnl" sz="1200" noProof="0" dirty="0"/>
          </a:p>
        </p:txBody>
      </p:sp>
    </p:spTree>
    <p:extLst>
      <p:ext uri="{BB962C8B-B14F-4D97-AF65-F5344CB8AC3E}">
        <p14:creationId xmlns:p14="http://schemas.microsoft.com/office/powerpoint/2010/main" val="6737324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s-ES_tradnl" noProof="0" dirty="0"/>
          </a:p>
        </p:txBody>
      </p:sp>
      <p:sp>
        <p:nvSpPr>
          <p:cNvPr id="3" name="Shape 1"/>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dirty="0">
                <a:solidFill>
                  <a:srgbClr val="1D1D1B"/>
                </a:solidFill>
                <a:latin typeface="DM Sans" pitchFamily="34" charset="0"/>
                <a:ea typeface="DM Sans" pitchFamily="34" charset="-122"/>
                <a:cs typeface="DM Sans" pitchFamily="34" charset="-120"/>
              </a:rPr>
              <a:t>II</a:t>
            </a:r>
            <a:endParaRPr lang="es-ES_tradnl" sz="1200" noProof="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dirty="0">
                <a:solidFill>
                  <a:srgbClr val="6E6E6C"/>
                </a:solidFill>
                <a:latin typeface="Roboto" pitchFamily="34" charset="0"/>
                <a:ea typeface="Roboto" pitchFamily="34" charset="-122"/>
                <a:cs typeface="Roboto" pitchFamily="34" charset="-120"/>
              </a:rPr>
              <a:t>DÓNDE ESTÁ LA PRIVACIDAD</a:t>
            </a:r>
            <a:endParaRPr lang="es-ES_tradnl" sz="1200" noProof="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s-ES_tradnl" sz="2800" b="1" i="0" kern="0" spc="-50" noProof="0" dirty="0">
                <a:solidFill>
                  <a:srgbClr val="1D1D1B"/>
                </a:solidFill>
                <a:latin typeface="DM Sans" pitchFamily="34" charset="0"/>
                <a:ea typeface="DM Sans" pitchFamily="34" charset="-122"/>
                <a:cs typeface="DM Sans" pitchFamily="34" charset="-120"/>
              </a:rPr>
              <a:t>Por qué escalan distinto</a:t>
            </a:r>
            <a:endParaRPr lang="es-ES_tradnl" sz="2800" noProof="0" dirty="0"/>
          </a:p>
        </p:txBody>
      </p:sp>
      <p:sp>
        <p:nvSpPr>
          <p:cNvPr id="500" name="Texto"/>
          <p:cNvSpPr txBox="1"/>
          <p:nvPr/>
        </p:nvSpPr>
        <p:spPr>
          <a:xfrm>
            <a:off x="812800" y="1308100"/>
            <a:ext cx="10883900" cy="317500"/>
          </a:xfrm>
          <a:prstGeom prst="rect">
            <a:avLst/>
          </a:prstGeom>
          <a:noFill/>
          <a:ln/>
        </p:spPr>
        <p:txBody>
          <a:bodyPr wrap="square" lIns="0" tIns="0" rIns="0" bIns="0" rtlCol="0" anchor="t">
            <a:noAutofit/>
          </a:bodyPr>
          <a:lstStyle/>
          <a:p>
            <a:pPr marL="0" indent="0" algn="l">
              <a:lnSpc>
                <a:spcPct val="100000"/>
              </a:lnSpc>
              <a:spcAft>
                <a:spcPts val="0"/>
              </a:spcAft>
              <a:buNone/>
            </a:pPr>
            <a:r>
              <a:rPr lang="es-CO" sz="1800" dirty="0">
                <a:solidFill>
                  <a:srgbClr val="3C3C3B"/>
                </a:solidFill>
                <a:latin typeface="Roboto" pitchFamily="34" charset="0"/>
                <a:ea typeface="Roboto" pitchFamily="34" charset="-122"/>
                <a:cs typeface="Roboto" pitchFamily="34" charset="-120"/>
              </a:rPr>
              <a:t>Los dos diseños parten de la misma cota del Teorema 3; cambian d y el número de mediciones.</a:t>
            </a:r>
          </a:p>
        </p:txBody>
      </p:sp>
      <p:sp>
        <p:nvSpPr>
          <p:cNvPr id="501" name="Tarjeta"/>
          <p:cNvSpPr/>
          <p:nvPr/>
        </p:nvSpPr>
        <p:spPr>
          <a:xfrm>
            <a:off x="812800" y="1778000"/>
            <a:ext cx="10566400" cy="1270000"/>
          </a:xfrm>
          <a:prstGeom prst="roundRect">
            <a:avLst>
              <a:gd name="adj" fmla="val 6000"/>
            </a:avLst>
          </a:prstGeom>
          <a:solidFill>
            <a:srgbClr val="F3F3F2"/>
          </a:solidFill>
          <a:ln>
            <a:noFill/>
          </a:ln>
        </p:spPr>
        <p:txBody>
          <a:bodyPr/>
          <a:lstStyle/>
          <a:p>
            <a:endParaRPr lang="es-CO"/>
          </a:p>
        </p:txBody>
      </p:sp>
      <p:sp>
        <p:nvSpPr>
          <p:cNvPr id="502" name="Texto"/>
          <p:cNvSpPr txBox="1"/>
          <p:nvPr/>
        </p:nvSpPr>
        <p:spPr>
          <a:xfrm>
            <a:off x="1066800" y="1930400"/>
            <a:ext cx="5080000" cy="254000"/>
          </a:xfrm>
          <a:prstGeom prst="rect">
            <a:avLst/>
          </a:prstGeom>
          <a:noFill/>
          <a:ln/>
        </p:spPr>
        <p:txBody>
          <a:bodyPr wrap="square" lIns="0" tIns="0" rIns="0" bIns="0" rtlCol="0" anchor="t">
            <a:noAutofit/>
          </a:bodyPr>
          <a:lstStyle/>
          <a:p>
            <a:pPr marL="0" indent="0" algn="l">
              <a:lnSpc>
                <a:spcPct val="100000"/>
              </a:lnSpc>
              <a:spcAft>
                <a:spcPts val="600"/>
              </a:spcAft>
              <a:buNone/>
            </a:pPr>
            <a:r>
              <a:rPr lang="es-CO" sz="1400" b="1" dirty="0">
                <a:solidFill>
                  <a:srgbClr val="1D1D1B"/>
                </a:solidFill>
                <a:latin typeface="DM Sans" pitchFamily="34" charset="0"/>
                <a:ea typeface="DM Sans" pitchFamily="34" charset="-122"/>
                <a:cs typeface="DM Sans" pitchFamily="34" charset="-120"/>
              </a:rPr>
              <a:t>Ecuación de partida (Teorema 3)</a:t>
            </a:r>
          </a:p>
        </p:txBody>
      </p:sp>
      <mc:AlternateContent xmlns:mc="http://schemas.openxmlformats.org/markup-compatibility/2006">
        <mc:Choice xmlns:a14="http://schemas.microsoft.com/office/drawing/2010/main" Requires="a14">
          <p:sp>
            <p:nvSpPr>
              <p:cNvPr id="503" name="Texto"/>
              <p:cNvSpPr txBox="1"/>
              <p:nvPr/>
            </p:nvSpPr>
            <p:spPr>
              <a:xfrm>
                <a:off x="1066800" y="2286000"/>
                <a:ext cx="4826000" cy="660400"/>
              </a:xfrm>
              <a:prstGeom prst="rect">
                <a:avLst/>
              </a:prstGeom>
              <a:noFill/>
              <a:ln/>
            </p:spPr>
            <p:txBody>
              <a:bodyPr wrap="square" lIns="0" tIns="0" rIns="0" bIns="0" rtlCol="0" anchor="ctr">
                <a:noAutofit/>
              </a:bodyPr>
              <a:lstStyle/>
              <a:p>
                <a:pPr marL="0" indent="0" algn="l">
                  <a:lnSpc>
                    <a:spcPct val="100000"/>
                  </a:lnSpc>
                  <a:spcAft>
                    <a:spcPts val="0"/>
                  </a:spcAft>
                  <a:buNone/>
                </a:pPr>
                <a14:m>
                  <m:oMathPara xmlns:m="http://schemas.openxmlformats.org/officeDocument/2006/math">
                    <m:oMathParaPr>
                      <m:jc m:val="centerGroup"/>
                    </m:oMathParaPr>
                    <m:oMath xmlns:m="http://schemas.openxmlformats.org/officeDocument/2006/math">
                      <m:r>
                        <a:rPr lang="es-CO" sz="2000" i="1">
                          <a:solidFill>
                            <a:srgbClr val="1D1D1B"/>
                          </a:solidFill>
                          <a:latin typeface="Cambria Math" panose="02040503050406030204" pitchFamily="18" charset="0"/>
                        </a:rPr>
                        <m:t>𝜀</m:t>
                      </m:r>
                      <m:r>
                        <a:rPr lang="es-CO" sz="2000" i="1">
                          <a:solidFill>
                            <a:srgbClr val="1D1D1B"/>
                          </a:solidFill>
                          <a:latin typeface="Cambria Math" panose="02040503050406030204" pitchFamily="18" charset="0"/>
                        </a:rPr>
                        <m:t>=</m:t>
                      </m:r>
                      <m:r>
                        <m:rPr>
                          <m:sty m:val="p"/>
                        </m:rPr>
                        <a:rPr lang="es-CO" sz="2000" i="0">
                          <a:solidFill>
                            <a:srgbClr val="1D1D1B"/>
                          </a:solidFill>
                          <a:latin typeface="Cambria Math" panose="02040503050406030204" pitchFamily="18" charset="0"/>
                        </a:rPr>
                        <m:t>ln</m:t>
                      </m:r>
                      <m:d>
                        <m:dPr>
                          <m:ctrlPr>
                            <a:rPr lang="es-CO" sz="2000" i="1">
                              <a:solidFill>
                                <a:srgbClr val="1D1D1B"/>
                              </a:solidFill>
                              <a:latin typeface="Cambria Math" panose="02040503050406030204" pitchFamily="18" charset="0"/>
                            </a:rPr>
                          </m:ctrlPr>
                        </m:dPr>
                        <m:e>
                          <m:r>
                            <a:rPr lang="es-CO" sz="2000" i="1">
                              <a:solidFill>
                                <a:srgbClr val="1D1D1B"/>
                              </a:solidFill>
                              <a:latin typeface="Cambria Math" panose="02040503050406030204" pitchFamily="18" charset="0"/>
                            </a:rPr>
                            <m:t>1+</m:t>
                          </m:r>
                          <m:f>
                            <m:fPr>
                              <m:ctrlPr>
                                <a:rPr lang="es-CO" sz="2000" i="1">
                                  <a:solidFill>
                                    <a:srgbClr val="1D1D1B"/>
                                  </a:solidFill>
                                  <a:latin typeface="Cambria Math" panose="02040503050406030204" pitchFamily="18" charset="0"/>
                                </a:rPr>
                              </m:ctrlPr>
                            </m:fPr>
                            <m:num>
                              <m:r>
                                <a:rPr lang="es-CO" sz="2000" i="1">
                                  <a:solidFill>
                                    <a:srgbClr val="1D1D1B"/>
                                  </a:solidFill>
                                  <a:latin typeface="Cambria Math" panose="02040503050406030204" pitchFamily="18" charset="0"/>
                                </a:rPr>
                                <m:t>1−</m:t>
                              </m:r>
                              <m:r>
                                <a:rPr lang="es-CO" sz="2000" i="1">
                                  <a:solidFill>
                                    <a:srgbClr val="1D1D1B"/>
                                  </a:solidFill>
                                  <a:latin typeface="Cambria Math" panose="02040503050406030204" pitchFamily="18" charset="0"/>
                                </a:rPr>
                                <m:t>𝑝</m:t>
                              </m:r>
                            </m:num>
                            <m:den>
                              <m:r>
                                <a:rPr lang="es-CO" sz="2000" i="1">
                                  <a:solidFill>
                                    <a:srgbClr val="1D1D1B"/>
                                  </a:solidFill>
                                  <a:latin typeface="Cambria Math" panose="02040503050406030204" pitchFamily="18" charset="0"/>
                                </a:rPr>
                                <m:t>𝑝</m:t>
                              </m:r>
                            </m:den>
                          </m:f>
                          <m:r>
                            <a:rPr lang="es-CO" sz="2000" i="1">
                              <a:solidFill>
                                <a:srgbClr val="1D1D1B"/>
                              </a:solidFill>
                              <a:latin typeface="Cambria Math" panose="02040503050406030204" pitchFamily="18" charset="0"/>
                            </a:rPr>
                            <m:t>⋅</m:t>
                          </m:r>
                          <m:r>
                            <a:rPr lang="es-CO" sz="2000" i="1">
                              <a:solidFill>
                                <a:srgbClr val="1D1D1B"/>
                              </a:solidFill>
                              <a:latin typeface="Cambria Math" panose="02040503050406030204" pitchFamily="18" charset="0"/>
                            </a:rPr>
                            <m:t>𝑑</m:t>
                          </m:r>
                          <m:r>
                            <a:rPr lang="es-CO" sz="2000" i="1">
                              <a:solidFill>
                                <a:srgbClr val="1D1D1B"/>
                              </a:solidFill>
                              <a:latin typeface="Cambria Math" panose="02040503050406030204" pitchFamily="18" charset="0"/>
                            </a:rPr>
                            <m:t>⋅</m:t>
                          </m:r>
                          <m:r>
                            <a:rPr lang="es-CO" sz="2000" i="1">
                              <a:solidFill>
                                <a:srgbClr val="1D1D1B"/>
                              </a:solidFill>
                              <a:latin typeface="Cambria Math" panose="02040503050406030204" pitchFamily="18" charset="0"/>
                            </a:rPr>
                            <m:t>𝐷</m:t>
                          </m:r>
                        </m:e>
                      </m:d>
                    </m:oMath>
                  </m:oMathPara>
                </a14:m>
                <a:endParaRPr/>
              </a:p>
            </p:txBody>
          </p:sp>
        </mc:Choice>
        <mc:Fallback>
          <p:sp>
            <p:nvSpPr>
              <p:cNvPr id="503" name="Texto"/>
              <p:cNvSpPr txBox="1">
                <a:spLocks noRot="1" noChangeAspect="1" noMove="1" noResize="1" noEditPoints="1" noAdjustHandles="1" noChangeArrowheads="1" noChangeShapeType="1" noTextEdit="1"/>
              </p:cNvSpPr>
              <p:nvPr/>
            </p:nvSpPr>
            <p:spPr>
              <a:xfrm>
                <a:off x="1066800" y="2286000"/>
                <a:ext cx="4826000" cy="660400"/>
              </a:xfrm>
              <a:prstGeom prst="rect">
                <a:avLst/>
              </a:prstGeom>
              <a:blipFill>
                <a:blip r:embed="rId4"/>
                <a:stretch>
                  <a:fillRect b="-13462"/>
                </a:stretch>
              </a:blipFill>
              <a:ln/>
            </p:spPr>
            <p:txBody>
              <a:bodyPr/>
              <a:lstStyle/>
              <a:p>
                <a:r>
                  <a:rPr lang="en-CO">
                    <a:noFill/>
                  </a:rPr>
                  <a:t> </a:t>
                </a:r>
              </a:p>
            </p:txBody>
          </p:sp>
        </mc:Fallback>
      </mc:AlternateContent>
      <mc:AlternateContent xmlns:mc="http://schemas.openxmlformats.org/markup-compatibility/2006">
        <mc:Choice xmlns:a14="http://schemas.microsoft.com/office/drawing/2010/main" Requires="a14">
          <p:sp>
            <p:nvSpPr>
              <p:cNvPr id="504" name="Texto"/>
              <p:cNvSpPr txBox="1"/>
              <p:nvPr/>
            </p:nvSpPr>
            <p:spPr>
              <a:xfrm>
                <a:off x="6350000" y="2032000"/>
                <a:ext cx="4826000" cy="914400"/>
              </a:xfrm>
              <a:prstGeom prst="rect">
                <a:avLst/>
              </a:prstGeom>
              <a:noFill/>
              <a:ln/>
            </p:spPr>
            <p:txBody>
              <a:bodyPr wrap="square" lIns="0" tIns="0" rIns="0" bIns="0" rtlCol="0" anchor="ctr">
                <a:noAutofit/>
              </a:bodyPr>
              <a:lstStyle/>
              <a:p>
                <a:pPr marL="0" indent="0" algn="l">
                  <a:lnSpc>
                    <a:spcPct val="100000"/>
                  </a:lnSpc>
                  <a:spcAft>
                    <a:spcPts val="400"/>
                  </a:spcAft>
                  <a:buNone/>
                </a:pPr>
                <a:r>
                  <a:rPr lang="es-CO" sz="1600" dirty="0">
                    <a:solidFill>
                      <a:srgbClr val="3C3C3B"/>
                    </a:solidFill>
                    <a:latin typeface="Roboto" pitchFamily="34" charset="0"/>
                    <a:ea typeface="Roboto" pitchFamily="34" charset="-122"/>
                    <a:cs typeface="Roboto" pitchFamily="34" charset="-120"/>
                  </a:rPr>
                  <a:t>Con p = 0.5:  </a:t>
                </a:r>
                <a14:m>
                  <m:oMath xmlns:m="http://schemas.openxmlformats.org/officeDocument/2006/math">
                    <m:f>
                      <m:fPr>
                        <m:ctrlPr>
                          <a:rPr lang="es-CO" sz="1600" i="1">
                            <a:solidFill>
                              <a:srgbClr val="3C3C3B"/>
                            </a:solidFill>
                            <a:latin typeface="Cambria Math" panose="02040503050406030204" pitchFamily="18" charset="0"/>
                          </a:rPr>
                        </m:ctrlPr>
                      </m:fPr>
                      <m:num>
                        <m:r>
                          <a:rPr lang="es-CO" sz="1600" i="1">
                            <a:solidFill>
                              <a:srgbClr val="3C3C3B"/>
                            </a:solidFill>
                            <a:latin typeface="Cambria Math" panose="02040503050406030204" pitchFamily="18" charset="0"/>
                          </a:rPr>
                          <m:t>1−</m:t>
                        </m:r>
                        <m:r>
                          <a:rPr lang="es-CO" sz="1600" i="1">
                            <a:solidFill>
                              <a:srgbClr val="3C3C3B"/>
                            </a:solidFill>
                            <a:latin typeface="Cambria Math" panose="02040503050406030204" pitchFamily="18" charset="0"/>
                          </a:rPr>
                          <m:t>𝑝</m:t>
                        </m:r>
                      </m:num>
                      <m:den>
                        <m:r>
                          <a:rPr lang="es-CO" sz="1600" i="1">
                            <a:solidFill>
                              <a:srgbClr val="3C3C3B"/>
                            </a:solidFill>
                            <a:latin typeface="Cambria Math" panose="02040503050406030204" pitchFamily="18" charset="0"/>
                          </a:rPr>
                          <m:t>𝑝</m:t>
                        </m:r>
                      </m:den>
                    </m:f>
                    <m:r>
                      <a:rPr lang="es-CO" sz="1600" i="1">
                        <a:solidFill>
                          <a:srgbClr val="3C3C3B"/>
                        </a:solidFill>
                        <a:latin typeface="Cambria Math" panose="02040503050406030204" pitchFamily="18" charset="0"/>
                      </a:rPr>
                      <m:t>=1</m:t>
                    </m:r>
                  </m:oMath>
                </a14:m>
                <a:endParaRPr lang="es-CO" sz="1600" dirty="0">
                  <a:solidFill>
                    <a:srgbClr val="3C3C3B"/>
                  </a:solidFill>
                  <a:latin typeface="Roboto" pitchFamily="34" charset="0"/>
                  <a:ea typeface="Roboto" pitchFamily="34" charset="-122"/>
                  <a:cs typeface="Roboto" pitchFamily="34" charset="-120"/>
                </a:endParaRPr>
              </a:p>
              <a:p>
                <a:pPr marL="0" indent="0" algn="l">
                  <a:lnSpc>
                    <a:spcPct val="100000"/>
                  </a:lnSpc>
                  <a:spcAft>
                    <a:spcPts val="0"/>
                  </a:spcAft>
                  <a:buNone/>
                </a:pPr>
                <a:r>
                  <a:rPr lang="es-CO" sz="1600" dirty="0">
                    <a:solidFill>
                      <a:srgbClr val="3C3C3B"/>
                    </a:solidFill>
                    <a:latin typeface="Roboto" pitchFamily="34" charset="0"/>
                    <a:ea typeface="Roboto" pitchFamily="34" charset="-122"/>
                    <a:cs typeface="Roboto" pitchFamily="34" charset="-120"/>
                  </a:rPr>
                  <a:t>entonces  </a:t>
                </a:r>
                <a14:m>
                  <m:oMath xmlns:m="http://schemas.openxmlformats.org/officeDocument/2006/math">
                    <m:r>
                      <a:rPr lang="es-CO" sz="1600" i="1">
                        <a:solidFill>
                          <a:srgbClr val="3C3C3B"/>
                        </a:solidFill>
                        <a:latin typeface="Cambria Math" panose="02040503050406030204" pitchFamily="18" charset="0"/>
                      </a:rPr>
                      <m:t>𝜀</m:t>
                    </m:r>
                    <m:r>
                      <a:rPr lang="es-CO" sz="1600" i="1">
                        <a:solidFill>
                          <a:srgbClr val="3C3C3B"/>
                        </a:solidFill>
                        <a:latin typeface="Cambria Math" panose="02040503050406030204" pitchFamily="18" charset="0"/>
                      </a:rPr>
                      <m:t>=</m:t>
                    </m:r>
                    <m:r>
                      <m:rPr>
                        <m:sty m:val="p"/>
                      </m:rPr>
                      <a:rPr lang="es-CO" sz="1600" i="0">
                        <a:solidFill>
                          <a:srgbClr val="3C3C3B"/>
                        </a:solidFill>
                        <a:latin typeface="Cambria Math" panose="02040503050406030204" pitchFamily="18" charset="0"/>
                      </a:rPr>
                      <m:t>ln</m:t>
                    </m:r>
                    <m:d>
                      <m:dPr>
                        <m:ctrlPr>
                          <a:rPr lang="es-CO" sz="1600" i="1">
                            <a:solidFill>
                              <a:srgbClr val="3C3C3B"/>
                            </a:solidFill>
                            <a:latin typeface="Cambria Math" panose="02040503050406030204" pitchFamily="18" charset="0"/>
                          </a:rPr>
                        </m:ctrlPr>
                      </m:dPr>
                      <m:e>
                        <m:r>
                          <a:rPr lang="es-CO" sz="1600" i="1">
                            <a:solidFill>
                              <a:srgbClr val="3C3C3B"/>
                            </a:solidFill>
                            <a:latin typeface="Cambria Math" panose="02040503050406030204" pitchFamily="18" charset="0"/>
                          </a:rPr>
                          <m:t>1+</m:t>
                        </m:r>
                        <m:r>
                          <a:rPr lang="es-CO" sz="1600" i="1">
                            <a:solidFill>
                              <a:srgbClr val="3C3C3B"/>
                            </a:solidFill>
                            <a:latin typeface="Cambria Math" panose="02040503050406030204" pitchFamily="18" charset="0"/>
                          </a:rPr>
                          <m:t>𝑑</m:t>
                        </m:r>
                        <m:r>
                          <a:rPr lang="es-CO" sz="1600" i="1">
                            <a:solidFill>
                              <a:srgbClr val="3C3C3B"/>
                            </a:solidFill>
                            <a:latin typeface="Cambria Math" panose="02040503050406030204" pitchFamily="18" charset="0"/>
                          </a:rPr>
                          <m:t>⋅</m:t>
                        </m:r>
                        <m:r>
                          <a:rPr lang="es-CO" sz="1600" i="1">
                            <a:solidFill>
                              <a:srgbClr val="3C3C3B"/>
                            </a:solidFill>
                            <a:latin typeface="Cambria Math" panose="02040503050406030204" pitchFamily="18" charset="0"/>
                          </a:rPr>
                          <m:t>𝐷</m:t>
                        </m:r>
                      </m:e>
                    </m:d>
                  </m:oMath>
                </a14:m>
                <a:endParaRPr lang="es-CO" sz="1600" dirty="0">
                  <a:solidFill>
                    <a:srgbClr val="3C3C3B"/>
                  </a:solidFill>
                  <a:latin typeface="Roboto" pitchFamily="34" charset="0"/>
                  <a:ea typeface="Roboto" pitchFamily="34" charset="-122"/>
                  <a:cs typeface="Roboto" pitchFamily="34" charset="-120"/>
                </a:endParaRPr>
              </a:p>
            </p:txBody>
          </p:sp>
        </mc:Choice>
        <mc:Fallback>
          <p:sp>
            <p:nvSpPr>
              <p:cNvPr id="504" name="Texto"/>
              <p:cNvSpPr txBox="1">
                <a:spLocks noRot="1" noChangeAspect="1" noMove="1" noResize="1" noEditPoints="1" noAdjustHandles="1" noChangeArrowheads="1" noChangeShapeType="1" noTextEdit="1"/>
              </p:cNvSpPr>
              <p:nvPr/>
            </p:nvSpPr>
            <p:spPr>
              <a:xfrm>
                <a:off x="6350000" y="2032000"/>
                <a:ext cx="4826000" cy="914400"/>
              </a:xfrm>
              <a:prstGeom prst="rect">
                <a:avLst/>
              </a:prstGeom>
              <a:blipFill>
                <a:blip r:embed="rId5"/>
                <a:stretch>
                  <a:fillRect l="-2632" b="-1370"/>
                </a:stretch>
              </a:blipFill>
              <a:ln/>
            </p:spPr>
            <p:txBody>
              <a:bodyPr/>
              <a:lstStyle/>
              <a:p>
                <a:r>
                  <a:rPr lang="en-CO">
                    <a:noFill/>
                  </a:rPr>
                  <a:t> </a:t>
                </a:r>
              </a:p>
            </p:txBody>
          </p:sp>
        </mc:Fallback>
      </mc:AlternateContent>
      <p:sp>
        <p:nvSpPr>
          <p:cNvPr id="505" name="Tarjeta"/>
          <p:cNvSpPr/>
          <p:nvPr/>
        </p:nvSpPr>
        <p:spPr>
          <a:xfrm>
            <a:off x="812800" y="3251200"/>
            <a:ext cx="5181600" cy="2946400"/>
          </a:xfrm>
          <a:prstGeom prst="roundRect">
            <a:avLst>
              <a:gd name="adj" fmla="val 6000"/>
            </a:avLst>
          </a:prstGeom>
          <a:solidFill>
            <a:srgbClr val="F3F3F2"/>
          </a:solidFill>
          <a:ln>
            <a:noFill/>
          </a:ln>
        </p:spPr>
        <p:txBody>
          <a:bodyPr/>
          <a:lstStyle/>
          <a:p>
            <a:endParaRPr lang="es-CO"/>
          </a:p>
        </p:txBody>
      </p:sp>
      <p:sp>
        <p:nvSpPr>
          <p:cNvPr id="506" name="Texto"/>
          <p:cNvSpPr txBox="1"/>
          <p:nvPr/>
        </p:nvSpPr>
        <p:spPr>
          <a:xfrm>
            <a:off x="1549400" y="3454400"/>
            <a:ext cx="4191000" cy="304800"/>
          </a:xfrm>
          <a:prstGeom prst="rect">
            <a:avLst/>
          </a:prstGeom>
          <a:noFill/>
          <a:ln/>
        </p:spPr>
        <p:txBody>
          <a:bodyPr wrap="square" lIns="0" tIns="0" rIns="0" bIns="0" rtlCol="0" anchor="ctr">
            <a:noAutofit/>
          </a:bodyPr>
          <a:lstStyle/>
          <a:p>
            <a:pPr marL="0" indent="0" algn="l">
              <a:lnSpc>
                <a:spcPct val="100000"/>
              </a:lnSpc>
              <a:spcAft>
                <a:spcPts val="600"/>
              </a:spcAft>
              <a:buNone/>
            </a:pPr>
            <a:r>
              <a:rPr lang="es-CO" sz="1800" b="1" dirty="0">
                <a:solidFill>
                  <a:srgbClr val="1D1D1B"/>
                </a:solidFill>
                <a:latin typeface="DM Sans" pitchFamily="34" charset="0"/>
                <a:ea typeface="DM Sans" pitchFamily="34" charset="-122"/>
                <a:cs typeface="DM Sans" pitchFamily="34" charset="-120"/>
              </a:rPr>
              <a:t>Diseño central</a:t>
            </a:r>
          </a:p>
        </p:txBody>
      </p:sp>
      <mc:AlternateContent xmlns:mc="http://schemas.openxmlformats.org/markup-compatibility/2006">
        <mc:Choice xmlns:a14="http://schemas.microsoft.com/office/drawing/2010/main" Requires="a14">
          <p:sp>
            <p:nvSpPr>
              <p:cNvPr id="507" name="Texto"/>
              <p:cNvSpPr txBox="1"/>
              <p:nvPr/>
            </p:nvSpPr>
            <p:spPr>
              <a:xfrm>
                <a:off x="1066800" y="3860800"/>
                <a:ext cx="4724400" cy="1270000"/>
              </a:xfrm>
              <a:prstGeom prst="rect">
                <a:avLst/>
              </a:prstGeom>
              <a:noFill/>
              <a:ln/>
            </p:spPr>
            <p:txBody>
              <a:bodyPr wrap="square" lIns="0" tIns="0" rIns="0" bIns="0" rtlCol="0" anchor="t">
                <a:noAutofit/>
              </a:bodyPr>
              <a:lstStyle/>
              <a:p>
                <a:pPr marL="0" indent="0" algn="l">
                  <a:lnSpc>
                    <a:spcPct val="100000"/>
                  </a:lnSpc>
                  <a:spcAft>
                    <a:spcPts val="200"/>
                  </a:spcAft>
                  <a:buNone/>
                </a:pPr>
                <a:r>
                  <a:rPr lang="es-CO" sz="1500" b="1" dirty="0">
                    <a:solidFill>
                      <a:srgbClr val="3C3C3B"/>
                    </a:solidFill>
                    <a:latin typeface="Roboto" pitchFamily="34" charset="0"/>
                    <a:ea typeface="Roboto" pitchFamily="34" charset="-122"/>
                    <a:cs typeface="Roboto" pitchFamily="34" charset="-120"/>
                  </a:rPr>
                  <a:t>n</a:t>
                </a:r>
                <a:r>
                  <a:rPr lang="es-CO" sz="1500" dirty="0">
                    <a:solidFill>
                      <a:srgbClr val="3C3C3B"/>
                    </a:solidFill>
                    <a:latin typeface="Roboto" pitchFamily="34" charset="0"/>
                    <a:ea typeface="Roboto" pitchFamily="34" charset="-122"/>
                    <a:cs typeface="Roboto" pitchFamily="34" charset="-120"/>
                  </a:rPr>
                  <a:t> = número de participantes</a:t>
                </a:r>
              </a:p>
              <a:p>
                <a:pPr marL="0" indent="0" algn="l">
                  <a:lnSpc>
                    <a:spcPct val="100000"/>
                  </a:lnSpc>
                  <a:spcAft>
                    <a:spcPts val="200"/>
                  </a:spcAft>
                  <a:buNone/>
                </a:pPr>
                <a:r>
                  <a:rPr lang="es-CO" sz="1500" b="1" dirty="0">
                    <a:solidFill>
                      <a:srgbClr val="3C3C3B"/>
                    </a:solidFill>
                    <a:latin typeface="Roboto" pitchFamily="34" charset="0"/>
                    <a:ea typeface="Roboto" pitchFamily="34" charset="-122"/>
                    <a:cs typeface="Roboto" pitchFamily="34" charset="-120"/>
                  </a:rPr>
                  <a:t>N</a:t>
                </a:r>
                <a:r>
                  <a:rPr lang="es-CO" sz="1500" dirty="0">
                    <a:solidFill>
                      <a:srgbClr val="3C3C3B"/>
                    </a:solidFill>
                    <a:latin typeface="Roboto" pitchFamily="34" charset="0"/>
                    <a:ea typeface="Roboto" pitchFamily="34" charset="-122"/>
                    <a:cs typeface="Roboto" pitchFamily="34" charset="-120"/>
                  </a:rPr>
                  <a:t> = número de mediciones (copias de ρ″)</a:t>
                </a:r>
              </a:p>
              <a:p>
                <a:pPr marL="0" indent="0" algn="l">
                  <a:lnSpc>
                    <a:spcPct val="100000"/>
                  </a:lnSpc>
                  <a:spcAft>
                    <a:spcPts val="200"/>
                  </a:spcAft>
                  <a:buNone/>
                </a:pPr>
                <a14:m>
                  <m:oMath xmlns:m="http://schemas.openxmlformats.org/officeDocument/2006/math">
                    <m:r>
                      <a:rPr lang="es-CO" sz="1500" i="1">
                        <a:solidFill>
                          <a:srgbClr val="3C3C3B"/>
                        </a:solidFill>
                        <a:latin typeface="Cambria Math" panose="02040503050406030204" pitchFamily="18" charset="0"/>
                      </a:rPr>
                      <m:t>𝑑</m:t>
                    </m:r>
                    <m:r>
                      <a:rPr lang="es-CO" sz="1500" i="1">
                        <a:solidFill>
                          <a:srgbClr val="3C3C3B"/>
                        </a:solidFill>
                        <a:latin typeface="Cambria Math" panose="02040503050406030204" pitchFamily="18" charset="0"/>
                      </a:rPr>
                      <m:t>≈</m:t>
                    </m:r>
                    <m:f>
                      <m:fPr>
                        <m:ctrlPr>
                          <a:rPr lang="es-CO" sz="1500" i="1">
                            <a:solidFill>
                              <a:srgbClr val="3C3C3B"/>
                            </a:solidFill>
                            <a:latin typeface="Cambria Math" panose="02040503050406030204" pitchFamily="18" charset="0"/>
                          </a:rPr>
                        </m:ctrlPr>
                      </m:fPr>
                      <m:num>
                        <m:r>
                          <a:rPr lang="es-CO" sz="1500" i="1">
                            <a:solidFill>
                              <a:srgbClr val="3C3C3B"/>
                            </a:solidFill>
                            <a:latin typeface="Cambria Math" panose="02040503050406030204" pitchFamily="18" charset="0"/>
                          </a:rPr>
                          <m:t>1</m:t>
                        </m:r>
                      </m:num>
                      <m:den>
                        <m:r>
                          <a:rPr lang="es-CO" sz="1500" i="1">
                            <a:solidFill>
                              <a:srgbClr val="3C3C3B"/>
                            </a:solidFill>
                            <a:latin typeface="Cambria Math" panose="02040503050406030204" pitchFamily="18" charset="0"/>
                          </a:rPr>
                          <m:t>𝑛</m:t>
                        </m:r>
                      </m:den>
                    </m:f>
                  </m:oMath>
                </a14:m>
                <a:r>
                  <a:rPr lang="es-CO" sz="1500" dirty="0">
                    <a:solidFill>
                      <a:srgbClr val="3C3C3B"/>
                    </a:solidFill>
                    <a:latin typeface="Roboto" pitchFamily="34" charset="0"/>
                    <a:ea typeface="Roboto" pitchFamily="34" charset="-122"/>
                    <a:cs typeface="Roboto" pitchFamily="34" charset="-120"/>
                  </a:rPr>
                  <a:t>  porque A es solo 1/n del estado agregado</a:t>
                </a:r>
              </a:p>
              <a:p>
                <a:pPr marL="0" indent="0" algn="l">
                  <a:lnSpc>
                    <a:spcPct val="100000"/>
                  </a:lnSpc>
                  <a:spcAft>
                    <a:spcPts val="200"/>
                  </a:spcAft>
                  <a:buNone/>
                </a:pPr>
                <a:r>
                  <a:rPr lang="es-CO" sz="1500" dirty="0">
                    <a:solidFill>
                      <a:srgbClr val="3C3C3B"/>
                    </a:solidFill>
                    <a:latin typeface="Roboto" pitchFamily="34" charset="0"/>
                    <a:ea typeface="Roboto" pitchFamily="34" charset="-122"/>
                    <a:cs typeface="Roboto" pitchFamily="34" charset="-120"/>
                  </a:rPr>
                  <a:t>Cada medición suma ε (Teorema 4)</a:t>
                </a:r>
              </a:p>
            </p:txBody>
          </p:sp>
        </mc:Choice>
        <mc:Fallback>
          <p:sp>
            <p:nvSpPr>
              <p:cNvPr id="507" name="Texto"/>
              <p:cNvSpPr txBox="1">
                <a:spLocks noRot="1" noChangeAspect="1" noMove="1" noResize="1" noEditPoints="1" noAdjustHandles="1" noChangeArrowheads="1" noChangeShapeType="1" noTextEdit="1"/>
              </p:cNvSpPr>
              <p:nvPr/>
            </p:nvSpPr>
            <p:spPr>
              <a:xfrm>
                <a:off x="1066800" y="3860800"/>
                <a:ext cx="4724400" cy="1270000"/>
              </a:xfrm>
              <a:prstGeom prst="rect">
                <a:avLst/>
              </a:prstGeom>
              <a:blipFill>
                <a:blip r:embed="rId6"/>
                <a:stretch>
                  <a:fillRect l="-2681" t="-3922"/>
                </a:stretch>
              </a:blipFill>
              <a:ln/>
            </p:spPr>
            <p:txBody>
              <a:bodyPr/>
              <a:lstStyle/>
              <a:p>
                <a:r>
                  <a:rPr lang="en-CO">
                    <a:noFill/>
                  </a:rPr>
                  <a:t> </a:t>
                </a:r>
              </a:p>
            </p:txBody>
          </p:sp>
        </mc:Fallback>
      </mc:AlternateContent>
      <p:sp>
        <p:nvSpPr>
          <p:cNvPr id="508" name="Tarjeta"/>
          <p:cNvSpPr/>
          <p:nvPr/>
        </p:nvSpPr>
        <p:spPr>
          <a:xfrm>
            <a:off x="1016000" y="5130800"/>
            <a:ext cx="4775200" cy="584200"/>
          </a:xfrm>
          <a:prstGeom prst="roundRect">
            <a:avLst>
              <a:gd name="adj" fmla="val 6000"/>
            </a:avLst>
          </a:prstGeom>
          <a:solidFill>
            <a:srgbClr val="FFFFFF"/>
          </a:solidFill>
          <a:ln w="15875">
            <a:solidFill>
              <a:srgbClr val="293470"/>
            </a:solidFill>
          </a:ln>
        </p:spPr>
        <p:txBody>
          <a:bodyPr/>
          <a:lstStyle/>
          <a:p>
            <a:endParaRPr lang="es-CO"/>
          </a:p>
        </p:txBody>
      </p:sp>
      <mc:AlternateContent xmlns:mc="http://schemas.openxmlformats.org/markup-compatibility/2006">
        <mc:Choice xmlns:a14="http://schemas.microsoft.com/office/drawing/2010/main" Requires="a14">
          <p:sp>
            <p:nvSpPr>
              <p:cNvPr id="509" name="Texto"/>
              <p:cNvSpPr txBox="1"/>
              <p:nvPr/>
            </p:nvSpPr>
            <p:spPr>
              <a:xfrm>
                <a:off x="1117600" y="5245100"/>
                <a:ext cx="4572000" cy="355600"/>
              </a:xfrm>
              <a:prstGeom prst="rect">
                <a:avLst/>
              </a:prstGeom>
              <a:noFill/>
              <a:ln/>
            </p:spPr>
            <p:txBody>
              <a:bodyPr wrap="square" lIns="0" tIns="0" rIns="0" bIns="0" rtlCol="0" anchor="ctr">
                <a:noAutofit/>
              </a:bodyPr>
              <a:lstStyle/>
              <a:p>
                <a:pPr marL="0" indent="0" algn="ctr">
                  <a:lnSpc>
                    <a:spcPct val="100000"/>
                  </a:lnSpc>
                  <a:spcAft>
                    <a:spcPts val="0"/>
                  </a:spcAft>
                  <a:buNone/>
                </a:pPr>
                <a14:m>
                  <m:oMathPara xmlns:m="http://schemas.openxmlformats.org/officeDocument/2006/math">
                    <m:oMathParaPr>
                      <m:jc m:val="centerGroup"/>
                    </m:oMathParaPr>
                    <m:oMath xmlns:m="http://schemas.openxmlformats.org/officeDocument/2006/math">
                      <m:sSub>
                        <m:sSubPr>
                          <m:ctrlPr>
                            <a:rPr lang="es-CO" sz="1600" i="1">
                              <a:solidFill>
                                <a:srgbClr val="1D1D1B"/>
                              </a:solidFill>
                              <a:latin typeface="Cambria Math" panose="02040503050406030204" pitchFamily="18" charset="0"/>
                            </a:rPr>
                          </m:ctrlPr>
                        </m:sSubPr>
                        <m:e>
                          <m:r>
                            <a:rPr lang="es-CO" sz="1600" i="1">
                              <a:solidFill>
                                <a:srgbClr val="1D1D1B"/>
                              </a:solidFill>
                              <a:latin typeface="Cambria Math" panose="02040503050406030204" pitchFamily="18" charset="0"/>
                            </a:rPr>
                            <m:t>𝜀</m:t>
                          </m:r>
                        </m:e>
                        <m:sub>
                          <m:r>
                            <m:rPr>
                              <m:sty m:val="p"/>
                            </m:rPr>
                            <a:rPr lang="es-CO" sz="1600" i="0">
                              <a:solidFill>
                                <a:srgbClr val="1D1D1B"/>
                              </a:solidFill>
                              <a:latin typeface="Cambria Math" panose="02040503050406030204" pitchFamily="18" charset="0"/>
                            </a:rPr>
                            <m:t>total</m:t>
                          </m:r>
                        </m:sub>
                      </m:sSub>
                      <m:r>
                        <a:rPr lang="es-CO" sz="1600" i="1">
                          <a:solidFill>
                            <a:srgbClr val="1D1D1B"/>
                          </a:solidFill>
                          <a:latin typeface="Cambria Math" panose="02040503050406030204" pitchFamily="18" charset="0"/>
                        </a:rPr>
                        <m:t>=</m:t>
                      </m:r>
                      <m:r>
                        <a:rPr lang="es-CO" sz="1600" i="1">
                          <a:solidFill>
                            <a:srgbClr val="1D1D1B"/>
                          </a:solidFill>
                          <a:latin typeface="Cambria Math" panose="02040503050406030204" pitchFamily="18" charset="0"/>
                        </a:rPr>
                        <m:t>𝑁</m:t>
                      </m:r>
                      <m:r>
                        <a:rPr lang="es-CO" sz="1600" i="1">
                          <a:solidFill>
                            <a:srgbClr val="1D1D1B"/>
                          </a:solidFill>
                          <a:latin typeface="Cambria Math" panose="02040503050406030204" pitchFamily="18" charset="0"/>
                        </a:rPr>
                        <m:t>⋅</m:t>
                      </m:r>
                      <m:r>
                        <m:rPr>
                          <m:sty m:val="p"/>
                        </m:rPr>
                        <a:rPr lang="es-CO" sz="1600" i="0">
                          <a:solidFill>
                            <a:srgbClr val="1D1D1B"/>
                          </a:solidFill>
                          <a:latin typeface="Cambria Math" panose="02040503050406030204" pitchFamily="18" charset="0"/>
                        </a:rPr>
                        <m:t>ln</m:t>
                      </m:r>
                      <m:d>
                        <m:dPr>
                          <m:ctrlPr>
                            <a:rPr lang="es-CO" sz="1600" i="1">
                              <a:solidFill>
                                <a:srgbClr val="1D1D1B"/>
                              </a:solidFill>
                              <a:latin typeface="Cambria Math" panose="02040503050406030204" pitchFamily="18" charset="0"/>
                            </a:rPr>
                          </m:ctrlPr>
                        </m:dPr>
                        <m:e>
                          <m:r>
                            <a:rPr lang="es-CO" sz="1600" i="1">
                              <a:solidFill>
                                <a:srgbClr val="1D1D1B"/>
                              </a:solidFill>
                              <a:latin typeface="Cambria Math" panose="02040503050406030204" pitchFamily="18" charset="0"/>
                            </a:rPr>
                            <m:t>1+</m:t>
                          </m:r>
                          <m:f>
                            <m:fPr>
                              <m:type m:val="lin"/>
                              <m:ctrlPr>
                                <a:rPr lang="es-CO" sz="1600" i="1">
                                  <a:solidFill>
                                    <a:srgbClr val="1D1D1B"/>
                                  </a:solidFill>
                                  <a:latin typeface="Cambria Math" panose="02040503050406030204" pitchFamily="18" charset="0"/>
                                </a:rPr>
                              </m:ctrlPr>
                            </m:fPr>
                            <m:num>
                              <m:r>
                                <a:rPr lang="es-CO" sz="1600" i="1">
                                  <a:solidFill>
                                    <a:srgbClr val="1D1D1B"/>
                                  </a:solidFill>
                                  <a:latin typeface="Cambria Math" panose="02040503050406030204" pitchFamily="18" charset="0"/>
                                </a:rPr>
                                <m:t>𝐷</m:t>
                              </m:r>
                            </m:num>
                            <m:den>
                              <m:r>
                                <a:rPr lang="es-CO" sz="1600" i="1">
                                  <a:solidFill>
                                    <a:srgbClr val="1D1D1B"/>
                                  </a:solidFill>
                                  <a:latin typeface="Cambria Math" panose="02040503050406030204" pitchFamily="18" charset="0"/>
                                </a:rPr>
                                <m:t>𝑛</m:t>
                              </m:r>
                            </m:den>
                          </m:f>
                        </m:e>
                      </m:d>
                      <m:r>
                        <a:rPr lang="es-CO" sz="1600" i="1">
                          <a:solidFill>
                            <a:srgbClr val="1D1D1B"/>
                          </a:solidFill>
                          <a:latin typeface="Cambria Math" panose="02040503050406030204" pitchFamily="18" charset="0"/>
                        </a:rPr>
                        <m:t>≈</m:t>
                      </m:r>
                      <m:r>
                        <a:rPr lang="es-CO" sz="1600" i="1">
                          <a:solidFill>
                            <a:srgbClr val="1D1D1B"/>
                          </a:solidFill>
                          <a:latin typeface="Cambria Math" panose="02040503050406030204" pitchFamily="18" charset="0"/>
                        </a:rPr>
                        <m:t>𝐷</m:t>
                      </m:r>
                    </m:oMath>
                  </m:oMathPara>
                </a14:m>
                <a:endParaRPr/>
              </a:p>
            </p:txBody>
          </p:sp>
        </mc:Choice>
        <mc:Fallback>
          <p:sp>
            <p:nvSpPr>
              <p:cNvPr id="509" name="Texto"/>
              <p:cNvSpPr txBox="1">
                <a:spLocks noRot="1" noChangeAspect="1" noMove="1" noResize="1" noEditPoints="1" noAdjustHandles="1" noChangeArrowheads="1" noChangeShapeType="1" noTextEdit="1"/>
              </p:cNvSpPr>
              <p:nvPr/>
            </p:nvSpPr>
            <p:spPr>
              <a:xfrm>
                <a:off x="1117600" y="5245100"/>
                <a:ext cx="4572000" cy="355600"/>
              </a:xfrm>
              <a:prstGeom prst="rect">
                <a:avLst/>
              </a:prstGeom>
              <a:blipFill>
                <a:blip r:embed="rId7"/>
                <a:stretch>
                  <a:fillRect t="-96667" b="-160000"/>
                </a:stretch>
              </a:blipFill>
              <a:ln/>
            </p:spPr>
            <p:txBody>
              <a:bodyPr/>
              <a:lstStyle/>
              <a:p>
                <a:r>
                  <a:rPr lang="en-CO">
                    <a:noFill/>
                  </a:rPr>
                  <a:t> </a:t>
                </a:r>
              </a:p>
            </p:txBody>
          </p:sp>
        </mc:Fallback>
      </mc:AlternateContent>
      <p:sp>
        <p:nvSpPr>
          <p:cNvPr id="510" name="Texto"/>
          <p:cNvSpPr txBox="1"/>
          <p:nvPr/>
        </p:nvSpPr>
        <p:spPr>
          <a:xfrm>
            <a:off x="1117600" y="5816600"/>
            <a:ext cx="4572000" cy="254000"/>
          </a:xfrm>
          <a:prstGeom prst="rect">
            <a:avLst/>
          </a:prstGeom>
          <a:noFill/>
          <a:ln/>
        </p:spPr>
        <p:txBody>
          <a:bodyPr wrap="square" lIns="0" tIns="0" rIns="0" bIns="0" rtlCol="0" anchor="t">
            <a:noAutofit/>
          </a:bodyPr>
          <a:lstStyle/>
          <a:p>
            <a:pPr marL="0" indent="0" algn="ctr">
              <a:lnSpc>
                <a:spcPct val="100000"/>
              </a:lnSpc>
              <a:spcAft>
                <a:spcPts val="0"/>
              </a:spcAft>
              <a:buNone/>
            </a:pPr>
            <a:r>
              <a:rPr lang="es-CO" sz="1200" dirty="0">
                <a:solidFill>
                  <a:srgbClr val="6E6E6C"/>
                </a:solidFill>
                <a:latin typeface="Roboto" pitchFamily="34" charset="0"/>
                <a:ea typeface="Roboto" pitchFamily="34" charset="-122"/>
                <a:cs typeface="Roboto" pitchFamily="34" charset="-120"/>
              </a:rPr>
              <a:t>con N = n y D ≪ n: crece con D, exponencial en el número de qubits</a:t>
            </a:r>
          </a:p>
        </p:txBody>
      </p:sp>
      <p:sp>
        <p:nvSpPr>
          <p:cNvPr id="511" name="Tarjeta"/>
          <p:cNvSpPr/>
          <p:nvPr/>
        </p:nvSpPr>
        <p:spPr>
          <a:xfrm>
            <a:off x="6197600" y="3251200"/>
            <a:ext cx="5181600" cy="2946400"/>
          </a:xfrm>
          <a:prstGeom prst="roundRect">
            <a:avLst>
              <a:gd name="adj" fmla="val 6000"/>
            </a:avLst>
          </a:prstGeom>
          <a:solidFill>
            <a:srgbClr val="F3F3F2"/>
          </a:solidFill>
          <a:ln>
            <a:noFill/>
          </a:ln>
        </p:spPr>
        <p:txBody>
          <a:bodyPr/>
          <a:lstStyle/>
          <a:p>
            <a:endParaRPr lang="es-CO"/>
          </a:p>
        </p:txBody>
      </p:sp>
      <p:sp>
        <p:nvSpPr>
          <p:cNvPr id="512" name="Texto"/>
          <p:cNvSpPr txBox="1"/>
          <p:nvPr/>
        </p:nvSpPr>
        <p:spPr>
          <a:xfrm>
            <a:off x="6934200" y="3454400"/>
            <a:ext cx="4191000" cy="304800"/>
          </a:xfrm>
          <a:prstGeom prst="rect">
            <a:avLst/>
          </a:prstGeom>
          <a:noFill/>
          <a:ln/>
        </p:spPr>
        <p:txBody>
          <a:bodyPr wrap="square" lIns="0" tIns="0" rIns="0" bIns="0" rtlCol="0" anchor="ctr">
            <a:noAutofit/>
          </a:bodyPr>
          <a:lstStyle/>
          <a:p>
            <a:pPr marL="0" indent="0" algn="l">
              <a:lnSpc>
                <a:spcPct val="100000"/>
              </a:lnSpc>
              <a:spcAft>
                <a:spcPts val="600"/>
              </a:spcAft>
              <a:buNone/>
            </a:pPr>
            <a:r>
              <a:rPr lang="es-CO" sz="1800" b="1" dirty="0">
                <a:solidFill>
                  <a:srgbClr val="1D1D1B"/>
                </a:solidFill>
                <a:latin typeface="DM Sans" pitchFamily="34" charset="0"/>
                <a:ea typeface="DM Sans" pitchFamily="34" charset="-122"/>
                <a:cs typeface="DM Sans" pitchFamily="34" charset="-120"/>
              </a:rPr>
              <a:t>Diseño local</a:t>
            </a:r>
          </a:p>
        </p:txBody>
      </p:sp>
      <mc:AlternateContent xmlns:mc="http://schemas.openxmlformats.org/markup-compatibility/2006">
        <mc:Choice xmlns:a14="http://schemas.microsoft.com/office/drawing/2010/main" Requires="a14">
          <p:sp>
            <p:nvSpPr>
              <p:cNvPr id="513" name="Texto"/>
              <p:cNvSpPr txBox="1"/>
              <p:nvPr/>
            </p:nvSpPr>
            <p:spPr>
              <a:xfrm>
                <a:off x="6451600" y="3860800"/>
                <a:ext cx="4724400" cy="1270000"/>
              </a:xfrm>
              <a:prstGeom prst="rect">
                <a:avLst/>
              </a:prstGeom>
              <a:noFill/>
              <a:ln/>
            </p:spPr>
            <p:txBody>
              <a:bodyPr wrap="square" lIns="0" tIns="0" rIns="0" bIns="0" rtlCol="0" anchor="t">
                <a:noAutofit/>
              </a:bodyPr>
              <a:lstStyle/>
              <a:p>
                <a:pPr marL="0" indent="0" algn="l">
                  <a:lnSpc>
                    <a:spcPct val="100000"/>
                  </a:lnSpc>
                  <a:spcAft>
                    <a:spcPts val="200"/>
                  </a:spcAft>
                  <a:buNone/>
                </a:pPr>
                <a:r>
                  <a:rPr lang="es-CO" sz="1500" dirty="0">
                    <a:solidFill>
                      <a:srgbClr val="3C3C3B"/>
                    </a:solidFill>
                    <a:latin typeface="Roboto" pitchFamily="34" charset="0"/>
                    <a:ea typeface="Roboto" pitchFamily="34" charset="-122"/>
                    <a:cs typeface="Roboto" pitchFamily="34" charset="-120"/>
                  </a:rPr>
                  <a:t>Cada persona se mide una sola vez</a:t>
                </a:r>
              </a:p>
              <a:p>
                <a:pPr marL="0" indent="0" algn="l">
                  <a:lnSpc>
                    <a:spcPct val="100000"/>
                  </a:lnSpc>
                  <a:spcAft>
                    <a:spcPts val="200"/>
                  </a:spcAft>
                  <a:buNone/>
                </a:pPr>
                <a:r>
                  <a:rPr lang="es-CO" sz="1500" dirty="0">
                    <a:solidFill>
                      <a:srgbClr val="3C3C3B"/>
                    </a:solidFill>
                    <a:latin typeface="Roboto" pitchFamily="34" charset="0"/>
                    <a:ea typeface="Roboto" pitchFamily="34" charset="-122"/>
                    <a:cs typeface="Roboto" pitchFamily="34" charset="-120"/>
                  </a:rPr>
                  <a:t>Composición paralela: sacar a A cambia solo su resultado</a:t>
                </a:r>
              </a:p>
              <a:p>
                <a:pPr marL="0" indent="0" algn="l">
                  <a:lnSpc>
                    <a:spcPct val="100000"/>
                  </a:lnSpc>
                  <a:spcAft>
                    <a:spcPts val="200"/>
                  </a:spcAft>
                  <a:buNone/>
                </a:pPr>
                <a14:m>
                  <m:oMath xmlns:m="http://schemas.openxmlformats.org/officeDocument/2006/math">
                    <m:r>
                      <a:rPr lang="es-CO" sz="1500" i="1">
                        <a:solidFill>
                          <a:srgbClr val="3C3C3B"/>
                        </a:solidFill>
                        <a:latin typeface="Cambria Math" panose="02040503050406030204" pitchFamily="18" charset="0"/>
                      </a:rPr>
                      <m:t>𝑑</m:t>
                    </m:r>
                    <m:r>
                      <a:rPr lang="es-CO" sz="1500" i="1">
                        <a:solidFill>
                          <a:srgbClr val="3C3C3B"/>
                        </a:solidFill>
                        <a:latin typeface="Cambria Math" panose="02040503050406030204" pitchFamily="18" charset="0"/>
                      </a:rPr>
                      <m:t>≤1</m:t>
                    </m:r>
                  </m:oMath>
                </a14:m>
                <a:r>
                  <a:rPr lang="es-CO" sz="1500" dirty="0">
                    <a:solidFill>
                      <a:srgbClr val="3C3C3B"/>
                    </a:solidFill>
                    <a:latin typeface="Roboto" pitchFamily="34" charset="0"/>
                    <a:ea typeface="Roboto" pitchFamily="34" charset="-122"/>
                    <a:cs typeface="Roboto" pitchFamily="34" charset="-120"/>
                  </a:rPr>
                  <a:t>  (d = 1 para estados ortogonales)</a:t>
                </a:r>
              </a:p>
            </p:txBody>
          </p:sp>
        </mc:Choice>
        <mc:Fallback>
          <p:sp>
            <p:nvSpPr>
              <p:cNvPr id="513" name="Texto"/>
              <p:cNvSpPr txBox="1">
                <a:spLocks noRot="1" noChangeAspect="1" noMove="1" noResize="1" noEditPoints="1" noAdjustHandles="1" noChangeArrowheads="1" noChangeShapeType="1" noTextEdit="1"/>
              </p:cNvSpPr>
              <p:nvPr/>
            </p:nvSpPr>
            <p:spPr>
              <a:xfrm>
                <a:off x="6451600" y="3860800"/>
                <a:ext cx="4724400" cy="1270000"/>
              </a:xfrm>
              <a:prstGeom prst="rect">
                <a:avLst/>
              </a:prstGeom>
              <a:blipFill>
                <a:blip r:embed="rId8"/>
                <a:stretch>
                  <a:fillRect l="-2413" t="-3922"/>
                </a:stretch>
              </a:blipFill>
              <a:ln/>
            </p:spPr>
            <p:txBody>
              <a:bodyPr/>
              <a:lstStyle/>
              <a:p>
                <a:r>
                  <a:rPr lang="en-CO">
                    <a:noFill/>
                  </a:rPr>
                  <a:t> </a:t>
                </a:r>
              </a:p>
            </p:txBody>
          </p:sp>
        </mc:Fallback>
      </mc:AlternateContent>
      <p:sp>
        <p:nvSpPr>
          <p:cNvPr id="514" name="Tarjeta"/>
          <p:cNvSpPr/>
          <p:nvPr/>
        </p:nvSpPr>
        <p:spPr>
          <a:xfrm>
            <a:off x="6400800" y="5130800"/>
            <a:ext cx="4775200" cy="584200"/>
          </a:xfrm>
          <a:prstGeom prst="roundRect">
            <a:avLst>
              <a:gd name="adj" fmla="val 6000"/>
            </a:avLst>
          </a:prstGeom>
          <a:solidFill>
            <a:srgbClr val="FFFFFF"/>
          </a:solidFill>
          <a:ln w="15875">
            <a:solidFill>
              <a:srgbClr val="293470"/>
            </a:solidFill>
          </a:ln>
        </p:spPr>
        <p:txBody>
          <a:bodyPr/>
          <a:lstStyle/>
          <a:p>
            <a:endParaRPr lang="es-CO"/>
          </a:p>
        </p:txBody>
      </p:sp>
      <mc:AlternateContent xmlns:mc="http://schemas.openxmlformats.org/markup-compatibility/2006">
        <mc:Choice xmlns:a14="http://schemas.microsoft.com/office/drawing/2010/main" Requires="a14">
          <p:sp>
            <p:nvSpPr>
              <p:cNvPr id="515" name="Texto"/>
              <p:cNvSpPr txBox="1"/>
              <p:nvPr/>
            </p:nvSpPr>
            <p:spPr>
              <a:xfrm>
                <a:off x="6502400" y="5245100"/>
                <a:ext cx="4572000" cy="355600"/>
              </a:xfrm>
              <a:prstGeom prst="rect">
                <a:avLst/>
              </a:prstGeom>
              <a:noFill/>
              <a:ln/>
            </p:spPr>
            <p:txBody>
              <a:bodyPr wrap="square" lIns="0" tIns="0" rIns="0" bIns="0" rtlCol="0" anchor="ctr">
                <a:noAutofit/>
              </a:bodyPr>
              <a:lstStyle/>
              <a:p>
                <a:pPr marL="0" indent="0" algn="ctr">
                  <a:lnSpc>
                    <a:spcPct val="100000"/>
                  </a:lnSpc>
                  <a:spcAft>
                    <a:spcPts val="0"/>
                  </a:spcAft>
                  <a:buNone/>
                </a:pPr>
                <a14:m>
                  <m:oMathPara xmlns:m="http://schemas.openxmlformats.org/officeDocument/2006/math">
                    <m:oMathParaPr>
                      <m:jc m:val="centerGroup"/>
                    </m:oMathParaPr>
                    <m:oMath xmlns:m="http://schemas.openxmlformats.org/officeDocument/2006/math">
                      <m:r>
                        <a:rPr lang="es-CO" sz="1600" i="1">
                          <a:solidFill>
                            <a:srgbClr val="1D1D1B"/>
                          </a:solidFill>
                          <a:latin typeface="Cambria Math" panose="02040503050406030204" pitchFamily="18" charset="0"/>
                        </a:rPr>
                        <m:t>𝜀</m:t>
                      </m:r>
                      <m:r>
                        <a:rPr lang="es-CO" sz="1600" i="1">
                          <a:solidFill>
                            <a:srgbClr val="1D1D1B"/>
                          </a:solidFill>
                          <a:latin typeface="Cambria Math" panose="02040503050406030204" pitchFamily="18" charset="0"/>
                        </a:rPr>
                        <m:t>=</m:t>
                      </m:r>
                      <m:r>
                        <m:rPr>
                          <m:sty m:val="p"/>
                        </m:rPr>
                        <a:rPr lang="es-CO" sz="1600" i="0">
                          <a:solidFill>
                            <a:srgbClr val="1D1D1B"/>
                          </a:solidFill>
                          <a:latin typeface="Cambria Math" panose="02040503050406030204" pitchFamily="18" charset="0"/>
                        </a:rPr>
                        <m:t>ln</m:t>
                      </m:r>
                      <m:d>
                        <m:dPr>
                          <m:ctrlPr>
                            <a:rPr lang="es-CO" sz="1600" i="1">
                              <a:solidFill>
                                <a:srgbClr val="1D1D1B"/>
                              </a:solidFill>
                              <a:latin typeface="Cambria Math" panose="02040503050406030204" pitchFamily="18" charset="0"/>
                            </a:rPr>
                          </m:ctrlPr>
                        </m:dPr>
                        <m:e>
                          <m:r>
                            <a:rPr lang="es-CO" sz="1600" i="1">
                              <a:solidFill>
                                <a:srgbClr val="1D1D1B"/>
                              </a:solidFill>
                              <a:latin typeface="Cambria Math" panose="02040503050406030204" pitchFamily="18" charset="0"/>
                            </a:rPr>
                            <m:t>1+</m:t>
                          </m:r>
                          <m:r>
                            <a:rPr lang="es-CO" sz="1600" i="1">
                              <a:solidFill>
                                <a:srgbClr val="1D1D1B"/>
                              </a:solidFill>
                              <a:latin typeface="Cambria Math" panose="02040503050406030204" pitchFamily="18" charset="0"/>
                            </a:rPr>
                            <m:t>𝑑</m:t>
                          </m:r>
                          <m:r>
                            <a:rPr lang="es-CO" sz="1600" i="1">
                              <a:solidFill>
                                <a:srgbClr val="1D1D1B"/>
                              </a:solidFill>
                              <a:latin typeface="Cambria Math" panose="02040503050406030204" pitchFamily="18" charset="0"/>
                            </a:rPr>
                            <m:t>⋅</m:t>
                          </m:r>
                          <m:r>
                            <a:rPr lang="es-CO" sz="1600" i="1">
                              <a:solidFill>
                                <a:srgbClr val="1D1D1B"/>
                              </a:solidFill>
                              <a:latin typeface="Cambria Math" panose="02040503050406030204" pitchFamily="18" charset="0"/>
                            </a:rPr>
                            <m:t>𝐷</m:t>
                          </m:r>
                        </m:e>
                      </m:d>
                      <m:r>
                        <a:rPr lang="es-CO" sz="1600" i="1">
                          <a:solidFill>
                            <a:srgbClr val="1D1D1B"/>
                          </a:solidFill>
                          <a:latin typeface="Cambria Math" panose="02040503050406030204" pitchFamily="18" charset="0"/>
                        </a:rPr>
                        <m:t>≤</m:t>
                      </m:r>
                      <m:r>
                        <m:rPr>
                          <m:sty m:val="p"/>
                        </m:rPr>
                        <a:rPr lang="es-CO" sz="1600" i="0">
                          <a:solidFill>
                            <a:srgbClr val="1D1D1B"/>
                          </a:solidFill>
                          <a:latin typeface="Cambria Math" panose="02040503050406030204" pitchFamily="18" charset="0"/>
                        </a:rPr>
                        <m:t>ln</m:t>
                      </m:r>
                      <m:d>
                        <m:dPr>
                          <m:ctrlPr>
                            <a:rPr lang="es-CO" sz="1600" i="1">
                              <a:solidFill>
                                <a:srgbClr val="1D1D1B"/>
                              </a:solidFill>
                              <a:latin typeface="Cambria Math" panose="02040503050406030204" pitchFamily="18" charset="0"/>
                            </a:rPr>
                          </m:ctrlPr>
                        </m:dPr>
                        <m:e>
                          <m:r>
                            <a:rPr lang="es-CO" sz="1600" i="1">
                              <a:solidFill>
                                <a:srgbClr val="1D1D1B"/>
                              </a:solidFill>
                              <a:latin typeface="Cambria Math" panose="02040503050406030204" pitchFamily="18" charset="0"/>
                            </a:rPr>
                            <m:t>1+</m:t>
                          </m:r>
                          <m:r>
                            <a:rPr lang="es-CO" sz="1600" i="1">
                              <a:solidFill>
                                <a:srgbClr val="1D1D1B"/>
                              </a:solidFill>
                              <a:latin typeface="Cambria Math" panose="02040503050406030204" pitchFamily="18" charset="0"/>
                            </a:rPr>
                            <m:t>𝐷</m:t>
                          </m:r>
                        </m:e>
                      </m:d>
                    </m:oMath>
                  </m:oMathPara>
                </a14:m>
                <a:endParaRPr/>
              </a:p>
            </p:txBody>
          </p:sp>
        </mc:Choice>
        <mc:Fallback>
          <p:sp>
            <p:nvSpPr>
              <p:cNvPr id="515" name="Texto"/>
              <p:cNvSpPr txBox="1">
                <a:spLocks noRot="1" noChangeAspect="1" noMove="1" noResize="1" noEditPoints="1" noAdjustHandles="1" noChangeArrowheads="1" noChangeShapeType="1" noTextEdit="1"/>
              </p:cNvSpPr>
              <p:nvPr/>
            </p:nvSpPr>
            <p:spPr>
              <a:xfrm>
                <a:off x="6502400" y="5245100"/>
                <a:ext cx="4572000" cy="355600"/>
              </a:xfrm>
              <a:prstGeom prst="rect">
                <a:avLst/>
              </a:prstGeom>
              <a:blipFill>
                <a:blip r:embed="rId9"/>
                <a:stretch>
                  <a:fillRect/>
                </a:stretch>
              </a:blipFill>
              <a:ln/>
            </p:spPr>
            <p:txBody>
              <a:bodyPr/>
              <a:lstStyle/>
              <a:p>
                <a:r>
                  <a:rPr lang="en-CO">
                    <a:noFill/>
                  </a:rPr>
                  <a:t> </a:t>
                </a:r>
              </a:p>
            </p:txBody>
          </p:sp>
        </mc:Fallback>
      </mc:AlternateContent>
      <p:sp>
        <p:nvSpPr>
          <p:cNvPr id="516" name="Texto"/>
          <p:cNvSpPr txBox="1"/>
          <p:nvPr/>
        </p:nvSpPr>
        <p:spPr>
          <a:xfrm>
            <a:off x="6502400" y="5816600"/>
            <a:ext cx="4572000" cy="254000"/>
          </a:xfrm>
          <a:prstGeom prst="rect">
            <a:avLst/>
          </a:prstGeom>
          <a:noFill/>
          <a:ln/>
        </p:spPr>
        <p:txBody>
          <a:bodyPr wrap="square" lIns="0" tIns="0" rIns="0" bIns="0" rtlCol="0" anchor="t">
            <a:noAutofit/>
          </a:bodyPr>
          <a:lstStyle/>
          <a:p>
            <a:pPr marL="0" indent="0" algn="ctr">
              <a:lnSpc>
                <a:spcPct val="100000"/>
              </a:lnSpc>
              <a:spcAft>
                <a:spcPts val="0"/>
              </a:spcAft>
              <a:buNone/>
            </a:pPr>
            <a:r>
              <a:rPr lang="es-CO" sz="1200" dirty="0">
                <a:solidFill>
                  <a:srgbClr val="6E6E6C"/>
                </a:solidFill>
                <a:latin typeface="Roboto" pitchFamily="34" charset="0"/>
                <a:ea typeface="Roboto" pitchFamily="34" charset="-122"/>
                <a:cs typeface="Roboto" pitchFamily="34" charset="-120"/>
              </a:rPr>
              <a:t>crece con ln D: lineal en el número de qubits</a:t>
            </a:r>
          </a:p>
        </p:txBody>
      </p:sp>
      <p:sp>
        <p:nvSpPr>
          <p:cNvPr id="10" name="Text 7"/>
          <p:cNvSpPr/>
          <p:nvPr/>
        </p:nvSpPr>
        <p:spPr>
          <a:xfrm>
            <a:off x="1066800" y="3429000"/>
            <a:ext cx="355600" cy="355600"/>
          </a:xfrm>
          <a:custGeom>
            <a:avLst/>
            <a:gdLst/>
            <a:ahLst/>
            <a:cxnLst/>
            <a:rect l="l" t="t" r="r" b="b"/>
            <a:pathLst>
              <a:path w="355600" h="355600">
                <a:moveTo>
                  <a:pt x="50800" y="0"/>
                </a:moveTo>
                <a:lnTo>
                  <a:pt x="304800" y="0"/>
                </a:lnTo>
                <a:arcTo wR="50800" hR="50800" stAng="16200000" swAng="5400000"/>
                <a:lnTo>
                  <a:pt x="355600" y="304800"/>
                </a:lnTo>
                <a:arcTo wR="50800" hR="50800" stAng="0" swAng="5400000"/>
                <a:lnTo>
                  <a:pt x="50800" y="355600"/>
                </a:lnTo>
                <a:arcTo wR="50800" hR="50800" stAng="5400000" swAng="5400000"/>
                <a:lnTo>
                  <a:pt x="0" y="50800"/>
                </a:lnTo>
                <a:arcTo wR="50800" hR="50800" stAng="10800000" swAng="5400000"/>
                <a:close/>
              </a:path>
            </a:pathLst>
          </a:custGeom>
          <a:solidFill>
            <a:srgbClr val="293470"/>
          </a:solidFill>
          <a:ln/>
        </p:spPr>
        <p:txBody>
          <a:bodyPr wrap="square" lIns="0" tIns="0" rIns="0" bIns="0" rtlCol="0" anchor="t">
            <a:normAutofit/>
          </a:bodyPr>
          <a:lstStyle/>
          <a:p>
            <a:pPr marL="0" indent="0" algn="ctr">
              <a:lnSpc>
                <a:spcPts val="2800"/>
              </a:lnSpc>
              <a:buNone/>
            </a:pPr>
            <a:r>
              <a:rPr lang="es-ES_tradnl" sz="1600" b="1" noProof="0" dirty="0">
                <a:solidFill>
                  <a:srgbClr val="FFFFFF"/>
                </a:solidFill>
                <a:latin typeface="DM Sans" pitchFamily="34" charset="0"/>
                <a:ea typeface="DM Sans" pitchFamily="34" charset="-122"/>
                <a:cs typeface="DM Sans" pitchFamily="34" charset="-120"/>
              </a:rPr>
              <a:t>C</a:t>
            </a:r>
            <a:endParaRPr lang="es-ES_tradnl" sz="1600" noProof="0" dirty="0"/>
          </a:p>
        </p:txBody>
      </p:sp>
      <p:sp>
        <p:nvSpPr>
          <p:cNvPr id="14" name="Text 10"/>
          <p:cNvSpPr/>
          <p:nvPr/>
        </p:nvSpPr>
        <p:spPr>
          <a:xfrm>
            <a:off x="6451600" y="3429000"/>
            <a:ext cx="355600" cy="355600"/>
          </a:xfrm>
          <a:custGeom>
            <a:avLst/>
            <a:gdLst/>
            <a:ahLst/>
            <a:cxnLst/>
            <a:rect l="l" t="t" r="r" b="b"/>
            <a:pathLst>
              <a:path w="355600" h="355600">
                <a:moveTo>
                  <a:pt x="50800" y="0"/>
                </a:moveTo>
                <a:lnTo>
                  <a:pt x="304800" y="0"/>
                </a:lnTo>
                <a:arcTo wR="50800" hR="50800" stAng="16200000" swAng="5400000"/>
                <a:lnTo>
                  <a:pt x="355600" y="304800"/>
                </a:lnTo>
                <a:arcTo wR="50800" hR="50800" stAng="0" swAng="5400000"/>
                <a:lnTo>
                  <a:pt x="50800" y="355600"/>
                </a:lnTo>
                <a:arcTo wR="50800" hR="50800" stAng="5400000" swAng="5400000"/>
                <a:lnTo>
                  <a:pt x="0" y="50800"/>
                </a:lnTo>
                <a:arcTo wR="50800" hR="50800" stAng="10800000" swAng="5400000"/>
                <a:close/>
              </a:path>
            </a:pathLst>
          </a:custGeom>
          <a:solidFill>
            <a:srgbClr val="FFEE00"/>
          </a:solidFill>
          <a:ln/>
        </p:spPr>
        <p:txBody>
          <a:bodyPr wrap="square" lIns="0" tIns="0" rIns="0" bIns="0" rtlCol="0" anchor="t">
            <a:normAutofit/>
          </a:bodyPr>
          <a:lstStyle/>
          <a:p>
            <a:pPr marL="0" indent="0" algn="ctr">
              <a:lnSpc>
                <a:spcPts val="2800"/>
              </a:lnSpc>
              <a:buNone/>
            </a:pPr>
            <a:r>
              <a:rPr lang="es-ES_tradnl" sz="1600" b="1" noProof="0" dirty="0">
                <a:solidFill>
                  <a:srgbClr val="1D1D1B"/>
                </a:solidFill>
                <a:latin typeface="DM Sans" pitchFamily="34" charset="0"/>
                <a:ea typeface="DM Sans" pitchFamily="34" charset="-122"/>
                <a:cs typeface="DM Sans" pitchFamily="34" charset="-120"/>
              </a:rPr>
              <a:t>L</a:t>
            </a:r>
            <a:endParaRPr lang="es-ES_tradnl" sz="1600" noProof="0" dirty="0"/>
          </a:p>
        </p:txBody>
      </p:sp>
      <p:sp>
        <p:nvSpPr>
          <p:cNvPr id="21" name="Text 15"/>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a:solidFill>
                  <a:srgbClr val="1D1D1B"/>
                </a:solidFill>
                <a:latin typeface="Roboto" pitchFamily="34" charset="0"/>
                <a:ea typeface="Roboto" pitchFamily="34" charset="-122"/>
                <a:cs typeface="Roboto" pitchFamily="34" charset="-120"/>
              </a:rPr>
              <a:t>26</a:t>
            </a:r>
            <a:endParaRPr lang="es-ES_tradnl" sz="1200" noProof="0" dirty="0"/>
          </a:p>
        </p:txBody>
      </p:sp>
    </p:spTree>
    <p:extLst>
      <p:ext uri="{BB962C8B-B14F-4D97-AF65-F5344CB8AC3E}">
        <p14:creationId xmlns:p14="http://schemas.microsoft.com/office/powerpoint/2010/main" val="252137757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D1D1B"/>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s-ES_tradnl" noProof="0" dirty="0"/>
          </a:p>
        </p:txBody>
      </p:sp>
      <p:sp>
        <p:nvSpPr>
          <p:cNvPr id="3" name="Shape 1"/>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dirty="0">
                <a:solidFill>
                  <a:srgbClr val="1D1D1B"/>
                </a:solidFill>
                <a:latin typeface="DM Sans" pitchFamily="34" charset="0"/>
                <a:ea typeface="DM Sans" pitchFamily="34" charset="-122"/>
                <a:cs typeface="DM Sans" pitchFamily="34" charset="-120"/>
              </a:rPr>
              <a:t>II</a:t>
            </a:r>
            <a:endParaRPr lang="es-ES_tradnl" sz="1200" noProof="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dirty="0">
                <a:solidFill>
                  <a:srgbClr val="BDBDB8"/>
                </a:solidFill>
                <a:latin typeface="Roboto" pitchFamily="34" charset="0"/>
                <a:ea typeface="Roboto" pitchFamily="34" charset="-122"/>
                <a:cs typeface="Roboto" pitchFamily="34" charset="-120"/>
              </a:rPr>
              <a:t>DÓNDE ESTÁ LA PRIVACIDAD</a:t>
            </a:r>
            <a:endParaRPr lang="es-ES_tradnl" sz="1200" noProof="0" dirty="0"/>
          </a:p>
        </p:txBody>
      </p:sp>
      <p:pic>
        <p:nvPicPr>
          <p:cNvPr id="6" name="Image 0" descr="Universidad de los Andes"/>
          <p:cNvPicPr>
            <a:picLocks noChangeAspect="1"/>
          </p:cNvPicPr>
          <p:nvPr/>
        </p:nvPicPr>
        <p:blipFill>
          <a:blip r:embed="rId3"/>
          <a:srcRect l="-349" r="-349"/>
          <a:stretch/>
        </p:blipFill>
        <p:spPr>
          <a:xfrm>
            <a:off x="10121900" y="254000"/>
            <a:ext cx="1257300" cy="393700"/>
          </a:xfrm>
          <a:prstGeom prst="rect">
            <a:avLst/>
          </a:prstGeom>
        </p:spPr>
      </p:pic>
      <p:sp>
        <p:nvSpPr>
          <p:cNvPr id="7" name="Text 4"/>
          <p:cNvSpPr/>
          <p:nvPr/>
        </p:nvSpPr>
        <p:spPr>
          <a:xfrm>
            <a:off x="812800" y="1999555"/>
            <a:ext cx="10883392" cy="274241"/>
          </a:xfrm>
          <a:prstGeom prst="rect">
            <a:avLst/>
          </a:prstGeom>
          <a:noFill/>
          <a:ln/>
        </p:spPr>
        <p:txBody>
          <a:bodyPr wrap="square" lIns="0" tIns="0" rIns="0" bIns="0" rtlCol="0" anchor="t">
            <a:normAutofit/>
          </a:bodyPr>
          <a:lstStyle/>
          <a:p>
            <a:pPr marL="0" indent="0" algn="l">
              <a:lnSpc>
                <a:spcPts val="1960"/>
              </a:lnSpc>
              <a:buNone/>
            </a:pPr>
            <a:r>
              <a:rPr lang="es-ES_tradnl" sz="1400" b="1" kern="0" spc="200" noProof="0" dirty="0">
                <a:solidFill>
                  <a:srgbClr val="FFEE00"/>
                </a:solidFill>
                <a:latin typeface="Roboto" pitchFamily="34" charset="0"/>
                <a:ea typeface="Roboto" pitchFamily="34" charset="-122"/>
                <a:cs typeface="Roboto" pitchFamily="34" charset="-120"/>
              </a:rPr>
              <a:t>CUÁNDO C SIGUE SIENDO BUENO</a:t>
            </a:r>
            <a:endParaRPr lang="es-ES_tradnl" sz="1400" noProof="0" dirty="0"/>
          </a:p>
        </p:txBody>
      </p:sp>
      <p:sp>
        <p:nvSpPr>
          <p:cNvPr id="8" name="Text 5"/>
          <p:cNvSpPr>
            <a:spLocks noGrp="1"/>
          </p:cNvSpPr>
          <p:nvPr>
            <p:ph type="title"/>
          </p:nvPr>
        </p:nvSpPr>
        <p:spPr>
          <a:xfrm>
            <a:off x="812800" y="2553196"/>
            <a:ext cx="10883392" cy="1049338"/>
          </a:xfrm>
          <a:prstGeom prst="rect">
            <a:avLst/>
          </a:prstGeom>
          <a:noFill/>
          <a:ln/>
        </p:spPr>
        <p:txBody>
          <a:bodyPr wrap="square" lIns="0" tIns="0" rIns="0" bIns="0" rtlCol="0" anchor="t">
            <a:normAutofit/>
          </a:bodyPr>
          <a:lstStyle/>
          <a:p>
            <a:pPr marL="0" indent="0" algn="l">
              <a:lnSpc>
                <a:spcPts val="4032"/>
              </a:lnSpc>
              <a:buNone/>
            </a:pPr>
            <a:r>
              <a:rPr lang="es-ES_tradnl" sz="3600" b="1" i="0" kern="0" spc="-75" noProof="0" dirty="0">
                <a:solidFill>
                  <a:srgbClr val="F7F7F5"/>
                </a:solidFill>
                <a:latin typeface="DM Sans" pitchFamily="34" charset="0"/>
                <a:ea typeface="DM Sans" pitchFamily="34" charset="-122"/>
                <a:cs typeface="DM Sans" pitchFamily="34" charset="-120"/>
              </a:rPr>
              <a:t>Lo que decide no es cuántico contra clásico: es </a:t>
            </a:r>
            <a:r>
              <a:rPr lang="es-ES_tradnl" sz="3600" b="1" i="0" kern="0" spc="-75" noProof="0" dirty="0">
                <a:solidFill>
                  <a:srgbClr val="FFEE00"/>
                </a:solidFill>
                <a:latin typeface="DM Sans" pitchFamily="34" charset="0"/>
                <a:ea typeface="DM Sans" pitchFamily="34" charset="-122"/>
                <a:cs typeface="DM Sans" pitchFamily="34" charset="-120"/>
              </a:rPr>
              <a:t>cuántas copias consume</a:t>
            </a:r>
            <a:r>
              <a:rPr lang="es-ES_tradnl" sz="3600" b="1" i="0" kern="0" spc="-75" noProof="0" dirty="0">
                <a:solidFill>
                  <a:srgbClr val="F7F7F5"/>
                </a:solidFill>
                <a:latin typeface="DM Sans" pitchFamily="34" charset="0"/>
                <a:ea typeface="DM Sans" pitchFamily="34" charset="-122"/>
                <a:cs typeface="DM Sans" pitchFamily="34" charset="-120"/>
              </a:rPr>
              <a:t> quien recibe el estado.</a:t>
            </a:r>
            <a:endParaRPr lang="es-ES_tradnl" sz="3600" noProof="0" dirty="0"/>
          </a:p>
        </p:txBody>
      </p:sp>
      <p:sp>
        <p:nvSpPr>
          <p:cNvPr id="9" name="Shape 6"/>
          <p:cNvSpPr/>
          <p:nvPr/>
        </p:nvSpPr>
        <p:spPr>
          <a:xfrm>
            <a:off x="825500" y="3881934"/>
            <a:ext cx="0" cy="773311"/>
          </a:xfrm>
          <a:prstGeom prst="line">
            <a:avLst/>
          </a:prstGeom>
          <a:noFill/>
          <a:ln w="25400">
            <a:solidFill>
              <a:srgbClr val="FFEE00"/>
            </a:solidFill>
            <a:prstDash val="solid"/>
          </a:ln>
        </p:spPr>
        <p:txBody>
          <a:bodyPr/>
          <a:lstStyle/>
          <a:p>
            <a:endParaRPr lang="es-ES_tradnl" noProof="0" dirty="0"/>
          </a:p>
        </p:txBody>
      </p:sp>
      <p:sp>
        <p:nvSpPr>
          <p:cNvPr id="10" name="Text 7"/>
          <p:cNvSpPr/>
          <p:nvPr/>
        </p:nvSpPr>
        <p:spPr>
          <a:xfrm>
            <a:off x="990600" y="3881934"/>
            <a:ext cx="5101590" cy="798711"/>
          </a:xfrm>
          <a:prstGeom prst="rect">
            <a:avLst/>
          </a:prstGeom>
          <a:noFill/>
          <a:ln/>
        </p:spPr>
        <p:txBody>
          <a:bodyPr wrap="square" lIns="0" tIns="0" rIns="0" bIns="0" rtlCol="0" anchor="t">
            <a:normAutofit/>
          </a:bodyPr>
          <a:lstStyle/>
          <a:p>
            <a:pPr marL="0" indent="0" algn="l">
              <a:lnSpc>
                <a:spcPts val="2030"/>
              </a:lnSpc>
              <a:buNone/>
            </a:pPr>
            <a:r>
              <a:rPr lang="es-ES_tradnl" sz="1400" noProof="0" dirty="0">
                <a:solidFill>
                  <a:srgbClr val="D4D4D0"/>
                </a:solidFill>
                <a:latin typeface="Roboto" pitchFamily="34" charset="0"/>
                <a:ea typeface="Roboto" pitchFamily="34" charset="-122"/>
                <a:cs typeface="Roboto" pitchFamily="34" charset="-120"/>
              </a:rPr>
              <a:t>Si un proceso cuántico consume una sola copia de </a:t>
            </a:r>
            <a:r>
              <a:rPr lang="es-ES_tradnl" sz="1400" noProof="0" dirty="0" err="1">
                <a:solidFill>
                  <a:srgbClr val="D4D4D0"/>
                </a:solidFill>
                <a:latin typeface="Roboto" pitchFamily="34" charset="0"/>
                <a:ea typeface="Roboto" pitchFamily="34" charset="-122"/>
                <a:cs typeface="Roboto" pitchFamily="34" charset="-120"/>
              </a:rPr>
              <a:t>ρ</a:t>
            </a:r>
            <a:r>
              <a:rPr lang="es-ES_tradnl" sz="1400" noProof="0" dirty="0">
                <a:solidFill>
                  <a:srgbClr val="D4D4D0"/>
                </a:solidFill>
                <a:latin typeface="Roboto" pitchFamily="34" charset="0"/>
                <a:ea typeface="Roboto" pitchFamily="34" charset="-122"/>
                <a:cs typeface="Roboto" pitchFamily="34" charset="-120"/>
              </a:rPr>
              <a:t>″ sin </a:t>
            </a:r>
            <a:r>
              <a:rPr lang="es-ES_tradnl" sz="1400" noProof="0" dirty="0" err="1">
                <a:solidFill>
                  <a:srgbClr val="D4D4D0"/>
                </a:solidFill>
                <a:latin typeface="Roboto" pitchFamily="34" charset="0"/>
                <a:ea typeface="Roboto" pitchFamily="34" charset="-122"/>
                <a:cs typeface="Roboto" pitchFamily="34" charset="-120"/>
              </a:rPr>
              <a:t>decuantizar</a:t>
            </a:r>
            <a:r>
              <a:rPr lang="es-ES_tradnl" sz="1400" noProof="0" dirty="0">
                <a:solidFill>
                  <a:srgbClr val="D4D4D0"/>
                </a:solidFill>
                <a:latin typeface="Roboto" pitchFamily="34" charset="0"/>
                <a:ea typeface="Roboto" pitchFamily="34" charset="-122"/>
                <a:cs typeface="Roboto" pitchFamily="34" charset="-120"/>
              </a:rPr>
              <a:t>, la garantía es el </a:t>
            </a:r>
            <a:r>
              <a:rPr lang="es-ES_tradnl" sz="1400" noProof="0" dirty="0" err="1">
                <a:solidFill>
                  <a:srgbClr val="D4D4D0"/>
                </a:solidFill>
                <a:latin typeface="Roboto" pitchFamily="34" charset="0"/>
                <a:ea typeface="Roboto" pitchFamily="34" charset="-122"/>
                <a:cs typeface="Roboto" pitchFamily="34" charset="-120"/>
              </a:rPr>
              <a:t>ε</a:t>
            </a:r>
            <a:r>
              <a:rPr lang="es-ES_tradnl" sz="1400" noProof="0" dirty="0">
                <a:solidFill>
                  <a:srgbClr val="D4D4D0"/>
                </a:solidFill>
                <a:latin typeface="Roboto" pitchFamily="34" charset="0"/>
                <a:ea typeface="Roboto" pitchFamily="34" charset="-122"/>
                <a:cs typeface="Roboto" pitchFamily="34" charset="-120"/>
              </a:rPr>
              <a:t> por copia: 0.106 con 7 </a:t>
            </a:r>
            <a:r>
              <a:rPr lang="es-ES_tradnl" sz="1400" noProof="0" dirty="0" err="1">
                <a:solidFill>
                  <a:srgbClr val="D4D4D0"/>
                </a:solidFill>
                <a:latin typeface="Roboto" pitchFamily="34" charset="0"/>
                <a:ea typeface="Roboto" pitchFamily="34" charset="-122"/>
                <a:cs typeface="Roboto" pitchFamily="34" charset="-120"/>
              </a:rPr>
              <a:t>qubits</a:t>
            </a:r>
            <a:r>
              <a:rPr lang="es-ES_tradnl" sz="1400" noProof="0" dirty="0">
                <a:solidFill>
                  <a:srgbClr val="D4D4D0"/>
                </a:solidFill>
                <a:latin typeface="Roboto" pitchFamily="34" charset="0"/>
                <a:ea typeface="Roboto" pitchFamily="34" charset="-122"/>
                <a:cs typeface="Roboto" pitchFamily="34" charset="-120"/>
              </a:rPr>
              <a:t>, mucho mejor que la de L.</a:t>
            </a:r>
            <a:endParaRPr lang="es-ES_tradnl" sz="1400" noProof="0" dirty="0"/>
          </a:p>
        </p:txBody>
      </p:sp>
      <p:sp>
        <p:nvSpPr>
          <p:cNvPr id="11" name="Shape 8"/>
          <p:cNvSpPr/>
          <p:nvPr/>
        </p:nvSpPr>
        <p:spPr>
          <a:xfrm>
            <a:off x="6261100" y="3881934"/>
            <a:ext cx="0" cy="773311"/>
          </a:xfrm>
          <a:prstGeom prst="line">
            <a:avLst/>
          </a:prstGeom>
          <a:noFill/>
          <a:ln w="25400">
            <a:solidFill>
              <a:srgbClr val="6E6E6C"/>
            </a:solidFill>
            <a:prstDash val="solid"/>
          </a:ln>
        </p:spPr>
        <p:txBody>
          <a:bodyPr/>
          <a:lstStyle/>
          <a:p>
            <a:endParaRPr lang="es-ES_tradnl" noProof="0" dirty="0"/>
          </a:p>
        </p:txBody>
      </p:sp>
      <p:sp>
        <p:nvSpPr>
          <p:cNvPr id="12" name="Text 9"/>
          <p:cNvSpPr/>
          <p:nvPr/>
        </p:nvSpPr>
        <p:spPr>
          <a:xfrm>
            <a:off x="6426200" y="3881934"/>
            <a:ext cx="5101590" cy="798711"/>
          </a:xfrm>
          <a:prstGeom prst="rect">
            <a:avLst/>
          </a:prstGeom>
          <a:noFill/>
          <a:ln/>
        </p:spPr>
        <p:txBody>
          <a:bodyPr wrap="square" lIns="0" tIns="0" rIns="0" bIns="0" rtlCol="0" anchor="t">
            <a:normAutofit/>
          </a:bodyPr>
          <a:lstStyle/>
          <a:p>
            <a:pPr marL="0" indent="0" algn="l">
              <a:lnSpc>
                <a:spcPts val="2030"/>
              </a:lnSpc>
              <a:buNone/>
            </a:pPr>
            <a:r>
              <a:rPr lang="es-ES_tradnl" sz="1400" noProof="0" dirty="0">
                <a:solidFill>
                  <a:srgbClr val="D4D4D0"/>
                </a:solidFill>
                <a:latin typeface="Roboto" pitchFamily="34" charset="0"/>
                <a:ea typeface="Roboto" pitchFamily="34" charset="-122"/>
                <a:cs typeface="Roboto" pitchFamily="34" charset="-120"/>
              </a:rPr>
              <a:t>Un algoritmo cuántico que necesite estimar algo con precisión también consume muchas copias, y paga </a:t>
            </a:r>
            <a:r>
              <a:rPr lang="es-ES_tradnl" sz="1400" noProof="0" dirty="0" err="1">
                <a:solidFill>
                  <a:srgbClr val="D4D4D0"/>
                </a:solidFill>
                <a:latin typeface="Roboto" pitchFamily="34" charset="0"/>
                <a:ea typeface="Roboto" pitchFamily="34" charset="-122"/>
                <a:cs typeface="Roboto" pitchFamily="34" charset="-120"/>
              </a:rPr>
              <a:t>N·ε</a:t>
            </a:r>
            <a:r>
              <a:rPr lang="es-ES_tradnl" sz="1400" noProof="0" dirty="0">
                <a:solidFill>
                  <a:srgbClr val="D4D4D0"/>
                </a:solidFill>
                <a:latin typeface="Roboto" pitchFamily="34" charset="0"/>
                <a:ea typeface="Roboto" pitchFamily="34" charset="-122"/>
                <a:cs typeface="Roboto" pitchFamily="34" charset="-120"/>
              </a:rPr>
              <a:t>.</a:t>
            </a:r>
            <a:endParaRPr lang="es-ES_tradnl" sz="1400" noProof="0" dirty="0"/>
          </a:p>
        </p:txBody>
      </p:sp>
      <p:sp>
        <p:nvSpPr>
          <p:cNvPr id="14" name="Text 11"/>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a:solidFill>
                  <a:srgbClr val="F7F7F5"/>
                </a:solidFill>
                <a:latin typeface="Roboto" pitchFamily="34" charset="0"/>
                <a:ea typeface="Roboto" pitchFamily="34" charset="-122"/>
                <a:cs typeface="Roboto" pitchFamily="34" charset="-120"/>
              </a:rPr>
              <a:t>27</a:t>
            </a:r>
            <a:endParaRPr lang="es-ES_tradnl" sz="1200" noProof="0" dirty="0"/>
          </a:p>
        </p:txBody>
      </p:sp>
    </p:spTree>
    <p:extLst>
      <p:ext uri="{BB962C8B-B14F-4D97-AF65-F5344CB8AC3E}">
        <p14:creationId xmlns:p14="http://schemas.microsoft.com/office/powerpoint/2010/main" val="122025301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s-ES_tradnl" noProof="0" dirty="0"/>
          </a:p>
        </p:txBody>
      </p:sp>
      <p:sp>
        <p:nvSpPr>
          <p:cNvPr id="3" name="Shape 1"/>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dirty="0">
                <a:solidFill>
                  <a:srgbClr val="1D1D1B"/>
                </a:solidFill>
                <a:latin typeface="DM Sans" pitchFamily="34" charset="0"/>
                <a:ea typeface="DM Sans" pitchFamily="34" charset="-122"/>
                <a:cs typeface="DM Sans" pitchFamily="34" charset="-120"/>
              </a:rPr>
              <a:t>II</a:t>
            </a:r>
            <a:endParaRPr lang="es-ES_tradnl" sz="1200" noProof="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dirty="0">
                <a:solidFill>
                  <a:srgbClr val="6E6E6C"/>
                </a:solidFill>
                <a:latin typeface="Roboto" pitchFamily="34" charset="0"/>
                <a:ea typeface="Roboto" pitchFamily="34" charset="-122"/>
                <a:cs typeface="Roboto" pitchFamily="34" charset="-120"/>
              </a:rPr>
              <a:t>DÓNDE ESTÁ LA PRIVACIDAD</a:t>
            </a:r>
            <a:endParaRPr lang="es-ES_tradnl" sz="1200" noProof="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s-ES_tradnl" sz="2800" b="1" i="0" kern="0" spc="-50" noProof="0" dirty="0">
                <a:solidFill>
                  <a:srgbClr val="1D1D1B"/>
                </a:solidFill>
                <a:latin typeface="DM Sans" pitchFamily="34" charset="0"/>
                <a:ea typeface="DM Sans" pitchFamily="34" charset="-122"/>
                <a:cs typeface="DM Sans" pitchFamily="34" charset="-120"/>
              </a:rPr>
              <a:t>La referencia es B, no el CSV</a:t>
            </a:r>
            <a:endParaRPr lang="es-ES_tradnl" sz="2800" noProof="0" dirty="0"/>
          </a:p>
        </p:txBody>
      </p:sp>
      <p:sp>
        <p:nvSpPr>
          <p:cNvPr id="8" name="Shape 5"/>
          <p:cNvSpPr/>
          <p:nvPr/>
        </p:nvSpPr>
        <p:spPr>
          <a:xfrm>
            <a:off x="812800" y="1407120"/>
            <a:ext cx="10566400" cy="1115020"/>
          </a:xfrm>
          <a:prstGeom prst="roundRect">
            <a:avLst>
              <a:gd name="adj" fmla="val 9112"/>
            </a:avLst>
          </a:prstGeom>
          <a:solidFill>
            <a:srgbClr val="F4F4F2"/>
          </a:solidFill>
          <a:ln/>
        </p:spPr>
        <p:txBody>
          <a:bodyPr/>
          <a:lstStyle/>
          <a:p>
            <a:endParaRPr lang="es-ES_tradnl" noProof="0" dirty="0"/>
          </a:p>
        </p:txBody>
      </p:sp>
      <p:sp>
        <p:nvSpPr>
          <p:cNvPr id="9" name="Text 6"/>
          <p:cNvSpPr/>
          <p:nvPr/>
        </p:nvSpPr>
        <p:spPr>
          <a:xfrm>
            <a:off x="1066800" y="1559520"/>
            <a:ext cx="3217926" cy="238720"/>
          </a:xfrm>
          <a:prstGeom prst="rect">
            <a:avLst/>
          </a:prstGeom>
          <a:noFill/>
          <a:ln/>
        </p:spPr>
        <p:txBody>
          <a:bodyPr wrap="square" lIns="0" tIns="0" rIns="0" bIns="0" rtlCol="0" anchor="t">
            <a:normAutofit/>
          </a:bodyPr>
          <a:lstStyle/>
          <a:p>
            <a:pPr marL="0" indent="0" algn="l">
              <a:lnSpc>
                <a:spcPts val="1680"/>
              </a:lnSpc>
              <a:buNone/>
            </a:pPr>
            <a:r>
              <a:rPr lang="es-ES_tradnl" sz="1200" b="1" noProof="0" dirty="0">
                <a:solidFill>
                  <a:srgbClr val="1D1D1B"/>
                </a:solidFill>
                <a:latin typeface="Roboto" pitchFamily="34" charset="0"/>
                <a:ea typeface="Roboto" pitchFamily="34" charset="-122"/>
                <a:cs typeface="Roboto" pitchFamily="34" charset="-120"/>
              </a:rPr>
              <a:t>Incertidumbre sin ruido (Bayes)</a:t>
            </a:r>
            <a:endParaRPr lang="es-ES_tradnl" sz="1200" noProof="0" dirty="0"/>
          </a:p>
        </p:txBody>
      </p:sp>
      <p:pic>
        <p:nvPicPr>
          <p:cNvPr id="10" name="Image 1" descr="P(car | +) = 1·0.232 / 0.45 ≈ 0.52"/>
          <p:cNvPicPr>
            <a:picLocks noChangeAspect="1"/>
          </p:cNvPicPr>
          <p:nvPr/>
        </p:nvPicPr>
        <p:blipFill>
          <a:blip r:embed="rId4"/>
          <a:srcRect t="-161" b="-161"/>
          <a:stretch/>
        </p:blipFill>
        <p:spPr>
          <a:xfrm>
            <a:off x="1066800" y="1823641"/>
            <a:ext cx="3124200" cy="546100"/>
          </a:xfrm>
          <a:prstGeom prst="rect">
            <a:avLst/>
          </a:prstGeom>
        </p:spPr>
      </p:pic>
      <p:sp>
        <p:nvSpPr>
          <p:cNvPr id="11" name="Text 7"/>
          <p:cNvSpPr/>
          <p:nvPr/>
        </p:nvSpPr>
        <p:spPr>
          <a:xfrm>
            <a:off x="4495800" y="1715790"/>
            <a:ext cx="6828282" cy="523081"/>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Casi una moneda. Viene de la codificación: </a:t>
            </a:r>
            <a:r>
              <a:rPr lang="es-ES_tradnl" sz="1400" noProof="0" dirty="0" err="1">
                <a:solidFill>
                  <a:srgbClr val="293470"/>
                </a:solidFill>
                <a:latin typeface="Roboto" pitchFamily="34" charset="0"/>
                <a:ea typeface="Roboto" pitchFamily="34" charset="-122"/>
                <a:cs typeface="Roboto" pitchFamily="34" charset="-120"/>
              </a:rPr>
              <a:t>none</a:t>
            </a:r>
            <a:r>
              <a:rPr lang="es-ES_tradnl" sz="1400" noProof="0" dirty="0">
                <a:solidFill>
                  <a:srgbClr val="3C3C3B"/>
                </a:solidFill>
                <a:latin typeface="Roboto" pitchFamily="34" charset="0"/>
                <a:ea typeface="Roboto" pitchFamily="34" charset="-122"/>
                <a:cs typeface="Roboto" pitchFamily="34" charset="-120"/>
              </a:rPr>
              <a:t> y </a:t>
            </a:r>
            <a:r>
              <a:rPr lang="es-ES_tradnl" sz="1400" noProof="0" dirty="0" err="1">
                <a:solidFill>
                  <a:srgbClr val="293470"/>
                </a:solidFill>
                <a:latin typeface="Roboto" pitchFamily="34" charset="0"/>
                <a:ea typeface="Roboto" pitchFamily="34" charset="-122"/>
                <a:cs typeface="Roboto" pitchFamily="34" charset="-120"/>
              </a:rPr>
              <a:t>savings</a:t>
            </a:r>
            <a:r>
              <a:rPr lang="es-ES_tradnl" sz="1400" noProof="0" dirty="0">
                <a:solidFill>
                  <a:srgbClr val="3C3C3B"/>
                </a:solidFill>
                <a:latin typeface="Roboto" pitchFamily="34" charset="0"/>
                <a:ea typeface="Roboto" pitchFamily="34" charset="-122"/>
                <a:cs typeface="Roboto" pitchFamily="34" charset="-120"/>
              </a:rPr>
              <a:t> también dan «+» la mitad de las veces.</a:t>
            </a:r>
            <a:endParaRPr lang="es-ES_tradnl" sz="1400" noProof="0" dirty="0"/>
          </a:p>
        </p:txBody>
      </p:sp>
      <p:sp>
        <p:nvSpPr>
          <p:cNvPr id="12" name="Shape 8"/>
          <p:cNvSpPr/>
          <p:nvPr/>
        </p:nvSpPr>
        <p:spPr>
          <a:xfrm>
            <a:off x="819150" y="2731691"/>
            <a:ext cx="3407767" cy="779661"/>
          </a:xfrm>
          <a:prstGeom prst="roundRect">
            <a:avLst>
              <a:gd name="adj" fmla="val 12217"/>
            </a:avLst>
          </a:prstGeom>
          <a:noFill/>
          <a:ln w="12700">
            <a:solidFill>
              <a:srgbClr val="3C3C3B"/>
            </a:solidFill>
            <a:prstDash val="solid"/>
          </a:ln>
        </p:spPr>
        <p:txBody>
          <a:bodyPr/>
          <a:lstStyle/>
          <a:p>
            <a:endParaRPr lang="es-ES_tradnl" noProof="0" dirty="0"/>
          </a:p>
        </p:txBody>
      </p:sp>
      <p:sp>
        <p:nvSpPr>
          <p:cNvPr id="13" name="Text 9"/>
          <p:cNvSpPr/>
          <p:nvPr/>
        </p:nvSpPr>
        <p:spPr>
          <a:xfrm>
            <a:off x="1003300" y="2943721"/>
            <a:ext cx="355600" cy="355600"/>
          </a:xfrm>
          <a:custGeom>
            <a:avLst/>
            <a:gdLst/>
            <a:ahLst/>
            <a:cxnLst/>
            <a:rect l="l" t="t" r="r" b="b"/>
            <a:pathLst>
              <a:path w="355600" h="355600">
                <a:moveTo>
                  <a:pt x="50800" y="0"/>
                </a:moveTo>
                <a:lnTo>
                  <a:pt x="304800" y="0"/>
                </a:lnTo>
                <a:arcTo wR="50800" hR="50800" stAng="16200000" swAng="5400000"/>
                <a:lnTo>
                  <a:pt x="355600" y="304800"/>
                </a:lnTo>
                <a:arcTo wR="50800" hR="50800" stAng="0" swAng="5400000"/>
                <a:lnTo>
                  <a:pt x="50800" y="355600"/>
                </a:lnTo>
                <a:arcTo wR="50800" hR="50800" stAng="5400000" swAng="5400000"/>
                <a:lnTo>
                  <a:pt x="0" y="50800"/>
                </a:lnTo>
                <a:arcTo wR="50800" hR="50800" stAng="10800000" swAng="5400000"/>
                <a:close/>
              </a:path>
            </a:pathLst>
          </a:custGeom>
          <a:solidFill>
            <a:srgbClr val="3C3C3B"/>
          </a:solidFill>
          <a:ln/>
        </p:spPr>
        <p:txBody>
          <a:bodyPr wrap="square" lIns="0" tIns="0" rIns="0" bIns="0" rtlCol="0" anchor="t">
            <a:normAutofit/>
          </a:bodyPr>
          <a:lstStyle/>
          <a:p>
            <a:pPr marL="0" indent="0" algn="ctr">
              <a:lnSpc>
                <a:spcPts val="2800"/>
              </a:lnSpc>
              <a:buNone/>
            </a:pPr>
            <a:r>
              <a:rPr lang="es-ES_tradnl" sz="1600" b="1" noProof="0" dirty="0">
                <a:solidFill>
                  <a:srgbClr val="FFFFFF"/>
                </a:solidFill>
                <a:latin typeface="DM Sans" pitchFamily="34" charset="0"/>
                <a:ea typeface="DM Sans" pitchFamily="34" charset="-122"/>
                <a:cs typeface="DM Sans" pitchFamily="34" charset="-120"/>
              </a:rPr>
              <a:t>A</a:t>
            </a:r>
            <a:endParaRPr lang="es-ES_tradnl" sz="1600" noProof="0" dirty="0"/>
          </a:p>
        </p:txBody>
      </p:sp>
      <p:sp>
        <p:nvSpPr>
          <p:cNvPr id="14" name="Text 10"/>
          <p:cNvSpPr/>
          <p:nvPr/>
        </p:nvSpPr>
        <p:spPr>
          <a:xfrm>
            <a:off x="1485900" y="2890441"/>
            <a:ext cx="2633573" cy="256480"/>
          </a:xfrm>
          <a:prstGeom prst="rect">
            <a:avLst/>
          </a:prstGeom>
          <a:noFill/>
          <a:ln/>
        </p:spPr>
        <p:txBody>
          <a:bodyPr wrap="square" lIns="0" tIns="0" rIns="0" bIns="0" rtlCol="0" anchor="t">
            <a:normAutofit/>
          </a:bodyPr>
          <a:lstStyle/>
          <a:p>
            <a:pPr marL="0" indent="0" algn="l">
              <a:lnSpc>
                <a:spcPts val="1820"/>
              </a:lnSpc>
              <a:buNone/>
            </a:pPr>
            <a:r>
              <a:rPr lang="es-ES_tradnl" sz="1400" b="1" noProof="0" dirty="0">
                <a:solidFill>
                  <a:srgbClr val="1D1D1B"/>
                </a:solidFill>
                <a:latin typeface="Roboto" pitchFamily="34" charset="0"/>
                <a:ea typeface="Roboto" pitchFamily="34" charset="-122"/>
                <a:cs typeface="Roboto" pitchFamily="34" charset="-120"/>
              </a:rPr>
              <a:t>CSV</a:t>
            </a:r>
            <a:endParaRPr lang="es-ES_tradnl" sz="1400" noProof="0" dirty="0"/>
          </a:p>
        </p:txBody>
      </p:sp>
      <p:sp>
        <p:nvSpPr>
          <p:cNvPr id="15" name="Text 11"/>
          <p:cNvSpPr/>
          <p:nvPr/>
        </p:nvSpPr>
        <p:spPr>
          <a:xfrm>
            <a:off x="1485900" y="3146921"/>
            <a:ext cx="2633573" cy="231080"/>
          </a:xfrm>
          <a:prstGeom prst="rect">
            <a:avLst/>
          </a:prstGeom>
          <a:noFill/>
          <a:ln/>
        </p:spPr>
        <p:txBody>
          <a:bodyPr wrap="square" lIns="0" tIns="0" rIns="0" bIns="0" rtlCol="0" anchor="t">
            <a:normAutofit/>
          </a:bodyPr>
          <a:lstStyle/>
          <a:p>
            <a:pPr marL="0" indent="0" algn="l">
              <a:lnSpc>
                <a:spcPts val="1620"/>
              </a:lnSpc>
              <a:buNone/>
            </a:pPr>
            <a:r>
              <a:rPr lang="es-ES_tradnl" sz="1200" noProof="0" dirty="0">
                <a:solidFill>
                  <a:srgbClr val="3C3C3B"/>
                </a:solidFill>
                <a:latin typeface="Roboto" pitchFamily="34" charset="0"/>
                <a:ea typeface="Roboto" pitchFamily="34" charset="-122"/>
                <a:cs typeface="Roboto" pitchFamily="34" charset="-120"/>
              </a:rPr>
              <a:t>datos originales</a:t>
            </a:r>
            <a:endParaRPr lang="es-ES_tradnl" sz="1200" noProof="0" dirty="0"/>
          </a:p>
        </p:txBody>
      </p:sp>
      <p:sp>
        <p:nvSpPr>
          <p:cNvPr id="16" name="Shape 12"/>
          <p:cNvSpPr/>
          <p:nvPr/>
        </p:nvSpPr>
        <p:spPr>
          <a:xfrm>
            <a:off x="4392017" y="2731691"/>
            <a:ext cx="3407866" cy="779661"/>
          </a:xfrm>
          <a:prstGeom prst="roundRect">
            <a:avLst>
              <a:gd name="adj" fmla="val 12217"/>
            </a:avLst>
          </a:prstGeom>
          <a:noFill/>
          <a:ln w="12700">
            <a:solidFill>
              <a:srgbClr val="3C3C3B"/>
            </a:solidFill>
            <a:prstDash val="solid"/>
          </a:ln>
        </p:spPr>
        <p:txBody>
          <a:bodyPr/>
          <a:lstStyle/>
          <a:p>
            <a:endParaRPr lang="es-ES_tradnl" noProof="0" dirty="0"/>
          </a:p>
        </p:txBody>
      </p:sp>
      <p:sp>
        <p:nvSpPr>
          <p:cNvPr id="17" name="Text 13"/>
          <p:cNvSpPr/>
          <p:nvPr/>
        </p:nvSpPr>
        <p:spPr>
          <a:xfrm>
            <a:off x="4576167" y="2943721"/>
            <a:ext cx="355600" cy="355600"/>
          </a:xfrm>
          <a:custGeom>
            <a:avLst/>
            <a:gdLst/>
            <a:ahLst/>
            <a:cxnLst/>
            <a:rect l="l" t="t" r="r" b="b"/>
            <a:pathLst>
              <a:path w="355600" h="355600">
                <a:moveTo>
                  <a:pt x="50800" y="0"/>
                </a:moveTo>
                <a:lnTo>
                  <a:pt x="304800" y="0"/>
                </a:lnTo>
                <a:arcTo wR="50800" hR="50800" stAng="16200000" swAng="5400000"/>
                <a:lnTo>
                  <a:pt x="355600" y="304800"/>
                </a:lnTo>
                <a:arcTo wR="50800" hR="50800" stAng="0" swAng="5400000"/>
                <a:lnTo>
                  <a:pt x="50800" y="355600"/>
                </a:lnTo>
                <a:arcTo wR="50800" hR="50800" stAng="5400000" swAng="5400000"/>
                <a:lnTo>
                  <a:pt x="0" y="50800"/>
                </a:lnTo>
                <a:arcTo wR="50800" hR="50800" stAng="10800000" swAng="5400000"/>
                <a:close/>
              </a:path>
            </a:pathLst>
          </a:custGeom>
          <a:solidFill>
            <a:srgbClr val="293470"/>
          </a:solidFill>
          <a:ln/>
        </p:spPr>
        <p:txBody>
          <a:bodyPr wrap="square" lIns="0" tIns="0" rIns="0" bIns="0" rtlCol="0" anchor="t">
            <a:normAutofit/>
          </a:bodyPr>
          <a:lstStyle/>
          <a:p>
            <a:pPr marL="0" indent="0" algn="ctr">
              <a:lnSpc>
                <a:spcPts val="2800"/>
              </a:lnSpc>
              <a:buNone/>
            </a:pPr>
            <a:r>
              <a:rPr lang="es-ES_tradnl" sz="1600" b="1" noProof="0" dirty="0">
                <a:solidFill>
                  <a:srgbClr val="FFFFFF"/>
                </a:solidFill>
                <a:latin typeface="DM Sans" pitchFamily="34" charset="0"/>
                <a:ea typeface="DM Sans" pitchFamily="34" charset="-122"/>
                <a:cs typeface="DM Sans" pitchFamily="34" charset="-120"/>
              </a:rPr>
              <a:t>B</a:t>
            </a:r>
            <a:endParaRPr lang="es-ES_tradnl" sz="1600" noProof="0" dirty="0"/>
          </a:p>
        </p:txBody>
      </p:sp>
      <p:sp>
        <p:nvSpPr>
          <p:cNvPr id="18" name="Text 14"/>
          <p:cNvSpPr/>
          <p:nvPr/>
        </p:nvSpPr>
        <p:spPr>
          <a:xfrm>
            <a:off x="5058767" y="2890441"/>
            <a:ext cx="2633675" cy="256480"/>
          </a:xfrm>
          <a:prstGeom prst="rect">
            <a:avLst/>
          </a:prstGeom>
          <a:noFill/>
          <a:ln/>
        </p:spPr>
        <p:txBody>
          <a:bodyPr wrap="square" lIns="0" tIns="0" rIns="0" bIns="0" rtlCol="0" anchor="t">
            <a:normAutofit/>
          </a:bodyPr>
          <a:lstStyle/>
          <a:p>
            <a:pPr marL="0" indent="0" algn="l">
              <a:lnSpc>
                <a:spcPts val="1820"/>
              </a:lnSpc>
              <a:buNone/>
            </a:pPr>
            <a:r>
              <a:rPr lang="es-ES_tradnl" sz="1400" b="1" noProof="0" dirty="0">
                <a:solidFill>
                  <a:srgbClr val="1D1D1B"/>
                </a:solidFill>
                <a:latin typeface="Roboto" pitchFamily="34" charset="0"/>
                <a:ea typeface="Roboto" pitchFamily="34" charset="-122"/>
                <a:cs typeface="Roboto" pitchFamily="34" charset="-120"/>
              </a:rPr>
              <a:t>Codificado y medido sin ruido</a:t>
            </a:r>
            <a:endParaRPr lang="es-ES_tradnl" sz="1400" noProof="0" dirty="0"/>
          </a:p>
        </p:txBody>
      </p:sp>
      <p:sp>
        <p:nvSpPr>
          <p:cNvPr id="19" name="Text 15"/>
          <p:cNvSpPr/>
          <p:nvPr/>
        </p:nvSpPr>
        <p:spPr>
          <a:xfrm>
            <a:off x="5058767" y="3146921"/>
            <a:ext cx="2633675" cy="231080"/>
          </a:xfrm>
          <a:prstGeom prst="rect">
            <a:avLst/>
          </a:prstGeom>
          <a:noFill/>
          <a:ln/>
        </p:spPr>
        <p:txBody>
          <a:bodyPr wrap="square" lIns="0" tIns="0" rIns="0" bIns="0" rtlCol="0" anchor="t">
            <a:normAutofit/>
          </a:bodyPr>
          <a:lstStyle/>
          <a:p>
            <a:pPr marL="0" indent="0" algn="l">
              <a:lnSpc>
                <a:spcPts val="1620"/>
              </a:lnSpc>
              <a:buNone/>
            </a:pPr>
            <a:r>
              <a:rPr lang="es-ES_tradnl" sz="1200" noProof="0" dirty="0">
                <a:solidFill>
                  <a:srgbClr val="3C3C3B"/>
                </a:solidFill>
                <a:latin typeface="Roboto" pitchFamily="34" charset="0"/>
                <a:ea typeface="Roboto" pitchFamily="34" charset="-122"/>
                <a:cs typeface="Roboto" pitchFamily="34" charset="-120"/>
              </a:rPr>
              <a:t>p = 0</a:t>
            </a:r>
            <a:endParaRPr lang="es-ES_tradnl" sz="1200" noProof="0" dirty="0"/>
          </a:p>
        </p:txBody>
      </p:sp>
      <p:sp>
        <p:nvSpPr>
          <p:cNvPr id="20" name="Shape 16"/>
          <p:cNvSpPr/>
          <p:nvPr/>
        </p:nvSpPr>
        <p:spPr>
          <a:xfrm>
            <a:off x="7964984" y="2731691"/>
            <a:ext cx="3407866" cy="779661"/>
          </a:xfrm>
          <a:prstGeom prst="roundRect">
            <a:avLst>
              <a:gd name="adj" fmla="val 12217"/>
            </a:avLst>
          </a:prstGeom>
          <a:noFill/>
          <a:ln w="12700">
            <a:solidFill>
              <a:srgbClr val="3C3C3B"/>
            </a:solidFill>
            <a:prstDash val="solid"/>
          </a:ln>
        </p:spPr>
        <p:txBody>
          <a:bodyPr/>
          <a:lstStyle/>
          <a:p>
            <a:endParaRPr lang="es-ES_tradnl" noProof="0" dirty="0"/>
          </a:p>
        </p:txBody>
      </p:sp>
      <p:sp>
        <p:nvSpPr>
          <p:cNvPr id="21" name="Text 17"/>
          <p:cNvSpPr/>
          <p:nvPr/>
        </p:nvSpPr>
        <p:spPr>
          <a:xfrm>
            <a:off x="8149134" y="2943721"/>
            <a:ext cx="355600" cy="355600"/>
          </a:xfrm>
          <a:custGeom>
            <a:avLst/>
            <a:gdLst/>
            <a:ahLst/>
            <a:cxnLst/>
            <a:rect l="l" t="t" r="r" b="b"/>
            <a:pathLst>
              <a:path w="355600" h="355600">
                <a:moveTo>
                  <a:pt x="50800" y="0"/>
                </a:moveTo>
                <a:lnTo>
                  <a:pt x="304800" y="0"/>
                </a:lnTo>
                <a:arcTo wR="50800" hR="50800" stAng="16200000" swAng="5400000"/>
                <a:lnTo>
                  <a:pt x="355600" y="304800"/>
                </a:lnTo>
                <a:arcTo wR="50800" hR="50800" stAng="0" swAng="5400000"/>
                <a:lnTo>
                  <a:pt x="50800" y="355600"/>
                </a:lnTo>
                <a:arcTo wR="50800" hR="50800" stAng="5400000" swAng="5400000"/>
                <a:lnTo>
                  <a:pt x="0" y="50800"/>
                </a:lnTo>
                <a:arcTo wR="50800" hR="50800" stAng="10800000" swAng="5400000"/>
                <a:close/>
              </a:path>
            </a:pathLst>
          </a:custGeom>
          <a:solidFill>
            <a:srgbClr val="FFEE00"/>
          </a:solidFill>
          <a:ln/>
        </p:spPr>
        <p:txBody>
          <a:bodyPr wrap="square" lIns="0" tIns="0" rIns="0" bIns="0" rtlCol="0" anchor="t">
            <a:normAutofit/>
          </a:bodyPr>
          <a:lstStyle/>
          <a:p>
            <a:pPr marL="0" indent="0" algn="ctr">
              <a:lnSpc>
                <a:spcPts val="2800"/>
              </a:lnSpc>
              <a:buNone/>
            </a:pPr>
            <a:r>
              <a:rPr lang="es-ES_tradnl" sz="1600" b="1" noProof="0" dirty="0">
                <a:solidFill>
                  <a:srgbClr val="1D1D1B"/>
                </a:solidFill>
                <a:latin typeface="DM Sans" pitchFamily="34" charset="0"/>
                <a:ea typeface="DM Sans" pitchFamily="34" charset="-122"/>
                <a:cs typeface="DM Sans" pitchFamily="34" charset="-120"/>
              </a:rPr>
              <a:t>C</a:t>
            </a:r>
            <a:endParaRPr lang="es-ES_tradnl" sz="1600" noProof="0" dirty="0"/>
          </a:p>
        </p:txBody>
      </p:sp>
      <p:sp>
        <p:nvSpPr>
          <p:cNvPr id="22" name="Text 18"/>
          <p:cNvSpPr/>
          <p:nvPr/>
        </p:nvSpPr>
        <p:spPr>
          <a:xfrm>
            <a:off x="8631734" y="2890441"/>
            <a:ext cx="2633675" cy="256480"/>
          </a:xfrm>
          <a:prstGeom prst="rect">
            <a:avLst/>
          </a:prstGeom>
          <a:noFill/>
          <a:ln/>
        </p:spPr>
        <p:txBody>
          <a:bodyPr wrap="square" lIns="0" tIns="0" rIns="0" bIns="0" rtlCol="0" anchor="t">
            <a:normAutofit/>
          </a:bodyPr>
          <a:lstStyle/>
          <a:p>
            <a:pPr marL="0" indent="0" algn="l">
              <a:lnSpc>
                <a:spcPts val="1820"/>
              </a:lnSpc>
              <a:buNone/>
            </a:pPr>
            <a:r>
              <a:rPr lang="es-ES_tradnl" sz="1400" b="1" noProof="0" dirty="0">
                <a:solidFill>
                  <a:srgbClr val="1D1D1B"/>
                </a:solidFill>
                <a:latin typeface="Roboto" pitchFamily="34" charset="0"/>
                <a:ea typeface="Roboto" pitchFamily="34" charset="-122"/>
                <a:cs typeface="Roboto" pitchFamily="34" charset="-120"/>
              </a:rPr>
              <a:t>Codificado y medido con ruido</a:t>
            </a:r>
            <a:endParaRPr lang="es-ES_tradnl" sz="1400" noProof="0" dirty="0"/>
          </a:p>
        </p:txBody>
      </p:sp>
      <p:sp>
        <p:nvSpPr>
          <p:cNvPr id="23" name="Text 19"/>
          <p:cNvSpPr/>
          <p:nvPr/>
        </p:nvSpPr>
        <p:spPr>
          <a:xfrm>
            <a:off x="8631734" y="3146921"/>
            <a:ext cx="2633675" cy="231080"/>
          </a:xfrm>
          <a:prstGeom prst="rect">
            <a:avLst/>
          </a:prstGeom>
          <a:noFill/>
          <a:ln/>
        </p:spPr>
        <p:txBody>
          <a:bodyPr wrap="square" lIns="0" tIns="0" rIns="0" bIns="0" rtlCol="0" anchor="t">
            <a:normAutofit/>
          </a:bodyPr>
          <a:lstStyle/>
          <a:p>
            <a:pPr marL="0" indent="0" algn="l">
              <a:lnSpc>
                <a:spcPts val="1620"/>
              </a:lnSpc>
              <a:buNone/>
            </a:pPr>
            <a:r>
              <a:rPr lang="es-ES_tradnl" sz="1200" noProof="0" dirty="0">
                <a:solidFill>
                  <a:srgbClr val="3C3C3B"/>
                </a:solidFill>
                <a:latin typeface="Roboto" pitchFamily="34" charset="0"/>
                <a:ea typeface="Roboto" pitchFamily="34" charset="-122"/>
                <a:cs typeface="Roboto" pitchFamily="34" charset="-120"/>
              </a:rPr>
              <a:t>p = 0.5</a:t>
            </a:r>
            <a:endParaRPr lang="es-ES_tradnl" sz="1200" noProof="0" dirty="0"/>
          </a:p>
        </p:txBody>
      </p:sp>
      <p:sp>
        <p:nvSpPr>
          <p:cNvPr id="24" name="Text 20"/>
          <p:cNvSpPr/>
          <p:nvPr/>
        </p:nvSpPr>
        <p:spPr>
          <a:xfrm>
            <a:off x="939800" y="3797102"/>
            <a:ext cx="812800" cy="274241"/>
          </a:xfrm>
          <a:prstGeom prst="rect">
            <a:avLst/>
          </a:prstGeom>
          <a:noFill/>
          <a:ln/>
        </p:spPr>
        <p:txBody>
          <a:bodyPr wrap="square" lIns="0" tIns="0" rIns="0" bIns="0" rtlCol="0" anchor="t">
            <a:normAutofit/>
          </a:bodyPr>
          <a:lstStyle/>
          <a:p>
            <a:pPr marL="0" indent="0" algn="l">
              <a:lnSpc>
                <a:spcPts val="1960"/>
              </a:lnSpc>
              <a:buNone/>
            </a:pPr>
            <a:r>
              <a:rPr lang="es-ES_tradnl" sz="1400" b="1" noProof="0" dirty="0">
                <a:solidFill>
                  <a:srgbClr val="1D1D1B"/>
                </a:solidFill>
                <a:latin typeface="DM Sans" pitchFamily="34" charset="0"/>
                <a:ea typeface="DM Sans" pitchFamily="34" charset="-122"/>
                <a:cs typeface="DM Sans" pitchFamily="34" charset="-120"/>
              </a:rPr>
              <a:t>A – B</a:t>
            </a:r>
            <a:endParaRPr lang="es-ES_tradnl" sz="1400" noProof="0" dirty="0"/>
          </a:p>
        </p:txBody>
      </p:sp>
      <p:sp>
        <p:nvSpPr>
          <p:cNvPr id="25" name="Text 21"/>
          <p:cNvSpPr/>
          <p:nvPr/>
        </p:nvSpPr>
        <p:spPr>
          <a:xfrm>
            <a:off x="1854200" y="3797102"/>
            <a:ext cx="9679940" cy="274241"/>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aísla el costo de la codificación y la medición.</a:t>
            </a:r>
            <a:endParaRPr lang="es-ES_tradnl" sz="1400" noProof="0" dirty="0"/>
          </a:p>
        </p:txBody>
      </p:sp>
      <p:sp>
        <p:nvSpPr>
          <p:cNvPr id="26" name="Shape 22"/>
          <p:cNvSpPr/>
          <p:nvPr/>
        </p:nvSpPr>
        <p:spPr>
          <a:xfrm>
            <a:off x="812800" y="4172942"/>
            <a:ext cx="10566400" cy="401241"/>
          </a:xfrm>
          <a:prstGeom prst="roundRect">
            <a:avLst>
              <a:gd name="adj" fmla="val 12661"/>
            </a:avLst>
          </a:prstGeom>
          <a:solidFill>
            <a:srgbClr val="FFEE00"/>
          </a:solidFill>
          <a:ln/>
        </p:spPr>
        <p:txBody>
          <a:bodyPr/>
          <a:lstStyle/>
          <a:p>
            <a:endParaRPr lang="es-ES_tradnl" noProof="0" dirty="0"/>
          </a:p>
        </p:txBody>
      </p:sp>
      <p:sp>
        <p:nvSpPr>
          <p:cNvPr id="27" name="Text 23"/>
          <p:cNvSpPr/>
          <p:nvPr/>
        </p:nvSpPr>
        <p:spPr>
          <a:xfrm>
            <a:off x="939800" y="4249142"/>
            <a:ext cx="812800" cy="274241"/>
          </a:xfrm>
          <a:prstGeom prst="rect">
            <a:avLst/>
          </a:prstGeom>
          <a:noFill/>
          <a:ln/>
        </p:spPr>
        <p:txBody>
          <a:bodyPr wrap="square" lIns="0" tIns="0" rIns="0" bIns="0" rtlCol="0" anchor="t">
            <a:normAutofit/>
          </a:bodyPr>
          <a:lstStyle/>
          <a:p>
            <a:pPr marL="0" indent="0" algn="l">
              <a:lnSpc>
                <a:spcPts val="1960"/>
              </a:lnSpc>
              <a:buNone/>
            </a:pPr>
            <a:r>
              <a:rPr lang="es-ES_tradnl" sz="1400" b="1" noProof="0" dirty="0">
                <a:solidFill>
                  <a:srgbClr val="1D1D1B"/>
                </a:solidFill>
                <a:latin typeface="DM Sans" pitchFamily="34" charset="0"/>
                <a:ea typeface="DM Sans" pitchFamily="34" charset="-122"/>
                <a:cs typeface="DM Sans" pitchFamily="34" charset="-120"/>
              </a:rPr>
              <a:t>B – C</a:t>
            </a:r>
            <a:endParaRPr lang="es-ES_tradnl" sz="1400" noProof="0" dirty="0"/>
          </a:p>
        </p:txBody>
      </p:sp>
      <p:sp>
        <p:nvSpPr>
          <p:cNvPr id="28" name="Text 24"/>
          <p:cNvSpPr/>
          <p:nvPr/>
        </p:nvSpPr>
        <p:spPr>
          <a:xfrm>
            <a:off x="1854200" y="4249142"/>
            <a:ext cx="9679940" cy="274241"/>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1D1D1B"/>
                </a:solidFill>
                <a:latin typeface="Roboto" pitchFamily="34" charset="0"/>
                <a:ea typeface="Roboto" pitchFamily="34" charset="-122"/>
                <a:cs typeface="Roboto" pitchFamily="34" charset="-120"/>
              </a:rPr>
              <a:t>aísla el efecto del ruido de privacidad. </a:t>
            </a:r>
            <a:r>
              <a:rPr lang="es-ES_tradnl" sz="1400" b="1" noProof="0" dirty="0">
                <a:solidFill>
                  <a:srgbClr val="1D1D1B"/>
                </a:solidFill>
                <a:latin typeface="Roboto" pitchFamily="34" charset="0"/>
                <a:ea typeface="Roboto" pitchFamily="34" charset="-122"/>
                <a:cs typeface="Roboto" pitchFamily="34" charset="-120"/>
              </a:rPr>
              <a:t>Es la comparación del histograma.</a:t>
            </a:r>
            <a:endParaRPr lang="es-ES_tradnl" sz="1400" noProof="0" dirty="0"/>
          </a:p>
        </p:txBody>
      </p:sp>
      <p:sp>
        <p:nvSpPr>
          <p:cNvPr id="29" name="Text 25"/>
          <p:cNvSpPr/>
          <p:nvPr/>
        </p:nvSpPr>
        <p:spPr>
          <a:xfrm>
            <a:off x="939800" y="4701183"/>
            <a:ext cx="812800" cy="274241"/>
          </a:xfrm>
          <a:prstGeom prst="rect">
            <a:avLst/>
          </a:prstGeom>
          <a:noFill/>
          <a:ln/>
        </p:spPr>
        <p:txBody>
          <a:bodyPr wrap="square" lIns="0" tIns="0" rIns="0" bIns="0" rtlCol="0" anchor="t">
            <a:normAutofit/>
          </a:bodyPr>
          <a:lstStyle/>
          <a:p>
            <a:pPr marL="0" indent="0" algn="l">
              <a:lnSpc>
                <a:spcPts val="1960"/>
              </a:lnSpc>
              <a:buNone/>
            </a:pPr>
            <a:r>
              <a:rPr lang="es-ES_tradnl" sz="1400" b="1" noProof="0" dirty="0">
                <a:solidFill>
                  <a:srgbClr val="6E6E6C"/>
                </a:solidFill>
                <a:latin typeface="DM Sans" pitchFamily="34" charset="0"/>
                <a:ea typeface="DM Sans" pitchFamily="34" charset="-122"/>
                <a:cs typeface="DM Sans" pitchFamily="34" charset="-120"/>
              </a:rPr>
              <a:t>A – C</a:t>
            </a:r>
            <a:endParaRPr lang="es-ES_tradnl" sz="1400" noProof="0" dirty="0"/>
          </a:p>
        </p:txBody>
      </p:sp>
      <p:sp>
        <p:nvSpPr>
          <p:cNvPr id="30" name="Text 26"/>
          <p:cNvSpPr/>
          <p:nvPr/>
        </p:nvSpPr>
        <p:spPr>
          <a:xfrm>
            <a:off x="1854200" y="4701183"/>
            <a:ext cx="9679940" cy="274241"/>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6E6E6C"/>
                </a:solidFill>
                <a:latin typeface="Roboto" pitchFamily="34" charset="0"/>
                <a:ea typeface="Roboto" pitchFamily="34" charset="-122"/>
                <a:cs typeface="Roboto" pitchFamily="34" charset="-120"/>
              </a:rPr>
              <a:t>mezcla los dos efectos: le atribuiría a la privacidad un error que viene de la codificación.</a:t>
            </a:r>
            <a:endParaRPr lang="es-ES_tradnl" sz="1400" noProof="0" dirty="0"/>
          </a:p>
        </p:txBody>
      </p:sp>
      <p:sp>
        <p:nvSpPr>
          <p:cNvPr id="32" name="Text 28"/>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a:solidFill>
                  <a:srgbClr val="1D1D1B"/>
                </a:solidFill>
                <a:latin typeface="Roboto" pitchFamily="34" charset="0"/>
                <a:ea typeface="Roboto" pitchFamily="34" charset="-122"/>
                <a:cs typeface="Roboto" pitchFamily="34" charset="-120"/>
              </a:rPr>
              <a:t>28</a:t>
            </a:r>
            <a:endParaRPr lang="es-ES_tradnl" sz="1200" noProof="0" dirty="0"/>
          </a:p>
        </p:txBody>
      </p:sp>
    </p:spTree>
    <p:extLst>
      <p:ext uri="{BB962C8B-B14F-4D97-AF65-F5344CB8AC3E}">
        <p14:creationId xmlns:p14="http://schemas.microsoft.com/office/powerpoint/2010/main" val="99251479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s-ES_tradnl" noProof="0" dirty="0"/>
          </a:p>
        </p:txBody>
      </p:sp>
      <p:sp>
        <p:nvSpPr>
          <p:cNvPr id="3" name="Shape 1"/>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dirty="0">
                <a:solidFill>
                  <a:srgbClr val="1D1D1B"/>
                </a:solidFill>
                <a:latin typeface="DM Sans" pitchFamily="34" charset="0"/>
                <a:ea typeface="DM Sans" pitchFamily="34" charset="-122"/>
                <a:cs typeface="DM Sans" pitchFamily="34" charset="-120"/>
              </a:rPr>
              <a:t>II</a:t>
            </a:r>
            <a:endParaRPr lang="es-ES_tradnl" sz="1200" noProof="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dirty="0">
                <a:solidFill>
                  <a:srgbClr val="6E6E6C"/>
                </a:solidFill>
                <a:latin typeface="Roboto" pitchFamily="34" charset="0"/>
                <a:ea typeface="Roboto" pitchFamily="34" charset="-122"/>
                <a:cs typeface="Roboto" pitchFamily="34" charset="-120"/>
              </a:rPr>
              <a:t>DÓNDE ESTÁ LA PRIVACIDAD</a:t>
            </a:r>
            <a:endParaRPr lang="es-ES_tradnl" sz="1200" noProof="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s-ES_tradnl" sz="2800" noProof="0" dirty="0"/>
              <a:t>Experimento de medición de ruido</a:t>
            </a:r>
          </a:p>
        </p:txBody>
      </p:sp>
      <p:sp>
        <p:nvSpPr>
          <p:cNvPr id="8" name="Text 5"/>
          <p:cNvSpPr/>
          <p:nvPr/>
        </p:nvSpPr>
        <p:spPr>
          <a:xfrm>
            <a:off x="812800" y="1305520"/>
            <a:ext cx="10883392" cy="322560"/>
          </a:xfrm>
          <a:prstGeom prst="rect">
            <a:avLst/>
          </a:prstGeom>
          <a:noFill/>
          <a:ln/>
        </p:spPr>
        <p:txBody>
          <a:bodyPr wrap="square" lIns="0" tIns="0" rIns="0" bIns="0" rtlCol="0" anchor="t">
            <a:normAutofit/>
          </a:bodyPr>
          <a:lstStyle/>
          <a:p>
            <a:pPr marL="0" indent="0" algn="l">
              <a:lnSpc>
                <a:spcPts val="2340"/>
              </a:lnSpc>
              <a:buNone/>
            </a:pPr>
            <a:r>
              <a:rPr lang="es-ES_tradnl" sz="1800" noProof="0" dirty="0">
                <a:solidFill>
                  <a:srgbClr val="3C3C3B"/>
                </a:solidFill>
                <a:latin typeface="Roboto" pitchFamily="34" charset="0"/>
                <a:ea typeface="Roboto" pitchFamily="34" charset="-122"/>
                <a:cs typeface="Roboto" pitchFamily="34" charset="-120"/>
              </a:rPr>
              <a:t>Cada repetición es una publicación posible: cada persona se mide una sola vez.</a:t>
            </a:r>
            <a:endParaRPr lang="es-ES_tradnl" sz="1800" noProof="0" dirty="0"/>
          </a:p>
        </p:txBody>
      </p:sp>
      <p:sp>
        <p:nvSpPr>
          <p:cNvPr id="9" name="Shape 6"/>
          <p:cNvSpPr/>
          <p:nvPr/>
        </p:nvSpPr>
        <p:spPr>
          <a:xfrm>
            <a:off x="4810125" y="1866205"/>
            <a:ext cx="6559550" cy="2774950"/>
          </a:xfrm>
          <a:prstGeom prst="roundRect">
            <a:avLst>
              <a:gd name="adj" fmla="val 3318"/>
            </a:avLst>
          </a:prstGeom>
          <a:noFill/>
          <a:ln w="19050">
            <a:solidFill>
              <a:srgbClr val="293470"/>
            </a:solidFill>
            <a:prstDash val="dash"/>
          </a:ln>
        </p:spPr>
        <p:txBody>
          <a:bodyPr/>
          <a:lstStyle/>
          <a:p>
            <a:endParaRPr lang="es-ES_tradnl" noProof="0" dirty="0"/>
          </a:p>
        </p:txBody>
      </p:sp>
      <p:sp>
        <p:nvSpPr>
          <p:cNvPr id="10" name="Shape 7"/>
          <p:cNvSpPr/>
          <p:nvPr/>
        </p:nvSpPr>
        <p:spPr>
          <a:xfrm>
            <a:off x="819150" y="2625030"/>
            <a:ext cx="1574800" cy="1257300"/>
          </a:xfrm>
          <a:prstGeom prst="roundRect">
            <a:avLst>
              <a:gd name="adj" fmla="val 5556"/>
            </a:avLst>
          </a:prstGeom>
          <a:solidFill>
            <a:srgbClr val="F4F4F2"/>
          </a:solidFill>
          <a:ln w="12700">
            <a:solidFill>
              <a:srgbClr val="3C3C3B"/>
            </a:solidFill>
            <a:prstDash val="solid"/>
          </a:ln>
        </p:spPr>
        <p:txBody>
          <a:bodyPr/>
          <a:lstStyle/>
          <a:p>
            <a:endParaRPr lang="es-ES_tradnl" noProof="0" dirty="0"/>
          </a:p>
        </p:txBody>
      </p:sp>
      <p:sp>
        <p:nvSpPr>
          <p:cNvPr id="11" name="Text 8"/>
          <p:cNvSpPr/>
          <p:nvPr/>
        </p:nvSpPr>
        <p:spPr>
          <a:xfrm>
            <a:off x="952500" y="2732980"/>
            <a:ext cx="1358900" cy="223441"/>
          </a:xfrm>
          <a:prstGeom prst="rect">
            <a:avLst/>
          </a:prstGeom>
          <a:noFill/>
          <a:ln/>
        </p:spPr>
        <p:txBody>
          <a:bodyPr wrap="square" lIns="0" tIns="0" rIns="0" bIns="0" rtlCol="0" anchor="t">
            <a:normAutofit/>
          </a:bodyPr>
          <a:lstStyle/>
          <a:p>
            <a:pPr marL="0" indent="0" algn="l">
              <a:lnSpc>
                <a:spcPts val="1560"/>
              </a:lnSpc>
              <a:buNone/>
            </a:pPr>
            <a:r>
              <a:rPr lang="es-ES_tradnl" sz="1300" b="1" noProof="0" dirty="0">
                <a:solidFill>
                  <a:srgbClr val="1D1D1B"/>
                </a:solidFill>
                <a:latin typeface="Roboto" pitchFamily="34" charset="0"/>
                <a:ea typeface="Roboto" pitchFamily="34" charset="-122"/>
                <a:cs typeface="Roboto" pitchFamily="34" charset="-120"/>
              </a:rPr>
              <a:t>1 · Datos</a:t>
            </a:r>
            <a:endParaRPr lang="es-ES_tradnl" sz="1300" noProof="0" dirty="0"/>
          </a:p>
        </p:txBody>
      </p:sp>
      <p:sp>
        <p:nvSpPr>
          <p:cNvPr id="12" name="Text 9"/>
          <p:cNvSpPr/>
          <p:nvPr/>
        </p:nvSpPr>
        <p:spPr>
          <a:xfrm>
            <a:off x="952500" y="2969121"/>
            <a:ext cx="1358900" cy="223441"/>
          </a:xfrm>
          <a:prstGeom prst="rect">
            <a:avLst/>
          </a:prstGeom>
          <a:noFill/>
          <a:ln/>
        </p:spPr>
        <p:txBody>
          <a:bodyPr wrap="square" lIns="0" tIns="0" rIns="0" bIns="0" rtlCol="0" anchor="t">
            <a:normAutofit/>
          </a:bodyPr>
          <a:lstStyle/>
          <a:p>
            <a:pPr marL="0" indent="0" algn="l">
              <a:lnSpc>
                <a:spcPts val="1560"/>
              </a:lnSpc>
              <a:buNone/>
            </a:pPr>
            <a:r>
              <a:rPr lang="es-ES_tradnl" sz="1200" noProof="0" dirty="0" err="1">
                <a:solidFill>
                  <a:srgbClr val="293470"/>
                </a:solidFill>
                <a:latin typeface="Roboto" pitchFamily="34" charset="0"/>
                <a:ea typeface="Roboto" pitchFamily="34" charset="-122"/>
                <a:cs typeface="Roboto" pitchFamily="34" charset="-120"/>
              </a:rPr>
              <a:t>collateral</a:t>
            </a:r>
            <a:endParaRPr lang="es-ES_tradnl" sz="1200" noProof="0" dirty="0"/>
          </a:p>
        </p:txBody>
      </p:sp>
      <p:sp>
        <p:nvSpPr>
          <p:cNvPr id="13" name="Text 10"/>
          <p:cNvSpPr/>
          <p:nvPr/>
        </p:nvSpPr>
        <p:spPr>
          <a:xfrm>
            <a:off x="952500" y="3205262"/>
            <a:ext cx="1358900" cy="421481"/>
          </a:xfrm>
          <a:prstGeom prst="rect">
            <a:avLst/>
          </a:prstGeom>
          <a:noFill/>
          <a:ln/>
        </p:spPr>
        <p:txBody>
          <a:bodyPr wrap="square" lIns="0" tIns="0" rIns="0" bIns="0" rtlCol="0" anchor="t">
            <a:normAutofit/>
          </a:bodyPr>
          <a:lstStyle/>
          <a:p>
            <a:pPr marL="0" indent="0" algn="l">
              <a:lnSpc>
                <a:spcPts val="1560"/>
              </a:lnSpc>
              <a:buNone/>
            </a:pPr>
            <a:r>
              <a:rPr lang="es-ES_tradnl" sz="1200" noProof="0" dirty="0">
                <a:solidFill>
                  <a:srgbClr val="3C3C3B"/>
                </a:solidFill>
                <a:latin typeface="Roboto" pitchFamily="34" charset="0"/>
                <a:ea typeface="Roboto" pitchFamily="34" charset="-122"/>
                <a:cs typeface="Roboto" pitchFamily="34" charset="-120"/>
              </a:rPr>
              <a:t>1000 personas, 4 categorías</a:t>
            </a:r>
            <a:endParaRPr lang="es-ES_tradnl" sz="1200" noProof="0" dirty="0"/>
          </a:p>
        </p:txBody>
      </p:sp>
      <p:sp>
        <p:nvSpPr>
          <p:cNvPr id="14" name="Shape 11"/>
          <p:cNvSpPr/>
          <p:nvPr/>
        </p:nvSpPr>
        <p:spPr>
          <a:xfrm>
            <a:off x="2787650" y="2625030"/>
            <a:ext cx="1701800" cy="1257300"/>
          </a:xfrm>
          <a:prstGeom prst="roundRect">
            <a:avLst>
              <a:gd name="adj" fmla="val 5556"/>
            </a:avLst>
          </a:prstGeom>
          <a:solidFill>
            <a:srgbClr val="F4F4F2"/>
          </a:solidFill>
          <a:ln w="12700">
            <a:solidFill>
              <a:srgbClr val="3C3C3B"/>
            </a:solidFill>
            <a:prstDash val="solid"/>
          </a:ln>
        </p:spPr>
        <p:txBody>
          <a:bodyPr/>
          <a:lstStyle/>
          <a:p>
            <a:endParaRPr lang="es-ES_tradnl" noProof="0" dirty="0"/>
          </a:p>
        </p:txBody>
      </p:sp>
      <p:sp>
        <p:nvSpPr>
          <p:cNvPr id="15" name="Text 12"/>
          <p:cNvSpPr/>
          <p:nvPr/>
        </p:nvSpPr>
        <p:spPr>
          <a:xfrm>
            <a:off x="2921000" y="2732980"/>
            <a:ext cx="1485900" cy="223441"/>
          </a:xfrm>
          <a:prstGeom prst="rect">
            <a:avLst/>
          </a:prstGeom>
          <a:noFill/>
          <a:ln/>
        </p:spPr>
        <p:txBody>
          <a:bodyPr wrap="square" lIns="0" tIns="0" rIns="0" bIns="0" rtlCol="0" anchor="t">
            <a:normAutofit/>
          </a:bodyPr>
          <a:lstStyle/>
          <a:p>
            <a:pPr marL="0" indent="0" algn="l">
              <a:lnSpc>
                <a:spcPts val="1560"/>
              </a:lnSpc>
              <a:buNone/>
            </a:pPr>
            <a:r>
              <a:rPr lang="es-ES_tradnl" sz="1300" b="1" noProof="0" dirty="0">
                <a:solidFill>
                  <a:srgbClr val="1D1D1B"/>
                </a:solidFill>
                <a:latin typeface="Roboto" pitchFamily="34" charset="0"/>
                <a:ea typeface="Roboto" pitchFamily="34" charset="-122"/>
                <a:cs typeface="Roboto" pitchFamily="34" charset="-120"/>
              </a:rPr>
              <a:t>2 · Codificar</a:t>
            </a:r>
            <a:endParaRPr lang="es-ES_tradnl" sz="1300" noProof="0" dirty="0"/>
          </a:p>
        </p:txBody>
      </p:sp>
      <p:sp>
        <p:nvSpPr>
          <p:cNvPr id="16" name="Text 13"/>
          <p:cNvSpPr/>
          <p:nvPr/>
        </p:nvSpPr>
        <p:spPr>
          <a:xfrm>
            <a:off x="2921000" y="2969121"/>
            <a:ext cx="1485900" cy="223441"/>
          </a:xfrm>
          <a:prstGeom prst="rect">
            <a:avLst/>
          </a:prstGeom>
          <a:noFill/>
          <a:ln/>
        </p:spPr>
        <p:txBody>
          <a:bodyPr wrap="square" lIns="0" tIns="0" rIns="0" bIns="0" rtlCol="0" anchor="t">
            <a:normAutofit/>
          </a:bodyPr>
          <a:lstStyle/>
          <a:p>
            <a:pPr marL="0" indent="0" algn="l">
              <a:lnSpc>
                <a:spcPts val="1560"/>
              </a:lnSpc>
              <a:buNone/>
            </a:pPr>
            <a:r>
              <a:rPr lang="es-ES_tradnl" sz="1200" noProof="0" dirty="0">
                <a:solidFill>
                  <a:srgbClr val="3C3C3B"/>
                </a:solidFill>
                <a:latin typeface="Roboto" pitchFamily="34" charset="0"/>
                <a:ea typeface="Roboto" pitchFamily="34" charset="-122"/>
                <a:cs typeface="Roboto" pitchFamily="34" charset="-120"/>
              </a:rPr>
              <a:t>1 </a:t>
            </a:r>
            <a:r>
              <a:rPr lang="es-ES_tradnl" sz="1200" noProof="0" dirty="0" err="1">
                <a:solidFill>
                  <a:srgbClr val="3C3C3B"/>
                </a:solidFill>
                <a:latin typeface="Roboto" pitchFamily="34" charset="0"/>
                <a:ea typeface="Roboto" pitchFamily="34" charset="-122"/>
                <a:cs typeface="Roboto" pitchFamily="34" charset="-120"/>
              </a:rPr>
              <a:t>qubit</a:t>
            </a:r>
            <a:r>
              <a:rPr lang="es-ES_tradnl" sz="1200" noProof="0" dirty="0">
                <a:solidFill>
                  <a:srgbClr val="3C3C3B"/>
                </a:solidFill>
                <a:latin typeface="Roboto" pitchFamily="34" charset="0"/>
                <a:ea typeface="Roboto" pitchFamily="34" charset="-122"/>
                <a:cs typeface="Roboto" pitchFamily="34" charset="-120"/>
              </a:rPr>
              <a:t> por persona</a:t>
            </a:r>
            <a:endParaRPr lang="es-ES_tradnl" sz="1200" noProof="0" dirty="0"/>
          </a:p>
        </p:txBody>
      </p:sp>
      <mc:AlternateContent xmlns:mc="http://schemas.openxmlformats.org/markup-compatibility/2006">
        <mc:Choice xmlns:a14="http://schemas.microsoft.com/office/drawing/2010/main" Requires="a14">
          <p:sp>
            <p:nvSpPr>
              <p:cNvPr id="17" name="Text 14"/>
              <p:cNvSpPr/>
              <p:nvPr/>
            </p:nvSpPr>
            <p:spPr>
              <a:xfrm>
                <a:off x="2921000" y="3205262"/>
                <a:ext cx="1485900" cy="330000"/>
              </a:xfrm>
              <a:prstGeom prst="rect">
                <a:avLst/>
              </a:prstGeom>
              <a:noFill/>
              <a:ln/>
            </p:spPr>
            <p:txBody>
              <a:bodyPr wrap="square" lIns="0" tIns="0" rIns="0" bIns="0" rtlCol="0" anchor="t">
                <a:noAutofit/>
              </a:bodyPr>
              <a:lstStyle/>
              <a:p>
                <a:pPr marL="0" indent="0" algn="l">
                  <a:lnSpc>
                    <a:spcPct val="100000"/>
                  </a:lnSpc>
                  <a:buNone/>
                </a:pPr>
                <a14:m>
                  <m:oMathPara xmlns:m="http://schemas.openxmlformats.org/officeDocument/2006/math">
                    <m:oMathParaPr>
                      <m:jc m:val="centerGroup"/>
                    </m:oMathParaPr>
                    <m:oMath xmlns:m="http://schemas.openxmlformats.org/officeDocument/2006/math">
                      <m:r>
                        <a:rPr lang="es-ES_tradnl" sz="1200" i="1" noProof="0" smtClean="0">
                          <a:solidFill>
                            <a:srgbClr val="3C3C3B"/>
                          </a:solidFill>
                          <a:latin typeface="Cambria Math" panose="02040503050406030204" pitchFamily="18" charset="0"/>
                        </a:rPr>
                        <m:t>𝐻</m:t>
                      </m:r>
                      <m:r>
                        <a:rPr lang="es-ES_tradnl" sz="1200" i="1" noProof="0" smtClean="0">
                          <a:solidFill>
                            <a:srgbClr val="3C3C3B"/>
                          </a:solidFill>
                          <a:latin typeface="Cambria Math" panose="02040503050406030204" pitchFamily="18" charset="0"/>
                        </a:rPr>
                        <m:t>+</m:t>
                      </m:r>
                      <m:sSub>
                        <m:sSubPr>
                          <m:ctrlPr>
                            <a:rPr lang="es-ES_tradnl" sz="1200" i="1" noProof="0" smtClean="0">
                              <a:solidFill>
                                <a:srgbClr val="3C3C3B"/>
                              </a:solidFill>
                              <a:latin typeface="Cambria Math" panose="02040503050406030204" pitchFamily="18" charset="0"/>
                            </a:rPr>
                          </m:ctrlPr>
                        </m:sSubPr>
                        <m:e>
                          <m:r>
                            <a:rPr lang="es-ES_tradnl" sz="1200" i="1" noProof="0" smtClean="0">
                              <a:solidFill>
                                <a:srgbClr val="3C3C3B"/>
                              </a:solidFill>
                              <a:latin typeface="Cambria Math" panose="02040503050406030204" pitchFamily="18" charset="0"/>
                            </a:rPr>
                            <m:t>𝑅</m:t>
                          </m:r>
                        </m:e>
                        <m:sub>
                          <m:r>
                            <a:rPr lang="es-ES_tradnl" sz="1200" i="1" noProof="0" smtClean="0">
                              <a:solidFill>
                                <a:srgbClr val="3C3C3B"/>
                              </a:solidFill>
                              <a:latin typeface="Cambria Math" panose="02040503050406030204" pitchFamily="18" charset="0"/>
                            </a:rPr>
                            <m:t>𝑍</m:t>
                          </m:r>
                        </m:sub>
                      </m:sSub>
                      <m:d>
                        <m:dPr>
                          <m:ctrlPr>
                            <a:rPr lang="es-ES_tradnl" sz="1200" i="1" noProof="0" smtClean="0">
                              <a:solidFill>
                                <a:srgbClr val="3C3C3B"/>
                              </a:solidFill>
                              <a:latin typeface="Cambria Math" panose="02040503050406030204" pitchFamily="18" charset="0"/>
                            </a:rPr>
                          </m:ctrlPr>
                        </m:dPr>
                        <m:e>
                          <m:f>
                            <m:fPr>
                              <m:ctrlPr>
                                <a:rPr lang="es-ES_tradnl" sz="1200" i="1" noProof="0" smtClean="0">
                                  <a:solidFill>
                                    <a:srgbClr val="3C3C3B"/>
                                  </a:solidFill>
                                  <a:latin typeface="Cambria Math" panose="02040503050406030204" pitchFamily="18" charset="0"/>
                                </a:rPr>
                              </m:ctrlPr>
                            </m:fPr>
                            <m:num>
                              <m:r>
                                <a:rPr lang="es-ES_tradnl" sz="1200" i="1" noProof="0" smtClean="0">
                                  <a:solidFill>
                                    <a:srgbClr val="3C3C3B"/>
                                  </a:solidFill>
                                  <a:latin typeface="Cambria Math" panose="02040503050406030204" pitchFamily="18" charset="0"/>
                                </a:rPr>
                                <m:t>2</m:t>
                              </m:r>
                              <m:r>
                                <a:rPr lang="es-ES_tradnl" sz="1200" i="1" noProof="0" smtClean="0">
                                  <a:solidFill>
                                    <a:srgbClr val="3C3C3B"/>
                                  </a:solidFill>
                                  <a:latin typeface="Cambria Math" panose="02040503050406030204" pitchFamily="18" charset="0"/>
                                </a:rPr>
                                <m:t>𝜋</m:t>
                              </m:r>
                              <m:r>
                                <a:rPr lang="es-ES_tradnl" sz="1200" i="1" noProof="0" smtClean="0">
                                  <a:solidFill>
                                    <a:srgbClr val="3C3C3B"/>
                                  </a:solidFill>
                                  <a:latin typeface="Cambria Math" panose="02040503050406030204" pitchFamily="18" charset="0"/>
                                </a:rPr>
                                <m:t>𝑘</m:t>
                              </m:r>
                            </m:num>
                            <m:den>
                              <m:r>
                                <a:rPr lang="es-ES_tradnl" sz="1200" i="1" noProof="0" smtClean="0">
                                  <a:solidFill>
                                    <a:srgbClr val="3C3C3B"/>
                                  </a:solidFill>
                                  <a:latin typeface="Cambria Math" panose="02040503050406030204" pitchFamily="18" charset="0"/>
                                </a:rPr>
                                <m:t>4</m:t>
                              </m:r>
                            </m:den>
                          </m:f>
                        </m:e>
                      </m:d>
                    </m:oMath>
                  </m:oMathPara>
                </a14:m>
                <a:endParaRPr lang="es-ES_tradnl" sz="1200" noProof="0" dirty="0"/>
              </a:p>
            </p:txBody>
          </p:sp>
        </mc:Choice>
        <mc:Fallback>
          <p:sp>
            <p:nvSpPr>
              <p:cNvPr id="17" name="Text 14"/>
              <p:cNvSpPr>
                <a:spLocks noRot="1" noChangeAspect="1" noMove="1" noResize="1" noEditPoints="1" noAdjustHandles="1" noChangeArrowheads="1" noChangeShapeType="1" noTextEdit="1"/>
              </p:cNvSpPr>
              <p:nvPr/>
            </p:nvSpPr>
            <p:spPr>
              <a:xfrm>
                <a:off x="2921000" y="3205262"/>
                <a:ext cx="1485900" cy="330000"/>
              </a:xfrm>
              <a:prstGeom prst="rect">
                <a:avLst/>
              </a:prstGeom>
              <a:blipFill>
                <a:blip r:embed="rId4"/>
                <a:stretch>
                  <a:fillRect b="-18519"/>
                </a:stretch>
              </a:blipFill>
              <a:ln/>
            </p:spPr>
            <p:txBody>
              <a:bodyPr/>
              <a:lstStyle/>
              <a:p>
                <a:r>
                  <a:rPr lang="en-CO">
                    <a:noFill/>
                  </a:rPr>
                  <a:t> </a:t>
                </a:r>
              </a:p>
            </p:txBody>
          </p:sp>
        </mc:Fallback>
      </mc:AlternateContent>
      <p:sp>
        <p:nvSpPr>
          <p:cNvPr id="18" name="Shape 15"/>
          <p:cNvSpPr/>
          <p:nvPr/>
        </p:nvSpPr>
        <p:spPr>
          <a:xfrm>
            <a:off x="4946650" y="2053530"/>
            <a:ext cx="1892300" cy="1066800"/>
          </a:xfrm>
          <a:prstGeom prst="roundRect">
            <a:avLst>
              <a:gd name="adj" fmla="val 6548"/>
            </a:avLst>
          </a:prstGeom>
          <a:solidFill>
            <a:srgbClr val="FFFFFF"/>
          </a:solidFill>
          <a:ln w="12700">
            <a:solidFill>
              <a:srgbClr val="3C3C3B"/>
            </a:solidFill>
            <a:prstDash val="solid"/>
          </a:ln>
        </p:spPr>
        <p:txBody>
          <a:bodyPr/>
          <a:lstStyle/>
          <a:p>
            <a:endParaRPr lang="es-ES_tradnl" noProof="0" dirty="0"/>
          </a:p>
        </p:txBody>
      </p:sp>
      <p:sp>
        <p:nvSpPr>
          <p:cNvPr id="19" name="Text 16"/>
          <p:cNvSpPr/>
          <p:nvPr/>
        </p:nvSpPr>
        <p:spPr>
          <a:xfrm>
            <a:off x="5080000" y="2161480"/>
            <a:ext cx="1676400" cy="223441"/>
          </a:xfrm>
          <a:prstGeom prst="rect">
            <a:avLst/>
          </a:prstGeom>
          <a:noFill/>
          <a:ln/>
        </p:spPr>
        <p:txBody>
          <a:bodyPr wrap="square" lIns="0" tIns="0" rIns="0" bIns="0" rtlCol="0" anchor="t">
            <a:normAutofit/>
          </a:bodyPr>
          <a:lstStyle/>
          <a:p>
            <a:pPr marL="0" indent="0" algn="l">
              <a:lnSpc>
                <a:spcPts val="1560"/>
              </a:lnSpc>
              <a:buNone/>
            </a:pPr>
            <a:r>
              <a:rPr lang="es-ES_tradnl" sz="1300" b="1" noProof="0" dirty="0">
                <a:solidFill>
                  <a:srgbClr val="1D1D1B"/>
                </a:solidFill>
                <a:latin typeface="Roboto" pitchFamily="34" charset="0"/>
                <a:ea typeface="Roboto" pitchFamily="34" charset="-122"/>
                <a:cs typeface="Roboto" pitchFamily="34" charset="-120"/>
              </a:rPr>
              <a:t>3 · Rama B</a:t>
            </a:r>
            <a:endParaRPr lang="es-ES_tradnl" sz="1300" noProof="0" dirty="0"/>
          </a:p>
        </p:txBody>
      </p:sp>
      <p:sp>
        <p:nvSpPr>
          <p:cNvPr id="20" name="Text 17"/>
          <p:cNvSpPr/>
          <p:nvPr/>
        </p:nvSpPr>
        <p:spPr>
          <a:xfrm>
            <a:off x="5080000" y="2397621"/>
            <a:ext cx="1676400" cy="223441"/>
          </a:xfrm>
          <a:prstGeom prst="rect">
            <a:avLst/>
          </a:prstGeom>
          <a:noFill/>
          <a:ln/>
        </p:spPr>
        <p:txBody>
          <a:bodyPr wrap="square" lIns="0" tIns="0" rIns="0" bIns="0" rtlCol="0" anchor="t">
            <a:normAutofit/>
          </a:bodyPr>
          <a:lstStyle/>
          <a:p>
            <a:pPr marL="0" indent="0" algn="l">
              <a:lnSpc>
                <a:spcPts val="1560"/>
              </a:lnSpc>
              <a:buNone/>
            </a:pPr>
            <a:r>
              <a:rPr lang="es-ES_tradnl" sz="1200" noProof="0" dirty="0">
                <a:solidFill>
                  <a:srgbClr val="3C3C3B"/>
                </a:solidFill>
                <a:latin typeface="Roboto" pitchFamily="34" charset="0"/>
                <a:ea typeface="Roboto" pitchFamily="34" charset="-122"/>
                <a:cs typeface="Roboto" pitchFamily="34" charset="-120"/>
              </a:rPr>
              <a:t>sin ruido, p = 0</a:t>
            </a:r>
            <a:endParaRPr lang="es-ES_tradnl" sz="1200" noProof="0" dirty="0"/>
          </a:p>
        </p:txBody>
      </p:sp>
      <p:sp>
        <p:nvSpPr>
          <p:cNvPr id="21" name="Text 18"/>
          <p:cNvSpPr/>
          <p:nvPr/>
        </p:nvSpPr>
        <p:spPr>
          <a:xfrm>
            <a:off x="5080000" y="2633762"/>
            <a:ext cx="1676400" cy="223441"/>
          </a:xfrm>
          <a:prstGeom prst="rect">
            <a:avLst/>
          </a:prstGeom>
          <a:noFill/>
          <a:ln/>
        </p:spPr>
        <p:txBody>
          <a:bodyPr wrap="square" lIns="0" tIns="0" rIns="0" bIns="0" rtlCol="0" anchor="t">
            <a:normAutofit/>
          </a:bodyPr>
          <a:lstStyle/>
          <a:p>
            <a:pPr marL="0" indent="0" algn="l">
              <a:lnSpc>
                <a:spcPts val="1560"/>
              </a:lnSpc>
              <a:buNone/>
            </a:pPr>
            <a:r>
              <a:rPr lang="es-ES_tradnl" sz="1200" noProof="0" dirty="0">
                <a:solidFill>
                  <a:srgbClr val="3C3C3B"/>
                </a:solidFill>
                <a:latin typeface="Roboto" pitchFamily="34" charset="0"/>
                <a:ea typeface="Roboto" pitchFamily="34" charset="-122"/>
                <a:cs typeface="Roboto" pitchFamily="34" charset="-120"/>
              </a:rPr>
              <a:t>(referencia)</a:t>
            </a:r>
            <a:endParaRPr lang="es-ES_tradnl" sz="1200" noProof="0" dirty="0"/>
          </a:p>
        </p:txBody>
      </p:sp>
      <p:sp>
        <p:nvSpPr>
          <p:cNvPr id="22" name="Shape 19"/>
          <p:cNvSpPr/>
          <p:nvPr/>
        </p:nvSpPr>
        <p:spPr>
          <a:xfrm>
            <a:off x="4946650" y="3387030"/>
            <a:ext cx="1892300" cy="1066800"/>
          </a:xfrm>
          <a:prstGeom prst="roundRect">
            <a:avLst>
              <a:gd name="adj" fmla="val 6548"/>
            </a:avLst>
          </a:prstGeom>
          <a:solidFill>
            <a:srgbClr val="FFEE00"/>
          </a:solidFill>
          <a:ln w="12700">
            <a:solidFill>
              <a:srgbClr val="1D1D1B"/>
            </a:solidFill>
            <a:prstDash val="solid"/>
          </a:ln>
        </p:spPr>
        <p:txBody>
          <a:bodyPr/>
          <a:lstStyle/>
          <a:p>
            <a:endParaRPr lang="es-ES_tradnl" noProof="0" dirty="0"/>
          </a:p>
        </p:txBody>
      </p:sp>
      <p:sp>
        <p:nvSpPr>
          <p:cNvPr id="23" name="Text 20"/>
          <p:cNvSpPr/>
          <p:nvPr/>
        </p:nvSpPr>
        <p:spPr>
          <a:xfrm>
            <a:off x="5080000" y="3494980"/>
            <a:ext cx="1676400" cy="223441"/>
          </a:xfrm>
          <a:prstGeom prst="rect">
            <a:avLst/>
          </a:prstGeom>
          <a:noFill/>
          <a:ln/>
        </p:spPr>
        <p:txBody>
          <a:bodyPr wrap="square" lIns="0" tIns="0" rIns="0" bIns="0" rtlCol="0" anchor="t">
            <a:normAutofit/>
          </a:bodyPr>
          <a:lstStyle/>
          <a:p>
            <a:pPr marL="0" indent="0" algn="l">
              <a:lnSpc>
                <a:spcPts val="1560"/>
              </a:lnSpc>
              <a:buNone/>
            </a:pPr>
            <a:r>
              <a:rPr lang="es-ES_tradnl" sz="1300" b="1" noProof="0" dirty="0">
                <a:solidFill>
                  <a:srgbClr val="1D1D1B"/>
                </a:solidFill>
                <a:latin typeface="Roboto" pitchFamily="34" charset="0"/>
                <a:ea typeface="Roboto" pitchFamily="34" charset="-122"/>
                <a:cs typeface="Roboto" pitchFamily="34" charset="-120"/>
              </a:rPr>
              <a:t>3 · Rama C</a:t>
            </a:r>
            <a:endParaRPr lang="es-ES_tradnl" sz="1300" noProof="0" dirty="0"/>
          </a:p>
        </p:txBody>
      </p:sp>
      <p:sp>
        <p:nvSpPr>
          <p:cNvPr id="24" name="Text 21"/>
          <p:cNvSpPr/>
          <p:nvPr/>
        </p:nvSpPr>
        <p:spPr>
          <a:xfrm>
            <a:off x="5080000" y="3731121"/>
            <a:ext cx="1676400" cy="421481"/>
          </a:xfrm>
          <a:prstGeom prst="rect">
            <a:avLst/>
          </a:prstGeom>
          <a:noFill/>
          <a:ln/>
        </p:spPr>
        <p:txBody>
          <a:bodyPr wrap="square" lIns="0" tIns="0" rIns="0" bIns="0" rtlCol="0" anchor="t">
            <a:normAutofit/>
          </a:bodyPr>
          <a:lstStyle/>
          <a:p>
            <a:pPr marL="0" indent="0" algn="l">
              <a:lnSpc>
                <a:spcPts val="1560"/>
              </a:lnSpc>
              <a:buNone/>
            </a:pPr>
            <a:r>
              <a:rPr lang="es-ES_tradnl" sz="1200" noProof="0" dirty="0" err="1">
                <a:solidFill>
                  <a:srgbClr val="1D1D1B"/>
                </a:solidFill>
                <a:latin typeface="Roboto" pitchFamily="34" charset="0"/>
                <a:ea typeface="Roboto" pitchFamily="34" charset="-122"/>
                <a:cs typeface="Roboto" pitchFamily="34" charset="-120"/>
              </a:rPr>
              <a:t>depolarizante</a:t>
            </a:r>
            <a:r>
              <a:rPr lang="es-ES_tradnl" sz="1200" noProof="0" dirty="0">
                <a:solidFill>
                  <a:srgbClr val="1D1D1B"/>
                </a:solidFill>
                <a:latin typeface="Roboto" pitchFamily="34" charset="0"/>
                <a:ea typeface="Roboto" pitchFamily="34" charset="-122"/>
                <a:cs typeface="Roboto" pitchFamily="34" charset="-120"/>
              </a:rPr>
              <a:t> de 1 </a:t>
            </a:r>
            <a:r>
              <a:rPr lang="es-ES_tradnl" sz="1200" noProof="0" dirty="0" err="1">
                <a:solidFill>
                  <a:srgbClr val="1D1D1B"/>
                </a:solidFill>
                <a:latin typeface="Roboto" pitchFamily="34" charset="0"/>
                <a:ea typeface="Roboto" pitchFamily="34" charset="-122"/>
                <a:cs typeface="Roboto" pitchFamily="34" charset="-120"/>
              </a:rPr>
              <a:t>qubit</a:t>
            </a:r>
            <a:r>
              <a:rPr lang="es-ES_tradnl" sz="1200" noProof="0" dirty="0">
                <a:solidFill>
                  <a:srgbClr val="1D1D1B"/>
                </a:solidFill>
                <a:latin typeface="Roboto" pitchFamily="34" charset="0"/>
                <a:ea typeface="Roboto" pitchFamily="34" charset="-122"/>
                <a:cs typeface="Roboto" pitchFamily="34" charset="-120"/>
              </a:rPr>
              <a:t>, p = 0.5</a:t>
            </a:r>
            <a:endParaRPr lang="es-ES_tradnl" sz="1200" noProof="0" dirty="0"/>
          </a:p>
        </p:txBody>
      </p:sp>
      <p:sp>
        <p:nvSpPr>
          <p:cNvPr id="25" name="Shape 22"/>
          <p:cNvSpPr/>
          <p:nvPr/>
        </p:nvSpPr>
        <p:spPr>
          <a:xfrm>
            <a:off x="7232650" y="2053530"/>
            <a:ext cx="1765300" cy="1066800"/>
          </a:xfrm>
          <a:prstGeom prst="roundRect">
            <a:avLst>
              <a:gd name="adj" fmla="val 6548"/>
            </a:avLst>
          </a:prstGeom>
          <a:solidFill>
            <a:srgbClr val="FFFFFF"/>
          </a:solidFill>
          <a:ln w="12700">
            <a:solidFill>
              <a:srgbClr val="3C3C3B"/>
            </a:solidFill>
            <a:prstDash val="solid"/>
          </a:ln>
        </p:spPr>
        <p:txBody>
          <a:bodyPr/>
          <a:lstStyle/>
          <a:p>
            <a:endParaRPr lang="es-ES_tradnl" noProof="0" dirty="0"/>
          </a:p>
        </p:txBody>
      </p:sp>
      <p:sp>
        <p:nvSpPr>
          <p:cNvPr id="26" name="Text 23"/>
          <p:cNvSpPr/>
          <p:nvPr/>
        </p:nvSpPr>
        <p:spPr>
          <a:xfrm>
            <a:off x="7366000" y="2161480"/>
            <a:ext cx="1549400" cy="223441"/>
          </a:xfrm>
          <a:prstGeom prst="rect">
            <a:avLst/>
          </a:prstGeom>
          <a:noFill/>
          <a:ln/>
        </p:spPr>
        <p:txBody>
          <a:bodyPr wrap="square" lIns="0" tIns="0" rIns="0" bIns="0" rtlCol="0" anchor="t">
            <a:normAutofit/>
          </a:bodyPr>
          <a:lstStyle/>
          <a:p>
            <a:pPr marL="0" indent="0" algn="l">
              <a:lnSpc>
                <a:spcPts val="1560"/>
              </a:lnSpc>
              <a:buNone/>
            </a:pPr>
            <a:r>
              <a:rPr lang="es-ES_tradnl" sz="1300" b="1" noProof="0" dirty="0">
                <a:solidFill>
                  <a:srgbClr val="1D1D1B"/>
                </a:solidFill>
                <a:latin typeface="Roboto" pitchFamily="34" charset="0"/>
                <a:ea typeface="Roboto" pitchFamily="34" charset="-122"/>
                <a:cs typeface="Roboto" pitchFamily="34" charset="-120"/>
              </a:rPr>
              <a:t>4 · Medir en X</a:t>
            </a:r>
            <a:endParaRPr lang="es-ES_tradnl" sz="1300" noProof="0" dirty="0"/>
          </a:p>
        </p:txBody>
      </p:sp>
      <p:sp>
        <p:nvSpPr>
          <p:cNvPr id="27" name="Text 24"/>
          <p:cNvSpPr/>
          <p:nvPr/>
        </p:nvSpPr>
        <p:spPr>
          <a:xfrm>
            <a:off x="7366000" y="2397621"/>
            <a:ext cx="1549400" cy="421481"/>
          </a:xfrm>
          <a:prstGeom prst="rect">
            <a:avLst/>
          </a:prstGeom>
          <a:noFill/>
          <a:ln/>
        </p:spPr>
        <p:txBody>
          <a:bodyPr wrap="square" lIns="0" tIns="0" rIns="0" bIns="0" rtlCol="0" anchor="t">
            <a:normAutofit/>
          </a:bodyPr>
          <a:lstStyle/>
          <a:p>
            <a:pPr marL="0" indent="0" algn="l">
              <a:lnSpc>
                <a:spcPts val="1560"/>
              </a:lnSpc>
              <a:buNone/>
            </a:pPr>
            <a:r>
              <a:rPr lang="es-ES_tradnl" sz="1200" noProof="0" dirty="0">
                <a:solidFill>
                  <a:srgbClr val="3C3C3B"/>
                </a:solidFill>
                <a:latin typeface="Roboto" pitchFamily="34" charset="0"/>
                <a:ea typeface="Roboto" pitchFamily="34" charset="-122"/>
                <a:cs typeface="Roboto" pitchFamily="34" charset="-120"/>
              </a:rPr>
              <a:t>una vez por persona: «+» o «−»</a:t>
            </a:r>
            <a:endParaRPr lang="es-ES_tradnl" sz="1200" noProof="0" dirty="0"/>
          </a:p>
        </p:txBody>
      </p:sp>
      <p:sp>
        <p:nvSpPr>
          <p:cNvPr id="28" name="Shape 25"/>
          <p:cNvSpPr/>
          <p:nvPr/>
        </p:nvSpPr>
        <p:spPr>
          <a:xfrm>
            <a:off x="7232650" y="3387030"/>
            <a:ext cx="1765300" cy="1066800"/>
          </a:xfrm>
          <a:prstGeom prst="roundRect">
            <a:avLst>
              <a:gd name="adj" fmla="val 6548"/>
            </a:avLst>
          </a:prstGeom>
          <a:solidFill>
            <a:srgbClr val="FFEE00"/>
          </a:solidFill>
          <a:ln w="12700">
            <a:solidFill>
              <a:srgbClr val="1D1D1B"/>
            </a:solidFill>
            <a:prstDash val="solid"/>
          </a:ln>
        </p:spPr>
        <p:txBody>
          <a:bodyPr/>
          <a:lstStyle/>
          <a:p>
            <a:endParaRPr lang="es-ES_tradnl" noProof="0" dirty="0"/>
          </a:p>
        </p:txBody>
      </p:sp>
      <p:sp>
        <p:nvSpPr>
          <p:cNvPr id="29" name="Text 26"/>
          <p:cNvSpPr/>
          <p:nvPr/>
        </p:nvSpPr>
        <p:spPr>
          <a:xfrm>
            <a:off x="7366000" y="3494980"/>
            <a:ext cx="1549400" cy="223441"/>
          </a:xfrm>
          <a:prstGeom prst="rect">
            <a:avLst/>
          </a:prstGeom>
          <a:noFill/>
          <a:ln/>
        </p:spPr>
        <p:txBody>
          <a:bodyPr wrap="square" lIns="0" tIns="0" rIns="0" bIns="0" rtlCol="0" anchor="t">
            <a:normAutofit/>
          </a:bodyPr>
          <a:lstStyle/>
          <a:p>
            <a:pPr marL="0" indent="0" algn="l">
              <a:lnSpc>
                <a:spcPts val="1560"/>
              </a:lnSpc>
              <a:buNone/>
            </a:pPr>
            <a:r>
              <a:rPr lang="es-ES_tradnl" sz="1300" b="1" noProof="0" dirty="0">
                <a:solidFill>
                  <a:srgbClr val="1D1D1B"/>
                </a:solidFill>
                <a:latin typeface="Roboto" pitchFamily="34" charset="0"/>
                <a:ea typeface="Roboto" pitchFamily="34" charset="-122"/>
                <a:cs typeface="Roboto" pitchFamily="34" charset="-120"/>
              </a:rPr>
              <a:t>4 · Medir en X</a:t>
            </a:r>
            <a:endParaRPr lang="es-ES_tradnl" sz="1300" noProof="0" dirty="0"/>
          </a:p>
        </p:txBody>
      </p:sp>
      <p:sp>
        <p:nvSpPr>
          <p:cNvPr id="30" name="Text 27"/>
          <p:cNvSpPr/>
          <p:nvPr/>
        </p:nvSpPr>
        <p:spPr>
          <a:xfrm>
            <a:off x="7366000" y="3731121"/>
            <a:ext cx="1549400" cy="421481"/>
          </a:xfrm>
          <a:prstGeom prst="rect">
            <a:avLst/>
          </a:prstGeom>
          <a:noFill/>
          <a:ln/>
        </p:spPr>
        <p:txBody>
          <a:bodyPr wrap="square" lIns="0" tIns="0" rIns="0" bIns="0" rtlCol="0" anchor="t">
            <a:normAutofit/>
          </a:bodyPr>
          <a:lstStyle/>
          <a:p>
            <a:pPr marL="0" indent="0" algn="l">
              <a:lnSpc>
                <a:spcPts val="1560"/>
              </a:lnSpc>
              <a:buNone/>
            </a:pPr>
            <a:r>
              <a:rPr lang="es-ES_tradnl" sz="1200" noProof="0" dirty="0">
                <a:solidFill>
                  <a:srgbClr val="1D1D1B"/>
                </a:solidFill>
                <a:latin typeface="Roboto" pitchFamily="34" charset="0"/>
                <a:ea typeface="Roboto" pitchFamily="34" charset="-122"/>
                <a:cs typeface="Roboto" pitchFamily="34" charset="-120"/>
              </a:rPr>
              <a:t>una vez por persona: «+» o «−»</a:t>
            </a:r>
            <a:endParaRPr lang="es-ES_tradnl" sz="1200" noProof="0" dirty="0"/>
          </a:p>
        </p:txBody>
      </p:sp>
      <p:sp>
        <p:nvSpPr>
          <p:cNvPr id="31" name="Shape 28"/>
          <p:cNvSpPr/>
          <p:nvPr/>
        </p:nvSpPr>
        <p:spPr>
          <a:xfrm>
            <a:off x="9391650" y="2053530"/>
            <a:ext cx="1828800" cy="1066800"/>
          </a:xfrm>
          <a:prstGeom prst="roundRect">
            <a:avLst>
              <a:gd name="adj" fmla="val 6548"/>
            </a:avLst>
          </a:prstGeom>
          <a:solidFill>
            <a:srgbClr val="FFFFFF"/>
          </a:solidFill>
          <a:ln w="12700">
            <a:solidFill>
              <a:srgbClr val="3C3C3B"/>
            </a:solidFill>
            <a:prstDash val="solid"/>
          </a:ln>
        </p:spPr>
        <p:txBody>
          <a:bodyPr/>
          <a:lstStyle/>
          <a:p>
            <a:endParaRPr lang="es-ES_tradnl" noProof="0" dirty="0"/>
          </a:p>
        </p:txBody>
      </p:sp>
      <p:sp>
        <p:nvSpPr>
          <p:cNvPr id="32" name="Text 29"/>
          <p:cNvSpPr/>
          <p:nvPr/>
        </p:nvSpPr>
        <p:spPr>
          <a:xfrm>
            <a:off x="9525000" y="2161480"/>
            <a:ext cx="1612900" cy="223441"/>
          </a:xfrm>
          <a:prstGeom prst="rect">
            <a:avLst/>
          </a:prstGeom>
          <a:noFill/>
          <a:ln/>
        </p:spPr>
        <p:txBody>
          <a:bodyPr wrap="square" lIns="0" tIns="0" rIns="0" bIns="0" rtlCol="0" anchor="t">
            <a:normAutofit/>
          </a:bodyPr>
          <a:lstStyle/>
          <a:p>
            <a:pPr marL="0" indent="0" algn="l">
              <a:lnSpc>
                <a:spcPts val="1560"/>
              </a:lnSpc>
              <a:buNone/>
            </a:pPr>
            <a:r>
              <a:rPr lang="es-ES_tradnl" sz="1300" b="1" noProof="0" dirty="0">
                <a:solidFill>
                  <a:srgbClr val="1D1D1B"/>
                </a:solidFill>
                <a:latin typeface="Roboto" pitchFamily="34" charset="0"/>
                <a:ea typeface="Roboto" pitchFamily="34" charset="-122"/>
                <a:cs typeface="Roboto" pitchFamily="34" charset="-120"/>
              </a:rPr>
              <a:t>5 · Estadística</a:t>
            </a:r>
            <a:endParaRPr lang="es-ES_tradnl" sz="1300" noProof="0" dirty="0"/>
          </a:p>
        </p:txBody>
      </p:sp>
      <p:sp>
        <p:nvSpPr>
          <p:cNvPr id="33" name="Text 30"/>
          <p:cNvSpPr/>
          <p:nvPr/>
        </p:nvSpPr>
        <p:spPr>
          <a:xfrm>
            <a:off x="9525000" y="2397621"/>
            <a:ext cx="1612900" cy="223441"/>
          </a:xfrm>
          <a:prstGeom prst="rect">
            <a:avLst/>
          </a:prstGeom>
          <a:noFill/>
          <a:ln/>
        </p:spPr>
        <p:txBody>
          <a:bodyPr wrap="square" lIns="0" tIns="0" rIns="0" bIns="0" rtlCol="0" anchor="t">
            <a:normAutofit/>
          </a:bodyPr>
          <a:lstStyle/>
          <a:p>
            <a:pPr marL="0" indent="0" algn="l">
              <a:lnSpc>
                <a:spcPts val="1560"/>
              </a:lnSpc>
              <a:buNone/>
            </a:pPr>
            <a:r>
              <a:rPr lang="es-ES_tradnl" sz="1200" noProof="0" dirty="0">
                <a:solidFill>
                  <a:srgbClr val="3C3C3B"/>
                </a:solidFill>
                <a:latin typeface="Roboto" pitchFamily="34" charset="0"/>
                <a:ea typeface="Roboto" pitchFamily="34" charset="-122"/>
                <a:cs typeface="Roboto" pitchFamily="34" charset="-120"/>
              </a:rPr>
              <a:t>F = fracción de «+»</a:t>
            </a:r>
            <a:endParaRPr lang="es-ES_tradnl" sz="1200" noProof="0" dirty="0"/>
          </a:p>
        </p:txBody>
      </p:sp>
      <p:sp>
        <p:nvSpPr>
          <p:cNvPr id="34" name="Shape 31"/>
          <p:cNvSpPr/>
          <p:nvPr/>
        </p:nvSpPr>
        <p:spPr>
          <a:xfrm>
            <a:off x="9391650" y="3387030"/>
            <a:ext cx="1828800" cy="1066800"/>
          </a:xfrm>
          <a:prstGeom prst="roundRect">
            <a:avLst>
              <a:gd name="adj" fmla="val 6548"/>
            </a:avLst>
          </a:prstGeom>
          <a:solidFill>
            <a:srgbClr val="FFEE00"/>
          </a:solidFill>
          <a:ln w="12700">
            <a:solidFill>
              <a:srgbClr val="1D1D1B"/>
            </a:solidFill>
            <a:prstDash val="solid"/>
          </a:ln>
        </p:spPr>
        <p:txBody>
          <a:bodyPr/>
          <a:lstStyle/>
          <a:p>
            <a:endParaRPr lang="es-ES_tradnl" noProof="0" dirty="0"/>
          </a:p>
        </p:txBody>
      </p:sp>
      <p:sp>
        <p:nvSpPr>
          <p:cNvPr id="35" name="Text 32"/>
          <p:cNvSpPr/>
          <p:nvPr/>
        </p:nvSpPr>
        <p:spPr>
          <a:xfrm>
            <a:off x="9525000" y="3494980"/>
            <a:ext cx="1612900" cy="223441"/>
          </a:xfrm>
          <a:prstGeom prst="rect">
            <a:avLst/>
          </a:prstGeom>
          <a:noFill/>
          <a:ln/>
        </p:spPr>
        <p:txBody>
          <a:bodyPr wrap="square" lIns="0" tIns="0" rIns="0" bIns="0" rtlCol="0" anchor="t">
            <a:normAutofit/>
          </a:bodyPr>
          <a:lstStyle/>
          <a:p>
            <a:pPr marL="0" indent="0" algn="l">
              <a:lnSpc>
                <a:spcPts val="1560"/>
              </a:lnSpc>
              <a:buNone/>
            </a:pPr>
            <a:r>
              <a:rPr lang="es-ES_tradnl" sz="1300" b="1" noProof="0" dirty="0">
                <a:solidFill>
                  <a:srgbClr val="1D1D1B"/>
                </a:solidFill>
                <a:latin typeface="Roboto" pitchFamily="34" charset="0"/>
                <a:ea typeface="Roboto" pitchFamily="34" charset="-122"/>
                <a:cs typeface="Roboto" pitchFamily="34" charset="-120"/>
              </a:rPr>
              <a:t>5 · Corregir</a:t>
            </a:r>
            <a:endParaRPr lang="es-ES_tradnl" sz="1300" noProof="0" dirty="0"/>
          </a:p>
        </p:txBody>
      </p:sp>
      <mc:AlternateContent xmlns:mc="http://schemas.openxmlformats.org/markup-compatibility/2006">
        <mc:Choice xmlns:a14="http://schemas.microsoft.com/office/drawing/2010/main" Requires="a14">
          <p:sp>
            <p:nvSpPr>
              <p:cNvPr id="36" name="Ecuacion F corregida"/>
              <p:cNvSpPr txBox="1"/>
              <p:nvPr/>
            </p:nvSpPr>
            <p:spPr>
              <a:xfrm>
                <a:off x="9525000" y="3760000"/>
                <a:ext cx="1625600" cy="571500"/>
              </a:xfrm>
              <a:prstGeom prst="rect">
                <a:avLst/>
              </a:prstGeom>
              <a:noFill/>
              <a:ln/>
            </p:spPr>
            <p:txBody>
              <a:bodyPr wrap="square" lIns="0" tIns="0" rIns="0" bIns="0" rtlCol="0" anchor="t">
                <a:noAutofit/>
              </a:bodyPr>
              <a:lstStyle/>
              <a:p>
                <a:pPr marL="0" indent="0" algn="l">
                  <a:buNone/>
                </a:pPr>
                <a14:m>
                  <m:oMathPara xmlns:m="http://schemas.openxmlformats.org/officeDocument/2006/math">
                    <m:oMathParaPr>
                      <m:jc m:val="centerGroup"/>
                    </m:oMathParaPr>
                    <m:oMath xmlns:m="http://schemas.openxmlformats.org/officeDocument/2006/math">
                      <m:acc>
                        <m:accPr>
                          <m:chr m:val="̂"/>
                          <m:ctrlPr>
                            <a:rPr lang="es-ES_tradnl" sz="1400" i="1" noProof="0" smtClean="0">
                              <a:solidFill>
                                <a:srgbClr val="1D1D1B"/>
                              </a:solidFill>
                              <a:latin typeface="Cambria Math" panose="02040503050406030204" pitchFamily="18" charset="0"/>
                            </a:rPr>
                          </m:ctrlPr>
                        </m:accPr>
                        <m:e>
                          <m:r>
                            <a:rPr lang="es-ES_tradnl" sz="1400" i="1" noProof="0" smtClean="0">
                              <a:solidFill>
                                <a:srgbClr val="1D1D1B"/>
                              </a:solidFill>
                              <a:latin typeface="Cambria Math" panose="02040503050406030204" pitchFamily="18" charset="0"/>
                            </a:rPr>
                            <m:t>𝐹</m:t>
                          </m:r>
                        </m:e>
                      </m:acc>
                      <m:r>
                        <a:rPr lang="es-ES_tradnl" sz="1400" i="1" noProof="0" smtClean="0">
                          <a:solidFill>
                            <a:srgbClr val="1D1D1B"/>
                          </a:solidFill>
                          <a:latin typeface="Cambria Math" panose="02040503050406030204" pitchFamily="18" charset="0"/>
                        </a:rPr>
                        <m:t>=</m:t>
                      </m:r>
                      <m:f>
                        <m:fPr>
                          <m:ctrlPr>
                            <a:rPr lang="es-ES_tradnl" sz="1400" i="1" noProof="0" smtClean="0">
                              <a:solidFill>
                                <a:srgbClr val="1D1D1B"/>
                              </a:solidFill>
                              <a:latin typeface="Cambria Math" panose="02040503050406030204" pitchFamily="18" charset="0"/>
                            </a:rPr>
                          </m:ctrlPr>
                        </m:fPr>
                        <m:num>
                          <m:r>
                            <a:rPr lang="es-ES_tradnl" sz="1400" i="1" noProof="0" smtClean="0">
                              <a:solidFill>
                                <a:srgbClr val="1D1D1B"/>
                              </a:solidFill>
                              <a:latin typeface="Cambria Math" panose="02040503050406030204" pitchFamily="18" charset="0"/>
                            </a:rPr>
                            <m:t>𝐹</m:t>
                          </m:r>
                          <m:r>
                            <a:rPr lang="es-ES_tradnl" sz="1400" i="1" noProof="0" smtClean="0">
                              <a:solidFill>
                                <a:srgbClr val="1D1D1B"/>
                              </a:solidFill>
                              <a:latin typeface="Cambria Math" panose="02040503050406030204" pitchFamily="18" charset="0"/>
                            </a:rPr>
                            <m:t>−</m:t>
                          </m:r>
                          <m:f>
                            <m:fPr>
                              <m:type m:val="lin"/>
                              <m:ctrlPr>
                                <a:rPr lang="es-ES_tradnl" sz="1400" i="1" noProof="0" smtClean="0">
                                  <a:solidFill>
                                    <a:srgbClr val="1D1D1B"/>
                                  </a:solidFill>
                                  <a:latin typeface="Cambria Math" panose="02040503050406030204" pitchFamily="18" charset="0"/>
                                </a:rPr>
                              </m:ctrlPr>
                            </m:fPr>
                            <m:num>
                              <m:r>
                                <a:rPr lang="es-ES_tradnl" sz="1400" i="1" noProof="0" smtClean="0">
                                  <a:solidFill>
                                    <a:srgbClr val="1D1D1B"/>
                                  </a:solidFill>
                                  <a:latin typeface="Cambria Math" panose="02040503050406030204" pitchFamily="18" charset="0"/>
                                </a:rPr>
                                <m:t>𝑝</m:t>
                              </m:r>
                            </m:num>
                            <m:den>
                              <m:r>
                                <a:rPr lang="es-ES_tradnl" sz="1400" i="1" noProof="0" smtClean="0">
                                  <a:solidFill>
                                    <a:srgbClr val="1D1D1B"/>
                                  </a:solidFill>
                                  <a:latin typeface="Cambria Math" panose="02040503050406030204" pitchFamily="18" charset="0"/>
                                </a:rPr>
                                <m:t>2</m:t>
                              </m:r>
                            </m:den>
                          </m:f>
                        </m:num>
                        <m:den>
                          <m:r>
                            <a:rPr lang="es-ES_tradnl" sz="1400" i="1" noProof="0" smtClean="0">
                              <a:solidFill>
                                <a:srgbClr val="1D1D1B"/>
                              </a:solidFill>
                              <a:latin typeface="Cambria Math" panose="02040503050406030204" pitchFamily="18" charset="0"/>
                            </a:rPr>
                            <m:t>1−</m:t>
                          </m:r>
                          <m:r>
                            <a:rPr lang="es-ES_tradnl" sz="1400" i="1" noProof="0" smtClean="0">
                              <a:solidFill>
                                <a:srgbClr val="1D1D1B"/>
                              </a:solidFill>
                              <a:latin typeface="Cambria Math" panose="02040503050406030204" pitchFamily="18" charset="0"/>
                            </a:rPr>
                            <m:t>𝑝</m:t>
                          </m:r>
                        </m:den>
                      </m:f>
                    </m:oMath>
                  </m:oMathPara>
                </a14:m>
                <a:endParaRPr lang="es-ES_tradnl" sz="1400" noProof="0" dirty="0"/>
              </a:p>
            </p:txBody>
          </p:sp>
        </mc:Choice>
        <mc:Fallback>
          <p:sp>
            <p:nvSpPr>
              <p:cNvPr id="36" name="Ecuacion F corregida"/>
              <p:cNvSpPr txBox="1">
                <a:spLocks noRot="1" noChangeAspect="1" noMove="1" noResize="1" noEditPoints="1" noAdjustHandles="1" noChangeArrowheads="1" noChangeShapeType="1" noTextEdit="1"/>
              </p:cNvSpPr>
              <p:nvPr/>
            </p:nvSpPr>
            <p:spPr>
              <a:xfrm>
                <a:off x="9525000" y="3760000"/>
                <a:ext cx="1625600" cy="571500"/>
              </a:xfrm>
              <a:prstGeom prst="rect">
                <a:avLst/>
              </a:prstGeom>
              <a:blipFill>
                <a:blip r:embed="rId5"/>
                <a:stretch>
                  <a:fillRect t="-67391" b="-34783"/>
                </a:stretch>
              </a:blipFill>
              <a:ln/>
            </p:spPr>
            <p:txBody>
              <a:bodyPr/>
              <a:lstStyle/>
              <a:p>
                <a:r>
                  <a:rPr lang="en-CO">
                    <a:noFill/>
                  </a:rPr>
                  <a:t> </a:t>
                </a:r>
              </a:p>
            </p:txBody>
          </p:sp>
        </mc:Fallback>
      </mc:AlternateContent>
      <p:pic>
        <p:nvPicPr>
          <p:cNvPr id="37" name="Image 2" descr="connector"/>
          <p:cNvPicPr>
            <a:picLocks noChangeAspect="1"/>
          </p:cNvPicPr>
          <p:nvPr/>
        </p:nvPicPr>
        <p:blipFill>
          <a:blip r:embed="rId6"/>
          <a:srcRect/>
          <a:stretch/>
        </p:blipFill>
        <p:spPr>
          <a:xfrm>
            <a:off x="2349500" y="3202880"/>
            <a:ext cx="482600" cy="101600"/>
          </a:xfrm>
          <a:prstGeom prst="rect">
            <a:avLst/>
          </a:prstGeom>
        </p:spPr>
      </p:pic>
      <p:pic>
        <p:nvPicPr>
          <p:cNvPr id="38" name="Image 3" descr="connector"/>
          <p:cNvPicPr>
            <a:picLocks noChangeAspect="1"/>
          </p:cNvPicPr>
          <p:nvPr/>
        </p:nvPicPr>
        <p:blipFill>
          <a:blip r:embed="rId7"/>
          <a:srcRect/>
          <a:stretch/>
        </p:blipFill>
        <p:spPr>
          <a:xfrm>
            <a:off x="4445000" y="3202880"/>
            <a:ext cx="260350" cy="101600"/>
          </a:xfrm>
          <a:prstGeom prst="rect">
            <a:avLst/>
          </a:prstGeom>
        </p:spPr>
      </p:pic>
      <p:pic>
        <p:nvPicPr>
          <p:cNvPr id="39" name="Image 4" descr="connector"/>
          <p:cNvPicPr>
            <a:picLocks noChangeAspect="1"/>
          </p:cNvPicPr>
          <p:nvPr/>
        </p:nvPicPr>
        <p:blipFill>
          <a:blip r:embed="rId8"/>
          <a:srcRect/>
          <a:stretch/>
        </p:blipFill>
        <p:spPr>
          <a:xfrm>
            <a:off x="4603750" y="2536130"/>
            <a:ext cx="101600" cy="768350"/>
          </a:xfrm>
          <a:prstGeom prst="rect">
            <a:avLst/>
          </a:prstGeom>
        </p:spPr>
      </p:pic>
      <p:pic>
        <p:nvPicPr>
          <p:cNvPr id="40" name="Image 5" descr="connector"/>
          <p:cNvPicPr>
            <a:picLocks noChangeAspect="1"/>
          </p:cNvPicPr>
          <p:nvPr/>
        </p:nvPicPr>
        <p:blipFill>
          <a:blip r:embed="rId9"/>
          <a:srcRect/>
          <a:stretch/>
        </p:blipFill>
        <p:spPr>
          <a:xfrm>
            <a:off x="4603750" y="2536130"/>
            <a:ext cx="387350" cy="101600"/>
          </a:xfrm>
          <a:prstGeom prst="rect">
            <a:avLst/>
          </a:prstGeom>
        </p:spPr>
      </p:pic>
      <p:pic>
        <p:nvPicPr>
          <p:cNvPr id="41" name="Image 6" descr="connector"/>
          <p:cNvPicPr>
            <a:picLocks noChangeAspect="1"/>
          </p:cNvPicPr>
          <p:nvPr/>
        </p:nvPicPr>
        <p:blipFill>
          <a:blip r:embed="rId8"/>
          <a:srcRect/>
          <a:stretch/>
        </p:blipFill>
        <p:spPr>
          <a:xfrm>
            <a:off x="4603750" y="3202880"/>
            <a:ext cx="101600" cy="768350"/>
          </a:xfrm>
          <a:prstGeom prst="rect">
            <a:avLst/>
          </a:prstGeom>
        </p:spPr>
      </p:pic>
      <p:pic>
        <p:nvPicPr>
          <p:cNvPr id="42" name="Image 7" descr="connector"/>
          <p:cNvPicPr>
            <a:picLocks noChangeAspect="1"/>
          </p:cNvPicPr>
          <p:nvPr/>
        </p:nvPicPr>
        <p:blipFill>
          <a:blip r:embed="rId9"/>
          <a:srcRect/>
          <a:stretch/>
        </p:blipFill>
        <p:spPr>
          <a:xfrm>
            <a:off x="4603750" y="3869630"/>
            <a:ext cx="387350" cy="101600"/>
          </a:xfrm>
          <a:prstGeom prst="rect">
            <a:avLst/>
          </a:prstGeom>
        </p:spPr>
      </p:pic>
      <p:pic>
        <p:nvPicPr>
          <p:cNvPr id="43" name="Image 8" descr="connector"/>
          <p:cNvPicPr>
            <a:picLocks noChangeAspect="1"/>
          </p:cNvPicPr>
          <p:nvPr/>
        </p:nvPicPr>
        <p:blipFill>
          <a:blip r:embed="rId6"/>
          <a:srcRect/>
          <a:stretch/>
        </p:blipFill>
        <p:spPr>
          <a:xfrm>
            <a:off x="6794500" y="2536130"/>
            <a:ext cx="482600" cy="101600"/>
          </a:xfrm>
          <a:prstGeom prst="rect">
            <a:avLst/>
          </a:prstGeom>
        </p:spPr>
      </p:pic>
      <p:pic>
        <p:nvPicPr>
          <p:cNvPr id="44" name="Image 9" descr="connector"/>
          <p:cNvPicPr>
            <a:picLocks noChangeAspect="1"/>
          </p:cNvPicPr>
          <p:nvPr/>
        </p:nvPicPr>
        <p:blipFill>
          <a:blip r:embed="rId6"/>
          <a:srcRect/>
          <a:stretch/>
        </p:blipFill>
        <p:spPr>
          <a:xfrm>
            <a:off x="6794500" y="3869630"/>
            <a:ext cx="482600" cy="101600"/>
          </a:xfrm>
          <a:prstGeom prst="rect">
            <a:avLst/>
          </a:prstGeom>
        </p:spPr>
      </p:pic>
      <p:pic>
        <p:nvPicPr>
          <p:cNvPr id="45" name="Image 10" descr="connector"/>
          <p:cNvPicPr>
            <a:picLocks noChangeAspect="1"/>
          </p:cNvPicPr>
          <p:nvPr/>
        </p:nvPicPr>
        <p:blipFill>
          <a:blip r:embed="rId6"/>
          <a:srcRect/>
          <a:stretch/>
        </p:blipFill>
        <p:spPr>
          <a:xfrm>
            <a:off x="8953500" y="2536130"/>
            <a:ext cx="482600" cy="101600"/>
          </a:xfrm>
          <a:prstGeom prst="rect">
            <a:avLst/>
          </a:prstGeom>
        </p:spPr>
      </p:pic>
      <p:pic>
        <p:nvPicPr>
          <p:cNvPr id="46" name="Image 11" descr="connector"/>
          <p:cNvPicPr>
            <a:picLocks noChangeAspect="1"/>
          </p:cNvPicPr>
          <p:nvPr/>
        </p:nvPicPr>
        <p:blipFill>
          <a:blip r:embed="rId6"/>
          <a:srcRect/>
          <a:stretch/>
        </p:blipFill>
        <p:spPr>
          <a:xfrm>
            <a:off x="8953500" y="3869630"/>
            <a:ext cx="482600" cy="101600"/>
          </a:xfrm>
          <a:prstGeom prst="rect">
            <a:avLst/>
          </a:prstGeom>
        </p:spPr>
      </p:pic>
      <mc:AlternateContent xmlns:mc="http://schemas.openxmlformats.org/markup-compatibility/2006">
        <mc:Choice xmlns:a14="http://schemas.microsoft.com/office/drawing/2010/main" Requires="a14">
          <p:sp>
            <p:nvSpPr>
              <p:cNvPr id="47" name="Text 33"/>
              <p:cNvSpPr/>
              <p:nvPr/>
            </p:nvSpPr>
            <p:spPr>
              <a:xfrm>
                <a:off x="4800600" y="4764980"/>
                <a:ext cx="6775958" cy="505420"/>
              </a:xfrm>
              <a:prstGeom prst="rect">
                <a:avLst/>
              </a:prstGeom>
              <a:noFill/>
              <a:ln/>
            </p:spPr>
            <p:txBody>
              <a:bodyPr wrap="square" lIns="0" tIns="0" rIns="0" bIns="0" rtlCol="0" anchor="t">
                <a:normAutofit/>
              </a:bodyPr>
              <a:lstStyle/>
              <a:p>
                <a:pPr marL="0" indent="0" algn="l">
                  <a:lnSpc>
                    <a:spcPct val="100000"/>
                  </a:lnSpc>
                  <a:buNone/>
                </a:pPr>
                <a:r>
                  <a:rPr lang="es-ES_tradnl" sz="1400" b="1" noProof="0" dirty="0">
                    <a:solidFill>
                      <a:srgbClr val="293470"/>
                    </a:solidFill>
                    <a:latin typeface="Roboto" pitchFamily="34" charset="0"/>
                    <a:ea typeface="Roboto" pitchFamily="34" charset="-122"/>
                    <a:cs typeface="Roboto" pitchFamily="34" charset="-120"/>
                  </a:rPr>
                  <a:t>6 · Repetir el experimento 2000 veces → distribución de F en B y de </a:t>
                </a:r>
                <a14:m>
                  <m:oMath xmlns:m="http://schemas.openxmlformats.org/officeDocument/2006/math">
                    <m:acc>
                      <m:accPr>
                        <m:chr m:val="̂"/>
                        <m:ctrlPr>
                          <a:rPr lang="es-ES_tradnl" sz="1400" b="1" i="1" noProof="0" smtClean="0">
                            <a:solidFill>
                              <a:srgbClr val="293470"/>
                            </a:solidFill>
                            <a:latin typeface="Cambria Math" panose="02040503050406030204" pitchFamily="18" charset="0"/>
                          </a:rPr>
                        </m:ctrlPr>
                      </m:accPr>
                      <m:e>
                        <m:r>
                          <a:rPr lang="es-ES_tradnl" sz="1400" b="1" i="1" noProof="0" smtClean="0">
                            <a:solidFill>
                              <a:srgbClr val="293470"/>
                            </a:solidFill>
                            <a:latin typeface="Cambria Math" panose="02040503050406030204" pitchFamily="18" charset="0"/>
                          </a:rPr>
                          <m:t>𝐹</m:t>
                        </m:r>
                      </m:e>
                    </m:acc>
                  </m:oMath>
                </a14:m>
                <a:r>
                  <a:rPr lang="es-ES_tradnl" sz="1400" b="1" noProof="0" dirty="0">
                    <a:solidFill>
                      <a:srgbClr val="293470"/>
                    </a:solidFill>
                    <a:latin typeface="Roboto" pitchFamily="34" charset="0"/>
                    <a:ea typeface="Roboto" pitchFamily="34" charset="-122"/>
                    <a:cs typeface="Roboto" pitchFamily="34" charset="-120"/>
                  </a:rPr>
                  <a:t> → histograma (Acto IV)</a:t>
                </a:r>
                <a:endParaRPr lang="es-ES_tradnl" sz="1400" noProof="0" dirty="0"/>
              </a:p>
            </p:txBody>
          </p:sp>
        </mc:Choice>
        <mc:Fallback>
          <p:sp>
            <p:nvSpPr>
              <p:cNvPr id="47" name="Text 33"/>
              <p:cNvSpPr>
                <a:spLocks noRot="1" noChangeAspect="1" noMove="1" noResize="1" noEditPoints="1" noAdjustHandles="1" noChangeArrowheads="1" noChangeShapeType="1" noTextEdit="1"/>
              </p:cNvSpPr>
              <p:nvPr/>
            </p:nvSpPr>
            <p:spPr>
              <a:xfrm>
                <a:off x="4800600" y="4764980"/>
                <a:ext cx="6775958" cy="505420"/>
              </a:xfrm>
              <a:prstGeom prst="rect">
                <a:avLst/>
              </a:prstGeom>
              <a:blipFill>
                <a:blip r:embed="rId10"/>
                <a:stretch>
                  <a:fillRect l="-1685" t="-12195" r="-1498" b="-7317"/>
                </a:stretch>
              </a:blipFill>
              <a:ln/>
            </p:spPr>
            <p:txBody>
              <a:bodyPr/>
              <a:lstStyle/>
              <a:p>
                <a:r>
                  <a:rPr lang="en-CO">
                    <a:noFill/>
                  </a:rPr>
                  <a:t> </a:t>
                </a:r>
              </a:p>
            </p:txBody>
          </p:sp>
        </mc:Fallback>
      </mc:AlternateContent>
      <p:sp>
        <p:nvSpPr>
          <p:cNvPr id="48" name="Shape 34"/>
          <p:cNvSpPr/>
          <p:nvPr/>
        </p:nvSpPr>
        <p:spPr>
          <a:xfrm>
            <a:off x="812800" y="4218880"/>
            <a:ext cx="3683000" cy="1270000"/>
          </a:xfrm>
          <a:prstGeom prst="rect">
            <a:avLst/>
          </a:prstGeom>
          <a:solidFill>
            <a:srgbClr val="F4F4F2"/>
          </a:solidFill>
          <a:ln/>
        </p:spPr>
        <p:txBody>
          <a:bodyPr/>
          <a:lstStyle/>
          <a:p>
            <a:endParaRPr lang="es-ES_tradnl" noProof="0" dirty="0"/>
          </a:p>
        </p:txBody>
      </p:sp>
      <p:sp>
        <p:nvSpPr>
          <p:cNvPr id="49" name="Shape 35"/>
          <p:cNvSpPr/>
          <p:nvPr/>
        </p:nvSpPr>
        <p:spPr>
          <a:xfrm>
            <a:off x="831850" y="4218880"/>
            <a:ext cx="0" cy="1270000"/>
          </a:xfrm>
          <a:prstGeom prst="line">
            <a:avLst/>
          </a:prstGeom>
          <a:noFill/>
          <a:ln w="38100">
            <a:solidFill>
              <a:srgbClr val="FFEE00"/>
            </a:solidFill>
            <a:prstDash val="solid"/>
          </a:ln>
        </p:spPr>
        <p:txBody>
          <a:bodyPr/>
          <a:lstStyle/>
          <a:p>
            <a:endParaRPr lang="es-ES_tradnl" noProof="0" dirty="0"/>
          </a:p>
        </p:txBody>
      </p:sp>
      <p:sp>
        <p:nvSpPr>
          <p:cNvPr id="50" name="Text 36"/>
          <p:cNvSpPr/>
          <p:nvPr/>
        </p:nvSpPr>
        <p:spPr>
          <a:xfrm>
            <a:off x="1003300" y="4320480"/>
            <a:ext cx="3440303" cy="238720"/>
          </a:xfrm>
          <a:prstGeom prst="rect">
            <a:avLst/>
          </a:prstGeom>
          <a:noFill/>
          <a:ln/>
        </p:spPr>
        <p:txBody>
          <a:bodyPr wrap="square" lIns="0" tIns="0" rIns="0" bIns="0" rtlCol="0" anchor="t">
            <a:normAutofit/>
          </a:bodyPr>
          <a:lstStyle/>
          <a:p>
            <a:pPr marL="0" indent="0" algn="l">
              <a:lnSpc>
                <a:spcPts val="1680"/>
              </a:lnSpc>
              <a:buNone/>
            </a:pPr>
            <a:r>
              <a:rPr lang="es-ES_tradnl" sz="1200" b="1" noProof="0" dirty="0">
                <a:solidFill>
                  <a:srgbClr val="1D1D1B"/>
                </a:solidFill>
                <a:latin typeface="Roboto" pitchFamily="34" charset="0"/>
                <a:ea typeface="Roboto" pitchFamily="34" charset="-122"/>
                <a:cs typeface="Roboto" pitchFamily="34" charset="-120"/>
              </a:rPr>
              <a:t>Terminología</a:t>
            </a:r>
            <a:endParaRPr lang="es-ES_tradnl" sz="1200" noProof="0" dirty="0"/>
          </a:p>
        </p:txBody>
      </p:sp>
      <p:sp>
        <p:nvSpPr>
          <p:cNvPr id="51" name="Text 37"/>
          <p:cNvSpPr/>
          <p:nvPr/>
        </p:nvSpPr>
        <p:spPr>
          <a:xfrm>
            <a:off x="1003300" y="4571901"/>
            <a:ext cx="3440303" cy="642441"/>
          </a:xfrm>
          <a:prstGeom prst="rect">
            <a:avLst/>
          </a:prstGeom>
          <a:noFill/>
          <a:ln/>
        </p:spPr>
        <p:txBody>
          <a:bodyPr wrap="square" lIns="0" tIns="0" rIns="0" bIns="0" rtlCol="0" anchor="t">
            <a:normAutofit/>
          </a:bodyPr>
          <a:lstStyle/>
          <a:p>
            <a:pPr marL="0" indent="0" algn="l">
              <a:lnSpc>
                <a:spcPts val="1620"/>
              </a:lnSpc>
              <a:buNone/>
            </a:pPr>
            <a:r>
              <a:rPr lang="es-ES_tradnl" sz="1200" noProof="0" dirty="0">
                <a:solidFill>
                  <a:srgbClr val="3C3C3B"/>
                </a:solidFill>
                <a:latin typeface="Roboto" pitchFamily="34" charset="0"/>
                <a:ea typeface="Roboto" pitchFamily="34" charset="-122"/>
                <a:cs typeface="Roboto" pitchFamily="34" charset="-120"/>
              </a:rPr>
              <a:t>«Repeticiones del experimento», no «</a:t>
            </a:r>
            <a:r>
              <a:rPr lang="es-ES_tradnl" sz="1200" noProof="0" dirty="0" err="1">
                <a:solidFill>
                  <a:srgbClr val="3C3C3B"/>
                </a:solidFill>
                <a:latin typeface="Roboto" pitchFamily="34" charset="0"/>
                <a:ea typeface="Roboto" pitchFamily="34" charset="-122"/>
                <a:cs typeface="Roboto" pitchFamily="34" charset="-120"/>
              </a:rPr>
              <a:t>shots</a:t>
            </a:r>
            <a:r>
              <a:rPr lang="es-ES_tradnl" sz="1200" noProof="0" dirty="0">
                <a:solidFill>
                  <a:srgbClr val="3C3C3B"/>
                </a:solidFill>
                <a:latin typeface="Roboto" pitchFamily="34" charset="0"/>
                <a:ea typeface="Roboto" pitchFamily="34" charset="-122"/>
                <a:cs typeface="Roboto" pitchFamily="34" charset="-120"/>
              </a:rPr>
              <a:t>»: </a:t>
            </a:r>
            <a:r>
              <a:rPr lang="es-ES_tradnl" sz="1200" noProof="0" dirty="0" err="1">
                <a:solidFill>
                  <a:srgbClr val="3C3C3B"/>
                </a:solidFill>
                <a:latin typeface="Roboto" pitchFamily="34" charset="0"/>
                <a:ea typeface="Roboto" pitchFamily="34" charset="-122"/>
                <a:cs typeface="Roboto" pitchFamily="34" charset="-120"/>
              </a:rPr>
              <a:t>shots</a:t>
            </a:r>
            <a:r>
              <a:rPr lang="es-ES_tradnl" sz="1200" noProof="0" dirty="0">
                <a:solidFill>
                  <a:srgbClr val="3C3C3B"/>
                </a:solidFill>
                <a:latin typeface="Roboto" pitchFamily="34" charset="0"/>
                <a:ea typeface="Roboto" pitchFamily="34" charset="-122"/>
                <a:cs typeface="Roboto" pitchFamily="34" charset="-120"/>
              </a:rPr>
              <a:t> se lee como medir muchas veces a la misma persona, justo lo que rompe la privacidad.</a:t>
            </a:r>
            <a:endParaRPr lang="es-ES_tradnl" sz="1200" noProof="0" dirty="0"/>
          </a:p>
        </p:txBody>
      </p:sp>
      <p:sp>
        <p:nvSpPr>
          <p:cNvPr id="53" name="Text 39"/>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a:solidFill>
                  <a:srgbClr val="1D1D1B"/>
                </a:solidFill>
                <a:latin typeface="Roboto" pitchFamily="34" charset="0"/>
                <a:ea typeface="Roboto" pitchFamily="34" charset="-122"/>
                <a:cs typeface="Roboto" pitchFamily="34" charset="-120"/>
              </a:rPr>
              <a:t>29</a:t>
            </a:r>
            <a:endParaRPr lang="es-ES_tradnl" sz="1200" noProof="0" dirty="0"/>
          </a:p>
        </p:txBody>
      </p:sp>
    </p:spTree>
    <p:extLst>
      <p:ext uri="{BB962C8B-B14F-4D97-AF65-F5344CB8AC3E}">
        <p14:creationId xmlns:p14="http://schemas.microsoft.com/office/powerpoint/2010/main" val="216577630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name="Slide 8">
    <p:bg>
      <p:bgPr>
        <a:solidFill>
          <a:srgbClr val="FFEE00"/>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l="-9" r="-9"/>
          <a:stretch/>
        </p:blipFill>
        <p:spPr>
          <a:xfrm>
            <a:off x="7493000" y="0"/>
            <a:ext cx="4699000" cy="6858000"/>
          </a:xfrm>
          <a:prstGeom prst="rect">
            <a:avLst/>
          </a:prstGeom>
        </p:spPr>
      </p:pic>
      <p:sp>
        <p:nvSpPr>
          <p:cNvPr id="3" name="Text 0"/>
          <p:cNvSpPr/>
          <p:nvPr/>
        </p:nvSpPr>
        <p:spPr>
          <a:xfrm>
            <a:off x="7978140" y="3937000"/>
            <a:ext cx="3401060" cy="1803400"/>
          </a:xfrm>
          <a:prstGeom prst="rect">
            <a:avLst/>
          </a:prstGeom>
          <a:noFill/>
          <a:ln/>
        </p:spPr>
        <p:txBody>
          <a:bodyPr wrap="square" lIns="0" tIns="0" rIns="0" bIns="0" rtlCol="0" anchor="t">
            <a:normAutofit fontScale="92500"/>
          </a:bodyPr>
          <a:lstStyle/>
          <a:p>
            <a:pPr marL="0" indent="0" algn="r">
              <a:lnSpc>
                <a:spcPts val="14000"/>
              </a:lnSpc>
              <a:buNone/>
            </a:pPr>
            <a:r>
              <a:rPr lang="es-ES_tradnl" sz="14000" b="1" noProof="0" dirty="0">
                <a:solidFill>
                  <a:srgbClr val="FFEE00"/>
                </a:solidFill>
                <a:latin typeface="DM Sans" pitchFamily="34" charset="0"/>
                <a:ea typeface="DM Sans" pitchFamily="34" charset="-122"/>
                <a:cs typeface="DM Sans" pitchFamily="34" charset="-120"/>
              </a:rPr>
              <a:t>III</a:t>
            </a:r>
            <a:endParaRPr lang="es-ES_tradnl" sz="14000" noProof="0" dirty="0"/>
          </a:p>
        </p:txBody>
      </p:sp>
      <p:pic>
        <p:nvPicPr>
          <p:cNvPr id="4" name="Image 1" descr="Universidad de los Andes"/>
          <p:cNvPicPr>
            <a:picLocks noChangeAspect="1"/>
          </p:cNvPicPr>
          <p:nvPr/>
        </p:nvPicPr>
        <p:blipFill>
          <a:blip r:embed="rId4"/>
          <a:srcRect/>
          <a:stretch/>
        </p:blipFill>
        <p:spPr>
          <a:xfrm>
            <a:off x="812800" y="609600"/>
            <a:ext cx="1371600" cy="431800"/>
          </a:xfrm>
          <a:prstGeom prst="rect">
            <a:avLst/>
          </a:prstGeom>
        </p:spPr>
      </p:pic>
      <p:sp>
        <p:nvSpPr>
          <p:cNvPr id="5" name="Text 1"/>
          <p:cNvSpPr/>
          <p:nvPr/>
        </p:nvSpPr>
        <p:spPr>
          <a:xfrm>
            <a:off x="812800" y="2471440"/>
            <a:ext cx="6409690" cy="274241"/>
          </a:xfrm>
          <a:prstGeom prst="rect">
            <a:avLst/>
          </a:prstGeom>
          <a:noFill/>
          <a:ln/>
        </p:spPr>
        <p:txBody>
          <a:bodyPr wrap="square" lIns="0" tIns="0" rIns="0" bIns="0" rtlCol="0" anchor="t">
            <a:normAutofit/>
          </a:bodyPr>
          <a:lstStyle/>
          <a:p>
            <a:pPr marL="0" indent="0" algn="l">
              <a:lnSpc>
                <a:spcPts val="1960"/>
              </a:lnSpc>
              <a:buNone/>
            </a:pPr>
            <a:r>
              <a:rPr lang="es-ES_tradnl" sz="1400" b="1" kern="0" spc="200" noProof="0" dirty="0">
                <a:solidFill>
                  <a:srgbClr val="1D1D1B"/>
                </a:solidFill>
                <a:latin typeface="DM Sans" pitchFamily="34" charset="0"/>
                <a:ea typeface="DM Sans" pitchFamily="34" charset="-122"/>
                <a:cs typeface="DM Sans" pitchFamily="34" charset="-120"/>
              </a:rPr>
              <a:t>ACTO III</a:t>
            </a:r>
            <a:endParaRPr lang="es-ES_tradnl" sz="1400" noProof="0" dirty="0"/>
          </a:p>
        </p:txBody>
      </p:sp>
      <p:sp>
        <p:nvSpPr>
          <p:cNvPr id="6" name="Text 2"/>
          <p:cNvSpPr>
            <a:spLocks noGrp="1"/>
          </p:cNvSpPr>
          <p:nvPr>
            <p:ph type="title"/>
          </p:nvPr>
        </p:nvSpPr>
        <p:spPr>
          <a:xfrm>
            <a:off x="812800" y="2898080"/>
            <a:ext cx="6409690" cy="665460"/>
          </a:xfrm>
          <a:prstGeom prst="rect">
            <a:avLst/>
          </a:prstGeom>
          <a:noFill/>
          <a:ln/>
        </p:spPr>
        <p:txBody>
          <a:bodyPr wrap="square" lIns="0" tIns="0" rIns="0" bIns="0" rtlCol="0" anchor="t">
            <a:normAutofit/>
          </a:bodyPr>
          <a:lstStyle/>
          <a:p>
            <a:pPr marL="0" indent="0" algn="l">
              <a:lnSpc>
                <a:spcPts val="5040"/>
              </a:lnSpc>
              <a:buNone/>
            </a:pPr>
            <a:r>
              <a:rPr lang="es-ES_tradnl" sz="4800" b="1" i="0" kern="0" spc="-100" noProof="0" dirty="0">
                <a:solidFill>
                  <a:srgbClr val="1D1D1B"/>
                </a:solidFill>
                <a:latin typeface="DM Sans" pitchFamily="34" charset="0"/>
                <a:ea typeface="DM Sans" pitchFamily="34" charset="-122"/>
                <a:cs typeface="DM Sans" pitchFamily="34" charset="-120"/>
              </a:rPr>
              <a:t>Qué significa medir</a:t>
            </a:r>
            <a:endParaRPr lang="es-ES_tradnl" sz="4800" noProof="0" dirty="0"/>
          </a:p>
        </p:txBody>
      </p:sp>
      <p:sp>
        <p:nvSpPr>
          <p:cNvPr id="7" name="Text 3"/>
          <p:cNvSpPr/>
          <p:nvPr/>
        </p:nvSpPr>
        <p:spPr>
          <a:xfrm>
            <a:off x="812800" y="3715941"/>
            <a:ext cx="6409690" cy="322560"/>
          </a:xfrm>
          <a:prstGeom prst="rect">
            <a:avLst/>
          </a:prstGeom>
          <a:noFill/>
          <a:ln/>
        </p:spPr>
        <p:txBody>
          <a:bodyPr wrap="square" lIns="0" tIns="0" rIns="0" bIns="0" rtlCol="0" anchor="t">
            <a:normAutofit/>
          </a:bodyPr>
          <a:lstStyle/>
          <a:p>
            <a:pPr marL="0" indent="0" algn="l">
              <a:lnSpc>
                <a:spcPts val="2340"/>
              </a:lnSpc>
              <a:buNone/>
            </a:pPr>
            <a:r>
              <a:rPr lang="es-ES_tradnl" sz="1800" noProof="0">
                <a:solidFill>
                  <a:srgbClr val="1D1D1B"/>
                </a:solidFill>
                <a:latin typeface="Roboto" pitchFamily="34" charset="0"/>
                <a:ea typeface="Roboto" pitchFamily="34" charset="-122"/>
                <a:cs typeface="Roboto" pitchFamily="34" charset="-120"/>
              </a:rPr>
              <a:t>9 · Mezcla y por qué basta 1 qubit</a:t>
            </a:r>
            <a:endParaRPr lang="es-ES_tradnl" sz="1800" noProof="0" dirty="0"/>
          </a:p>
        </p:txBody>
      </p:sp>
    </p:spTree>
    <p:extLst>
      <p:ext uri="{BB962C8B-B14F-4D97-AF65-F5344CB8AC3E}">
        <p14:creationId xmlns:p14="http://schemas.microsoft.com/office/powerpoint/2010/main" val="146644243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s-ES_tradnl" noProof="0" dirty="0"/>
          </a:p>
        </p:txBody>
      </p:sp>
      <p:sp>
        <p:nvSpPr>
          <p:cNvPr id="3" name="Shape 1"/>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dirty="0">
                <a:solidFill>
                  <a:srgbClr val="1D1D1B"/>
                </a:solidFill>
                <a:latin typeface="DM Sans" pitchFamily="34" charset="0"/>
                <a:ea typeface="DM Sans" pitchFamily="34" charset="-122"/>
                <a:cs typeface="DM Sans" pitchFamily="34" charset="-120"/>
              </a:rPr>
              <a:t>III</a:t>
            </a:r>
            <a:endParaRPr lang="es-ES_tradnl" sz="1200" noProof="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dirty="0">
                <a:solidFill>
                  <a:srgbClr val="6E6E6C"/>
                </a:solidFill>
                <a:latin typeface="Roboto" pitchFamily="34" charset="0"/>
                <a:ea typeface="Roboto" pitchFamily="34" charset="-122"/>
                <a:cs typeface="Roboto" pitchFamily="34" charset="-120"/>
              </a:rPr>
              <a:t>QUÉ SIGNIFICA MEDIR</a:t>
            </a:r>
            <a:endParaRPr lang="es-ES_tradnl" sz="1200" noProof="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s-ES_tradnl" sz="2800" b="1" i="0" kern="0" spc="-50" noProof="0" dirty="0">
                <a:solidFill>
                  <a:srgbClr val="1D1D1B"/>
                </a:solidFill>
                <a:latin typeface="DM Sans" pitchFamily="34" charset="0"/>
                <a:ea typeface="DM Sans" pitchFamily="34" charset="-122"/>
                <a:cs typeface="DM Sans" pitchFamily="34" charset="-120"/>
              </a:rPr>
              <a:t>Mezcla no es superposición</a:t>
            </a:r>
            <a:endParaRPr lang="es-ES_tradnl" sz="2800" noProof="0" dirty="0"/>
          </a:p>
        </p:txBody>
      </p:sp>
      <p:sp>
        <p:nvSpPr>
          <p:cNvPr id="8" name="Text 5"/>
          <p:cNvSpPr/>
          <p:nvPr/>
        </p:nvSpPr>
        <p:spPr>
          <a:xfrm>
            <a:off x="812800" y="1315641"/>
            <a:ext cx="3403104" cy="322560"/>
          </a:xfrm>
          <a:prstGeom prst="rect">
            <a:avLst/>
          </a:prstGeom>
          <a:noFill/>
          <a:ln/>
        </p:spPr>
        <p:txBody>
          <a:bodyPr wrap="none" lIns="0" tIns="0" rIns="0" bIns="0" rtlCol="0" anchor="t">
            <a:normAutofit/>
          </a:bodyPr>
          <a:lstStyle/>
          <a:p>
            <a:pPr marL="0" indent="0" algn="l">
              <a:lnSpc>
                <a:spcPts val="2340"/>
              </a:lnSpc>
              <a:buNone/>
            </a:pPr>
            <a:r>
              <a:rPr lang="es-ES_tradnl" sz="1800" noProof="0" dirty="0">
                <a:solidFill>
                  <a:srgbClr val="3C3C3B"/>
                </a:solidFill>
                <a:latin typeface="Roboto" pitchFamily="34" charset="0"/>
                <a:ea typeface="Roboto" pitchFamily="34" charset="-122"/>
                <a:cs typeface="Roboto" pitchFamily="34" charset="-120"/>
              </a:rPr>
              <a:t>Ejemplo con dos personas: </a:t>
            </a:r>
            <a:r>
              <a:rPr lang="es-ES_tradnl" sz="1800" noProof="0" dirty="0">
                <a:solidFill>
                  <a:srgbClr val="293470"/>
                </a:solidFill>
                <a:latin typeface="Roboto" pitchFamily="34" charset="0"/>
                <a:ea typeface="Roboto" pitchFamily="34" charset="-122"/>
                <a:cs typeface="Roboto" pitchFamily="34" charset="-120"/>
              </a:rPr>
              <a:t>car</a:t>
            </a:r>
            <a:r>
              <a:rPr lang="es-ES_tradnl" sz="1800" noProof="0" dirty="0">
                <a:solidFill>
                  <a:srgbClr val="3C3C3B"/>
                </a:solidFill>
                <a:latin typeface="Roboto" pitchFamily="34" charset="0"/>
                <a:ea typeface="Roboto" pitchFamily="34" charset="-122"/>
                <a:cs typeface="Roboto" pitchFamily="34" charset="-120"/>
              </a:rPr>
              <a:t> =</a:t>
            </a:r>
            <a:endParaRPr lang="es-ES_tradnl" sz="1800" noProof="0" dirty="0"/>
          </a:p>
        </p:txBody>
      </p:sp>
      <p:pic>
        <p:nvPicPr>
          <p:cNvPr id="9" name="Image 1" descr="|+⟩"/>
          <p:cNvPicPr>
            <a:picLocks noChangeAspect="1"/>
          </p:cNvPicPr>
          <p:nvPr/>
        </p:nvPicPr>
        <p:blipFill>
          <a:blip r:embed="rId4"/>
          <a:srcRect t="-89" b="-89"/>
          <a:stretch/>
        </p:blipFill>
        <p:spPr>
          <a:xfrm>
            <a:off x="4192984" y="1305520"/>
            <a:ext cx="431800" cy="317500"/>
          </a:xfrm>
          <a:prstGeom prst="rect">
            <a:avLst/>
          </a:prstGeom>
        </p:spPr>
      </p:pic>
      <p:sp>
        <p:nvSpPr>
          <p:cNvPr id="10" name="Text 6"/>
          <p:cNvSpPr/>
          <p:nvPr/>
        </p:nvSpPr>
        <p:spPr>
          <a:xfrm>
            <a:off x="4700984" y="1315641"/>
            <a:ext cx="1465461" cy="322560"/>
          </a:xfrm>
          <a:prstGeom prst="rect">
            <a:avLst/>
          </a:prstGeom>
          <a:noFill/>
          <a:ln/>
        </p:spPr>
        <p:txBody>
          <a:bodyPr wrap="none" lIns="0" tIns="0" rIns="0" bIns="0" rtlCol="0" anchor="t">
            <a:normAutofit/>
          </a:bodyPr>
          <a:lstStyle/>
          <a:p>
            <a:pPr marL="0" indent="0" algn="l">
              <a:lnSpc>
                <a:spcPts val="2340"/>
              </a:lnSpc>
              <a:buNone/>
            </a:pPr>
            <a:r>
              <a:rPr lang="es-ES_tradnl" sz="1800" noProof="0" dirty="0">
                <a:solidFill>
                  <a:srgbClr val="3C3C3B"/>
                </a:solidFill>
                <a:latin typeface="Roboto" pitchFamily="34" charset="0"/>
                <a:ea typeface="Roboto" pitchFamily="34" charset="-122"/>
                <a:cs typeface="Roboto" pitchFamily="34" charset="-120"/>
              </a:rPr>
              <a:t>y </a:t>
            </a:r>
            <a:r>
              <a:rPr lang="es-ES_tradnl" sz="1800" noProof="0" dirty="0">
                <a:solidFill>
                  <a:srgbClr val="293470"/>
                </a:solidFill>
                <a:latin typeface="Roboto" pitchFamily="34" charset="0"/>
                <a:ea typeface="Roboto" pitchFamily="34" charset="-122"/>
                <a:cs typeface="Roboto" pitchFamily="34" charset="-120"/>
              </a:rPr>
              <a:t>real estate</a:t>
            </a:r>
            <a:r>
              <a:rPr lang="es-ES_tradnl" sz="1800" noProof="0" dirty="0">
                <a:solidFill>
                  <a:srgbClr val="3C3C3B"/>
                </a:solidFill>
                <a:latin typeface="Roboto" pitchFamily="34" charset="0"/>
                <a:ea typeface="Roboto" pitchFamily="34" charset="-122"/>
                <a:cs typeface="Roboto" pitchFamily="34" charset="-120"/>
              </a:rPr>
              <a:t> =</a:t>
            </a:r>
            <a:endParaRPr lang="es-ES_tradnl" sz="1800" noProof="0" dirty="0"/>
          </a:p>
        </p:txBody>
      </p:sp>
      <p:pic>
        <p:nvPicPr>
          <p:cNvPr id="11" name="Image 2" descr="|−⟩"/>
          <p:cNvPicPr>
            <a:picLocks noChangeAspect="1"/>
          </p:cNvPicPr>
          <p:nvPr/>
        </p:nvPicPr>
        <p:blipFill>
          <a:blip r:embed="rId5"/>
          <a:srcRect t="-89" b="-89"/>
          <a:stretch/>
        </p:blipFill>
        <p:spPr>
          <a:xfrm>
            <a:off x="6191845" y="1305520"/>
            <a:ext cx="431800" cy="317500"/>
          </a:xfrm>
          <a:prstGeom prst="rect">
            <a:avLst/>
          </a:prstGeom>
        </p:spPr>
      </p:pic>
      <p:sp>
        <p:nvSpPr>
          <p:cNvPr id="12" name="Shape 7"/>
          <p:cNvSpPr/>
          <p:nvPr/>
        </p:nvSpPr>
        <p:spPr>
          <a:xfrm>
            <a:off x="812800" y="1877020"/>
            <a:ext cx="5181600" cy="3371453"/>
          </a:xfrm>
          <a:prstGeom prst="roundRect">
            <a:avLst>
              <a:gd name="adj" fmla="val 3014"/>
            </a:avLst>
          </a:prstGeom>
          <a:solidFill>
            <a:srgbClr val="F4F4F2"/>
          </a:solidFill>
          <a:ln/>
        </p:spPr>
        <p:txBody>
          <a:bodyPr/>
          <a:lstStyle/>
          <a:p>
            <a:endParaRPr lang="es-ES_tradnl" noProof="0" dirty="0"/>
          </a:p>
        </p:txBody>
      </p:sp>
      <p:sp>
        <p:nvSpPr>
          <p:cNvPr id="13" name="Text 8"/>
          <p:cNvSpPr/>
          <p:nvPr/>
        </p:nvSpPr>
        <p:spPr>
          <a:xfrm>
            <a:off x="1066800" y="2105620"/>
            <a:ext cx="4813808" cy="238720"/>
          </a:xfrm>
          <a:prstGeom prst="rect">
            <a:avLst/>
          </a:prstGeom>
          <a:noFill/>
          <a:ln/>
        </p:spPr>
        <p:txBody>
          <a:bodyPr wrap="square" lIns="0" tIns="0" rIns="0" bIns="0" rtlCol="0" anchor="t">
            <a:normAutofit/>
          </a:bodyPr>
          <a:lstStyle/>
          <a:p>
            <a:pPr marL="0" indent="0" algn="l">
              <a:lnSpc>
                <a:spcPts val="1680"/>
              </a:lnSpc>
              <a:buNone/>
            </a:pPr>
            <a:r>
              <a:rPr lang="es-ES_tradnl" sz="1200" kern="0" spc="100" noProof="0" dirty="0">
                <a:solidFill>
                  <a:srgbClr val="6E6E6C"/>
                </a:solidFill>
                <a:latin typeface="Roboto" pitchFamily="34" charset="0"/>
                <a:ea typeface="Roboto" pitchFamily="34" charset="-122"/>
                <a:cs typeface="Roboto" pitchFamily="34" charset="-120"/>
              </a:rPr>
              <a:t>LO QUE HACE LA AGREGACIÓN</a:t>
            </a:r>
            <a:endParaRPr lang="es-ES_tradnl" sz="1200" noProof="0" dirty="0"/>
          </a:p>
        </p:txBody>
      </p:sp>
      <p:sp>
        <p:nvSpPr>
          <p:cNvPr id="14" name="Text 9"/>
          <p:cNvSpPr/>
          <p:nvPr/>
        </p:nvSpPr>
        <p:spPr>
          <a:xfrm>
            <a:off x="1066800" y="2357041"/>
            <a:ext cx="4813808" cy="299641"/>
          </a:xfrm>
          <a:prstGeom prst="rect">
            <a:avLst/>
          </a:prstGeom>
          <a:noFill/>
          <a:ln/>
        </p:spPr>
        <p:txBody>
          <a:bodyPr wrap="square" lIns="0" tIns="0" rIns="0" bIns="0" rtlCol="0" anchor="t">
            <a:normAutofit/>
          </a:bodyPr>
          <a:lstStyle/>
          <a:p>
            <a:pPr marL="0" indent="0" algn="l">
              <a:lnSpc>
                <a:spcPts val="2160"/>
              </a:lnSpc>
              <a:buNone/>
            </a:pPr>
            <a:r>
              <a:rPr lang="es-ES_tradnl" sz="1800" b="1" noProof="0" dirty="0">
                <a:solidFill>
                  <a:srgbClr val="1D1D1B"/>
                </a:solidFill>
                <a:latin typeface="DM Sans" pitchFamily="34" charset="0"/>
                <a:ea typeface="DM Sans" pitchFamily="34" charset="-122"/>
                <a:cs typeface="DM Sans" pitchFamily="34" charset="-120"/>
              </a:rPr>
              <a:t>Mezcla: suma de matrices</a:t>
            </a:r>
            <a:endParaRPr lang="es-ES_tradnl" sz="1800" noProof="0" dirty="0"/>
          </a:p>
        </p:txBody>
      </p:sp>
      <p:pic>
        <p:nvPicPr>
          <p:cNvPr id="15" name="Image 3" descr="½|+⟩⟨+| + ½|−⟩⟨−| = I/2"/>
          <p:cNvPicPr>
            <a:picLocks noChangeAspect="1"/>
          </p:cNvPicPr>
          <p:nvPr/>
        </p:nvPicPr>
        <p:blipFill>
          <a:blip r:embed="rId6"/>
          <a:srcRect t="-131" b="-131"/>
          <a:stretch/>
        </p:blipFill>
        <p:spPr>
          <a:xfrm>
            <a:off x="1066800" y="2834481"/>
            <a:ext cx="3060700" cy="641350"/>
          </a:xfrm>
          <a:prstGeom prst="rect">
            <a:avLst/>
          </a:prstGeom>
        </p:spPr>
      </p:pic>
      <p:sp>
        <p:nvSpPr>
          <p:cNvPr id="16" name="Text 10"/>
          <p:cNvSpPr/>
          <p:nvPr/>
        </p:nvSpPr>
        <p:spPr>
          <a:xfrm>
            <a:off x="1066800" y="3679031"/>
            <a:ext cx="4813808" cy="238720"/>
          </a:xfrm>
          <a:prstGeom prst="rect">
            <a:avLst/>
          </a:prstGeom>
          <a:noFill/>
          <a:ln/>
        </p:spPr>
        <p:txBody>
          <a:bodyPr wrap="square" lIns="0" tIns="0" rIns="0" bIns="0" rtlCol="0" anchor="t">
            <a:normAutofit/>
          </a:bodyPr>
          <a:lstStyle/>
          <a:p>
            <a:pPr marL="0" indent="0" algn="l">
              <a:lnSpc>
                <a:spcPts val="1680"/>
              </a:lnSpc>
              <a:buNone/>
            </a:pPr>
            <a:r>
              <a:rPr lang="es-ES_tradnl" sz="1200" b="1" noProof="0" dirty="0">
                <a:solidFill>
                  <a:srgbClr val="1D1D1B"/>
                </a:solidFill>
                <a:latin typeface="Roboto" pitchFamily="34" charset="0"/>
                <a:ea typeface="Roboto" pitchFamily="34" charset="-122"/>
                <a:cs typeface="Roboto" pitchFamily="34" charset="-120"/>
              </a:rPr>
              <a:t>Medida en Z</a:t>
            </a:r>
            <a:endParaRPr lang="es-ES_tradnl" sz="1200" noProof="0" dirty="0"/>
          </a:p>
        </p:txBody>
      </p:sp>
      <p:sp>
        <p:nvSpPr>
          <p:cNvPr id="17" name="Text 11"/>
          <p:cNvSpPr/>
          <p:nvPr/>
        </p:nvSpPr>
        <p:spPr>
          <a:xfrm>
            <a:off x="1066800" y="4019352"/>
            <a:ext cx="508000" cy="274241"/>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P(0)</a:t>
            </a:r>
            <a:endParaRPr lang="es-ES_tradnl" sz="1400" noProof="0" dirty="0"/>
          </a:p>
        </p:txBody>
      </p:sp>
      <p:sp>
        <p:nvSpPr>
          <p:cNvPr id="18" name="Shape 12"/>
          <p:cNvSpPr/>
          <p:nvPr/>
        </p:nvSpPr>
        <p:spPr>
          <a:xfrm>
            <a:off x="1625600" y="4029472"/>
            <a:ext cx="3048000" cy="228600"/>
          </a:xfrm>
          <a:prstGeom prst="rect">
            <a:avLst/>
          </a:prstGeom>
          <a:solidFill>
            <a:srgbClr val="FFFFFF"/>
          </a:solidFill>
          <a:ln/>
        </p:spPr>
        <p:txBody>
          <a:bodyPr/>
          <a:lstStyle/>
          <a:p>
            <a:endParaRPr lang="es-ES_tradnl" noProof="0" dirty="0"/>
          </a:p>
        </p:txBody>
      </p:sp>
      <p:sp>
        <p:nvSpPr>
          <p:cNvPr id="19" name="Shape 13"/>
          <p:cNvSpPr/>
          <p:nvPr/>
        </p:nvSpPr>
        <p:spPr>
          <a:xfrm>
            <a:off x="1625600" y="4029472"/>
            <a:ext cx="1524000" cy="228600"/>
          </a:xfrm>
          <a:prstGeom prst="rect">
            <a:avLst/>
          </a:prstGeom>
          <a:solidFill>
            <a:srgbClr val="293470"/>
          </a:solidFill>
          <a:ln/>
        </p:spPr>
        <p:txBody>
          <a:bodyPr/>
          <a:lstStyle/>
          <a:p>
            <a:endParaRPr lang="es-ES_tradnl" noProof="0" dirty="0"/>
          </a:p>
        </p:txBody>
      </p:sp>
      <p:sp>
        <p:nvSpPr>
          <p:cNvPr id="20" name="Text 14"/>
          <p:cNvSpPr/>
          <p:nvPr/>
        </p:nvSpPr>
        <p:spPr>
          <a:xfrm>
            <a:off x="4775200" y="4019352"/>
            <a:ext cx="306824" cy="274241"/>
          </a:xfrm>
          <a:prstGeom prst="rect">
            <a:avLst/>
          </a:prstGeom>
          <a:noFill/>
          <a:ln/>
        </p:spPr>
        <p:txBody>
          <a:bodyPr wrap="square" lIns="0" tIns="0" rIns="0" bIns="0" rtlCol="0" anchor="t">
            <a:normAutofit/>
          </a:bodyPr>
          <a:lstStyle/>
          <a:p>
            <a:pPr marL="0" indent="0" algn="l">
              <a:lnSpc>
                <a:spcPts val="1960"/>
              </a:lnSpc>
              <a:buNone/>
            </a:pPr>
            <a:r>
              <a:rPr lang="es-ES_tradnl" sz="1400" b="1" noProof="0" dirty="0">
                <a:solidFill>
                  <a:srgbClr val="293470"/>
                </a:solidFill>
                <a:latin typeface="Roboto" pitchFamily="34" charset="0"/>
                <a:ea typeface="Roboto" pitchFamily="34" charset="-122"/>
                <a:cs typeface="Roboto" pitchFamily="34" charset="-120"/>
              </a:rPr>
              <a:t>0.5</a:t>
            </a:r>
            <a:endParaRPr lang="es-ES_tradnl" sz="1400" noProof="0" dirty="0"/>
          </a:p>
        </p:txBody>
      </p:sp>
      <p:sp>
        <p:nvSpPr>
          <p:cNvPr id="21" name="Text 15"/>
          <p:cNvSpPr/>
          <p:nvPr/>
        </p:nvSpPr>
        <p:spPr>
          <a:xfrm>
            <a:off x="1066800" y="4395192"/>
            <a:ext cx="508000" cy="274241"/>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P(1)</a:t>
            </a:r>
            <a:endParaRPr lang="es-ES_tradnl" sz="1400" noProof="0" dirty="0"/>
          </a:p>
        </p:txBody>
      </p:sp>
      <p:sp>
        <p:nvSpPr>
          <p:cNvPr id="22" name="Shape 16"/>
          <p:cNvSpPr/>
          <p:nvPr/>
        </p:nvSpPr>
        <p:spPr>
          <a:xfrm>
            <a:off x="1625600" y="4405313"/>
            <a:ext cx="3048000" cy="228600"/>
          </a:xfrm>
          <a:prstGeom prst="rect">
            <a:avLst/>
          </a:prstGeom>
          <a:solidFill>
            <a:srgbClr val="FFFFFF"/>
          </a:solidFill>
          <a:ln/>
        </p:spPr>
        <p:txBody>
          <a:bodyPr/>
          <a:lstStyle/>
          <a:p>
            <a:endParaRPr lang="es-ES_tradnl" noProof="0" dirty="0"/>
          </a:p>
        </p:txBody>
      </p:sp>
      <p:sp>
        <p:nvSpPr>
          <p:cNvPr id="23" name="Shape 17"/>
          <p:cNvSpPr/>
          <p:nvPr/>
        </p:nvSpPr>
        <p:spPr>
          <a:xfrm>
            <a:off x="1625600" y="4405313"/>
            <a:ext cx="1524000" cy="228600"/>
          </a:xfrm>
          <a:prstGeom prst="rect">
            <a:avLst/>
          </a:prstGeom>
          <a:solidFill>
            <a:srgbClr val="293470"/>
          </a:solidFill>
          <a:ln/>
        </p:spPr>
        <p:txBody>
          <a:bodyPr/>
          <a:lstStyle/>
          <a:p>
            <a:endParaRPr lang="es-ES_tradnl" noProof="0" dirty="0"/>
          </a:p>
        </p:txBody>
      </p:sp>
      <p:sp>
        <p:nvSpPr>
          <p:cNvPr id="24" name="Text 18"/>
          <p:cNvSpPr/>
          <p:nvPr/>
        </p:nvSpPr>
        <p:spPr>
          <a:xfrm>
            <a:off x="4775200" y="4395192"/>
            <a:ext cx="306824" cy="274241"/>
          </a:xfrm>
          <a:prstGeom prst="rect">
            <a:avLst/>
          </a:prstGeom>
          <a:noFill/>
          <a:ln/>
        </p:spPr>
        <p:txBody>
          <a:bodyPr wrap="square" lIns="0" tIns="0" rIns="0" bIns="0" rtlCol="0" anchor="t">
            <a:normAutofit/>
          </a:bodyPr>
          <a:lstStyle/>
          <a:p>
            <a:pPr marL="0" indent="0" algn="l">
              <a:lnSpc>
                <a:spcPts val="1960"/>
              </a:lnSpc>
              <a:buNone/>
            </a:pPr>
            <a:r>
              <a:rPr lang="es-ES_tradnl" sz="1400" b="1" noProof="0" dirty="0">
                <a:solidFill>
                  <a:srgbClr val="293470"/>
                </a:solidFill>
                <a:latin typeface="Roboto" pitchFamily="34" charset="0"/>
                <a:ea typeface="Roboto" pitchFamily="34" charset="-122"/>
                <a:cs typeface="Roboto" pitchFamily="34" charset="-120"/>
              </a:rPr>
              <a:t>0.5</a:t>
            </a:r>
            <a:endParaRPr lang="es-ES_tradnl" sz="1400" noProof="0" dirty="0"/>
          </a:p>
        </p:txBody>
      </p:sp>
      <p:sp>
        <p:nvSpPr>
          <p:cNvPr id="25" name="Text 19"/>
          <p:cNvSpPr/>
          <p:nvPr/>
        </p:nvSpPr>
        <p:spPr>
          <a:xfrm>
            <a:off x="1066800" y="4771033"/>
            <a:ext cx="4813808" cy="274241"/>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50 / 50: igual que sortear entre las dos personas.</a:t>
            </a:r>
            <a:endParaRPr lang="es-ES_tradnl" sz="1400" noProof="0" dirty="0"/>
          </a:p>
        </p:txBody>
      </p:sp>
      <p:sp>
        <p:nvSpPr>
          <p:cNvPr id="26" name="Shape 20"/>
          <p:cNvSpPr/>
          <p:nvPr/>
        </p:nvSpPr>
        <p:spPr>
          <a:xfrm>
            <a:off x="6197600" y="1877020"/>
            <a:ext cx="5181600" cy="3371453"/>
          </a:xfrm>
          <a:prstGeom prst="roundRect">
            <a:avLst>
              <a:gd name="adj" fmla="val 3014"/>
            </a:avLst>
          </a:prstGeom>
          <a:solidFill>
            <a:srgbClr val="F4F4F2"/>
          </a:solidFill>
          <a:ln/>
        </p:spPr>
        <p:txBody>
          <a:bodyPr/>
          <a:lstStyle/>
          <a:p>
            <a:endParaRPr lang="es-ES_tradnl" noProof="0" dirty="0"/>
          </a:p>
        </p:txBody>
      </p:sp>
      <p:sp>
        <p:nvSpPr>
          <p:cNvPr id="27" name="Text 21"/>
          <p:cNvSpPr/>
          <p:nvPr/>
        </p:nvSpPr>
        <p:spPr>
          <a:xfrm>
            <a:off x="6451600" y="2105620"/>
            <a:ext cx="4813808" cy="238720"/>
          </a:xfrm>
          <a:prstGeom prst="rect">
            <a:avLst/>
          </a:prstGeom>
          <a:noFill/>
          <a:ln/>
        </p:spPr>
        <p:txBody>
          <a:bodyPr wrap="square" lIns="0" tIns="0" rIns="0" bIns="0" rtlCol="0" anchor="t">
            <a:normAutofit/>
          </a:bodyPr>
          <a:lstStyle/>
          <a:p>
            <a:pPr marL="0" indent="0" algn="l">
              <a:lnSpc>
                <a:spcPts val="1680"/>
              </a:lnSpc>
              <a:buNone/>
            </a:pPr>
            <a:r>
              <a:rPr lang="es-ES_tradnl" sz="1200" kern="0" spc="100" noProof="0" dirty="0">
                <a:solidFill>
                  <a:srgbClr val="6E6E6C"/>
                </a:solidFill>
                <a:latin typeface="Roboto" pitchFamily="34" charset="0"/>
                <a:ea typeface="Roboto" pitchFamily="34" charset="-122"/>
                <a:cs typeface="Roboto" pitchFamily="34" charset="-120"/>
              </a:rPr>
              <a:t>OTRO ESTADO</a:t>
            </a:r>
            <a:endParaRPr lang="es-ES_tradnl" sz="1200" noProof="0" dirty="0"/>
          </a:p>
        </p:txBody>
      </p:sp>
      <p:sp>
        <p:nvSpPr>
          <p:cNvPr id="28" name="Text 22"/>
          <p:cNvSpPr/>
          <p:nvPr/>
        </p:nvSpPr>
        <p:spPr>
          <a:xfrm>
            <a:off x="6451600" y="2357041"/>
            <a:ext cx="4813808" cy="299641"/>
          </a:xfrm>
          <a:prstGeom prst="rect">
            <a:avLst/>
          </a:prstGeom>
          <a:noFill/>
          <a:ln/>
        </p:spPr>
        <p:txBody>
          <a:bodyPr wrap="square" lIns="0" tIns="0" rIns="0" bIns="0" rtlCol="0" anchor="t">
            <a:normAutofit/>
          </a:bodyPr>
          <a:lstStyle/>
          <a:p>
            <a:pPr marL="0" indent="0" algn="l">
              <a:lnSpc>
                <a:spcPts val="2160"/>
              </a:lnSpc>
              <a:buNone/>
            </a:pPr>
            <a:r>
              <a:rPr lang="es-ES_tradnl" sz="1800" b="1" noProof="0" dirty="0">
                <a:solidFill>
                  <a:srgbClr val="1D1D1B"/>
                </a:solidFill>
                <a:latin typeface="DM Sans" pitchFamily="34" charset="0"/>
                <a:ea typeface="DM Sans" pitchFamily="34" charset="-122"/>
                <a:cs typeface="DM Sans" pitchFamily="34" charset="-120"/>
              </a:rPr>
              <a:t>Superposición: suma de vectores</a:t>
            </a:r>
            <a:endParaRPr lang="es-ES_tradnl" sz="1800" noProof="0" dirty="0"/>
          </a:p>
        </p:txBody>
      </p:sp>
      <p:pic>
        <p:nvPicPr>
          <p:cNvPr id="29" name="Image 4" descr="(|+⟩ + |−⟩)/√2 = |0⟩"/>
          <p:cNvPicPr>
            <a:picLocks noChangeAspect="1"/>
          </p:cNvPicPr>
          <p:nvPr/>
        </p:nvPicPr>
        <p:blipFill>
          <a:blip r:embed="rId7"/>
          <a:srcRect l="-93" r="-93"/>
          <a:stretch/>
        </p:blipFill>
        <p:spPr>
          <a:xfrm>
            <a:off x="6451600" y="2793206"/>
            <a:ext cx="1981200" cy="723900"/>
          </a:xfrm>
          <a:prstGeom prst="rect">
            <a:avLst/>
          </a:prstGeom>
        </p:spPr>
      </p:pic>
      <p:sp>
        <p:nvSpPr>
          <p:cNvPr id="30" name="Text 23"/>
          <p:cNvSpPr/>
          <p:nvPr/>
        </p:nvSpPr>
        <p:spPr>
          <a:xfrm>
            <a:off x="6451600" y="3679031"/>
            <a:ext cx="4813808" cy="238720"/>
          </a:xfrm>
          <a:prstGeom prst="rect">
            <a:avLst/>
          </a:prstGeom>
          <a:noFill/>
          <a:ln/>
        </p:spPr>
        <p:txBody>
          <a:bodyPr wrap="square" lIns="0" tIns="0" rIns="0" bIns="0" rtlCol="0" anchor="t">
            <a:normAutofit/>
          </a:bodyPr>
          <a:lstStyle/>
          <a:p>
            <a:pPr marL="0" indent="0" algn="l">
              <a:lnSpc>
                <a:spcPts val="1680"/>
              </a:lnSpc>
              <a:buNone/>
            </a:pPr>
            <a:r>
              <a:rPr lang="es-ES_tradnl" sz="1200" b="1" noProof="0" dirty="0">
                <a:solidFill>
                  <a:srgbClr val="1D1D1B"/>
                </a:solidFill>
                <a:latin typeface="Roboto" pitchFamily="34" charset="0"/>
                <a:ea typeface="Roboto" pitchFamily="34" charset="-122"/>
                <a:cs typeface="Roboto" pitchFamily="34" charset="-120"/>
              </a:rPr>
              <a:t>Medida en Z</a:t>
            </a:r>
            <a:endParaRPr lang="es-ES_tradnl" sz="1200" noProof="0" dirty="0"/>
          </a:p>
        </p:txBody>
      </p:sp>
      <p:sp>
        <p:nvSpPr>
          <p:cNvPr id="31" name="Text 24"/>
          <p:cNvSpPr/>
          <p:nvPr/>
        </p:nvSpPr>
        <p:spPr>
          <a:xfrm>
            <a:off x="6451600" y="4019352"/>
            <a:ext cx="508000" cy="274241"/>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P(0)</a:t>
            </a:r>
            <a:endParaRPr lang="es-ES_tradnl" sz="1400" noProof="0" dirty="0"/>
          </a:p>
        </p:txBody>
      </p:sp>
      <p:sp>
        <p:nvSpPr>
          <p:cNvPr id="32" name="Shape 25"/>
          <p:cNvSpPr/>
          <p:nvPr/>
        </p:nvSpPr>
        <p:spPr>
          <a:xfrm>
            <a:off x="7010400" y="4029472"/>
            <a:ext cx="3048000" cy="228600"/>
          </a:xfrm>
          <a:prstGeom prst="rect">
            <a:avLst/>
          </a:prstGeom>
          <a:solidFill>
            <a:srgbClr val="FFFFFF"/>
          </a:solidFill>
          <a:ln/>
        </p:spPr>
        <p:txBody>
          <a:bodyPr/>
          <a:lstStyle/>
          <a:p>
            <a:endParaRPr lang="es-ES_tradnl" noProof="0" dirty="0"/>
          </a:p>
        </p:txBody>
      </p:sp>
      <p:sp>
        <p:nvSpPr>
          <p:cNvPr id="33" name="Shape 26"/>
          <p:cNvSpPr/>
          <p:nvPr/>
        </p:nvSpPr>
        <p:spPr>
          <a:xfrm>
            <a:off x="7010400" y="4029472"/>
            <a:ext cx="3048000" cy="228600"/>
          </a:xfrm>
          <a:prstGeom prst="rect">
            <a:avLst/>
          </a:prstGeom>
          <a:solidFill>
            <a:srgbClr val="293470"/>
          </a:solidFill>
          <a:ln/>
        </p:spPr>
        <p:txBody>
          <a:bodyPr/>
          <a:lstStyle/>
          <a:p>
            <a:endParaRPr lang="es-ES_tradnl" noProof="0" dirty="0"/>
          </a:p>
        </p:txBody>
      </p:sp>
      <p:sp>
        <p:nvSpPr>
          <p:cNvPr id="34" name="Text 27"/>
          <p:cNvSpPr/>
          <p:nvPr/>
        </p:nvSpPr>
        <p:spPr>
          <a:xfrm>
            <a:off x="10160000" y="4019352"/>
            <a:ext cx="152896" cy="274241"/>
          </a:xfrm>
          <a:prstGeom prst="rect">
            <a:avLst/>
          </a:prstGeom>
          <a:noFill/>
          <a:ln/>
        </p:spPr>
        <p:txBody>
          <a:bodyPr wrap="square" lIns="0" tIns="0" rIns="0" bIns="0" rtlCol="0" anchor="t">
            <a:normAutofit/>
          </a:bodyPr>
          <a:lstStyle/>
          <a:p>
            <a:pPr marL="0" indent="0" algn="l">
              <a:lnSpc>
                <a:spcPts val="1960"/>
              </a:lnSpc>
              <a:buNone/>
            </a:pPr>
            <a:r>
              <a:rPr lang="es-ES_tradnl" sz="1400" b="1" noProof="0" dirty="0">
                <a:solidFill>
                  <a:srgbClr val="293470"/>
                </a:solidFill>
                <a:latin typeface="Roboto" pitchFamily="34" charset="0"/>
                <a:ea typeface="Roboto" pitchFamily="34" charset="-122"/>
                <a:cs typeface="Roboto" pitchFamily="34" charset="-120"/>
              </a:rPr>
              <a:t>1</a:t>
            </a:r>
            <a:endParaRPr lang="es-ES_tradnl" sz="1400" noProof="0" dirty="0"/>
          </a:p>
        </p:txBody>
      </p:sp>
      <p:sp>
        <p:nvSpPr>
          <p:cNvPr id="35" name="Text 28"/>
          <p:cNvSpPr/>
          <p:nvPr/>
        </p:nvSpPr>
        <p:spPr>
          <a:xfrm>
            <a:off x="6451600" y="4395192"/>
            <a:ext cx="508000" cy="274241"/>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P(1)</a:t>
            </a:r>
            <a:endParaRPr lang="es-ES_tradnl" sz="1400" noProof="0" dirty="0"/>
          </a:p>
        </p:txBody>
      </p:sp>
      <p:sp>
        <p:nvSpPr>
          <p:cNvPr id="36" name="Shape 29"/>
          <p:cNvSpPr/>
          <p:nvPr/>
        </p:nvSpPr>
        <p:spPr>
          <a:xfrm>
            <a:off x="7010400" y="4405313"/>
            <a:ext cx="3048000" cy="228600"/>
          </a:xfrm>
          <a:prstGeom prst="rect">
            <a:avLst/>
          </a:prstGeom>
          <a:solidFill>
            <a:srgbClr val="FFFFFF"/>
          </a:solidFill>
          <a:ln/>
        </p:spPr>
        <p:txBody>
          <a:bodyPr/>
          <a:lstStyle/>
          <a:p>
            <a:endParaRPr lang="es-ES_tradnl" noProof="0" dirty="0"/>
          </a:p>
        </p:txBody>
      </p:sp>
      <p:sp>
        <p:nvSpPr>
          <p:cNvPr id="37" name="Text 30"/>
          <p:cNvSpPr/>
          <p:nvPr/>
        </p:nvSpPr>
        <p:spPr>
          <a:xfrm>
            <a:off x="10160000" y="4395192"/>
            <a:ext cx="152896" cy="274241"/>
          </a:xfrm>
          <a:prstGeom prst="rect">
            <a:avLst/>
          </a:prstGeom>
          <a:noFill/>
          <a:ln/>
        </p:spPr>
        <p:txBody>
          <a:bodyPr wrap="square" lIns="0" tIns="0" rIns="0" bIns="0" rtlCol="0" anchor="t">
            <a:normAutofit/>
          </a:bodyPr>
          <a:lstStyle/>
          <a:p>
            <a:pPr marL="0" indent="0" algn="l">
              <a:lnSpc>
                <a:spcPts val="1960"/>
              </a:lnSpc>
              <a:buNone/>
            </a:pPr>
            <a:r>
              <a:rPr lang="es-ES_tradnl" sz="1400" b="1" noProof="0" dirty="0">
                <a:solidFill>
                  <a:srgbClr val="293470"/>
                </a:solidFill>
                <a:latin typeface="Roboto" pitchFamily="34" charset="0"/>
                <a:ea typeface="Roboto" pitchFamily="34" charset="-122"/>
                <a:cs typeface="Roboto" pitchFamily="34" charset="-120"/>
              </a:rPr>
              <a:t>0</a:t>
            </a:r>
            <a:endParaRPr lang="es-ES_tradnl" sz="1400" noProof="0" dirty="0"/>
          </a:p>
        </p:txBody>
      </p:sp>
      <p:sp>
        <p:nvSpPr>
          <p:cNvPr id="38" name="Text 31"/>
          <p:cNvSpPr/>
          <p:nvPr/>
        </p:nvSpPr>
        <p:spPr>
          <a:xfrm>
            <a:off x="6451600" y="4771033"/>
            <a:ext cx="4813808" cy="274241"/>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Siempre «0». No es «50 % cada persona».</a:t>
            </a:r>
            <a:endParaRPr lang="es-ES_tradnl" sz="1400" noProof="0" dirty="0"/>
          </a:p>
        </p:txBody>
      </p:sp>
      <p:sp>
        <p:nvSpPr>
          <p:cNvPr id="40" name="Text 33"/>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a:solidFill>
                  <a:srgbClr val="1D1D1B"/>
                </a:solidFill>
                <a:latin typeface="Roboto" pitchFamily="34" charset="0"/>
                <a:ea typeface="Roboto" pitchFamily="34" charset="-122"/>
                <a:cs typeface="Roboto" pitchFamily="34" charset="-120"/>
              </a:rPr>
              <a:t>31</a:t>
            </a:r>
            <a:endParaRPr lang="es-ES_tradnl" sz="1200" noProof="0" dirty="0"/>
          </a:p>
        </p:txBody>
      </p:sp>
    </p:spTree>
    <p:extLst>
      <p:ext uri="{BB962C8B-B14F-4D97-AF65-F5344CB8AC3E}">
        <p14:creationId xmlns:p14="http://schemas.microsoft.com/office/powerpoint/2010/main" val="363996194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s-ES_tradnl" noProof="0" dirty="0"/>
          </a:p>
        </p:txBody>
      </p:sp>
      <p:sp>
        <p:nvSpPr>
          <p:cNvPr id="3" name="Shape 1"/>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dirty="0">
                <a:solidFill>
                  <a:srgbClr val="1D1D1B"/>
                </a:solidFill>
                <a:latin typeface="DM Sans" pitchFamily="34" charset="0"/>
                <a:ea typeface="DM Sans" pitchFamily="34" charset="-122"/>
                <a:cs typeface="DM Sans" pitchFamily="34" charset="-120"/>
              </a:rPr>
              <a:t>III</a:t>
            </a:r>
            <a:endParaRPr lang="es-ES_tradnl" sz="1200" noProof="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dirty="0">
                <a:solidFill>
                  <a:srgbClr val="6E6E6C"/>
                </a:solidFill>
                <a:latin typeface="Roboto" pitchFamily="34" charset="0"/>
                <a:ea typeface="Roboto" pitchFamily="34" charset="-122"/>
                <a:cs typeface="Roboto" pitchFamily="34" charset="-120"/>
              </a:rPr>
              <a:t>QUÉ SIGNIFICA MEDIR</a:t>
            </a:r>
            <a:endParaRPr lang="es-ES_tradnl" sz="1200" noProof="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s-ES_tradnl" sz="2800" b="1" i="0" kern="0" spc="-50" noProof="0" dirty="0">
                <a:solidFill>
                  <a:srgbClr val="1D1D1B"/>
                </a:solidFill>
                <a:latin typeface="DM Sans" pitchFamily="34" charset="0"/>
                <a:ea typeface="DM Sans" pitchFamily="34" charset="-122"/>
                <a:cs typeface="DM Sans" pitchFamily="34" charset="-120"/>
              </a:rPr>
              <a:t>Por qué alcanza con simular 1 </a:t>
            </a:r>
            <a:r>
              <a:rPr lang="es-ES_tradnl" sz="2800" b="1" i="0" kern="0" spc="-50" noProof="0" dirty="0" err="1">
                <a:solidFill>
                  <a:srgbClr val="1D1D1B"/>
                </a:solidFill>
                <a:latin typeface="DM Sans" pitchFamily="34" charset="0"/>
                <a:ea typeface="DM Sans" pitchFamily="34" charset="-122"/>
                <a:cs typeface="DM Sans" pitchFamily="34" charset="-120"/>
              </a:rPr>
              <a:t>qubit</a:t>
            </a:r>
            <a:endParaRPr lang="es-ES_tradnl" sz="2800" noProof="0" dirty="0"/>
          </a:p>
        </p:txBody>
      </p:sp>
      <p:sp>
        <p:nvSpPr>
          <p:cNvPr id="8" name="Text 5"/>
          <p:cNvSpPr/>
          <p:nvPr/>
        </p:nvSpPr>
        <p:spPr>
          <a:xfrm>
            <a:off x="812800" y="1305520"/>
            <a:ext cx="10883392" cy="322560"/>
          </a:xfrm>
          <a:prstGeom prst="rect">
            <a:avLst/>
          </a:prstGeom>
          <a:noFill/>
          <a:ln/>
        </p:spPr>
        <p:txBody>
          <a:bodyPr wrap="square" lIns="0" tIns="0" rIns="0" bIns="0" rtlCol="0" anchor="t">
            <a:normAutofit/>
          </a:bodyPr>
          <a:lstStyle/>
          <a:p>
            <a:pPr marL="0" indent="0" algn="l">
              <a:lnSpc>
                <a:spcPts val="2340"/>
              </a:lnSpc>
              <a:buNone/>
            </a:pPr>
            <a:r>
              <a:rPr lang="es-ES_tradnl" sz="1800" noProof="0" dirty="0">
                <a:solidFill>
                  <a:srgbClr val="3C3C3B"/>
                </a:solidFill>
                <a:latin typeface="Roboto" pitchFamily="34" charset="0"/>
                <a:ea typeface="Roboto" pitchFamily="34" charset="-122"/>
                <a:cs typeface="Roboto" pitchFamily="34" charset="-120"/>
              </a:rPr>
              <a:t>Solo se mide y publica el </a:t>
            </a:r>
            <a:r>
              <a:rPr lang="es-ES_tradnl" sz="1800" noProof="0" dirty="0" err="1">
                <a:solidFill>
                  <a:srgbClr val="3C3C3B"/>
                </a:solidFill>
                <a:latin typeface="Roboto" pitchFamily="34" charset="0"/>
                <a:ea typeface="Roboto" pitchFamily="34" charset="-122"/>
                <a:cs typeface="Roboto" pitchFamily="34" charset="-120"/>
              </a:rPr>
              <a:t>qubit</a:t>
            </a:r>
            <a:r>
              <a:rPr lang="es-ES_tradnl" sz="1800" noProof="0" dirty="0">
                <a:solidFill>
                  <a:srgbClr val="3C3C3B"/>
                </a:solidFill>
                <a:latin typeface="Roboto" pitchFamily="34" charset="0"/>
                <a:ea typeface="Roboto" pitchFamily="34" charset="-122"/>
                <a:cs typeface="Roboto" pitchFamily="34" charset="-120"/>
              </a:rPr>
              <a:t> de </a:t>
            </a:r>
            <a:r>
              <a:rPr lang="es-ES_tradnl" sz="1800" noProof="0" dirty="0" err="1">
                <a:solidFill>
                  <a:srgbClr val="293470"/>
                </a:solidFill>
                <a:latin typeface="Roboto" pitchFamily="34" charset="0"/>
                <a:ea typeface="Roboto" pitchFamily="34" charset="-122"/>
                <a:cs typeface="Roboto" pitchFamily="34" charset="-120"/>
              </a:rPr>
              <a:t>collateral</a:t>
            </a:r>
            <a:r>
              <a:rPr lang="es-ES_tradnl" sz="1800" noProof="0" dirty="0">
                <a:solidFill>
                  <a:srgbClr val="3C3C3B"/>
                </a:solidFill>
                <a:latin typeface="Roboto" pitchFamily="34" charset="0"/>
                <a:ea typeface="Roboto" pitchFamily="34" charset="-122"/>
                <a:cs typeface="Roboto" pitchFamily="34" charset="-120"/>
              </a:rPr>
              <a:t>; la traza parcial descarta los otros 6.</a:t>
            </a:r>
            <a:endParaRPr lang="es-ES_tradnl" sz="1800" noProof="0" dirty="0"/>
          </a:p>
        </p:txBody>
      </p:sp>
      <p:sp>
        <p:nvSpPr>
          <p:cNvPr id="9" name="Shape 6"/>
          <p:cNvSpPr/>
          <p:nvPr/>
        </p:nvSpPr>
        <p:spPr>
          <a:xfrm>
            <a:off x="812800" y="1856680"/>
            <a:ext cx="5181600" cy="2306042"/>
          </a:xfrm>
          <a:prstGeom prst="roundRect">
            <a:avLst>
              <a:gd name="adj" fmla="val 4406"/>
            </a:avLst>
          </a:prstGeom>
          <a:solidFill>
            <a:srgbClr val="F4F4F2"/>
          </a:solidFill>
          <a:ln/>
        </p:spPr>
        <p:txBody>
          <a:bodyPr/>
          <a:lstStyle/>
          <a:p>
            <a:endParaRPr lang="es-ES_tradnl" noProof="0" dirty="0"/>
          </a:p>
        </p:txBody>
      </p:sp>
      <p:sp>
        <p:nvSpPr>
          <p:cNvPr id="10" name="Text 7"/>
          <p:cNvSpPr/>
          <p:nvPr/>
        </p:nvSpPr>
        <p:spPr>
          <a:xfrm>
            <a:off x="1066800" y="2110680"/>
            <a:ext cx="4813808" cy="238720"/>
          </a:xfrm>
          <a:prstGeom prst="rect">
            <a:avLst/>
          </a:prstGeom>
          <a:noFill/>
          <a:ln/>
        </p:spPr>
        <p:txBody>
          <a:bodyPr wrap="square" lIns="0" tIns="0" rIns="0" bIns="0" rtlCol="0" anchor="t">
            <a:normAutofit/>
          </a:bodyPr>
          <a:lstStyle/>
          <a:p>
            <a:pPr marL="0" indent="0" algn="l">
              <a:lnSpc>
                <a:spcPts val="1680"/>
              </a:lnSpc>
              <a:buNone/>
            </a:pPr>
            <a:r>
              <a:rPr lang="es-ES_tradnl" sz="1400" b="1" noProof="0" dirty="0" err="1">
                <a:solidFill>
                  <a:srgbClr val="1D1D1B"/>
                </a:solidFill>
                <a:latin typeface="DM Sans" pitchFamily="34" charset="0"/>
                <a:ea typeface="DM Sans" pitchFamily="34" charset="-122"/>
                <a:cs typeface="DM Sans" pitchFamily="34" charset="-120"/>
              </a:rPr>
              <a:t>Depolarizante</a:t>
            </a:r>
            <a:r>
              <a:rPr lang="es-ES_tradnl" sz="1400" b="1" noProof="0" dirty="0">
                <a:solidFill>
                  <a:srgbClr val="1D1D1B"/>
                </a:solidFill>
                <a:latin typeface="DM Sans" pitchFamily="34" charset="0"/>
                <a:ea typeface="DM Sans" pitchFamily="34" charset="-122"/>
                <a:cs typeface="DM Sans" pitchFamily="34" charset="-120"/>
              </a:rPr>
              <a:t> global de 7 </a:t>
            </a:r>
            <a:r>
              <a:rPr lang="es-ES_tradnl" sz="1400" b="1" noProof="0" dirty="0" err="1">
                <a:solidFill>
                  <a:srgbClr val="1D1D1B"/>
                </a:solidFill>
                <a:latin typeface="DM Sans" pitchFamily="34" charset="0"/>
                <a:ea typeface="DM Sans" pitchFamily="34" charset="-122"/>
                <a:cs typeface="DM Sans" pitchFamily="34" charset="-120"/>
              </a:rPr>
              <a:t>qubits</a:t>
            </a:r>
            <a:endParaRPr lang="es-ES_tradnl" sz="1400" noProof="0" dirty="0"/>
          </a:p>
        </p:txBody>
      </p:sp>
      <p:pic>
        <p:nvPicPr>
          <p:cNvPr id="11" name="Image 1" descr="ρ″₀ = Tr_resto[ρ″] = (1−p)·ρ₀ + p·I/2"/>
          <p:cNvPicPr>
            <a:picLocks noChangeAspect="1"/>
          </p:cNvPicPr>
          <p:nvPr/>
        </p:nvPicPr>
        <p:blipFill>
          <a:blip r:embed="rId4"/>
          <a:srcRect t="-210" b="-210"/>
          <a:stretch/>
        </p:blipFill>
        <p:spPr>
          <a:xfrm>
            <a:off x="1066800" y="2451001"/>
            <a:ext cx="3829050" cy="584200"/>
          </a:xfrm>
          <a:prstGeom prst="rect">
            <a:avLst/>
          </a:prstGeom>
        </p:spPr>
      </p:pic>
      <p:sp>
        <p:nvSpPr>
          <p:cNvPr id="12" name="Text 8"/>
          <p:cNvSpPr/>
          <p:nvPr/>
        </p:nvSpPr>
        <p:spPr>
          <a:xfrm>
            <a:off x="1066800" y="3162201"/>
            <a:ext cx="4813808" cy="771922"/>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Es un </a:t>
            </a:r>
            <a:r>
              <a:rPr lang="es-ES_tradnl" sz="1400" noProof="0" dirty="0" err="1">
                <a:solidFill>
                  <a:srgbClr val="3C3C3B"/>
                </a:solidFill>
                <a:latin typeface="Roboto" pitchFamily="34" charset="0"/>
                <a:ea typeface="Roboto" pitchFamily="34" charset="-122"/>
                <a:cs typeface="Roboto" pitchFamily="34" charset="-120"/>
              </a:rPr>
              <a:t>depolarizante</a:t>
            </a:r>
            <a:r>
              <a:rPr lang="es-ES_tradnl" sz="1400" noProof="0" dirty="0">
                <a:solidFill>
                  <a:srgbClr val="3C3C3B"/>
                </a:solidFill>
                <a:latin typeface="Roboto" pitchFamily="34" charset="0"/>
                <a:ea typeface="Roboto" pitchFamily="34" charset="-122"/>
                <a:cs typeface="Roboto" pitchFamily="34" charset="-120"/>
              </a:rPr>
              <a:t> de 1 </a:t>
            </a:r>
            <a:r>
              <a:rPr lang="es-ES_tradnl" sz="1400" noProof="0" dirty="0" err="1">
                <a:solidFill>
                  <a:srgbClr val="3C3C3B"/>
                </a:solidFill>
                <a:latin typeface="Roboto" pitchFamily="34" charset="0"/>
                <a:ea typeface="Roboto" pitchFamily="34" charset="-122"/>
                <a:cs typeface="Roboto" pitchFamily="34" charset="-120"/>
              </a:rPr>
              <a:t>qubit</a:t>
            </a:r>
            <a:r>
              <a:rPr lang="es-ES_tradnl" sz="1400" noProof="0" dirty="0">
                <a:solidFill>
                  <a:srgbClr val="3C3C3B"/>
                </a:solidFill>
                <a:latin typeface="Roboto" pitchFamily="34" charset="0"/>
                <a:ea typeface="Roboto" pitchFamily="34" charset="-122"/>
                <a:cs typeface="Roboto" pitchFamily="34" charset="-120"/>
              </a:rPr>
              <a:t> con el mismo p. Solo usa la linealidad de la traza parcial y </a:t>
            </a:r>
            <a:r>
              <a:rPr lang="es-ES_tradnl" sz="1400" noProof="0" dirty="0" err="1">
                <a:solidFill>
                  <a:srgbClr val="3C3C3B"/>
                </a:solidFill>
                <a:latin typeface="Roboto" pitchFamily="34" charset="0"/>
                <a:ea typeface="Roboto" pitchFamily="34" charset="-122"/>
                <a:cs typeface="Roboto" pitchFamily="34" charset="-120"/>
              </a:rPr>
              <a:t>Tr</a:t>
            </a:r>
            <a:r>
              <a:rPr lang="es-ES_tradnl" sz="1400" noProof="0" dirty="0">
                <a:solidFill>
                  <a:srgbClr val="3C3C3B"/>
                </a:solidFill>
                <a:latin typeface="Roboto" pitchFamily="34" charset="0"/>
                <a:ea typeface="Roboto" pitchFamily="34" charset="-122"/>
                <a:cs typeface="Roboto" pitchFamily="34" charset="-120"/>
              </a:rPr>
              <a:t>(I/2) = 1: vale para cualquier </a:t>
            </a:r>
            <a:r>
              <a:rPr lang="es-ES_tradnl" sz="1400" noProof="0" dirty="0" err="1">
                <a:solidFill>
                  <a:srgbClr val="3C3C3B"/>
                </a:solidFill>
                <a:latin typeface="Roboto" pitchFamily="34" charset="0"/>
                <a:ea typeface="Roboto" pitchFamily="34" charset="-122"/>
                <a:cs typeface="Roboto" pitchFamily="34" charset="-120"/>
              </a:rPr>
              <a:t>ρ</a:t>
            </a:r>
            <a:r>
              <a:rPr lang="es-ES_tradnl" sz="1400" noProof="0" dirty="0">
                <a:solidFill>
                  <a:srgbClr val="3C3C3B"/>
                </a:solidFill>
                <a:latin typeface="Roboto" pitchFamily="34" charset="0"/>
                <a:ea typeface="Roboto" pitchFamily="34" charset="-122"/>
                <a:cs typeface="Roboto" pitchFamily="34" charset="-120"/>
              </a:rPr>
              <a:t>, aunque haya correlaciones o entrelazamiento.</a:t>
            </a:r>
            <a:endParaRPr lang="es-ES_tradnl" sz="1400" noProof="0" dirty="0"/>
          </a:p>
        </p:txBody>
      </p:sp>
      <p:sp>
        <p:nvSpPr>
          <p:cNvPr id="13" name="Shape 9"/>
          <p:cNvSpPr/>
          <p:nvPr/>
        </p:nvSpPr>
        <p:spPr>
          <a:xfrm>
            <a:off x="6197600" y="1856680"/>
            <a:ext cx="5181600" cy="2306042"/>
          </a:xfrm>
          <a:prstGeom prst="roundRect">
            <a:avLst>
              <a:gd name="adj" fmla="val 4406"/>
            </a:avLst>
          </a:prstGeom>
          <a:solidFill>
            <a:srgbClr val="F4F4F2"/>
          </a:solidFill>
          <a:ln/>
        </p:spPr>
        <p:txBody>
          <a:bodyPr/>
          <a:lstStyle/>
          <a:p>
            <a:endParaRPr lang="es-ES_tradnl" noProof="0" dirty="0"/>
          </a:p>
        </p:txBody>
      </p:sp>
      <p:sp>
        <p:nvSpPr>
          <p:cNvPr id="14" name="Text 10"/>
          <p:cNvSpPr/>
          <p:nvPr/>
        </p:nvSpPr>
        <p:spPr>
          <a:xfrm>
            <a:off x="6451600" y="2110680"/>
            <a:ext cx="4813808" cy="238720"/>
          </a:xfrm>
          <a:prstGeom prst="rect">
            <a:avLst/>
          </a:prstGeom>
          <a:noFill/>
          <a:ln/>
        </p:spPr>
        <p:txBody>
          <a:bodyPr wrap="square" lIns="0" tIns="0" rIns="0" bIns="0" rtlCol="0" anchor="t">
            <a:normAutofit/>
          </a:bodyPr>
          <a:lstStyle/>
          <a:p>
            <a:pPr marL="0" indent="0" algn="l">
              <a:lnSpc>
                <a:spcPts val="1680"/>
              </a:lnSpc>
              <a:buNone/>
            </a:pPr>
            <a:r>
              <a:rPr lang="es-ES_tradnl" sz="1400" b="1" noProof="0" dirty="0">
                <a:solidFill>
                  <a:srgbClr val="1D1D1B"/>
                </a:solidFill>
                <a:latin typeface="DM Sans" pitchFamily="34" charset="0"/>
                <a:ea typeface="DM Sans" pitchFamily="34" charset="-122"/>
                <a:cs typeface="DM Sans" pitchFamily="34" charset="-120"/>
              </a:rPr>
              <a:t>GAD y PAD: canal producto, </a:t>
            </a:r>
            <a:r>
              <a:rPr lang="es-ES_tradnl" sz="1400" b="1" noProof="0" dirty="0" err="1">
                <a:solidFill>
                  <a:srgbClr val="1D1D1B"/>
                </a:solidFill>
                <a:latin typeface="DM Sans" pitchFamily="34" charset="0"/>
                <a:ea typeface="DM Sans" pitchFamily="34" charset="-122"/>
                <a:cs typeface="DM Sans" pitchFamily="34" charset="-120"/>
              </a:rPr>
              <a:t>qubit</a:t>
            </a:r>
            <a:r>
              <a:rPr lang="es-ES_tradnl" sz="1400" b="1" noProof="0" dirty="0">
                <a:solidFill>
                  <a:srgbClr val="1D1D1B"/>
                </a:solidFill>
                <a:latin typeface="DM Sans" pitchFamily="34" charset="0"/>
                <a:ea typeface="DM Sans" pitchFamily="34" charset="-122"/>
                <a:cs typeface="DM Sans" pitchFamily="34" charset="-120"/>
              </a:rPr>
              <a:t> por </a:t>
            </a:r>
            <a:r>
              <a:rPr lang="es-ES_tradnl" sz="1400" b="1" noProof="0" dirty="0" err="1">
                <a:solidFill>
                  <a:srgbClr val="1D1D1B"/>
                </a:solidFill>
                <a:latin typeface="DM Sans" pitchFamily="34" charset="0"/>
                <a:ea typeface="DM Sans" pitchFamily="34" charset="-122"/>
                <a:cs typeface="DM Sans" pitchFamily="34" charset="-120"/>
              </a:rPr>
              <a:t>qubit</a:t>
            </a:r>
            <a:endParaRPr lang="es-ES_tradnl" sz="1400" noProof="0" dirty="0"/>
          </a:p>
        </p:txBody>
      </p:sp>
      <p:pic>
        <p:nvPicPr>
          <p:cNvPr id="15" name="Image 2" descr="Tr_resto[(E₀ ⊗ E₁ ⊗ … ⊗ E₆)(ρ)] = E₀(ρ₀)"/>
          <p:cNvPicPr>
            <a:picLocks noChangeAspect="1"/>
          </p:cNvPicPr>
          <p:nvPr/>
        </p:nvPicPr>
        <p:blipFill>
          <a:blip r:embed="rId5"/>
          <a:srcRect t="-312" b="-312"/>
          <a:stretch/>
        </p:blipFill>
        <p:spPr>
          <a:xfrm>
            <a:off x="6451600" y="2558951"/>
            <a:ext cx="4546600" cy="368300"/>
          </a:xfrm>
          <a:prstGeom prst="rect">
            <a:avLst/>
          </a:prstGeom>
        </p:spPr>
      </p:pic>
      <p:sp>
        <p:nvSpPr>
          <p:cNvPr id="16" name="Text 11"/>
          <p:cNvSpPr/>
          <p:nvPr/>
        </p:nvSpPr>
        <p:spPr>
          <a:xfrm>
            <a:off x="6451600" y="3162201"/>
            <a:ext cx="4813808" cy="771922"/>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Los canales de los otros </a:t>
            </a:r>
            <a:r>
              <a:rPr lang="es-ES_tradnl" sz="1400" noProof="0" dirty="0" err="1">
                <a:solidFill>
                  <a:srgbClr val="3C3C3B"/>
                </a:solidFill>
                <a:latin typeface="Roboto" pitchFamily="34" charset="0"/>
                <a:ea typeface="Roboto" pitchFamily="34" charset="-122"/>
                <a:cs typeface="Roboto" pitchFamily="34" charset="-120"/>
              </a:rPr>
              <a:t>qubits</a:t>
            </a:r>
            <a:r>
              <a:rPr lang="es-ES_tradnl" sz="1400" noProof="0" dirty="0">
                <a:solidFill>
                  <a:srgbClr val="3C3C3B"/>
                </a:solidFill>
                <a:latin typeface="Roboto" pitchFamily="34" charset="0"/>
                <a:ea typeface="Roboto" pitchFamily="34" charset="-122"/>
                <a:cs typeface="Roboto" pitchFamily="34" charset="-120"/>
              </a:rPr>
              <a:t> preservan la traza. Tampoco requiere que </a:t>
            </a:r>
            <a:r>
              <a:rPr lang="es-ES_tradnl" sz="1400" noProof="0" dirty="0" err="1">
                <a:solidFill>
                  <a:srgbClr val="3C3C3B"/>
                </a:solidFill>
                <a:latin typeface="Roboto" pitchFamily="34" charset="0"/>
                <a:ea typeface="Roboto" pitchFamily="34" charset="-122"/>
                <a:cs typeface="Roboto" pitchFamily="34" charset="-120"/>
              </a:rPr>
              <a:t>ρ</a:t>
            </a:r>
            <a:r>
              <a:rPr lang="es-ES_tradnl" sz="1400" noProof="0" dirty="0">
                <a:solidFill>
                  <a:srgbClr val="3C3C3B"/>
                </a:solidFill>
                <a:latin typeface="Roboto" pitchFamily="34" charset="0"/>
                <a:ea typeface="Roboto" pitchFamily="34" charset="-122"/>
                <a:cs typeface="Roboto" pitchFamily="34" charset="-120"/>
              </a:rPr>
              <a:t> sea producto (demostración de la semana 8).</a:t>
            </a:r>
            <a:endParaRPr lang="es-ES_tradnl" sz="1400" noProof="0" dirty="0"/>
          </a:p>
        </p:txBody>
      </p:sp>
      <p:sp>
        <p:nvSpPr>
          <p:cNvPr id="17" name="Text 12"/>
          <p:cNvSpPr/>
          <p:nvPr/>
        </p:nvSpPr>
        <p:spPr>
          <a:xfrm>
            <a:off x="812800" y="4416723"/>
            <a:ext cx="3810000" cy="642541"/>
          </a:xfrm>
          <a:prstGeom prst="roundRect">
            <a:avLst>
              <a:gd name="adj" fmla="val 7906"/>
            </a:avLst>
          </a:prstGeom>
          <a:solidFill>
            <a:srgbClr val="FFEE00"/>
          </a:solidFill>
          <a:ln/>
        </p:spPr>
        <p:txBody>
          <a:bodyPr wrap="square" lIns="162921" tIns="112121" rIns="59289" bIns="86721" rtlCol="0" anchor="t">
            <a:normAutofit/>
          </a:bodyPr>
          <a:lstStyle/>
          <a:p>
            <a:pPr marL="0" indent="0" algn="l">
              <a:lnSpc>
                <a:spcPts val="2160"/>
              </a:lnSpc>
              <a:buNone/>
            </a:pPr>
            <a:r>
              <a:rPr lang="es-ES_tradnl" sz="1800" b="1" noProof="0" dirty="0">
                <a:solidFill>
                  <a:srgbClr val="1D1D1B"/>
                </a:solidFill>
                <a:latin typeface="DM Sans" pitchFamily="34" charset="0"/>
                <a:ea typeface="DM Sans" pitchFamily="34" charset="-122"/>
                <a:cs typeface="DM Sans" pitchFamily="34" charset="-120"/>
              </a:rPr>
              <a:t>El </a:t>
            </a:r>
            <a:r>
              <a:rPr lang="es-ES_tradnl" sz="1800" b="1" noProof="0" dirty="0" err="1">
                <a:solidFill>
                  <a:srgbClr val="1D1D1B"/>
                </a:solidFill>
                <a:latin typeface="DM Sans" pitchFamily="34" charset="0"/>
                <a:ea typeface="DM Sans" pitchFamily="34" charset="-122"/>
                <a:cs typeface="DM Sans" pitchFamily="34" charset="-120"/>
              </a:rPr>
              <a:t>ε</a:t>
            </a:r>
            <a:r>
              <a:rPr lang="es-ES_tradnl" sz="1800" b="1" noProof="0" dirty="0">
                <a:solidFill>
                  <a:srgbClr val="1D1D1B"/>
                </a:solidFill>
                <a:latin typeface="DM Sans" pitchFamily="34" charset="0"/>
                <a:ea typeface="DM Sans" pitchFamily="34" charset="-122"/>
                <a:cs typeface="DM Sans" pitchFamily="34" charset="-120"/>
              </a:rPr>
              <a:t> se calcula con D = 2</a:t>
            </a:r>
            <a:endParaRPr lang="es-ES_tradnl" sz="1800" noProof="0" dirty="0"/>
          </a:p>
        </p:txBody>
      </p:sp>
      <p:sp>
        <p:nvSpPr>
          <p:cNvPr id="18" name="Text 13"/>
          <p:cNvSpPr/>
          <p:nvPr/>
        </p:nvSpPr>
        <p:spPr>
          <a:xfrm>
            <a:off x="4778375" y="4419898"/>
            <a:ext cx="6597650" cy="636191"/>
          </a:xfrm>
          <a:prstGeom prst="roundRect">
            <a:avLst>
              <a:gd name="adj" fmla="val 7486"/>
            </a:avLst>
          </a:prstGeom>
          <a:noFill/>
          <a:ln w="6350">
            <a:solidFill>
              <a:srgbClr val="E3E3DF"/>
            </a:solidFill>
            <a:prstDash val="solid"/>
          </a:ln>
        </p:spPr>
        <p:txBody>
          <a:bodyPr wrap="square" lIns="141626" tIns="90826" rIns="0" bIns="65426" rtlCol="0" anchor="t">
            <a:normAutofit/>
          </a:bodyPr>
          <a:lstStyle/>
          <a:p>
            <a:pPr marL="0" indent="0" algn="l">
              <a:lnSpc>
                <a:spcPts val="1680"/>
              </a:lnSpc>
              <a:buNone/>
            </a:pPr>
            <a:r>
              <a:rPr lang="es-ES_tradnl" sz="1200" noProof="0" dirty="0">
                <a:solidFill>
                  <a:srgbClr val="3C3C3B"/>
                </a:solidFill>
                <a:latin typeface="Roboto" pitchFamily="34" charset="0"/>
                <a:ea typeface="Roboto" pitchFamily="34" charset="-122"/>
                <a:cs typeface="Roboto" pitchFamily="34" charset="-120"/>
              </a:rPr>
              <a:t>Útil para el Acto V: en el computador de 2 </a:t>
            </a:r>
            <a:r>
              <a:rPr lang="es-ES_tradnl" sz="1200" noProof="0" dirty="0" err="1">
                <a:solidFill>
                  <a:srgbClr val="3C3C3B"/>
                </a:solidFill>
                <a:latin typeface="Roboto" pitchFamily="34" charset="0"/>
                <a:ea typeface="Roboto" pitchFamily="34" charset="-122"/>
                <a:cs typeface="Roboto" pitchFamily="34" charset="-120"/>
              </a:rPr>
              <a:t>qubits</a:t>
            </a:r>
            <a:r>
              <a:rPr lang="es-ES_tradnl" sz="1200" noProof="0" dirty="0">
                <a:solidFill>
                  <a:srgbClr val="3C3C3B"/>
                </a:solidFill>
                <a:latin typeface="Roboto" pitchFamily="34" charset="0"/>
                <a:ea typeface="Roboto" pitchFamily="34" charset="-122"/>
                <a:cs typeface="Roboto" pitchFamily="34" charset="-120"/>
              </a:rPr>
              <a:t>, aplicar GAD a cada </a:t>
            </a:r>
            <a:r>
              <a:rPr lang="es-ES_tradnl" sz="1200" noProof="0" dirty="0" err="1">
                <a:solidFill>
                  <a:srgbClr val="3C3C3B"/>
                </a:solidFill>
                <a:latin typeface="Roboto" pitchFamily="34" charset="0"/>
                <a:ea typeface="Roboto" pitchFamily="34" charset="-122"/>
                <a:cs typeface="Roboto" pitchFamily="34" charset="-120"/>
              </a:rPr>
              <a:t>qubit</a:t>
            </a:r>
            <a:r>
              <a:rPr lang="es-ES_tradnl" sz="1200" noProof="0" dirty="0">
                <a:solidFill>
                  <a:srgbClr val="3C3C3B"/>
                </a:solidFill>
                <a:latin typeface="Roboto" pitchFamily="34" charset="0"/>
                <a:ea typeface="Roboto" pitchFamily="34" charset="-122"/>
                <a:cs typeface="Roboto" pitchFamily="34" charset="-120"/>
              </a:rPr>
              <a:t> y medir uno equivale a GAD de 1 </a:t>
            </a:r>
            <a:r>
              <a:rPr lang="es-ES_tradnl" sz="1200" noProof="0" dirty="0" err="1">
                <a:solidFill>
                  <a:srgbClr val="3C3C3B"/>
                </a:solidFill>
                <a:latin typeface="Roboto" pitchFamily="34" charset="0"/>
                <a:ea typeface="Roboto" pitchFamily="34" charset="-122"/>
                <a:cs typeface="Roboto" pitchFamily="34" charset="-120"/>
              </a:rPr>
              <a:t>qubit</a:t>
            </a:r>
            <a:r>
              <a:rPr lang="es-ES_tradnl" sz="1200" noProof="0" dirty="0">
                <a:solidFill>
                  <a:srgbClr val="3C3C3B"/>
                </a:solidFill>
                <a:latin typeface="Roboto" pitchFamily="34" charset="0"/>
                <a:ea typeface="Roboto" pitchFamily="34" charset="-122"/>
                <a:cs typeface="Roboto" pitchFamily="34" charset="-120"/>
              </a:rPr>
              <a:t>.</a:t>
            </a:r>
            <a:endParaRPr lang="es-ES_tradnl" sz="1200" noProof="0" dirty="0"/>
          </a:p>
        </p:txBody>
      </p:sp>
      <p:sp>
        <p:nvSpPr>
          <p:cNvPr id="20" name="Text 15"/>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a:solidFill>
                  <a:srgbClr val="1D1D1B"/>
                </a:solidFill>
                <a:latin typeface="Roboto" pitchFamily="34" charset="0"/>
                <a:ea typeface="Roboto" pitchFamily="34" charset="-122"/>
                <a:cs typeface="Roboto" pitchFamily="34" charset="-120"/>
              </a:rPr>
              <a:t>32</a:t>
            </a:r>
            <a:endParaRPr lang="es-ES_tradnl" sz="1200" noProof="0" dirty="0"/>
          </a:p>
        </p:txBody>
      </p:sp>
    </p:spTree>
    <p:extLst>
      <p:ext uri="{BB962C8B-B14F-4D97-AF65-F5344CB8AC3E}">
        <p14:creationId xmlns:p14="http://schemas.microsoft.com/office/powerpoint/2010/main" val="351565011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7">
    <p:bg>
      <p:bgPr>
        <a:solidFill>
          <a:srgbClr val="FFEE00"/>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l="-9" r="-9"/>
          <a:stretch/>
        </p:blipFill>
        <p:spPr>
          <a:xfrm>
            <a:off x="7493000" y="0"/>
            <a:ext cx="4699000" cy="6858000"/>
          </a:xfrm>
          <a:prstGeom prst="rect">
            <a:avLst/>
          </a:prstGeom>
        </p:spPr>
      </p:pic>
      <p:sp>
        <p:nvSpPr>
          <p:cNvPr id="3" name="Text 0"/>
          <p:cNvSpPr/>
          <p:nvPr/>
        </p:nvSpPr>
        <p:spPr>
          <a:xfrm>
            <a:off x="7978140" y="3937000"/>
            <a:ext cx="3401060" cy="1803400"/>
          </a:xfrm>
          <a:prstGeom prst="rect">
            <a:avLst/>
          </a:prstGeom>
          <a:noFill/>
          <a:ln/>
        </p:spPr>
        <p:txBody>
          <a:bodyPr wrap="square" lIns="0" tIns="0" rIns="0" bIns="0" rtlCol="0" anchor="t">
            <a:normAutofit fontScale="92500"/>
          </a:bodyPr>
          <a:lstStyle/>
          <a:p>
            <a:pPr marL="0" indent="0" algn="r">
              <a:lnSpc>
                <a:spcPts val="14000"/>
              </a:lnSpc>
              <a:buNone/>
            </a:pPr>
            <a:r>
              <a:rPr lang="es-ES_tradnl" sz="14000" b="1" noProof="0" dirty="0">
                <a:solidFill>
                  <a:srgbClr val="FFEE00"/>
                </a:solidFill>
                <a:latin typeface="DM Sans" pitchFamily="34" charset="0"/>
                <a:ea typeface="DM Sans" pitchFamily="34" charset="-122"/>
                <a:cs typeface="DM Sans" pitchFamily="34" charset="-120"/>
              </a:rPr>
              <a:t>IV</a:t>
            </a:r>
            <a:endParaRPr lang="es-ES_tradnl" sz="14000" noProof="0" dirty="0"/>
          </a:p>
        </p:txBody>
      </p:sp>
      <p:pic>
        <p:nvPicPr>
          <p:cNvPr id="4" name="Image 1" descr="Universidad de los Andes"/>
          <p:cNvPicPr>
            <a:picLocks noChangeAspect="1"/>
          </p:cNvPicPr>
          <p:nvPr/>
        </p:nvPicPr>
        <p:blipFill>
          <a:blip r:embed="rId4"/>
          <a:srcRect/>
          <a:stretch/>
        </p:blipFill>
        <p:spPr>
          <a:xfrm>
            <a:off x="812800" y="609600"/>
            <a:ext cx="1371600" cy="431800"/>
          </a:xfrm>
          <a:prstGeom prst="rect">
            <a:avLst/>
          </a:prstGeom>
        </p:spPr>
      </p:pic>
      <p:sp>
        <p:nvSpPr>
          <p:cNvPr id="5" name="Text 1"/>
          <p:cNvSpPr/>
          <p:nvPr/>
        </p:nvSpPr>
        <p:spPr>
          <a:xfrm>
            <a:off x="812800" y="2471440"/>
            <a:ext cx="6409690" cy="274241"/>
          </a:xfrm>
          <a:prstGeom prst="rect">
            <a:avLst/>
          </a:prstGeom>
          <a:noFill/>
          <a:ln/>
        </p:spPr>
        <p:txBody>
          <a:bodyPr wrap="square" lIns="0" tIns="0" rIns="0" bIns="0" rtlCol="0" anchor="t">
            <a:normAutofit/>
          </a:bodyPr>
          <a:lstStyle/>
          <a:p>
            <a:pPr marL="0" indent="0" algn="l">
              <a:lnSpc>
                <a:spcPts val="1960"/>
              </a:lnSpc>
              <a:buNone/>
            </a:pPr>
            <a:r>
              <a:rPr lang="es-ES_tradnl" sz="1400" b="1" kern="0" spc="200" noProof="0" dirty="0">
                <a:solidFill>
                  <a:srgbClr val="1D1D1B"/>
                </a:solidFill>
                <a:latin typeface="DM Sans" pitchFamily="34" charset="0"/>
                <a:ea typeface="DM Sans" pitchFamily="34" charset="-122"/>
                <a:cs typeface="DM Sans" pitchFamily="34" charset="-120"/>
              </a:rPr>
              <a:t>ACTO IV</a:t>
            </a:r>
            <a:endParaRPr lang="es-ES_tradnl" sz="1400" noProof="0" dirty="0"/>
          </a:p>
        </p:txBody>
      </p:sp>
      <p:sp>
        <p:nvSpPr>
          <p:cNvPr id="6" name="Text 2"/>
          <p:cNvSpPr>
            <a:spLocks noGrp="1"/>
          </p:cNvSpPr>
          <p:nvPr>
            <p:ph type="title"/>
          </p:nvPr>
        </p:nvSpPr>
        <p:spPr>
          <a:xfrm>
            <a:off x="812800" y="2898080"/>
            <a:ext cx="6409690" cy="665460"/>
          </a:xfrm>
          <a:prstGeom prst="rect">
            <a:avLst/>
          </a:prstGeom>
          <a:noFill/>
          <a:ln/>
        </p:spPr>
        <p:txBody>
          <a:bodyPr wrap="square" lIns="0" tIns="0" rIns="0" bIns="0" rtlCol="0" anchor="t">
            <a:normAutofit/>
          </a:bodyPr>
          <a:lstStyle/>
          <a:p>
            <a:pPr marL="0" indent="0" algn="l">
              <a:lnSpc>
                <a:spcPts val="5040"/>
              </a:lnSpc>
              <a:buNone/>
            </a:pPr>
            <a:r>
              <a:rPr lang="es-ES_tradnl" sz="4800" b="1" i="0" kern="0" spc="-100" noProof="0" dirty="0">
                <a:solidFill>
                  <a:srgbClr val="1D1D1B"/>
                </a:solidFill>
                <a:latin typeface="DM Sans" pitchFamily="34" charset="0"/>
                <a:ea typeface="DM Sans" pitchFamily="34" charset="-122"/>
                <a:cs typeface="DM Sans" pitchFamily="34" charset="-120"/>
              </a:rPr>
              <a:t>Resultados</a:t>
            </a:r>
            <a:endParaRPr lang="es-ES_tradnl" sz="4800" noProof="0" dirty="0"/>
          </a:p>
        </p:txBody>
      </p:sp>
      <p:sp>
        <p:nvSpPr>
          <p:cNvPr id="7" name="Text 3"/>
          <p:cNvSpPr/>
          <p:nvPr/>
        </p:nvSpPr>
        <p:spPr>
          <a:xfrm>
            <a:off x="812800" y="3715941"/>
            <a:ext cx="6409690" cy="322560"/>
          </a:xfrm>
          <a:prstGeom prst="rect">
            <a:avLst/>
          </a:prstGeom>
          <a:noFill/>
          <a:ln/>
        </p:spPr>
        <p:txBody>
          <a:bodyPr wrap="square" lIns="0" tIns="0" rIns="0" bIns="0" rtlCol="0" anchor="t">
            <a:normAutofit/>
          </a:bodyPr>
          <a:lstStyle/>
          <a:p>
            <a:pPr marL="0" indent="0" algn="l">
              <a:lnSpc>
                <a:spcPts val="2340"/>
              </a:lnSpc>
              <a:buNone/>
            </a:pPr>
            <a:r>
              <a:rPr lang="es-ES_tradnl" sz="1800" noProof="0">
                <a:solidFill>
                  <a:srgbClr val="1D1D1B"/>
                </a:solidFill>
                <a:latin typeface="Roboto" pitchFamily="34" charset="0"/>
                <a:ea typeface="Roboto" pitchFamily="34" charset="-122"/>
                <a:cs typeface="Roboto" pitchFamily="34" charset="-120"/>
              </a:rPr>
              <a:t>10 · K par contra K impar</a:t>
            </a:r>
            <a:endParaRPr lang="es-ES_tradnl" sz="1800" noProof="0" dirty="0"/>
          </a:p>
        </p:txBody>
      </p:sp>
      <p:sp>
        <p:nvSpPr>
          <p:cNvPr id="8" name="Text 4"/>
          <p:cNvSpPr/>
          <p:nvPr/>
        </p:nvSpPr>
        <p:spPr>
          <a:xfrm>
            <a:off x="812800" y="4089301"/>
            <a:ext cx="6409690" cy="322560"/>
          </a:xfrm>
          <a:prstGeom prst="rect">
            <a:avLst/>
          </a:prstGeom>
          <a:noFill/>
          <a:ln/>
        </p:spPr>
        <p:txBody>
          <a:bodyPr wrap="square" lIns="0" tIns="0" rIns="0" bIns="0" rtlCol="0" anchor="t">
            <a:normAutofit/>
          </a:bodyPr>
          <a:lstStyle/>
          <a:p>
            <a:pPr marL="0" indent="0" algn="l">
              <a:lnSpc>
                <a:spcPts val="2340"/>
              </a:lnSpc>
              <a:buNone/>
            </a:pPr>
            <a:r>
              <a:rPr lang="es-ES_tradnl" sz="1800" noProof="0">
                <a:solidFill>
                  <a:srgbClr val="1D1D1B"/>
                </a:solidFill>
                <a:latin typeface="Roboto" pitchFamily="34" charset="0"/>
                <a:ea typeface="Roboto" pitchFamily="34" charset="-122"/>
                <a:cs typeface="Roboto" pitchFamily="34" charset="-120"/>
              </a:rPr>
              <a:t>11 · Experimento L de collateral: teoría contra simulación</a:t>
            </a:r>
            <a:endParaRPr lang="es-ES_tradnl" sz="1800" noProof="0" dirty="0"/>
          </a:p>
        </p:txBody>
      </p:sp>
    </p:spTree>
    <p:extLst>
      <p:ext uri="{BB962C8B-B14F-4D97-AF65-F5344CB8AC3E}">
        <p14:creationId xmlns:p14="http://schemas.microsoft.com/office/powerpoint/2010/main" val="2424976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name="Slide 2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s-ES_tradnl" noProof="0" dirty="0"/>
          </a:p>
        </p:txBody>
      </p:sp>
      <p:sp>
        <p:nvSpPr>
          <p:cNvPr id="3" name="Shape 1"/>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dirty="0">
                <a:solidFill>
                  <a:srgbClr val="1D1D1B"/>
                </a:solidFill>
                <a:latin typeface="DM Sans" pitchFamily="34" charset="0"/>
                <a:ea typeface="DM Sans" pitchFamily="34" charset="-122"/>
                <a:cs typeface="DM Sans" pitchFamily="34" charset="-120"/>
              </a:rPr>
              <a:t>IV</a:t>
            </a:r>
            <a:endParaRPr lang="es-ES_tradnl" sz="1200" noProof="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dirty="0">
                <a:solidFill>
                  <a:srgbClr val="6E6E6C"/>
                </a:solidFill>
                <a:latin typeface="Roboto" pitchFamily="34" charset="0"/>
                <a:ea typeface="Roboto" pitchFamily="34" charset="-122"/>
                <a:cs typeface="Roboto" pitchFamily="34" charset="-120"/>
              </a:rPr>
              <a:t>RESULTADOS</a:t>
            </a:r>
            <a:endParaRPr lang="es-ES_tradnl" sz="1200" noProof="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s-ES_tradnl" sz="2800" b="1" i="0" kern="0" spc="-50" noProof="0" dirty="0">
                <a:solidFill>
                  <a:srgbClr val="1D1D1B"/>
                </a:solidFill>
                <a:latin typeface="DM Sans" pitchFamily="34" charset="0"/>
                <a:ea typeface="DM Sans" pitchFamily="34" charset="-122"/>
                <a:cs typeface="DM Sans" pitchFamily="34" charset="-120"/>
              </a:rPr>
              <a:t>K par contra K impar</a:t>
            </a:r>
            <a:endParaRPr lang="es-ES_tradnl" sz="2800" noProof="0" dirty="0"/>
          </a:p>
        </p:txBody>
      </p:sp>
      <p:sp>
        <p:nvSpPr>
          <p:cNvPr id="8" name="Text 5"/>
          <p:cNvSpPr/>
          <p:nvPr/>
        </p:nvSpPr>
        <p:spPr>
          <a:xfrm>
            <a:off x="812800" y="1457325"/>
            <a:ext cx="3553321" cy="274241"/>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Dos estados del ecuador separados por </a:t>
            </a:r>
            <a:r>
              <a:rPr lang="es-ES_tradnl" sz="1400" noProof="0" dirty="0" err="1">
                <a:solidFill>
                  <a:srgbClr val="3C3C3B"/>
                </a:solidFill>
                <a:latin typeface="Roboto" pitchFamily="34" charset="0"/>
                <a:ea typeface="Roboto" pitchFamily="34" charset="-122"/>
                <a:cs typeface="Roboto" pitchFamily="34" charset="-120"/>
              </a:rPr>
              <a:t>Δ</a:t>
            </a:r>
            <a:r>
              <a:rPr lang="es-ES_tradnl" sz="1400" noProof="0" dirty="0">
                <a:solidFill>
                  <a:srgbClr val="3C3C3B"/>
                </a:solidFill>
                <a:latin typeface="Roboto" pitchFamily="34" charset="0"/>
                <a:ea typeface="Roboto" pitchFamily="34" charset="-122"/>
                <a:cs typeface="Roboto" pitchFamily="34" charset="-120"/>
              </a:rPr>
              <a:t>:</a:t>
            </a:r>
            <a:endParaRPr lang="es-ES_tradnl" sz="1400" noProof="0" dirty="0"/>
          </a:p>
        </p:txBody>
      </p:sp>
      <p:pic>
        <p:nvPicPr>
          <p:cNvPr id="9" name="Image 1" descr="|⟨ψ|φ⟩|² = cos²(Δ/2) ⇒ d = sin(Δ/2)"/>
          <p:cNvPicPr>
            <a:picLocks noChangeAspect="1"/>
          </p:cNvPicPr>
          <p:nvPr/>
        </p:nvPicPr>
        <p:blipFill>
          <a:blip r:embed="rId4"/>
          <a:srcRect l="-200" r="-200"/>
          <a:stretch/>
        </p:blipFill>
        <p:spPr>
          <a:xfrm>
            <a:off x="4366121" y="1280120"/>
            <a:ext cx="4356100" cy="603250"/>
          </a:xfrm>
          <a:prstGeom prst="rect">
            <a:avLst/>
          </a:prstGeom>
        </p:spPr>
      </p:pic>
      <p:sp>
        <p:nvSpPr>
          <p:cNvPr id="10" name="Shape 6"/>
          <p:cNvSpPr/>
          <p:nvPr/>
        </p:nvSpPr>
        <p:spPr>
          <a:xfrm>
            <a:off x="812800" y="2035770"/>
            <a:ext cx="2527300" cy="2697361"/>
          </a:xfrm>
          <a:prstGeom prst="roundRect">
            <a:avLst>
              <a:gd name="adj" fmla="val 4020"/>
            </a:avLst>
          </a:prstGeom>
          <a:solidFill>
            <a:srgbClr val="F4F4F2"/>
          </a:solidFill>
          <a:ln/>
        </p:spPr>
        <p:txBody>
          <a:bodyPr/>
          <a:lstStyle/>
          <a:p>
            <a:endParaRPr lang="es-ES_tradnl" noProof="0" dirty="0"/>
          </a:p>
        </p:txBody>
      </p:sp>
      <p:pic>
        <p:nvPicPr>
          <p:cNvPr id="11" name="Image 2" descr="Ecuador con K = 3 categorías; el par más separado, a 120°, unido por una cuerda"/>
          <p:cNvPicPr>
            <a:picLocks noChangeAspect="1"/>
          </p:cNvPicPr>
          <p:nvPr/>
        </p:nvPicPr>
        <p:blipFill>
          <a:blip r:embed="rId5"/>
          <a:srcRect/>
          <a:stretch/>
        </p:blipFill>
        <p:spPr>
          <a:xfrm>
            <a:off x="1123950" y="2162770"/>
            <a:ext cx="1905000" cy="1905000"/>
          </a:xfrm>
          <a:prstGeom prst="rect">
            <a:avLst/>
          </a:prstGeom>
        </p:spPr>
      </p:pic>
      <p:sp>
        <p:nvSpPr>
          <p:cNvPr id="12" name="Text 7"/>
          <p:cNvSpPr/>
          <p:nvPr/>
        </p:nvSpPr>
        <p:spPr>
          <a:xfrm>
            <a:off x="1522571" y="4118570"/>
            <a:ext cx="1107758" cy="256480"/>
          </a:xfrm>
          <a:prstGeom prst="rect">
            <a:avLst/>
          </a:prstGeom>
          <a:noFill/>
          <a:ln/>
        </p:spPr>
        <p:txBody>
          <a:bodyPr wrap="square" lIns="0" tIns="0" rIns="0" bIns="0" rtlCol="0" anchor="t">
            <a:normAutofit/>
          </a:bodyPr>
          <a:lstStyle/>
          <a:p>
            <a:pPr marL="0" indent="0" algn="ctr">
              <a:lnSpc>
                <a:spcPts val="1820"/>
              </a:lnSpc>
              <a:buNone/>
            </a:pPr>
            <a:r>
              <a:rPr lang="es-ES_tradnl" sz="1400" b="1" noProof="0" dirty="0">
                <a:solidFill>
                  <a:srgbClr val="1D1D1B"/>
                </a:solidFill>
                <a:latin typeface="Roboto" pitchFamily="34" charset="0"/>
                <a:ea typeface="Roboto" pitchFamily="34" charset="-122"/>
                <a:cs typeface="Roboto" pitchFamily="34" charset="-120"/>
              </a:rPr>
              <a:t>K = 3 · 120°</a:t>
            </a:r>
            <a:endParaRPr lang="es-ES_tradnl" sz="1400" noProof="0" dirty="0"/>
          </a:p>
        </p:txBody>
      </p:sp>
      <p:sp>
        <p:nvSpPr>
          <p:cNvPr id="13" name="Text 8"/>
          <p:cNvSpPr/>
          <p:nvPr/>
        </p:nvSpPr>
        <p:spPr>
          <a:xfrm>
            <a:off x="1322903" y="4400451"/>
            <a:ext cx="1507093" cy="231080"/>
          </a:xfrm>
          <a:prstGeom prst="rect">
            <a:avLst/>
          </a:prstGeom>
          <a:noFill/>
          <a:ln/>
        </p:spPr>
        <p:txBody>
          <a:bodyPr wrap="square" lIns="0" tIns="0" rIns="0" bIns="0" rtlCol="0" anchor="t">
            <a:normAutofit/>
          </a:bodyPr>
          <a:lstStyle/>
          <a:p>
            <a:pPr marL="0" indent="0" algn="ctr">
              <a:lnSpc>
                <a:spcPts val="1620"/>
              </a:lnSpc>
              <a:buNone/>
            </a:pPr>
            <a:r>
              <a:rPr lang="es-ES_tradnl" sz="1200" noProof="0" dirty="0">
                <a:solidFill>
                  <a:srgbClr val="3C3C3B"/>
                </a:solidFill>
                <a:latin typeface="Roboto" pitchFamily="34" charset="0"/>
                <a:ea typeface="Roboto" pitchFamily="34" charset="-122"/>
                <a:cs typeface="Roboto" pitchFamily="34" charset="-120"/>
              </a:rPr>
              <a:t>0.962 &lt; cota 1.005</a:t>
            </a:r>
            <a:endParaRPr lang="es-ES_tradnl" sz="1200" noProof="0" dirty="0"/>
          </a:p>
        </p:txBody>
      </p:sp>
      <p:sp>
        <p:nvSpPr>
          <p:cNvPr id="14" name="Shape 9"/>
          <p:cNvSpPr/>
          <p:nvPr/>
        </p:nvSpPr>
        <p:spPr>
          <a:xfrm>
            <a:off x="3502025" y="2045295"/>
            <a:ext cx="2508250" cy="2678311"/>
          </a:xfrm>
          <a:prstGeom prst="roundRect">
            <a:avLst>
              <a:gd name="adj" fmla="val 3671"/>
            </a:avLst>
          </a:prstGeom>
          <a:solidFill>
            <a:srgbClr val="FFFFFF"/>
          </a:solidFill>
          <a:ln w="19050">
            <a:solidFill>
              <a:srgbClr val="1D1D1B"/>
            </a:solidFill>
            <a:prstDash val="solid"/>
          </a:ln>
        </p:spPr>
        <p:txBody>
          <a:bodyPr/>
          <a:lstStyle/>
          <a:p>
            <a:endParaRPr lang="es-ES_tradnl" noProof="0" dirty="0"/>
          </a:p>
        </p:txBody>
      </p:sp>
      <p:pic>
        <p:nvPicPr>
          <p:cNvPr id="15" name="Image 3" descr="Ecuador con K = 4 categorías; el par opuesto, a 180°, unido por una cuerda"/>
          <p:cNvPicPr>
            <a:picLocks noChangeAspect="1"/>
          </p:cNvPicPr>
          <p:nvPr/>
        </p:nvPicPr>
        <p:blipFill>
          <a:blip r:embed="rId6"/>
          <a:srcRect/>
          <a:stretch/>
        </p:blipFill>
        <p:spPr>
          <a:xfrm>
            <a:off x="3803650" y="2162770"/>
            <a:ext cx="1905000" cy="1905000"/>
          </a:xfrm>
          <a:prstGeom prst="rect">
            <a:avLst/>
          </a:prstGeom>
        </p:spPr>
      </p:pic>
      <p:sp>
        <p:nvSpPr>
          <p:cNvPr id="16" name="Text 10"/>
          <p:cNvSpPr/>
          <p:nvPr/>
        </p:nvSpPr>
        <p:spPr>
          <a:xfrm>
            <a:off x="4202271" y="4118570"/>
            <a:ext cx="1107758" cy="256480"/>
          </a:xfrm>
          <a:prstGeom prst="rect">
            <a:avLst/>
          </a:prstGeom>
          <a:noFill/>
          <a:ln/>
        </p:spPr>
        <p:txBody>
          <a:bodyPr wrap="square" lIns="0" tIns="0" rIns="0" bIns="0" rtlCol="0" anchor="t">
            <a:normAutofit/>
          </a:bodyPr>
          <a:lstStyle/>
          <a:p>
            <a:pPr marL="0" indent="0" algn="ctr">
              <a:lnSpc>
                <a:spcPts val="1820"/>
              </a:lnSpc>
              <a:buNone/>
            </a:pPr>
            <a:r>
              <a:rPr lang="es-ES_tradnl" sz="1400" b="1" noProof="0" dirty="0">
                <a:solidFill>
                  <a:srgbClr val="1D1D1B"/>
                </a:solidFill>
                <a:latin typeface="Roboto" pitchFamily="34" charset="0"/>
                <a:ea typeface="Roboto" pitchFamily="34" charset="-122"/>
                <a:cs typeface="Roboto" pitchFamily="34" charset="-120"/>
              </a:rPr>
              <a:t>K = 4 · 180°</a:t>
            </a:r>
            <a:endParaRPr lang="es-ES_tradnl" sz="1400" noProof="0" dirty="0"/>
          </a:p>
        </p:txBody>
      </p:sp>
      <p:sp>
        <p:nvSpPr>
          <p:cNvPr id="17" name="Text 11"/>
          <p:cNvSpPr/>
          <p:nvPr/>
        </p:nvSpPr>
        <p:spPr>
          <a:xfrm>
            <a:off x="3833902" y="4400451"/>
            <a:ext cx="1844397" cy="231080"/>
          </a:xfrm>
          <a:prstGeom prst="rect">
            <a:avLst/>
          </a:prstGeom>
          <a:noFill/>
          <a:ln/>
        </p:spPr>
        <p:txBody>
          <a:bodyPr wrap="square" lIns="0" tIns="0" rIns="0" bIns="0" rtlCol="0" anchor="t">
            <a:normAutofit/>
          </a:bodyPr>
          <a:lstStyle/>
          <a:p>
            <a:pPr marL="0" indent="0" algn="ctr">
              <a:lnSpc>
                <a:spcPts val="1620"/>
              </a:lnSpc>
              <a:buNone/>
            </a:pPr>
            <a:r>
              <a:rPr lang="es-ES_tradnl" sz="1200" noProof="0" dirty="0" err="1">
                <a:solidFill>
                  <a:srgbClr val="1D1D1B"/>
                </a:solidFill>
                <a:latin typeface="Roboto" pitchFamily="34" charset="0"/>
                <a:ea typeface="Roboto" pitchFamily="34" charset="-122"/>
                <a:cs typeface="Roboto" pitchFamily="34" charset="-120"/>
              </a:rPr>
              <a:t>ln</a:t>
            </a:r>
            <a:r>
              <a:rPr lang="es-ES_tradnl" sz="1200" noProof="0" dirty="0">
                <a:solidFill>
                  <a:srgbClr val="1D1D1B"/>
                </a:solidFill>
                <a:latin typeface="Roboto" pitchFamily="34" charset="0"/>
                <a:ea typeface="Roboto" pitchFamily="34" charset="-122"/>
                <a:cs typeface="Roboto" pitchFamily="34" charset="-120"/>
              </a:rPr>
              <a:t> 3: la cota se alcanza</a:t>
            </a:r>
            <a:endParaRPr lang="es-ES_tradnl" sz="1200" noProof="0" dirty="0"/>
          </a:p>
        </p:txBody>
      </p:sp>
      <p:sp>
        <p:nvSpPr>
          <p:cNvPr id="18" name="Shape 12"/>
          <p:cNvSpPr/>
          <p:nvPr/>
        </p:nvSpPr>
        <p:spPr>
          <a:xfrm>
            <a:off x="6172200" y="2035770"/>
            <a:ext cx="2527300" cy="2697361"/>
          </a:xfrm>
          <a:prstGeom prst="roundRect">
            <a:avLst>
              <a:gd name="adj" fmla="val 4020"/>
            </a:avLst>
          </a:prstGeom>
          <a:solidFill>
            <a:srgbClr val="F4F4F2"/>
          </a:solidFill>
          <a:ln/>
        </p:spPr>
        <p:txBody>
          <a:bodyPr/>
          <a:lstStyle/>
          <a:p>
            <a:endParaRPr lang="es-ES_tradnl" noProof="0" dirty="0"/>
          </a:p>
        </p:txBody>
      </p:sp>
      <p:pic>
        <p:nvPicPr>
          <p:cNvPr id="19" name="Image 4" descr="Ecuador con K = 5 categorías; el par más separado, a 144°, unido por una cuerda"/>
          <p:cNvPicPr>
            <a:picLocks noChangeAspect="1"/>
          </p:cNvPicPr>
          <p:nvPr/>
        </p:nvPicPr>
        <p:blipFill>
          <a:blip r:embed="rId7"/>
          <a:srcRect/>
          <a:stretch/>
        </p:blipFill>
        <p:spPr>
          <a:xfrm>
            <a:off x="6483350" y="2162770"/>
            <a:ext cx="1905000" cy="1905000"/>
          </a:xfrm>
          <a:prstGeom prst="rect">
            <a:avLst/>
          </a:prstGeom>
        </p:spPr>
      </p:pic>
      <p:sp>
        <p:nvSpPr>
          <p:cNvPr id="20" name="Text 13"/>
          <p:cNvSpPr/>
          <p:nvPr/>
        </p:nvSpPr>
        <p:spPr>
          <a:xfrm>
            <a:off x="6881971" y="4118570"/>
            <a:ext cx="1107758" cy="256480"/>
          </a:xfrm>
          <a:prstGeom prst="rect">
            <a:avLst/>
          </a:prstGeom>
          <a:noFill/>
          <a:ln/>
        </p:spPr>
        <p:txBody>
          <a:bodyPr wrap="square" lIns="0" tIns="0" rIns="0" bIns="0" rtlCol="0" anchor="t">
            <a:normAutofit/>
          </a:bodyPr>
          <a:lstStyle/>
          <a:p>
            <a:pPr marL="0" indent="0" algn="ctr">
              <a:lnSpc>
                <a:spcPts val="1820"/>
              </a:lnSpc>
              <a:buNone/>
            </a:pPr>
            <a:r>
              <a:rPr lang="es-ES_tradnl" sz="1400" b="1" noProof="0" dirty="0">
                <a:solidFill>
                  <a:srgbClr val="1D1D1B"/>
                </a:solidFill>
                <a:latin typeface="Roboto" pitchFamily="34" charset="0"/>
                <a:ea typeface="Roboto" pitchFamily="34" charset="-122"/>
                <a:cs typeface="Roboto" pitchFamily="34" charset="-120"/>
              </a:rPr>
              <a:t>K = 5 · 144°</a:t>
            </a:r>
            <a:endParaRPr lang="es-ES_tradnl" sz="1400" noProof="0" dirty="0"/>
          </a:p>
        </p:txBody>
      </p:sp>
      <p:sp>
        <p:nvSpPr>
          <p:cNvPr id="21" name="Text 14"/>
          <p:cNvSpPr/>
          <p:nvPr/>
        </p:nvSpPr>
        <p:spPr>
          <a:xfrm>
            <a:off x="6682303" y="4400451"/>
            <a:ext cx="1507093" cy="231080"/>
          </a:xfrm>
          <a:prstGeom prst="rect">
            <a:avLst/>
          </a:prstGeom>
          <a:noFill/>
          <a:ln/>
        </p:spPr>
        <p:txBody>
          <a:bodyPr wrap="square" lIns="0" tIns="0" rIns="0" bIns="0" rtlCol="0" anchor="t">
            <a:normAutofit/>
          </a:bodyPr>
          <a:lstStyle/>
          <a:p>
            <a:pPr marL="0" indent="0" algn="ctr">
              <a:lnSpc>
                <a:spcPts val="1620"/>
              </a:lnSpc>
              <a:buNone/>
            </a:pPr>
            <a:r>
              <a:rPr lang="es-ES_tradnl" sz="1200" noProof="0" dirty="0">
                <a:solidFill>
                  <a:srgbClr val="3C3C3B"/>
                </a:solidFill>
                <a:latin typeface="Roboto" pitchFamily="34" charset="0"/>
                <a:ea typeface="Roboto" pitchFamily="34" charset="-122"/>
                <a:cs typeface="Roboto" pitchFamily="34" charset="-120"/>
              </a:rPr>
              <a:t>1.049 &lt; cota 1.065</a:t>
            </a:r>
            <a:endParaRPr lang="es-ES_tradnl" sz="1200" noProof="0" dirty="0"/>
          </a:p>
        </p:txBody>
      </p:sp>
      <p:sp>
        <p:nvSpPr>
          <p:cNvPr id="22" name="Shape 15"/>
          <p:cNvSpPr/>
          <p:nvPr/>
        </p:nvSpPr>
        <p:spPr>
          <a:xfrm>
            <a:off x="8861425" y="2045295"/>
            <a:ext cx="2508250" cy="2678311"/>
          </a:xfrm>
          <a:prstGeom prst="roundRect">
            <a:avLst>
              <a:gd name="adj" fmla="val 3671"/>
            </a:avLst>
          </a:prstGeom>
          <a:solidFill>
            <a:srgbClr val="FFFFFF"/>
          </a:solidFill>
          <a:ln w="19050">
            <a:solidFill>
              <a:srgbClr val="1D1D1B"/>
            </a:solidFill>
            <a:prstDash val="solid"/>
          </a:ln>
        </p:spPr>
        <p:txBody>
          <a:bodyPr/>
          <a:lstStyle/>
          <a:p>
            <a:endParaRPr lang="es-ES_tradnl" noProof="0" dirty="0"/>
          </a:p>
        </p:txBody>
      </p:sp>
      <p:pic>
        <p:nvPicPr>
          <p:cNvPr id="23" name="Image 5" descr="Ecuador con K = 10 categorías; el par opuesto, a 180°, unido por una cuerda"/>
          <p:cNvPicPr>
            <a:picLocks noChangeAspect="1"/>
          </p:cNvPicPr>
          <p:nvPr/>
        </p:nvPicPr>
        <p:blipFill>
          <a:blip r:embed="rId8"/>
          <a:srcRect/>
          <a:stretch/>
        </p:blipFill>
        <p:spPr>
          <a:xfrm>
            <a:off x="9163050" y="2162770"/>
            <a:ext cx="1905000" cy="1905000"/>
          </a:xfrm>
          <a:prstGeom prst="rect">
            <a:avLst/>
          </a:prstGeom>
        </p:spPr>
      </p:pic>
      <p:sp>
        <p:nvSpPr>
          <p:cNvPr id="24" name="Text 16"/>
          <p:cNvSpPr/>
          <p:nvPr/>
        </p:nvSpPr>
        <p:spPr>
          <a:xfrm>
            <a:off x="9500364" y="4118570"/>
            <a:ext cx="1230273" cy="256480"/>
          </a:xfrm>
          <a:prstGeom prst="rect">
            <a:avLst/>
          </a:prstGeom>
          <a:noFill/>
          <a:ln/>
        </p:spPr>
        <p:txBody>
          <a:bodyPr wrap="square" lIns="0" tIns="0" rIns="0" bIns="0" rtlCol="0" anchor="t">
            <a:normAutofit/>
          </a:bodyPr>
          <a:lstStyle/>
          <a:p>
            <a:pPr marL="0" indent="0" algn="ctr">
              <a:lnSpc>
                <a:spcPts val="1820"/>
              </a:lnSpc>
              <a:buNone/>
            </a:pPr>
            <a:r>
              <a:rPr lang="es-ES_tradnl" sz="1400" b="1" noProof="0" dirty="0">
                <a:solidFill>
                  <a:srgbClr val="1D1D1B"/>
                </a:solidFill>
                <a:latin typeface="Roboto" pitchFamily="34" charset="0"/>
                <a:ea typeface="Roboto" pitchFamily="34" charset="-122"/>
                <a:cs typeface="Roboto" pitchFamily="34" charset="-120"/>
              </a:rPr>
              <a:t>K = 10 · 180°</a:t>
            </a:r>
            <a:endParaRPr lang="es-ES_tradnl" sz="1400" noProof="0" dirty="0"/>
          </a:p>
        </p:txBody>
      </p:sp>
      <p:sp>
        <p:nvSpPr>
          <p:cNvPr id="25" name="Text 17"/>
          <p:cNvSpPr/>
          <p:nvPr/>
        </p:nvSpPr>
        <p:spPr>
          <a:xfrm>
            <a:off x="9193302" y="4400451"/>
            <a:ext cx="1844397" cy="231080"/>
          </a:xfrm>
          <a:prstGeom prst="rect">
            <a:avLst/>
          </a:prstGeom>
          <a:noFill/>
          <a:ln/>
        </p:spPr>
        <p:txBody>
          <a:bodyPr wrap="square" lIns="0" tIns="0" rIns="0" bIns="0" rtlCol="0" anchor="t">
            <a:normAutofit/>
          </a:bodyPr>
          <a:lstStyle/>
          <a:p>
            <a:pPr marL="0" indent="0" algn="ctr">
              <a:lnSpc>
                <a:spcPts val="1620"/>
              </a:lnSpc>
              <a:buNone/>
            </a:pPr>
            <a:r>
              <a:rPr lang="es-ES_tradnl" sz="1200" noProof="0" dirty="0" err="1">
                <a:solidFill>
                  <a:srgbClr val="1D1D1B"/>
                </a:solidFill>
                <a:latin typeface="Roboto" pitchFamily="34" charset="0"/>
                <a:ea typeface="Roboto" pitchFamily="34" charset="-122"/>
                <a:cs typeface="Roboto" pitchFamily="34" charset="-120"/>
              </a:rPr>
              <a:t>ln</a:t>
            </a:r>
            <a:r>
              <a:rPr lang="es-ES_tradnl" sz="1200" noProof="0" dirty="0">
                <a:solidFill>
                  <a:srgbClr val="1D1D1B"/>
                </a:solidFill>
                <a:latin typeface="Roboto" pitchFamily="34" charset="0"/>
                <a:ea typeface="Roboto" pitchFamily="34" charset="-122"/>
                <a:cs typeface="Roboto" pitchFamily="34" charset="-120"/>
              </a:rPr>
              <a:t> 3: la cota se alcanza</a:t>
            </a:r>
            <a:endParaRPr lang="es-ES_tradnl" sz="1200" noProof="0" dirty="0"/>
          </a:p>
        </p:txBody>
      </p:sp>
      <p:sp>
        <p:nvSpPr>
          <p:cNvPr id="26" name="Shape 18"/>
          <p:cNvSpPr/>
          <p:nvPr/>
        </p:nvSpPr>
        <p:spPr>
          <a:xfrm>
            <a:off x="831850" y="4885531"/>
            <a:ext cx="0" cy="426641"/>
          </a:xfrm>
          <a:prstGeom prst="line">
            <a:avLst/>
          </a:prstGeom>
          <a:noFill/>
          <a:ln w="38100">
            <a:solidFill>
              <a:srgbClr val="293470"/>
            </a:solidFill>
            <a:prstDash val="solid"/>
          </a:ln>
        </p:spPr>
        <p:txBody>
          <a:bodyPr/>
          <a:lstStyle/>
          <a:p>
            <a:endParaRPr lang="es-ES_tradnl" noProof="0" dirty="0"/>
          </a:p>
        </p:txBody>
      </p:sp>
      <p:sp>
        <p:nvSpPr>
          <p:cNvPr id="27" name="Text 19"/>
          <p:cNvSpPr/>
          <p:nvPr/>
        </p:nvSpPr>
        <p:spPr>
          <a:xfrm>
            <a:off x="977900" y="4885531"/>
            <a:ext cx="5114671" cy="452041"/>
          </a:xfrm>
          <a:prstGeom prst="rect">
            <a:avLst/>
          </a:prstGeom>
          <a:noFill/>
          <a:ln/>
        </p:spPr>
        <p:txBody>
          <a:bodyPr wrap="square" lIns="0" tIns="0" rIns="0" bIns="0" rtlCol="0" anchor="t">
            <a:normAutofit/>
          </a:bodyPr>
          <a:lstStyle/>
          <a:p>
            <a:pPr marL="0" indent="0" algn="l">
              <a:lnSpc>
                <a:spcPts val="1680"/>
              </a:lnSpc>
              <a:buNone/>
            </a:pPr>
            <a:r>
              <a:rPr lang="es-ES_tradnl" sz="1200" noProof="0" dirty="0">
                <a:solidFill>
                  <a:srgbClr val="3C3C3B"/>
                </a:solidFill>
                <a:latin typeface="Roboto" pitchFamily="34" charset="0"/>
                <a:ea typeface="Roboto" pitchFamily="34" charset="-122"/>
                <a:cs typeface="Roboto" pitchFamily="34" charset="-120"/>
              </a:rPr>
              <a:t>Opuestos (180°) = ortogonales: d = 1 y hay una medición que los separa perfectamente antes del ruido. Por eso ahí la cota se alcanza.</a:t>
            </a:r>
            <a:endParaRPr lang="es-ES_tradnl" sz="1200" noProof="0" dirty="0"/>
          </a:p>
        </p:txBody>
      </p:sp>
      <p:sp>
        <p:nvSpPr>
          <p:cNvPr id="28" name="Shape 20"/>
          <p:cNvSpPr/>
          <p:nvPr/>
        </p:nvSpPr>
        <p:spPr>
          <a:xfrm>
            <a:off x="6267450" y="4885531"/>
            <a:ext cx="0" cy="426641"/>
          </a:xfrm>
          <a:prstGeom prst="line">
            <a:avLst/>
          </a:prstGeom>
          <a:noFill/>
          <a:ln w="38100">
            <a:solidFill>
              <a:srgbClr val="FFEE00"/>
            </a:solidFill>
            <a:prstDash val="solid"/>
          </a:ln>
        </p:spPr>
        <p:txBody>
          <a:bodyPr/>
          <a:lstStyle/>
          <a:p>
            <a:endParaRPr lang="es-ES_tradnl" noProof="0" dirty="0"/>
          </a:p>
        </p:txBody>
      </p:sp>
      <p:sp>
        <p:nvSpPr>
          <p:cNvPr id="29" name="Text 21"/>
          <p:cNvSpPr/>
          <p:nvPr/>
        </p:nvSpPr>
        <p:spPr>
          <a:xfrm>
            <a:off x="6413500" y="4885531"/>
            <a:ext cx="5114671" cy="452041"/>
          </a:xfrm>
          <a:prstGeom prst="rect">
            <a:avLst/>
          </a:prstGeom>
          <a:noFill/>
          <a:ln/>
        </p:spPr>
        <p:txBody>
          <a:bodyPr wrap="square" lIns="0" tIns="0" rIns="0" bIns="0" rtlCol="0" anchor="t">
            <a:normAutofit/>
          </a:bodyPr>
          <a:lstStyle/>
          <a:p>
            <a:pPr marL="0" indent="0" algn="l">
              <a:lnSpc>
                <a:spcPts val="1680"/>
              </a:lnSpc>
              <a:buNone/>
            </a:pPr>
            <a:r>
              <a:rPr lang="es-ES_tradnl" sz="1200" noProof="0" dirty="0">
                <a:solidFill>
                  <a:srgbClr val="3C3C3B"/>
                </a:solidFill>
                <a:latin typeface="Roboto" pitchFamily="34" charset="0"/>
                <a:ea typeface="Roboto" pitchFamily="34" charset="-122"/>
                <a:cs typeface="Roboto" pitchFamily="34" charset="-120"/>
              </a:rPr>
              <a:t>K par: K/2 pasos de 2π/K dan exactamente π. K impar: el máximo es (K − 1)/K · 180°. Con K = 21 ya son 171.4° y el </a:t>
            </a:r>
            <a:r>
              <a:rPr lang="es-ES_tradnl" sz="1200" noProof="0" dirty="0" err="1">
                <a:solidFill>
                  <a:srgbClr val="3C3C3B"/>
                </a:solidFill>
                <a:latin typeface="Roboto" pitchFamily="34" charset="0"/>
                <a:ea typeface="Roboto" pitchFamily="34" charset="-122"/>
                <a:cs typeface="Roboto" pitchFamily="34" charset="-120"/>
              </a:rPr>
              <a:t>ε</a:t>
            </a:r>
            <a:r>
              <a:rPr lang="es-ES_tradnl" sz="1200" noProof="0" dirty="0">
                <a:solidFill>
                  <a:srgbClr val="3C3C3B"/>
                </a:solidFill>
                <a:latin typeface="Roboto" pitchFamily="34" charset="0"/>
                <a:ea typeface="Roboto" pitchFamily="34" charset="-122"/>
                <a:cs typeface="Roboto" pitchFamily="34" charset="-120"/>
              </a:rPr>
              <a:t> tiende a </a:t>
            </a:r>
            <a:r>
              <a:rPr lang="es-ES_tradnl" sz="1200" noProof="0" dirty="0" err="1">
                <a:solidFill>
                  <a:srgbClr val="3C3C3B"/>
                </a:solidFill>
                <a:latin typeface="Roboto" pitchFamily="34" charset="0"/>
                <a:ea typeface="Roboto" pitchFamily="34" charset="-122"/>
                <a:cs typeface="Roboto" pitchFamily="34" charset="-120"/>
              </a:rPr>
              <a:t>ln</a:t>
            </a:r>
            <a:r>
              <a:rPr lang="es-ES_tradnl" sz="1200" noProof="0" dirty="0">
                <a:solidFill>
                  <a:srgbClr val="3C3C3B"/>
                </a:solidFill>
                <a:latin typeface="Roboto" pitchFamily="34" charset="0"/>
                <a:ea typeface="Roboto" pitchFamily="34" charset="-122"/>
                <a:cs typeface="Roboto" pitchFamily="34" charset="-120"/>
              </a:rPr>
              <a:t> 3.</a:t>
            </a:r>
            <a:endParaRPr lang="es-ES_tradnl" sz="1200" noProof="0" dirty="0"/>
          </a:p>
        </p:txBody>
      </p:sp>
      <p:sp>
        <p:nvSpPr>
          <p:cNvPr id="31" name="Text 23"/>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a:solidFill>
                  <a:srgbClr val="1D1D1B"/>
                </a:solidFill>
                <a:latin typeface="Roboto" pitchFamily="34" charset="0"/>
                <a:ea typeface="Roboto" pitchFamily="34" charset="-122"/>
                <a:cs typeface="Roboto" pitchFamily="34" charset="-120"/>
              </a:rPr>
              <a:t>34</a:t>
            </a:r>
            <a:endParaRPr lang="es-ES_tradnl" sz="1200" noProof="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s-ES_tradnl" noProof="0" dirty="0"/>
          </a:p>
        </p:txBody>
      </p:sp>
      <p:sp>
        <p:nvSpPr>
          <p:cNvPr id="3" name="Shape 1"/>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dirty="0">
                <a:solidFill>
                  <a:srgbClr val="1D1D1B"/>
                </a:solidFill>
                <a:latin typeface="DM Sans" pitchFamily="34" charset="0"/>
                <a:ea typeface="DM Sans" pitchFamily="34" charset="-122"/>
                <a:cs typeface="DM Sans" pitchFamily="34" charset="-120"/>
              </a:rPr>
              <a:t>IV</a:t>
            </a:r>
            <a:endParaRPr lang="es-ES_tradnl" sz="1200" noProof="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dirty="0">
                <a:solidFill>
                  <a:srgbClr val="6E6E6C"/>
                </a:solidFill>
                <a:latin typeface="Roboto" pitchFamily="34" charset="0"/>
                <a:ea typeface="Roboto" pitchFamily="34" charset="-122"/>
                <a:cs typeface="Roboto" pitchFamily="34" charset="-120"/>
              </a:rPr>
              <a:t>RESULTADOS</a:t>
            </a:r>
            <a:endParaRPr lang="es-ES_tradnl" sz="1200" noProof="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s-ES_tradnl" sz="2800" b="1" i="0" kern="0" spc="-50" noProof="0" dirty="0">
                <a:solidFill>
                  <a:srgbClr val="1D1D1B"/>
                </a:solidFill>
                <a:latin typeface="DM Sans" pitchFamily="34" charset="0"/>
                <a:ea typeface="DM Sans" pitchFamily="34" charset="-122"/>
                <a:cs typeface="DM Sans" pitchFamily="34" charset="-120"/>
              </a:rPr>
              <a:t>Privacidad contra utilidad</a:t>
            </a:r>
            <a:endParaRPr lang="es-ES_tradnl" sz="2800" noProof="0" dirty="0"/>
          </a:p>
        </p:txBody>
      </p:sp>
      <p:sp>
        <p:nvSpPr>
          <p:cNvPr id="8" name="Text 5"/>
          <p:cNvSpPr/>
          <p:nvPr/>
        </p:nvSpPr>
        <p:spPr>
          <a:xfrm>
            <a:off x="812800" y="1305520"/>
            <a:ext cx="10883392" cy="322560"/>
          </a:xfrm>
          <a:prstGeom prst="rect">
            <a:avLst/>
          </a:prstGeom>
          <a:noFill/>
          <a:ln/>
        </p:spPr>
        <p:txBody>
          <a:bodyPr wrap="square" lIns="0" tIns="0" rIns="0" bIns="0" rtlCol="0" anchor="t">
            <a:normAutofit/>
          </a:bodyPr>
          <a:lstStyle/>
          <a:p>
            <a:pPr marL="0" indent="0" algn="l">
              <a:lnSpc>
                <a:spcPts val="2340"/>
              </a:lnSpc>
              <a:buNone/>
            </a:pPr>
            <a:r>
              <a:rPr lang="es-ES_tradnl" sz="1800" noProof="0" dirty="0">
                <a:solidFill>
                  <a:srgbClr val="3C3C3B"/>
                </a:solidFill>
                <a:latin typeface="Roboto" pitchFamily="34" charset="0"/>
                <a:ea typeface="Roboto" pitchFamily="34" charset="-122"/>
                <a:cs typeface="Roboto" pitchFamily="34" charset="-120"/>
              </a:rPr>
              <a:t>La privacidad la fija el par más separado; la utilidad, los pares vecinos (separación 360°/K).</a:t>
            </a:r>
            <a:endParaRPr lang="es-ES_tradnl" sz="1800" noProof="0" dirty="0"/>
          </a:p>
        </p:txBody>
      </p:sp>
      <p:sp>
        <p:nvSpPr>
          <p:cNvPr id="9" name="Shape 6"/>
          <p:cNvSpPr/>
          <p:nvPr/>
        </p:nvSpPr>
        <p:spPr>
          <a:xfrm>
            <a:off x="812800" y="1831280"/>
            <a:ext cx="5181600" cy="2260600"/>
          </a:xfrm>
          <a:prstGeom prst="roundRect">
            <a:avLst>
              <a:gd name="adj" fmla="val 4494"/>
            </a:avLst>
          </a:prstGeom>
          <a:solidFill>
            <a:srgbClr val="F4F4F2"/>
          </a:solidFill>
          <a:ln/>
        </p:spPr>
        <p:txBody>
          <a:bodyPr/>
          <a:lstStyle/>
          <a:p>
            <a:endParaRPr lang="es-ES_tradnl" noProof="0" dirty="0"/>
          </a:p>
        </p:txBody>
      </p:sp>
      <p:pic>
        <p:nvPicPr>
          <p:cNvPr id="10" name="Image 1" descr="Ecuador con K = 4 categorías; dos vecinas separadas 90° marcadas con un arco"/>
          <p:cNvPicPr>
            <a:picLocks noChangeAspect="1"/>
          </p:cNvPicPr>
          <p:nvPr/>
        </p:nvPicPr>
        <p:blipFill>
          <a:blip r:embed="rId4"/>
          <a:srcRect/>
          <a:stretch/>
        </p:blipFill>
        <p:spPr>
          <a:xfrm>
            <a:off x="1041400" y="2009080"/>
            <a:ext cx="1905000" cy="1905000"/>
          </a:xfrm>
          <a:prstGeom prst="rect">
            <a:avLst/>
          </a:prstGeom>
        </p:spPr>
      </p:pic>
      <p:sp>
        <p:nvSpPr>
          <p:cNvPr id="11" name="Text 7"/>
          <p:cNvSpPr/>
          <p:nvPr/>
        </p:nvSpPr>
        <p:spPr>
          <a:xfrm>
            <a:off x="3149600" y="2202259"/>
            <a:ext cx="2694686" cy="274241"/>
          </a:xfrm>
          <a:prstGeom prst="rect">
            <a:avLst/>
          </a:prstGeom>
          <a:noFill/>
          <a:ln/>
        </p:spPr>
        <p:txBody>
          <a:bodyPr wrap="square" lIns="0" tIns="0" rIns="0" bIns="0" rtlCol="0" anchor="t">
            <a:normAutofit/>
          </a:bodyPr>
          <a:lstStyle/>
          <a:p>
            <a:pPr marL="0" indent="0" algn="l">
              <a:lnSpc>
                <a:spcPts val="1960"/>
              </a:lnSpc>
              <a:buNone/>
            </a:pPr>
            <a:r>
              <a:rPr lang="es-ES_tradnl" sz="1400" b="1" noProof="0" dirty="0" err="1">
                <a:solidFill>
                  <a:srgbClr val="293470"/>
                </a:solidFill>
                <a:latin typeface="Roboto" pitchFamily="34" charset="0"/>
                <a:ea typeface="Roboto" pitchFamily="34" charset="-122"/>
                <a:cs typeface="Roboto" pitchFamily="34" charset="-120"/>
              </a:rPr>
              <a:t>collateral</a:t>
            </a:r>
            <a:r>
              <a:rPr lang="es-ES_tradnl" sz="1400" b="1" noProof="0" dirty="0">
                <a:solidFill>
                  <a:srgbClr val="1D1D1B"/>
                </a:solidFill>
                <a:latin typeface="Roboto" pitchFamily="34" charset="0"/>
                <a:ea typeface="Roboto" pitchFamily="34" charset="-122"/>
                <a:cs typeface="Roboto" pitchFamily="34" charset="-120"/>
              </a:rPr>
              <a:t> · K = 4</a:t>
            </a:r>
            <a:endParaRPr lang="es-ES_tradnl" sz="1400" noProof="0" dirty="0"/>
          </a:p>
        </p:txBody>
      </p:sp>
      <p:sp>
        <p:nvSpPr>
          <p:cNvPr id="12" name="Text 8"/>
          <p:cNvSpPr/>
          <p:nvPr/>
        </p:nvSpPr>
        <p:spPr>
          <a:xfrm>
            <a:off x="3149600" y="2540000"/>
            <a:ext cx="2694686" cy="238720"/>
          </a:xfrm>
          <a:prstGeom prst="rect">
            <a:avLst/>
          </a:prstGeom>
          <a:noFill/>
          <a:ln/>
        </p:spPr>
        <p:txBody>
          <a:bodyPr wrap="square" lIns="0" tIns="0" rIns="0" bIns="0" rtlCol="0" anchor="t">
            <a:normAutofit/>
          </a:bodyPr>
          <a:lstStyle/>
          <a:p>
            <a:pPr marL="0" indent="0" algn="l">
              <a:lnSpc>
                <a:spcPts val="1680"/>
              </a:lnSpc>
              <a:buNone/>
            </a:pPr>
            <a:r>
              <a:rPr lang="es-ES_tradnl" sz="1200" kern="0" spc="100" noProof="0" dirty="0">
                <a:solidFill>
                  <a:srgbClr val="6E6E6C"/>
                </a:solidFill>
                <a:latin typeface="Roboto" pitchFamily="34" charset="0"/>
                <a:ea typeface="Roboto" pitchFamily="34" charset="-122"/>
                <a:cs typeface="Roboto" pitchFamily="34" charset="-120"/>
              </a:rPr>
              <a:t>PRIVACIDAD</a:t>
            </a:r>
            <a:endParaRPr lang="es-ES_tradnl" sz="1200" noProof="0" dirty="0"/>
          </a:p>
        </p:txBody>
      </p:sp>
      <p:sp>
        <p:nvSpPr>
          <p:cNvPr id="13" name="Text 9"/>
          <p:cNvSpPr/>
          <p:nvPr/>
        </p:nvSpPr>
        <p:spPr>
          <a:xfrm>
            <a:off x="3149600" y="2766020"/>
            <a:ext cx="2694686" cy="345380"/>
          </a:xfrm>
          <a:prstGeom prst="rect">
            <a:avLst/>
          </a:prstGeom>
          <a:noFill/>
          <a:ln/>
        </p:spPr>
        <p:txBody>
          <a:bodyPr wrap="square" lIns="0" tIns="0" rIns="0" bIns="0" rtlCol="0" anchor="t">
            <a:normAutofit/>
          </a:bodyPr>
          <a:lstStyle/>
          <a:p>
            <a:pPr marL="0" indent="0" algn="l">
              <a:lnSpc>
                <a:spcPts val="2520"/>
              </a:lnSpc>
              <a:buNone/>
            </a:pPr>
            <a:r>
              <a:rPr lang="es-ES_tradnl" sz="1800" b="1" noProof="0" dirty="0" err="1">
                <a:solidFill>
                  <a:srgbClr val="1D1D1B"/>
                </a:solidFill>
                <a:latin typeface="DM Sans" pitchFamily="34" charset="0"/>
                <a:ea typeface="DM Sans" pitchFamily="34" charset="-122"/>
                <a:cs typeface="DM Sans" pitchFamily="34" charset="-120"/>
              </a:rPr>
              <a:t>ε</a:t>
            </a:r>
            <a:r>
              <a:rPr lang="es-ES_tradnl" sz="1800" b="1" noProof="0" dirty="0">
                <a:solidFill>
                  <a:srgbClr val="1D1D1B"/>
                </a:solidFill>
                <a:latin typeface="DM Sans" pitchFamily="34" charset="0"/>
                <a:ea typeface="DM Sans" pitchFamily="34" charset="-122"/>
                <a:cs typeface="DM Sans" pitchFamily="34" charset="-120"/>
              </a:rPr>
              <a:t> = </a:t>
            </a:r>
            <a:r>
              <a:rPr lang="es-ES_tradnl" sz="1800" b="1" noProof="0" dirty="0" err="1">
                <a:solidFill>
                  <a:srgbClr val="1D1D1B"/>
                </a:solidFill>
                <a:latin typeface="DM Sans" pitchFamily="34" charset="0"/>
                <a:ea typeface="DM Sans" pitchFamily="34" charset="-122"/>
                <a:cs typeface="DM Sans" pitchFamily="34" charset="-120"/>
              </a:rPr>
              <a:t>ln</a:t>
            </a:r>
            <a:r>
              <a:rPr lang="es-ES_tradnl" sz="1800" b="1" noProof="0" dirty="0">
                <a:solidFill>
                  <a:srgbClr val="1D1D1B"/>
                </a:solidFill>
                <a:latin typeface="DM Sans" pitchFamily="34" charset="0"/>
                <a:ea typeface="DM Sans" pitchFamily="34" charset="-122"/>
                <a:cs typeface="DM Sans" pitchFamily="34" charset="-120"/>
              </a:rPr>
              <a:t> 3 ≈ 1.10</a:t>
            </a:r>
            <a:endParaRPr lang="es-ES_tradnl" sz="1800" noProof="0" dirty="0"/>
          </a:p>
        </p:txBody>
      </p:sp>
      <p:sp>
        <p:nvSpPr>
          <p:cNvPr id="14" name="Text 10"/>
          <p:cNvSpPr/>
          <p:nvPr/>
        </p:nvSpPr>
        <p:spPr>
          <a:xfrm>
            <a:off x="3149600" y="3174901"/>
            <a:ext cx="2694686" cy="238720"/>
          </a:xfrm>
          <a:prstGeom prst="rect">
            <a:avLst/>
          </a:prstGeom>
          <a:noFill/>
          <a:ln/>
        </p:spPr>
        <p:txBody>
          <a:bodyPr wrap="square" lIns="0" tIns="0" rIns="0" bIns="0" rtlCol="0" anchor="t">
            <a:normAutofit/>
          </a:bodyPr>
          <a:lstStyle/>
          <a:p>
            <a:pPr marL="0" indent="0" algn="l">
              <a:lnSpc>
                <a:spcPts val="1680"/>
              </a:lnSpc>
              <a:buNone/>
            </a:pPr>
            <a:r>
              <a:rPr lang="es-ES_tradnl" sz="1200" kern="0" spc="100" noProof="0" dirty="0">
                <a:solidFill>
                  <a:srgbClr val="6E6E6C"/>
                </a:solidFill>
                <a:latin typeface="Roboto" pitchFamily="34" charset="0"/>
                <a:ea typeface="Roboto" pitchFamily="34" charset="-122"/>
                <a:cs typeface="Roboto" pitchFamily="34" charset="-120"/>
              </a:rPr>
              <a:t>UTILIDAD</a:t>
            </a:r>
            <a:endParaRPr lang="es-ES_tradnl" sz="1200" noProof="0" dirty="0"/>
          </a:p>
        </p:txBody>
      </p:sp>
      <p:sp>
        <p:nvSpPr>
          <p:cNvPr id="15" name="Text 11"/>
          <p:cNvSpPr/>
          <p:nvPr/>
        </p:nvSpPr>
        <p:spPr>
          <a:xfrm>
            <a:off x="3149600" y="3400921"/>
            <a:ext cx="2694686" cy="345380"/>
          </a:xfrm>
          <a:prstGeom prst="rect">
            <a:avLst/>
          </a:prstGeom>
          <a:noFill/>
          <a:ln/>
        </p:spPr>
        <p:txBody>
          <a:bodyPr wrap="square" lIns="0" tIns="0" rIns="0" bIns="0" rtlCol="0" anchor="t">
            <a:normAutofit/>
          </a:bodyPr>
          <a:lstStyle/>
          <a:p>
            <a:pPr marL="0" indent="0" algn="l">
              <a:lnSpc>
                <a:spcPts val="2520"/>
              </a:lnSpc>
              <a:buNone/>
            </a:pPr>
            <a:r>
              <a:rPr lang="es-ES_tradnl" sz="1800" b="1" noProof="0" dirty="0">
                <a:solidFill>
                  <a:srgbClr val="1D1D1B"/>
                </a:solidFill>
                <a:latin typeface="DM Sans" pitchFamily="34" charset="0"/>
                <a:ea typeface="DM Sans" pitchFamily="34" charset="-122"/>
                <a:cs typeface="DM Sans" pitchFamily="34" charset="-120"/>
              </a:rPr>
              <a:t>vecinas a 90°</a:t>
            </a:r>
            <a:endParaRPr lang="es-ES_tradnl" sz="1800" noProof="0" dirty="0"/>
          </a:p>
        </p:txBody>
      </p:sp>
      <p:sp>
        <p:nvSpPr>
          <p:cNvPr id="16" name="Shape 12"/>
          <p:cNvSpPr/>
          <p:nvPr/>
        </p:nvSpPr>
        <p:spPr>
          <a:xfrm>
            <a:off x="6197600" y="1831280"/>
            <a:ext cx="5181600" cy="2260600"/>
          </a:xfrm>
          <a:prstGeom prst="roundRect">
            <a:avLst>
              <a:gd name="adj" fmla="val 4494"/>
            </a:avLst>
          </a:prstGeom>
          <a:solidFill>
            <a:srgbClr val="F4F4F2"/>
          </a:solidFill>
          <a:ln/>
        </p:spPr>
        <p:txBody>
          <a:bodyPr/>
          <a:lstStyle/>
          <a:p>
            <a:endParaRPr lang="es-ES_tradnl" noProof="0" dirty="0"/>
          </a:p>
        </p:txBody>
      </p:sp>
      <p:pic>
        <p:nvPicPr>
          <p:cNvPr id="17" name="Image 2" descr="Ecuador con K = 10 categorías; dos vecinas separadas 36° marcadas con un arco"/>
          <p:cNvPicPr>
            <a:picLocks noChangeAspect="1"/>
          </p:cNvPicPr>
          <p:nvPr/>
        </p:nvPicPr>
        <p:blipFill>
          <a:blip r:embed="rId5"/>
          <a:srcRect/>
          <a:stretch/>
        </p:blipFill>
        <p:spPr>
          <a:xfrm>
            <a:off x="6426200" y="2009080"/>
            <a:ext cx="1905000" cy="1905000"/>
          </a:xfrm>
          <a:prstGeom prst="rect">
            <a:avLst/>
          </a:prstGeom>
        </p:spPr>
      </p:pic>
      <p:sp>
        <p:nvSpPr>
          <p:cNvPr id="18" name="Text 13"/>
          <p:cNvSpPr/>
          <p:nvPr/>
        </p:nvSpPr>
        <p:spPr>
          <a:xfrm>
            <a:off x="8534400" y="2202259"/>
            <a:ext cx="2694686" cy="274241"/>
          </a:xfrm>
          <a:prstGeom prst="rect">
            <a:avLst/>
          </a:prstGeom>
          <a:noFill/>
          <a:ln/>
        </p:spPr>
        <p:txBody>
          <a:bodyPr wrap="square" lIns="0" tIns="0" rIns="0" bIns="0" rtlCol="0" anchor="t">
            <a:normAutofit/>
          </a:bodyPr>
          <a:lstStyle/>
          <a:p>
            <a:pPr marL="0" indent="0" algn="l">
              <a:lnSpc>
                <a:spcPts val="1960"/>
              </a:lnSpc>
              <a:buNone/>
            </a:pPr>
            <a:r>
              <a:rPr lang="es-ES_tradnl" sz="1400" b="1" noProof="0" dirty="0" err="1">
                <a:solidFill>
                  <a:srgbClr val="293470"/>
                </a:solidFill>
                <a:latin typeface="Roboto" pitchFamily="34" charset="0"/>
                <a:ea typeface="Roboto" pitchFamily="34" charset="-122"/>
                <a:cs typeface="Roboto" pitchFamily="34" charset="-120"/>
              </a:rPr>
              <a:t>purpose</a:t>
            </a:r>
            <a:r>
              <a:rPr lang="es-ES_tradnl" sz="1400" b="1" noProof="0" dirty="0">
                <a:solidFill>
                  <a:srgbClr val="1D1D1B"/>
                </a:solidFill>
                <a:latin typeface="Roboto" pitchFamily="34" charset="0"/>
                <a:ea typeface="Roboto" pitchFamily="34" charset="-122"/>
                <a:cs typeface="Roboto" pitchFamily="34" charset="-120"/>
              </a:rPr>
              <a:t> · K = 10</a:t>
            </a:r>
            <a:endParaRPr lang="es-ES_tradnl" sz="1400" noProof="0" dirty="0"/>
          </a:p>
        </p:txBody>
      </p:sp>
      <p:sp>
        <p:nvSpPr>
          <p:cNvPr id="19" name="Text 14"/>
          <p:cNvSpPr/>
          <p:nvPr/>
        </p:nvSpPr>
        <p:spPr>
          <a:xfrm>
            <a:off x="8534400" y="2540000"/>
            <a:ext cx="2694686" cy="238720"/>
          </a:xfrm>
          <a:prstGeom prst="rect">
            <a:avLst/>
          </a:prstGeom>
          <a:noFill/>
          <a:ln/>
        </p:spPr>
        <p:txBody>
          <a:bodyPr wrap="square" lIns="0" tIns="0" rIns="0" bIns="0" rtlCol="0" anchor="t">
            <a:normAutofit/>
          </a:bodyPr>
          <a:lstStyle/>
          <a:p>
            <a:pPr marL="0" indent="0" algn="l">
              <a:lnSpc>
                <a:spcPts val="1680"/>
              </a:lnSpc>
              <a:buNone/>
            </a:pPr>
            <a:r>
              <a:rPr lang="es-ES_tradnl" sz="1200" kern="0" spc="100" noProof="0" dirty="0">
                <a:solidFill>
                  <a:srgbClr val="6E6E6C"/>
                </a:solidFill>
                <a:latin typeface="Roboto" pitchFamily="34" charset="0"/>
                <a:ea typeface="Roboto" pitchFamily="34" charset="-122"/>
                <a:cs typeface="Roboto" pitchFamily="34" charset="-120"/>
              </a:rPr>
              <a:t>PRIVACIDAD</a:t>
            </a:r>
            <a:endParaRPr lang="es-ES_tradnl" sz="1200" noProof="0" dirty="0"/>
          </a:p>
        </p:txBody>
      </p:sp>
      <p:sp>
        <p:nvSpPr>
          <p:cNvPr id="20" name="Text 15"/>
          <p:cNvSpPr/>
          <p:nvPr/>
        </p:nvSpPr>
        <p:spPr>
          <a:xfrm>
            <a:off x="8534400" y="2766020"/>
            <a:ext cx="2694686" cy="345380"/>
          </a:xfrm>
          <a:prstGeom prst="rect">
            <a:avLst/>
          </a:prstGeom>
          <a:noFill/>
          <a:ln/>
        </p:spPr>
        <p:txBody>
          <a:bodyPr wrap="square" lIns="0" tIns="0" rIns="0" bIns="0" rtlCol="0" anchor="t">
            <a:normAutofit/>
          </a:bodyPr>
          <a:lstStyle/>
          <a:p>
            <a:pPr marL="0" indent="0" algn="l">
              <a:lnSpc>
                <a:spcPts val="2520"/>
              </a:lnSpc>
              <a:buNone/>
            </a:pPr>
            <a:r>
              <a:rPr lang="es-ES_tradnl" sz="1800" b="1" noProof="0" dirty="0" err="1">
                <a:solidFill>
                  <a:srgbClr val="1D1D1B"/>
                </a:solidFill>
                <a:latin typeface="DM Sans" pitchFamily="34" charset="0"/>
                <a:ea typeface="DM Sans" pitchFamily="34" charset="-122"/>
                <a:cs typeface="DM Sans" pitchFamily="34" charset="-120"/>
              </a:rPr>
              <a:t>ε</a:t>
            </a:r>
            <a:r>
              <a:rPr lang="es-ES_tradnl" sz="1800" b="1" noProof="0" dirty="0">
                <a:solidFill>
                  <a:srgbClr val="1D1D1B"/>
                </a:solidFill>
                <a:latin typeface="DM Sans" pitchFamily="34" charset="0"/>
                <a:ea typeface="DM Sans" pitchFamily="34" charset="-122"/>
                <a:cs typeface="DM Sans" pitchFamily="34" charset="-120"/>
              </a:rPr>
              <a:t> = </a:t>
            </a:r>
            <a:r>
              <a:rPr lang="es-ES_tradnl" sz="1800" b="1" noProof="0" dirty="0" err="1">
                <a:solidFill>
                  <a:srgbClr val="1D1D1B"/>
                </a:solidFill>
                <a:latin typeface="DM Sans" pitchFamily="34" charset="0"/>
                <a:ea typeface="DM Sans" pitchFamily="34" charset="-122"/>
                <a:cs typeface="DM Sans" pitchFamily="34" charset="-120"/>
              </a:rPr>
              <a:t>ln</a:t>
            </a:r>
            <a:r>
              <a:rPr lang="es-ES_tradnl" sz="1800" b="1" noProof="0" dirty="0">
                <a:solidFill>
                  <a:srgbClr val="1D1D1B"/>
                </a:solidFill>
                <a:latin typeface="DM Sans" pitchFamily="34" charset="0"/>
                <a:ea typeface="DM Sans" pitchFamily="34" charset="-122"/>
                <a:cs typeface="DM Sans" pitchFamily="34" charset="-120"/>
              </a:rPr>
              <a:t> 3 ≈ 1.10</a:t>
            </a:r>
            <a:endParaRPr lang="es-ES_tradnl" sz="1800" noProof="0" dirty="0"/>
          </a:p>
        </p:txBody>
      </p:sp>
      <p:sp>
        <p:nvSpPr>
          <p:cNvPr id="21" name="Text 16"/>
          <p:cNvSpPr/>
          <p:nvPr/>
        </p:nvSpPr>
        <p:spPr>
          <a:xfrm>
            <a:off x="8534400" y="3174901"/>
            <a:ext cx="2694686" cy="238720"/>
          </a:xfrm>
          <a:prstGeom prst="rect">
            <a:avLst/>
          </a:prstGeom>
          <a:noFill/>
          <a:ln/>
        </p:spPr>
        <p:txBody>
          <a:bodyPr wrap="square" lIns="0" tIns="0" rIns="0" bIns="0" rtlCol="0" anchor="t">
            <a:normAutofit/>
          </a:bodyPr>
          <a:lstStyle/>
          <a:p>
            <a:pPr marL="0" indent="0" algn="l">
              <a:lnSpc>
                <a:spcPts val="1680"/>
              </a:lnSpc>
              <a:buNone/>
            </a:pPr>
            <a:r>
              <a:rPr lang="es-ES_tradnl" sz="1200" kern="0" spc="100" noProof="0" dirty="0">
                <a:solidFill>
                  <a:srgbClr val="6E6E6C"/>
                </a:solidFill>
                <a:latin typeface="Roboto" pitchFamily="34" charset="0"/>
                <a:ea typeface="Roboto" pitchFamily="34" charset="-122"/>
                <a:cs typeface="Roboto" pitchFamily="34" charset="-120"/>
              </a:rPr>
              <a:t>UTILIDAD</a:t>
            </a:r>
            <a:endParaRPr lang="es-ES_tradnl" sz="1200" noProof="0" dirty="0"/>
          </a:p>
        </p:txBody>
      </p:sp>
      <p:sp>
        <p:nvSpPr>
          <p:cNvPr id="22" name="Text 17"/>
          <p:cNvSpPr/>
          <p:nvPr/>
        </p:nvSpPr>
        <p:spPr>
          <a:xfrm>
            <a:off x="8534400" y="3400921"/>
            <a:ext cx="2694686" cy="345380"/>
          </a:xfrm>
          <a:prstGeom prst="rect">
            <a:avLst/>
          </a:prstGeom>
          <a:noFill/>
          <a:ln/>
        </p:spPr>
        <p:txBody>
          <a:bodyPr wrap="square" lIns="0" tIns="0" rIns="0" bIns="0" rtlCol="0" anchor="t">
            <a:normAutofit/>
          </a:bodyPr>
          <a:lstStyle/>
          <a:p>
            <a:pPr marL="0" indent="0" algn="l">
              <a:lnSpc>
                <a:spcPts val="2520"/>
              </a:lnSpc>
              <a:buNone/>
            </a:pPr>
            <a:r>
              <a:rPr lang="es-ES_tradnl" sz="1800" b="1" noProof="0" dirty="0">
                <a:solidFill>
                  <a:srgbClr val="1D1D1B"/>
                </a:solidFill>
                <a:latin typeface="DM Sans" pitchFamily="34" charset="0"/>
                <a:ea typeface="DM Sans" pitchFamily="34" charset="-122"/>
                <a:cs typeface="DM Sans" pitchFamily="34" charset="-120"/>
              </a:rPr>
              <a:t>vecinas a 36°</a:t>
            </a:r>
            <a:endParaRPr lang="es-ES_tradnl" sz="1800" noProof="0" dirty="0"/>
          </a:p>
        </p:txBody>
      </p:sp>
      <p:sp>
        <p:nvSpPr>
          <p:cNvPr id="23" name="Shape 18"/>
          <p:cNvSpPr/>
          <p:nvPr/>
        </p:nvSpPr>
        <p:spPr>
          <a:xfrm>
            <a:off x="831850" y="4320480"/>
            <a:ext cx="0" cy="746522"/>
          </a:xfrm>
          <a:prstGeom prst="line">
            <a:avLst/>
          </a:prstGeom>
          <a:noFill/>
          <a:ln w="38100">
            <a:solidFill>
              <a:srgbClr val="FFEE00"/>
            </a:solidFill>
            <a:prstDash val="solid"/>
          </a:ln>
        </p:spPr>
        <p:txBody>
          <a:bodyPr/>
          <a:lstStyle/>
          <a:p>
            <a:endParaRPr lang="es-ES_tradnl" noProof="0" dirty="0"/>
          </a:p>
        </p:txBody>
      </p:sp>
      <p:sp>
        <p:nvSpPr>
          <p:cNvPr id="24" name="Text 19"/>
          <p:cNvSpPr/>
          <p:nvPr/>
        </p:nvSpPr>
        <p:spPr>
          <a:xfrm>
            <a:off x="977900" y="4320480"/>
            <a:ext cx="5199698" cy="771922"/>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Más categorías en un </a:t>
            </a:r>
            <a:r>
              <a:rPr lang="es-ES_tradnl" sz="1400" noProof="0" dirty="0" err="1">
                <a:solidFill>
                  <a:srgbClr val="3C3C3B"/>
                </a:solidFill>
                <a:latin typeface="Roboto" pitchFamily="34" charset="0"/>
                <a:ea typeface="Roboto" pitchFamily="34" charset="-122"/>
                <a:cs typeface="Roboto" pitchFamily="34" charset="-120"/>
              </a:rPr>
              <a:t>qubit</a:t>
            </a:r>
            <a:r>
              <a:rPr lang="es-ES_tradnl" sz="1400" noProof="0" dirty="0">
                <a:solidFill>
                  <a:srgbClr val="3C3C3B"/>
                </a:solidFill>
                <a:latin typeface="Roboto" pitchFamily="34" charset="0"/>
                <a:ea typeface="Roboto" pitchFamily="34" charset="-122"/>
                <a:cs typeface="Roboto" pitchFamily="34" charset="-120"/>
              </a:rPr>
              <a:t> </a:t>
            </a:r>
            <a:r>
              <a:rPr lang="es-ES_tradnl" sz="1400" b="1" noProof="0" dirty="0">
                <a:solidFill>
                  <a:srgbClr val="3C3C3B"/>
                </a:solidFill>
                <a:latin typeface="Roboto" pitchFamily="34" charset="0"/>
                <a:ea typeface="Roboto" pitchFamily="34" charset="-122"/>
                <a:cs typeface="Roboto" pitchFamily="34" charset="-120"/>
              </a:rPr>
              <a:t>no cambia el </a:t>
            </a:r>
            <a:r>
              <a:rPr lang="es-ES_tradnl" sz="1400" b="1" noProof="0" dirty="0" err="1">
                <a:solidFill>
                  <a:srgbClr val="3C3C3B"/>
                </a:solidFill>
                <a:latin typeface="Roboto" pitchFamily="34" charset="0"/>
                <a:ea typeface="Roboto" pitchFamily="34" charset="-122"/>
                <a:cs typeface="Roboto" pitchFamily="34" charset="-120"/>
              </a:rPr>
              <a:t>ε</a:t>
            </a:r>
            <a:r>
              <a:rPr lang="es-ES_tradnl" sz="1400" noProof="0" dirty="0">
                <a:solidFill>
                  <a:srgbClr val="3C3C3B"/>
                </a:solidFill>
                <a:latin typeface="Roboto" pitchFamily="34" charset="0"/>
                <a:ea typeface="Roboto" pitchFamily="34" charset="-122"/>
                <a:cs typeface="Roboto" pitchFamily="34" charset="-120"/>
              </a:rPr>
              <a:t>, pero empeora la lectura: baja la probabilidad de acertar la categoría. Misma privacidad, peor utilidad.</a:t>
            </a:r>
            <a:endParaRPr lang="es-ES_tradnl" sz="1400" noProof="0" dirty="0"/>
          </a:p>
        </p:txBody>
      </p:sp>
      <p:sp>
        <p:nvSpPr>
          <p:cNvPr id="25" name="Text 20"/>
          <p:cNvSpPr/>
          <p:nvPr/>
        </p:nvSpPr>
        <p:spPr>
          <a:xfrm>
            <a:off x="6330950" y="4345880"/>
            <a:ext cx="5199698" cy="746522"/>
          </a:xfrm>
          <a:prstGeom prst="rect">
            <a:avLst/>
          </a:prstGeom>
          <a:noFill/>
          <a:ln/>
        </p:spPr>
        <p:txBody>
          <a:bodyPr wrap="square" lIns="0" tIns="0" rIns="0" bIns="0" rtlCol="0" anchor="t">
            <a:normAutofit/>
          </a:bodyPr>
          <a:lstStyle/>
          <a:p>
            <a:pPr marL="0" indent="0" algn="l">
              <a:lnSpc>
                <a:spcPts val="1680"/>
              </a:lnSpc>
              <a:buNone/>
            </a:pPr>
            <a:r>
              <a:rPr lang="es-ES_tradnl" sz="1200" noProof="0" dirty="0">
                <a:solidFill>
                  <a:srgbClr val="6E6E6C"/>
                </a:solidFill>
                <a:latin typeface="Roboto" pitchFamily="34" charset="0"/>
                <a:ea typeface="Roboto" pitchFamily="34" charset="-122"/>
                <a:cs typeface="Roboto" pitchFamily="34" charset="-120"/>
              </a:rPr>
              <a:t>Entre vecinas no existe una medición que las separe perfectamente, y el </a:t>
            </a:r>
            <a:r>
              <a:rPr lang="es-ES_tradnl" sz="1200" noProof="0" dirty="0" err="1">
                <a:solidFill>
                  <a:srgbClr val="6E6E6C"/>
                </a:solidFill>
                <a:latin typeface="Roboto" pitchFamily="34" charset="0"/>
                <a:ea typeface="Roboto" pitchFamily="34" charset="-122"/>
                <a:cs typeface="Roboto" pitchFamily="34" charset="-120"/>
              </a:rPr>
              <a:t>ε</a:t>
            </a:r>
            <a:r>
              <a:rPr lang="es-ES_tradnl" sz="1200" noProof="0" dirty="0">
                <a:solidFill>
                  <a:srgbClr val="6E6E6C"/>
                </a:solidFill>
                <a:latin typeface="Roboto" pitchFamily="34" charset="0"/>
                <a:ea typeface="Roboto" pitchFamily="34" charset="-122"/>
                <a:cs typeface="Roboto" pitchFamily="34" charset="-120"/>
              </a:rPr>
              <a:t> real queda bajo la cota: a 90° en </a:t>
            </a:r>
            <a:r>
              <a:rPr lang="es-ES_tradnl" sz="1200" noProof="0" dirty="0" err="1">
                <a:solidFill>
                  <a:srgbClr val="293470"/>
                </a:solidFill>
                <a:latin typeface="Roboto" pitchFamily="34" charset="0"/>
                <a:ea typeface="Roboto" pitchFamily="34" charset="-122"/>
                <a:cs typeface="Roboto" pitchFamily="34" charset="-120"/>
              </a:rPr>
              <a:t>collateral</a:t>
            </a:r>
            <a:r>
              <a:rPr lang="es-ES_tradnl" sz="1200" noProof="0" dirty="0">
                <a:solidFill>
                  <a:srgbClr val="6E6E6C"/>
                </a:solidFill>
                <a:latin typeface="Roboto" pitchFamily="34" charset="0"/>
                <a:ea typeface="Roboto" pitchFamily="34" charset="-122"/>
                <a:cs typeface="Roboto" pitchFamily="34" charset="-120"/>
              </a:rPr>
              <a:t>, 0.7954 contra 0.8814.</a:t>
            </a:r>
            <a:endParaRPr lang="es-ES_tradnl" sz="1200" noProof="0" dirty="0"/>
          </a:p>
        </p:txBody>
      </p:sp>
      <p:sp>
        <p:nvSpPr>
          <p:cNvPr id="27" name="Text 22"/>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a:solidFill>
                  <a:srgbClr val="1D1D1B"/>
                </a:solidFill>
                <a:latin typeface="Roboto" pitchFamily="34" charset="0"/>
                <a:ea typeface="Roboto" pitchFamily="34" charset="-122"/>
                <a:cs typeface="Roboto" pitchFamily="34" charset="-120"/>
              </a:rPr>
              <a:t>35</a:t>
            </a:r>
            <a:endParaRPr lang="es-ES_tradnl" sz="1200" noProof="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s-ES_tradnl" noProof="0" dirty="0"/>
          </a:p>
        </p:txBody>
      </p:sp>
      <p:sp>
        <p:nvSpPr>
          <p:cNvPr id="3" name="Shape 1"/>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dirty="0">
                <a:solidFill>
                  <a:srgbClr val="1D1D1B"/>
                </a:solidFill>
                <a:latin typeface="DM Sans" pitchFamily="34" charset="0"/>
                <a:ea typeface="DM Sans" pitchFamily="34" charset="-122"/>
                <a:cs typeface="DM Sans" pitchFamily="34" charset="-120"/>
              </a:rPr>
              <a:t>IV</a:t>
            </a:r>
            <a:endParaRPr lang="es-ES_tradnl" sz="1200" noProof="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dirty="0">
                <a:solidFill>
                  <a:srgbClr val="6E6E6C"/>
                </a:solidFill>
                <a:latin typeface="Roboto" pitchFamily="34" charset="0"/>
                <a:ea typeface="Roboto" pitchFamily="34" charset="-122"/>
                <a:cs typeface="Roboto" pitchFamily="34" charset="-120"/>
              </a:rPr>
              <a:t>RESULTADOS</a:t>
            </a:r>
            <a:endParaRPr lang="es-ES_tradnl" sz="1200" noProof="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s-ES_tradnl" sz="2800" b="1" i="0" kern="0" spc="-50" noProof="0" dirty="0">
                <a:solidFill>
                  <a:srgbClr val="1D1D1B"/>
                </a:solidFill>
                <a:latin typeface="DM Sans" pitchFamily="34" charset="0"/>
                <a:ea typeface="DM Sans" pitchFamily="34" charset="-122"/>
                <a:cs typeface="DM Sans" pitchFamily="34" charset="-120"/>
              </a:rPr>
              <a:t>Experimento L de </a:t>
            </a:r>
            <a:r>
              <a:rPr lang="es-ES_tradnl" sz="2800" b="1" i="0" kern="0" spc="-50" noProof="0" dirty="0" err="1">
                <a:solidFill>
                  <a:srgbClr val="1D1D1B"/>
                </a:solidFill>
                <a:latin typeface="DM Sans" pitchFamily="34" charset="0"/>
                <a:ea typeface="DM Sans" pitchFamily="34" charset="-122"/>
                <a:cs typeface="DM Sans" pitchFamily="34" charset="-120"/>
              </a:rPr>
              <a:t>collateral</a:t>
            </a:r>
            <a:endParaRPr lang="es-ES_tradnl" sz="2800" noProof="0" dirty="0"/>
          </a:p>
        </p:txBody>
      </p:sp>
      <p:sp>
        <p:nvSpPr>
          <p:cNvPr id="8" name="Text 5"/>
          <p:cNvSpPr/>
          <p:nvPr/>
        </p:nvSpPr>
        <p:spPr>
          <a:xfrm>
            <a:off x="812800" y="1305520"/>
            <a:ext cx="10883392" cy="322560"/>
          </a:xfrm>
          <a:prstGeom prst="rect">
            <a:avLst/>
          </a:prstGeom>
          <a:noFill/>
          <a:ln/>
        </p:spPr>
        <p:txBody>
          <a:bodyPr wrap="square" lIns="0" tIns="0" rIns="0" bIns="0" rtlCol="0" anchor="t">
            <a:normAutofit/>
          </a:bodyPr>
          <a:lstStyle/>
          <a:p>
            <a:pPr marL="0" indent="0" algn="l">
              <a:lnSpc>
                <a:spcPts val="2340"/>
              </a:lnSpc>
              <a:buNone/>
            </a:pPr>
            <a:r>
              <a:rPr lang="es-ES_tradnl" sz="1800" noProof="0" dirty="0">
                <a:solidFill>
                  <a:srgbClr val="3C3C3B"/>
                </a:solidFill>
                <a:latin typeface="Roboto" pitchFamily="34" charset="0"/>
                <a:ea typeface="Roboto" pitchFamily="34" charset="-122"/>
                <a:cs typeface="Roboto" pitchFamily="34" charset="-120"/>
              </a:rPr>
              <a:t>Cómo se simuló, y qué se comprobó antes de mirar resultados.</a:t>
            </a:r>
            <a:endParaRPr lang="es-ES_tradnl" sz="1800" noProof="0" dirty="0"/>
          </a:p>
        </p:txBody>
      </p:sp>
      <p:sp>
        <p:nvSpPr>
          <p:cNvPr id="9" name="Text 6"/>
          <p:cNvSpPr/>
          <p:nvPr/>
        </p:nvSpPr>
        <p:spPr>
          <a:xfrm>
            <a:off x="812800" y="1856680"/>
            <a:ext cx="6069584" cy="238720"/>
          </a:xfrm>
          <a:prstGeom prst="rect">
            <a:avLst/>
          </a:prstGeom>
          <a:noFill/>
          <a:ln/>
        </p:spPr>
        <p:txBody>
          <a:bodyPr wrap="square" lIns="0" tIns="0" rIns="0" bIns="0" rtlCol="0" anchor="t">
            <a:normAutofit/>
          </a:bodyPr>
          <a:lstStyle/>
          <a:p>
            <a:pPr marL="0" indent="0" algn="l">
              <a:lnSpc>
                <a:spcPts val="1680"/>
              </a:lnSpc>
              <a:buNone/>
            </a:pPr>
            <a:r>
              <a:rPr lang="es-ES_tradnl" sz="1200" b="1" kern="0" spc="100" noProof="0" dirty="0">
                <a:solidFill>
                  <a:srgbClr val="6E6E6C"/>
                </a:solidFill>
                <a:latin typeface="Roboto" pitchFamily="34" charset="0"/>
                <a:ea typeface="Roboto" pitchFamily="34" charset="-122"/>
                <a:cs typeface="Roboto" pitchFamily="34" charset="-120"/>
              </a:rPr>
              <a:t>IMPLEMENTACIÓN</a:t>
            </a:r>
            <a:endParaRPr lang="es-ES_tradnl" sz="1200" noProof="0" dirty="0"/>
          </a:p>
        </p:txBody>
      </p:sp>
      <p:sp>
        <p:nvSpPr>
          <p:cNvPr id="10" name="Text 7"/>
          <p:cNvSpPr/>
          <p:nvPr/>
        </p:nvSpPr>
        <p:spPr>
          <a:xfrm>
            <a:off x="812800" y="2209701"/>
            <a:ext cx="279400" cy="279400"/>
          </a:xfrm>
          <a:custGeom>
            <a:avLst/>
            <a:gdLst/>
            <a:ahLst/>
            <a:cxnLst/>
            <a:rect l="l" t="t" r="r" b="b"/>
            <a:pathLst>
              <a:path w="279400" h="279400">
                <a:moveTo>
                  <a:pt x="139700" y="0"/>
                </a:moveTo>
                <a:lnTo>
                  <a:pt x="139700" y="0"/>
                </a:lnTo>
                <a:arcTo wR="139700" hR="139700" stAng="16200000" swAng="5400000"/>
                <a:lnTo>
                  <a:pt x="279400" y="139700"/>
                </a:lnTo>
                <a:arcTo wR="139700" hR="139700" stAng="0" swAng="5400000"/>
                <a:lnTo>
                  <a:pt x="139700" y="279400"/>
                </a:lnTo>
                <a:arcTo wR="139700" hR="139700" stAng="5400000" swAng="5400000"/>
                <a:lnTo>
                  <a:pt x="0" y="139700"/>
                </a:lnTo>
                <a:arcTo wR="139700" hR="139700" stAng="10800000" swAng="5400000"/>
                <a:close/>
              </a:path>
            </a:pathLst>
          </a:custGeom>
          <a:solidFill>
            <a:srgbClr val="FFEE00"/>
          </a:solidFill>
          <a:ln/>
        </p:spPr>
        <p:txBody>
          <a:bodyPr wrap="square" lIns="0" tIns="0" rIns="0" bIns="0" rtlCol="0" anchor="t">
            <a:normAutofit/>
          </a:bodyPr>
          <a:lstStyle/>
          <a:p>
            <a:pPr marL="0" indent="0" algn="ctr">
              <a:lnSpc>
                <a:spcPts val="2196"/>
              </a:lnSpc>
              <a:buNone/>
            </a:pPr>
            <a:r>
              <a:rPr lang="es-ES_tradnl" sz="1200" b="1" noProof="0" dirty="0">
                <a:solidFill>
                  <a:srgbClr val="1D1D1B"/>
                </a:solidFill>
                <a:latin typeface="Roboto" pitchFamily="34" charset="0"/>
                <a:ea typeface="Roboto" pitchFamily="34" charset="-122"/>
                <a:cs typeface="Roboto" pitchFamily="34" charset="-120"/>
              </a:rPr>
              <a:t>1</a:t>
            </a:r>
            <a:endParaRPr lang="es-ES_tradnl" sz="1200" noProof="0" dirty="0"/>
          </a:p>
        </p:txBody>
      </p:sp>
      <mc:AlternateContent xmlns:mc="http://schemas.openxmlformats.org/markup-compatibility/2006">
        <mc:Choice xmlns:a14="http://schemas.microsoft.com/office/drawing/2010/main" Requires="a14">
          <p:sp>
            <p:nvSpPr>
              <p:cNvPr id="11" name="Text 8"/>
              <p:cNvSpPr/>
              <p:nvPr/>
            </p:nvSpPr>
            <p:spPr>
              <a:xfrm>
                <a:off x="1219200" y="2209701"/>
                <a:ext cx="5650992" cy="274241"/>
              </a:xfrm>
              <a:prstGeom prst="rect">
                <a:avLst/>
              </a:prstGeom>
              <a:noFill/>
              <a:ln/>
            </p:spPr>
            <p:txBody>
              <a:bodyPr wrap="square" lIns="0" tIns="0" rIns="0" bIns="0" rtlCol="0" anchor="t">
                <a:normAutofit/>
              </a:bodyPr>
              <a:lstStyle/>
              <a:p>
                <a:pPr>
                  <a:lnSpc>
                    <a:spcPts val="1960"/>
                  </a:lnSpc>
                </a:pPr>
                <a:r>
                  <a:rPr lang="es-ES_tradnl" sz="1400" noProof="0" dirty="0">
                    <a:solidFill>
                      <a:srgbClr val="3C3C3B"/>
                    </a:solidFill>
                    <a:latin typeface="Roboto" pitchFamily="34" charset="0"/>
                    <a:ea typeface="Roboto" pitchFamily="34" charset="-122"/>
                    <a:cs typeface="Roboto" pitchFamily="34" charset="-120"/>
                  </a:rPr>
                  <a:t>1 </a:t>
                </a:r>
                <a:r>
                  <a:rPr lang="es-ES_tradnl" sz="1400" noProof="0" dirty="0" err="1">
                    <a:solidFill>
                      <a:srgbClr val="3C3C3B"/>
                    </a:solidFill>
                    <a:latin typeface="Roboto" pitchFamily="34" charset="0"/>
                    <a:ea typeface="Roboto" pitchFamily="34" charset="-122"/>
                    <a:cs typeface="Roboto" pitchFamily="34" charset="-120"/>
                  </a:rPr>
                  <a:t>qubit</a:t>
                </a:r>
                <a:r>
                  <a:rPr lang="es-ES_tradnl" sz="1400" noProof="0" dirty="0">
                    <a:solidFill>
                      <a:srgbClr val="3C3C3B"/>
                    </a:solidFill>
                    <a:latin typeface="Roboto" pitchFamily="34" charset="0"/>
                    <a:ea typeface="Roboto" pitchFamily="34" charset="-122"/>
                    <a:cs typeface="Roboto" pitchFamily="34" charset="-120"/>
                  </a:rPr>
                  <a:t> por persona: H + RZ(</a:t>
                </a:r>
                <a14:m>
                  <m:oMath xmlns:m="http://schemas.openxmlformats.org/officeDocument/2006/math">
                    <m:f>
                      <m:fPr>
                        <m:ctrlPr>
                          <a:rPr lang="es-ES_tradnl" sz="1400" i="1" noProof="0" smtClean="0">
                            <a:solidFill>
                              <a:srgbClr val="3C3C3B"/>
                            </a:solidFill>
                            <a:latin typeface="Cambria Math" panose="02040503050406030204" pitchFamily="18" charset="0"/>
                            <a:ea typeface="Roboto" pitchFamily="34" charset="-122"/>
                          </a:rPr>
                        </m:ctrlPr>
                      </m:fPr>
                      <m:num>
                        <m:r>
                          <a:rPr lang="es-ES_tradnl" sz="1400" i="1" noProof="0" smtClean="0">
                            <a:solidFill>
                              <a:srgbClr val="3C3C3B"/>
                            </a:solidFill>
                            <a:latin typeface="Cambria Math" panose="02040503050406030204" pitchFamily="18" charset="0"/>
                            <a:ea typeface="Roboto" pitchFamily="34" charset="-122"/>
                          </a:rPr>
                          <m:t>2</m:t>
                        </m:r>
                        <m:r>
                          <a:rPr lang="es-ES_tradnl" sz="1400" i="1" noProof="0" smtClean="0">
                            <a:solidFill>
                              <a:srgbClr val="3C3C3B"/>
                            </a:solidFill>
                            <a:latin typeface="Cambria Math" panose="02040503050406030204" pitchFamily="18" charset="0"/>
                            <a:ea typeface="Cambria Math" panose="02040503050406030204" pitchFamily="18" charset="0"/>
                          </a:rPr>
                          <m:t>𝜋</m:t>
                        </m:r>
                        <m:r>
                          <a:rPr lang="es-ES_tradnl" sz="1400" i="1" noProof="0" smtClean="0">
                            <a:solidFill>
                              <a:srgbClr val="3C3C3B"/>
                            </a:solidFill>
                            <a:latin typeface="Cambria Math" panose="02040503050406030204" pitchFamily="18" charset="0"/>
                            <a:ea typeface="Cambria Math" panose="02040503050406030204" pitchFamily="18" charset="0"/>
                          </a:rPr>
                          <m:t>𝑘</m:t>
                        </m:r>
                      </m:num>
                      <m:den>
                        <m:r>
                          <a:rPr lang="es-ES_tradnl" sz="1400" b="0" i="1" noProof="0" smtClean="0">
                            <a:solidFill>
                              <a:srgbClr val="3C3C3B"/>
                            </a:solidFill>
                            <a:latin typeface="Cambria Math" panose="02040503050406030204" pitchFamily="18" charset="0"/>
                            <a:ea typeface="Cambria Math" panose="02040503050406030204" pitchFamily="18" charset="0"/>
                          </a:rPr>
                          <m:t>4</m:t>
                        </m:r>
                      </m:den>
                    </m:f>
                  </m:oMath>
                </a14:m>
                <a:r>
                  <a:rPr lang="es-ES_tradnl" sz="1400" noProof="0" dirty="0">
                    <a:solidFill>
                      <a:srgbClr val="3C3C3B"/>
                    </a:solidFill>
                    <a:latin typeface="Roboto" pitchFamily="34" charset="0"/>
                    <a:ea typeface="Roboto" pitchFamily="34" charset="-122"/>
                    <a:cs typeface="Roboto" pitchFamily="34" charset="-120"/>
                  </a:rPr>
                  <a:t>).</a:t>
                </a:r>
                <a:endParaRPr lang="es-ES_tradnl" sz="1400" noProof="0" dirty="0"/>
              </a:p>
            </p:txBody>
          </p:sp>
        </mc:Choice>
        <mc:Fallback>
          <p:sp>
            <p:nvSpPr>
              <p:cNvPr id="11" name="Text 8"/>
              <p:cNvSpPr>
                <a:spLocks noRot="1" noChangeAspect="1" noMove="1" noResize="1" noEditPoints="1" noAdjustHandles="1" noChangeArrowheads="1" noChangeShapeType="1" noTextEdit="1"/>
              </p:cNvSpPr>
              <p:nvPr/>
            </p:nvSpPr>
            <p:spPr>
              <a:xfrm>
                <a:off x="1219200" y="2209701"/>
                <a:ext cx="5650992" cy="274241"/>
              </a:xfrm>
              <a:prstGeom prst="rect">
                <a:avLst/>
              </a:prstGeom>
              <a:blipFill>
                <a:blip r:embed="rId4"/>
                <a:stretch>
                  <a:fillRect l="-2022" t="-13043" b="-17391"/>
                </a:stretch>
              </a:blipFill>
              <a:ln/>
            </p:spPr>
            <p:txBody>
              <a:bodyPr/>
              <a:lstStyle/>
              <a:p>
                <a:r>
                  <a:rPr lang="en-CO">
                    <a:noFill/>
                  </a:rPr>
                  <a:t> </a:t>
                </a:r>
              </a:p>
            </p:txBody>
          </p:sp>
        </mc:Fallback>
      </mc:AlternateContent>
      <p:sp>
        <p:nvSpPr>
          <p:cNvPr id="12" name="Text 9"/>
          <p:cNvSpPr/>
          <p:nvPr/>
        </p:nvSpPr>
        <p:spPr>
          <a:xfrm>
            <a:off x="812800" y="2628801"/>
            <a:ext cx="279400" cy="279400"/>
          </a:xfrm>
          <a:custGeom>
            <a:avLst/>
            <a:gdLst/>
            <a:ahLst/>
            <a:cxnLst/>
            <a:rect l="l" t="t" r="r" b="b"/>
            <a:pathLst>
              <a:path w="279400" h="279400">
                <a:moveTo>
                  <a:pt x="139700" y="0"/>
                </a:moveTo>
                <a:lnTo>
                  <a:pt x="139700" y="0"/>
                </a:lnTo>
                <a:arcTo wR="139700" hR="139700" stAng="16200000" swAng="5400000"/>
                <a:lnTo>
                  <a:pt x="279400" y="139700"/>
                </a:lnTo>
                <a:arcTo wR="139700" hR="139700" stAng="0" swAng="5400000"/>
                <a:lnTo>
                  <a:pt x="139700" y="279400"/>
                </a:lnTo>
                <a:arcTo wR="139700" hR="139700" stAng="5400000" swAng="5400000"/>
                <a:lnTo>
                  <a:pt x="0" y="139700"/>
                </a:lnTo>
                <a:arcTo wR="139700" hR="139700" stAng="10800000" swAng="5400000"/>
                <a:close/>
              </a:path>
            </a:pathLst>
          </a:custGeom>
          <a:solidFill>
            <a:srgbClr val="FFEE00"/>
          </a:solidFill>
          <a:ln/>
        </p:spPr>
        <p:txBody>
          <a:bodyPr wrap="square" lIns="0" tIns="0" rIns="0" bIns="0" rtlCol="0" anchor="t">
            <a:normAutofit/>
          </a:bodyPr>
          <a:lstStyle/>
          <a:p>
            <a:pPr marL="0" indent="0" algn="ctr">
              <a:lnSpc>
                <a:spcPts val="2196"/>
              </a:lnSpc>
              <a:buNone/>
            </a:pPr>
            <a:r>
              <a:rPr lang="es-ES_tradnl" sz="1200" b="1" noProof="0" dirty="0">
                <a:solidFill>
                  <a:srgbClr val="1D1D1B"/>
                </a:solidFill>
                <a:latin typeface="Roboto" pitchFamily="34" charset="0"/>
                <a:ea typeface="Roboto" pitchFamily="34" charset="-122"/>
                <a:cs typeface="Roboto" pitchFamily="34" charset="-120"/>
              </a:rPr>
              <a:t>2</a:t>
            </a:r>
            <a:endParaRPr lang="es-ES_tradnl" sz="1200" noProof="0" dirty="0"/>
          </a:p>
        </p:txBody>
      </p:sp>
      <p:sp>
        <p:nvSpPr>
          <p:cNvPr id="13" name="Text 10"/>
          <p:cNvSpPr/>
          <p:nvPr/>
        </p:nvSpPr>
        <p:spPr>
          <a:xfrm>
            <a:off x="1219200" y="2628801"/>
            <a:ext cx="5650992" cy="274241"/>
          </a:xfrm>
          <a:prstGeom prst="rect">
            <a:avLst/>
          </a:prstGeom>
          <a:noFill/>
          <a:ln/>
        </p:spPr>
        <p:txBody>
          <a:bodyPr wrap="square" lIns="0" tIns="0" rIns="0" bIns="0" rtlCol="0" anchor="t">
            <a:normAutofit/>
          </a:bodyPr>
          <a:lstStyle/>
          <a:p>
            <a:pPr marL="0" indent="0" algn="l">
              <a:lnSpc>
                <a:spcPts val="1960"/>
              </a:lnSpc>
              <a:buNone/>
            </a:pPr>
            <a:r>
              <a:rPr lang="es-ES_tradnl" sz="1400" noProof="0" dirty="0" err="1">
                <a:solidFill>
                  <a:srgbClr val="3C3C3B"/>
                </a:solidFill>
                <a:latin typeface="Roboto" pitchFamily="34" charset="0"/>
                <a:ea typeface="Roboto" pitchFamily="34" charset="-122"/>
                <a:cs typeface="Roboto" pitchFamily="34" charset="-120"/>
              </a:rPr>
              <a:t>Depolarizante</a:t>
            </a:r>
            <a:r>
              <a:rPr lang="es-ES_tradnl" sz="1400" noProof="0" dirty="0">
                <a:solidFill>
                  <a:srgbClr val="3C3C3B"/>
                </a:solidFill>
                <a:latin typeface="Roboto" pitchFamily="34" charset="0"/>
                <a:ea typeface="Roboto" pitchFamily="34" charset="-122"/>
                <a:cs typeface="Roboto" pitchFamily="34" charset="-120"/>
              </a:rPr>
              <a:t> con p = 0.5.</a:t>
            </a:r>
            <a:endParaRPr lang="es-ES_tradnl" sz="1400" noProof="0" dirty="0"/>
          </a:p>
        </p:txBody>
      </p:sp>
      <p:sp>
        <p:nvSpPr>
          <p:cNvPr id="14" name="Text 11"/>
          <p:cNvSpPr/>
          <p:nvPr/>
        </p:nvSpPr>
        <p:spPr>
          <a:xfrm>
            <a:off x="812800" y="3047901"/>
            <a:ext cx="279400" cy="279400"/>
          </a:xfrm>
          <a:custGeom>
            <a:avLst/>
            <a:gdLst/>
            <a:ahLst/>
            <a:cxnLst/>
            <a:rect l="l" t="t" r="r" b="b"/>
            <a:pathLst>
              <a:path w="279400" h="279400">
                <a:moveTo>
                  <a:pt x="139700" y="0"/>
                </a:moveTo>
                <a:lnTo>
                  <a:pt x="139700" y="0"/>
                </a:lnTo>
                <a:arcTo wR="139700" hR="139700" stAng="16200000" swAng="5400000"/>
                <a:lnTo>
                  <a:pt x="279400" y="139700"/>
                </a:lnTo>
                <a:arcTo wR="139700" hR="139700" stAng="0" swAng="5400000"/>
                <a:lnTo>
                  <a:pt x="139700" y="279400"/>
                </a:lnTo>
                <a:arcTo wR="139700" hR="139700" stAng="5400000" swAng="5400000"/>
                <a:lnTo>
                  <a:pt x="0" y="139700"/>
                </a:lnTo>
                <a:arcTo wR="139700" hR="139700" stAng="10800000" swAng="5400000"/>
                <a:close/>
              </a:path>
            </a:pathLst>
          </a:custGeom>
          <a:solidFill>
            <a:srgbClr val="FFEE00"/>
          </a:solidFill>
          <a:ln/>
        </p:spPr>
        <p:txBody>
          <a:bodyPr wrap="square" lIns="0" tIns="0" rIns="0" bIns="0" rtlCol="0" anchor="t">
            <a:normAutofit/>
          </a:bodyPr>
          <a:lstStyle/>
          <a:p>
            <a:pPr marL="0" indent="0" algn="ctr">
              <a:lnSpc>
                <a:spcPts val="2196"/>
              </a:lnSpc>
              <a:buNone/>
            </a:pPr>
            <a:r>
              <a:rPr lang="es-ES_tradnl" sz="1200" b="1" noProof="0" dirty="0">
                <a:solidFill>
                  <a:srgbClr val="1D1D1B"/>
                </a:solidFill>
                <a:latin typeface="Roboto" pitchFamily="34" charset="0"/>
                <a:ea typeface="Roboto" pitchFamily="34" charset="-122"/>
                <a:cs typeface="Roboto" pitchFamily="34" charset="-120"/>
              </a:rPr>
              <a:t>3</a:t>
            </a:r>
            <a:endParaRPr lang="es-ES_tradnl" sz="1200" noProof="0" dirty="0"/>
          </a:p>
        </p:txBody>
      </p:sp>
      <p:sp>
        <p:nvSpPr>
          <p:cNvPr id="15" name="Text 12"/>
          <p:cNvSpPr/>
          <p:nvPr/>
        </p:nvSpPr>
        <p:spPr>
          <a:xfrm>
            <a:off x="1219200" y="3047901"/>
            <a:ext cx="5650992" cy="274241"/>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Probabilidad de «+» por la regla de Born:</a:t>
            </a:r>
            <a:endParaRPr lang="es-ES_tradnl" sz="1400" noProof="0" dirty="0"/>
          </a:p>
        </p:txBody>
      </p:sp>
      <p:pic>
        <p:nvPicPr>
          <p:cNvPr id="16" name="Image 1" descr="Pᵢ(+) = ⟨+| ρᵢ″ |+⟩"/>
          <p:cNvPicPr>
            <a:picLocks noChangeAspect="1"/>
          </p:cNvPicPr>
          <p:nvPr/>
        </p:nvPicPr>
        <p:blipFill>
          <a:blip r:embed="rId5"/>
          <a:srcRect t="-50" b="-50"/>
          <a:stretch/>
        </p:blipFill>
        <p:spPr>
          <a:xfrm>
            <a:off x="1219200" y="3347541"/>
            <a:ext cx="2120900" cy="330200"/>
          </a:xfrm>
          <a:prstGeom prst="rect">
            <a:avLst/>
          </a:prstGeom>
        </p:spPr>
      </p:pic>
      <p:sp>
        <p:nvSpPr>
          <p:cNvPr id="17" name="Text 13"/>
          <p:cNvSpPr/>
          <p:nvPr/>
        </p:nvSpPr>
        <p:spPr>
          <a:xfrm>
            <a:off x="812800" y="3817441"/>
            <a:ext cx="279400" cy="279400"/>
          </a:xfrm>
          <a:custGeom>
            <a:avLst/>
            <a:gdLst/>
            <a:ahLst/>
            <a:cxnLst/>
            <a:rect l="l" t="t" r="r" b="b"/>
            <a:pathLst>
              <a:path w="279400" h="279400">
                <a:moveTo>
                  <a:pt x="139700" y="0"/>
                </a:moveTo>
                <a:lnTo>
                  <a:pt x="139700" y="0"/>
                </a:lnTo>
                <a:arcTo wR="139700" hR="139700" stAng="16200000" swAng="5400000"/>
                <a:lnTo>
                  <a:pt x="279400" y="139700"/>
                </a:lnTo>
                <a:arcTo wR="139700" hR="139700" stAng="0" swAng="5400000"/>
                <a:lnTo>
                  <a:pt x="139700" y="279400"/>
                </a:lnTo>
                <a:arcTo wR="139700" hR="139700" stAng="5400000" swAng="5400000"/>
                <a:lnTo>
                  <a:pt x="0" y="139700"/>
                </a:lnTo>
                <a:arcTo wR="139700" hR="139700" stAng="10800000" swAng="5400000"/>
                <a:close/>
              </a:path>
            </a:pathLst>
          </a:custGeom>
          <a:solidFill>
            <a:srgbClr val="FFEE00"/>
          </a:solidFill>
          <a:ln/>
        </p:spPr>
        <p:txBody>
          <a:bodyPr wrap="square" lIns="0" tIns="0" rIns="0" bIns="0" rtlCol="0" anchor="t">
            <a:normAutofit/>
          </a:bodyPr>
          <a:lstStyle/>
          <a:p>
            <a:pPr marL="0" indent="0" algn="ctr">
              <a:lnSpc>
                <a:spcPts val="2196"/>
              </a:lnSpc>
              <a:buNone/>
            </a:pPr>
            <a:r>
              <a:rPr lang="es-ES_tradnl" sz="1200" b="1" noProof="0" dirty="0">
                <a:solidFill>
                  <a:srgbClr val="1D1D1B"/>
                </a:solidFill>
                <a:latin typeface="Roboto" pitchFamily="34" charset="0"/>
                <a:ea typeface="Roboto" pitchFamily="34" charset="-122"/>
                <a:cs typeface="Roboto" pitchFamily="34" charset="-120"/>
              </a:rPr>
              <a:t>4</a:t>
            </a:r>
            <a:endParaRPr lang="es-ES_tradnl" sz="1200" noProof="0" dirty="0"/>
          </a:p>
        </p:txBody>
      </p:sp>
      <p:sp>
        <p:nvSpPr>
          <p:cNvPr id="18" name="Text 14"/>
          <p:cNvSpPr/>
          <p:nvPr/>
        </p:nvSpPr>
        <p:spPr>
          <a:xfrm>
            <a:off x="1219200" y="3817441"/>
            <a:ext cx="5650992" cy="523081"/>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Muestreo de 2000 × 1000 mediciones con </a:t>
            </a:r>
            <a:r>
              <a:rPr lang="es-ES_tradnl" sz="1400" noProof="0" dirty="0" err="1">
                <a:solidFill>
                  <a:srgbClr val="3C3C3B"/>
                </a:solidFill>
                <a:latin typeface="Roboto" pitchFamily="34" charset="0"/>
                <a:ea typeface="Roboto" pitchFamily="34" charset="-122"/>
                <a:cs typeface="Roboto" pitchFamily="34" charset="-120"/>
              </a:rPr>
              <a:t>numpy</a:t>
            </a:r>
            <a:r>
              <a:rPr lang="es-ES_tradnl" sz="1400" noProof="0" dirty="0">
                <a:solidFill>
                  <a:srgbClr val="3C3C3B"/>
                </a:solidFill>
                <a:latin typeface="Roboto" pitchFamily="34" charset="0"/>
                <a:ea typeface="Roboto" pitchFamily="34" charset="-122"/>
                <a:cs typeface="Roboto" pitchFamily="34" charset="-120"/>
              </a:rPr>
              <a:t> (semilla 8; la misma matriz de uniformes para B y C).</a:t>
            </a:r>
            <a:endParaRPr lang="es-ES_tradnl" sz="1400" noProof="0" dirty="0"/>
          </a:p>
        </p:txBody>
      </p:sp>
      <p:sp>
        <p:nvSpPr>
          <p:cNvPr id="19" name="Shape 15"/>
          <p:cNvSpPr/>
          <p:nvPr/>
        </p:nvSpPr>
        <p:spPr>
          <a:xfrm>
            <a:off x="7061200" y="1856680"/>
            <a:ext cx="4318000" cy="1749822"/>
          </a:xfrm>
          <a:prstGeom prst="roundRect">
            <a:avLst>
              <a:gd name="adj" fmla="val 5806"/>
            </a:avLst>
          </a:prstGeom>
          <a:solidFill>
            <a:srgbClr val="F4F4F2"/>
          </a:solidFill>
          <a:ln/>
        </p:spPr>
        <p:txBody>
          <a:bodyPr/>
          <a:lstStyle/>
          <a:p>
            <a:endParaRPr lang="es-ES_tradnl" noProof="0" dirty="0"/>
          </a:p>
        </p:txBody>
      </p:sp>
      <p:sp>
        <p:nvSpPr>
          <p:cNvPr id="20" name="Text 16"/>
          <p:cNvSpPr/>
          <p:nvPr/>
        </p:nvSpPr>
        <p:spPr>
          <a:xfrm>
            <a:off x="7264400" y="2034480"/>
            <a:ext cx="4028948" cy="238720"/>
          </a:xfrm>
          <a:prstGeom prst="rect">
            <a:avLst/>
          </a:prstGeom>
          <a:noFill/>
          <a:ln/>
        </p:spPr>
        <p:txBody>
          <a:bodyPr wrap="square" lIns="0" tIns="0" rIns="0" bIns="0" rtlCol="0" anchor="t">
            <a:normAutofit/>
          </a:bodyPr>
          <a:lstStyle/>
          <a:p>
            <a:pPr marL="0" indent="0" algn="l">
              <a:lnSpc>
                <a:spcPts val="1680"/>
              </a:lnSpc>
              <a:buNone/>
            </a:pPr>
            <a:r>
              <a:rPr lang="es-ES_tradnl" sz="1400" b="1" noProof="0" dirty="0">
                <a:solidFill>
                  <a:srgbClr val="1D1D1B"/>
                </a:solidFill>
                <a:latin typeface="DM Sans" pitchFamily="34" charset="0"/>
                <a:ea typeface="DM Sans" pitchFamily="34" charset="-122"/>
                <a:cs typeface="DM Sans" pitchFamily="34" charset="-120"/>
              </a:rPr>
              <a:t>Comprobación previa</a:t>
            </a:r>
            <a:endParaRPr lang="es-ES_tradnl" sz="1400" noProof="0" dirty="0"/>
          </a:p>
        </p:txBody>
      </p:sp>
      <p:sp>
        <p:nvSpPr>
          <p:cNvPr id="21" name="Text 17"/>
          <p:cNvSpPr/>
          <p:nvPr/>
        </p:nvSpPr>
        <p:spPr>
          <a:xfrm>
            <a:off x="7264400" y="2336701"/>
            <a:ext cx="4028948" cy="238720"/>
          </a:xfrm>
          <a:prstGeom prst="rect">
            <a:avLst/>
          </a:prstGeom>
          <a:noFill/>
          <a:ln/>
        </p:spPr>
        <p:txBody>
          <a:bodyPr wrap="square" lIns="0" tIns="0" rIns="0" bIns="0" rtlCol="0" anchor="t">
            <a:normAutofit/>
          </a:bodyPr>
          <a:lstStyle/>
          <a:p>
            <a:pPr marL="0" indent="0" algn="l">
              <a:lnSpc>
                <a:spcPts val="1680"/>
              </a:lnSpc>
              <a:buNone/>
            </a:pPr>
            <a:r>
              <a:rPr lang="es-ES_tradnl" sz="1200" noProof="0" dirty="0">
                <a:solidFill>
                  <a:srgbClr val="3C3C3B"/>
                </a:solidFill>
                <a:latin typeface="Roboto" pitchFamily="34" charset="0"/>
                <a:ea typeface="Roboto" pitchFamily="34" charset="-122"/>
                <a:cs typeface="Roboto" pitchFamily="34" charset="-120"/>
              </a:rPr>
              <a:t>Valores únicos de Pᵢ(+):</a:t>
            </a:r>
            <a:endParaRPr lang="es-ES_tradnl" sz="1200" noProof="0" dirty="0"/>
          </a:p>
        </p:txBody>
      </p:sp>
      <p:sp>
        <p:nvSpPr>
          <p:cNvPr id="22" name="Text 18"/>
          <p:cNvSpPr/>
          <p:nvPr/>
        </p:nvSpPr>
        <p:spPr>
          <a:xfrm>
            <a:off x="7264400" y="2707481"/>
            <a:ext cx="1003300" cy="238720"/>
          </a:xfrm>
          <a:prstGeom prst="rect">
            <a:avLst/>
          </a:prstGeom>
          <a:noFill/>
          <a:ln/>
        </p:spPr>
        <p:txBody>
          <a:bodyPr wrap="square" lIns="0" tIns="0" rIns="0" bIns="0" rtlCol="0" anchor="t">
            <a:normAutofit/>
          </a:bodyPr>
          <a:lstStyle/>
          <a:p>
            <a:pPr marL="0" indent="0" algn="l">
              <a:lnSpc>
                <a:spcPts val="1680"/>
              </a:lnSpc>
              <a:buNone/>
            </a:pPr>
            <a:r>
              <a:rPr lang="es-ES_tradnl" sz="1200" noProof="0" dirty="0">
                <a:solidFill>
                  <a:srgbClr val="6E6E6C"/>
                </a:solidFill>
                <a:latin typeface="Roboto" pitchFamily="34" charset="0"/>
                <a:ea typeface="Roboto" pitchFamily="34" charset="-122"/>
                <a:cs typeface="Roboto" pitchFamily="34" charset="-120"/>
              </a:rPr>
              <a:t>sin ruido</a:t>
            </a:r>
            <a:endParaRPr lang="es-ES_tradnl" sz="1200" noProof="0" dirty="0"/>
          </a:p>
        </p:txBody>
      </p:sp>
      <p:sp>
        <p:nvSpPr>
          <p:cNvPr id="23" name="Text 19"/>
          <p:cNvSpPr/>
          <p:nvPr/>
        </p:nvSpPr>
        <p:spPr>
          <a:xfrm>
            <a:off x="8324850" y="2645271"/>
            <a:ext cx="919559" cy="337741"/>
          </a:xfrm>
          <a:prstGeom prst="roundRect">
            <a:avLst>
              <a:gd name="adj" fmla="val 13161"/>
            </a:avLst>
          </a:prstGeom>
          <a:solidFill>
            <a:srgbClr val="FFFFFF"/>
          </a:solidFill>
          <a:ln w="12700">
            <a:solidFill>
              <a:srgbClr val="3C3C3B"/>
            </a:solidFill>
            <a:prstDash val="solid"/>
          </a:ln>
        </p:spPr>
        <p:txBody>
          <a:bodyPr wrap="none" lIns="0" tIns="0" rIns="0" bIns="0" rtlCol="0" anchor="ctr">
            <a:normAutofit/>
          </a:bodyPr>
          <a:lstStyle/>
          <a:p>
            <a:pPr marL="0" indent="0" algn="ctr">
              <a:lnSpc>
                <a:spcPts val="1960"/>
              </a:lnSpc>
              <a:buNone/>
            </a:pPr>
            <a:r>
              <a:rPr lang="es-ES_tradnl" sz="1400" b="1" noProof="0" dirty="0">
                <a:solidFill>
                  <a:srgbClr val="1D1D1B"/>
                </a:solidFill>
                <a:latin typeface="DM Sans" pitchFamily="34" charset="0"/>
                <a:ea typeface="DM Sans" pitchFamily="34" charset="-122"/>
                <a:cs typeface="DM Sans" pitchFamily="34" charset="-120"/>
              </a:rPr>
              <a:t>{0, 0.5, 1}</a:t>
            </a:r>
            <a:endParaRPr lang="es-ES_tradnl" sz="1400" noProof="0" dirty="0"/>
          </a:p>
        </p:txBody>
      </p:sp>
      <p:sp>
        <p:nvSpPr>
          <p:cNvPr id="24" name="Text 20"/>
          <p:cNvSpPr/>
          <p:nvPr/>
        </p:nvSpPr>
        <p:spPr>
          <a:xfrm>
            <a:off x="7264400" y="3146822"/>
            <a:ext cx="1003300" cy="238720"/>
          </a:xfrm>
          <a:prstGeom prst="rect">
            <a:avLst/>
          </a:prstGeom>
          <a:noFill/>
          <a:ln/>
        </p:spPr>
        <p:txBody>
          <a:bodyPr wrap="square" lIns="0" tIns="0" rIns="0" bIns="0" rtlCol="0" anchor="t">
            <a:normAutofit/>
          </a:bodyPr>
          <a:lstStyle/>
          <a:p>
            <a:pPr marL="0" indent="0" algn="l">
              <a:lnSpc>
                <a:spcPts val="1680"/>
              </a:lnSpc>
              <a:buNone/>
            </a:pPr>
            <a:r>
              <a:rPr lang="es-ES_tradnl" sz="1200" noProof="0" dirty="0">
                <a:solidFill>
                  <a:srgbClr val="6E6E6C"/>
                </a:solidFill>
                <a:latin typeface="Roboto" pitchFamily="34" charset="0"/>
                <a:ea typeface="Roboto" pitchFamily="34" charset="-122"/>
                <a:cs typeface="Roboto" pitchFamily="34" charset="-120"/>
              </a:rPr>
              <a:t>con ruido</a:t>
            </a:r>
            <a:endParaRPr lang="es-ES_tradnl" sz="1200" noProof="0" dirty="0"/>
          </a:p>
        </p:txBody>
      </p:sp>
      <p:sp>
        <p:nvSpPr>
          <p:cNvPr id="25" name="Text 21"/>
          <p:cNvSpPr/>
          <p:nvPr/>
        </p:nvSpPr>
        <p:spPr>
          <a:xfrm>
            <a:off x="8324850" y="3084612"/>
            <a:ext cx="1588095" cy="337741"/>
          </a:xfrm>
          <a:prstGeom prst="roundRect">
            <a:avLst>
              <a:gd name="adj" fmla="val 13161"/>
            </a:avLst>
          </a:prstGeom>
          <a:solidFill>
            <a:srgbClr val="FFEE00"/>
          </a:solidFill>
          <a:ln w="12700">
            <a:solidFill>
              <a:srgbClr val="1D1D1B"/>
            </a:solidFill>
            <a:prstDash val="solid"/>
          </a:ln>
        </p:spPr>
        <p:txBody>
          <a:bodyPr wrap="none" lIns="0" tIns="0" rIns="0" bIns="0" rtlCol="0" anchor="ctr">
            <a:normAutofit/>
          </a:bodyPr>
          <a:lstStyle/>
          <a:p>
            <a:pPr marL="0" indent="0" algn="ctr">
              <a:lnSpc>
                <a:spcPts val="1960"/>
              </a:lnSpc>
              <a:buNone/>
            </a:pPr>
            <a:r>
              <a:rPr lang="es-ES_tradnl" sz="1400" b="1" noProof="0" dirty="0">
                <a:solidFill>
                  <a:srgbClr val="1D1D1B"/>
                </a:solidFill>
                <a:latin typeface="DM Sans" pitchFamily="34" charset="0"/>
                <a:ea typeface="DM Sans" pitchFamily="34" charset="-122"/>
                <a:cs typeface="DM Sans" pitchFamily="34" charset="-120"/>
              </a:rPr>
              <a:t>{0.25, 0.5, 0.75}</a:t>
            </a:r>
            <a:endParaRPr lang="es-ES_tradnl" sz="1400" noProof="0" dirty="0"/>
          </a:p>
        </p:txBody>
      </p:sp>
      <p:sp>
        <p:nvSpPr>
          <p:cNvPr id="26" name="Shape 22"/>
          <p:cNvSpPr/>
          <p:nvPr/>
        </p:nvSpPr>
        <p:spPr>
          <a:xfrm>
            <a:off x="7061200" y="3758902"/>
            <a:ext cx="4318000" cy="1059061"/>
          </a:xfrm>
          <a:prstGeom prst="roundRect">
            <a:avLst>
              <a:gd name="adj" fmla="val 9593"/>
            </a:avLst>
          </a:prstGeom>
          <a:solidFill>
            <a:srgbClr val="F4F4F2"/>
          </a:solidFill>
          <a:ln/>
        </p:spPr>
        <p:txBody>
          <a:bodyPr/>
          <a:lstStyle/>
          <a:p>
            <a:endParaRPr lang="es-ES_tradnl" noProof="0" dirty="0"/>
          </a:p>
        </p:txBody>
      </p:sp>
      <p:sp>
        <p:nvSpPr>
          <p:cNvPr id="27" name="Text 23"/>
          <p:cNvSpPr/>
          <p:nvPr/>
        </p:nvSpPr>
        <p:spPr>
          <a:xfrm>
            <a:off x="7264400" y="3936702"/>
            <a:ext cx="4028948" cy="238720"/>
          </a:xfrm>
          <a:prstGeom prst="rect">
            <a:avLst/>
          </a:prstGeom>
          <a:noFill/>
          <a:ln/>
        </p:spPr>
        <p:txBody>
          <a:bodyPr wrap="square" lIns="0" tIns="0" rIns="0" bIns="0" rtlCol="0" anchor="t">
            <a:normAutofit/>
          </a:bodyPr>
          <a:lstStyle/>
          <a:p>
            <a:pPr marL="0" indent="0" algn="l">
              <a:lnSpc>
                <a:spcPts val="1680"/>
              </a:lnSpc>
              <a:buNone/>
            </a:pPr>
            <a:r>
              <a:rPr lang="es-ES_tradnl" sz="1400" b="1" noProof="0" dirty="0">
                <a:solidFill>
                  <a:srgbClr val="1D1D1B"/>
                </a:solidFill>
                <a:latin typeface="DM Sans" pitchFamily="34" charset="0"/>
                <a:ea typeface="DM Sans" pitchFamily="34" charset="-122"/>
                <a:cs typeface="DM Sans" pitchFamily="34" charset="-120"/>
              </a:rPr>
              <a:t>¿Por qué 2000 repeticiones?</a:t>
            </a:r>
            <a:endParaRPr lang="es-ES_tradnl" sz="1400" noProof="0" dirty="0"/>
          </a:p>
        </p:txBody>
      </p:sp>
      <p:sp>
        <p:nvSpPr>
          <p:cNvPr id="28" name="Text 24"/>
          <p:cNvSpPr/>
          <p:nvPr/>
        </p:nvSpPr>
        <p:spPr>
          <a:xfrm>
            <a:off x="7264400" y="4213523"/>
            <a:ext cx="4028948" cy="452041"/>
          </a:xfrm>
          <a:prstGeom prst="rect">
            <a:avLst/>
          </a:prstGeom>
          <a:noFill/>
          <a:ln/>
        </p:spPr>
        <p:txBody>
          <a:bodyPr wrap="square" lIns="0" tIns="0" rIns="0" bIns="0" rtlCol="0" anchor="t">
            <a:normAutofit/>
          </a:bodyPr>
          <a:lstStyle/>
          <a:p>
            <a:pPr marL="0" indent="0" algn="l">
              <a:lnSpc>
                <a:spcPts val="1680"/>
              </a:lnSpc>
              <a:buNone/>
            </a:pPr>
            <a:r>
              <a:rPr lang="es-ES_tradnl" sz="1200" noProof="0" dirty="0">
                <a:solidFill>
                  <a:srgbClr val="3C3C3B"/>
                </a:solidFill>
                <a:latin typeface="Roboto" pitchFamily="34" charset="0"/>
                <a:ea typeface="Roboto" pitchFamily="34" charset="-122"/>
                <a:cs typeface="Roboto" pitchFamily="34" charset="-120"/>
              </a:rPr>
              <a:t>El error relativo de una </a:t>
            </a:r>
            <a:r>
              <a:rPr lang="es-ES_tradnl" sz="1200" noProof="0" dirty="0" err="1">
                <a:solidFill>
                  <a:srgbClr val="3C3C3B"/>
                </a:solidFill>
                <a:latin typeface="Roboto" pitchFamily="34" charset="0"/>
                <a:ea typeface="Roboto" pitchFamily="34" charset="-122"/>
                <a:cs typeface="Roboto" pitchFamily="34" charset="-120"/>
              </a:rPr>
              <a:t>std</a:t>
            </a:r>
            <a:r>
              <a:rPr lang="es-ES_tradnl" sz="1200" noProof="0" dirty="0">
                <a:solidFill>
                  <a:srgbClr val="3C3C3B"/>
                </a:solidFill>
                <a:latin typeface="Roboto" pitchFamily="34" charset="0"/>
                <a:ea typeface="Roboto" pitchFamily="34" charset="-122"/>
                <a:cs typeface="Roboto" pitchFamily="34" charset="-120"/>
              </a:rPr>
              <a:t> estimada con R repeticiones es ≈ 1/√(2R): </a:t>
            </a:r>
            <a:r>
              <a:rPr lang="es-ES_tradnl" sz="1200" b="1" noProof="0" dirty="0">
                <a:solidFill>
                  <a:srgbClr val="3C3C3B"/>
                </a:solidFill>
                <a:latin typeface="Roboto" pitchFamily="34" charset="0"/>
                <a:ea typeface="Roboto" pitchFamily="34" charset="-122"/>
                <a:cs typeface="Roboto" pitchFamily="34" charset="-120"/>
              </a:rPr>
              <a:t>1.6 % con R = 2000</a:t>
            </a:r>
            <a:r>
              <a:rPr lang="es-ES_tradnl" sz="1200" noProof="0" dirty="0">
                <a:solidFill>
                  <a:srgbClr val="3C3C3B"/>
                </a:solidFill>
                <a:latin typeface="Roboto" pitchFamily="34" charset="0"/>
                <a:ea typeface="Roboto" pitchFamily="34" charset="-122"/>
                <a:cs typeface="Roboto" pitchFamily="34" charset="-120"/>
              </a:rPr>
              <a:t>.</a:t>
            </a:r>
            <a:endParaRPr lang="es-ES_tradnl" sz="1200" noProof="0" dirty="0"/>
          </a:p>
        </p:txBody>
      </p:sp>
      <p:sp>
        <p:nvSpPr>
          <p:cNvPr id="29" name="Text 25"/>
          <p:cNvSpPr/>
          <p:nvPr/>
        </p:nvSpPr>
        <p:spPr>
          <a:xfrm>
            <a:off x="812800" y="5071963"/>
            <a:ext cx="10883392" cy="238720"/>
          </a:xfrm>
          <a:prstGeom prst="rect">
            <a:avLst/>
          </a:prstGeom>
          <a:noFill/>
          <a:ln/>
        </p:spPr>
        <p:txBody>
          <a:bodyPr wrap="square" lIns="0" tIns="0" rIns="0" bIns="0" rtlCol="0" anchor="t">
            <a:normAutofit/>
          </a:bodyPr>
          <a:lstStyle/>
          <a:p>
            <a:pPr marL="0" indent="0" algn="l">
              <a:lnSpc>
                <a:spcPts val="1680"/>
              </a:lnSpc>
              <a:buNone/>
            </a:pPr>
            <a:r>
              <a:rPr lang="es-ES_tradnl" sz="1200" noProof="0" dirty="0">
                <a:solidFill>
                  <a:srgbClr val="6E6E6C"/>
                </a:solidFill>
                <a:latin typeface="Roboto" pitchFamily="34" charset="0"/>
                <a:ea typeface="Roboto" pitchFamily="34" charset="-122"/>
                <a:cs typeface="Roboto" pitchFamily="34" charset="-120"/>
              </a:rPr>
              <a:t>Archivo: </a:t>
            </a:r>
            <a:r>
              <a:rPr lang="es-ES_tradnl" sz="1200" noProof="0" dirty="0" err="1">
                <a:solidFill>
                  <a:srgbClr val="6E6E6C"/>
                </a:solidFill>
                <a:latin typeface="Roboto" pitchFamily="34" charset="0"/>
                <a:ea typeface="Roboto" pitchFamily="34" charset="-122"/>
                <a:cs typeface="Roboto" pitchFamily="34" charset="-120"/>
              </a:rPr>
              <a:t>Experiment</a:t>
            </a:r>
            <a:r>
              <a:rPr lang="es-ES_tradnl" sz="1200" noProof="0" dirty="0">
                <a:solidFill>
                  <a:srgbClr val="6E6E6C"/>
                </a:solidFill>
                <a:latin typeface="Roboto" pitchFamily="34" charset="0"/>
                <a:ea typeface="Roboto" pitchFamily="34" charset="-122"/>
                <a:cs typeface="Roboto" pitchFamily="34" charset="-120"/>
              </a:rPr>
              <a:t>/</a:t>
            </a:r>
            <a:r>
              <a:rPr lang="es-ES_tradnl" sz="1200" noProof="0" dirty="0" err="1">
                <a:solidFill>
                  <a:srgbClr val="6E6E6C"/>
                </a:solidFill>
                <a:latin typeface="Roboto" pitchFamily="34" charset="0"/>
                <a:ea typeface="Roboto" pitchFamily="34" charset="-122"/>
                <a:cs typeface="Roboto" pitchFamily="34" charset="-120"/>
              </a:rPr>
              <a:t>tests</a:t>
            </a:r>
            <a:r>
              <a:rPr lang="es-ES_tradnl" sz="1200" noProof="0" dirty="0">
                <a:solidFill>
                  <a:srgbClr val="6E6E6C"/>
                </a:solidFill>
                <a:latin typeface="Roboto" pitchFamily="34" charset="0"/>
                <a:ea typeface="Roboto" pitchFamily="34" charset="-122"/>
                <a:cs typeface="Roboto" pitchFamily="34" charset="-120"/>
              </a:rPr>
              <a:t>/</a:t>
            </a:r>
            <a:r>
              <a:rPr lang="es-ES_tradnl" sz="1200" noProof="0" dirty="0" err="1">
                <a:solidFill>
                  <a:srgbClr val="6E6E6C"/>
                </a:solidFill>
                <a:latin typeface="Roboto" pitchFamily="34" charset="0"/>
                <a:ea typeface="Roboto" pitchFamily="34" charset="-122"/>
                <a:cs typeface="Roboto" pitchFamily="34" charset="-120"/>
              </a:rPr>
              <a:t>DequantCollateral.py</a:t>
            </a:r>
            <a:endParaRPr lang="es-ES_tradnl" sz="1200" noProof="0" dirty="0"/>
          </a:p>
        </p:txBody>
      </p:sp>
      <p:sp>
        <p:nvSpPr>
          <p:cNvPr id="31" name="Text 27"/>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a:solidFill>
                  <a:srgbClr val="1D1D1B"/>
                </a:solidFill>
                <a:latin typeface="Roboto" pitchFamily="34" charset="0"/>
                <a:ea typeface="Roboto" pitchFamily="34" charset="-122"/>
                <a:cs typeface="Roboto" pitchFamily="34" charset="-120"/>
              </a:rPr>
              <a:t>36</a:t>
            </a:r>
            <a:endParaRPr lang="es-ES_tradnl" sz="1200" noProof="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s-ES_tradnl" noProof="0" dirty="0"/>
          </a:p>
        </p:txBody>
      </p:sp>
      <p:sp>
        <p:nvSpPr>
          <p:cNvPr id="3" name="Shape 1"/>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dirty="0">
                <a:solidFill>
                  <a:srgbClr val="1D1D1B"/>
                </a:solidFill>
                <a:latin typeface="DM Sans" pitchFamily="34" charset="0"/>
                <a:ea typeface="DM Sans" pitchFamily="34" charset="-122"/>
                <a:cs typeface="DM Sans" pitchFamily="34" charset="-120"/>
              </a:rPr>
              <a:t>IV</a:t>
            </a:r>
            <a:endParaRPr lang="es-ES_tradnl" sz="1200" noProof="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dirty="0">
                <a:solidFill>
                  <a:srgbClr val="6E6E6C"/>
                </a:solidFill>
                <a:latin typeface="Roboto" pitchFamily="34" charset="0"/>
                <a:ea typeface="Roboto" pitchFamily="34" charset="-122"/>
                <a:cs typeface="Roboto" pitchFamily="34" charset="-120"/>
              </a:rPr>
              <a:t>RESULTADOS</a:t>
            </a:r>
            <a:endParaRPr lang="es-ES_tradnl" sz="1200" noProof="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s-ES_tradnl" sz="2800" b="1" i="0" kern="0" spc="-50" noProof="0" dirty="0">
                <a:solidFill>
                  <a:srgbClr val="1D1D1B"/>
                </a:solidFill>
                <a:latin typeface="DM Sans" pitchFamily="34" charset="0"/>
                <a:ea typeface="DM Sans" pitchFamily="34" charset="-122"/>
                <a:cs typeface="DM Sans" pitchFamily="34" charset="-120"/>
              </a:rPr>
              <a:t>Teoría contra simulación</a:t>
            </a:r>
            <a:endParaRPr lang="es-ES_tradnl" sz="2800" noProof="0" dirty="0"/>
          </a:p>
        </p:txBody>
      </p:sp>
      <p:sp>
        <p:nvSpPr>
          <p:cNvPr id="8" name="Text 5"/>
          <p:cNvSpPr/>
          <p:nvPr/>
        </p:nvSpPr>
        <p:spPr>
          <a:xfrm>
            <a:off x="812800" y="1305520"/>
            <a:ext cx="10883392" cy="322560"/>
          </a:xfrm>
          <a:prstGeom prst="rect">
            <a:avLst/>
          </a:prstGeom>
          <a:noFill/>
          <a:ln/>
        </p:spPr>
        <p:txBody>
          <a:bodyPr wrap="square" lIns="0" tIns="0" rIns="0" bIns="0" rtlCol="0" anchor="t">
            <a:normAutofit/>
          </a:bodyPr>
          <a:lstStyle/>
          <a:p>
            <a:pPr marL="0" indent="0" algn="l">
              <a:lnSpc>
                <a:spcPts val="2340"/>
              </a:lnSpc>
              <a:buNone/>
            </a:pPr>
            <a:r>
              <a:rPr lang="es-ES_tradnl" sz="1800" noProof="0" dirty="0">
                <a:solidFill>
                  <a:srgbClr val="3C3C3B"/>
                </a:solidFill>
                <a:latin typeface="Roboto" pitchFamily="34" charset="0"/>
                <a:ea typeface="Roboto" pitchFamily="34" charset="-122"/>
                <a:cs typeface="Roboto" pitchFamily="34" charset="-120"/>
              </a:rPr>
              <a:t>La simulación reproduce los valores teóricos de centro y dispersión.</a:t>
            </a:r>
            <a:endParaRPr lang="es-ES_tradnl" sz="1800" noProof="0" dirty="0"/>
          </a:p>
        </p:txBody>
      </p:sp>
      <p:graphicFrame>
        <p:nvGraphicFramePr>
          <p:cNvPr id="9" name="Table 0"/>
          <p:cNvGraphicFramePr>
            <a:graphicFrameLocks noGrp="1"/>
          </p:cNvGraphicFramePr>
          <p:nvPr>
            <p:extLst>
              <p:ext uri="{D42A27DB-BD31-4B8C-83A1-F6EECF244321}">
                <p14:modId xmlns:p14="http://schemas.microsoft.com/office/powerpoint/2010/main" val="2222876787"/>
              </p:ext>
            </p:extLst>
          </p:nvPr>
        </p:nvGraphicFramePr>
        <p:xfrm>
          <a:off x="825500" y="1818580"/>
          <a:ext cx="6210300" cy="2514897"/>
        </p:xfrm>
        <a:graphic>
          <a:graphicData uri="http://schemas.openxmlformats.org/drawingml/2006/table">
            <a:tbl>
              <a:tblPr/>
              <a:tblGrid>
                <a:gridCol w="2732532">
                  <a:extLst>
                    <a:ext uri="{9D8B030D-6E8A-4147-A177-3AD203B41FA5}">
                      <a16:colId xmlns:a16="http://schemas.microsoft.com/office/drawing/2014/main" val="20000"/>
                    </a:ext>
                  </a:extLst>
                </a:gridCol>
                <a:gridCol w="1366266">
                  <a:extLst>
                    <a:ext uri="{9D8B030D-6E8A-4147-A177-3AD203B41FA5}">
                      <a16:colId xmlns:a16="http://schemas.microsoft.com/office/drawing/2014/main" val="20001"/>
                    </a:ext>
                  </a:extLst>
                </a:gridCol>
                <a:gridCol w="2111502">
                  <a:extLst>
                    <a:ext uri="{9D8B030D-6E8A-4147-A177-3AD203B41FA5}">
                      <a16:colId xmlns:a16="http://schemas.microsoft.com/office/drawing/2014/main" val="20002"/>
                    </a:ext>
                  </a:extLst>
                </a:gridCol>
              </a:tblGrid>
              <a:tr h="359271">
                <a:tc>
                  <a:txBody>
                    <a:bodyPr/>
                    <a:lstStyle/>
                    <a:p>
                      <a:pPr marL="0" indent="0">
                        <a:lnSpc>
                          <a:spcPts val="1820"/>
                        </a:lnSpc>
                        <a:buNone/>
                      </a:pP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333332"/>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333332"/>
                      </a:solidFill>
                      <a:prstDash val="solid"/>
                      <a:round/>
                      <a:headEnd type="none" w="med" len="med"/>
                      <a:tailEnd type="none" w="med" len="med"/>
                    </a:lnB>
                    <a:solidFill>
                      <a:srgbClr val="3C3C3B"/>
                    </a:solidFill>
                  </a:tcPr>
                </a:tc>
                <a:tc>
                  <a:txBody>
                    <a:bodyPr/>
                    <a:lstStyle/>
                    <a:p>
                      <a:pPr marL="0" indent="0" algn="r">
                        <a:lnSpc>
                          <a:spcPts val="1820"/>
                        </a:lnSpc>
                        <a:buNone/>
                      </a:pPr>
                      <a:r>
                        <a:rPr lang="es-ES_tradnl" sz="1300" b="1" noProof="0" dirty="0">
                          <a:solidFill>
                            <a:srgbClr val="FFFFFF"/>
                          </a:solidFill>
                          <a:latin typeface="Roboto" pitchFamily="34" charset="0"/>
                          <a:ea typeface="Roboto" pitchFamily="34" charset="-122"/>
                          <a:cs typeface="Roboto" pitchFamily="34" charset="-120"/>
                        </a:rPr>
                        <a:t>Teoría</a:t>
                      </a:r>
                      <a:endParaRPr lang="es-ES_tradnl" sz="1300" noProof="0" dirty="0">
                        <a:latin typeface="Roboto" charset="0"/>
                        <a:ea typeface="Roboto" charset="0"/>
                        <a:cs typeface="Roboto" charset="0"/>
                      </a:endParaRPr>
                    </a:p>
                  </a:txBody>
                  <a:tcPr marL="57785" marR="57785" marT="57785" marB="57785">
                    <a:lnL w="12700" cap="flat" cmpd="sng" algn="ctr">
                      <a:solidFill>
                        <a:srgbClr val="333332"/>
                      </a:solidFill>
                      <a:prstDash val="solid"/>
                      <a:round/>
                      <a:headEnd type="none" w="med" len="med"/>
                      <a:tailEnd type="none" w="med" len="med"/>
                    </a:lnL>
                    <a:lnR w="12700" cap="flat" cmpd="sng" algn="ctr">
                      <a:solidFill>
                        <a:srgbClr val="333332"/>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333332"/>
                      </a:solidFill>
                      <a:prstDash val="solid"/>
                      <a:round/>
                      <a:headEnd type="none" w="med" len="med"/>
                      <a:tailEnd type="none" w="med" len="med"/>
                    </a:lnB>
                    <a:solidFill>
                      <a:srgbClr val="3C3C3B"/>
                    </a:solidFill>
                  </a:tcPr>
                </a:tc>
                <a:tc>
                  <a:txBody>
                    <a:bodyPr/>
                    <a:lstStyle/>
                    <a:p>
                      <a:pPr marL="0" indent="0" algn="r">
                        <a:lnSpc>
                          <a:spcPts val="1820"/>
                        </a:lnSpc>
                        <a:buNone/>
                      </a:pPr>
                      <a:r>
                        <a:rPr lang="es-ES_tradnl" sz="1300" b="1" noProof="0" dirty="0">
                          <a:solidFill>
                            <a:srgbClr val="FFFFFF"/>
                          </a:solidFill>
                          <a:latin typeface="Roboto" pitchFamily="34" charset="0"/>
                          <a:ea typeface="Roboto" pitchFamily="34" charset="-122"/>
                          <a:cs typeface="Roboto" pitchFamily="34" charset="-120"/>
                        </a:rPr>
                        <a:t>Simulación (2000 </a:t>
                      </a:r>
                      <a:r>
                        <a:rPr lang="es-ES_tradnl" sz="1300" b="1" noProof="0" dirty="0" err="1">
                          <a:solidFill>
                            <a:srgbClr val="FFFFFF"/>
                          </a:solidFill>
                          <a:latin typeface="Roboto" pitchFamily="34" charset="0"/>
                          <a:ea typeface="Roboto" pitchFamily="34" charset="-122"/>
                          <a:cs typeface="Roboto" pitchFamily="34" charset="-120"/>
                        </a:rPr>
                        <a:t>rep.</a:t>
                      </a:r>
                      <a:r>
                        <a:rPr lang="es-ES_tradnl" sz="1300" b="1" noProof="0" dirty="0">
                          <a:solidFill>
                            <a:srgbClr val="FFFFFF"/>
                          </a:solidFill>
                          <a:latin typeface="Roboto" pitchFamily="34" charset="0"/>
                          <a:ea typeface="Roboto" pitchFamily="34" charset="-122"/>
                          <a:cs typeface="Roboto" pitchFamily="34" charset="-120"/>
                        </a:rPr>
                        <a:t>)</a:t>
                      </a:r>
                      <a:endParaRPr lang="es-ES_tradnl" sz="1300" noProof="0" dirty="0">
                        <a:latin typeface="Roboto" charset="0"/>
                        <a:ea typeface="Roboto" charset="0"/>
                        <a:cs typeface="Roboto" charset="0"/>
                      </a:endParaRPr>
                    </a:p>
                  </a:txBody>
                  <a:tcPr marL="57785" marR="57785" marT="57785" marB="57785">
                    <a:lnL w="12700" cap="flat" cmpd="sng" algn="ctr">
                      <a:solidFill>
                        <a:srgbClr val="333332"/>
                      </a:solidFill>
                      <a:prstDash val="solid"/>
                      <a:round/>
                      <a:headEnd type="none" w="med" len="med"/>
                      <a:tailEnd type="none" w="med" len="med"/>
                    </a:lnL>
                    <a:lnR w="12700" cap="flat" cmpd="sng" algn="ctr">
                      <a:solidFill>
                        <a:srgbClr val="333332"/>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333332"/>
                      </a:solidFill>
                      <a:prstDash val="solid"/>
                      <a:round/>
                      <a:headEnd type="none" w="med" len="med"/>
                      <a:tailEnd type="none" w="med" len="med"/>
                    </a:lnB>
                    <a:solidFill>
                      <a:srgbClr val="3C3C3B"/>
                    </a:solidFill>
                  </a:tcPr>
                </a:tc>
                <a:extLst>
                  <a:ext uri="{0D108BD9-81ED-4DB2-BD59-A6C34878D82A}">
                    <a16:rowId xmlns:a16="http://schemas.microsoft.com/office/drawing/2014/main" val="10000"/>
                  </a:ext>
                </a:extLst>
              </a:tr>
              <a:tr h="359271">
                <a:tc>
                  <a:txBody>
                    <a:bodyPr/>
                    <a:lstStyle/>
                    <a:p>
                      <a:pPr marL="0" indent="0">
                        <a:lnSpc>
                          <a:spcPts val="1820"/>
                        </a:lnSpc>
                        <a:buNone/>
                      </a:pPr>
                      <a:r>
                        <a:rPr lang="es-ES_tradnl" sz="1300" noProof="0" dirty="0">
                          <a:solidFill>
                            <a:srgbClr val="1D1D1B"/>
                          </a:solidFill>
                          <a:latin typeface="Roboto" pitchFamily="34" charset="0"/>
                          <a:ea typeface="Roboto" pitchFamily="34" charset="-122"/>
                          <a:cs typeface="Roboto" pitchFamily="34" charset="-120"/>
                        </a:rPr>
                        <a:t>Centro de B</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333332"/>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0.45</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333332"/>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0.4500</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333332"/>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extLst>
                  <a:ext uri="{0D108BD9-81ED-4DB2-BD59-A6C34878D82A}">
                    <a16:rowId xmlns:a16="http://schemas.microsoft.com/office/drawing/2014/main" val="10001"/>
                  </a:ext>
                </a:extLst>
              </a:tr>
              <a:tr h="359271">
                <a:tc>
                  <a:txBody>
                    <a:bodyPr/>
                    <a:lstStyle/>
                    <a:p>
                      <a:pPr marL="0" indent="0">
                        <a:lnSpc>
                          <a:spcPts val="1820"/>
                        </a:lnSpc>
                        <a:buNone/>
                      </a:pPr>
                      <a:r>
                        <a:rPr lang="es-ES_tradnl" sz="1300" noProof="0" dirty="0">
                          <a:solidFill>
                            <a:srgbClr val="1D1D1B"/>
                          </a:solidFill>
                          <a:latin typeface="Roboto" pitchFamily="34" charset="0"/>
                          <a:ea typeface="Roboto" pitchFamily="34" charset="-122"/>
                          <a:cs typeface="Roboto" pitchFamily="34" charset="-120"/>
                        </a:rPr>
                        <a:t>Centro de C, sin corregir</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0.475</a:t>
                      </a:r>
                      <a:endParaRPr lang="es-ES_tradnl" sz="1300" noProof="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0.4751</a:t>
                      </a:r>
                      <a:endParaRPr lang="es-ES_tradnl" sz="1300" noProof="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extLst>
                  <a:ext uri="{0D108BD9-81ED-4DB2-BD59-A6C34878D82A}">
                    <a16:rowId xmlns:a16="http://schemas.microsoft.com/office/drawing/2014/main" val="10002"/>
                  </a:ext>
                </a:extLst>
              </a:tr>
              <a:tr h="359271">
                <a:tc>
                  <a:txBody>
                    <a:bodyPr/>
                    <a:lstStyle/>
                    <a:p>
                      <a:pPr marL="0" indent="0">
                        <a:lnSpc>
                          <a:spcPts val="1820"/>
                        </a:lnSpc>
                        <a:buNone/>
                      </a:pPr>
                      <a:r>
                        <a:rPr lang="es-ES_tradnl" sz="1300" noProof="0" dirty="0">
                          <a:solidFill>
                            <a:srgbClr val="1D1D1B"/>
                          </a:solidFill>
                          <a:latin typeface="Roboto" pitchFamily="34" charset="0"/>
                          <a:ea typeface="Roboto" pitchFamily="34" charset="-122"/>
                          <a:cs typeface="Roboto" pitchFamily="34" charset="-120"/>
                        </a:rPr>
                        <a:t>Centro de F̂</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3C1"/>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0.45</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3C1"/>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0.4502</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3C1"/>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extLst>
                  <a:ext uri="{0D108BD9-81ED-4DB2-BD59-A6C34878D82A}">
                    <a16:rowId xmlns:a16="http://schemas.microsoft.com/office/drawing/2014/main" val="10003"/>
                  </a:ext>
                </a:extLst>
              </a:tr>
              <a:tr h="359271">
                <a:tc>
                  <a:txBody>
                    <a:bodyPr/>
                    <a:lstStyle/>
                    <a:p>
                      <a:pPr marL="0" indent="0">
                        <a:lnSpc>
                          <a:spcPts val="1820"/>
                        </a:lnSpc>
                        <a:buNone/>
                      </a:pPr>
                      <a:r>
                        <a:rPr lang="es-ES_tradnl" sz="1300" noProof="0" dirty="0" err="1">
                          <a:solidFill>
                            <a:srgbClr val="1D1D1B"/>
                          </a:solidFill>
                          <a:latin typeface="Roboto" pitchFamily="34" charset="0"/>
                          <a:ea typeface="Roboto" pitchFamily="34" charset="-122"/>
                          <a:cs typeface="Roboto" pitchFamily="34" charset="-120"/>
                        </a:rPr>
                        <a:t>std</a:t>
                      </a:r>
                      <a:r>
                        <a:rPr lang="es-ES_tradnl" sz="1300" noProof="0" dirty="0">
                          <a:solidFill>
                            <a:srgbClr val="1D1D1B"/>
                          </a:solidFill>
                          <a:latin typeface="Roboto" pitchFamily="34" charset="0"/>
                          <a:ea typeface="Roboto" pitchFamily="34" charset="-122"/>
                          <a:cs typeface="Roboto" pitchFamily="34" charset="-120"/>
                        </a:rPr>
                        <a:t> de B</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0.0104</a:t>
                      </a:r>
                      <a:endParaRPr lang="es-ES_tradnl" sz="1300" noProof="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0.0103</a:t>
                      </a:r>
                      <a:endParaRPr lang="es-ES_tradnl" sz="1300" noProof="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extLst>
                  <a:ext uri="{0D108BD9-81ED-4DB2-BD59-A6C34878D82A}">
                    <a16:rowId xmlns:a16="http://schemas.microsoft.com/office/drawing/2014/main" val="10004"/>
                  </a:ext>
                </a:extLst>
              </a:tr>
              <a:tr h="359271">
                <a:tc>
                  <a:txBody>
                    <a:bodyPr/>
                    <a:lstStyle/>
                    <a:p>
                      <a:pPr marL="0" indent="0">
                        <a:lnSpc>
                          <a:spcPts val="1820"/>
                        </a:lnSpc>
                        <a:buNone/>
                      </a:pPr>
                      <a:r>
                        <a:rPr lang="es-ES_tradnl" sz="1300" noProof="0" dirty="0" err="1">
                          <a:solidFill>
                            <a:srgbClr val="1D1D1B"/>
                          </a:solidFill>
                          <a:latin typeface="Roboto" pitchFamily="34" charset="0"/>
                          <a:ea typeface="Roboto" pitchFamily="34" charset="-122"/>
                          <a:cs typeface="Roboto" pitchFamily="34" charset="-120"/>
                        </a:rPr>
                        <a:t>std</a:t>
                      </a:r>
                      <a:r>
                        <a:rPr lang="es-ES_tradnl" sz="1300" noProof="0" dirty="0">
                          <a:solidFill>
                            <a:srgbClr val="1D1D1B"/>
                          </a:solidFill>
                          <a:latin typeface="Roboto" pitchFamily="34" charset="0"/>
                          <a:ea typeface="Roboto" pitchFamily="34" charset="-122"/>
                          <a:cs typeface="Roboto" pitchFamily="34" charset="-120"/>
                        </a:rPr>
                        <a:t> de C, sin corregir</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3C1"/>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0.0147</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3C1"/>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0.0143</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3C1"/>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extLst>
                  <a:ext uri="{0D108BD9-81ED-4DB2-BD59-A6C34878D82A}">
                    <a16:rowId xmlns:a16="http://schemas.microsoft.com/office/drawing/2014/main" val="10005"/>
                  </a:ext>
                </a:extLst>
              </a:tr>
              <a:tr h="359271">
                <a:tc>
                  <a:txBody>
                    <a:bodyPr/>
                    <a:lstStyle/>
                    <a:p>
                      <a:pPr marL="0" indent="0">
                        <a:lnSpc>
                          <a:spcPts val="1820"/>
                        </a:lnSpc>
                        <a:buNone/>
                      </a:pPr>
                      <a:r>
                        <a:rPr lang="es-ES_tradnl" sz="1300" noProof="0" dirty="0" err="1">
                          <a:solidFill>
                            <a:srgbClr val="1D1D1B"/>
                          </a:solidFill>
                          <a:latin typeface="Roboto" pitchFamily="34" charset="0"/>
                          <a:ea typeface="Roboto" pitchFamily="34" charset="-122"/>
                          <a:cs typeface="Roboto" pitchFamily="34" charset="-120"/>
                        </a:rPr>
                        <a:t>std</a:t>
                      </a:r>
                      <a:r>
                        <a:rPr lang="es-ES_tradnl" sz="1300" noProof="0" dirty="0">
                          <a:solidFill>
                            <a:srgbClr val="1D1D1B"/>
                          </a:solidFill>
                          <a:latin typeface="Roboto" pitchFamily="34" charset="0"/>
                          <a:ea typeface="Roboto" pitchFamily="34" charset="-122"/>
                          <a:cs typeface="Roboto" pitchFamily="34" charset="-120"/>
                        </a:rPr>
                        <a:t> de F̂</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594"/>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594"/>
                      </a:solidFill>
                      <a:prstDash val="solid"/>
                      <a:round/>
                      <a:headEnd type="none" w="med" len="med"/>
                      <a:tailEnd type="none" w="med" len="med"/>
                    </a:lnB>
                    <a:solidFill>
                      <a:srgbClr val="FFF7B8"/>
                    </a:solidFill>
                  </a:tcPr>
                </a:tc>
                <a:tc>
                  <a:txBody>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0.0293</a:t>
                      </a:r>
                      <a:endParaRPr lang="es-ES_tradnl" sz="1300" noProof="0" dirty="0">
                        <a:latin typeface="Roboto" charset="0"/>
                        <a:ea typeface="Roboto" charset="0"/>
                        <a:cs typeface="Roboto" charset="0"/>
                      </a:endParaRPr>
                    </a:p>
                  </a:txBody>
                  <a:tcPr marL="57785" marR="57785" marT="57785" marB="57785">
                    <a:lnL w="12700" cap="flat" cmpd="sng" algn="ctr">
                      <a:solidFill>
                        <a:srgbClr val="CBC594"/>
                      </a:solidFill>
                      <a:prstDash val="solid"/>
                      <a:round/>
                      <a:headEnd type="none" w="med" len="med"/>
                      <a:tailEnd type="none" w="med" len="med"/>
                    </a:lnL>
                    <a:lnR w="12700" cap="flat" cmpd="sng" algn="ctr">
                      <a:solidFill>
                        <a:srgbClr val="CBC594"/>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594"/>
                      </a:solidFill>
                      <a:prstDash val="solid"/>
                      <a:round/>
                      <a:headEnd type="none" w="med" len="med"/>
                      <a:tailEnd type="none" w="med" len="med"/>
                    </a:lnB>
                    <a:solidFill>
                      <a:srgbClr val="FFF7B8"/>
                    </a:solidFill>
                  </a:tcPr>
                </a:tc>
                <a:tc>
                  <a:txBody>
                    <a:bodyPr/>
                    <a:lstStyle/>
                    <a:p>
                      <a:pPr marL="0" indent="0" algn="r">
                        <a:lnSpc>
                          <a:spcPts val="1820"/>
                        </a:lnSpc>
                        <a:buNone/>
                      </a:pPr>
                      <a:r>
                        <a:rPr lang="es-ES_tradnl" sz="1300" noProof="0" dirty="0">
                          <a:solidFill>
                            <a:srgbClr val="3C3C3B"/>
                          </a:solidFill>
                          <a:latin typeface="Roboto" pitchFamily="34" charset="0"/>
                          <a:ea typeface="Roboto" pitchFamily="34" charset="-122"/>
                          <a:cs typeface="Roboto" pitchFamily="34" charset="-120"/>
                        </a:rPr>
                        <a:t>0.0285</a:t>
                      </a:r>
                      <a:endParaRPr lang="es-ES_tradnl" sz="1300" noProof="0" dirty="0">
                        <a:latin typeface="Roboto" charset="0"/>
                        <a:ea typeface="Roboto" charset="0"/>
                        <a:cs typeface="Roboto" charset="0"/>
                      </a:endParaRPr>
                    </a:p>
                  </a:txBody>
                  <a:tcPr marL="57785" marR="57785" marT="57785" marB="57785">
                    <a:lnL w="12700" cap="flat" cmpd="sng" algn="ctr">
                      <a:solidFill>
                        <a:srgbClr val="CBC594"/>
                      </a:solidFill>
                      <a:prstDash val="solid"/>
                      <a:round/>
                      <a:headEnd type="none" w="med" len="med"/>
                      <a:tailEnd type="none" w="med" len="med"/>
                    </a:lnL>
                    <a:lnR w="12700" cap="flat" cmpd="sng" algn="ctr">
                      <a:solidFill>
                        <a:srgbClr val="CBC594"/>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594"/>
                      </a:solidFill>
                      <a:prstDash val="solid"/>
                      <a:round/>
                      <a:headEnd type="none" w="med" len="med"/>
                      <a:tailEnd type="none" w="med" len="med"/>
                    </a:lnB>
                    <a:solidFill>
                      <a:srgbClr val="FFF7B8"/>
                    </a:solidFill>
                  </a:tcPr>
                </a:tc>
                <a:extLst>
                  <a:ext uri="{0D108BD9-81ED-4DB2-BD59-A6C34878D82A}">
                    <a16:rowId xmlns:a16="http://schemas.microsoft.com/office/drawing/2014/main" val="10006"/>
                  </a:ext>
                </a:extLst>
              </a:tr>
            </a:tbl>
          </a:graphicData>
        </a:graphic>
      </p:graphicFrame>
      <p:sp>
        <p:nvSpPr>
          <p:cNvPr id="10" name="Text 6"/>
          <p:cNvSpPr/>
          <p:nvPr/>
        </p:nvSpPr>
        <p:spPr>
          <a:xfrm>
            <a:off x="7391400" y="1805880"/>
            <a:ext cx="4107434" cy="238720"/>
          </a:xfrm>
          <a:prstGeom prst="rect">
            <a:avLst/>
          </a:prstGeom>
          <a:noFill/>
          <a:ln/>
        </p:spPr>
        <p:txBody>
          <a:bodyPr wrap="square" lIns="0" tIns="0" rIns="0" bIns="0" rtlCol="0" anchor="t">
            <a:normAutofit/>
          </a:bodyPr>
          <a:lstStyle/>
          <a:p>
            <a:pPr marL="0" indent="0" algn="l">
              <a:lnSpc>
                <a:spcPts val="1680"/>
              </a:lnSpc>
              <a:buNone/>
            </a:pPr>
            <a:r>
              <a:rPr lang="es-ES_tradnl" sz="1200" b="1" kern="0" spc="100" noProof="0" dirty="0">
                <a:solidFill>
                  <a:srgbClr val="6E6E6C"/>
                </a:solidFill>
                <a:latin typeface="Roboto" pitchFamily="34" charset="0"/>
                <a:ea typeface="Roboto" pitchFamily="34" charset="-122"/>
                <a:cs typeface="Roboto" pitchFamily="34" charset="-120"/>
              </a:rPr>
              <a:t>DE DÓNDE SALE LA STD TEÓRICA</a:t>
            </a:r>
            <a:endParaRPr lang="es-ES_tradnl" sz="1200" noProof="0" dirty="0"/>
          </a:p>
        </p:txBody>
      </p:sp>
      <p:pic>
        <p:nvPicPr>
          <p:cNvPr id="11" name="Image 1" descr="Var(F) = (1/n²)·Σₖ nₖ·Pₖ·(1 − Pₖ)"/>
          <p:cNvPicPr>
            <a:picLocks noChangeAspect="1"/>
          </p:cNvPicPr>
          <p:nvPr/>
        </p:nvPicPr>
        <p:blipFill>
          <a:blip r:embed="rId4"/>
          <a:srcRect t="-175" b="-175"/>
          <a:stretch/>
        </p:blipFill>
        <p:spPr>
          <a:xfrm>
            <a:off x="7391400" y="2120801"/>
            <a:ext cx="3543300" cy="730250"/>
          </a:xfrm>
          <a:prstGeom prst="rect">
            <a:avLst/>
          </a:prstGeom>
        </p:spPr>
      </p:pic>
      <p:sp>
        <p:nvSpPr>
          <p:cNvPr id="12" name="Text 7"/>
          <p:cNvSpPr/>
          <p:nvPr/>
        </p:nvSpPr>
        <p:spPr>
          <a:xfrm>
            <a:off x="7391400" y="2952651"/>
            <a:ext cx="4107434" cy="452041"/>
          </a:xfrm>
          <a:prstGeom prst="rect">
            <a:avLst/>
          </a:prstGeom>
          <a:noFill/>
          <a:ln/>
        </p:spPr>
        <p:txBody>
          <a:bodyPr wrap="square" lIns="0" tIns="0" rIns="0" bIns="0" rtlCol="0" anchor="t">
            <a:normAutofit/>
          </a:bodyPr>
          <a:lstStyle/>
          <a:p>
            <a:pPr marL="0" indent="0" algn="l">
              <a:lnSpc>
                <a:spcPts val="1680"/>
              </a:lnSpc>
              <a:buNone/>
            </a:pPr>
            <a:r>
              <a:rPr lang="es-ES_tradnl" sz="1200" noProof="0" dirty="0">
                <a:solidFill>
                  <a:srgbClr val="3C3C3B"/>
                </a:solidFill>
                <a:latin typeface="Roboto" pitchFamily="34" charset="0"/>
                <a:ea typeface="Roboto" pitchFamily="34" charset="-122"/>
                <a:cs typeface="Roboto" pitchFamily="34" charset="-120"/>
              </a:rPr>
              <a:t>Sin ruido, </a:t>
            </a:r>
            <a:r>
              <a:rPr lang="es-ES_tradnl" sz="1200" noProof="0" dirty="0">
                <a:solidFill>
                  <a:srgbClr val="293470"/>
                </a:solidFill>
                <a:latin typeface="Roboto" pitchFamily="34" charset="0"/>
                <a:ea typeface="Roboto" pitchFamily="34" charset="-122"/>
                <a:cs typeface="Roboto" pitchFamily="34" charset="-120"/>
              </a:rPr>
              <a:t>car</a:t>
            </a:r>
            <a:r>
              <a:rPr lang="es-ES_tradnl" sz="1200" noProof="0" dirty="0">
                <a:solidFill>
                  <a:srgbClr val="3C3C3B"/>
                </a:solidFill>
                <a:latin typeface="Roboto" pitchFamily="34" charset="0"/>
                <a:ea typeface="Roboto" pitchFamily="34" charset="-122"/>
                <a:cs typeface="Roboto" pitchFamily="34" charset="-120"/>
              </a:rPr>
              <a:t> y </a:t>
            </a:r>
            <a:r>
              <a:rPr lang="es-ES_tradnl" sz="1200" noProof="0" dirty="0">
                <a:solidFill>
                  <a:srgbClr val="293470"/>
                </a:solidFill>
                <a:latin typeface="Roboto" pitchFamily="34" charset="0"/>
                <a:ea typeface="Roboto" pitchFamily="34" charset="-122"/>
                <a:cs typeface="Roboto" pitchFamily="34" charset="-120"/>
              </a:rPr>
              <a:t>real estate</a:t>
            </a:r>
            <a:r>
              <a:rPr lang="es-ES_tradnl" sz="1200" noProof="0" dirty="0">
                <a:solidFill>
                  <a:srgbClr val="3C3C3B"/>
                </a:solidFill>
                <a:latin typeface="Roboto" pitchFamily="34" charset="0"/>
                <a:ea typeface="Roboto" pitchFamily="34" charset="-122"/>
                <a:cs typeface="Roboto" pitchFamily="34" charset="-120"/>
              </a:rPr>
              <a:t> son deterministas y no aportan: solo cuentan </a:t>
            </a:r>
            <a:r>
              <a:rPr lang="es-ES_tradnl" sz="1200" noProof="0" dirty="0" err="1">
                <a:solidFill>
                  <a:srgbClr val="293470"/>
                </a:solidFill>
                <a:latin typeface="Roboto" pitchFamily="34" charset="0"/>
                <a:ea typeface="Roboto" pitchFamily="34" charset="-122"/>
                <a:cs typeface="Roboto" pitchFamily="34" charset="-120"/>
              </a:rPr>
              <a:t>none</a:t>
            </a:r>
            <a:r>
              <a:rPr lang="es-ES_tradnl" sz="1200" noProof="0" dirty="0">
                <a:solidFill>
                  <a:srgbClr val="3C3C3B"/>
                </a:solidFill>
                <a:latin typeface="Roboto" pitchFamily="34" charset="0"/>
                <a:ea typeface="Roboto" pitchFamily="34" charset="-122"/>
                <a:cs typeface="Roboto" pitchFamily="34" charset="-120"/>
              </a:rPr>
              <a:t> y </a:t>
            </a:r>
            <a:r>
              <a:rPr lang="es-ES_tradnl" sz="1200" noProof="0" dirty="0" err="1">
                <a:solidFill>
                  <a:srgbClr val="293470"/>
                </a:solidFill>
                <a:latin typeface="Roboto" pitchFamily="34" charset="0"/>
                <a:ea typeface="Roboto" pitchFamily="34" charset="-122"/>
                <a:cs typeface="Roboto" pitchFamily="34" charset="-120"/>
              </a:rPr>
              <a:t>savings</a:t>
            </a:r>
            <a:r>
              <a:rPr lang="es-ES_tradnl" sz="1200" noProof="0" dirty="0">
                <a:solidFill>
                  <a:srgbClr val="3C3C3B"/>
                </a:solidFill>
                <a:latin typeface="Roboto" pitchFamily="34" charset="0"/>
                <a:ea typeface="Roboto" pitchFamily="34" charset="-122"/>
                <a:cs typeface="Roboto" pitchFamily="34" charset="-120"/>
              </a:rPr>
              <a:t> (P = ½).</a:t>
            </a:r>
            <a:endParaRPr lang="es-ES_tradnl" sz="1200" noProof="0" dirty="0"/>
          </a:p>
        </p:txBody>
      </p:sp>
      <p:sp>
        <p:nvSpPr>
          <p:cNvPr id="13" name="Shape 8"/>
          <p:cNvSpPr/>
          <p:nvPr/>
        </p:nvSpPr>
        <p:spPr>
          <a:xfrm>
            <a:off x="7410450" y="3480891"/>
            <a:ext cx="0" cy="426641"/>
          </a:xfrm>
          <a:prstGeom prst="line">
            <a:avLst/>
          </a:prstGeom>
          <a:noFill/>
          <a:ln w="38100">
            <a:solidFill>
              <a:srgbClr val="FFEE00"/>
            </a:solidFill>
            <a:prstDash val="solid"/>
          </a:ln>
        </p:spPr>
        <p:txBody>
          <a:bodyPr/>
          <a:lstStyle/>
          <a:p>
            <a:endParaRPr lang="es-ES_tradnl" noProof="0" dirty="0"/>
          </a:p>
        </p:txBody>
      </p:sp>
      <p:sp>
        <p:nvSpPr>
          <p:cNvPr id="14" name="Text 9"/>
          <p:cNvSpPr/>
          <p:nvPr/>
        </p:nvSpPr>
        <p:spPr>
          <a:xfrm>
            <a:off x="7531100" y="3480891"/>
            <a:ext cx="3963543" cy="452041"/>
          </a:xfrm>
          <a:prstGeom prst="rect">
            <a:avLst/>
          </a:prstGeom>
          <a:noFill/>
          <a:ln/>
        </p:spPr>
        <p:txBody>
          <a:bodyPr wrap="square" lIns="0" tIns="0" rIns="0" bIns="0" rtlCol="0" anchor="t">
            <a:normAutofit/>
          </a:bodyPr>
          <a:lstStyle/>
          <a:p>
            <a:pPr marL="0" indent="0" algn="l">
              <a:lnSpc>
                <a:spcPts val="1680"/>
              </a:lnSpc>
              <a:buNone/>
            </a:pPr>
            <a:r>
              <a:rPr lang="es-ES_tradnl" sz="1200" noProof="0" dirty="0">
                <a:solidFill>
                  <a:srgbClr val="3C3C3B"/>
                </a:solidFill>
                <a:latin typeface="Roboto" pitchFamily="34" charset="0"/>
                <a:ea typeface="Roboto" pitchFamily="34" charset="-122"/>
                <a:cs typeface="Roboto" pitchFamily="34" charset="-120"/>
              </a:rPr>
              <a:t>Diferencias de 1.6 % a 2.7 %: fluctuación normal, del orden de 1/√(2R).</a:t>
            </a:r>
            <a:endParaRPr lang="es-ES_tradnl" sz="1200" noProof="0" dirty="0"/>
          </a:p>
        </p:txBody>
      </p:sp>
      <p:sp>
        <p:nvSpPr>
          <p:cNvPr id="15" name="Shape 10"/>
          <p:cNvSpPr/>
          <p:nvPr/>
        </p:nvSpPr>
        <p:spPr>
          <a:xfrm>
            <a:off x="812800" y="4536678"/>
            <a:ext cx="10566400" cy="825500"/>
          </a:xfrm>
          <a:prstGeom prst="roundRect">
            <a:avLst>
              <a:gd name="adj" fmla="val 12308"/>
            </a:avLst>
          </a:prstGeom>
          <a:solidFill>
            <a:srgbClr val="F4F4F2"/>
          </a:solidFill>
          <a:ln/>
        </p:spPr>
        <p:txBody>
          <a:bodyPr/>
          <a:lstStyle/>
          <a:p>
            <a:endParaRPr lang="es-ES_tradnl" noProof="0" dirty="0"/>
          </a:p>
        </p:txBody>
      </p:sp>
      <p:sp>
        <p:nvSpPr>
          <p:cNvPr id="16" name="Text 11"/>
          <p:cNvSpPr/>
          <p:nvPr/>
        </p:nvSpPr>
        <p:spPr>
          <a:xfrm>
            <a:off x="1066800" y="4842768"/>
            <a:ext cx="818356" cy="238720"/>
          </a:xfrm>
          <a:prstGeom prst="rect">
            <a:avLst/>
          </a:prstGeom>
          <a:noFill/>
          <a:ln/>
        </p:spPr>
        <p:txBody>
          <a:bodyPr wrap="none" lIns="0" tIns="0" rIns="0" bIns="0" rtlCol="0" anchor="t">
            <a:normAutofit/>
          </a:bodyPr>
          <a:lstStyle/>
          <a:p>
            <a:pPr marL="0" indent="0" algn="l">
              <a:lnSpc>
                <a:spcPts val="1680"/>
              </a:lnSpc>
              <a:buNone/>
            </a:pPr>
            <a:r>
              <a:rPr lang="es-ES_tradnl" sz="1200" b="1" noProof="0" dirty="0">
                <a:solidFill>
                  <a:srgbClr val="1D1D1B"/>
                </a:solidFill>
                <a:latin typeface="Roboto" pitchFamily="34" charset="0"/>
                <a:ea typeface="Roboto" pitchFamily="34" charset="-122"/>
                <a:cs typeface="Roboto" pitchFamily="34" charset="-120"/>
              </a:rPr>
              <a:t>Ejemplo, B:</a:t>
            </a:r>
            <a:endParaRPr lang="es-ES_tradnl" sz="1200" noProof="0" dirty="0"/>
          </a:p>
        </p:txBody>
      </p:sp>
      <p:pic>
        <p:nvPicPr>
          <p:cNvPr id="17" name="Image 2" descr="Var(F_B) = (282 + 154)·¼ / 1000² = 1.09·10⁻⁴ ⇒ std = 0.0104"/>
          <p:cNvPicPr>
            <a:picLocks noChangeAspect="1"/>
          </p:cNvPicPr>
          <p:nvPr/>
        </p:nvPicPr>
        <p:blipFill>
          <a:blip r:embed="rId5"/>
          <a:srcRect l="-168" r="-168"/>
          <a:stretch/>
        </p:blipFill>
        <p:spPr>
          <a:xfrm>
            <a:off x="2088356" y="4663678"/>
            <a:ext cx="6115050" cy="571500"/>
          </a:xfrm>
          <a:prstGeom prst="rect">
            <a:avLst/>
          </a:prstGeom>
        </p:spPr>
      </p:pic>
      <p:sp>
        <p:nvSpPr>
          <p:cNvPr id="19" name="Text 13"/>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a:solidFill>
                  <a:srgbClr val="1D1D1B"/>
                </a:solidFill>
                <a:latin typeface="Roboto" pitchFamily="34" charset="0"/>
                <a:ea typeface="Roboto" pitchFamily="34" charset="-122"/>
                <a:cs typeface="Roboto" pitchFamily="34" charset="-120"/>
              </a:rPr>
              <a:t>37</a:t>
            </a:r>
            <a:endParaRPr lang="es-ES_tradnl" sz="1200" noProof="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s-ES_tradnl" noProof="0" dirty="0"/>
          </a:p>
        </p:txBody>
      </p:sp>
      <p:sp>
        <p:nvSpPr>
          <p:cNvPr id="3" name="Shape 1"/>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dirty="0">
                <a:solidFill>
                  <a:srgbClr val="1D1D1B"/>
                </a:solidFill>
                <a:latin typeface="DM Sans" pitchFamily="34" charset="0"/>
                <a:ea typeface="DM Sans" pitchFamily="34" charset="-122"/>
                <a:cs typeface="DM Sans" pitchFamily="34" charset="-120"/>
              </a:rPr>
              <a:t>IV</a:t>
            </a:r>
            <a:endParaRPr lang="es-ES_tradnl" sz="1200" noProof="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dirty="0">
                <a:solidFill>
                  <a:srgbClr val="6E6E6C"/>
                </a:solidFill>
                <a:latin typeface="Roboto" pitchFamily="34" charset="0"/>
                <a:ea typeface="Roboto" pitchFamily="34" charset="-122"/>
                <a:cs typeface="Roboto" pitchFamily="34" charset="-120"/>
              </a:rPr>
              <a:t>RESULTADOS</a:t>
            </a:r>
            <a:endParaRPr lang="es-ES_tradnl" sz="1200" noProof="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s-ES_tradnl" sz="2800" b="1" i="0" kern="0" spc="-50" noProof="0" dirty="0">
                <a:solidFill>
                  <a:srgbClr val="1D1D1B"/>
                </a:solidFill>
                <a:latin typeface="DM Sans" pitchFamily="34" charset="0"/>
                <a:ea typeface="DM Sans" pitchFamily="34" charset="-122"/>
                <a:cs typeface="DM Sans" pitchFamily="34" charset="-120"/>
              </a:rPr>
              <a:t>El histograma: mismo centro, más ancho</a:t>
            </a:r>
            <a:endParaRPr lang="es-ES_tradnl" sz="2800" noProof="0" dirty="0"/>
          </a:p>
        </p:txBody>
      </p:sp>
      <p:sp>
        <p:nvSpPr>
          <p:cNvPr id="9" name="Text 6"/>
          <p:cNvSpPr/>
          <p:nvPr/>
        </p:nvSpPr>
        <p:spPr>
          <a:xfrm>
            <a:off x="812800" y="5191720"/>
            <a:ext cx="6802120" cy="452041"/>
          </a:xfrm>
          <a:prstGeom prst="rect">
            <a:avLst/>
          </a:prstGeom>
          <a:noFill/>
          <a:ln/>
        </p:spPr>
        <p:txBody>
          <a:bodyPr wrap="square" lIns="0" tIns="0" rIns="0" bIns="0" rtlCol="0" anchor="t">
            <a:normAutofit/>
          </a:bodyPr>
          <a:lstStyle/>
          <a:p>
            <a:pPr marL="0" indent="0" algn="l">
              <a:lnSpc>
                <a:spcPts val="1680"/>
              </a:lnSpc>
              <a:buNone/>
            </a:pPr>
            <a:r>
              <a:rPr lang="es-ES_tradnl" sz="1200" noProof="0" dirty="0">
                <a:solidFill>
                  <a:srgbClr val="6E6E6C"/>
                </a:solidFill>
                <a:latin typeface="Roboto" pitchFamily="34" charset="0"/>
                <a:ea typeface="Roboto" pitchFamily="34" charset="-122"/>
                <a:cs typeface="Roboto" pitchFamily="34" charset="-120"/>
              </a:rPr>
              <a:t>B y F̂ con los mismos bordes de </a:t>
            </a:r>
            <a:r>
              <a:rPr lang="es-ES_tradnl" sz="1200" noProof="0" dirty="0" err="1">
                <a:solidFill>
                  <a:srgbClr val="6E6E6C"/>
                </a:solidFill>
                <a:latin typeface="Roboto" pitchFamily="34" charset="0"/>
                <a:ea typeface="Roboto" pitchFamily="34" charset="-122"/>
                <a:cs typeface="Roboto" pitchFamily="34" charset="-120"/>
              </a:rPr>
              <a:t>bins</a:t>
            </a:r>
            <a:r>
              <a:rPr lang="es-ES_tradnl" sz="1200" noProof="0" dirty="0">
                <a:solidFill>
                  <a:srgbClr val="6E6E6C"/>
                </a:solidFill>
                <a:latin typeface="Roboto" pitchFamily="34" charset="0"/>
                <a:ea typeface="Roboto" pitchFamily="34" charset="-122"/>
                <a:cs typeface="Roboto" pitchFamily="34" charset="-120"/>
              </a:rPr>
              <a:t> (ancho 0.004); línea en 0.45, el valor esperado sin ruido; </a:t>
            </a:r>
            <a:r>
              <a:rPr lang="es-ES_tradnl" sz="1200" noProof="0" dirty="0" err="1">
                <a:solidFill>
                  <a:srgbClr val="6E6E6C"/>
                </a:solidFill>
                <a:latin typeface="Roboto" pitchFamily="34" charset="0"/>
                <a:ea typeface="Roboto" pitchFamily="34" charset="-122"/>
                <a:cs typeface="Roboto" pitchFamily="34" charset="-120"/>
              </a:rPr>
              <a:t>ε</a:t>
            </a:r>
            <a:r>
              <a:rPr lang="es-ES_tradnl" sz="1200" noProof="0" dirty="0">
                <a:solidFill>
                  <a:srgbClr val="6E6E6C"/>
                </a:solidFill>
                <a:latin typeface="Roboto" pitchFamily="34" charset="0"/>
                <a:ea typeface="Roboto" pitchFamily="34" charset="-122"/>
                <a:cs typeface="Roboto" pitchFamily="34" charset="-120"/>
              </a:rPr>
              <a:t> = 1.10, p = 0.5.</a:t>
            </a:r>
            <a:endParaRPr lang="es-ES_tradnl" sz="1200" noProof="0" dirty="0"/>
          </a:p>
        </p:txBody>
      </p:sp>
      <p:sp>
        <p:nvSpPr>
          <p:cNvPr id="10" name="Text 7"/>
          <p:cNvSpPr/>
          <p:nvPr/>
        </p:nvSpPr>
        <p:spPr>
          <a:xfrm>
            <a:off x="7772400" y="1457920"/>
            <a:ext cx="3715004" cy="1168400"/>
          </a:xfrm>
          <a:prstGeom prst="rect">
            <a:avLst/>
          </a:prstGeom>
          <a:noFill/>
          <a:ln/>
        </p:spPr>
        <p:txBody>
          <a:bodyPr wrap="square" lIns="0" tIns="0" rIns="0" bIns="0" rtlCol="0" anchor="t">
            <a:normAutofit/>
          </a:bodyPr>
          <a:lstStyle/>
          <a:p>
            <a:pPr marL="0" indent="0" algn="l">
              <a:lnSpc>
                <a:spcPts val="2250"/>
              </a:lnSpc>
              <a:buNone/>
            </a:pPr>
            <a:r>
              <a:rPr lang="es-ES_tradnl" sz="1800" b="1" noProof="0" dirty="0">
                <a:solidFill>
                  <a:srgbClr val="1D1D1B"/>
                </a:solidFill>
                <a:latin typeface="DM Sans" pitchFamily="34" charset="0"/>
                <a:ea typeface="DM Sans" pitchFamily="34" charset="-122"/>
                <a:cs typeface="DM Sans" pitchFamily="34" charset="-120"/>
              </a:rPr>
              <a:t>Con </a:t>
            </a:r>
            <a:r>
              <a:rPr lang="es-ES_tradnl" sz="1800" b="1" noProof="0" dirty="0" err="1">
                <a:solidFill>
                  <a:srgbClr val="1D1D1B"/>
                </a:solidFill>
                <a:latin typeface="DM Sans" pitchFamily="34" charset="0"/>
                <a:ea typeface="DM Sans" pitchFamily="34" charset="-122"/>
                <a:cs typeface="DM Sans" pitchFamily="34" charset="-120"/>
              </a:rPr>
              <a:t>ε</a:t>
            </a:r>
            <a:r>
              <a:rPr lang="es-ES_tradnl" sz="1800" b="1" noProof="0" dirty="0">
                <a:solidFill>
                  <a:srgbClr val="1D1D1B"/>
                </a:solidFill>
                <a:latin typeface="DM Sans" pitchFamily="34" charset="0"/>
                <a:ea typeface="DM Sans" pitchFamily="34" charset="-122"/>
                <a:cs typeface="DM Sans" pitchFamily="34" charset="-120"/>
              </a:rPr>
              <a:t> = </a:t>
            </a:r>
            <a:r>
              <a:rPr lang="es-ES_tradnl" sz="1800" b="1" noProof="0" dirty="0" err="1">
                <a:solidFill>
                  <a:srgbClr val="1D1D1B"/>
                </a:solidFill>
                <a:latin typeface="DM Sans" pitchFamily="34" charset="0"/>
                <a:ea typeface="DM Sans" pitchFamily="34" charset="-122"/>
                <a:cs typeface="DM Sans" pitchFamily="34" charset="-120"/>
              </a:rPr>
              <a:t>ln</a:t>
            </a:r>
            <a:r>
              <a:rPr lang="es-ES_tradnl" sz="1800" b="1" noProof="0" dirty="0">
                <a:solidFill>
                  <a:srgbClr val="1D1D1B"/>
                </a:solidFill>
                <a:latin typeface="DM Sans" pitchFamily="34" charset="0"/>
                <a:ea typeface="DM Sans" pitchFamily="34" charset="-122"/>
                <a:cs typeface="DM Sans" pitchFamily="34" charset="-120"/>
              </a:rPr>
              <a:t> 3, la privacidad no sesga la estadística de la población: la vuelve menos precisa.</a:t>
            </a:r>
            <a:endParaRPr lang="es-ES_tradnl" sz="1800" noProof="0" dirty="0"/>
          </a:p>
        </p:txBody>
      </p:sp>
      <p:sp>
        <p:nvSpPr>
          <p:cNvPr id="11" name="Text 8"/>
          <p:cNvSpPr/>
          <p:nvPr/>
        </p:nvSpPr>
        <p:spPr>
          <a:xfrm>
            <a:off x="7772400" y="2778720"/>
            <a:ext cx="1779016" cy="238720"/>
          </a:xfrm>
          <a:prstGeom prst="rect">
            <a:avLst/>
          </a:prstGeom>
          <a:noFill/>
          <a:ln/>
        </p:spPr>
        <p:txBody>
          <a:bodyPr wrap="square" lIns="0" tIns="0" rIns="0" bIns="0" rtlCol="0" anchor="t">
            <a:normAutofit/>
          </a:bodyPr>
          <a:lstStyle/>
          <a:p>
            <a:pPr marL="0" indent="0" algn="l">
              <a:lnSpc>
                <a:spcPts val="1680"/>
              </a:lnSpc>
              <a:buNone/>
            </a:pPr>
            <a:r>
              <a:rPr lang="es-ES_tradnl" sz="1200" kern="0" spc="100" noProof="0" dirty="0">
                <a:solidFill>
                  <a:srgbClr val="6E6E6C"/>
                </a:solidFill>
                <a:latin typeface="Roboto" pitchFamily="34" charset="0"/>
                <a:ea typeface="Roboto" pitchFamily="34" charset="-122"/>
                <a:cs typeface="Roboto" pitchFamily="34" charset="-120"/>
              </a:rPr>
              <a:t>CENTRO</a:t>
            </a:r>
            <a:endParaRPr lang="es-ES_tradnl" sz="1200" noProof="0" dirty="0"/>
          </a:p>
        </p:txBody>
      </p:sp>
      <p:sp>
        <p:nvSpPr>
          <p:cNvPr id="12" name="Text 9"/>
          <p:cNvSpPr/>
          <p:nvPr/>
        </p:nvSpPr>
        <p:spPr>
          <a:xfrm>
            <a:off x="7772400" y="3017441"/>
            <a:ext cx="1779016" cy="416520"/>
          </a:xfrm>
          <a:prstGeom prst="rect">
            <a:avLst/>
          </a:prstGeom>
          <a:noFill/>
          <a:ln/>
        </p:spPr>
        <p:txBody>
          <a:bodyPr wrap="square" lIns="0" tIns="0" rIns="0" bIns="0" rtlCol="0" anchor="t">
            <a:normAutofit/>
          </a:bodyPr>
          <a:lstStyle/>
          <a:p>
            <a:pPr marL="0" indent="0" algn="l">
              <a:lnSpc>
                <a:spcPts val="3080"/>
              </a:lnSpc>
              <a:buNone/>
            </a:pPr>
            <a:r>
              <a:rPr lang="es-ES_tradnl" sz="2800" b="1" noProof="0" dirty="0">
                <a:solidFill>
                  <a:srgbClr val="293470"/>
                </a:solidFill>
                <a:latin typeface="DM Sans" pitchFamily="34" charset="0"/>
                <a:ea typeface="DM Sans" pitchFamily="34" charset="-122"/>
                <a:cs typeface="DM Sans" pitchFamily="34" charset="-120"/>
              </a:rPr>
              <a:t>0.45</a:t>
            </a:r>
            <a:endParaRPr lang="es-ES_tradnl" sz="2800" noProof="0" dirty="0"/>
          </a:p>
        </p:txBody>
      </p:sp>
      <p:sp>
        <p:nvSpPr>
          <p:cNvPr id="13" name="Text 10"/>
          <p:cNvSpPr/>
          <p:nvPr/>
        </p:nvSpPr>
        <p:spPr>
          <a:xfrm>
            <a:off x="7772400" y="3433961"/>
            <a:ext cx="1779016" cy="231080"/>
          </a:xfrm>
          <a:prstGeom prst="rect">
            <a:avLst/>
          </a:prstGeom>
          <a:noFill/>
          <a:ln/>
        </p:spPr>
        <p:txBody>
          <a:bodyPr wrap="square" lIns="0" tIns="0" rIns="0" bIns="0" rtlCol="0" anchor="t">
            <a:normAutofit/>
          </a:bodyPr>
          <a:lstStyle/>
          <a:p>
            <a:pPr marL="0" indent="0" algn="l">
              <a:lnSpc>
                <a:spcPts val="1620"/>
              </a:lnSpc>
              <a:buNone/>
            </a:pPr>
            <a:r>
              <a:rPr lang="es-ES_tradnl" sz="1200" noProof="0" dirty="0">
                <a:solidFill>
                  <a:srgbClr val="3C3C3B"/>
                </a:solidFill>
                <a:latin typeface="Roboto" pitchFamily="34" charset="0"/>
                <a:ea typeface="Roboto" pitchFamily="34" charset="-122"/>
                <a:cs typeface="Roboto" pitchFamily="34" charset="-120"/>
              </a:rPr>
              <a:t>F̂ 0.4502 · B 0.4500</a:t>
            </a:r>
            <a:endParaRPr lang="es-ES_tradnl" sz="1200" noProof="0" dirty="0"/>
          </a:p>
        </p:txBody>
      </p:sp>
      <p:sp>
        <p:nvSpPr>
          <p:cNvPr id="14" name="Text 11"/>
          <p:cNvSpPr/>
          <p:nvPr/>
        </p:nvSpPr>
        <p:spPr>
          <a:xfrm>
            <a:off x="9652000" y="2778720"/>
            <a:ext cx="1779016" cy="238720"/>
          </a:xfrm>
          <a:prstGeom prst="rect">
            <a:avLst/>
          </a:prstGeom>
          <a:noFill/>
          <a:ln/>
        </p:spPr>
        <p:txBody>
          <a:bodyPr wrap="square" lIns="0" tIns="0" rIns="0" bIns="0" rtlCol="0" anchor="t">
            <a:normAutofit/>
          </a:bodyPr>
          <a:lstStyle/>
          <a:p>
            <a:pPr marL="0" indent="0" algn="l">
              <a:lnSpc>
                <a:spcPts val="1680"/>
              </a:lnSpc>
              <a:buNone/>
            </a:pPr>
            <a:r>
              <a:rPr lang="es-ES_tradnl" sz="1200" kern="0" spc="100" noProof="0" dirty="0">
                <a:solidFill>
                  <a:srgbClr val="6E6E6C"/>
                </a:solidFill>
                <a:latin typeface="Roboto" pitchFamily="34" charset="0"/>
                <a:ea typeface="Roboto" pitchFamily="34" charset="-122"/>
                <a:cs typeface="Roboto" pitchFamily="34" charset="-120"/>
              </a:rPr>
              <a:t>ANCHO</a:t>
            </a:r>
            <a:endParaRPr lang="es-ES_tradnl" sz="1200" noProof="0" dirty="0"/>
          </a:p>
        </p:txBody>
      </p:sp>
      <p:sp>
        <p:nvSpPr>
          <p:cNvPr id="15" name="Text 12"/>
          <p:cNvSpPr/>
          <p:nvPr/>
        </p:nvSpPr>
        <p:spPr>
          <a:xfrm>
            <a:off x="9652000" y="3017441"/>
            <a:ext cx="1779016" cy="416520"/>
          </a:xfrm>
          <a:prstGeom prst="rect">
            <a:avLst/>
          </a:prstGeom>
          <a:noFill/>
          <a:ln/>
        </p:spPr>
        <p:txBody>
          <a:bodyPr wrap="square" lIns="0" tIns="0" rIns="0" bIns="0" rtlCol="0" anchor="t">
            <a:normAutofit/>
          </a:bodyPr>
          <a:lstStyle/>
          <a:p>
            <a:pPr marL="0" indent="0" algn="l">
              <a:lnSpc>
                <a:spcPts val="3080"/>
              </a:lnSpc>
              <a:buNone/>
            </a:pPr>
            <a:r>
              <a:rPr lang="es-ES_tradnl" sz="2800" b="1" noProof="0" dirty="0">
                <a:solidFill>
                  <a:srgbClr val="1D1D1B"/>
                </a:solidFill>
                <a:latin typeface="DM Sans" pitchFamily="34" charset="0"/>
                <a:ea typeface="DM Sans" pitchFamily="34" charset="-122"/>
                <a:cs typeface="DM Sans" pitchFamily="34" charset="-120"/>
              </a:rPr>
              <a:t>×2.8</a:t>
            </a:r>
            <a:endParaRPr lang="es-ES_tradnl" sz="2800" noProof="0" dirty="0"/>
          </a:p>
        </p:txBody>
      </p:sp>
      <p:sp>
        <p:nvSpPr>
          <p:cNvPr id="16" name="Text 13"/>
          <p:cNvSpPr/>
          <p:nvPr/>
        </p:nvSpPr>
        <p:spPr>
          <a:xfrm>
            <a:off x="9652000" y="3433961"/>
            <a:ext cx="2072640" cy="231080"/>
          </a:xfrm>
          <a:prstGeom prst="rect">
            <a:avLst/>
          </a:prstGeom>
          <a:noFill/>
          <a:ln/>
        </p:spPr>
        <p:txBody>
          <a:bodyPr wrap="square" lIns="0" tIns="0" rIns="0" bIns="0" rtlCol="0" anchor="t">
            <a:normAutofit/>
          </a:bodyPr>
          <a:lstStyle/>
          <a:p>
            <a:pPr marL="0" indent="0" algn="l">
              <a:lnSpc>
                <a:spcPts val="1620"/>
              </a:lnSpc>
              <a:buNone/>
            </a:pPr>
            <a:r>
              <a:rPr lang="es-ES_tradnl" sz="1200" noProof="0" dirty="0" err="1">
                <a:solidFill>
                  <a:srgbClr val="3C3C3B"/>
                </a:solidFill>
                <a:latin typeface="Roboto" pitchFamily="34" charset="0"/>
                <a:ea typeface="Roboto" pitchFamily="34" charset="-122"/>
                <a:cs typeface="Roboto" pitchFamily="34" charset="-120"/>
              </a:rPr>
              <a:t>std</a:t>
            </a:r>
            <a:r>
              <a:rPr lang="es-ES_tradnl" sz="1200" noProof="0" dirty="0">
                <a:solidFill>
                  <a:srgbClr val="3C3C3B"/>
                </a:solidFill>
                <a:latin typeface="Roboto" pitchFamily="34" charset="0"/>
                <a:ea typeface="Roboto" pitchFamily="34" charset="-122"/>
                <a:cs typeface="Roboto" pitchFamily="34" charset="-120"/>
              </a:rPr>
              <a:t> 0.0285 contra 0.0103</a:t>
            </a:r>
            <a:endParaRPr lang="es-ES_tradnl" sz="1200" noProof="0" dirty="0"/>
          </a:p>
        </p:txBody>
      </p:sp>
      <p:sp>
        <p:nvSpPr>
          <p:cNvPr id="17" name="Shape 14"/>
          <p:cNvSpPr/>
          <p:nvPr/>
        </p:nvSpPr>
        <p:spPr>
          <a:xfrm>
            <a:off x="7791450" y="3817441"/>
            <a:ext cx="0" cy="639961"/>
          </a:xfrm>
          <a:prstGeom prst="line">
            <a:avLst/>
          </a:prstGeom>
          <a:noFill/>
          <a:ln w="38100">
            <a:solidFill>
              <a:srgbClr val="FFEE00"/>
            </a:solidFill>
            <a:prstDash val="solid"/>
          </a:ln>
        </p:spPr>
        <p:txBody>
          <a:bodyPr/>
          <a:lstStyle/>
          <a:p>
            <a:endParaRPr lang="es-ES_tradnl" noProof="0" dirty="0"/>
          </a:p>
        </p:txBody>
      </p:sp>
      <p:sp>
        <p:nvSpPr>
          <p:cNvPr id="18" name="Text 15"/>
          <p:cNvSpPr/>
          <p:nvPr/>
        </p:nvSpPr>
        <p:spPr>
          <a:xfrm>
            <a:off x="7912100" y="3817441"/>
            <a:ext cx="3571113" cy="665361"/>
          </a:xfrm>
          <a:prstGeom prst="rect">
            <a:avLst/>
          </a:prstGeom>
          <a:noFill/>
          <a:ln/>
        </p:spPr>
        <p:txBody>
          <a:bodyPr wrap="square" lIns="0" tIns="0" rIns="0" bIns="0" rtlCol="0" anchor="t">
            <a:normAutofit/>
          </a:bodyPr>
          <a:lstStyle/>
          <a:p>
            <a:pPr marL="0" indent="0" algn="l">
              <a:lnSpc>
                <a:spcPts val="1680"/>
              </a:lnSpc>
              <a:buNone/>
            </a:pPr>
            <a:r>
              <a:rPr lang="es-ES_tradnl" sz="1200" noProof="0" dirty="0">
                <a:solidFill>
                  <a:srgbClr val="3C3C3B"/>
                </a:solidFill>
                <a:latin typeface="Roboto" pitchFamily="34" charset="0"/>
                <a:ea typeface="Roboto" pitchFamily="34" charset="-122"/>
                <a:cs typeface="Roboto" pitchFamily="34" charset="-120"/>
              </a:rPr>
              <a:t>Cada valor del histograma es la estadística de la población en una repetición, no una persona. El efecto sobre un individuo es el del Acto II.</a:t>
            </a:r>
            <a:endParaRPr lang="es-ES_tradnl" sz="1200" noProof="0" dirty="0"/>
          </a:p>
        </p:txBody>
      </p:sp>
      <p:sp>
        <p:nvSpPr>
          <p:cNvPr id="20" name="Text 17"/>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a:solidFill>
                  <a:srgbClr val="1D1D1B"/>
                </a:solidFill>
                <a:latin typeface="Roboto" pitchFamily="34" charset="0"/>
                <a:ea typeface="Roboto" pitchFamily="34" charset="-122"/>
                <a:cs typeface="Roboto" pitchFamily="34" charset="-120"/>
              </a:rPr>
              <a:t>38</a:t>
            </a:r>
            <a:endParaRPr lang="es-ES_tradnl" sz="1200" noProof="0" dirty="0"/>
          </a:p>
        </p:txBody>
      </p:sp>
      <p:pic>
        <p:nvPicPr>
          <p:cNvPr id="22" name="Picture 21" descr="A graph of a number of numbers&#10;&#10;AI-generated content may be incorrect.">
            <a:extLst>
              <a:ext uri="{FF2B5EF4-FFF2-40B4-BE49-F238E27FC236}">
                <a16:creationId xmlns:a16="http://schemas.microsoft.com/office/drawing/2014/main" id="{EFFF2B44-0ADE-0BB0-DD60-08037135F239}"/>
              </a:ext>
            </a:extLst>
          </p:cNvPr>
          <p:cNvPicPr>
            <a:picLocks noChangeAspect="1"/>
          </p:cNvPicPr>
          <p:nvPr/>
        </p:nvPicPr>
        <p:blipFill>
          <a:blip r:embed="rId4"/>
          <a:stretch>
            <a:fillRect/>
          </a:stretch>
        </p:blipFill>
        <p:spPr>
          <a:xfrm>
            <a:off x="1703020" y="1327390"/>
            <a:ext cx="5021679" cy="3766259"/>
          </a:xfrm>
          <a:prstGeom prst="rect">
            <a:avLst/>
          </a:prstGeom>
        </p:spPr>
      </p:pic>
    </p:spTree>
    <p:extLst>
      <p:ext uri="{BB962C8B-B14F-4D97-AF65-F5344CB8AC3E}">
        <p14:creationId xmlns:p14="http://schemas.microsoft.com/office/powerpoint/2010/main" val="345147898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4">
    <p:bg>
      <p:bgPr>
        <a:solidFill>
          <a:srgbClr val="FFEE00"/>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l="-9" r="-9"/>
          <a:stretch/>
        </p:blipFill>
        <p:spPr>
          <a:xfrm>
            <a:off x="7493000" y="0"/>
            <a:ext cx="4699000" cy="6858000"/>
          </a:xfrm>
          <a:prstGeom prst="rect">
            <a:avLst/>
          </a:prstGeom>
        </p:spPr>
      </p:pic>
      <p:sp>
        <p:nvSpPr>
          <p:cNvPr id="3" name="Text 0"/>
          <p:cNvSpPr/>
          <p:nvPr/>
        </p:nvSpPr>
        <p:spPr>
          <a:xfrm>
            <a:off x="7978140" y="3937000"/>
            <a:ext cx="3401060" cy="1803400"/>
          </a:xfrm>
          <a:prstGeom prst="rect">
            <a:avLst/>
          </a:prstGeom>
          <a:noFill/>
          <a:ln/>
        </p:spPr>
        <p:txBody>
          <a:bodyPr wrap="square" lIns="0" tIns="0" rIns="0" bIns="0" rtlCol="0" anchor="t">
            <a:normAutofit fontScale="92500"/>
          </a:bodyPr>
          <a:lstStyle/>
          <a:p>
            <a:pPr marL="0" indent="0" algn="r">
              <a:lnSpc>
                <a:spcPts val="14000"/>
              </a:lnSpc>
              <a:buNone/>
            </a:pPr>
            <a:r>
              <a:rPr lang="es-ES_tradnl" sz="14000" b="1" noProof="0" dirty="0">
                <a:solidFill>
                  <a:srgbClr val="FFEE00"/>
                </a:solidFill>
                <a:latin typeface="DM Sans" pitchFamily="34" charset="0"/>
                <a:ea typeface="DM Sans" pitchFamily="34" charset="-122"/>
                <a:cs typeface="DM Sans" pitchFamily="34" charset="-120"/>
              </a:rPr>
              <a:t>V</a:t>
            </a:r>
            <a:endParaRPr lang="es-ES_tradnl" sz="14000" noProof="0" dirty="0"/>
          </a:p>
        </p:txBody>
      </p:sp>
      <p:pic>
        <p:nvPicPr>
          <p:cNvPr id="4" name="Image 1" descr="Universidad de los Andes"/>
          <p:cNvPicPr>
            <a:picLocks noChangeAspect="1"/>
          </p:cNvPicPr>
          <p:nvPr/>
        </p:nvPicPr>
        <p:blipFill>
          <a:blip r:embed="rId4"/>
          <a:srcRect/>
          <a:stretch/>
        </p:blipFill>
        <p:spPr>
          <a:xfrm>
            <a:off x="812800" y="609600"/>
            <a:ext cx="1371600" cy="431800"/>
          </a:xfrm>
          <a:prstGeom prst="rect">
            <a:avLst/>
          </a:prstGeom>
        </p:spPr>
      </p:pic>
      <p:sp>
        <p:nvSpPr>
          <p:cNvPr id="5" name="Text 1"/>
          <p:cNvSpPr/>
          <p:nvPr/>
        </p:nvSpPr>
        <p:spPr>
          <a:xfrm>
            <a:off x="812800" y="2471440"/>
            <a:ext cx="6409690" cy="274241"/>
          </a:xfrm>
          <a:prstGeom prst="rect">
            <a:avLst/>
          </a:prstGeom>
          <a:noFill/>
          <a:ln/>
        </p:spPr>
        <p:txBody>
          <a:bodyPr wrap="square" lIns="0" tIns="0" rIns="0" bIns="0" rtlCol="0" anchor="t">
            <a:normAutofit/>
          </a:bodyPr>
          <a:lstStyle/>
          <a:p>
            <a:pPr marL="0" indent="0" algn="l">
              <a:lnSpc>
                <a:spcPts val="1960"/>
              </a:lnSpc>
              <a:buNone/>
            </a:pPr>
            <a:r>
              <a:rPr lang="es-ES_tradnl" sz="1400" b="1" kern="0" spc="200" noProof="0" dirty="0">
                <a:solidFill>
                  <a:srgbClr val="1D1D1B"/>
                </a:solidFill>
                <a:latin typeface="DM Sans" pitchFamily="34" charset="0"/>
                <a:ea typeface="DM Sans" pitchFamily="34" charset="-122"/>
                <a:cs typeface="DM Sans" pitchFamily="34" charset="-120"/>
              </a:rPr>
              <a:t>ACTO V</a:t>
            </a:r>
            <a:endParaRPr lang="es-ES_tradnl" sz="1400" noProof="0" dirty="0"/>
          </a:p>
        </p:txBody>
      </p:sp>
      <p:sp>
        <p:nvSpPr>
          <p:cNvPr id="6" name="Text 2"/>
          <p:cNvSpPr>
            <a:spLocks noGrp="1"/>
          </p:cNvSpPr>
          <p:nvPr>
            <p:ph type="title"/>
          </p:nvPr>
        </p:nvSpPr>
        <p:spPr>
          <a:xfrm>
            <a:off x="812800" y="2898080"/>
            <a:ext cx="6409690" cy="665460"/>
          </a:xfrm>
          <a:prstGeom prst="rect">
            <a:avLst/>
          </a:prstGeom>
          <a:noFill/>
          <a:ln/>
        </p:spPr>
        <p:txBody>
          <a:bodyPr wrap="square" lIns="0" tIns="0" rIns="0" bIns="0" rtlCol="0" anchor="t">
            <a:normAutofit/>
          </a:bodyPr>
          <a:lstStyle/>
          <a:p>
            <a:pPr marL="0" indent="0" algn="l">
              <a:lnSpc>
                <a:spcPts val="5040"/>
              </a:lnSpc>
              <a:buNone/>
            </a:pPr>
            <a:r>
              <a:rPr lang="es-ES_tradnl" sz="4800" b="1" i="0" kern="0" spc="-100" noProof="0" dirty="0">
                <a:solidFill>
                  <a:srgbClr val="1D1D1B"/>
                </a:solidFill>
                <a:latin typeface="DM Sans" pitchFamily="34" charset="0"/>
                <a:ea typeface="DM Sans" pitchFamily="34" charset="-122"/>
                <a:cs typeface="DM Sans" pitchFamily="34" charset="-120"/>
              </a:rPr>
              <a:t>Hardware y cierre</a:t>
            </a:r>
            <a:endParaRPr lang="es-ES_tradnl" sz="4800" noProof="0" dirty="0"/>
          </a:p>
        </p:txBody>
      </p:sp>
      <p:sp>
        <p:nvSpPr>
          <p:cNvPr id="7" name="Text 3"/>
          <p:cNvSpPr/>
          <p:nvPr/>
        </p:nvSpPr>
        <p:spPr>
          <a:xfrm>
            <a:off x="812800" y="3715941"/>
            <a:ext cx="6409690" cy="322560"/>
          </a:xfrm>
          <a:prstGeom prst="rect">
            <a:avLst/>
          </a:prstGeom>
          <a:noFill/>
          <a:ln/>
        </p:spPr>
        <p:txBody>
          <a:bodyPr wrap="square" lIns="0" tIns="0" rIns="0" bIns="0" rtlCol="0" anchor="t">
            <a:normAutofit/>
          </a:bodyPr>
          <a:lstStyle/>
          <a:p>
            <a:pPr marL="0" indent="0" algn="l">
              <a:lnSpc>
                <a:spcPts val="2340"/>
              </a:lnSpc>
              <a:buNone/>
            </a:pPr>
            <a:r>
              <a:rPr lang="es-ES_tradnl" sz="1800" noProof="0">
                <a:solidFill>
                  <a:srgbClr val="1D1D1B"/>
                </a:solidFill>
                <a:latin typeface="Roboto" pitchFamily="34" charset="0"/>
                <a:ea typeface="Roboto" pitchFamily="34" charset="-122"/>
                <a:cs typeface="Roboto" pitchFamily="34" charset="-120"/>
              </a:rPr>
              <a:t>12 · GAD en hardware real</a:t>
            </a:r>
            <a:endParaRPr lang="es-ES_tradnl" sz="1800" noProof="0" dirty="0"/>
          </a:p>
        </p:txBody>
      </p:sp>
      <p:sp>
        <p:nvSpPr>
          <p:cNvPr id="8" name="Text 4"/>
          <p:cNvSpPr/>
          <p:nvPr/>
        </p:nvSpPr>
        <p:spPr>
          <a:xfrm>
            <a:off x="812800" y="4089301"/>
            <a:ext cx="6409690" cy="322560"/>
          </a:xfrm>
          <a:prstGeom prst="rect">
            <a:avLst/>
          </a:prstGeom>
          <a:noFill/>
          <a:ln/>
        </p:spPr>
        <p:txBody>
          <a:bodyPr wrap="square" lIns="0" tIns="0" rIns="0" bIns="0" rtlCol="0" anchor="t">
            <a:normAutofit/>
          </a:bodyPr>
          <a:lstStyle/>
          <a:p>
            <a:pPr marL="0" indent="0" algn="l">
              <a:lnSpc>
                <a:spcPts val="2340"/>
              </a:lnSpc>
              <a:buNone/>
            </a:pPr>
            <a:r>
              <a:rPr lang="es-ES_tradnl" sz="1800" noProof="0">
                <a:solidFill>
                  <a:srgbClr val="1D1D1B"/>
                </a:solidFill>
                <a:latin typeface="Roboto" pitchFamily="34" charset="0"/>
                <a:ea typeface="Roboto" pitchFamily="34" charset="-122"/>
                <a:cs typeface="Roboto" pitchFamily="34" charset="-120"/>
              </a:rPr>
              <a:t>13 · Conclusiones y pasos a seguir</a:t>
            </a:r>
            <a:endParaRPr lang="es-ES_tradnl" sz="1800" noProof="0" dirty="0"/>
          </a:p>
        </p:txBody>
      </p:sp>
    </p:spTree>
    <p:extLst>
      <p:ext uri="{BB962C8B-B14F-4D97-AF65-F5344CB8AC3E}">
        <p14:creationId xmlns:p14="http://schemas.microsoft.com/office/powerpoint/2010/main" val="2923387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s-ES_tradnl" noProof="0" dirty="0"/>
          </a:p>
        </p:txBody>
      </p:sp>
      <p:sp>
        <p:nvSpPr>
          <p:cNvPr id="3" name="Shape 1"/>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dirty="0">
                <a:solidFill>
                  <a:srgbClr val="1D1D1B"/>
                </a:solidFill>
                <a:latin typeface="DM Sans" pitchFamily="34" charset="0"/>
                <a:ea typeface="DM Sans" pitchFamily="34" charset="-122"/>
                <a:cs typeface="DM Sans" pitchFamily="34" charset="-120"/>
              </a:rPr>
              <a:t>V</a:t>
            </a:r>
            <a:endParaRPr lang="es-ES_tradnl" sz="1200" noProof="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dirty="0">
                <a:solidFill>
                  <a:srgbClr val="6E6E6C"/>
                </a:solidFill>
                <a:latin typeface="Roboto" pitchFamily="34" charset="0"/>
                <a:ea typeface="Roboto" pitchFamily="34" charset="-122"/>
                <a:cs typeface="Roboto" pitchFamily="34" charset="-120"/>
              </a:rPr>
              <a:t>HARDWARE Y CIERRE</a:t>
            </a:r>
            <a:endParaRPr lang="es-ES_tradnl" sz="1200" noProof="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s-ES_tradnl" sz="2800" b="1" i="0" kern="0" spc="-50" noProof="0" dirty="0">
                <a:solidFill>
                  <a:srgbClr val="1D1D1B"/>
                </a:solidFill>
                <a:latin typeface="DM Sans" pitchFamily="34" charset="0"/>
                <a:ea typeface="DM Sans" pitchFamily="34" charset="-122"/>
                <a:cs typeface="DM Sans" pitchFamily="34" charset="-120"/>
              </a:rPr>
              <a:t>En hardware, el ruido hay que construirlo</a:t>
            </a:r>
            <a:endParaRPr lang="es-ES_tradnl" sz="2800" noProof="0" dirty="0"/>
          </a:p>
        </p:txBody>
      </p:sp>
      <p:sp>
        <p:nvSpPr>
          <p:cNvPr id="8" name="Text 5"/>
          <p:cNvSpPr/>
          <p:nvPr/>
        </p:nvSpPr>
        <p:spPr>
          <a:xfrm>
            <a:off x="812800" y="1305520"/>
            <a:ext cx="10883392" cy="619720"/>
          </a:xfrm>
          <a:prstGeom prst="rect">
            <a:avLst/>
          </a:prstGeom>
          <a:noFill/>
          <a:ln/>
        </p:spPr>
        <p:txBody>
          <a:bodyPr wrap="square" lIns="0" tIns="0" rIns="0" bIns="0" rtlCol="0" anchor="t">
            <a:normAutofit/>
          </a:bodyPr>
          <a:lstStyle/>
          <a:p>
            <a:pPr marL="0" indent="0" algn="l">
              <a:lnSpc>
                <a:spcPts val="2340"/>
              </a:lnSpc>
              <a:buNone/>
            </a:pPr>
            <a:r>
              <a:rPr lang="es-ES_tradnl" sz="1800" noProof="0" dirty="0">
                <a:solidFill>
                  <a:srgbClr val="3C3C3B"/>
                </a:solidFill>
                <a:latin typeface="Roboto" pitchFamily="34" charset="0"/>
                <a:ea typeface="Roboto" pitchFamily="34" charset="-122"/>
                <a:cs typeface="Roboto" pitchFamily="34" charset="-120"/>
              </a:rPr>
              <a:t>Solo hay compuertas unitarias y mediciones. Un canal no unitario se construye con una dilatación de </a:t>
            </a:r>
            <a:r>
              <a:rPr lang="es-ES_tradnl" sz="1800" noProof="0" dirty="0" err="1">
                <a:solidFill>
                  <a:srgbClr val="3C3C3B"/>
                </a:solidFill>
                <a:latin typeface="Roboto" pitchFamily="34" charset="0"/>
                <a:ea typeface="Roboto" pitchFamily="34" charset="-122"/>
                <a:cs typeface="Roboto" pitchFamily="34" charset="-120"/>
              </a:rPr>
              <a:t>Stinespring</a:t>
            </a:r>
            <a:r>
              <a:rPr lang="es-ES_tradnl" sz="1800" noProof="0" dirty="0">
                <a:solidFill>
                  <a:srgbClr val="3C3C3B"/>
                </a:solidFill>
                <a:latin typeface="Roboto" pitchFamily="34" charset="0"/>
                <a:ea typeface="Roboto" pitchFamily="34" charset="-122"/>
                <a:cs typeface="Roboto" pitchFamily="34" charset="-120"/>
              </a:rPr>
              <a:t>.</a:t>
            </a:r>
            <a:endParaRPr lang="es-ES_tradnl" sz="1800" noProof="0" dirty="0"/>
          </a:p>
        </p:txBody>
      </p:sp>
      <p:sp>
        <p:nvSpPr>
          <p:cNvPr id="9" name="Shape 6"/>
          <p:cNvSpPr/>
          <p:nvPr/>
        </p:nvSpPr>
        <p:spPr>
          <a:xfrm>
            <a:off x="2717800" y="2712641"/>
            <a:ext cx="2159000" cy="25400"/>
          </a:xfrm>
          <a:prstGeom prst="rect">
            <a:avLst/>
          </a:prstGeom>
          <a:solidFill>
            <a:srgbClr val="1D1D1B"/>
          </a:solidFill>
          <a:ln/>
        </p:spPr>
        <p:txBody>
          <a:bodyPr/>
          <a:lstStyle/>
          <a:p>
            <a:endParaRPr lang="es-ES_tradnl" noProof="0" dirty="0"/>
          </a:p>
        </p:txBody>
      </p:sp>
      <p:sp>
        <p:nvSpPr>
          <p:cNvPr id="10" name="Shape 7"/>
          <p:cNvSpPr/>
          <p:nvPr/>
        </p:nvSpPr>
        <p:spPr>
          <a:xfrm>
            <a:off x="6527800" y="2712641"/>
            <a:ext cx="2032000" cy="25400"/>
          </a:xfrm>
          <a:prstGeom prst="rect">
            <a:avLst/>
          </a:prstGeom>
          <a:solidFill>
            <a:srgbClr val="1D1D1B"/>
          </a:solidFill>
          <a:ln/>
        </p:spPr>
        <p:txBody>
          <a:bodyPr/>
          <a:lstStyle/>
          <a:p>
            <a:endParaRPr lang="es-ES_tradnl" noProof="0" dirty="0"/>
          </a:p>
        </p:txBody>
      </p:sp>
      <p:sp>
        <p:nvSpPr>
          <p:cNvPr id="11" name="Shape 8"/>
          <p:cNvSpPr/>
          <p:nvPr/>
        </p:nvSpPr>
        <p:spPr>
          <a:xfrm>
            <a:off x="2717800" y="3855641"/>
            <a:ext cx="2159000" cy="25400"/>
          </a:xfrm>
          <a:prstGeom prst="rect">
            <a:avLst/>
          </a:prstGeom>
          <a:solidFill>
            <a:srgbClr val="1D1D1B"/>
          </a:solidFill>
          <a:ln/>
        </p:spPr>
        <p:txBody>
          <a:bodyPr/>
          <a:lstStyle/>
          <a:p>
            <a:endParaRPr lang="es-ES_tradnl" noProof="0" dirty="0"/>
          </a:p>
        </p:txBody>
      </p:sp>
      <p:sp>
        <p:nvSpPr>
          <p:cNvPr id="12" name="Shape 9"/>
          <p:cNvSpPr/>
          <p:nvPr/>
        </p:nvSpPr>
        <p:spPr>
          <a:xfrm>
            <a:off x="6527800" y="3855641"/>
            <a:ext cx="1016000" cy="25400"/>
          </a:xfrm>
          <a:prstGeom prst="rect">
            <a:avLst/>
          </a:prstGeom>
          <a:solidFill>
            <a:srgbClr val="1D1D1B"/>
          </a:solidFill>
          <a:ln/>
        </p:spPr>
        <p:txBody>
          <a:bodyPr/>
          <a:lstStyle/>
          <a:p>
            <a:endParaRPr lang="es-ES_tradnl" noProof="0" dirty="0"/>
          </a:p>
        </p:txBody>
      </p:sp>
      <p:sp>
        <p:nvSpPr>
          <p:cNvPr id="13" name="Shape 10"/>
          <p:cNvSpPr/>
          <p:nvPr/>
        </p:nvSpPr>
        <p:spPr>
          <a:xfrm>
            <a:off x="4876800" y="2344341"/>
            <a:ext cx="1651000" cy="1905000"/>
          </a:xfrm>
          <a:prstGeom prst="roundRect">
            <a:avLst>
              <a:gd name="adj" fmla="val 4615"/>
            </a:avLst>
          </a:prstGeom>
          <a:solidFill>
            <a:srgbClr val="293470"/>
          </a:solidFill>
          <a:ln/>
        </p:spPr>
        <p:txBody>
          <a:bodyPr/>
          <a:lstStyle/>
          <a:p>
            <a:endParaRPr lang="es-ES_tradnl" noProof="0" dirty="0"/>
          </a:p>
        </p:txBody>
      </p:sp>
      <p:sp>
        <p:nvSpPr>
          <p:cNvPr id="14" name="Text 11"/>
          <p:cNvSpPr/>
          <p:nvPr/>
        </p:nvSpPr>
        <p:spPr>
          <a:xfrm>
            <a:off x="5451921" y="2880320"/>
            <a:ext cx="500658" cy="635000"/>
          </a:xfrm>
          <a:prstGeom prst="rect">
            <a:avLst/>
          </a:prstGeom>
          <a:noFill/>
          <a:ln/>
        </p:spPr>
        <p:txBody>
          <a:bodyPr wrap="square" lIns="0" tIns="0" rIns="0" bIns="0" rtlCol="0" anchor="t">
            <a:normAutofit/>
          </a:bodyPr>
          <a:lstStyle/>
          <a:p>
            <a:pPr marL="0" indent="0" algn="ctr">
              <a:lnSpc>
                <a:spcPts val="4800"/>
              </a:lnSpc>
              <a:buNone/>
            </a:pPr>
            <a:r>
              <a:rPr lang="es-ES_tradnl" sz="4800" b="1" noProof="0" dirty="0">
                <a:solidFill>
                  <a:srgbClr val="FFFFFF"/>
                </a:solidFill>
                <a:latin typeface="DM Sans" pitchFamily="34" charset="0"/>
                <a:ea typeface="DM Sans" pitchFamily="34" charset="-122"/>
                <a:cs typeface="DM Sans" pitchFamily="34" charset="-120"/>
              </a:rPr>
              <a:t>U</a:t>
            </a:r>
            <a:endParaRPr lang="es-ES_tradnl" sz="4800" noProof="0" dirty="0"/>
          </a:p>
        </p:txBody>
      </p:sp>
      <p:sp>
        <p:nvSpPr>
          <p:cNvPr id="15" name="Text 12"/>
          <p:cNvSpPr/>
          <p:nvPr/>
        </p:nvSpPr>
        <p:spPr>
          <a:xfrm>
            <a:off x="5016976" y="3515320"/>
            <a:ext cx="1370648" cy="223441"/>
          </a:xfrm>
          <a:prstGeom prst="rect">
            <a:avLst/>
          </a:prstGeom>
          <a:noFill/>
          <a:ln/>
        </p:spPr>
        <p:txBody>
          <a:bodyPr wrap="square" lIns="0" tIns="0" rIns="0" bIns="0" rtlCol="0" anchor="t">
            <a:normAutofit/>
          </a:bodyPr>
          <a:lstStyle/>
          <a:p>
            <a:pPr marL="0" indent="0" algn="ctr">
              <a:lnSpc>
                <a:spcPts val="1560"/>
              </a:lnSpc>
              <a:buNone/>
            </a:pPr>
            <a:r>
              <a:rPr lang="es-ES_tradnl" sz="1200" noProof="0" dirty="0">
                <a:solidFill>
                  <a:srgbClr val="FFFFFF"/>
                </a:solidFill>
                <a:latin typeface="Roboto" pitchFamily="34" charset="0"/>
                <a:ea typeface="Roboto" pitchFamily="34" charset="-122"/>
                <a:cs typeface="Roboto" pitchFamily="34" charset="-120"/>
              </a:rPr>
              <a:t>unitario conjunto</a:t>
            </a:r>
            <a:endParaRPr lang="es-ES_tradnl" sz="1200" noProof="0" dirty="0"/>
          </a:p>
        </p:txBody>
      </p:sp>
      <p:sp>
        <p:nvSpPr>
          <p:cNvPr id="16" name="Text 13"/>
          <p:cNvSpPr/>
          <p:nvPr/>
        </p:nvSpPr>
        <p:spPr>
          <a:xfrm>
            <a:off x="7550150" y="3582591"/>
            <a:ext cx="1892300" cy="571500"/>
          </a:xfrm>
          <a:prstGeom prst="roundRect">
            <a:avLst>
              <a:gd name="adj" fmla="val 7778"/>
            </a:avLst>
          </a:prstGeom>
          <a:solidFill>
            <a:srgbClr val="F4F4F2"/>
          </a:solidFill>
          <a:ln w="12700">
            <a:solidFill>
              <a:srgbClr val="6E6E6C"/>
            </a:solidFill>
            <a:prstDash val="dash"/>
          </a:ln>
        </p:spPr>
        <p:txBody>
          <a:bodyPr wrap="square" lIns="94931" tIns="69531" rIns="44131" bIns="69531" rtlCol="0" anchor="ctr">
            <a:normAutofit/>
          </a:bodyPr>
          <a:lstStyle/>
          <a:p>
            <a:pPr marL="0" indent="0" algn="l">
              <a:lnSpc>
                <a:spcPts val="1500"/>
              </a:lnSpc>
              <a:buNone/>
            </a:pPr>
            <a:r>
              <a:rPr lang="es-ES_tradnl" sz="1200" noProof="0" dirty="0">
                <a:solidFill>
                  <a:srgbClr val="1D1D1B"/>
                </a:solidFill>
                <a:latin typeface="Roboto" pitchFamily="34" charset="0"/>
                <a:ea typeface="Roboto" pitchFamily="34" charset="-122"/>
                <a:cs typeface="Roboto" pitchFamily="34" charset="-120"/>
              </a:rPr>
              <a:t>descartar sin medir (traza parcial)</a:t>
            </a:r>
            <a:endParaRPr lang="es-ES_tradnl" sz="1200" noProof="0" dirty="0"/>
          </a:p>
        </p:txBody>
      </p:sp>
      <p:sp>
        <p:nvSpPr>
          <p:cNvPr id="17" name="Text 14"/>
          <p:cNvSpPr/>
          <p:nvPr/>
        </p:nvSpPr>
        <p:spPr>
          <a:xfrm>
            <a:off x="759460" y="2598341"/>
            <a:ext cx="1831340" cy="279598"/>
          </a:xfrm>
          <a:prstGeom prst="rect">
            <a:avLst/>
          </a:prstGeom>
          <a:noFill/>
          <a:ln/>
        </p:spPr>
        <p:txBody>
          <a:bodyPr wrap="square" lIns="0" tIns="0" rIns="0" bIns="0" rtlCol="0" anchor="t">
            <a:normAutofit/>
          </a:bodyPr>
          <a:lstStyle/>
          <a:p>
            <a:pPr marL="0" indent="0" algn="r">
              <a:lnSpc>
                <a:spcPts val="2002"/>
              </a:lnSpc>
              <a:buNone/>
            </a:pPr>
            <a:r>
              <a:rPr lang="es-ES_tradnl" sz="1400" b="1" noProof="0" dirty="0">
                <a:solidFill>
                  <a:srgbClr val="1D1D1B"/>
                </a:solidFill>
                <a:latin typeface="Roboto" pitchFamily="34" charset="0"/>
                <a:ea typeface="Roboto" pitchFamily="34" charset="-122"/>
                <a:cs typeface="Roboto" pitchFamily="34" charset="-120"/>
              </a:rPr>
              <a:t>Sistema Q: </a:t>
            </a:r>
            <a:r>
              <a:rPr lang="es-ES_tradnl" sz="1400" b="1" noProof="0" dirty="0" err="1">
                <a:solidFill>
                  <a:srgbClr val="1D1D1B"/>
                </a:solidFill>
                <a:latin typeface="Roboto" pitchFamily="34" charset="0"/>
                <a:ea typeface="Roboto" pitchFamily="34" charset="-122"/>
                <a:cs typeface="Roboto" pitchFamily="34" charset="-120"/>
              </a:rPr>
              <a:t>ρ</a:t>
            </a:r>
            <a:endParaRPr lang="es-ES_tradnl" sz="1400" noProof="0" dirty="0"/>
          </a:p>
        </p:txBody>
      </p:sp>
      <p:sp>
        <p:nvSpPr>
          <p:cNvPr id="18" name="Text 15"/>
          <p:cNvSpPr/>
          <p:nvPr/>
        </p:nvSpPr>
        <p:spPr>
          <a:xfrm>
            <a:off x="759460" y="3741341"/>
            <a:ext cx="1831340" cy="279598"/>
          </a:xfrm>
          <a:prstGeom prst="rect">
            <a:avLst/>
          </a:prstGeom>
          <a:noFill/>
          <a:ln/>
        </p:spPr>
        <p:txBody>
          <a:bodyPr wrap="square" lIns="0" tIns="0" rIns="0" bIns="0" rtlCol="0" anchor="t">
            <a:normAutofit/>
          </a:bodyPr>
          <a:lstStyle/>
          <a:p>
            <a:pPr marL="0" indent="0" algn="r">
              <a:lnSpc>
                <a:spcPts val="2002"/>
              </a:lnSpc>
              <a:buNone/>
            </a:pPr>
            <a:r>
              <a:rPr lang="es-ES_tradnl" sz="1400" b="1" noProof="0" dirty="0">
                <a:solidFill>
                  <a:srgbClr val="1D1D1B"/>
                </a:solidFill>
                <a:latin typeface="Roboto" pitchFamily="34" charset="0"/>
                <a:ea typeface="Roboto" pitchFamily="34" charset="-122"/>
                <a:cs typeface="Roboto" pitchFamily="34" charset="-120"/>
              </a:rPr>
              <a:t>Entorno E: puro</a:t>
            </a:r>
            <a:endParaRPr lang="es-ES_tradnl" sz="1400" noProof="0" dirty="0"/>
          </a:p>
        </p:txBody>
      </p:sp>
      <p:sp>
        <p:nvSpPr>
          <p:cNvPr id="19" name="Text 16"/>
          <p:cNvSpPr/>
          <p:nvPr/>
        </p:nvSpPr>
        <p:spPr>
          <a:xfrm>
            <a:off x="8686800" y="2445941"/>
            <a:ext cx="2489200" cy="332680"/>
          </a:xfrm>
          <a:prstGeom prst="roundRect">
            <a:avLst>
              <a:gd name="adj" fmla="val 15270"/>
            </a:avLst>
          </a:prstGeom>
          <a:solidFill>
            <a:srgbClr val="FFEE00"/>
          </a:solidFill>
          <a:ln/>
        </p:spPr>
        <p:txBody>
          <a:bodyPr wrap="square" lIns="86721" tIns="35921" rIns="18141" bIns="10521" rtlCol="0" anchor="t">
            <a:normAutofit/>
          </a:bodyPr>
          <a:lstStyle/>
          <a:p>
            <a:pPr marL="0" indent="0" algn="l">
              <a:lnSpc>
                <a:spcPts val="1820"/>
              </a:lnSpc>
              <a:buNone/>
            </a:pPr>
            <a:r>
              <a:rPr lang="es-ES_tradnl" sz="1400" b="1" noProof="0" dirty="0" err="1">
                <a:solidFill>
                  <a:srgbClr val="1D1D1B"/>
                </a:solidFill>
                <a:latin typeface="Roboto" pitchFamily="34" charset="0"/>
                <a:ea typeface="Roboto" pitchFamily="34" charset="-122"/>
                <a:cs typeface="Roboto" pitchFamily="34" charset="-120"/>
              </a:rPr>
              <a:t>ρ</a:t>
            </a:r>
            <a:r>
              <a:rPr lang="es-ES_tradnl" sz="1400" b="1" noProof="0" dirty="0">
                <a:solidFill>
                  <a:srgbClr val="1D1D1B"/>
                </a:solidFill>
                <a:latin typeface="Roboto" pitchFamily="34" charset="0"/>
                <a:ea typeface="Roboto" pitchFamily="34" charset="-122"/>
                <a:cs typeface="Roboto" pitchFamily="34" charset="-120"/>
              </a:rPr>
              <a:t>″: estado mixto con ruido</a:t>
            </a:r>
            <a:endParaRPr lang="es-ES_tradnl" sz="1400" noProof="0" dirty="0"/>
          </a:p>
        </p:txBody>
      </p:sp>
      <p:sp>
        <p:nvSpPr>
          <p:cNvPr id="20" name="Text 17"/>
          <p:cNvSpPr/>
          <p:nvPr/>
        </p:nvSpPr>
        <p:spPr>
          <a:xfrm>
            <a:off x="812800" y="4693841"/>
            <a:ext cx="279400" cy="279400"/>
          </a:xfrm>
          <a:custGeom>
            <a:avLst/>
            <a:gdLst/>
            <a:ahLst/>
            <a:cxnLst/>
            <a:rect l="l" t="t" r="r" b="b"/>
            <a:pathLst>
              <a:path w="279400" h="279400">
                <a:moveTo>
                  <a:pt x="139700" y="0"/>
                </a:moveTo>
                <a:lnTo>
                  <a:pt x="139700" y="0"/>
                </a:lnTo>
                <a:arcTo wR="139700" hR="139700" stAng="16200000" swAng="5400000"/>
                <a:lnTo>
                  <a:pt x="279400" y="139700"/>
                </a:lnTo>
                <a:arcTo wR="139700" hR="139700" stAng="0" swAng="5400000"/>
                <a:lnTo>
                  <a:pt x="139700" y="279400"/>
                </a:lnTo>
                <a:arcTo wR="139700" hR="139700" stAng="5400000" swAng="5400000"/>
                <a:lnTo>
                  <a:pt x="0" y="139700"/>
                </a:lnTo>
                <a:arcTo wR="139700" hR="139700" stAng="10800000" swAng="5400000"/>
                <a:close/>
              </a:path>
            </a:pathLst>
          </a:custGeom>
          <a:solidFill>
            <a:srgbClr val="FFEE00"/>
          </a:solidFill>
          <a:ln/>
        </p:spPr>
        <p:txBody>
          <a:bodyPr wrap="square" lIns="0" tIns="0" rIns="0" bIns="0" rtlCol="0" anchor="t">
            <a:normAutofit/>
          </a:bodyPr>
          <a:lstStyle/>
          <a:p>
            <a:pPr marL="0" indent="0" algn="ctr">
              <a:lnSpc>
                <a:spcPts val="2196"/>
              </a:lnSpc>
              <a:buNone/>
            </a:pPr>
            <a:r>
              <a:rPr lang="es-ES_tradnl" sz="1200" b="1" noProof="0" dirty="0">
                <a:solidFill>
                  <a:srgbClr val="1D1D1B"/>
                </a:solidFill>
                <a:latin typeface="Roboto" pitchFamily="34" charset="0"/>
                <a:ea typeface="Roboto" pitchFamily="34" charset="-122"/>
                <a:cs typeface="Roboto" pitchFamily="34" charset="-120"/>
              </a:rPr>
              <a:t>1</a:t>
            </a:r>
            <a:endParaRPr lang="es-ES_tradnl" sz="1200" noProof="0" dirty="0"/>
          </a:p>
        </p:txBody>
      </p:sp>
      <p:sp>
        <p:nvSpPr>
          <p:cNvPr id="21" name="Text 18"/>
          <p:cNvSpPr/>
          <p:nvPr/>
        </p:nvSpPr>
        <p:spPr>
          <a:xfrm>
            <a:off x="1219200" y="4693841"/>
            <a:ext cx="2628463" cy="523081"/>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Sistema + entorno en un estado puro.</a:t>
            </a:r>
            <a:endParaRPr lang="es-ES_tradnl" sz="1400" noProof="0" dirty="0"/>
          </a:p>
        </p:txBody>
      </p:sp>
      <p:sp>
        <p:nvSpPr>
          <p:cNvPr id="22" name="Text 19"/>
          <p:cNvSpPr/>
          <p:nvPr/>
        </p:nvSpPr>
        <p:spPr>
          <a:xfrm>
            <a:off x="4025106" y="4693841"/>
            <a:ext cx="279400" cy="279400"/>
          </a:xfrm>
          <a:custGeom>
            <a:avLst/>
            <a:gdLst/>
            <a:ahLst/>
            <a:cxnLst/>
            <a:rect l="l" t="t" r="r" b="b"/>
            <a:pathLst>
              <a:path w="279400" h="279400">
                <a:moveTo>
                  <a:pt x="139700" y="0"/>
                </a:moveTo>
                <a:lnTo>
                  <a:pt x="139700" y="0"/>
                </a:lnTo>
                <a:arcTo wR="139700" hR="139700" stAng="16200000" swAng="5400000"/>
                <a:lnTo>
                  <a:pt x="279400" y="139700"/>
                </a:lnTo>
                <a:arcTo wR="139700" hR="139700" stAng="0" swAng="5400000"/>
                <a:lnTo>
                  <a:pt x="139700" y="279400"/>
                </a:lnTo>
                <a:arcTo wR="139700" hR="139700" stAng="5400000" swAng="5400000"/>
                <a:lnTo>
                  <a:pt x="0" y="139700"/>
                </a:lnTo>
                <a:arcTo wR="139700" hR="139700" stAng="10800000" swAng="5400000"/>
                <a:close/>
              </a:path>
            </a:pathLst>
          </a:custGeom>
          <a:solidFill>
            <a:srgbClr val="FFEE00"/>
          </a:solidFill>
          <a:ln/>
        </p:spPr>
        <p:txBody>
          <a:bodyPr wrap="square" lIns="0" tIns="0" rIns="0" bIns="0" rtlCol="0" anchor="t">
            <a:normAutofit/>
          </a:bodyPr>
          <a:lstStyle/>
          <a:p>
            <a:pPr marL="0" indent="0" algn="ctr">
              <a:lnSpc>
                <a:spcPts val="2196"/>
              </a:lnSpc>
              <a:buNone/>
            </a:pPr>
            <a:r>
              <a:rPr lang="es-ES_tradnl" sz="1200" b="1" noProof="0" dirty="0">
                <a:solidFill>
                  <a:srgbClr val="1D1D1B"/>
                </a:solidFill>
                <a:latin typeface="Roboto" pitchFamily="34" charset="0"/>
                <a:ea typeface="Roboto" pitchFamily="34" charset="-122"/>
                <a:cs typeface="Roboto" pitchFamily="34" charset="-120"/>
              </a:rPr>
              <a:t>2</a:t>
            </a:r>
            <a:endParaRPr lang="es-ES_tradnl" sz="1200" noProof="0" dirty="0"/>
          </a:p>
        </p:txBody>
      </p:sp>
      <p:sp>
        <p:nvSpPr>
          <p:cNvPr id="23" name="Text 20"/>
          <p:cNvSpPr/>
          <p:nvPr/>
        </p:nvSpPr>
        <p:spPr>
          <a:xfrm>
            <a:off x="4431506" y="4693841"/>
            <a:ext cx="2628566" cy="523081"/>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Un unitario conjunto sobre los dos.</a:t>
            </a:r>
            <a:endParaRPr lang="es-ES_tradnl" sz="1400" noProof="0" dirty="0"/>
          </a:p>
        </p:txBody>
      </p:sp>
      <p:sp>
        <p:nvSpPr>
          <p:cNvPr id="24" name="Text 21"/>
          <p:cNvSpPr/>
          <p:nvPr/>
        </p:nvSpPr>
        <p:spPr>
          <a:xfrm>
            <a:off x="7237512" y="4693841"/>
            <a:ext cx="279400" cy="279400"/>
          </a:xfrm>
          <a:custGeom>
            <a:avLst/>
            <a:gdLst/>
            <a:ahLst/>
            <a:cxnLst/>
            <a:rect l="l" t="t" r="r" b="b"/>
            <a:pathLst>
              <a:path w="279400" h="279400">
                <a:moveTo>
                  <a:pt x="139700" y="0"/>
                </a:moveTo>
                <a:lnTo>
                  <a:pt x="139700" y="0"/>
                </a:lnTo>
                <a:arcTo wR="139700" hR="139700" stAng="16200000" swAng="5400000"/>
                <a:lnTo>
                  <a:pt x="279400" y="139700"/>
                </a:lnTo>
                <a:arcTo wR="139700" hR="139700" stAng="0" swAng="5400000"/>
                <a:lnTo>
                  <a:pt x="139700" y="279400"/>
                </a:lnTo>
                <a:arcTo wR="139700" hR="139700" stAng="5400000" swAng="5400000"/>
                <a:lnTo>
                  <a:pt x="0" y="139700"/>
                </a:lnTo>
                <a:arcTo wR="139700" hR="139700" stAng="10800000" swAng="5400000"/>
                <a:close/>
              </a:path>
            </a:pathLst>
          </a:custGeom>
          <a:solidFill>
            <a:srgbClr val="FFEE00"/>
          </a:solidFill>
          <a:ln/>
        </p:spPr>
        <p:txBody>
          <a:bodyPr wrap="square" lIns="0" tIns="0" rIns="0" bIns="0" rtlCol="0" anchor="t">
            <a:normAutofit/>
          </a:bodyPr>
          <a:lstStyle/>
          <a:p>
            <a:pPr marL="0" indent="0" algn="ctr">
              <a:lnSpc>
                <a:spcPts val="2196"/>
              </a:lnSpc>
              <a:buNone/>
            </a:pPr>
            <a:r>
              <a:rPr lang="es-ES_tradnl" sz="1200" b="1" noProof="0" dirty="0">
                <a:solidFill>
                  <a:srgbClr val="1D1D1B"/>
                </a:solidFill>
                <a:latin typeface="Roboto" pitchFamily="34" charset="0"/>
                <a:ea typeface="Roboto" pitchFamily="34" charset="-122"/>
                <a:cs typeface="Roboto" pitchFamily="34" charset="-120"/>
              </a:rPr>
              <a:t>3</a:t>
            </a:r>
            <a:endParaRPr lang="es-ES_tradnl" sz="1200" noProof="0" dirty="0"/>
          </a:p>
        </p:txBody>
      </p:sp>
      <p:sp>
        <p:nvSpPr>
          <p:cNvPr id="25" name="Text 22"/>
          <p:cNvSpPr/>
          <p:nvPr/>
        </p:nvSpPr>
        <p:spPr>
          <a:xfrm>
            <a:off x="7643912" y="4693841"/>
            <a:ext cx="3847347" cy="771922"/>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Se descarta el entorno sin medirlo (traza parcial): el </a:t>
            </a:r>
            <a:r>
              <a:rPr lang="es-ES_tradnl" sz="1400" noProof="0" dirty="0" err="1">
                <a:solidFill>
                  <a:srgbClr val="3C3C3B"/>
                </a:solidFill>
                <a:latin typeface="Roboto" pitchFamily="34" charset="0"/>
                <a:ea typeface="Roboto" pitchFamily="34" charset="-122"/>
                <a:cs typeface="Roboto" pitchFamily="34" charset="-120"/>
              </a:rPr>
              <a:t>qubit</a:t>
            </a:r>
            <a:r>
              <a:rPr lang="es-ES_tradnl" sz="1400" noProof="0" dirty="0">
                <a:solidFill>
                  <a:srgbClr val="3C3C3B"/>
                </a:solidFill>
                <a:latin typeface="Roboto" pitchFamily="34" charset="0"/>
                <a:ea typeface="Roboto" pitchFamily="34" charset="-122"/>
                <a:cs typeface="Roboto" pitchFamily="34" charset="-120"/>
              </a:rPr>
              <a:t> queda en el estado mixto con ruido.</a:t>
            </a:r>
            <a:endParaRPr lang="es-ES_tradnl" sz="1400" noProof="0" dirty="0"/>
          </a:p>
        </p:txBody>
      </p:sp>
      <p:sp>
        <p:nvSpPr>
          <p:cNvPr id="27" name="Text 24"/>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a:solidFill>
                  <a:srgbClr val="1D1D1B"/>
                </a:solidFill>
                <a:latin typeface="Roboto" pitchFamily="34" charset="0"/>
                <a:ea typeface="Roboto" pitchFamily="34" charset="-122"/>
                <a:cs typeface="Roboto" pitchFamily="34" charset="-120"/>
              </a:rPr>
              <a:t>40</a:t>
            </a:r>
            <a:endParaRPr lang="es-ES_tradnl" sz="1200" noProof="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s-ES_tradnl" noProof="0" dirty="0"/>
          </a:p>
        </p:txBody>
      </p:sp>
      <p:sp>
        <p:nvSpPr>
          <p:cNvPr id="3" name="Shape 1"/>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dirty="0">
                <a:solidFill>
                  <a:srgbClr val="1D1D1B"/>
                </a:solidFill>
                <a:latin typeface="DM Sans" pitchFamily="34" charset="0"/>
                <a:ea typeface="DM Sans" pitchFamily="34" charset="-122"/>
                <a:cs typeface="DM Sans" pitchFamily="34" charset="-120"/>
              </a:rPr>
              <a:t>V</a:t>
            </a:r>
            <a:endParaRPr lang="es-ES_tradnl" sz="1200" noProof="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dirty="0">
                <a:solidFill>
                  <a:srgbClr val="6E6E6C"/>
                </a:solidFill>
                <a:latin typeface="Roboto" pitchFamily="34" charset="0"/>
                <a:ea typeface="Roboto" pitchFamily="34" charset="-122"/>
                <a:cs typeface="Roboto" pitchFamily="34" charset="-120"/>
              </a:rPr>
              <a:t>HARDWARE Y CIERRE · TRABAJO EN CURSO</a:t>
            </a:r>
            <a:endParaRPr lang="es-ES_tradnl" sz="1200" noProof="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s-ES_tradnl" sz="2800" b="1" i="0" kern="0" spc="-50" noProof="0" dirty="0">
                <a:solidFill>
                  <a:srgbClr val="1D1D1B"/>
                </a:solidFill>
                <a:latin typeface="DM Sans" pitchFamily="34" charset="0"/>
                <a:ea typeface="DM Sans" pitchFamily="34" charset="-122"/>
                <a:cs typeface="DM Sans" pitchFamily="34" charset="-120"/>
              </a:rPr>
              <a:t>Un circuito probado y un computador de 2 </a:t>
            </a:r>
            <a:r>
              <a:rPr lang="es-ES_tradnl" sz="2800" b="1" i="0" kern="0" spc="-50" noProof="0" dirty="0" err="1">
                <a:solidFill>
                  <a:srgbClr val="1D1D1B"/>
                </a:solidFill>
                <a:latin typeface="DM Sans" pitchFamily="34" charset="0"/>
                <a:ea typeface="DM Sans" pitchFamily="34" charset="-122"/>
                <a:cs typeface="DM Sans" pitchFamily="34" charset="-120"/>
              </a:rPr>
              <a:t>qubits</a:t>
            </a:r>
            <a:endParaRPr lang="es-ES_tradnl" sz="2800" noProof="0" dirty="0"/>
          </a:p>
        </p:txBody>
      </p:sp>
      <p:sp>
        <p:nvSpPr>
          <p:cNvPr id="8" name="Shape 5"/>
          <p:cNvSpPr/>
          <p:nvPr/>
        </p:nvSpPr>
        <p:spPr>
          <a:xfrm>
            <a:off x="812800" y="1432520"/>
            <a:ext cx="5700911" cy="3574653"/>
          </a:xfrm>
          <a:prstGeom prst="roundRect">
            <a:avLst>
              <a:gd name="adj" fmla="val 2842"/>
            </a:avLst>
          </a:prstGeom>
          <a:solidFill>
            <a:srgbClr val="F4F4F2"/>
          </a:solidFill>
          <a:ln/>
        </p:spPr>
        <p:txBody>
          <a:bodyPr/>
          <a:lstStyle/>
          <a:p>
            <a:endParaRPr lang="es-ES_tradnl" noProof="0" dirty="0"/>
          </a:p>
        </p:txBody>
      </p:sp>
      <p:sp>
        <p:nvSpPr>
          <p:cNvPr id="9" name="Text 6"/>
          <p:cNvSpPr/>
          <p:nvPr/>
        </p:nvSpPr>
        <p:spPr>
          <a:xfrm>
            <a:off x="1066800" y="1635720"/>
            <a:ext cx="5348698" cy="299641"/>
          </a:xfrm>
          <a:prstGeom prst="rect">
            <a:avLst/>
          </a:prstGeom>
          <a:noFill/>
          <a:ln/>
        </p:spPr>
        <p:txBody>
          <a:bodyPr wrap="square" lIns="0" tIns="0" rIns="0" bIns="0" rtlCol="0" anchor="t">
            <a:normAutofit/>
          </a:bodyPr>
          <a:lstStyle/>
          <a:p>
            <a:pPr marL="0" indent="0" algn="l">
              <a:lnSpc>
                <a:spcPts val="2160"/>
              </a:lnSpc>
              <a:buNone/>
            </a:pPr>
            <a:r>
              <a:rPr lang="es-ES_tradnl" sz="1800" b="1" noProof="0" dirty="0" err="1">
                <a:solidFill>
                  <a:srgbClr val="1D1D1B"/>
                </a:solidFill>
                <a:latin typeface="DM Sans" pitchFamily="34" charset="0"/>
                <a:ea typeface="DM Sans" pitchFamily="34" charset="-122"/>
                <a:cs typeface="DM Sans" pitchFamily="34" charset="-120"/>
              </a:rPr>
              <a:t>Chapeau-Blondeau</a:t>
            </a:r>
            <a:r>
              <a:rPr lang="es-ES_tradnl" sz="1800" b="1" noProof="0" dirty="0">
                <a:solidFill>
                  <a:srgbClr val="1D1D1B"/>
                </a:solidFill>
                <a:latin typeface="DM Sans" pitchFamily="34" charset="0"/>
                <a:ea typeface="DM Sans" pitchFamily="34" charset="-122"/>
                <a:cs typeface="DM Sans" pitchFamily="34" charset="-120"/>
              </a:rPr>
              <a:t> (2022)</a:t>
            </a:r>
            <a:endParaRPr lang="es-ES_tradnl" sz="1800" noProof="0" dirty="0"/>
          </a:p>
        </p:txBody>
      </p:sp>
      <p:sp>
        <p:nvSpPr>
          <p:cNvPr id="10" name="Text 7"/>
          <p:cNvSpPr/>
          <p:nvPr/>
        </p:nvSpPr>
        <p:spPr>
          <a:xfrm>
            <a:off x="1066800" y="1998861"/>
            <a:ext cx="5348698" cy="452041"/>
          </a:xfrm>
          <a:prstGeom prst="rect">
            <a:avLst/>
          </a:prstGeom>
          <a:noFill/>
          <a:ln/>
        </p:spPr>
        <p:txBody>
          <a:bodyPr wrap="square" lIns="0" tIns="0" rIns="0" bIns="0" rtlCol="0" anchor="t">
            <a:normAutofit/>
          </a:bodyPr>
          <a:lstStyle/>
          <a:p>
            <a:pPr marL="0" indent="0" algn="l">
              <a:lnSpc>
                <a:spcPts val="1680"/>
              </a:lnSpc>
              <a:buNone/>
            </a:pPr>
            <a:r>
              <a:rPr lang="es-ES_tradnl" sz="1200" i="1" noProof="0" dirty="0" err="1">
                <a:solidFill>
                  <a:srgbClr val="6E6E6C"/>
                </a:solidFill>
                <a:latin typeface="Roboto" pitchFamily="34" charset="0"/>
                <a:ea typeface="Roboto" pitchFamily="34" charset="-122"/>
                <a:cs typeface="Roboto" pitchFamily="34" charset="-120"/>
              </a:rPr>
              <a:t>Modeling</a:t>
            </a:r>
            <a:r>
              <a:rPr lang="es-ES_tradnl" sz="1200" i="1" noProof="0" dirty="0">
                <a:solidFill>
                  <a:srgbClr val="6E6E6C"/>
                </a:solidFill>
                <a:latin typeface="Roboto" pitchFamily="34" charset="0"/>
                <a:ea typeface="Roboto" pitchFamily="34" charset="-122"/>
                <a:cs typeface="Roboto" pitchFamily="34" charset="-120"/>
              </a:rPr>
              <a:t> and </a:t>
            </a:r>
            <a:r>
              <a:rPr lang="es-ES_tradnl" sz="1200" i="1" noProof="0" dirty="0" err="1">
                <a:solidFill>
                  <a:srgbClr val="6E6E6C"/>
                </a:solidFill>
                <a:latin typeface="Roboto" pitchFamily="34" charset="0"/>
                <a:ea typeface="Roboto" pitchFamily="34" charset="-122"/>
                <a:cs typeface="Roboto" pitchFamily="34" charset="-120"/>
              </a:rPr>
              <a:t>simulation</a:t>
            </a:r>
            <a:r>
              <a:rPr lang="es-ES_tradnl" sz="1200" i="1" noProof="0" dirty="0">
                <a:solidFill>
                  <a:srgbClr val="6E6E6C"/>
                </a:solidFill>
                <a:latin typeface="Roboto" pitchFamily="34" charset="0"/>
                <a:ea typeface="Roboto" pitchFamily="34" charset="-122"/>
                <a:cs typeface="Roboto" pitchFamily="34" charset="-120"/>
              </a:rPr>
              <a:t> </a:t>
            </a:r>
            <a:r>
              <a:rPr lang="es-ES_tradnl" sz="1200" i="1" noProof="0" dirty="0" err="1">
                <a:solidFill>
                  <a:srgbClr val="6E6E6C"/>
                </a:solidFill>
                <a:latin typeface="Roboto" pitchFamily="34" charset="0"/>
                <a:ea typeface="Roboto" pitchFamily="34" charset="-122"/>
                <a:cs typeface="Roboto" pitchFamily="34" charset="-120"/>
              </a:rPr>
              <a:t>of</a:t>
            </a:r>
            <a:r>
              <a:rPr lang="es-ES_tradnl" sz="1200" i="1" noProof="0" dirty="0">
                <a:solidFill>
                  <a:srgbClr val="6E6E6C"/>
                </a:solidFill>
                <a:latin typeface="Roboto" pitchFamily="34" charset="0"/>
                <a:ea typeface="Roboto" pitchFamily="34" charset="-122"/>
                <a:cs typeface="Roboto" pitchFamily="34" charset="-120"/>
              </a:rPr>
              <a:t> a quantum </a:t>
            </a:r>
            <a:r>
              <a:rPr lang="es-ES_tradnl" sz="1200" i="1" noProof="0" dirty="0" err="1">
                <a:solidFill>
                  <a:srgbClr val="6E6E6C"/>
                </a:solidFill>
                <a:latin typeface="Roboto" pitchFamily="34" charset="0"/>
                <a:ea typeface="Roboto" pitchFamily="34" charset="-122"/>
                <a:cs typeface="Roboto" pitchFamily="34" charset="-120"/>
              </a:rPr>
              <a:t>thermal</a:t>
            </a:r>
            <a:r>
              <a:rPr lang="es-ES_tradnl" sz="1200" i="1" noProof="0" dirty="0">
                <a:solidFill>
                  <a:srgbClr val="6E6E6C"/>
                </a:solidFill>
                <a:latin typeface="Roboto" pitchFamily="34" charset="0"/>
                <a:ea typeface="Roboto" pitchFamily="34" charset="-122"/>
                <a:cs typeface="Roboto" pitchFamily="34" charset="-120"/>
              </a:rPr>
              <a:t> </a:t>
            </a:r>
            <a:r>
              <a:rPr lang="es-ES_tradnl" sz="1200" i="1" noProof="0" dirty="0" err="1">
                <a:solidFill>
                  <a:srgbClr val="6E6E6C"/>
                </a:solidFill>
                <a:latin typeface="Roboto" pitchFamily="34" charset="0"/>
                <a:ea typeface="Roboto" pitchFamily="34" charset="-122"/>
                <a:cs typeface="Roboto" pitchFamily="34" charset="-120"/>
              </a:rPr>
              <a:t>noise</a:t>
            </a:r>
            <a:r>
              <a:rPr lang="es-ES_tradnl" sz="1200" i="1" noProof="0" dirty="0">
                <a:solidFill>
                  <a:srgbClr val="6E6E6C"/>
                </a:solidFill>
                <a:latin typeface="Roboto" pitchFamily="34" charset="0"/>
                <a:ea typeface="Roboto" pitchFamily="34" charset="-122"/>
                <a:cs typeface="Roboto" pitchFamily="34" charset="-120"/>
              </a:rPr>
              <a:t> </a:t>
            </a:r>
            <a:r>
              <a:rPr lang="es-ES_tradnl" sz="1200" i="1" noProof="0" dirty="0" err="1">
                <a:solidFill>
                  <a:srgbClr val="6E6E6C"/>
                </a:solidFill>
                <a:latin typeface="Roboto" pitchFamily="34" charset="0"/>
                <a:ea typeface="Roboto" pitchFamily="34" charset="-122"/>
                <a:cs typeface="Roboto" pitchFamily="34" charset="-120"/>
              </a:rPr>
              <a:t>on</a:t>
            </a:r>
            <a:r>
              <a:rPr lang="es-ES_tradnl" sz="1200" i="1" noProof="0" dirty="0">
                <a:solidFill>
                  <a:srgbClr val="6E6E6C"/>
                </a:solidFill>
                <a:latin typeface="Roboto" pitchFamily="34" charset="0"/>
                <a:ea typeface="Roboto" pitchFamily="34" charset="-122"/>
                <a:cs typeface="Roboto" pitchFamily="34" charset="-120"/>
              </a:rPr>
              <a:t> </a:t>
            </a:r>
            <a:r>
              <a:rPr lang="es-ES_tradnl" sz="1200" i="1" noProof="0" dirty="0" err="1">
                <a:solidFill>
                  <a:srgbClr val="6E6E6C"/>
                </a:solidFill>
                <a:latin typeface="Roboto" pitchFamily="34" charset="0"/>
                <a:ea typeface="Roboto" pitchFamily="34" charset="-122"/>
                <a:cs typeface="Roboto" pitchFamily="34" charset="-120"/>
              </a:rPr>
              <a:t>the</a:t>
            </a:r>
            <a:r>
              <a:rPr lang="es-ES_tradnl" sz="1200" i="1" noProof="0" dirty="0">
                <a:solidFill>
                  <a:srgbClr val="6E6E6C"/>
                </a:solidFill>
                <a:latin typeface="Roboto" pitchFamily="34" charset="0"/>
                <a:ea typeface="Roboto" pitchFamily="34" charset="-122"/>
                <a:cs typeface="Roboto" pitchFamily="34" charset="-120"/>
              </a:rPr>
              <a:t> </a:t>
            </a:r>
            <a:r>
              <a:rPr lang="es-ES_tradnl" sz="1200" i="1" noProof="0" dirty="0" err="1">
                <a:solidFill>
                  <a:srgbClr val="6E6E6C"/>
                </a:solidFill>
                <a:latin typeface="Roboto" pitchFamily="34" charset="0"/>
                <a:ea typeface="Roboto" pitchFamily="34" charset="-122"/>
                <a:cs typeface="Roboto" pitchFamily="34" charset="-120"/>
              </a:rPr>
              <a:t>qubit</a:t>
            </a:r>
            <a:r>
              <a:rPr lang="es-ES_tradnl" sz="1200" i="1" noProof="0" dirty="0">
                <a:solidFill>
                  <a:srgbClr val="6E6E6C"/>
                </a:solidFill>
                <a:latin typeface="Roboto" pitchFamily="34" charset="0"/>
                <a:ea typeface="Roboto" pitchFamily="34" charset="-122"/>
                <a:cs typeface="Roboto" pitchFamily="34" charset="-120"/>
              </a:rPr>
              <a:t>.</a:t>
            </a:r>
            <a:r>
              <a:rPr lang="es-ES_tradnl" sz="1200" noProof="0" dirty="0">
                <a:solidFill>
                  <a:srgbClr val="6E6E6C"/>
                </a:solidFill>
                <a:latin typeface="Roboto" pitchFamily="34" charset="0"/>
                <a:ea typeface="Roboto" pitchFamily="34" charset="-122"/>
                <a:cs typeface="Roboto" pitchFamily="34" charset="-120"/>
              </a:rPr>
              <a:t> </a:t>
            </a:r>
            <a:r>
              <a:rPr lang="es-ES_tradnl" sz="1200" noProof="0" dirty="0" err="1">
                <a:solidFill>
                  <a:srgbClr val="6E6E6C"/>
                </a:solidFill>
                <a:latin typeface="Roboto" pitchFamily="34" charset="0"/>
                <a:ea typeface="Roboto" pitchFamily="34" charset="-122"/>
                <a:cs typeface="Roboto" pitchFamily="34" charset="-120"/>
              </a:rPr>
              <a:t>Fluctuation</a:t>
            </a:r>
            <a:r>
              <a:rPr lang="es-ES_tradnl" sz="1200" noProof="0" dirty="0">
                <a:solidFill>
                  <a:srgbClr val="6E6E6C"/>
                </a:solidFill>
                <a:latin typeface="Roboto" pitchFamily="34" charset="0"/>
                <a:ea typeface="Roboto" pitchFamily="34" charset="-122"/>
                <a:cs typeface="Roboto" pitchFamily="34" charset="-120"/>
              </a:rPr>
              <a:t> and </a:t>
            </a:r>
            <a:r>
              <a:rPr lang="es-ES_tradnl" sz="1200" noProof="0" dirty="0" err="1">
                <a:solidFill>
                  <a:srgbClr val="6E6E6C"/>
                </a:solidFill>
                <a:latin typeface="Roboto" pitchFamily="34" charset="0"/>
                <a:ea typeface="Roboto" pitchFamily="34" charset="-122"/>
                <a:cs typeface="Roboto" pitchFamily="34" charset="-120"/>
              </a:rPr>
              <a:t>Noise</a:t>
            </a:r>
            <a:r>
              <a:rPr lang="es-ES_tradnl" sz="1200" noProof="0" dirty="0">
                <a:solidFill>
                  <a:srgbClr val="6E6E6C"/>
                </a:solidFill>
                <a:latin typeface="Roboto" pitchFamily="34" charset="0"/>
                <a:ea typeface="Roboto" pitchFamily="34" charset="-122"/>
                <a:cs typeface="Roboto" pitchFamily="34" charset="-120"/>
              </a:rPr>
              <a:t> </a:t>
            </a:r>
            <a:r>
              <a:rPr lang="es-ES_tradnl" sz="1200" noProof="0" dirty="0" err="1">
                <a:solidFill>
                  <a:srgbClr val="6E6E6C"/>
                </a:solidFill>
                <a:latin typeface="Roboto" pitchFamily="34" charset="0"/>
                <a:ea typeface="Roboto" pitchFamily="34" charset="-122"/>
                <a:cs typeface="Roboto" pitchFamily="34" charset="-120"/>
              </a:rPr>
              <a:t>Letters</a:t>
            </a:r>
            <a:r>
              <a:rPr lang="es-ES_tradnl" sz="1200" noProof="0" dirty="0">
                <a:solidFill>
                  <a:srgbClr val="6E6E6C"/>
                </a:solidFill>
                <a:latin typeface="Roboto" pitchFamily="34" charset="0"/>
                <a:ea typeface="Roboto" pitchFamily="34" charset="-122"/>
                <a:cs typeface="Roboto" pitchFamily="34" charset="-120"/>
              </a:rPr>
              <a:t> 21, 2250060 · arXiv:2212.03582</a:t>
            </a:r>
            <a:endParaRPr lang="es-ES_tradnl" sz="1200" noProof="0" dirty="0"/>
          </a:p>
        </p:txBody>
      </p:sp>
      <p:sp>
        <p:nvSpPr>
          <p:cNvPr id="11" name="Text 8"/>
          <p:cNvSpPr/>
          <p:nvPr/>
        </p:nvSpPr>
        <p:spPr>
          <a:xfrm>
            <a:off x="1066800" y="2552502"/>
            <a:ext cx="5348698" cy="238720"/>
          </a:xfrm>
          <a:prstGeom prst="rect">
            <a:avLst/>
          </a:prstGeom>
          <a:noFill/>
          <a:ln/>
        </p:spPr>
        <p:txBody>
          <a:bodyPr wrap="square" lIns="0" tIns="0" rIns="0" bIns="0" rtlCol="0" anchor="t">
            <a:normAutofit/>
          </a:bodyPr>
          <a:lstStyle/>
          <a:p>
            <a:pPr marL="0" indent="0" algn="l">
              <a:lnSpc>
                <a:spcPts val="1680"/>
              </a:lnSpc>
              <a:buNone/>
            </a:pPr>
            <a:r>
              <a:rPr lang="es-ES_tradnl" sz="1200" noProof="0" dirty="0">
                <a:solidFill>
                  <a:srgbClr val="3C3C3B"/>
                </a:solidFill>
                <a:latin typeface="Roboto" pitchFamily="34" charset="0"/>
                <a:ea typeface="Roboto" pitchFamily="34" charset="-122"/>
                <a:cs typeface="Roboto" pitchFamily="34" charset="-120"/>
              </a:rPr>
              <a:t>3 </a:t>
            </a:r>
            <a:r>
              <a:rPr lang="es-ES_tradnl" sz="1200" noProof="0" dirty="0" err="1">
                <a:solidFill>
                  <a:srgbClr val="3C3C3B"/>
                </a:solidFill>
                <a:latin typeface="Roboto" pitchFamily="34" charset="0"/>
                <a:ea typeface="Roboto" pitchFamily="34" charset="-122"/>
                <a:cs typeface="Roboto" pitchFamily="34" charset="-120"/>
              </a:rPr>
              <a:t>qubits</a:t>
            </a:r>
            <a:r>
              <a:rPr lang="es-ES_tradnl" sz="1200" noProof="0" dirty="0">
                <a:solidFill>
                  <a:srgbClr val="3C3C3B"/>
                </a:solidFill>
                <a:latin typeface="Roboto" pitchFamily="34" charset="0"/>
                <a:ea typeface="Roboto" pitchFamily="34" charset="-122"/>
                <a:cs typeface="Roboto" pitchFamily="34" charset="-120"/>
              </a:rPr>
              <a:t>: Q, un entorno E y un auxiliar que deja a E en el estado térmico</a:t>
            </a:r>
            <a:endParaRPr lang="es-ES_tradnl" sz="1200" noProof="0" dirty="0"/>
          </a:p>
        </p:txBody>
      </p:sp>
      <p:pic>
        <p:nvPicPr>
          <p:cNvPr id="12" name="Image 1" descr="ρ_E = p|0⟩⟨0| + (1−p)|1⟩⟨1|"/>
          <p:cNvPicPr>
            <a:picLocks noChangeAspect="1"/>
          </p:cNvPicPr>
          <p:nvPr/>
        </p:nvPicPr>
        <p:blipFill>
          <a:blip r:embed="rId4"/>
          <a:srcRect t="-373" b="-373"/>
          <a:stretch/>
        </p:blipFill>
        <p:spPr>
          <a:xfrm>
            <a:off x="1066800" y="2803922"/>
            <a:ext cx="2857500" cy="285750"/>
          </a:xfrm>
          <a:prstGeom prst="rect">
            <a:avLst/>
          </a:prstGeom>
        </p:spPr>
      </p:pic>
      <p:sp>
        <p:nvSpPr>
          <p:cNvPr id="13" name="Text 9"/>
          <p:cNvSpPr/>
          <p:nvPr/>
        </p:nvSpPr>
        <p:spPr>
          <a:xfrm>
            <a:off x="1066800" y="3243362"/>
            <a:ext cx="776585" cy="238720"/>
          </a:xfrm>
          <a:prstGeom prst="rect">
            <a:avLst/>
          </a:prstGeom>
          <a:noFill/>
          <a:ln/>
        </p:spPr>
        <p:txBody>
          <a:bodyPr wrap="none" lIns="0" tIns="0" rIns="0" bIns="0" rtlCol="0" anchor="t">
            <a:normAutofit/>
          </a:bodyPr>
          <a:lstStyle/>
          <a:p>
            <a:pPr marL="0" indent="0" algn="l">
              <a:lnSpc>
                <a:spcPts val="1680"/>
              </a:lnSpc>
              <a:buNone/>
            </a:pPr>
            <a:r>
              <a:rPr lang="es-ES_tradnl" sz="1200" noProof="0" dirty="0">
                <a:solidFill>
                  <a:srgbClr val="3C3C3B"/>
                </a:solidFill>
                <a:latin typeface="Roboto" pitchFamily="34" charset="0"/>
                <a:ea typeface="Roboto" pitchFamily="34" charset="-122"/>
                <a:cs typeface="Roboto" pitchFamily="34" charset="-120"/>
              </a:rPr>
              <a:t>Se prepara</a:t>
            </a:r>
            <a:endParaRPr lang="es-ES_tradnl" sz="1200" noProof="0" dirty="0"/>
          </a:p>
        </p:txBody>
      </p:sp>
      <p:pic>
        <p:nvPicPr>
          <p:cNvPr id="14" name="Image 2" descr="|p⟩ = √p|0⟩ + √(1−p)|1⟩"/>
          <p:cNvPicPr>
            <a:picLocks noChangeAspect="1"/>
          </p:cNvPicPr>
          <p:nvPr/>
        </p:nvPicPr>
        <p:blipFill>
          <a:blip r:embed="rId5"/>
          <a:srcRect t="-311" b="-311"/>
          <a:stretch/>
        </p:blipFill>
        <p:spPr>
          <a:xfrm>
            <a:off x="1894185" y="3178572"/>
            <a:ext cx="2635250" cy="342900"/>
          </a:xfrm>
          <a:prstGeom prst="rect">
            <a:avLst/>
          </a:prstGeom>
        </p:spPr>
      </p:pic>
      <p:sp>
        <p:nvSpPr>
          <p:cNvPr id="15" name="Text 10"/>
          <p:cNvSpPr/>
          <p:nvPr/>
        </p:nvSpPr>
        <p:spPr>
          <a:xfrm>
            <a:off x="1066800" y="3559572"/>
            <a:ext cx="5348698" cy="238720"/>
          </a:xfrm>
          <a:prstGeom prst="rect">
            <a:avLst/>
          </a:prstGeom>
          <a:noFill/>
          <a:ln/>
        </p:spPr>
        <p:txBody>
          <a:bodyPr wrap="square" lIns="0" tIns="0" rIns="0" bIns="0" rtlCol="0" anchor="t">
            <a:normAutofit/>
          </a:bodyPr>
          <a:lstStyle/>
          <a:p>
            <a:pPr marL="0" indent="0" algn="l">
              <a:lnSpc>
                <a:spcPts val="1680"/>
              </a:lnSpc>
              <a:buNone/>
            </a:pPr>
            <a:r>
              <a:rPr lang="es-ES_tradnl" sz="1200" noProof="0" dirty="0">
                <a:solidFill>
                  <a:srgbClr val="3C3C3B"/>
                </a:solidFill>
                <a:latin typeface="Roboto" pitchFamily="34" charset="0"/>
                <a:ea typeface="Roboto" pitchFamily="34" charset="-122"/>
                <a:cs typeface="Roboto" pitchFamily="34" charset="-120"/>
              </a:rPr>
              <a:t>Una CNOT los entrelaza y se descarta uno.</a:t>
            </a:r>
            <a:endParaRPr lang="es-ES_tradnl" sz="1200" noProof="0" dirty="0"/>
          </a:p>
        </p:txBody>
      </p:sp>
      <p:sp>
        <p:nvSpPr>
          <p:cNvPr id="16" name="Text 11"/>
          <p:cNvSpPr/>
          <p:nvPr/>
        </p:nvSpPr>
        <p:spPr>
          <a:xfrm>
            <a:off x="1066800" y="3861792"/>
            <a:ext cx="3912752" cy="452041"/>
          </a:xfrm>
          <a:prstGeom prst="rect">
            <a:avLst/>
          </a:prstGeom>
          <a:noFill/>
          <a:ln/>
        </p:spPr>
        <p:txBody>
          <a:bodyPr wrap="square" lIns="0" tIns="0" rIns="0" bIns="0" rtlCol="0" anchor="t">
            <a:normAutofit/>
          </a:bodyPr>
          <a:lstStyle/>
          <a:p>
            <a:pPr marL="0" indent="0" algn="l">
              <a:lnSpc>
                <a:spcPts val="1680"/>
              </a:lnSpc>
              <a:buNone/>
            </a:pPr>
            <a:r>
              <a:rPr lang="es-ES_tradnl" sz="1200" noProof="0" dirty="0">
                <a:solidFill>
                  <a:srgbClr val="3C3C3B"/>
                </a:solidFill>
                <a:latin typeface="Roboto" pitchFamily="34" charset="0"/>
                <a:ea typeface="Roboto" pitchFamily="34" charset="-122"/>
                <a:cs typeface="Roboto" pitchFamily="34" charset="-120"/>
              </a:rPr>
              <a:t>5 CNOT y rotaciones RY: p se controla con ese estado y </a:t>
            </a:r>
            <a:r>
              <a:rPr lang="es-ES_tradnl" sz="1200" noProof="0" dirty="0" err="1">
                <a:solidFill>
                  <a:srgbClr val="3C3C3B"/>
                </a:solidFill>
                <a:latin typeface="Roboto" pitchFamily="34" charset="0"/>
                <a:ea typeface="Roboto" pitchFamily="34" charset="-122"/>
                <a:cs typeface="Roboto" pitchFamily="34" charset="-120"/>
              </a:rPr>
              <a:t>γ</a:t>
            </a:r>
            <a:r>
              <a:rPr lang="es-ES_tradnl" sz="1200" noProof="0" dirty="0">
                <a:solidFill>
                  <a:srgbClr val="3C3C3B"/>
                </a:solidFill>
                <a:latin typeface="Roboto" pitchFamily="34" charset="0"/>
                <a:ea typeface="Roboto" pitchFamily="34" charset="-122"/>
                <a:cs typeface="Roboto" pitchFamily="34" charset="-120"/>
              </a:rPr>
              <a:t> con el ángulo</a:t>
            </a:r>
            <a:endParaRPr lang="es-ES_tradnl" sz="1200" noProof="0" dirty="0"/>
          </a:p>
        </p:txBody>
      </p:sp>
      <p:pic>
        <p:nvPicPr>
          <p:cNvPr id="17" name="Image 3" descr="ξ = −arcsin √γ"/>
          <p:cNvPicPr>
            <a:picLocks noChangeAspect="1"/>
          </p:cNvPicPr>
          <p:nvPr/>
        </p:nvPicPr>
        <p:blipFill>
          <a:blip r:embed="rId6"/>
          <a:srcRect t="-12676" b="-12676"/>
          <a:stretch/>
        </p:blipFill>
        <p:spPr>
          <a:xfrm>
            <a:off x="4967188" y="3929063"/>
            <a:ext cx="1292523" cy="292100"/>
          </a:xfrm>
          <a:prstGeom prst="rect">
            <a:avLst/>
          </a:prstGeom>
        </p:spPr>
      </p:pic>
      <p:sp>
        <p:nvSpPr>
          <p:cNvPr id="18" name="Text 12"/>
          <p:cNvSpPr/>
          <p:nvPr/>
        </p:nvSpPr>
        <p:spPr>
          <a:xfrm>
            <a:off x="1066800" y="4377333"/>
            <a:ext cx="5348698" cy="452041"/>
          </a:xfrm>
          <a:prstGeom prst="rect">
            <a:avLst/>
          </a:prstGeom>
          <a:noFill/>
          <a:ln/>
        </p:spPr>
        <p:txBody>
          <a:bodyPr wrap="square" lIns="0" tIns="0" rIns="0" bIns="0" rtlCol="0" anchor="t">
            <a:normAutofit/>
          </a:bodyPr>
          <a:lstStyle/>
          <a:p>
            <a:pPr marL="0" indent="0" algn="l">
              <a:lnSpc>
                <a:spcPts val="1680"/>
              </a:lnSpc>
              <a:buNone/>
            </a:pPr>
            <a:r>
              <a:rPr lang="es-ES_tradnl" sz="1200" noProof="0" dirty="0">
                <a:solidFill>
                  <a:srgbClr val="3C3C3B"/>
                </a:solidFill>
                <a:latin typeface="Roboto" pitchFamily="34" charset="0"/>
                <a:ea typeface="Roboto" pitchFamily="34" charset="-122"/>
                <a:cs typeface="Roboto" pitchFamily="34" charset="-120"/>
              </a:rPr>
              <a:t>Probado en </a:t>
            </a:r>
            <a:r>
              <a:rPr lang="es-ES_tradnl" sz="1200" noProof="0" dirty="0" err="1">
                <a:solidFill>
                  <a:srgbClr val="3C3C3B"/>
                </a:solidFill>
                <a:latin typeface="Roboto" pitchFamily="34" charset="0"/>
                <a:ea typeface="Roboto" pitchFamily="34" charset="-122"/>
                <a:cs typeface="Roboto" pitchFamily="34" charset="-120"/>
              </a:rPr>
              <a:t>ibmq_bogota</a:t>
            </a:r>
            <a:r>
              <a:rPr lang="es-ES_tradnl" sz="1200" noProof="0" dirty="0">
                <a:solidFill>
                  <a:srgbClr val="3C3C3B"/>
                </a:solidFill>
                <a:latin typeface="Roboto" pitchFamily="34" charset="0"/>
                <a:ea typeface="Roboto" pitchFamily="34" charset="-122"/>
                <a:cs typeface="Roboto" pitchFamily="34" charset="-120"/>
              </a:rPr>
              <a:t> con 10⁴ mediciones por punto: coincide con la teoría, con desviaciones atribuibles al ruido propio del procesador.</a:t>
            </a:r>
            <a:endParaRPr lang="es-ES_tradnl" sz="1200" noProof="0" dirty="0"/>
          </a:p>
        </p:txBody>
      </p:sp>
      <p:sp>
        <p:nvSpPr>
          <p:cNvPr id="19" name="Shape 13"/>
          <p:cNvSpPr/>
          <p:nvPr/>
        </p:nvSpPr>
        <p:spPr>
          <a:xfrm>
            <a:off x="6716911" y="1432520"/>
            <a:ext cx="4662289" cy="3574653"/>
          </a:xfrm>
          <a:prstGeom prst="roundRect">
            <a:avLst>
              <a:gd name="adj" fmla="val 2842"/>
            </a:avLst>
          </a:prstGeom>
          <a:solidFill>
            <a:srgbClr val="FFEE00"/>
          </a:solidFill>
          <a:ln/>
        </p:spPr>
        <p:txBody>
          <a:bodyPr/>
          <a:lstStyle/>
          <a:p>
            <a:endParaRPr lang="es-ES_tradnl" noProof="0" dirty="0"/>
          </a:p>
        </p:txBody>
      </p:sp>
      <p:sp>
        <p:nvSpPr>
          <p:cNvPr id="20" name="Text 14"/>
          <p:cNvSpPr/>
          <p:nvPr/>
        </p:nvSpPr>
        <p:spPr>
          <a:xfrm>
            <a:off x="6970911" y="1635720"/>
            <a:ext cx="4278918" cy="238720"/>
          </a:xfrm>
          <a:prstGeom prst="rect">
            <a:avLst/>
          </a:prstGeom>
          <a:noFill/>
          <a:ln/>
        </p:spPr>
        <p:txBody>
          <a:bodyPr wrap="square" lIns="0" tIns="0" rIns="0" bIns="0" rtlCol="0" anchor="t">
            <a:normAutofit/>
          </a:bodyPr>
          <a:lstStyle/>
          <a:p>
            <a:pPr marL="0" indent="0" algn="l">
              <a:lnSpc>
                <a:spcPts val="1680"/>
              </a:lnSpc>
              <a:buNone/>
            </a:pPr>
            <a:r>
              <a:rPr lang="es-ES_tradnl" sz="1200" b="1" kern="0" spc="100" noProof="0" dirty="0">
                <a:solidFill>
                  <a:srgbClr val="1D1D1B"/>
                </a:solidFill>
                <a:latin typeface="Roboto" pitchFamily="34" charset="0"/>
                <a:ea typeface="Roboto" pitchFamily="34" charset="-122"/>
                <a:cs typeface="Roboto" pitchFamily="34" charset="-120"/>
              </a:rPr>
              <a:t>NUESTRA RESTRICCIÓN</a:t>
            </a:r>
            <a:endParaRPr lang="es-ES_tradnl" sz="1200" noProof="0" dirty="0"/>
          </a:p>
        </p:txBody>
      </p:sp>
      <p:sp>
        <p:nvSpPr>
          <p:cNvPr id="21" name="Text 15"/>
          <p:cNvSpPr/>
          <p:nvPr/>
        </p:nvSpPr>
        <p:spPr>
          <a:xfrm>
            <a:off x="6970911" y="1950641"/>
            <a:ext cx="4278918" cy="665460"/>
          </a:xfrm>
          <a:prstGeom prst="rect">
            <a:avLst/>
          </a:prstGeom>
          <a:noFill/>
          <a:ln/>
        </p:spPr>
        <p:txBody>
          <a:bodyPr wrap="square" lIns="0" tIns="0" rIns="0" bIns="0" rtlCol="0" anchor="t">
            <a:normAutofit/>
          </a:bodyPr>
          <a:lstStyle/>
          <a:p>
            <a:pPr marL="0" indent="0" algn="l">
              <a:lnSpc>
                <a:spcPts val="5040"/>
              </a:lnSpc>
              <a:buNone/>
            </a:pPr>
            <a:r>
              <a:rPr lang="es-ES_tradnl" sz="4800" b="1" kern="0" spc="-100" noProof="0" dirty="0">
                <a:solidFill>
                  <a:srgbClr val="1D1D1B"/>
                </a:solidFill>
                <a:latin typeface="DM Sans" pitchFamily="34" charset="0"/>
                <a:ea typeface="DM Sans" pitchFamily="34" charset="-122"/>
                <a:cs typeface="DM Sans" pitchFamily="34" charset="-120"/>
              </a:rPr>
              <a:t>2 </a:t>
            </a:r>
            <a:r>
              <a:rPr lang="es-ES_tradnl" sz="4800" b="1" kern="0" spc="-100" noProof="0" dirty="0" err="1">
                <a:solidFill>
                  <a:srgbClr val="1D1D1B"/>
                </a:solidFill>
                <a:latin typeface="DM Sans" pitchFamily="34" charset="0"/>
                <a:ea typeface="DM Sans" pitchFamily="34" charset="-122"/>
                <a:cs typeface="DM Sans" pitchFamily="34" charset="-120"/>
              </a:rPr>
              <a:t>qubits</a:t>
            </a:r>
            <a:endParaRPr lang="es-ES_tradnl" sz="4800" noProof="0" dirty="0"/>
          </a:p>
        </p:txBody>
      </p:sp>
      <p:sp>
        <p:nvSpPr>
          <p:cNvPr id="22" name="Text 16"/>
          <p:cNvSpPr/>
          <p:nvPr/>
        </p:nvSpPr>
        <p:spPr>
          <a:xfrm>
            <a:off x="6970911" y="2692301"/>
            <a:ext cx="4278918" cy="274241"/>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1D1D1B"/>
                </a:solidFill>
                <a:latin typeface="Roboto" pitchFamily="34" charset="0"/>
                <a:ea typeface="Roboto" pitchFamily="34" charset="-122"/>
                <a:cs typeface="Roboto" pitchFamily="34" charset="-120"/>
              </a:rPr>
              <a:t>en el computador cuántico de la universidad.</a:t>
            </a:r>
            <a:endParaRPr lang="es-ES_tradnl" sz="1400" noProof="0" dirty="0"/>
          </a:p>
        </p:txBody>
      </p:sp>
      <p:sp>
        <p:nvSpPr>
          <p:cNvPr id="23" name="Text 17"/>
          <p:cNvSpPr/>
          <p:nvPr/>
        </p:nvSpPr>
        <p:spPr>
          <a:xfrm>
            <a:off x="6970911" y="3042741"/>
            <a:ext cx="4278918" cy="523081"/>
          </a:xfrm>
          <a:prstGeom prst="rect">
            <a:avLst/>
          </a:prstGeom>
          <a:noFill/>
          <a:ln/>
        </p:spPr>
        <p:txBody>
          <a:bodyPr wrap="square" lIns="0" tIns="0" rIns="0" bIns="0" rtlCol="0" anchor="t">
            <a:normAutofit/>
          </a:bodyPr>
          <a:lstStyle/>
          <a:p>
            <a:pPr marL="0" indent="0" algn="l">
              <a:lnSpc>
                <a:spcPts val="1960"/>
              </a:lnSpc>
              <a:buNone/>
            </a:pPr>
            <a:r>
              <a:rPr lang="es-ES_tradnl" sz="1400" b="1" noProof="0" dirty="0">
                <a:solidFill>
                  <a:srgbClr val="1D1D1B"/>
                </a:solidFill>
                <a:latin typeface="Roboto" pitchFamily="34" charset="0"/>
                <a:ea typeface="Roboto" pitchFamily="34" charset="-122"/>
                <a:cs typeface="Roboto" pitchFamily="34" charset="-120"/>
              </a:rPr>
              <a:t>Pregunta abierta:</a:t>
            </a:r>
            <a:r>
              <a:rPr lang="es-ES_tradnl" sz="1400" noProof="0" dirty="0">
                <a:solidFill>
                  <a:srgbClr val="1D1D1B"/>
                </a:solidFill>
                <a:latin typeface="Roboto" pitchFamily="34" charset="0"/>
                <a:ea typeface="Roboto" pitchFamily="34" charset="-122"/>
                <a:cs typeface="Roboto" pitchFamily="34" charset="-120"/>
              </a:rPr>
              <a:t> cómo implementar GAD (y el </a:t>
            </a:r>
            <a:r>
              <a:rPr lang="es-ES_tradnl" sz="1400" noProof="0" dirty="0" err="1">
                <a:solidFill>
                  <a:srgbClr val="1D1D1B"/>
                </a:solidFill>
                <a:latin typeface="Roboto" pitchFamily="34" charset="0"/>
                <a:ea typeface="Roboto" pitchFamily="34" charset="-122"/>
                <a:cs typeface="Roboto" pitchFamily="34" charset="-120"/>
              </a:rPr>
              <a:t>depolarizante</a:t>
            </a:r>
            <a:r>
              <a:rPr lang="es-ES_tradnl" sz="1400" noProof="0" dirty="0">
                <a:solidFill>
                  <a:srgbClr val="1D1D1B"/>
                </a:solidFill>
                <a:latin typeface="Roboto" pitchFamily="34" charset="0"/>
                <a:ea typeface="Roboto" pitchFamily="34" charset="-122"/>
                <a:cs typeface="Roboto" pitchFamily="34" charset="-120"/>
              </a:rPr>
              <a:t>) con p = 0.5 dentro de ese límite.</a:t>
            </a:r>
            <a:endParaRPr lang="es-ES_tradnl" sz="1400" noProof="0" dirty="0"/>
          </a:p>
        </p:txBody>
      </p:sp>
      <p:sp>
        <p:nvSpPr>
          <p:cNvPr id="24" name="Shape 18"/>
          <p:cNvSpPr/>
          <p:nvPr/>
        </p:nvSpPr>
        <p:spPr>
          <a:xfrm>
            <a:off x="6970911" y="4282083"/>
            <a:ext cx="4154289" cy="0"/>
          </a:xfrm>
          <a:prstGeom prst="line">
            <a:avLst/>
          </a:prstGeom>
          <a:noFill/>
          <a:ln w="12700">
            <a:solidFill>
              <a:srgbClr val="1D1D1B"/>
            </a:solidFill>
            <a:prstDash val="solid"/>
          </a:ln>
        </p:spPr>
        <p:txBody>
          <a:bodyPr/>
          <a:lstStyle/>
          <a:p>
            <a:endParaRPr lang="es-ES_tradnl" noProof="0" dirty="0"/>
          </a:p>
        </p:txBody>
      </p:sp>
      <p:sp>
        <p:nvSpPr>
          <p:cNvPr id="25" name="Text 19"/>
          <p:cNvSpPr/>
          <p:nvPr/>
        </p:nvSpPr>
        <p:spPr>
          <a:xfrm>
            <a:off x="6970911" y="4377333"/>
            <a:ext cx="4278918" cy="452041"/>
          </a:xfrm>
          <a:prstGeom prst="rect">
            <a:avLst/>
          </a:prstGeom>
          <a:noFill/>
          <a:ln/>
        </p:spPr>
        <p:txBody>
          <a:bodyPr wrap="square" lIns="0" tIns="0" rIns="0" bIns="0" rtlCol="0" anchor="t">
            <a:normAutofit/>
          </a:bodyPr>
          <a:lstStyle/>
          <a:p>
            <a:pPr marL="0" indent="0" algn="l">
              <a:lnSpc>
                <a:spcPts val="1680"/>
              </a:lnSpc>
              <a:buNone/>
            </a:pPr>
            <a:r>
              <a:rPr lang="es-ES_tradnl" sz="1200" b="1" noProof="0" dirty="0">
                <a:solidFill>
                  <a:srgbClr val="1D1D1B"/>
                </a:solidFill>
                <a:latin typeface="Roboto" pitchFamily="34" charset="0"/>
                <a:ea typeface="Roboto" pitchFamily="34" charset="-122"/>
                <a:cs typeface="Roboto" pitchFamily="34" charset="-120"/>
              </a:rPr>
              <a:t>Esta semana:</a:t>
            </a:r>
            <a:r>
              <a:rPr lang="es-ES_tradnl" sz="1200" noProof="0" dirty="0">
                <a:solidFill>
                  <a:srgbClr val="1D1D1B"/>
                </a:solidFill>
                <a:latin typeface="Roboto" pitchFamily="34" charset="0"/>
                <a:ea typeface="Roboto" pitchFamily="34" charset="-122"/>
                <a:cs typeface="Roboto" pitchFamily="34" charset="-120"/>
              </a:rPr>
              <a:t> prueba de concepto, comparando las probabilidades medidas contra las teóricas.</a:t>
            </a:r>
            <a:endParaRPr lang="es-ES_tradnl" sz="1200" noProof="0" dirty="0"/>
          </a:p>
        </p:txBody>
      </p:sp>
      <p:sp>
        <p:nvSpPr>
          <p:cNvPr id="27" name="Text 21"/>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a:solidFill>
                  <a:srgbClr val="1D1D1B"/>
                </a:solidFill>
                <a:latin typeface="Roboto" pitchFamily="34" charset="0"/>
                <a:ea typeface="Roboto" pitchFamily="34" charset="-122"/>
                <a:cs typeface="Roboto" pitchFamily="34" charset="-120"/>
              </a:rPr>
              <a:t>41</a:t>
            </a:r>
            <a:endParaRPr lang="es-ES_tradnl" sz="1200" noProof="0" dirty="0"/>
          </a:p>
        </p:txBody>
      </p:sp>
    </p:spTree>
    <p:extLst>
      <p:ext uri="{BB962C8B-B14F-4D97-AF65-F5344CB8AC3E}">
        <p14:creationId xmlns:p14="http://schemas.microsoft.com/office/powerpoint/2010/main" val="305593716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s-ES_tradnl" noProof="0" dirty="0"/>
          </a:p>
        </p:txBody>
      </p:sp>
      <p:sp>
        <p:nvSpPr>
          <p:cNvPr id="3" name="Shape 1"/>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dirty="0">
                <a:solidFill>
                  <a:srgbClr val="1D1D1B"/>
                </a:solidFill>
                <a:latin typeface="DM Sans" pitchFamily="34" charset="0"/>
                <a:ea typeface="DM Sans" pitchFamily="34" charset="-122"/>
                <a:cs typeface="DM Sans" pitchFamily="34" charset="-120"/>
              </a:rPr>
              <a:t>V</a:t>
            </a:r>
            <a:endParaRPr lang="es-ES_tradnl" sz="1200" noProof="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dirty="0">
                <a:solidFill>
                  <a:srgbClr val="6E6E6C"/>
                </a:solidFill>
                <a:latin typeface="Roboto" pitchFamily="34" charset="0"/>
                <a:ea typeface="Roboto" pitchFamily="34" charset="-122"/>
                <a:cs typeface="Roboto" pitchFamily="34" charset="-120"/>
              </a:rPr>
              <a:t>HARDWARE Y CIERRE</a:t>
            </a:r>
            <a:endParaRPr lang="es-ES_tradnl" sz="1200" noProof="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s-ES_tradnl" sz="2800" b="1" i="0" kern="0" spc="-50" noProof="0" dirty="0">
                <a:solidFill>
                  <a:srgbClr val="1D1D1B"/>
                </a:solidFill>
                <a:latin typeface="DM Sans" pitchFamily="34" charset="0"/>
                <a:ea typeface="DM Sans" pitchFamily="34" charset="-122"/>
                <a:cs typeface="DM Sans" pitchFamily="34" charset="-120"/>
              </a:rPr>
              <a:t>Conclusiones</a:t>
            </a:r>
            <a:endParaRPr lang="es-ES_tradnl" sz="2800" noProof="0" dirty="0"/>
          </a:p>
        </p:txBody>
      </p:sp>
      <p:sp>
        <p:nvSpPr>
          <p:cNvPr id="8" name="Shape 5"/>
          <p:cNvSpPr/>
          <p:nvPr/>
        </p:nvSpPr>
        <p:spPr>
          <a:xfrm>
            <a:off x="812800" y="1464270"/>
            <a:ext cx="10566400" cy="0"/>
          </a:xfrm>
          <a:prstGeom prst="line">
            <a:avLst/>
          </a:prstGeom>
          <a:noFill/>
          <a:ln w="12700">
            <a:solidFill>
              <a:srgbClr val="1D1D1B"/>
            </a:solidFill>
            <a:prstDash val="solid"/>
          </a:ln>
        </p:spPr>
        <p:txBody>
          <a:bodyPr/>
          <a:lstStyle/>
          <a:p>
            <a:endParaRPr lang="es-ES_tradnl" noProof="0" dirty="0"/>
          </a:p>
        </p:txBody>
      </p:sp>
      <p:sp>
        <p:nvSpPr>
          <p:cNvPr id="9" name="Text 6"/>
          <p:cNvSpPr/>
          <p:nvPr/>
        </p:nvSpPr>
        <p:spPr>
          <a:xfrm>
            <a:off x="812800" y="1648420"/>
            <a:ext cx="457200" cy="457200"/>
          </a:xfrm>
          <a:prstGeom prst="rect">
            <a:avLst/>
          </a:prstGeom>
          <a:solidFill>
            <a:srgbClr val="FFEE00"/>
          </a:solidFill>
          <a:ln/>
        </p:spPr>
        <p:txBody>
          <a:bodyPr wrap="square" lIns="0" tIns="0" rIns="0" bIns="0" rtlCol="0" anchor="t">
            <a:normAutofit/>
          </a:bodyPr>
          <a:lstStyle/>
          <a:p>
            <a:pPr marL="0" indent="0" algn="ctr">
              <a:lnSpc>
                <a:spcPts val="3608"/>
              </a:lnSpc>
              <a:buNone/>
            </a:pPr>
            <a:r>
              <a:rPr lang="es-ES_tradnl" sz="2200" b="1" noProof="0" dirty="0">
                <a:solidFill>
                  <a:srgbClr val="1D1D1B"/>
                </a:solidFill>
                <a:latin typeface="DM Sans" pitchFamily="34" charset="0"/>
                <a:ea typeface="DM Sans" pitchFamily="34" charset="-122"/>
                <a:cs typeface="DM Sans" pitchFamily="34" charset="-120"/>
              </a:rPr>
              <a:t>1</a:t>
            </a:r>
            <a:endParaRPr lang="es-ES_tradnl" sz="2200" noProof="0" dirty="0"/>
          </a:p>
        </p:txBody>
      </p:sp>
      <p:sp>
        <p:nvSpPr>
          <p:cNvPr id="10" name="Text 7"/>
          <p:cNvSpPr/>
          <p:nvPr/>
        </p:nvSpPr>
        <p:spPr>
          <a:xfrm>
            <a:off x="1524000" y="1648420"/>
            <a:ext cx="10150856" cy="299641"/>
          </a:xfrm>
          <a:prstGeom prst="rect">
            <a:avLst/>
          </a:prstGeom>
          <a:noFill/>
          <a:ln/>
        </p:spPr>
        <p:txBody>
          <a:bodyPr wrap="square" lIns="0" tIns="0" rIns="0" bIns="0" rtlCol="0" anchor="t">
            <a:normAutofit/>
          </a:bodyPr>
          <a:lstStyle/>
          <a:p>
            <a:pPr marL="0" indent="0" algn="l">
              <a:lnSpc>
                <a:spcPts val="2160"/>
              </a:lnSpc>
              <a:buNone/>
            </a:pPr>
            <a:r>
              <a:rPr lang="es-ES_tradnl" sz="1800" b="1" noProof="0" dirty="0">
                <a:solidFill>
                  <a:srgbClr val="1D1D1B"/>
                </a:solidFill>
                <a:latin typeface="DM Sans" pitchFamily="34" charset="0"/>
                <a:ea typeface="DM Sans" pitchFamily="34" charset="-122"/>
                <a:cs typeface="DM Sans" pitchFamily="34" charset="-120"/>
              </a:rPr>
              <a:t>Los mecanismos cumplen la teoría</a:t>
            </a:r>
            <a:endParaRPr lang="es-ES_tradnl" sz="1800" noProof="0" dirty="0"/>
          </a:p>
        </p:txBody>
      </p:sp>
      <p:sp>
        <p:nvSpPr>
          <p:cNvPr id="11" name="Text 8"/>
          <p:cNvSpPr/>
          <p:nvPr/>
        </p:nvSpPr>
        <p:spPr>
          <a:xfrm>
            <a:off x="1524000" y="1973461"/>
            <a:ext cx="10150856" cy="771922"/>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En </a:t>
            </a:r>
            <a:r>
              <a:rPr lang="es-ES_tradnl" sz="1400" noProof="0" dirty="0" err="1">
                <a:solidFill>
                  <a:srgbClr val="3C3C3B"/>
                </a:solidFill>
                <a:latin typeface="Roboto" pitchFamily="34" charset="0"/>
                <a:ea typeface="Roboto" pitchFamily="34" charset="-122"/>
                <a:cs typeface="Roboto" pitchFamily="34" charset="-120"/>
              </a:rPr>
              <a:t>depolarizante</a:t>
            </a:r>
            <a:r>
              <a:rPr lang="es-ES_tradnl" sz="1400" noProof="0" dirty="0">
                <a:solidFill>
                  <a:srgbClr val="3C3C3B"/>
                </a:solidFill>
                <a:latin typeface="Roboto" pitchFamily="34" charset="0"/>
                <a:ea typeface="Roboto" pitchFamily="34" charset="-122"/>
                <a:cs typeface="Roboto" pitchFamily="34" charset="-120"/>
              </a:rPr>
              <a:t>, PAD y GAD, el </a:t>
            </a:r>
            <a:r>
              <a:rPr lang="es-ES_tradnl" sz="1400" noProof="0" dirty="0" err="1">
                <a:solidFill>
                  <a:srgbClr val="3C3C3B"/>
                </a:solidFill>
                <a:latin typeface="Roboto" pitchFamily="34" charset="0"/>
                <a:ea typeface="Roboto" pitchFamily="34" charset="-122"/>
                <a:cs typeface="Roboto" pitchFamily="34" charset="-120"/>
              </a:rPr>
              <a:t>ε</a:t>
            </a:r>
            <a:r>
              <a:rPr lang="es-ES_tradnl" sz="1400" noProof="0" dirty="0">
                <a:solidFill>
                  <a:srgbClr val="3C3C3B"/>
                </a:solidFill>
                <a:latin typeface="Roboto" pitchFamily="34" charset="0"/>
                <a:ea typeface="Roboto" pitchFamily="34" charset="-122"/>
                <a:cs typeface="Roboto" pitchFamily="34" charset="-120"/>
              </a:rPr>
              <a:t> experimental quedó bajo la cota en todas las columnas y en las dos formas de publicar. La cota se alcanza solo para pares de estados ortogonales. El ruido cuántico puede proteger datos clásicos codificados en estados cuánticos con la garantía que predice la teoría.</a:t>
            </a:r>
            <a:endParaRPr lang="es-ES_tradnl" sz="1400" noProof="0" dirty="0"/>
          </a:p>
        </p:txBody>
      </p:sp>
      <p:sp>
        <p:nvSpPr>
          <p:cNvPr id="12" name="Shape 9"/>
          <p:cNvSpPr/>
          <p:nvPr/>
        </p:nvSpPr>
        <p:spPr>
          <a:xfrm>
            <a:off x="812800" y="2900958"/>
            <a:ext cx="10566400" cy="0"/>
          </a:xfrm>
          <a:prstGeom prst="line">
            <a:avLst/>
          </a:prstGeom>
          <a:noFill/>
          <a:ln w="6350">
            <a:solidFill>
              <a:srgbClr val="D4D4D0"/>
            </a:solidFill>
            <a:prstDash val="solid"/>
          </a:ln>
        </p:spPr>
        <p:txBody>
          <a:bodyPr/>
          <a:lstStyle/>
          <a:p>
            <a:endParaRPr lang="es-ES_tradnl" noProof="0" dirty="0"/>
          </a:p>
        </p:txBody>
      </p:sp>
      <p:sp>
        <p:nvSpPr>
          <p:cNvPr id="13" name="Text 10"/>
          <p:cNvSpPr/>
          <p:nvPr/>
        </p:nvSpPr>
        <p:spPr>
          <a:xfrm>
            <a:off x="812800" y="3081933"/>
            <a:ext cx="457200" cy="457200"/>
          </a:xfrm>
          <a:prstGeom prst="rect">
            <a:avLst/>
          </a:prstGeom>
          <a:solidFill>
            <a:srgbClr val="FFEE00"/>
          </a:solidFill>
          <a:ln/>
        </p:spPr>
        <p:txBody>
          <a:bodyPr wrap="square" lIns="0" tIns="0" rIns="0" bIns="0" rtlCol="0" anchor="t">
            <a:normAutofit/>
          </a:bodyPr>
          <a:lstStyle/>
          <a:p>
            <a:pPr marL="0" indent="0" algn="ctr">
              <a:lnSpc>
                <a:spcPts val="3608"/>
              </a:lnSpc>
              <a:buNone/>
            </a:pPr>
            <a:r>
              <a:rPr lang="es-ES_tradnl" sz="2200" b="1" noProof="0" dirty="0">
                <a:solidFill>
                  <a:srgbClr val="1D1D1B"/>
                </a:solidFill>
                <a:latin typeface="DM Sans" pitchFamily="34" charset="0"/>
                <a:ea typeface="DM Sans" pitchFamily="34" charset="-122"/>
                <a:cs typeface="DM Sans" pitchFamily="34" charset="-120"/>
              </a:rPr>
              <a:t>2</a:t>
            </a:r>
            <a:endParaRPr lang="es-ES_tradnl" sz="2200" noProof="0" dirty="0"/>
          </a:p>
        </p:txBody>
      </p:sp>
      <p:sp>
        <p:nvSpPr>
          <p:cNvPr id="14" name="Text 11"/>
          <p:cNvSpPr/>
          <p:nvPr/>
        </p:nvSpPr>
        <p:spPr>
          <a:xfrm>
            <a:off x="1524000" y="3081933"/>
            <a:ext cx="10150856" cy="299641"/>
          </a:xfrm>
          <a:prstGeom prst="rect">
            <a:avLst/>
          </a:prstGeom>
          <a:noFill/>
          <a:ln/>
        </p:spPr>
        <p:txBody>
          <a:bodyPr wrap="square" lIns="0" tIns="0" rIns="0" bIns="0" rtlCol="0" anchor="t">
            <a:normAutofit/>
          </a:bodyPr>
          <a:lstStyle/>
          <a:p>
            <a:pPr marL="0" indent="0" algn="l">
              <a:lnSpc>
                <a:spcPts val="2160"/>
              </a:lnSpc>
              <a:buNone/>
            </a:pPr>
            <a:r>
              <a:rPr lang="es-ES_tradnl" sz="1800" b="1" noProof="0" dirty="0">
                <a:solidFill>
                  <a:srgbClr val="1D1D1B"/>
                </a:solidFill>
                <a:latin typeface="DM Sans" pitchFamily="34" charset="0"/>
                <a:ea typeface="DM Sans" pitchFamily="34" charset="-122"/>
                <a:cs typeface="DM Sans" pitchFamily="34" charset="-120"/>
              </a:rPr>
              <a:t>Consumo cuántico</a:t>
            </a:r>
            <a:endParaRPr lang="es-ES_tradnl" sz="1800" noProof="0" dirty="0"/>
          </a:p>
        </p:txBody>
      </p:sp>
      <p:sp>
        <p:nvSpPr>
          <p:cNvPr id="15" name="Text 12"/>
          <p:cNvSpPr/>
          <p:nvPr/>
        </p:nvSpPr>
        <p:spPr>
          <a:xfrm>
            <a:off x="1524000" y="3406973"/>
            <a:ext cx="10150856" cy="523081"/>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Si un proceso cuántico consume una o pocas copias del estado privatizado, la garantía del modelo central es muy fuerte: </a:t>
            </a:r>
            <a:r>
              <a:rPr lang="es-ES_tradnl" sz="1400" noProof="0" dirty="0" err="1">
                <a:solidFill>
                  <a:srgbClr val="3C3C3B"/>
                </a:solidFill>
                <a:latin typeface="Roboto" pitchFamily="34" charset="0"/>
                <a:ea typeface="Roboto" pitchFamily="34" charset="-122"/>
                <a:cs typeface="Roboto" pitchFamily="34" charset="-120"/>
              </a:rPr>
              <a:t>ε</a:t>
            </a:r>
            <a:r>
              <a:rPr lang="es-ES_tradnl" sz="1400" noProof="0" dirty="0">
                <a:solidFill>
                  <a:srgbClr val="3C3C3B"/>
                </a:solidFill>
                <a:latin typeface="Roboto" pitchFamily="34" charset="0"/>
                <a:ea typeface="Roboto" pitchFamily="34" charset="-122"/>
                <a:cs typeface="Roboto" pitchFamily="34" charset="-120"/>
              </a:rPr>
              <a:t> ≈ 0.1 por copia con los 7 </a:t>
            </a:r>
            <a:r>
              <a:rPr lang="es-ES_tradnl" sz="1400" noProof="0" dirty="0" err="1">
                <a:solidFill>
                  <a:srgbClr val="3C3C3B"/>
                </a:solidFill>
                <a:latin typeface="Roboto" pitchFamily="34" charset="0"/>
                <a:ea typeface="Roboto" pitchFamily="34" charset="-122"/>
                <a:cs typeface="Roboto" pitchFamily="34" charset="-120"/>
              </a:rPr>
              <a:t>qubits</a:t>
            </a:r>
            <a:r>
              <a:rPr lang="es-ES_tradnl" sz="1400" noProof="0" dirty="0">
                <a:solidFill>
                  <a:srgbClr val="3C3C3B"/>
                </a:solidFill>
                <a:latin typeface="Roboto" pitchFamily="34" charset="0"/>
                <a:ea typeface="Roboto" pitchFamily="34" charset="-122"/>
                <a:cs typeface="Roboto" pitchFamily="34" charset="-120"/>
              </a:rPr>
              <a:t>.</a:t>
            </a:r>
            <a:endParaRPr lang="es-ES_tradnl" sz="1400" noProof="0" dirty="0"/>
          </a:p>
        </p:txBody>
      </p:sp>
      <p:sp>
        <p:nvSpPr>
          <p:cNvPr id="16" name="Shape 13"/>
          <p:cNvSpPr/>
          <p:nvPr/>
        </p:nvSpPr>
        <p:spPr>
          <a:xfrm>
            <a:off x="812800" y="4085630"/>
            <a:ext cx="10566400" cy="0"/>
          </a:xfrm>
          <a:prstGeom prst="line">
            <a:avLst/>
          </a:prstGeom>
          <a:noFill/>
          <a:ln w="6350">
            <a:solidFill>
              <a:srgbClr val="D4D4D0"/>
            </a:solidFill>
            <a:prstDash val="solid"/>
          </a:ln>
        </p:spPr>
        <p:txBody>
          <a:bodyPr/>
          <a:lstStyle/>
          <a:p>
            <a:endParaRPr lang="es-ES_tradnl" noProof="0" dirty="0"/>
          </a:p>
        </p:txBody>
      </p:sp>
      <p:sp>
        <p:nvSpPr>
          <p:cNvPr id="17" name="Shape 14"/>
          <p:cNvSpPr/>
          <p:nvPr/>
        </p:nvSpPr>
        <p:spPr>
          <a:xfrm>
            <a:off x="812800" y="5270302"/>
            <a:ext cx="10566400" cy="0"/>
          </a:xfrm>
          <a:prstGeom prst="line">
            <a:avLst/>
          </a:prstGeom>
          <a:noFill/>
          <a:ln w="6350">
            <a:solidFill>
              <a:srgbClr val="D4D4D0"/>
            </a:solidFill>
            <a:prstDash val="solid"/>
          </a:ln>
        </p:spPr>
        <p:txBody>
          <a:bodyPr/>
          <a:lstStyle/>
          <a:p>
            <a:endParaRPr lang="es-ES_tradnl" noProof="0" dirty="0"/>
          </a:p>
        </p:txBody>
      </p:sp>
      <p:sp>
        <p:nvSpPr>
          <p:cNvPr id="18" name="Text 15"/>
          <p:cNvSpPr/>
          <p:nvPr/>
        </p:nvSpPr>
        <p:spPr>
          <a:xfrm>
            <a:off x="812800" y="4266605"/>
            <a:ext cx="457200" cy="457200"/>
          </a:xfrm>
          <a:prstGeom prst="rect">
            <a:avLst/>
          </a:prstGeom>
          <a:solidFill>
            <a:srgbClr val="FFEE00"/>
          </a:solidFill>
          <a:ln/>
        </p:spPr>
        <p:txBody>
          <a:bodyPr wrap="square" lIns="0" tIns="0" rIns="0" bIns="0" rtlCol="0" anchor="t">
            <a:normAutofit/>
          </a:bodyPr>
          <a:lstStyle/>
          <a:p>
            <a:pPr marL="0" indent="0" algn="ctr">
              <a:lnSpc>
                <a:spcPts val="3608"/>
              </a:lnSpc>
              <a:buNone/>
            </a:pPr>
            <a:r>
              <a:rPr lang="es-ES_tradnl" sz="2200" b="1" noProof="0" dirty="0">
                <a:solidFill>
                  <a:srgbClr val="1D1D1B"/>
                </a:solidFill>
                <a:latin typeface="DM Sans" pitchFamily="34" charset="0"/>
                <a:ea typeface="DM Sans" pitchFamily="34" charset="-122"/>
                <a:cs typeface="DM Sans" pitchFamily="34" charset="-120"/>
              </a:rPr>
              <a:t>3</a:t>
            </a:r>
            <a:endParaRPr lang="es-ES_tradnl" sz="2200" noProof="0" dirty="0"/>
          </a:p>
        </p:txBody>
      </p:sp>
      <p:sp>
        <p:nvSpPr>
          <p:cNvPr id="19" name="Text 16"/>
          <p:cNvSpPr/>
          <p:nvPr/>
        </p:nvSpPr>
        <p:spPr>
          <a:xfrm>
            <a:off x="1524000" y="4266605"/>
            <a:ext cx="10150856" cy="299641"/>
          </a:xfrm>
          <a:prstGeom prst="rect">
            <a:avLst/>
          </a:prstGeom>
          <a:noFill/>
          <a:ln/>
        </p:spPr>
        <p:txBody>
          <a:bodyPr wrap="square" lIns="0" tIns="0" rIns="0" bIns="0" rtlCol="0" anchor="t">
            <a:normAutofit/>
          </a:bodyPr>
          <a:lstStyle/>
          <a:p>
            <a:pPr marL="0" indent="0" algn="l">
              <a:lnSpc>
                <a:spcPts val="2160"/>
              </a:lnSpc>
              <a:buNone/>
            </a:pPr>
            <a:r>
              <a:rPr lang="es-ES_tradnl" sz="1800" b="1" noProof="0" dirty="0" err="1">
                <a:solidFill>
                  <a:srgbClr val="1D1D1B"/>
                </a:solidFill>
                <a:latin typeface="DM Sans" pitchFamily="34" charset="0"/>
                <a:ea typeface="DM Sans" pitchFamily="34" charset="-122"/>
                <a:cs typeface="DM Sans" pitchFamily="34" charset="-120"/>
              </a:rPr>
              <a:t>Decuantización</a:t>
            </a:r>
            <a:endParaRPr lang="es-ES_tradnl" sz="1800" noProof="0" dirty="0"/>
          </a:p>
        </p:txBody>
      </p:sp>
      <p:sp>
        <p:nvSpPr>
          <p:cNvPr id="20" name="Text 17"/>
          <p:cNvSpPr/>
          <p:nvPr/>
        </p:nvSpPr>
        <p:spPr>
          <a:xfrm>
            <a:off x="1524000" y="4591645"/>
            <a:ext cx="10150856" cy="523081"/>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Volver al mundo clásico exige medir, y la forma de hacerlo determina el costo en privacidad. Los dos diseños, a continuación.</a:t>
            </a:r>
            <a:endParaRPr lang="es-ES_tradnl" sz="1400" noProof="0" dirty="0"/>
          </a:p>
        </p:txBody>
      </p:sp>
      <p:sp>
        <p:nvSpPr>
          <p:cNvPr id="22" name="Text 19"/>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a:solidFill>
                  <a:srgbClr val="1D1D1B"/>
                </a:solidFill>
                <a:latin typeface="Roboto" pitchFamily="34" charset="0"/>
                <a:ea typeface="Roboto" pitchFamily="34" charset="-122"/>
                <a:cs typeface="Roboto" pitchFamily="34" charset="-120"/>
              </a:rPr>
              <a:t>42</a:t>
            </a:r>
            <a:endParaRPr lang="es-ES_tradnl" sz="1200" noProof="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s-ES_tradnl" noProof="0" dirty="0"/>
          </a:p>
        </p:txBody>
      </p:sp>
      <p:sp>
        <p:nvSpPr>
          <p:cNvPr id="3" name="Shape 1"/>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dirty="0">
                <a:solidFill>
                  <a:srgbClr val="1D1D1B"/>
                </a:solidFill>
                <a:latin typeface="DM Sans" pitchFamily="34" charset="0"/>
                <a:ea typeface="DM Sans" pitchFamily="34" charset="-122"/>
                <a:cs typeface="DM Sans" pitchFamily="34" charset="-120"/>
              </a:rPr>
              <a:t>V</a:t>
            </a:r>
            <a:endParaRPr lang="es-ES_tradnl" sz="1200" noProof="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dirty="0">
                <a:solidFill>
                  <a:srgbClr val="6E6E6C"/>
                </a:solidFill>
                <a:latin typeface="Roboto" pitchFamily="34" charset="0"/>
                <a:ea typeface="Roboto" pitchFamily="34" charset="-122"/>
                <a:cs typeface="Roboto" pitchFamily="34" charset="-120"/>
              </a:rPr>
              <a:t>HARDWARE Y CIERRE</a:t>
            </a:r>
            <a:endParaRPr lang="es-ES_tradnl" sz="1200" noProof="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s-ES_tradnl" sz="2800" b="1" i="0" kern="0" spc="-50" noProof="0" dirty="0" err="1">
                <a:solidFill>
                  <a:srgbClr val="1D1D1B"/>
                </a:solidFill>
                <a:latin typeface="DM Sans" pitchFamily="34" charset="0"/>
                <a:ea typeface="DM Sans" pitchFamily="34" charset="-122"/>
                <a:cs typeface="DM Sans" pitchFamily="34" charset="-120"/>
              </a:rPr>
              <a:t>Decuantizar</a:t>
            </a:r>
            <a:r>
              <a:rPr lang="es-ES_tradnl" sz="2800" b="1" i="0" kern="0" spc="-50" noProof="0" dirty="0">
                <a:solidFill>
                  <a:srgbClr val="1D1D1B"/>
                </a:solidFill>
                <a:latin typeface="DM Sans" pitchFamily="34" charset="0"/>
                <a:ea typeface="DM Sans" pitchFamily="34" charset="-122"/>
                <a:cs typeface="DM Sans" pitchFamily="34" charset="-120"/>
              </a:rPr>
              <a:t>: diseño C contra diseño L</a:t>
            </a:r>
            <a:endParaRPr lang="es-ES_tradnl" sz="2800" noProof="0" dirty="0"/>
          </a:p>
        </p:txBody>
      </p:sp>
      <p:graphicFrame>
        <p:nvGraphicFramePr>
          <p:cNvPr id="8" name="Table 0"/>
          <p:cNvGraphicFramePr>
            <a:graphicFrameLocks noGrp="1"/>
          </p:cNvGraphicFramePr>
          <p:nvPr>
            <p:extLst>
              <p:ext uri="{D42A27DB-BD31-4B8C-83A1-F6EECF244321}">
                <p14:modId xmlns:p14="http://schemas.microsoft.com/office/powerpoint/2010/main" val="411128441"/>
              </p:ext>
            </p:extLst>
          </p:nvPr>
        </p:nvGraphicFramePr>
        <p:xfrm>
          <a:off x="825500" y="1394420"/>
          <a:ext cx="10553700" cy="3054649"/>
        </p:xfrm>
        <a:graphic>
          <a:graphicData uri="http://schemas.openxmlformats.org/drawingml/2006/table">
            <a:tbl>
              <a:tblPr/>
              <a:tblGrid>
                <a:gridCol w="1688592">
                  <a:extLst>
                    <a:ext uri="{9D8B030D-6E8A-4147-A177-3AD203B41FA5}">
                      <a16:colId xmlns:a16="http://schemas.microsoft.com/office/drawing/2014/main" val="20000"/>
                    </a:ext>
                  </a:extLst>
                </a:gridCol>
                <a:gridCol w="4432554">
                  <a:extLst>
                    <a:ext uri="{9D8B030D-6E8A-4147-A177-3AD203B41FA5}">
                      <a16:colId xmlns:a16="http://schemas.microsoft.com/office/drawing/2014/main" val="20001"/>
                    </a:ext>
                  </a:extLst>
                </a:gridCol>
                <a:gridCol w="4432554">
                  <a:extLst>
                    <a:ext uri="{9D8B030D-6E8A-4147-A177-3AD203B41FA5}">
                      <a16:colId xmlns:a16="http://schemas.microsoft.com/office/drawing/2014/main" val="20002"/>
                    </a:ext>
                  </a:extLst>
                </a:gridCol>
              </a:tblGrid>
              <a:tr h="359271">
                <a:tc>
                  <a:txBody>
                    <a:bodyPr/>
                    <a:lstStyle/>
                    <a:p>
                      <a:pPr marL="0" indent="0">
                        <a:lnSpc>
                          <a:spcPts val="1820"/>
                        </a:lnSpc>
                        <a:buNone/>
                      </a:pP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333332"/>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333332"/>
                      </a:solidFill>
                      <a:prstDash val="solid"/>
                      <a:round/>
                      <a:headEnd type="none" w="med" len="med"/>
                      <a:tailEnd type="none" w="med" len="med"/>
                    </a:lnB>
                    <a:solidFill>
                      <a:srgbClr val="3C3C3B"/>
                    </a:solidFill>
                  </a:tcPr>
                </a:tc>
                <a:tc>
                  <a:txBody>
                    <a:bodyPr/>
                    <a:lstStyle/>
                    <a:p>
                      <a:pPr marL="0" indent="0">
                        <a:lnSpc>
                          <a:spcPts val="1820"/>
                        </a:lnSpc>
                        <a:buNone/>
                      </a:pPr>
                      <a:r>
                        <a:rPr lang="es-ES_tradnl" sz="1300" b="1" noProof="0" dirty="0">
                          <a:solidFill>
                            <a:srgbClr val="FFFFFF"/>
                          </a:solidFill>
                          <a:latin typeface="Roboto" pitchFamily="34" charset="0"/>
                          <a:ea typeface="Roboto" pitchFamily="34" charset="-122"/>
                          <a:cs typeface="Roboto" pitchFamily="34" charset="-120"/>
                        </a:rPr>
                        <a:t>C · central</a:t>
                      </a:r>
                      <a:endParaRPr lang="es-ES_tradnl" sz="1300" noProof="0" dirty="0">
                        <a:latin typeface="Roboto" charset="0"/>
                        <a:ea typeface="Roboto" charset="0"/>
                        <a:cs typeface="Roboto" charset="0"/>
                      </a:endParaRPr>
                    </a:p>
                  </a:txBody>
                  <a:tcPr marL="57785" marR="57785" marT="57785" marB="57785">
                    <a:lnL w="12700" cap="flat" cmpd="sng" algn="ctr">
                      <a:solidFill>
                        <a:srgbClr val="333332"/>
                      </a:solidFill>
                      <a:prstDash val="solid"/>
                      <a:round/>
                      <a:headEnd type="none" w="med" len="med"/>
                      <a:tailEnd type="none" w="med" len="med"/>
                    </a:lnL>
                    <a:lnR w="12700" cap="flat" cmpd="sng" algn="ctr">
                      <a:solidFill>
                        <a:srgbClr val="333332"/>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333332"/>
                      </a:solidFill>
                      <a:prstDash val="solid"/>
                      <a:round/>
                      <a:headEnd type="none" w="med" len="med"/>
                      <a:tailEnd type="none" w="med" len="med"/>
                    </a:lnB>
                    <a:solidFill>
                      <a:srgbClr val="3C3C3B"/>
                    </a:solidFill>
                  </a:tcPr>
                </a:tc>
                <a:tc>
                  <a:txBody>
                    <a:bodyPr/>
                    <a:lstStyle/>
                    <a:p>
                      <a:pPr marL="0" indent="0">
                        <a:lnSpc>
                          <a:spcPts val="1820"/>
                        </a:lnSpc>
                        <a:buNone/>
                      </a:pPr>
                      <a:r>
                        <a:rPr lang="es-ES_tradnl" sz="1300" b="1" noProof="0" dirty="0">
                          <a:solidFill>
                            <a:srgbClr val="FFFFFF"/>
                          </a:solidFill>
                          <a:latin typeface="Roboto" pitchFamily="34" charset="0"/>
                          <a:ea typeface="Roboto" pitchFamily="34" charset="-122"/>
                          <a:cs typeface="Roboto" pitchFamily="34" charset="-120"/>
                        </a:rPr>
                        <a:t>L · local</a:t>
                      </a:r>
                      <a:endParaRPr lang="es-ES_tradnl" sz="1300" noProof="0" dirty="0">
                        <a:latin typeface="Roboto" charset="0"/>
                        <a:ea typeface="Roboto" charset="0"/>
                        <a:cs typeface="Roboto" charset="0"/>
                      </a:endParaRPr>
                    </a:p>
                  </a:txBody>
                  <a:tcPr marL="57785" marR="57785" marT="57785" marB="57785">
                    <a:lnL w="12700" cap="flat" cmpd="sng" algn="ctr">
                      <a:solidFill>
                        <a:srgbClr val="333332"/>
                      </a:solidFill>
                      <a:prstDash val="solid"/>
                      <a:round/>
                      <a:headEnd type="none" w="med" len="med"/>
                      <a:tailEnd type="none" w="med" len="med"/>
                    </a:lnL>
                    <a:lnR w="12700" cap="flat" cmpd="sng" algn="ctr">
                      <a:solidFill>
                        <a:srgbClr val="333332"/>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333332"/>
                      </a:solidFill>
                      <a:prstDash val="solid"/>
                      <a:round/>
                      <a:headEnd type="none" w="med" len="med"/>
                      <a:tailEnd type="none" w="med" len="med"/>
                    </a:lnB>
                    <a:solidFill>
                      <a:srgbClr val="3C3C3B"/>
                    </a:solidFill>
                  </a:tcPr>
                </a:tc>
                <a:extLst>
                  <a:ext uri="{0D108BD9-81ED-4DB2-BD59-A6C34878D82A}">
                    <a16:rowId xmlns:a16="http://schemas.microsoft.com/office/drawing/2014/main" val="10000"/>
                  </a:ext>
                </a:extLst>
              </a:tr>
              <a:tr h="1052513">
                <a:tc>
                  <a:txBody>
                    <a:bodyPr/>
                    <a:lstStyle/>
                    <a:p>
                      <a:pPr marL="0" indent="0">
                        <a:lnSpc>
                          <a:spcPts val="1820"/>
                        </a:lnSpc>
                        <a:buNone/>
                      </a:pPr>
                      <a:r>
                        <a:rPr lang="es-ES_tradnl" sz="1300" noProof="0" dirty="0">
                          <a:solidFill>
                            <a:srgbClr val="1D1D1B"/>
                          </a:solidFill>
                          <a:latin typeface="Roboto" pitchFamily="34" charset="0"/>
                          <a:ea typeface="Roboto" pitchFamily="34" charset="-122"/>
                          <a:cs typeface="Roboto" pitchFamily="34" charset="-120"/>
                        </a:rPr>
                        <a:t>A favor</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333332"/>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820"/>
                        </a:lnSpc>
                        <a:buNone/>
                      </a:pPr>
                      <a:r>
                        <a:rPr lang="es-ES_tradnl" sz="1300" noProof="0" dirty="0" err="1">
                          <a:solidFill>
                            <a:srgbClr val="3C3C3B"/>
                          </a:solidFill>
                          <a:latin typeface="Roboto" pitchFamily="34" charset="0"/>
                          <a:ea typeface="Roboto" pitchFamily="34" charset="-122"/>
                          <a:cs typeface="Roboto" pitchFamily="34" charset="-120"/>
                        </a:rPr>
                        <a:t>ε</a:t>
                      </a:r>
                      <a:r>
                        <a:rPr lang="es-ES_tradnl" sz="1300" noProof="0" dirty="0">
                          <a:solidFill>
                            <a:srgbClr val="3C3C3B"/>
                          </a:solidFill>
                          <a:latin typeface="Roboto" pitchFamily="34" charset="0"/>
                          <a:ea typeface="Roboto" pitchFamily="34" charset="-122"/>
                          <a:cs typeface="Roboto" pitchFamily="34" charset="-120"/>
                        </a:rPr>
                        <a:t> por copia muy pequeño: con una copia, el atacante gana muy poca certeza adicional.</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333332"/>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820"/>
                        </a:lnSpc>
                        <a:buNone/>
                      </a:pPr>
                      <a:r>
                        <a:rPr lang="es-ES_tradnl" sz="1300" noProof="0" dirty="0">
                          <a:solidFill>
                            <a:srgbClr val="3C3C3B"/>
                          </a:solidFill>
                          <a:latin typeface="Roboto" pitchFamily="34" charset="0"/>
                          <a:ea typeface="Roboto" pitchFamily="34" charset="-122"/>
                          <a:cs typeface="Roboto" pitchFamily="34" charset="-120"/>
                        </a:rPr>
                        <a:t>Cada persona aparece en un solo resultado (composición paralela): </a:t>
                      </a:r>
                      <a:r>
                        <a:rPr lang="es-ES_tradnl" sz="1300" noProof="0" dirty="0" err="1">
                          <a:solidFill>
                            <a:srgbClr val="3C3C3B"/>
                          </a:solidFill>
                          <a:latin typeface="Roboto" pitchFamily="34" charset="0"/>
                          <a:ea typeface="Roboto" pitchFamily="34" charset="-122"/>
                          <a:cs typeface="Roboto" pitchFamily="34" charset="-120"/>
                        </a:rPr>
                        <a:t>ε</a:t>
                      </a:r>
                      <a:r>
                        <a:rPr lang="es-ES_tradnl" sz="1300" noProof="0" dirty="0">
                          <a:solidFill>
                            <a:srgbClr val="3C3C3B"/>
                          </a:solidFill>
                          <a:latin typeface="Roboto" pitchFamily="34" charset="0"/>
                          <a:ea typeface="Roboto" pitchFamily="34" charset="-122"/>
                          <a:cs typeface="Roboto" pitchFamily="34" charset="-120"/>
                        </a:rPr>
                        <a:t> no crece con el número de personas ni de publicaciones. Su costo crece con </a:t>
                      </a:r>
                      <a:r>
                        <a:rPr lang="es-ES_tradnl" sz="1300" noProof="0" dirty="0" err="1">
                          <a:solidFill>
                            <a:srgbClr val="3C3C3B"/>
                          </a:solidFill>
                          <a:latin typeface="Roboto" pitchFamily="34" charset="0"/>
                          <a:ea typeface="Roboto" pitchFamily="34" charset="-122"/>
                          <a:cs typeface="Roboto" pitchFamily="34" charset="-120"/>
                        </a:rPr>
                        <a:t>ln</a:t>
                      </a:r>
                      <a:r>
                        <a:rPr lang="es-ES_tradnl" sz="1300" noProof="0" dirty="0">
                          <a:solidFill>
                            <a:srgbClr val="3C3C3B"/>
                          </a:solidFill>
                          <a:latin typeface="Roboto" pitchFamily="34" charset="0"/>
                          <a:ea typeface="Roboto" pitchFamily="34" charset="-122"/>
                          <a:cs typeface="Roboto" pitchFamily="34" charset="-120"/>
                        </a:rPr>
                        <a:t> D (lineal en </a:t>
                      </a:r>
                      <a:r>
                        <a:rPr lang="es-ES_tradnl" sz="1300" noProof="0" dirty="0" err="1">
                          <a:solidFill>
                            <a:srgbClr val="3C3C3B"/>
                          </a:solidFill>
                          <a:latin typeface="Roboto" pitchFamily="34" charset="0"/>
                          <a:ea typeface="Roboto" pitchFamily="34" charset="-122"/>
                          <a:cs typeface="Roboto" pitchFamily="34" charset="-120"/>
                        </a:rPr>
                        <a:t>qubits</a:t>
                      </a:r>
                      <a:r>
                        <a:rPr lang="es-ES_tradnl" sz="1300" noProof="0" dirty="0">
                          <a:solidFill>
                            <a:srgbClr val="3C3C3B"/>
                          </a:solidFill>
                          <a:latin typeface="Roboto" pitchFamily="34" charset="0"/>
                          <a:ea typeface="Roboto" pitchFamily="34" charset="-122"/>
                          <a:cs typeface="Roboto" pitchFamily="34" charset="-120"/>
                        </a:rPr>
                        <a:t>). No necesita un curador de confianza.</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333332"/>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extLst>
                  <a:ext uri="{0D108BD9-81ED-4DB2-BD59-A6C34878D82A}">
                    <a16:rowId xmlns:a16="http://schemas.microsoft.com/office/drawing/2014/main" val="10001"/>
                  </a:ext>
                </a:extLst>
              </a:tr>
              <a:tr h="1052513">
                <a:tc>
                  <a:txBody>
                    <a:bodyPr/>
                    <a:lstStyle/>
                    <a:p>
                      <a:pPr marL="0" indent="0">
                        <a:lnSpc>
                          <a:spcPts val="1820"/>
                        </a:lnSpc>
                        <a:buNone/>
                      </a:pPr>
                      <a:r>
                        <a:rPr lang="es-ES_tradnl" sz="1300" noProof="0" dirty="0">
                          <a:solidFill>
                            <a:srgbClr val="1D1D1B"/>
                          </a:solidFill>
                          <a:latin typeface="Roboto" pitchFamily="34" charset="0"/>
                          <a:ea typeface="Roboto" pitchFamily="34" charset="-122"/>
                          <a:cs typeface="Roboto" pitchFamily="34" charset="-120"/>
                        </a:rPr>
                        <a:t>En contra</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nSpc>
                          <a:spcPts val="1820"/>
                        </a:lnSpc>
                        <a:buNone/>
                      </a:pPr>
                      <a:r>
                        <a:rPr lang="es-ES_tradnl" sz="1300" noProof="0" dirty="0" err="1">
                          <a:solidFill>
                            <a:srgbClr val="3C3C3B"/>
                          </a:solidFill>
                          <a:latin typeface="Roboto" pitchFamily="34" charset="0"/>
                          <a:ea typeface="Roboto" pitchFamily="34" charset="-122"/>
                          <a:cs typeface="Roboto" pitchFamily="34" charset="-120"/>
                        </a:rPr>
                        <a:t>Decuantizar</a:t>
                      </a:r>
                      <a:r>
                        <a:rPr lang="es-ES_tradnl" sz="1300" noProof="0" dirty="0">
                          <a:solidFill>
                            <a:srgbClr val="3C3C3B"/>
                          </a:solidFill>
                          <a:latin typeface="Roboto" pitchFamily="34" charset="0"/>
                          <a:ea typeface="Roboto" pitchFamily="34" charset="-122"/>
                          <a:cs typeface="Roboto" pitchFamily="34" charset="-120"/>
                        </a:rPr>
                        <a:t> exige muchas copias y cada una suma </a:t>
                      </a:r>
                      <a:r>
                        <a:rPr lang="es-ES_tradnl" sz="1300" noProof="0" dirty="0" err="1">
                          <a:solidFill>
                            <a:srgbClr val="3C3C3B"/>
                          </a:solidFill>
                          <a:latin typeface="Roboto" pitchFamily="34" charset="0"/>
                          <a:ea typeface="Roboto" pitchFamily="34" charset="-122"/>
                          <a:cs typeface="Roboto" pitchFamily="34" charset="-120"/>
                        </a:rPr>
                        <a:t>ε</a:t>
                      </a:r>
                      <a:r>
                        <a:rPr lang="es-ES_tradnl" sz="1300" noProof="0" dirty="0">
                          <a:solidFill>
                            <a:srgbClr val="3C3C3B"/>
                          </a:solidFill>
                          <a:latin typeface="Roboto" pitchFamily="34" charset="0"/>
                          <a:ea typeface="Roboto" pitchFamily="34" charset="-122"/>
                          <a:cs typeface="Roboto" pitchFamily="34" charset="-120"/>
                        </a:rPr>
                        <a:t> (</a:t>
                      </a:r>
                      <a:r>
                        <a:rPr lang="es-ES_tradnl" sz="1300" noProof="0" dirty="0" err="1">
                          <a:solidFill>
                            <a:srgbClr val="3C3C3B"/>
                          </a:solidFill>
                          <a:latin typeface="Roboto" pitchFamily="34" charset="0"/>
                          <a:ea typeface="Roboto" pitchFamily="34" charset="-122"/>
                          <a:cs typeface="Roboto" pitchFamily="34" charset="-120"/>
                        </a:rPr>
                        <a:t>N·ε</a:t>
                      </a:r>
                      <a:r>
                        <a:rPr lang="es-ES_tradnl" sz="1300" noProof="0" dirty="0">
                          <a:solidFill>
                            <a:srgbClr val="3C3C3B"/>
                          </a:solidFill>
                          <a:latin typeface="Roboto" pitchFamily="34" charset="0"/>
                          <a:ea typeface="Roboto" pitchFamily="34" charset="-122"/>
                          <a:cs typeface="Roboto" pitchFamily="34" charset="-120"/>
                        </a:rPr>
                        <a:t>). El costo crece con D (exponencial en </a:t>
                      </a:r>
                      <a:r>
                        <a:rPr lang="es-ES_tradnl" sz="1300" noProof="0" dirty="0" err="1">
                          <a:solidFill>
                            <a:srgbClr val="3C3C3B"/>
                          </a:solidFill>
                          <a:latin typeface="Roboto" pitchFamily="34" charset="0"/>
                          <a:ea typeface="Roboto" pitchFamily="34" charset="-122"/>
                          <a:cs typeface="Roboto" pitchFamily="34" charset="-120"/>
                        </a:rPr>
                        <a:t>qubits</a:t>
                      </a:r>
                      <a:r>
                        <a:rPr lang="es-ES_tradnl" sz="1300" noProof="0" dirty="0">
                          <a:solidFill>
                            <a:srgbClr val="3C3C3B"/>
                          </a:solidFill>
                          <a:latin typeface="Roboto" pitchFamily="34" charset="0"/>
                          <a:ea typeface="Roboto" pitchFamily="34" charset="-122"/>
                          <a:cs typeface="Roboto" pitchFamily="34" charset="-120"/>
                        </a:rPr>
                        <a:t>): con 7 </a:t>
                      </a:r>
                      <a:r>
                        <a:rPr lang="es-ES_tradnl" sz="1300" noProof="0" dirty="0" err="1">
                          <a:solidFill>
                            <a:srgbClr val="3C3C3B"/>
                          </a:solidFill>
                          <a:latin typeface="Roboto" pitchFamily="34" charset="0"/>
                          <a:ea typeface="Roboto" pitchFamily="34" charset="-122"/>
                          <a:cs typeface="Roboto" pitchFamily="34" charset="-120"/>
                        </a:rPr>
                        <a:t>qubits</a:t>
                      </a:r>
                      <a:r>
                        <a:rPr lang="es-ES_tradnl" sz="1300" noProof="0" dirty="0">
                          <a:solidFill>
                            <a:srgbClr val="3C3C3B"/>
                          </a:solidFill>
                          <a:latin typeface="Roboto" pitchFamily="34" charset="0"/>
                          <a:ea typeface="Roboto" pitchFamily="34" charset="-122"/>
                          <a:cs typeface="Roboto" pitchFamily="34" charset="-120"/>
                        </a:rPr>
                        <a:t>, </a:t>
                      </a:r>
                      <a:r>
                        <a:rPr lang="es-ES_tradnl" sz="1300" noProof="0" dirty="0" err="1">
                          <a:solidFill>
                            <a:srgbClr val="3C3C3B"/>
                          </a:solidFill>
                          <a:latin typeface="Roboto" pitchFamily="34" charset="0"/>
                          <a:ea typeface="Roboto" pitchFamily="34" charset="-122"/>
                          <a:cs typeface="Roboto" pitchFamily="34" charset="-120"/>
                        </a:rPr>
                        <a:t>ε</a:t>
                      </a:r>
                      <a:r>
                        <a:rPr lang="es-ES_tradnl" sz="1300" noProof="0" dirty="0">
                          <a:solidFill>
                            <a:srgbClr val="3C3C3B"/>
                          </a:solidFill>
                          <a:latin typeface="Roboto" pitchFamily="34" charset="0"/>
                          <a:ea typeface="Roboto" pitchFamily="34" charset="-122"/>
                          <a:cs typeface="Roboto" pitchFamily="34" charset="-120"/>
                        </a:rPr>
                        <a:t> total = 106 con N = 1000. Requiere un curador que reúna los estados; el sorteo agrega varianza.</a:t>
                      </a:r>
                      <a:endParaRPr lang="es-ES_tradnl" sz="1300" noProof="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nSpc>
                          <a:spcPts val="1820"/>
                        </a:lnSpc>
                        <a:buNone/>
                      </a:pPr>
                      <a:r>
                        <a:rPr lang="es-ES_tradnl" sz="1300" noProof="0" dirty="0">
                          <a:solidFill>
                            <a:srgbClr val="3C3C3B"/>
                          </a:solidFill>
                          <a:latin typeface="Roboto" pitchFamily="34" charset="0"/>
                          <a:ea typeface="Roboto" pitchFamily="34" charset="-122"/>
                          <a:cs typeface="Roboto" pitchFamily="34" charset="-120"/>
                        </a:rPr>
                        <a:t>El </a:t>
                      </a:r>
                      <a:r>
                        <a:rPr lang="es-ES_tradnl" sz="1300" noProof="0" dirty="0" err="1">
                          <a:solidFill>
                            <a:srgbClr val="3C3C3B"/>
                          </a:solidFill>
                          <a:latin typeface="Roboto" pitchFamily="34" charset="0"/>
                          <a:ea typeface="Roboto" pitchFamily="34" charset="-122"/>
                          <a:cs typeface="Roboto" pitchFamily="34" charset="-120"/>
                        </a:rPr>
                        <a:t>ε</a:t>
                      </a:r>
                      <a:r>
                        <a:rPr lang="es-ES_tradnl" sz="1300" noProof="0" dirty="0">
                          <a:solidFill>
                            <a:srgbClr val="3C3C3B"/>
                          </a:solidFill>
                          <a:latin typeface="Roboto" pitchFamily="34" charset="0"/>
                          <a:ea typeface="Roboto" pitchFamily="34" charset="-122"/>
                          <a:cs typeface="Roboto" pitchFamily="34" charset="-120"/>
                        </a:rPr>
                        <a:t> por persona es más alto que el </a:t>
                      </a:r>
                      <a:r>
                        <a:rPr lang="es-ES_tradnl" sz="1300" noProof="0" dirty="0" err="1">
                          <a:solidFill>
                            <a:srgbClr val="3C3C3B"/>
                          </a:solidFill>
                          <a:latin typeface="Roboto" pitchFamily="34" charset="0"/>
                          <a:ea typeface="Roboto" pitchFamily="34" charset="-122"/>
                          <a:cs typeface="Roboto" pitchFamily="34" charset="-120"/>
                        </a:rPr>
                        <a:t>ε</a:t>
                      </a:r>
                      <a:r>
                        <a:rPr lang="es-ES_tradnl" sz="1300" noProof="0" dirty="0">
                          <a:solidFill>
                            <a:srgbClr val="3C3C3B"/>
                          </a:solidFill>
                          <a:latin typeface="Roboto" pitchFamily="34" charset="0"/>
                          <a:ea typeface="Roboto" pitchFamily="34" charset="-122"/>
                          <a:cs typeface="Roboto" pitchFamily="34" charset="-120"/>
                        </a:rPr>
                        <a:t> por copia del central (con 1 </a:t>
                      </a:r>
                      <a:r>
                        <a:rPr lang="es-ES_tradnl" sz="1300" noProof="0" dirty="0" err="1">
                          <a:solidFill>
                            <a:srgbClr val="3C3C3B"/>
                          </a:solidFill>
                          <a:latin typeface="Roboto" pitchFamily="34" charset="0"/>
                          <a:ea typeface="Roboto" pitchFamily="34" charset="-122"/>
                          <a:cs typeface="Roboto" pitchFamily="34" charset="-120"/>
                        </a:rPr>
                        <a:t>qubit</a:t>
                      </a:r>
                      <a:r>
                        <a:rPr lang="es-ES_tradnl" sz="1300" noProof="0" dirty="0">
                          <a:solidFill>
                            <a:srgbClr val="3C3C3B"/>
                          </a:solidFill>
                          <a:latin typeface="Roboto" pitchFamily="34" charset="0"/>
                          <a:ea typeface="Roboto" pitchFamily="34" charset="-122"/>
                          <a:cs typeface="Roboto" pitchFamily="34" charset="-120"/>
                        </a:rPr>
                        <a:t>: </a:t>
                      </a:r>
                      <a:r>
                        <a:rPr lang="es-ES_tradnl" sz="1300" noProof="0" dirty="0" err="1">
                          <a:solidFill>
                            <a:srgbClr val="3C3C3B"/>
                          </a:solidFill>
                          <a:latin typeface="Roboto" pitchFamily="34" charset="0"/>
                          <a:ea typeface="Roboto" pitchFamily="34" charset="-122"/>
                          <a:cs typeface="Roboto" pitchFamily="34" charset="-120"/>
                        </a:rPr>
                        <a:t>ln</a:t>
                      </a:r>
                      <a:r>
                        <a:rPr lang="es-ES_tradnl" sz="1300" noProof="0" dirty="0">
                          <a:solidFill>
                            <a:srgbClr val="3C3C3B"/>
                          </a:solidFill>
                          <a:latin typeface="Roboto" pitchFamily="34" charset="0"/>
                          <a:ea typeface="Roboto" pitchFamily="34" charset="-122"/>
                          <a:cs typeface="Roboto" pitchFamily="34" charset="-120"/>
                        </a:rPr>
                        <a:t> 3 ≈ 1.10 contra 0.0006).</a:t>
                      </a:r>
                      <a:endParaRPr lang="es-ES_tradnl" sz="1300" noProof="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extLst>
                  <a:ext uri="{0D108BD9-81ED-4DB2-BD59-A6C34878D82A}">
                    <a16:rowId xmlns:a16="http://schemas.microsoft.com/office/drawing/2014/main" val="10002"/>
                  </a:ext>
                </a:extLst>
              </a:tr>
              <a:tr h="590352">
                <a:tc>
                  <a:txBody>
                    <a:bodyPr/>
                    <a:lstStyle/>
                    <a:p>
                      <a:pPr marL="0" indent="0">
                        <a:lnSpc>
                          <a:spcPts val="1820"/>
                        </a:lnSpc>
                        <a:buNone/>
                      </a:pPr>
                      <a:r>
                        <a:rPr lang="es-ES_tradnl" sz="1300" noProof="0" dirty="0">
                          <a:solidFill>
                            <a:srgbClr val="1D1D1B"/>
                          </a:solidFill>
                          <a:latin typeface="Roboto" pitchFamily="34" charset="0"/>
                          <a:ea typeface="Roboto" pitchFamily="34" charset="-122"/>
                          <a:cs typeface="Roboto" pitchFamily="34" charset="-120"/>
                        </a:rPr>
                        <a:t>Cuándo conviene</a:t>
                      </a:r>
                      <a:endParaRPr lang="es-ES_tradnl" sz="1300" noProof="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594"/>
                      </a:solidFill>
                      <a:prstDash val="solid"/>
                      <a:round/>
                      <a:headEnd type="none" w="med" len="med"/>
                      <a:tailEnd type="none" w="med" len="med"/>
                    </a:lnR>
                    <a:lnT w="12700" cap="flat" cmpd="sng" algn="ctr">
                      <a:solidFill>
                        <a:srgbClr val="C3C3C1"/>
                      </a:solidFill>
                      <a:prstDash val="solid"/>
                      <a:round/>
                      <a:headEnd type="none" w="med" len="med"/>
                      <a:tailEnd type="none" w="med" len="med"/>
                    </a:lnT>
                    <a:lnB w="12700" cap="flat" cmpd="sng" algn="ctr">
                      <a:solidFill>
                        <a:srgbClr val="CBC594"/>
                      </a:solidFill>
                      <a:prstDash val="solid"/>
                      <a:round/>
                      <a:headEnd type="none" w="med" len="med"/>
                      <a:tailEnd type="none" w="med" len="med"/>
                    </a:lnB>
                    <a:solidFill>
                      <a:srgbClr val="FFF7B8"/>
                    </a:solidFill>
                  </a:tcPr>
                </a:tc>
                <a:tc>
                  <a:txBody>
                    <a:bodyPr/>
                    <a:lstStyle/>
                    <a:p>
                      <a:pPr marL="0" indent="0">
                        <a:lnSpc>
                          <a:spcPts val="1820"/>
                        </a:lnSpc>
                        <a:buNone/>
                      </a:pPr>
                      <a:r>
                        <a:rPr lang="es-ES_tradnl" sz="1300" noProof="0" dirty="0">
                          <a:solidFill>
                            <a:srgbClr val="3C3C3B"/>
                          </a:solidFill>
                          <a:latin typeface="Roboto" pitchFamily="34" charset="0"/>
                          <a:ea typeface="Roboto" pitchFamily="34" charset="-122"/>
                          <a:cs typeface="Roboto" pitchFamily="34" charset="-120"/>
                        </a:rPr>
                        <a:t>Cuando se consumen pocas copias, o se sigue trabajando con los datos en el mundo cuántico.</a:t>
                      </a:r>
                      <a:endParaRPr lang="es-ES_tradnl" sz="1300" noProof="0" dirty="0">
                        <a:latin typeface="Roboto" charset="0"/>
                        <a:ea typeface="Roboto" charset="0"/>
                        <a:cs typeface="Roboto" charset="0"/>
                      </a:endParaRPr>
                    </a:p>
                  </a:txBody>
                  <a:tcPr marL="57785" marR="57785" marT="57785" marB="57785">
                    <a:lnL w="12700" cap="flat" cmpd="sng" algn="ctr">
                      <a:solidFill>
                        <a:srgbClr val="CBC594"/>
                      </a:solidFill>
                      <a:prstDash val="solid"/>
                      <a:round/>
                      <a:headEnd type="none" w="med" len="med"/>
                      <a:tailEnd type="none" w="med" len="med"/>
                    </a:lnL>
                    <a:lnR w="12700" cap="flat" cmpd="sng" algn="ctr">
                      <a:solidFill>
                        <a:srgbClr val="CBC594"/>
                      </a:solidFill>
                      <a:prstDash val="solid"/>
                      <a:round/>
                      <a:headEnd type="none" w="med" len="med"/>
                      <a:tailEnd type="none" w="med" len="med"/>
                    </a:lnR>
                    <a:lnT w="12700" cap="flat" cmpd="sng" algn="ctr">
                      <a:solidFill>
                        <a:srgbClr val="C3C3C1"/>
                      </a:solidFill>
                      <a:prstDash val="solid"/>
                      <a:round/>
                      <a:headEnd type="none" w="med" len="med"/>
                      <a:tailEnd type="none" w="med" len="med"/>
                    </a:lnT>
                    <a:lnB w="12700" cap="flat" cmpd="sng" algn="ctr">
                      <a:solidFill>
                        <a:srgbClr val="CBC594"/>
                      </a:solidFill>
                      <a:prstDash val="solid"/>
                      <a:round/>
                      <a:headEnd type="none" w="med" len="med"/>
                      <a:tailEnd type="none" w="med" len="med"/>
                    </a:lnB>
                    <a:solidFill>
                      <a:srgbClr val="FFF7B8"/>
                    </a:solidFill>
                  </a:tcPr>
                </a:tc>
                <a:tc>
                  <a:txBody>
                    <a:bodyPr/>
                    <a:lstStyle/>
                    <a:p>
                      <a:pPr marL="0" indent="0">
                        <a:lnSpc>
                          <a:spcPts val="1820"/>
                        </a:lnSpc>
                        <a:buNone/>
                      </a:pPr>
                      <a:r>
                        <a:rPr lang="es-ES_tradnl" sz="1300" noProof="0" dirty="0">
                          <a:solidFill>
                            <a:srgbClr val="3C3C3B"/>
                          </a:solidFill>
                          <a:latin typeface="Roboto" pitchFamily="34" charset="0"/>
                          <a:ea typeface="Roboto" pitchFamily="34" charset="-122"/>
                          <a:cs typeface="Roboto" pitchFamily="34" charset="-120"/>
                        </a:rPr>
                        <a:t>Cuando se necesitan estadísticas sobre datos clásicos (muchas muestras).</a:t>
                      </a:r>
                      <a:endParaRPr lang="es-ES_tradnl" sz="1300" noProof="0" dirty="0">
                        <a:latin typeface="Roboto" charset="0"/>
                        <a:ea typeface="Roboto" charset="0"/>
                        <a:cs typeface="Roboto" charset="0"/>
                      </a:endParaRPr>
                    </a:p>
                  </a:txBody>
                  <a:tcPr marL="57785" marR="57785" marT="57785" marB="57785">
                    <a:lnL w="12700" cap="flat" cmpd="sng" algn="ctr">
                      <a:solidFill>
                        <a:srgbClr val="CBC594"/>
                      </a:solidFill>
                      <a:prstDash val="solid"/>
                      <a:round/>
                      <a:headEnd type="none" w="med" len="med"/>
                      <a:tailEnd type="none" w="med" len="med"/>
                    </a:lnL>
                    <a:lnR w="12700" cap="flat" cmpd="sng" algn="ctr">
                      <a:solidFill>
                        <a:srgbClr val="CBC594"/>
                      </a:solidFill>
                      <a:prstDash val="solid"/>
                      <a:round/>
                      <a:headEnd type="none" w="med" len="med"/>
                      <a:tailEnd type="none" w="med" len="med"/>
                    </a:lnR>
                    <a:lnT w="12700" cap="flat" cmpd="sng" algn="ctr">
                      <a:solidFill>
                        <a:srgbClr val="C3C3C1"/>
                      </a:solidFill>
                      <a:prstDash val="solid"/>
                      <a:round/>
                      <a:headEnd type="none" w="med" len="med"/>
                      <a:tailEnd type="none" w="med" len="med"/>
                    </a:lnT>
                    <a:lnB w="12700" cap="flat" cmpd="sng" algn="ctr">
                      <a:solidFill>
                        <a:srgbClr val="CBC594"/>
                      </a:solidFill>
                      <a:prstDash val="solid"/>
                      <a:round/>
                      <a:headEnd type="none" w="med" len="med"/>
                      <a:tailEnd type="none" w="med" len="med"/>
                    </a:lnB>
                    <a:solidFill>
                      <a:srgbClr val="FFF7B8"/>
                    </a:solidFill>
                  </a:tcPr>
                </a:tc>
                <a:extLst>
                  <a:ext uri="{0D108BD9-81ED-4DB2-BD59-A6C34878D82A}">
                    <a16:rowId xmlns:a16="http://schemas.microsoft.com/office/drawing/2014/main" val="10003"/>
                  </a:ext>
                </a:extLst>
              </a:tr>
            </a:tbl>
          </a:graphicData>
        </a:graphic>
      </p:graphicFrame>
      <p:sp>
        <p:nvSpPr>
          <p:cNvPr id="9" name="Shape 5"/>
          <p:cNvSpPr/>
          <p:nvPr/>
        </p:nvSpPr>
        <p:spPr>
          <a:xfrm>
            <a:off x="838200" y="4626868"/>
            <a:ext cx="0" cy="248841"/>
          </a:xfrm>
          <a:prstGeom prst="line">
            <a:avLst/>
          </a:prstGeom>
          <a:noFill/>
          <a:ln w="50800">
            <a:solidFill>
              <a:srgbClr val="FFEE00"/>
            </a:solidFill>
            <a:prstDash val="solid"/>
          </a:ln>
        </p:spPr>
        <p:txBody>
          <a:bodyPr/>
          <a:lstStyle/>
          <a:p>
            <a:endParaRPr lang="es-ES_tradnl" noProof="0" dirty="0"/>
          </a:p>
        </p:txBody>
      </p:sp>
      <p:sp>
        <p:nvSpPr>
          <p:cNvPr id="10" name="Text 6"/>
          <p:cNvSpPr/>
          <p:nvPr/>
        </p:nvSpPr>
        <p:spPr>
          <a:xfrm>
            <a:off x="990600" y="4626868"/>
            <a:ext cx="10700258" cy="274241"/>
          </a:xfrm>
          <a:prstGeom prst="rect">
            <a:avLst/>
          </a:prstGeom>
          <a:noFill/>
          <a:ln/>
        </p:spPr>
        <p:txBody>
          <a:bodyPr wrap="square" lIns="0" tIns="0" rIns="0" bIns="0" rtlCol="0" anchor="t">
            <a:normAutofit/>
          </a:bodyPr>
          <a:lstStyle/>
          <a:p>
            <a:pPr marL="0" indent="0" algn="l">
              <a:lnSpc>
                <a:spcPts val="1960"/>
              </a:lnSpc>
              <a:buNone/>
            </a:pPr>
            <a:r>
              <a:rPr lang="es-ES_tradnl" sz="1400" b="1" noProof="0" dirty="0">
                <a:solidFill>
                  <a:srgbClr val="3C3C3B"/>
                </a:solidFill>
                <a:latin typeface="Roboto" pitchFamily="34" charset="0"/>
                <a:ea typeface="Roboto" pitchFamily="34" charset="-122"/>
                <a:cs typeface="Roboto" pitchFamily="34" charset="-120"/>
              </a:rPr>
              <a:t>Matiz:</a:t>
            </a:r>
            <a:r>
              <a:rPr lang="es-ES_tradnl" sz="1400" noProof="0" dirty="0">
                <a:solidFill>
                  <a:srgbClr val="3C3C3B"/>
                </a:solidFill>
                <a:latin typeface="Roboto" pitchFamily="34" charset="0"/>
                <a:ea typeface="Roboto" pitchFamily="34" charset="-122"/>
                <a:cs typeface="Roboto" pitchFamily="34" charset="-120"/>
              </a:rPr>
              <a:t> con 1 </a:t>
            </a:r>
            <a:r>
              <a:rPr lang="es-ES_tradnl" sz="1400" noProof="0" dirty="0" err="1">
                <a:solidFill>
                  <a:srgbClr val="3C3C3B"/>
                </a:solidFill>
                <a:latin typeface="Roboto" pitchFamily="34" charset="0"/>
                <a:ea typeface="Roboto" pitchFamily="34" charset="-122"/>
                <a:cs typeface="Roboto" pitchFamily="34" charset="-120"/>
              </a:rPr>
              <a:t>qubit</a:t>
            </a:r>
            <a:r>
              <a:rPr lang="es-ES_tradnl" sz="1400" noProof="0" dirty="0">
                <a:solidFill>
                  <a:srgbClr val="3C3C3B"/>
                </a:solidFill>
                <a:latin typeface="Roboto" pitchFamily="34" charset="0"/>
                <a:ea typeface="Roboto" pitchFamily="34" charset="-122"/>
                <a:cs typeface="Roboto" pitchFamily="34" charset="-120"/>
              </a:rPr>
              <a:t> los dos diseños son comparables. La ventaja de L aparece y crece con la dimensión.</a:t>
            </a:r>
            <a:endParaRPr lang="es-ES_tradnl" sz="1400" noProof="0" dirty="0"/>
          </a:p>
        </p:txBody>
      </p:sp>
      <p:sp>
        <p:nvSpPr>
          <p:cNvPr id="12" name="Text 8"/>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a:solidFill>
                  <a:srgbClr val="1D1D1B"/>
                </a:solidFill>
                <a:latin typeface="Roboto" pitchFamily="34" charset="0"/>
                <a:ea typeface="Roboto" pitchFamily="34" charset="-122"/>
                <a:cs typeface="Roboto" pitchFamily="34" charset="-120"/>
              </a:rPr>
              <a:t>43</a:t>
            </a:r>
            <a:endParaRPr lang="es-ES_tradnl" sz="1200" noProof="0" dirty="0"/>
          </a:p>
        </p:txBody>
      </p:sp>
    </p:spTree>
    <p:extLst>
      <p:ext uri="{BB962C8B-B14F-4D97-AF65-F5344CB8AC3E}">
        <p14:creationId xmlns:p14="http://schemas.microsoft.com/office/powerpoint/2010/main" val="414457876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s-ES_tradnl" noProof="0" dirty="0"/>
          </a:p>
        </p:txBody>
      </p:sp>
      <p:sp>
        <p:nvSpPr>
          <p:cNvPr id="3" name="Shape 1"/>
          <p:cNvSpPr/>
          <p:nvPr/>
        </p:nvSpPr>
        <p:spPr>
          <a:xfrm>
            <a:off x="775662" y="355600"/>
            <a:ext cx="455277" cy="228600"/>
          </a:xfrm>
          <a:prstGeom prst="rect">
            <a:avLst/>
          </a:prstGeom>
          <a:solidFill>
            <a:srgbClr val="FFEE00"/>
          </a:solidFill>
          <a:ln/>
        </p:spPr>
        <p:txBody>
          <a:bodyPr/>
          <a:lstStyle/>
          <a:p>
            <a:endParaRPr lang="es-ES_tradnl" noProof="0" dirty="0"/>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s-ES_tradnl" sz="1200" b="1" noProof="0" dirty="0">
                <a:solidFill>
                  <a:srgbClr val="1D1D1B"/>
                </a:solidFill>
                <a:latin typeface="DM Sans" pitchFamily="34" charset="0"/>
                <a:ea typeface="DM Sans" pitchFamily="34" charset="-122"/>
                <a:cs typeface="DM Sans" pitchFamily="34" charset="-120"/>
              </a:rPr>
              <a:t>V</a:t>
            </a:r>
            <a:endParaRPr lang="es-ES_tradnl" sz="1200" noProof="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s-ES_tradnl" sz="1200" kern="0" spc="150" noProof="0" dirty="0">
                <a:solidFill>
                  <a:srgbClr val="6E6E6C"/>
                </a:solidFill>
                <a:latin typeface="Roboto" pitchFamily="34" charset="0"/>
                <a:ea typeface="Roboto" pitchFamily="34" charset="-122"/>
                <a:cs typeface="Roboto" pitchFamily="34" charset="-120"/>
              </a:rPr>
              <a:t>HARDWARE Y CIERRE</a:t>
            </a:r>
            <a:endParaRPr lang="es-ES_tradnl" sz="1200" noProof="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s-ES_tradnl" sz="2800" b="1" i="0" kern="0" spc="-50" noProof="0" dirty="0">
                <a:solidFill>
                  <a:srgbClr val="1D1D1B"/>
                </a:solidFill>
                <a:latin typeface="DM Sans" pitchFamily="34" charset="0"/>
                <a:ea typeface="DM Sans" pitchFamily="34" charset="-122"/>
                <a:cs typeface="DM Sans" pitchFamily="34" charset="-120"/>
              </a:rPr>
              <a:t>Pasos a seguir</a:t>
            </a:r>
            <a:endParaRPr lang="es-ES_tradnl" sz="2800" noProof="0" dirty="0"/>
          </a:p>
        </p:txBody>
      </p:sp>
      <p:sp>
        <p:nvSpPr>
          <p:cNvPr id="8" name="Shape 5"/>
          <p:cNvSpPr/>
          <p:nvPr/>
        </p:nvSpPr>
        <p:spPr>
          <a:xfrm>
            <a:off x="812800" y="1457920"/>
            <a:ext cx="5207000" cy="1516063"/>
          </a:xfrm>
          <a:prstGeom prst="roundRect">
            <a:avLst>
              <a:gd name="adj" fmla="val 6702"/>
            </a:avLst>
          </a:prstGeom>
          <a:solidFill>
            <a:srgbClr val="F4F4F2"/>
          </a:solidFill>
          <a:ln/>
        </p:spPr>
        <p:txBody>
          <a:bodyPr/>
          <a:lstStyle/>
          <a:p>
            <a:endParaRPr lang="es-ES_tradnl" noProof="0" dirty="0"/>
          </a:p>
        </p:txBody>
      </p:sp>
      <p:sp>
        <p:nvSpPr>
          <p:cNvPr id="9" name="Text 6"/>
          <p:cNvSpPr/>
          <p:nvPr/>
        </p:nvSpPr>
        <p:spPr>
          <a:xfrm>
            <a:off x="1041400" y="1661120"/>
            <a:ext cx="406400" cy="406400"/>
          </a:xfrm>
          <a:prstGeom prst="rect">
            <a:avLst/>
          </a:prstGeom>
          <a:solidFill>
            <a:srgbClr val="FFEE00"/>
          </a:solidFill>
          <a:ln/>
        </p:spPr>
        <p:txBody>
          <a:bodyPr wrap="square" lIns="0" tIns="0" rIns="0" bIns="0" rtlCol="0" anchor="t">
            <a:normAutofit/>
          </a:bodyPr>
          <a:lstStyle/>
          <a:p>
            <a:pPr marL="0" indent="0" algn="ctr">
              <a:lnSpc>
                <a:spcPts val="3204"/>
              </a:lnSpc>
              <a:buNone/>
            </a:pPr>
            <a:r>
              <a:rPr lang="es-ES_tradnl" sz="1800" b="1" noProof="0" dirty="0">
                <a:solidFill>
                  <a:srgbClr val="1D1D1B"/>
                </a:solidFill>
                <a:latin typeface="DM Sans" pitchFamily="34" charset="0"/>
                <a:ea typeface="DM Sans" pitchFamily="34" charset="-122"/>
                <a:cs typeface="DM Sans" pitchFamily="34" charset="-120"/>
              </a:rPr>
              <a:t>1</a:t>
            </a:r>
            <a:endParaRPr lang="es-ES_tradnl" sz="1800" noProof="0" dirty="0"/>
          </a:p>
        </p:txBody>
      </p:sp>
      <p:sp>
        <p:nvSpPr>
          <p:cNvPr id="10" name="Text 7"/>
          <p:cNvSpPr/>
          <p:nvPr/>
        </p:nvSpPr>
        <p:spPr>
          <a:xfrm>
            <a:off x="1625600" y="1661120"/>
            <a:ext cx="4290568" cy="573881"/>
          </a:xfrm>
          <a:prstGeom prst="rect">
            <a:avLst/>
          </a:prstGeom>
          <a:noFill/>
          <a:ln/>
        </p:spPr>
        <p:txBody>
          <a:bodyPr wrap="square" lIns="0" tIns="0" rIns="0" bIns="0" rtlCol="0" anchor="t">
            <a:normAutofit/>
          </a:bodyPr>
          <a:lstStyle/>
          <a:p>
            <a:pPr marL="0" indent="0" algn="l">
              <a:lnSpc>
                <a:spcPts val="2160"/>
              </a:lnSpc>
              <a:buNone/>
            </a:pPr>
            <a:r>
              <a:rPr lang="es-ES_tradnl" sz="1800" b="1" noProof="0" dirty="0">
                <a:solidFill>
                  <a:srgbClr val="1D1D1B"/>
                </a:solidFill>
                <a:latin typeface="DM Sans" pitchFamily="34" charset="0"/>
                <a:ea typeface="DM Sans" pitchFamily="34" charset="-122"/>
                <a:cs typeface="DM Sans" pitchFamily="34" charset="-120"/>
              </a:rPr>
              <a:t>Prueba de concepto en hardware real</a:t>
            </a:r>
            <a:endParaRPr lang="es-ES_tradnl" sz="1800" noProof="0" dirty="0"/>
          </a:p>
        </p:txBody>
      </p:sp>
      <p:sp>
        <p:nvSpPr>
          <p:cNvPr id="11" name="Text 8"/>
          <p:cNvSpPr/>
          <p:nvPr/>
        </p:nvSpPr>
        <p:spPr>
          <a:xfrm>
            <a:off x="1625600" y="2273102"/>
            <a:ext cx="4290568" cy="523081"/>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En el computador de 2 </a:t>
            </a:r>
            <a:r>
              <a:rPr lang="es-ES_tradnl" sz="1400" noProof="0" dirty="0" err="1">
                <a:solidFill>
                  <a:srgbClr val="3C3C3B"/>
                </a:solidFill>
                <a:latin typeface="Roboto" pitchFamily="34" charset="0"/>
                <a:ea typeface="Roboto" pitchFamily="34" charset="-122"/>
                <a:cs typeface="Roboto" pitchFamily="34" charset="-120"/>
              </a:rPr>
              <a:t>qubits</a:t>
            </a:r>
            <a:r>
              <a:rPr lang="es-ES_tradnl" sz="1400" noProof="0" dirty="0">
                <a:solidFill>
                  <a:srgbClr val="3C3C3B"/>
                </a:solidFill>
                <a:latin typeface="Roboto" pitchFamily="34" charset="0"/>
                <a:ea typeface="Roboto" pitchFamily="34" charset="-122"/>
                <a:cs typeface="Roboto" pitchFamily="34" charset="-120"/>
              </a:rPr>
              <a:t> de la universidad: GAD y, posiblemente, el </a:t>
            </a:r>
            <a:r>
              <a:rPr lang="es-ES_tradnl" sz="1400" noProof="0" dirty="0" err="1">
                <a:solidFill>
                  <a:srgbClr val="3C3C3B"/>
                </a:solidFill>
                <a:latin typeface="Roboto" pitchFamily="34" charset="0"/>
                <a:ea typeface="Roboto" pitchFamily="34" charset="-122"/>
                <a:cs typeface="Roboto" pitchFamily="34" charset="-120"/>
              </a:rPr>
              <a:t>depolarizante</a:t>
            </a:r>
            <a:r>
              <a:rPr lang="es-ES_tradnl" sz="1400" noProof="0" dirty="0">
                <a:solidFill>
                  <a:srgbClr val="3C3C3B"/>
                </a:solidFill>
                <a:latin typeface="Roboto" pitchFamily="34" charset="0"/>
                <a:ea typeface="Roboto" pitchFamily="34" charset="-122"/>
                <a:cs typeface="Roboto" pitchFamily="34" charset="-120"/>
              </a:rPr>
              <a:t>.</a:t>
            </a:r>
            <a:endParaRPr lang="es-ES_tradnl" sz="1400" noProof="0" dirty="0"/>
          </a:p>
        </p:txBody>
      </p:sp>
      <p:sp>
        <p:nvSpPr>
          <p:cNvPr id="12" name="Shape 9"/>
          <p:cNvSpPr/>
          <p:nvPr/>
        </p:nvSpPr>
        <p:spPr>
          <a:xfrm>
            <a:off x="6172200" y="1457920"/>
            <a:ext cx="5207000" cy="1516063"/>
          </a:xfrm>
          <a:prstGeom prst="roundRect">
            <a:avLst>
              <a:gd name="adj" fmla="val 6702"/>
            </a:avLst>
          </a:prstGeom>
          <a:solidFill>
            <a:srgbClr val="F4F4F2"/>
          </a:solidFill>
          <a:ln/>
        </p:spPr>
        <p:txBody>
          <a:bodyPr/>
          <a:lstStyle/>
          <a:p>
            <a:endParaRPr lang="es-ES_tradnl" noProof="0" dirty="0"/>
          </a:p>
        </p:txBody>
      </p:sp>
      <p:sp>
        <p:nvSpPr>
          <p:cNvPr id="13" name="Text 10"/>
          <p:cNvSpPr/>
          <p:nvPr/>
        </p:nvSpPr>
        <p:spPr>
          <a:xfrm>
            <a:off x="6400800" y="1661120"/>
            <a:ext cx="406400" cy="406400"/>
          </a:xfrm>
          <a:prstGeom prst="rect">
            <a:avLst/>
          </a:prstGeom>
          <a:solidFill>
            <a:srgbClr val="FFEE00"/>
          </a:solidFill>
          <a:ln/>
        </p:spPr>
        <p:txBody>
          <a:bodyPr wrap="square" lIns="0" tIns="0" rIns="0" bIns="0" rtlCol="0" anchor="t">
            <a:normAutofit/>
          </a:bodyPr>
          <a:lstStyle/>
          <a:p>
            <a:pPr marL="0" indent="0" algn="ctr">
              <a:lnSpc>
                <a:spcPts val="3204"/>
              </a:lnSpc>
              <a:buNone/>
            </a:pPr>
            <a:r>
              <a:rPr lang="es-ES_tradnl" sz="1800" b="1" noProof="0" dirty="0">
                <a:solidFill>
                  <a:srgbClr val="1D1D1B"/>
                </a:solidFill>
                <a:latin typeface="DM Sans" pitchFamily="34" charset="0"/>
                <a:ea typeface="DM Sans" pitchFamily="34" charset="-122"/>
                <a:cs typeface="DM Sans" pitchFamily="34" charset="-120"/>
              </a:rPr>
              <a:t>2</a:t>
            </a:r>
            <a:endParaRPr lang="es-ES_tradnl" sz="1800" noProof="0" dirty="0"/>
          </a:p>
        </p:txBody>
      </p:sp>
      <p:sp>
        <p:nvSpPr>
          <p:cNvPr id="14" name="Text 11"/>
          <p:cNvSpPr/>
          <p:nvPr/>
        </p:nvSpPr>
        <p:spPr>
          <a:xfrm>
            <a:off x="6985000" y="1661120"/>
            <a:ext cx="4290568" cy="299641"/>
          </a:xfrm>
          <a:prstGeom prst="rect">
            <a:avLst/>
          </a:prstGeom>
          <a:noFill/>
          <a:ln/>
        </p:spPr>
        <p:txBody>
          <a:bodyPr wrap="square" lIns="0" tIns="0" rIns="0" bIns="0" rtlCol="0" anchor="t">
            <a:normAutofit/>
          </a:bodyPr>
          <a:lstStyle/>
          <a:p>
            <a:pPr marL="0" indent="0" algn="l">
              <a:lnSpc>
                <a:spcPts val="2160"/>
              </a:lnSpc>
              <a:buNone/>
            </a:pPr>
            <a:r>
              <a:rPr lang="es-ES_tradnl" sz="1800" b="1" noProof="0" dirty="0">
                <a:solidFill>
                  <a:srgbClr val="1D1D1B"/>
                </a:solidFill>
                <a:latin typeface="DM Sans" pitchFamily="34" charset="0"/>
                <a:ea typeface="DM Sans" pitchFamily="34" charset="-122"/>
                <a:cs typeface="DM Sans" pitchFamily="34" charset="-120"/>
              </a:rPr>
              <a:t>Variables numéricas</a:t>
            </a:r>
            <a:endParaRPr lang="es-ES_tradnl" sz="1800" noProof="0" dirty="0"/>
          </a:p>
        </p:txBody>
      </p:sp>
      <p:sp>
        <p:nvSpPr>
          <p:cNvPr id="15" name="Text 12"/>
          <p:cNvSpPr/>
          <p:nvPr/>
        </p:nvSpPr>
        <p:spPr>
          <a:xfrm>
            <a:off x="6985000" y="1998861"/>
            <a:ext cx="4290568" cy="771922"/>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Qué estadística entrega la medición en </a:t>
            </a:r>
            <a:r>
              <a:rPr lang="es-ES_tradnl" sz="1400" noProof="0" dirty="0" err="1">
                <a:solidFill>
                  <a:srgbClr val="293470"/>
                </a:solidFill>
                <a:latin typeface="Roboto" pitchFamily="34" charset="0"/>
                <a:ea typeface="Roboto" pitchFamily="34" charset="-122"/>
                <a:cs typeface="Roboto" pitchFamily="34" charset="-120"/>
              </a:rPr>
              <a:t>credit_amount</a:t>
            </a:r>
            <a:r>
              <a:rPr lang="es-ES_tradnl" sz="1400" noProof="0" dirty="0">
                <a:solidFill>
                  <a:srgbClr val="3C3C3B"/>
                </a:solidFill>
                <a:latin typeface="Roboto" pitchFamily="34" charset="0"/>
                <a:ea typeface="Roboto" pitchFamily="34" charset="-122"/>
                <a:cs typeface="Roboto" pitchFamily="34" charset="-120"/>
              </a:rPr>
              <a:t>: RY(</a:t>
            </a:r>
            <a:r>
              <a:rPr lang="es-ES_tradnl" sz="1400" noProof="0" dirty="0" err="1">
                <a:solidFill>
                  <a:srgbClr val="3C3C3B"/>
                </a:solidFill>
                <a:latin typeface="Roboto" pitchFamily="34" charset="0"/>
                <a:ea typeface="Roboto" pitchFamily="34" charset="-122"/>
                <a:cs typeface="Roboto" pitchFamily="34" charset="-120"/>
              </a:rPr>
              <a:t>θ</a:t>
            </a:r>
            <a:r>
              <a:rPr lang="es-ES_tradnl" sz="1400" noProof="0" dirty="0">
                <a:solidFill>
                  <a:srgbClr val="3C3C3B"/>
                </a:solidFill>
                <a:latin typeface="Roboto" pitchFamily="34" charset="0"/>
                <a:ea typeface="Roboto" pitchFamily="34" charset="-122"/>
                <a:cs typeface="Roboto" pitchFamily="34" charset="-120"/>
              </a:rPr>
              <a:t>) medido en Z da sin²(</a:t>
            </a:r>
            <a:r>
              <a:rPr lang="es-ES_tradnl" sz="1400" noProof="0" dirty="0" err="1">
                <a:solidFill>
                  <a:srgbClr val="3C3C3B"/>
                </a:solidFill>
                <a:latin typeface="Roboto" pitchFamily="34" charset="0"/>
                <a:ea typeface="Roboto" pitchFamily="34" charset="-122"/>
                <a:cs typeface="Roboto" pitchFamily="34" charset="-120"/>
              </a:rPr>
              <a:t>θ</a:t>
            </a:r>
            <a:r>
              <a:rPr lang="es-ES_tradnl" sz="1400" noProof="0" dirty="0">
                <a:solidFill>
                  <a:srgbClr val="3C3C3B"/>
                </a:solidFill>
                <a:latin typeface="Roboto" pitchFamily="34" charset="0"/>
                <a:ea typeface="Roboto" pitchFamily="34" charset="-122"/>
                <a:cs typeface="Roboto" pitchFamily="34" charset="-120"/>
              </a:rPr>
              <a:t>/2), no el valor original. </a:t>
            </a:r>
            <a:endParaRPr lang="es-ES_tradnl" sz="1400" noProof="0" dirty="0"/>
          </a:p>
        </p:txBody>
      </p:sp>
      <p:sp>
        <p:nvSpPr>
          <p:cNvPr id="20" name="Shape 17"/>
          <p:cNvSpPr/>
          <p:nvPr/>
        </p:nvSpPr>
        <p:spPr>
          <a:xfrm>
            <a:off x="812800" y="3126383"/>
            <a:ext cx="10566400" cy="1241822"/>
          </a:xfrm>
          <a:prstGeom prst="roundRect">
            <a:avLst>
              <a:gd name="adj" fmla="val 8182"/>
            </a:avLst>
          </a:prstGeom>
          <a:solidFill>
            <a:srgbClr val="F4F4F2"/>
          </a:solidFill>
          <a:ln/>
        </p:spPr>
        <p:txBody>
          <a:bodyPr/>
          <a:lstStyle/>
          <a:p>
            <a:endParaRPr lang="es-ES_tradnl" noProof="0" dirty="0"/>
          </a:p>
        </p:txBody>
      </p:sp>
      <p:sp>
        <p:nvSpPr>
          <p:cNvPr id="21" name="Text 18"/>
          <p:cNvSpPr/>
          <p:nvPr/>
        </p:nvSpPr>
        <p:spPr>
          <a:xfrm>
            <a:off x="1041400" y="3329583"/>
            <a:ext cx="406400" cy="406400"/>
          </a:xfrm>
          <a:prstGeom prst="rect">
            <a:avLst/>
          </a:prstGeom>
          <a:solidFill>
            <a:srgbClr val="FFEE00"/>
          </a:solidFill>
          <a:ln/>
        </p:spPr>
        <p:txBody>
          <a:bodyPr wrap="square" lIns="0" tIns="0" rIns="0" bIns="0" rtlCol="0" anchor="t">
            <a:normAutofit/>
          </a:bodyPr>
          <a:lstStyle/>
          <a:p>
            <a:pPr marL="0" indent="0" algn="ctr">
              <a:lnSpc>
                <a:spcPts val="3204"/>
              </a:lnSpc>
              <a:buNone/>
            </a:pPr>
            <a:r>
              <a:rPr lang="es-ES_tradnl" b="1" noProof="0" dirty="0">
                <a:solidFill>
                  <a:srgbClr val="1D1D1B"/>
                </a:solidFill>
                <a:latin typeface="DM Sans" pitchFamily="34" charset="0"/>
              </a:rPr>
              <a:t>3</a:t>
            </a:r>
            <a:endParaRPr lang="es-ES_tradnl" sz="1800" noProof="0" dirty="0"/>
          </a:p>
        </p:txBody>
      </p:sp>
      <p:sp>
        <p:nvSpPr>
          <p:cNvPr id="22" name="Text 19"/>
          <p:cNvSpPr/>
          <p:nvPr/>
        </p:nvSpPr>
        <p:spPr>
          <a:xfrm>
            <a:off x="1625600" y="3411701"/>
            <a:ext cx="4290568" cy="299641"/>
          </a:xfrm>
          <a:prstGeom prst="rect">
            <a:avLst/>
          </a:prstGeom>
          <a:noFill/>
          <a:ln/>
        </p:spPr>
        <p:txBody>
          <a:bodyPr wrap="square" lIns="0" tIns="0" rIns="0" bIns="0" rtlCol="0" anchor="t">
            <a:normAutofit/>
          </a:bodyPr>
          <a:lstStyle/>
          <a:p>
            <a:pPr marL="0" indent="0" algn="l">
              <a:lnSpc>
                <a:spcPts val="2160"/>
              </a:lnSpc>
              <a:buNone/>
            </a:pPr>
            <a:r>
              <a:rPr lang="es-ES_tradnl" sz="1800" b="1" noProof="0" dirty="0">
                <a:solidFill>
                  <a:srgbClr val="1D1D1B"/>
                </a:solidFill>
                <a:latin typeface="DM Sans" pitchFamily="34" charset="0"/>
                <a:ea typeface="DM Sans" pitchFamily="34" charset="-122"/>
                <a:cs typeface="DM Sans" pitchFamily="34" charset="-120"/>
              </a:rPr>
              <a:t>Documentar</a:t>
            </a:r>
            <a:endParaRPr lang="es-ES_tradnl" sz="1800" noProof="0" dirty="0"/>
          </a:p>
        </p:txBody>
      </p:sp>
      <p:sp>
        <p:nvSpPr>
          <p:cNvPr id="23" name="Text 20"/>
          <p:cNvSpPr/>
          <p:nvPr/>
        </p:nvSpPr>
        <p:spPr>
          <a:xfrm>
            <a:off x="1625600" y="3711342"/>
            <a:ext cx="4290568" cy="523081"/>
          </a:xfrm>
          <a:prstGeom prst="rect">
            <a:avLst/>
          </a:prstGeom>
          <a:noFill/>
          <a:ln/>
        </p:spPr>
        <p:txBody>
          <a:bodyPr wrap="square" lIns="0" tIns="0" rIns="0" bIns="0" rtlCol="0" anchor="t">
            <a:normAutofit/>
          </a:bodyPr>
          <a:lstStyle/>
          <a:p>
            <a:pPr marL="0" indent="0" algn="l">
              <a:lnSpc>
                <a:spcPts val="1960"/>
              </a:lnSpc>
              <a:buNone/>
            </a:pPr>
            <a:r>
              <a:rPr lang="es-ES_tradnl" sz="1400" noProof="0" dirty="0">
                <a:solidFill>
                  <a:srgbClr val="3C3C3B"/>
                </a:solidFill>
                <a:latin typeface="Roboto" pitchFamily="34" charset="0"/>
                <a:ea typeface="Roboto" pitchFamily="34" charset="-122"/>
                <a:cs typeface="Roboto" pitchFamily="34" charset="-120"/>
              </a:rPr>
              <a:t>En la tesis, los dos modelos de publicación (conjunto y por columna) y por qué se usa cada uno.</a:t>
            </a:r>
            <a:endParaRPr lang="es-ES_tradnl" sz="1400" noProof="0" dirty="0"/>
          </a:p>
        </p:txBody>
      </p:sp>
      <p:sp>
        <p:nvSpPr>
          <p:cNvPr id="25" name="Text 22"/>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s-ES_tradnl" sz="1200" b="1" noProof="0">
                <a:solidFill>
                  <a:srgbClr val="1D1D1B"/>
                </a:solidFill>
                <a:latin typeface="Roboto" pitchFamily="34" charset="0"/>
                <a:ea typeface="Roboto" pitchFamily="34" charset="-122"/>
                <a:cs typeface="Roboto" pitchFamily="34" charset="-120"/>
              </a:rPr>
              <a:t>44</a:t>
            </a:r>
            <a:endParaRPr lang="es-ES_tradnl" sz="1200" noProof="0" dirty="0"/>
          </a:p>
        </p:txBody>
      </p:sp>
    </p:spTree>
  </p:cSld>
  <p:clrMapOvr>
    <a:masterClrMapping/>
  </p:clrMapOvr>
</p:sld>
</file>

<file path=ppt/theme/theme1.xml><?xml version="1.0" encoding="utf-8"?>
<a:theme xmlns:a="http://schemas.openxmlformats.org/drawingml/2006/main" name="Avances semana 9">
  <a:themeElements>
    <a:clrScheme name="Avances semana 9">
      <a:dk1>
        <a:srgbClr val="3C3C3B"/>
      </a:dk1>
      <a:lt1>
        <a:srgbClr val="FFFFFF"/>
      </a:lt1>
      <a:dk2>
        <a:srgbClr val="6D6D6C"/>
      </a:dk2>
      <a:lt2>
        <a:srgbClr val="ECECEB"/>
      </a:lt2>
      <a:accent1>
        <a:srgbClr val="FFEE00"/>
      </a:accent1>
      <a:accent2>
        <a:srgbClr val="293470"/>
      </a:accent2>
      <a:accent3>
        <a:srgbClr val="1D1D1B"/>
      </a:accent3>
      <a:accent4>
        <a:srgbClr val="6E6E6C"/>
      </a:accent4>
      <a:accent5>
        <a:srgbClr val="D4D4D0"/>
      </a:accent5>
      <a:accent6>
        <a:srgbClr val="B9B9B5"/>
      </a:accent6>
      <a:hlink>
        <a:srgbClr val="0563C1"/>
      </a:hlink>
      <a:folHlink>
        <a:srgbClr val="954F72"/>
      </a:folHlink>
    </a:clrScheme>
    <a:fontScheme name="Avances semana 9">
      <a:majorFont>
        <a:latin typeface="DM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Robot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753DAF12-6D63-A94A-83F6-0AC0886F7DE8}">
  <we:reference id="wa200010001" version="1.0.0.1" store="en-US" storeType="OMEX"/>
  <we:alternateReferences>
    <we:reference id="wa200010001" version="1.0.0.1" store="en-US" storeType="OMEX"/>
  </we:alternateReferences>
  <we:properties>
    <we:property name="claude.fileId" value="&quot;4e18fe39-1550-4941-8f81-ad81de2fa9bf&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809</TotalTime>
  <Words>11994</Words>
  <Application>Microsoft Macintosh PowerPoint</Application>
  <PresentationFormat>Widescreen</PresentationFormat>
  <Paragraphs>901</Paragraphs>
  <Slides>43</Slides>
  <Notes>43</Notes>
  <HiddenSlides>6</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43</vt:i4>
      </vt:variant>
    </vt:vector>
  </HeadingPairs>
  <TitlesOfParts>
    <vt:vector size="48" baseType="lpstr">
      <vt:lpstr>Arial</vt:lpstr>
      <vt:lpstr>Cambria Math</vt:lpstr>
      <vt:lpstr>DM Sans</vt:lpstr>
      <vt:lpstr>Roboto</vt:lpstr>
      <vt:lpstr>Avances semana 9</vt:lpstr>
      <vt:lpstr>Avances Semana 10 REMASTERIZADO</vt:lpstr>
      <vt:lpstr>Hoja de ruta</vt:lpstr>
      <vt:lpstr>Dónde estábamos</vt:lpstr>
      <vt:lpstr>PowerPoint Presentation</vt:lpstr>
      <vt:lpstr>La cota experimental en tres mecanismos</vt:lpstr>
      <vt:lpstr>Conjunta contra por columna: el papel de D</vt:lpstr>
      <vt:lpstr>Con p = γ = 0.5: depolarizante &lt; PAD &lt; GAD</vt:lpstr>
      <vt:lpstr>La pregunta nueva</vt:lpstr>
      <vt:lpstr>Dos diseños para decuantizar: C y L</vt:lpstr>
      <vt:lpstr>PowerPoint Presentation</vt:lpstr>
      <vt:lpstr>PowerPoint Presentation</vt:lpstr>
      <vt:lpstr>El ε del diseño L en las variables categóricas</vt:lpstr>
      <vt:lpstr>Depolarizante por columna: ε en cada variable</vt:lpstr>
      <vt:lpstr>Dónde está la privacidad</vt:lpstr>
      <vt:lpstr>Cada medición consume una copia</vt:lpstr>
      <vt:lpstr>Medir el estado agregado = sortear una persona</vt:lpstr>
      <vt:lpstr>El límite de la codificación</vt:lpstr>
      <vt:lpstr>El ruido visto desde un qubit</vt:lpstr>
      <vt:lpstr>Corregir el centro, no la dispersión</vt:lpstr>
      <vt:lpstr>Una medición: lo que aprende el atacante</vt:lpstr>
      <vt:lpstr>Una medición inclina, pero no decide</vt:lpstr>
      <vt:lpstr>Una persona 10 veces contra 1000 personas una vez</vt:lpstr>
      <vt:lpstr>Con 1 qubit, ninguno domina</vt:lpstr>
      <vt:lpstr>Con 7 qubits, C se vuelve inutilizable</vt:lpstr>
      <vt:lpstr>Por qué escalan distinto</vt:lpstr>
      <vt:lpstr>Lo que decide no es cuántico contra clásico: es cuántas copias consume quien recibe el estado.</vt:lpstr>
      <vt:lpstr>La referencia es B, no el CSV</vt:lpstr>
      <vt:lpstr>Experimento de medición de ruido</vt:lpstr>
      <vt:lpstr>Qué significa medir</vt:lpstr>
      <vt:lpstr>Mezcla no es superposición</vt:lpstr>
      <vt:lpstr>Por qué alcanza con simular 1 qubit</vt:lpstr>
      <vt:lpstr>Resultados</vt:lpstr>
      <vt:lpstr>K par contra K impar</vt:lpstr>
      <vt:lpstr>Privacidad contra utilidad</vt:lpstr>
      <vt:lpstr>Experimento L de collateral</vt:lpstr>
      <vt:lpstr>Teoría contra simulación</vt:lpstr>
      <vt:lpstr>El histograma: mismo centro, más ancho</vt:lpstr>
      <vt:lpstr>Hardware y cierre</vt:lpstr>
      <vt:lpstr>En hardware, el ruido hay que construirlo</vt:lpstr>
      <vt:lpstr>Un circuito probado y un computador de 2 qubits</vt:lpstr>
      <vt:lpstr>Conclusiones</vt:lpstr>
      <vt:lpstr>Decuantizar: diseño C contra diseño L</vt:lpstr>
      <vt:lpstr>Pasos a seguir</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Avances semana 9</dc:title>
  <dc:subject/>
  <dc:creator/>
  <cp:lastModifiedBy>Tomas Sierra Sanchez</cp:lastModifiedBy>
  <cp:revision>8</cp:revision>
  <dcterms:created xsi:type="dcterms:W3CDTF">2026-10-14T00:32:46Z</dcterms:created>
  <dcterms:modified xsi:type="dcterms:W3CDTF">2026-10-20T22:00:52Z</dcterms:modified>
</cp:coreProperties>
</file>