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75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92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355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Presentar el experimento GAD 2×2: codificación por característica, ruido GAD y comparación entre el ε teórico y el ε medido.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Verificar en Encoder.py cómo se codifica credit_amount (un solo atributo con RY + RZ). La normalización de los numéricos se agregó después de la verificación a 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 elimina la fase global e^(−3πi/4). e^(3πi/2) = −i, por eso el estado es (|0⟩ − i|1⟩)/√2. Bloch: θ = π/2, φ = 3π/2.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 verificación a mano mostró que sin normalizar, RZ(24) da vueltas módulo 2π y el orden de los valores se pierde. Por eso se normaliza.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Como ρ − σᵢ escala con 1/N, las distancias de traza son del orden de 10⁻³, y ambos ε deberían ser pequeños.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 el experimento GAD se aplica al estado agregado ρ, no a una fila; el ejemplo de una fila es solo para mostrar el mecanismo. El ejemplo categórico está en z = 0, así que solo se ve la contracción en x, y. El numérico (z ≠ 0) mostrará además la contracción en 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Conclusión: el ruido sobre un estado producto es igual al producto de los ruidos por qubit. Esto justifica aplicar GAD columna por columna.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 preguntan por qué es válido sumar los ε: es el teorema de composición, no la proposición del producto tensorial.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 distancia de traza se mide sobre los estados sin ruido porque la cota teórica está en función de d antes del canal. dPD se ejecuta sobre los estados con ruido.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Ciclo externo por columna, ciclo interno leave-one-out por fila. Cada caja corresponde a una función de Encoder.py, QuantProcesses.py, NoiseMechanisms.py o ProportionalDistance.py.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Mostrar que el código reproduce exactamente el cálculo a mano. La verificación a mano además detectó la falta de normalización en la codificación numérica.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097280"/>
            <a:ext cx="4754880" cy="4754880"/>
          </a:xfrm>
          <a:prstGeom prst="ellipse">
            <a:avLst/>
          </a:prstGeom>
          <a:solidFill>
            <a:srgbClr val="16193B"/>
          </a:solidFill>
          <a:ln w="19050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" name="Shape 1"/>
          <p:cNvSpPr/>
          <p:nvPr/>
        </p:nvSpPr>
        <p:spPr>
          <a:xfrm>
            <a:off x="9052560" y="2011680"/>
            <a:ext cx="2926080" cy="2926080"/>
          </a:xfrm>
          <a:prstGeom prst="ellipse">
            <a:avLst/>
          </a:prstGeom>
          <a:solidFill>
            <a:srgbClr val="16193B"/>
          </a:solidFill>
          <a:ln w="19050">
            <a:solidFill>
              <a:srgbClr val="E08A2E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b="1" kern="0" spc="300" noProof="1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TESIS SEMANA 8</a:t>
            </a:r>
            <a:endParaRPr lang="es-ES_tradnl" sz="1400" noProof="1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40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 diferencial cuántica con Generalized Amplitude Damping</a:t>
            </a:r>
            <a:endParaRPr lang="es-ES_tradnl" sz="4000" noProof="1"/>
          </a:p>
        </p:txBody>
      </p:sp>
      <p:sp>
        <p:nvSpPr>
          <p:cNvPr id="6" name="Text 4"/>
          <p:cNvSpPr txBox="1"/>
          <p:nvPr/>
        </p:nvSpPr>
        <p:spPr>
          <a:xfrm>
            <a:off x="73152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2000" noProof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GAD 2×2 sobre el dataset German Credit Score</a:t>
            </a:r>
            <a:endParaRPr lang="es-ES_tradnl" sz="2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y codificación</a:t>
            </a:r>
            <a:endParaRPr lang="es-ES_tradnl" sz="3200" noProof="1"/>
          </a:p>
        </p:txBody>
      </p:sp>
      <p:sp>
        <p:nvSpPr>
          <p:cNvPr id="5" name="Text 3"/>
          <p:cNvSpPr txBox="1"/>
          <p:nvPr/>
        </p:nvSpPr>
        <p:spPr>
          <a:xfrm>
            <a:off x="8686800" y="502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1100" kern="0" spc="2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s-ES_tradnl" sz="1100" noProof="1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8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Credit · 1000 filas · 9 atributos → 7 qubits (uno por columna)</a:t>
            </a:r>
            <a:endParaRPr lang="es-ES_tradnl" sz="1800" noProof="1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681982"/>
              </p:ext>
            </p:extLst>
          </p:nvPr>
        </p:nvGraphicFramePr>
        <p:xfrm>
          <a:off x="548640" y="1874520"/>
          <a:ext cx="7406640" cy="380390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5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Atributo(s)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5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5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Compuertas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collateral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Categórico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 + RZ(2πk/V)</a:t>
                      </a:r>
                      <a:endParaRPr lang="es-ES_tradnl" sz="1400" noProof="1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Categórico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 + RZ(2πk/V)</a:t>
                      </a:r>
                      <a:endParaRPr lang="es-ES_tradnl" sz="1400" noProof="1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credit_history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Categórico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 + RZ(2πk/V)</a:t>
                      </a:r>
                      <a:endParaRPr lang="es-ES_tradnl" sz="1400" noProof="1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Categórico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 + RZ(2πk/V)</a:t>
                      </a:r>
                      <a:endParaRPr lang="es-ES_tradnl" sz="1400" noProof="1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status_account + month_duration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E0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Numérico (dense angle)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RY(θ) + RZ(φ)</a:t>
                      </a:r>
                      <a:endParaRPr lang="es-ES_tradnl" sz="1400" noProof="1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status_savings + years_employment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E0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Numérico (dense angle)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RY(θ) + RZ(φ)</a:t>
                      </a:r>
                      <a:endParaRPr lang="es-ES_tradnl" sz="1400" noProof="1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credit_amount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E0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Numérico (dense angle)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RY(θ) + RZ(0)</a:t>
                      </a:r>
                      <a:endParaRPr lang="es-ES_tradnl" sz="1400" noProof="1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275320" y="1874520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9" name="Text 6"/>
          <p:cNvSpPr txBox="1"/>
          <p:nvPr/>
        </p:nvSpPr>
        <p:spPr>
          <a:xfrm>
            <a:off x="850392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700" b="1" noProof="1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Categóricos</a:t>
            </a:r>
            <a:endParaRPr lang="es-ES_tradnl" sz="1700" noProof="1"/>
          </a:p>
        </p:txBody>
      </p:sp>
      <p:sp>
        <p:nvSpPr>
          <p:cNvPr id="10" name="Text 7"/>
          <p:cNvSpPr txBox="1"/>
          <p:nvPr/>
        </p:nvSpPr>
        <p:spPr>
          <a:xfrm>
            <a:off x="8503920" y="24231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categoría, V = nº de categorías. Todos los estados quedan sobre el ecuador de la esfera de Bloch.</a:t>
            </a:r>
            <a:endParaRPr lang="es-ES_tradnl" sz="1400" noProof="1"/>
          </a:p>
        </p:txBody>
      </p:sp>
      <p:sp>
        <p:nvSpPr>
          <p:cNvPr id="11" name="Shape 8"/>
          <p:cNvSpPr/>
          <p:nvPr/>
        </p:nvSpPr>
        <p:spPr>
          <a:xfrm>
            <a:off x="8275320" y="3840480"/>
            <a:ext cx="3383280" cy="1874520"/>
          </a:xfrm>
          <a:prstGeom prst="roundRect">
            <a:avLst>
              <a:gd name="adj" fmla="val 5854"/>
            </a:avLst>
          </a:prstGeom>
          <a:solidFill>
            <a:srgbClr val="FBF0E3"/>
          </a:solidFill>
          <a:ln w="12700">
            <a:solidFill>
              <a:srgbClr val="FBF0E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2" name="Text 9"/>
          <p:cNvSpPr txBox="1"/>
          <p:nvPr/>
        </p:nvSpPr>
        <p:spPr>
          <a:xfrm>
            <a:off x="850392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700" b="1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Numéricos</a:t>
            </a:r>
            <a:endParaRPr lang="es-ES_tradnl" sz="1700" noProof="1"/>
          </a:p>
        </p:txBody>
      </p:sp>
      <p:sp>
        <p:nvSpPr>
          <p:cNvPr id="13" name="Text 10"/>
          <p:cNvSpPr txBox="1"/>
          <p:nvPr/>
        </p:nvSpPr>
        <p:spPr>
          <a:xfrm>
            <a:off x="8503920" y="43891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atributos por qubit: uno fija θ (RY) y otro φ (RZ). Ángulos normalizados a [0, π].</a:t>
            </a:r>
            <a:endParaRPr lang="es-ES_tradnl" sz="14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codificación categórica</a:t>
            </a:r>
            <a:endParaRPr lang="es-ES_tradnl" sz="3200" noProof="1"/>
          </a:p>
        </p:txBody>
      </p:sp>
      <p:sp>
        <p:nvSpPr>
          <p:cNvPr id="5" name="Text 3"/>
          <p:cNvSpPr txBox="1"/>
          <p:nvPr/>
        </p:nvSpPr>
        <p:spPr>
          <a:xfrm>
            <a:off x="8686800" y="502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1100" kern="0" spc="2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s-ES_tradnl" sz="1100" noProof="1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ES_tradnl" sz="1300" noProof="1"/>
          </a:p>
        </p:txBody>
      </p:sp>
      <p:sp>
        <p:nvSpPr>
          <p:cNvPr id="8" name="Text 6"/>
          <p:cNvSpPr txBox="1"/>
          <p:nvPr/>
        </p:nvSpPr>
        <p:spPr>
          <a:xfrm>
            <a:off x="1051560" y="14173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Dato: collateral = 3, con V = 4 categorías</a:t>
            </a:r>
            <a:endParaRPr lang="es-ES_tradnl" sz="1600" noProof="1"/>
          </a:p>
        </p:txBody>
      </p:sp>
      <p:sp>
        <p:nvSpPr>
          <p:cNvPr id="9" name="Text 7"/>
          <p:cNvSpPr txBox="1"/>
          <p:nvPr/>
        </p:nvSpPr>
        <p:spPr>
          <a:xfrm>
            <a:off x="1051560" y="18288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8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 = 2π · 3/4 = 3π/2</a:t>
            </a:r>
            <a:endParaRPr lang="es-ES_tradnl" sz="1800" noProof="1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1" name="Text 9"/>
          <p:cNvSpPr txBox="1"/>
          <p:nvPr/>
        </p:nvSpPr>
        <p:spPr>
          <a:xfrm>
            <a:off x="548640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ES_tradnl" sz="1300" noProof="1"/>
          </a:p>
        </p:txBody>
      </p:sp>
      <p:sp>
        <p:nvSpPr>
          <p:cNvPr id="12" name="Text 10"/>
          <p:cNvSpPr txBox="1"/>
          <p:nvPr/>
        </p:nvSpPr>
        <p:spPr>
          <a:xfrm>
            <a:off x="1051560" y="260604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Hadamard</a:t>
            </a:r>
            <a:endParaRPr lang="es-ES_tradnl" sz="1600" noProof="1"/>
          </a:p>
        </p:txBody>
      </p:sp>
      <p:sp>
        <p:nvSpPr>
          <p:cNvPr id="13" name="Text 11"/>
          <p:cNvSpPr txBox="1"/>
          <p:nvPr/>
        </p:nvSpPr>
        <p:spPr>
          <a:xfrm>
            <a:off x="1051560" y="301752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8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H|0⟩ = (|0⟩ + |1⟩) / √2</a:t>
            </a:r>
            <a:endParaRPr lang="es-ES_tradnl" sz="1800" noProof="1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5" name="Text 13"/>
          <p:cNvSpPr txBox="1"/>
          <p:nvPr/>
        </p:nvSpPr>
        <p:spPr>
          <a:xfrm>
            <a:off x="548640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ES_tradnl" sz="1300" noProof="1"/>
          </a:p>
        </p:txBody>
      </p:sp>
      <p:sp>
        <p:nvSpPr>
          <p:cNvPr id="16" name="Text 14"/>
          <p:cNvSpPr txBox="1"/>
          <p:nvPr/>
        </p:nvSpPr>
        <p:spPr>
          <a:xfrm>
            <a:off x="1051560" y="37947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RZ(φ)</a:t>
            </a:r>
            <a:endParaRPr lang="es-ES_tradnl" sz="1600" noProof="1"/>
          </a:p>
        </p:txBody>
      </p:sp>
      <p:sp>
        <p:nvSpPr>
          <p:cNvPr id="17" name="Text 15"/>
          <p:cNvSpPr txBox="1"/>
          <p:nvPr/>
        </p:nvSpPr>
        <p:spPr>
          <a:xfrm>
            <a:off x="1051560" y="42062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8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(1/√2)(e</a:t>
            </a:r>
            <a:r>
              <a:rPr lang="es-ES_tradnl" sz="1800" baseline="3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−3πi/4</a:t>
            </a:r>
            <a:r>
              <a:rPr lang="es-ES_tradnl" sz="18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|0⟩ + e</a:t>
            </a:r>
            <a:r>
              <a:rPr lang="es-ES_tradnl" sz="1800" baseline="3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3πi/4</a:t>
            </a:r>
            <a:r>
              <a:rPr lang="es-ES_tradnl" sz="18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|1⟩)  ≅  (|0⟩ − i|1⟩) / √2</a:t>
            </a:r>
            <a:endParaRPr lang="es-ES_tradnl" sz="1800" noProof="1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9" name="Text 17"/>
          <p:cNvSpPr txBox="1"/>
          <p:nvPr/>
        </p:nvSpPr>
        <p:spPr>
          <a:xfrm>
            <a:off x="548640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ES_tradnl" sz="1300" noProof="1"/>
          </a:p>
        </p:txBody>
      </p:sp>
      <p:sp>
        <p:nvSpPr>
          <p:cNvPr id="20" name="Text 18"/>
          <p:cNvSpPr txBox="1"/>
          <p:nvPr/>
        </p:nvSpPr>
        <p:spPr>
          <a:xfrm>
            <a:off x="1051560" y="498348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densidad y vector de Bloch</a:t>
            </a:r>
            <a:endParaRPr lang="es-ES_tradnl" sz="1600" noProof="1"/>
          </a:p>
        </p:txBody>
      </p:sp>
      <p:sp>
        <p:nvSpPr>
          <p:cNvPr id="21" name="Text 19"/>
          <p:cNvSpPr txBox="1"/>
          <p:nvPr/>
        </p:nvSpPr>
        <p:spPr>
          <a:xfrm>
            <a:off x="1051560" y="53949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8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ρ₀ = ½ [ 1  i ; −i  1 ]   →   (0, −1, 0)</a:t>
            </a:r>
            <a:endParaRPr lang="es-ES_tradnl" sz="1800" noProof="1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371600"/>
            <a:ext cx="3931920" cy="393192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635240" y="5486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4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propio de −Y: sobre el ecuador, en el ángulo de su categoría.</a:t>
            </a:r>
            <a:endParaRPr lang="es-ES_tradnl" sz="14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codificación numérica (dense angle)</a:t>
            </a:r>
            <a:endParaRPr lang="es-ES_tradnl" sz="3200" noProof="1"/>
          </a:p>
        </p:txBody>
      </p:sp>
      <p:sp>
        <p:nvSpPr>
          <p:cNvPr id="5" name="Text 3"/>
          <p:cNvSpPr txBox="1"/>
          <p:nvPr/>
        </p:nvSpPr>
        <p:spPr>
          <a:xfrm>
            <a:off x="8686800" y="502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1100" kern="0" spc="2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s-ES_tradnl" sz="1100" noProof="1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ES_tradnl" sz="1300" noProof="1"/>
          </a:p>
        </p:txBody>
      </p:sp>
      <p:sp>
        <p:nvSpPr>
          <p:cNvPr id="8" name="Text 6"/>
          <p:cNvSpPr txBox="1"/>
          <p:nvPr/>
        </p:nvSpPr>
        <p:spPr>
          <a:xfrm>
            <a:off x="1051560" y="137160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a [0, π]</a:t>
            </a:r>
            <a:endParaRPr lang="es-ES_tradnl" sz="1600" noProof="1"/>
          </a:p>
        </p:txBody>
      </p:sp>
      <p:sp>
        <p:nvSpPr>
          <p:cNvPr id="9" name="Text 7"/>
          <p:cNvSpPr txBox="1"/>
          <p:nvPr/>
        </p:nvSpPr>
        <p:spPr>
          <a:xfrm>
            <a:off x="1051560" y="17830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8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= π · (x − x</a:t>
            </a:r>
            <a:r>
              <a:rPr lang="es-ES_tradnl" sz="18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</a:t>
            </a:r>
            <a:r>
              <a:rPr lang="es-ES_tradnl" sz="18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/ (x</a:t>
            </a:r>
            <a:r>
              <a:rPr lang="es-ES_tradnl" sz="18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r>
              <a:rPr lang="es-ES_tradnl" sz="18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x</a:t>
            </a:r>
            <a:r>
              <a:rPr lang="es-ES_tradnl" sz="18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</a:t>
            </a:r>
            <a:r>
              <a:rPr lang="es-ES_tradnl" sz="18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s-ES_tradnl" sz="1800" noProof="1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1" name="Text 9"/>
          <p:cNvSpPr txBox="1"/>
          <p:nvPr/>
        </p:nvSpPr>
        <p:spPr>
          <a:xfrm>
            <a:off x="548640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ES_tradnl" sz="1300" noProof="1"/>
          </a:p>
        </p:txBody>
      </p:sp>
      <p:sp>
        <p:nvSpPr>
          <p:cNvPr id="12" name="Text 10"/>
          <p:cNvSpPr txBox="1"/>
          <p:nvPr/>
        </p:nvSpPr>
        <p:spPr>
          <a:xfrm>
            <a:off x="1051560" y="239572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RY(θ) — primer atributo</a:t>
            </a:r>
            <a:endParaRPr lang="es-ES_tradnl" sz="1600" noProof="1"/>
          </a:p>
        </p:txBody>
      </p:sp>
      <p:sp>
        <p:nvSpPr>
          <p:cNvPr id="13" name="Text 11"/>
          <p:cNvSpPr txBox="1"/>
          <p:nvPr/>
        </p:nvSpPr>
        <p:spPr>
          <a:xfrm>
            <a:off x="1051560" y="280720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8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RY(θ)|0⟩ = cos(θ/2)|0⟩ + sin(θ/2)|1⟩</a:t>
            </a:r>
            <a:endParaRPr lang="es-ES_tradnl" sz="1800" noProof="1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5" name="Text 13"/>
          <p:cNvSpPr txBox="1"/>
          <p:nvPr/>
        </p:nvSpPr>
        <p:spPr>
          <a:xfrm>
            <a:off x="548640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ES_tradnl" sz="1300" noProof="1"/>
          </a:p>
        </p:txBody>
      </p:sp>
      <p:sp>
        <p:nvSpPr>
          <p:cNvPr id="16" name="Text 14"/>
          <p:cNvSpPr txBox="1"/>
          <p:nvPr/>
        </p:nvSpPr>
        <p:spPr>
          <a:xfrm>
            <a:off x="1051560" y="3419856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RZ(φ) — segundo atributo</a:t>
            </a:r>
            <a:endParaRPr lang="es-ES_tradnl" sz="1600" noProof="1"/>
          </a:p>
        </p:txBody>
      </p:sp>
      <p:sp>
        <p:nvSpPr>
          <p:cNvPr id="17" name="Text 15"/>
          <p:cNvSpPr txBox="1"/>
          <p:nvPr/>
        </p:nvSpPr>
        <p:spPr>
          <a:xfrm>
            <a:off x="1051560" y="383133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8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≅ cos(θ/2)|0⟩ + e</a:t>
            </a:r>
            <a:r>
              <a:rPr lang="es-ES_tradnl" sz="1800" baseline="3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iφ</a:t>
            </a:r>
            <a:r>
              <a:rPr lang="es-ES_tradnl" sz="18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sin(θ/2)|1⟩</a:t>
            </a:r>
            <a:endParaRPr lang="es-ES_tradnl" sz="1800" noProof="1"/>
          </a:p>
        </p:txBody>
      </p:sp>
      <p:sp>
        <p:nvSpPr>
          <p:cNvPr id="18" name="Shape 16"/>
          <p:cNvSpPr/>
          <p:nvPr/>
        </p:nvSpPr>
        <p:spPr>
          <a:xfrm>
            <a:off x="548640" y="4489704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9" name="Text 17"/>
          <p:cNvSpPr txBox="1"/>
          <p:nvPr/>
        </p:nvSpPr>
        <p:spPr>
          <a:xfrm>
            <a:off x="548640" y="4489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ES_tradnl" sz="1300" noProof="1"/>
          </a:p>
        </p:txBody>
      </p:sp>
      <p:sp>
        <p:nvSpPr>
          <p:cNvPr id="20" name="Text 18"/>
          <p:cNvSpPr txBox="1"/>
          <p:nvPr/>
        </p:nvSpPr>
        <p:spPr>
          <a:xfrm>
            <a:off x="1051560" y="444398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de Bloch</a:t>
            </a:r>
            <a:endParaRPr lang="es-ES_tradnl" sz="1600" noProof="1"/>
          </a:p>
        </p:txBody>
      </p:sp>
      <p:sp>
        <p:nvSpPr>
          <p:cNvPr id="21" name="Text 19"/>
          <p:cNvSpPr txBox="1"/>
          <p:nvPr/>
        </p:nvSpPr>
        <p:spPr>
          <a:xfrm>
            <a:off x="1051560" y="485546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8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(sin θ cos φ,  sin θ sin φ,  cos θ)</a:t>
            </a:r>
            <a:endParaRPr lang="es-ES_tradnl" sz="1800" noProof="1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6766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08A2E"/>
            </a:solidFill>
            <a:prstDash val="dash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3" name="Text 21"/>
          <p:cNvSpPr txBox="1"/>
          <p:nvPr/>
        </p:nvSpPr>
        <p:spPr>
          <a:xfrm>
            <a:off x="822960" y="56692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500" i="1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valores normalizados para status_account = 1, month_duration = 24</a:t>
            </a:r>
            <a:endParaRPr lang="es-ES_tradnl" sz="1500" noProof="1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371600"/>
            <a:ext cx="3931920" cy="393192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635240" y="54864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4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π] evita que 2π ≡ 0 junte el mínimo con el máximo y conserva el orden.</a:t>
            </a:r>
            <a:endParaRPr lang="es-ES_tradnl" sz="14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Agregación y datasets vecinos</a:t>
            </a:r>
            <a:endParaRPr lang="es-ES_tradnl" sz="3200" noProof="1"/>
          </a:p>
        </p:txBody>
      </p:sp>
      <p:sp>
        <p:nvSpPr>
          <p:cNvPr id="5" name="Text 3"/>
          <p:cNvSpPr txBox="1"/>
          <p:nvPr/>
        </p:nvSpPr>
        <p:spPr>
          <a:xfrm>
            <a:off x="8686800" y="502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1100" kern="0" spc="2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s-ES_tradnl" sz="1100" noProof="1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766560" cy="1051560"/>
          </a:xfrm>
          <a:prstGeom prst="roundRect">
            <a:avLst>
              <a:gd name="adj" fmla="val 10435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/>
          <p:cNvSpPr txBox="1"/>
          <p:nvPr/>
        </p:nvSpPr>
        <p:spPr>
          <a:xfrm>
            <a:off x="822960" y="153619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</a:t>
            </a:r>
            <a:endParaRPr lang="es-ES_tradnl" sz="1600" noProof="1"/>
          </a:p>
        </p:txBody>
      </p:sp>
      <p:sp>
        <p:nvSpPr>
          <p:cNvPr id="8" name="Text 6"/>
          <p:cNvSpPr txBox="1"/>
          <p:nvPr/>
        </p:nvSpPr>
        <p:spPr>
          <a:xfrm>
            <a:off x="822960" y="19202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9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A(D) = (1/N) Σᵢ ρᵢ</a:t>
            </a:r>
            <a:endParaRPr lang="es-ES_tradnl" sz="1900" noProof="1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6766560" cy="1051560"/>
          </a:xfrm>
          <a:prstGeom prst="roundRect">
            <a:avLst>
              <a:gd name="adj" fmla="val 10435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0" name="Text 8"/>
          <p:cNvSpPr txBox="1"/>
          <p:nvPr/>
        </p:nvSpPr>
        <p:spPr>
          <a:xfrm>
            <a:off x="822960" y="277063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Vecino D′ᵢ (se elimina la fila i)</a:t>
            </a:r>
            <a:endParaRPr lang="es-ES_tradnl" sz="1600" noProof="1"/>
          </a:p>
        </p:txBody>
      </p:sp>
      <p:sp>
        <p:nvSpPr>
          <p:cNvPr id="11" name="Text 9"/>
          <p:cNvSpPr txBox="1"/>
          <p:nvPr/>
        </p:nvSpPr>
        <p:spPr>
          <a:xfrm>
            <a:off x="822960" y="3154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9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σᵢ = A(D′ᵢ) = (1/(N−1)) Σ</a:t>
            </a:r>
            <a:r>
              <a:rPr lang="es-ES_tradnl" sz="19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j≠i</a:t>
            </a:r>
            <a:r>
              <a:rPr lang="es-ES_tradnl" sz="19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ρⱼ</a:t>
            </a:r>
            <a:endParaRPr lang="es-ES_tradnl" sz="1900" noProof="1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6766560" cy="1051560"/>
          </a:xfrm>
          <a:prstGeom prst="roundRect">
            <a:avLst>
              <a:gd name="adj" fmla="val 10435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3" name="Text 11"/>
          <p:cNvSpPr txBox="1"/>
          <p:nvPr/>
        </p:nvSpPr>
        <p:spPr>
          <a:xfrm>
            <a:off x="822960" y="40050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b="1" noProof="1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</a:t>
            </a:r>
            <a:endParaRPr lang="es-ES_tradnl" sz="1600" noProof="1"/>
          </a:p>
        </p:txBody>
      </p:sp>
      <p:sp>
        <p:nvSpPr>
          <p:cNvPr id="14" name="Text 12"/>
          <p:cNvSpPr txBox="1"/>
          <p:nvPr/>
        </p:nvSpPr>
        <p:spPr>
          <a:xfrm>
            <a:off x="822960" y="43891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9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− σᵢ = (ρᵢ − σᵢ) / N   ⇒   d = O(1/N)</a:t>
            </a:r>
            <a:endParaRPr lang="es-ES_tradnl" sz="1900" noProof="1"/>
          </a:p>
        </p:txBody>
      </p:sp>
      <p:sp>
        <p:nvSpPr>
          <p:cNvPr id="15" name="Text 13"/>
          <p:cNvSpPr txBox="1"/>
          <p:nvPr/>
        </p:nvSpPr>
        <p:spPr>
          <a:xfrm>
            <a:off x="548640" y="52578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s-ES_tradnl" sz="15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Vecindad por eliminación (add/remove), no por reemplazo.</a:t>
            </a:r>
            <a:endParaRPr lang="es-ES_tradnl" sz="15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s-ES_tradnl" sz="15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Aggregate(Qd) y encodeExcludeOne(i, Qd).</a:t>
            </a:r>
            <a:endParaRPr lang="es-ES_tradnl" sz="1500" noProof="1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371600"/>
            <a:ext cx="3931920" cy="39319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635240" y="54864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4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Ilustrativo: el promedio de estados puros queda dentro de la esfera (estado mixto).</a:t>
            </a:r>
            <a:endParaRPr lang="es-ES_tradnl" sz="14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 Generalized Amplitude Damping</a:t>
            </a:r>
            <a:endParaRPr lang="es-ES_tradnl" sz="3200" noProof="1"/>
          </a:p>
        </p:txBody>
      </p:sp>
      <p:sp>
        <p:nvSpPr>
          <p:cNvPr id="5" name="Text 3"/>
          <p:cNvSpPr txBox="1"/>
          <p:nvPr/>
        </p:nvSpPr>
        <p:spPr>
          <a:xfrm>
            <a:off x="8686800" y="502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1100" kern="0" spc="2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s-ES_tradnl" sz="1100" noProof="1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291840" cy="640080"/>
          </a:xfrm>
          <a:prstGeom prst="roundRect">
            <a:avLst>
              <a:gd name="adj" fmla="val 1714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/>
          <p:cNvSpPr txBox="1"/>
          <p:nvPr/>
        </p:nvSpPr>
        <p:spPr>
          <a:xfrm>
            <a:off x="685800" y="1371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5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E₀ = √p [ 1  0 ; 0  √(1−γ) ]</a:t>
            </a:r>
            <a:endParaRPr lang="es-ES_tradnl" sz="1500" noProof="1"/>
          </a:p>
        </p:txBody>
      </p:sp>
      <p:sp>
        <p:nvSpPr>
          <p:cNvPr id="8" name="Shape 6"/>
          <p:cNvSpPr/>
          <p:nvPr/>
        </p:nvSpPr>
        <p:spPr>
          <a:xfrm>
            <a:off x="3977640" y="1371600"/>
            <a:ext cx="3291840" cy="640080"/>
          </a:xfrm>
          <a:prstGeom prst="roundRect">
            <a:avLst>
              <a:gd name="adj" fmla="val 1714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9" name="Text 7"/>
          <p:cNvSpPr txBox="1"/>
          <p:nvPr/>
        </p:nvSpPr>
        <p:spPr>
          <a:xfrm>
            <a:off x="4114800" y="1371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5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E₁ = √p [ 0  √γ ; 0  0 ]</a:t>
            </a:r>
            <a:endParaRPr lang="es-ES_tradnl" sz="1500" noProof="1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3291840" cy="640080"/>
          </a:xfrm>
          <a:prstGeom prst="roundRect">
            <a:avLst>
              <a:gd name="adj" fmla="val 1714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1" name="Text 9"/>
          <p:cNvSpPr txBox="1"/>
          <p:nvPr/>
        </p:nvSpPr>
        <p:spPr>
          <a:xfrm>
            <a:off x="685800" y="2148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5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E₂ = √(1−p) [ √(1−γ)  0 ; 0  1 ]</a:t>
            </a:r>
            <a:endParaRPr lang="es-ES_tradnl" sz="1500" noProof="1"/>
          </a:p>
        </p:txBody>
      </p:sp>
      <p:sp>
        <p:nvSpPr>
          <p:cNvPr id="12" name="Shape 10"/>
          <p:cNvSpPr/>
          <p:nvPr/>
        </p:nvSpPr>
        <p:spPr>
          <a:xfrm>
            <a:off x="3977640" y="2148840"/>
            <a:ext cx="3291840" cy="640080"/>
          </a:xfrm>
          <a:prstGeom prst="roundRect">
            <a:avLst>
              <a:gd name="adj" fmla="val 1714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3" name="Text 11"/>
          <p:cNvSpPr txBox="1"/>
          <p:nvPr/>
        </p:nvSpPr>
        <p:spPr>
          <a:xfrm>
            <a:off x="4114800" y="2148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5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E₃ = √(1−p) [ 0  0 ; √γ  0 ]</a:t>
            </a:r>
            <a:endParaRPr lang="es-ES_tradnl" sz="1500" noProof="1"/>
          </a:p>
        </p:txBody>
      </p:sp>
      <p:sp>
        <p:nvSpPr>
          <p:cNvPr id="14" name="Text 12"/>
          <p:cNvSpPr txBox="1"/>
          <p:nvPr/>
        </p:nvSpPr>
        <p:spPr>
          <a:xfrm>
            <a:off x="548640" y="301752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8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ℰ(ρ) = Σₖ Eₖ ρ Eₖ†      con p = γ = 0.5</a:t>
            </a:r>
            <a:endParaRPr lang="es-ES_tradnl" sz="1800" noProof="1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6720840" cy="914400"/>
          </a:xfrm>
          <a:prstGeom prst="roundRect">
            <a:avLst>
              <a:gd name="adj" fmla="val 12000"/>
            </a:avLst>
          </a:prstGeom>
          <a:solidFill>
            <a:srgbClr val="FBF0E3"/>
          </a:solidFill>
          <a:ln w="12700">
            <a:solidFill>
              <a:srgbClr val="FBF0E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6" name="Text 14"/>
          <p:cNvSpPr txBox="1"/>
          <p:nvPr/>
        </p:nvSpPr>
        <p:spPr>
          <a:xfrm>
            <a:off x="822960" y="37307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b="1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en la esfera de Bloch</a:t>
            </a:r>
            <a:endParaRPr lang="es-ES_tradnl" sz="1500" noProof="1"/>
          </a:p>
        </p:txBody>
      </p:sp>
      <p:sp>
        <p:nvSpPr>
          <p:cNvPr id="17" name="Text 15"/>
          <p:cNvSpPr txBox="1"/>
          <p:nvPr/>
        </p:nvSpPr>
        <p:spPr>
          <a:xfrm>
            <a:off x="822960" y="40690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7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(x, y) → √(1−γ)·(x, y)      z → (1−γ)z + γ(2p−1)</a:t>
            </a:r>
            <a:endParaRPr lang="es-ES_tradnl" sz="1700" noProof="1"/>
          </a:p>
        </p:txBody>
      </p:sp>
      <p:sp>
        <p:nvSpPr>
          <p:cNvPr id="18" name="Text 16"/>
          <p:cNvSpPr txBox="1"/>
          <p:nvPr/>
        </p:nvSpPr>
        <p:spPr>
          <a:xfrm>
            <a:off x="548640" y="4800600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(collateral = 3):</a:t>
            </a:r>
            <a:endParaRPr lang="es-ES_tradnl" sz="1600" noProof="1"/>
          </a:p>
        </p:txBody>
      </p:sp>
      <p:sp>
        <p:nvSpPr>
          <p:cNvPr id="19" name="Text 17"/>
          <p:cNvSpPr txBox="1"/>
          <p:nvPr/>
        </p:nvSpPr>
        <p:spPr>
          <a:xfrm>
            <a:off x="548640" y="5166360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8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(0, −1, 0) → (0, −1/√2, 0)</a:t>
            </a:r>
            <a:endParaRPr lang="es-ES_tradnl" sz="1800" noProof="1"/>
          </a:p>
        </p:txBody>
      </p:sp>
      <p:sp>
        <p:nvSpPr>
          <p:cNvPr id="20" name="Text 18"/>
          <p:cNvSpPr txBox="1"/>
          <p:nvPr/>
        </p:nvSpPr>
        <p:spPr>
          <a:xfrm>
            <a:off x="548640" y="5577840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8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ℰ(ρ₀) = ½ [ 1  i/√2 ; −i/√2  1 ]</a:t>
            </a:r>
            <a:endParaRPr lang="es-ES_tradnl" sz="1800" noProof="1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371600"/>
            <a:ext cx="3931920" cy="393192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635240" y="54864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4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 = 0.5 la esfera se contrae hacia el centro sin desplazarse en z.</a:t>
            </a:r>
            <a:endParaRPr lang="es-ES_tradnl" sz="14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Independencia por columna</a:t>
            </a:r>
            <a:endParaRPr lang="es-ES_tradnl" sz="3200" noProof="1"/>
          </a:p>
        </p:txBody>
      </p:sp>
      <p:sp>
        <p:nvSpPr>
          <p:cNvPr id="5" name="Text 3"/>
          <p:cNvSpPr txBox="1"/>
          <p:nvPr/>
        </p:nvSpPr>
        <p:spPr>
          <a:xfrm>
            <a:off x="8686800" y="502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1100" kern="0" spc="2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s-ES_tradnl" sz="1100" noProof="1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b="1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Proposición</a:t>
            </a:r>
            <a:endParaRPr lang="es-ES_tradnl" sz="1600" noProof="1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(Aρ</a:t>
            </a:r>
            <a:r>
              <a:rPr lang="es-ES_tradnl" sz="20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s-ES_tradnl" sz="2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A†) ⊗ (Bρ</a:t>
            </a:r>
            <a:r>
              <a:rPr lang="es-ES_tradnl" sz="20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es-ES_tradnl" sz="2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B†) ⊗ (Cρ</a:t>
            </a:r>
            <a:r>
              <a:rPr lang="es-ES_tradnl" sz="20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s-ES_tradnl" sz="2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C†) = (A⊗B⊗C)(ρ</a:t>
            </a:r>
            <a:r>
              <a:rPr lang="es-ES_tradnl" sz="20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s-ES_tradnl" sz="2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⊗ρ</a:t>
            </a:r>
            <a:r>
              <a:rPr lang="es-ES_tradnl" sz="20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es-ES_tradnl" sz="2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⊗ρ</a:t>
            </a:r>
            <a:r>
              <a:rPr lang="es-ES_tradnl" sz="20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s-ES_tradnl" sz="2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)(A⊗B⊗C)†</a:t>
            </a:r>
            <a:endParaRPr lang="es-ES_tradnl" sz="2000" noProof="1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b="1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 (producto mixto)</a:t>
            </a:r>
            <a:endParaRPr lang="es-ES_tradnl" sz="1600" noProof="1"/>
          </a:p>
        </p:txBody>
      </p:sp>
      <p:sp>
        <p:nvSpPr>
          <p:cNvPr id="9" name="Text 7"/>
          <p:cNvSpPr txBox="1"/>
          <p:nvPr/>
        </p:nvSpPr>
        <p:spPr>
          <a:xfrm>
            <a:off x="548640" y="2743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(X⊗Y⊗Z)(U⊗V⊗W) = XU ⊗ YV ⊗ ZW</a:t>
            </a:r>
            <a:endParaRPr lang="es-ES_tradnl" sz="2000" noProof="1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2" name="Text 10"/>
          <p:cNvSpPr txBox="1"/>
          <p:nvPr/>
        </p:nvSpPr>
        <p:spPr>
          <a:xfrm>
            <a:off x="73152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ES_tradnl" sz="1300" noProof="1"/>
          </a:p>
        </p:txBody>
      </p:sp>
      <p:sp>
        <p:nvSpPr>
          <p:cNvPr id="13" name="Text 11"/>
          <p:cNvSpPr txBox="1"/>
          <p:nvPr/>
        </p:nvSpPr>
        <p:spPr>
          <a:xfrm>
            <a:off x="1188720" y="365760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verifica sobre vectores producto e₀⊗e₁⊗e₂ usando (T⊗S)(v⊗w) = Tv ⊗ Sw.</a:t>
            </a:r>
            <a:endParaRPr lang="es-ES_tradnl" sz="1400" noProof="1"/>
          </a:p>
        </p:txBody>
      </p:sp>
      <p:sp>
        <p:nvSpPr>
          <p:cNvPr id="14" name="Shape 12"/>
          <p:cNvSpPr/>
          <p:nvPr/>
        </p:nvSpPr>
        <p:spPr>
          <a:xfrm>
            <a:off x="4297680" y="352044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5" name="Shape 13"/>
          <p:cNvSpPr/>
          <p:nvPr/>
        </p:nvSpPr>
        <p:spPr>
          <a:xfrm>
            <a:off x="4480560" y="3657600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6" name="Text 14"/>
          <p:cNvSpPr txBox="1"/>
          <p:nvPr/>
        </p:nvSpPr>
        <p:spPr>
          <a:xfrm>
            <a:off x="448056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ES_tradnl" sz="1300" noProof="1"/>
          </a:p>
        </p:txBody>
      </p:sp>
      <p:sp>
        <p:nvSpPr>
          <p:cNvPr id="17" name="Text 15"/>
          <p:cNvSpPr txBox="1"/>
          <p:nvPr/>
        </p:nvSpPr>
        <p:spPr>
          <a:xfrm>
            <a:off x="4937760" y="365760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vectores producto generan E₀⊗E₁⊗E₂; por linealidad vale en todo el espacio.</a:t>
            </a:r>
            <a:endParaRPr lang="es-ES_tradnl" sz="1400" noProof="1"/>
          </a:p>
        </p:txBody>
      </p:sp>
      <p:sp>
        <p:nvSpPr>
          <p:cNvPr id="18" name="Shape 16"/>
          <p:cNvSpPr/>
          <p:nvPr/>
        </p:nvSpPr>
        <p:spPr>
          <a:xfrm>
            <a:off x="8046720" y="352044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9" name="Shape 17"/>
          <p:cNvSpPr/>
          <p:nvPr/>
        </p:nvSpPr>
        <p:spPr>
          <a:xfrm>
            <a:off x="8229600" y="3657600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20" name="Text 18"/>
          <p:cNvSpPr txBox="1"/>
          <p:nvPr/>
        </p:nvSpPr>
        <p:spPr>
          <a:xfrm>
            <a:off x="822960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ES_tradnl" sz="1300" noProof="1"/>
          </a:p>
        </p:txBody>
      </p:sp>
      <p:sp>
        <p:nvSpPr>
          <p:cNvPr id="21" name="Text 19"/>
          <p:cNvSpPr txBox="1"/>
          <p:nvPr/>
        </p:nvSpPr>
        <p:spPr>
          <a:xfrm>
            <a:off x="8686800" y="365760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el lema dos veces se obtiene la proposición.</a:t>
            </a:r>
            <a:endParaRPr lang="es-ES_tradnl" sz="1400" noProof="1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3" name="Text 21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b="1" noProof="1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a canales con varios operadores de Kraus (GAD tiene 4)</a:t>
            </a:r>
            <a:endParaRPr lang="es-ES_tradnl" sz="1500" noProof="1"/>
          </a:p>
        </p:txBody>
      </p:sp>
      <p:sp>
        <p:nvSpPr>
          <p:cNvPr id="24" name="Text 22"/>
          <p:cNvSpPr txBox="1"/>
          <p:nvPr/>
        </p:nvSpPr>
        <p:spPr>
          <a:xfrm>
            <a:off x="822960" y="5394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(ℰ</a:t>
            </a:r>
            <a:r>
              <a:rPr lang="es-ES_tradnl" sz="16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s-ES_tradnl" sz="16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⊗ℰ</a:t>
            </a:r>
            <a:r>
              <a:rPr lang="es-ES_tradnl" sz="16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es-ES_tradnl" sz="16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⊗ℰ</a:t>
            </a:r>
            <a:r>
              <a:rPr lang="es-ES_tradnl" sz="16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s-ES_tradnl" sz="16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)(ρ</a:t>
            </a:r>
            <a:r>
              <a:rPr lang="es-ES_tradnl" sz="16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s-ES_tradnl" sz="16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⊗ρ</a:t>
            </a:r>
            <a:r>
              <a:rPr lang="es-ES_tradnl" sz="16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es-ES_tradnl" sz="16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⊗ρ</a:t>
            </a:r>
            <a:r>
              <a:rPr lang="es-ES_tradnl" sz="16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s-ES_tradnl" sz="16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Σⱼₖₗ (Eⱼ⊗F</a:t>
            </a:r>
            <a:r>
              <a:rPr lang="es-ES_tradnl" sz="16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es-ES_tradnl" sz="16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⊗G</a:t>
            </a:r>
            <a:r>
              <a:rPr lang="es-ES_tradnl" sz="16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r>
              <a:rPr lang="es-ES_tradnl" sz="16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)(ρ</a:t>
            </a:r>
            <a:r>
              <a:rPr lang="es-ES_tradnl" sz="16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s-ES_tradnl" sz="16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⊗ρ</a:t>
            </a:r>
            <a:r>
              <a:rPr lang="es-ES_tradnl" sz="16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es-ES_tradnl" sz="16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⊗ρ</a:t>
            </a:r>
            <a:r>
              <a:rPr lang="es-ES_tradnl" sz="16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s-ES_tradnl" sz="16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)(Eⱼ⊗F</a:t>
            </a:r>
            <a:r>
              <a:rPr lang="es-ES_tradnl" sz="16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es-ES_tradnl" sz="16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⊗G</a:t>
            </a:r>
            <a:r>
              <a:rPr lang="es-ES_tradnl" sz="16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r>
              <a:rPr lang="es-ES_tradnl" sz="16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)†</a:t>
            </a:r>
            <a:endParaRPr lang="es-ES_tradnl" sz="1600" noProof="1"/>
          </a:p>
        </p:txBody>
      </p:sp>
      <p:sp>
        <p:nvSpPr>
          <p:cNvPr id="25" name="Text 23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término por el lema; la suma por bilinealidad del producto tensorial.</a:t>
            </a:r>
            <a:endParaRPr lang="es-ES_tradnl" sz="14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Composición y alcance</a:t>
            </a:r>
            <a:endParaRPr lang="es-ES_tradnl" sz="3200" noProof="1"/>
          </a:p>
        </p:txBody>
      </p:sp>
      <p:sp>
        <p:nvSpPr>
          <p:cNvPr id="5" name="Text 3"/>
          <p:cNvSpPr txBox="1"/>
          <p:nvPr/>
        </p:nvSpPr>
        <p:spPr>
          <a:xfrm>
            <a:off x="8686800" y="502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1100" kern="0" spc="2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s-ES_tradnl" sz="1100" noProof="1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/>
          <p:cNvSpPr txBox="1"/>
          <p:nvPr/>
        </p:nvSpPr>
        <p:spPr>
          <a:xfrm>
            <a:off x="868680" y="1600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2000" b="1" noProof="1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</a:t>
            </a:r>
            <a:endParaRPr lang="es-ES_tradnl" sz="2000" noProof="1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individuo aparece en las 7 columnas, así que la pérdida de privacidad se acumula por composición secuencial.</a:t>
            </a:r>
            <a:endParaRPr lang="es-ES_tradnl" sz="1600" noProof="1"/>
          </a:p>
        </p:txBody>
      </p:sp>
      <p:sp>
        <p:nvSpPr>
          <p:cNvPr id="9" name="Text 7"/>
          <p:cNvSpPr txBox="1"/>
          <p:nvPr/>
        </p:nvSpPr>
        <p:spPr>
          <a:xfrm>
            <a:off x="868680" y="3566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3000" b="1" noProof="1">
                <a:solidFill>
                  <a:srgbClr val="1A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r>
              <a:rPr lang="es-ES_tradnl" sz="3000" b="1" baseline="-40000" noProof="1">
                <a:solidFill>
                  <a:srgbClr val="1A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</a:t>
            </a:r>
            <a:r>
              <a:rPr lang="es-ES_tradnl" sz="3000" b="1" noProof="1">
                <a:solidFill>
                  <a:srgbClr val="1A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Σₖ εₖ</a:t>
            </a:r>
            <a:endParaRPr lang="es-ES_tradnl" sz="3000" noProof="1"/>
          </a:p>
        </p:txBody>
      </p:sp>
      <p:sp>
        <p:nvSpPr>
          <p:cNvPr id="10" name="Text 8"/>
          <p:cNvSpPr txBox="1"/>
          <p:nvPr/>
        </p:nvSpPr>
        <p:spPr>
          <a:xfrm>
            <a:off x="868680" y="4434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4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1, …, 7 columnas</a:t>
            </a:r>
            <a:endParaRPr lang="es-ES_tradnl" sz="1400" noProof="1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2" name="Text 10"/>
          <p:cNvSpPr txBox="1"/>
          <p:nvPr/>
        </p:nvSpPr>
        <p:spPr>
          <a:xfrm>
            <a:off x="6583680" y="1600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2000" b="1" noProof="1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resultado</a:t>
            </a:r>
            <a:endParaRPr lang="es-ES_tradnl" sz="2000" noProof="1"/>
          </a:p>
        </p:txBody>
      </p:sp>
      <p:sp>
        <p:nvSpPr>
          <p:cNvPr id="13" name="Text 11"/>
          <p:cNvSpPr txBox="1"/>
          <p:nvPr/>
        </p:nvSpPr>
        <p:spPr>
          <a:xfrm>
            <a:off x="6583680" y="2148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6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proposición cubre el ruido, no la agregación. En general:</a:t>
            </a:r>
            <a:endParaRPr lang="es-ES_tradnl" sz="1600" noProof="1"/>
          </a:p>
        </p:txBody>
      </p:sp>
      <p:sp>
        <p:nvSpPr>
          <p:cNvPr id="14" name="Text 12"/>
          <p:cNvSpPr txBox="1"/>
          <p:nvPr/>
        </p:nvSpPr>
        <p:spPr>
          <a:xfrm>
            <a:off x="658368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9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(1/N) Σᵢ ρᵢᴬ ⊗ ρᵢᴮ</a:t>
            </a:r>
            <a:endParaRPr lang="es-ES_tradnl" sz="1900" noProof="1"/>
          </a:p>
        </p:txBody>
      </p:sp>
      <p:sp>
        <p:nvSpPr>
          <p:cNvPr id="15" name="Text 13"/>
          <p:cNvSpPr txBox="1"/>
          <p:nvPr/>
        </p:nvSpPr>
        <p:spPr>
          <a:xfrm>
            <a:off x="658368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900" noProof="1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s-ES_tradnl" sz="1900" noProof="1"/>
          </a:p>
        </p:txBody>
      </p:sp>
      <p:sp>
        <p:nvSpPr>
          <p:cNvPr id="16" name="Text 14"/>
          <p:cNvSpPr txBox="1"/>
          <p:nvPr/>
        </p:nvSpPr>
        <p:spPr>
          <a:xfrm>
            <a:off x="6583680" y="3611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9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((1/N) Σᵢ ρᵢᴬ) ⊗ ((1/N) Σᵢ ρᵢᴮ)</a:t>
            </a:r>
            <a:endParaRPr lang="es-ES_tradnl" sz="1900" noProof="1"/>
          </a:p>
        </p:txBody>
      </p:sp>
      <p:sp>
        <p:nvSpPr>
          <p:cNvPr id="17" name="Text 15"/>
          <p:cNvSpPr txBox="1"/>
          <p:nvPr/>
        </p:nvSpPr>
        <p:spPr>
          <a:xfrm>
            <a:off x="6583680" y="43434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GADSingle conserva las correlaciones entre atributos; GAD 2×2 usa el producto de marginales. Es un mecanismo distinto, no una descomposición de GADSingle.</a:t>
            </a:r>
            <a:endParaRPr lang="es-ES_tradnl" sz="15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de ε por columna</a:t>
            </a:r>
            <a:endParaRPr lang="es-ES_tradnl" sz="3200" noProof="1"/>
          </a:p>
        </p:txBody>
      </p:sp>
      <p:sp>
        <p:nvSpPr>
          <p:cNvPr id="5" name="Text 3"/>
          <p:cNvSpPr txBox="1"/>
          <p:nvPr/>
        </p:nvSpPr>
        <p:spPr>
          <a:xfrm>
            <a:off x="8686800" y="502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1100" kern="0" spc="2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s-ES_tradnl" sz="1100" noProof="1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/>
          <p:cNvSpPr txBox="1"/>
          <p:nvPr/>
        </p:nvSpPr>
        <p:spPr>
          <a:xfrm>
            <a:off x="868680" y="1554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2000" b="1" noProof="1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Teórico (sin ruido)</a:t>
            </a:r>
            <a:endParaRPr lang="es-ES_tradnl" sz="2000" noProof="1"/>
          </a:p>
        </p:txBody>
      </p:sp>
      <p:sp>
        <p:nvSpPr>
          <p:cNvPr id="8" name="Shape 6"/>
          <p:cNvSpPr/>
          <p:nvPr/>
        </p:nvSpPr>
        <p:spPr>
          <a:xfrm>
            <a:off x="868680" y="2167128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9" name="Text 7"/>
          <p:cNvSpPr txBox="1"/>
          <p:nvPr/>
        </p:nvSpPr>
        <p:spPr>
          <a:xfrm>
            <a:off x="868680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ES_tradnl" sz="1300" noProof="1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de traza por fila</a:t>
            </a:r>
            <a:endParaRPr lang="es-ES_tradnl" sz="1500" noProof="1"/>
          </a:p>
        </p:txBody>
      </p:sp>
      <p:sp>
        <p:nvSpPr>
          <p:cNvPr id="11" name="Text 9"/>
          <p:cNvSpPr txBox="1"/>
          <p:nvPr/>
        </p:nvSpPr>
        <p:spPr>
          <a:xfrm>
            <a:off x="1325880" y="25328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7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dᵢ = T(ρ, σᵢ)</a:t>
            </a:r>
            <a:endParaRPr lang="es-ES_tradnl" sz="1700" noProof="1"/>
          </a:p>
        </p:txBody>
      </p:sp>
      <p:sp>
        <p:nvSpPr>
          <p:cNvPr id="12" name="Shape 10"/>
          <p:cNvSpPr/>
          <p:nvPr/>
        </p:nvSpPr>
        <p:spPr>
          <a:xfrm>
            <a:off x="868680" y="3191256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3" name="Text 11"/>
          <p:cNvSpPr txBox="1"/>
          <p:nvPr/>
        </p:nvSpPr>
        <p:spPr>
          <a:xfrm>
            <a:off x="868680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ES_tradnl" sz="1300" noProof="1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caso</a:t>
            </a:r>
            <a:endParaRPr lang="es-ES_tradnl" sz="1500" noProof="1"/>
          </a:p>
        </p:txBody>
      </p:sp>
      <p:sp>
        <p:nvSpPr>
          <p:cNvPr id="15" name="Text 13"/>
          <p:cNvSpPr txBox="1"/>
          <p:nvPr/>
        </p:nvSpPr>
        <p:spPr>
          <a:xfrm>
            <a:off x="1325880" y="35570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7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s-ES_tradnl" sz="17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r>
              <a:rPr lang="es-ES_tradnl" sz="17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maxᵢ dᵢ</a:t>
            </a:r>
            <a:endParaRPr lang="es-ES_tradnl" sz="1700" noProof="1"/>
          </a:p>
        </p:txBody>
      </p:sp>
      <p:sp>
        <p:nvSpPr>
          <p:cNvPr id="16" name="Shape 14"/>
          <p:cNvSpPr/>
          <p:nvPr/>
        </p:nvSpPr>
        <p:spPr>
          <a:xfrm>
            <a:off x="868680" y="4215384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7" name="Text 15"/>
          <p:cNvSpPr txBox="1"/>
          <p:nvPr/>
        </p:nvSpPr>
        <p:spPr>
          <a:xfrm>
            <a:off x="868680" y="4215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ES_tradnl" sz="1300" noProof="1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GAD</a:t>
            </a:r>
            <a:endParaRPr lang="es-ES_tradnl" sz="1500" noProof="1"/>
          </a:p>
        </p:txBody>
      </p:sp>
      <p:sp>
        <p:nvSpPr>
          <p:cNvPr id="19" name="Text 17"/>
          <p:cNvSpPr txBox="1"/>
          <p:nvPr/>
        </p:nvSpPr>
        <p:spPr>
          <a:xfrm>
            <a:off x="1325880" y="45811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7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r>
              <a:rPr lang="es-ES_tradnl" sz="17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</a:t>
            </a:r>
            <a:r>
              <a:rPr lang="es-ES_tradnl" sz="17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ln(1 + 4.83 · d</a:t>
            </a:r>
            <a:r>
              <a:rPr lang="es-ES_tradnl" sz="17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r>
              <a:rPr lang="es-ES_tradnl" sz="17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s-ES_tradnl" sz="1700" noProof="1"/>
          </a:p>
        </p:txBody>
      </p:sp>
      <p:sp>
        <p:nvSpPr>
          <p:cNvPr id="20" name="Shape 18"/>
          <p:cNvSpPr/>
          <p:nvPr/>
        </p:nvSpPr>
        <p:spPr>
          <a:xfrm>
            <a:off x="6217920" y="137160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BF0E3"/>
          </a:solidFill>
          <a:ln w="12700">
            <a:solidFill>
              <a:srgbClr val="FBF0E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1" name="Text 19"/>
          <p:cNvSpPr txBox="1"/>
          <p:nvPr/>
        </p:nvSpPr>
        <p:spPr>
          <a:xfrm>
            <a:off x="6537960" y="1554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2000" b="1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(con ruido)</a:t>
            </a:r>
            <a:endParaRPr lang="es-ES_tradnl" sz="2000" noProof="1"/>
          </a:p>
        </p:txBody>
      </p:sp>
      <p:sp>
        <p:nvSpPr>
          <p:cNvPr id="22" name="Shape 20"/>
          <p:cNvSpPr/>
          <p:nvPr/>
        </p:nvSpPr>
        <p:spPr>
          <a:xfrm>
            <a:off x="6537960" y="2167128"/>
            <a:ext cx="329184" cy="329184"/>
          </a:xfrm>
          <a:prstGeom prst="ellipse">
            <a:avLst/>
          </a:prstGeom>
          <a:solidFill>
            <a:srgbClr val="E08A2E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23" name="Text 21"/>
          <p:cNvSpPr txBox="1"/>
          <p:nvPr/>
        </p:nvSpPr>
        <p:spPr>
          <a:xfrm>
            <a:off x="6537960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ES_tradnl" sz="1300" noProof="1"/>
          </a:p>
        </p:txBody>
      </p:sp>
      <p:sp>
        <p:nvSpPr>
          <p:cNvPr id="24" name="Text 22"/>
          <p:cNvSpPr txBox="1"/>
          <p:nvPr/>
        </p:nvSpPr>
        <p:spPr>
          <a:xfrm>
            <a:off x="6995160" y="2148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con ruido</a:t>
            </a:r>
            <a:endParaRPr lang="es-ES_tradnl" sz="1500" noProof="1"/>
          </a:p>
        </p:txBody>
      </p:sp>
      <p:sp>
        <p:nvSpPr>
          <p:cNvPr id="25" name="Text 23"/>
          <p:cNvSpPr txBox="1"/>
          <p:nvPr/>
        </p:nvSpPr>
        <p:spPr>
          <a:xfrm>
            <a:off x="6995160" y="25328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7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ρ′ = ℰ(ρ),   σ′ᵢ = ℰ(σᵢ)</a:t>
            </a:r>
            <a:endParaRPr lang="es-ES_tradnl" sz="1700" noProof="1"/>
          </a:p>
        </p:txBody>
      </p:sp>
      <p:sp>
        <p:nvSpPr>
          <p:cNvPr id="26" name="Shape 24"/>
          <p:cNvSpPr/>
          <p:nvPr/>
        </p:nvSpPr>
        <p:spPr>
          <a:xfrm>
            <a:off x="6537960" y="3191256"/>
            <a:ext cx="329184" cy="329184"/>
          </a:xfrm>
          <a:prstGeom prst="ellipse">
            <a:avLst/>
          </a:prstGeom>
          <a:solidFill>
            <a:srgbClr val="E08A2E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27" name="Text 25"/>
          <p:cNvSpPr txBox="1"/>
          <p:nvPr/>
        </p:nvSpPr>
        <p:spPr>
          <a:xfrm>
            <a:off x="6537960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ES_tradnl" sz="1300" noProof="1"/>
          </a:p>
        </p:txBody>
      </p:sp>
      <p:sp>
        <p:nvSpPr>
          <p:cNvPr id="28" name="Text 26"/>
          <p:cNvSpPr txBox="1"/>
          <p:nvPr/>
        </p:nvSpPr>
        <p:spPr>
          <a:xfrm>
            <a:off x="6995160" y="3172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 en ambas direcciones (θ = 0.001)</a:t>
            </a:r>
            <a:endParaRPr lang="es-ES_tradnl" sz="1500" noProof="1"/>
          </a:p>
        </p:txBody>
      </p:sp>
      <p:sp>
        <p:nvSpPr>
          <p:cNvPr id="29" name="Text 27"/>
          <p:cNvSpPr txBox="1"/>
          <p:nvPr/>
        </p:nvSpPr>
        <p:spPr>
          <a:xfrm>
            <a:off x="6995160" y="35570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7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εᵢ = max( dPD(ρ′, σ′ᵢ), dPD(σ′ᵢ, ρ′) )</a:t>
            </a:r>
            <a:endParaRPr lang="es-ES_tradnl" sz="1700" noProof="1"/>
          </a:p>
        </p:txBody>
      </p:sp>
      <p:sp>
        <p:nvSpPr>
          <p:cNvPr id="30" name="Shape 28"/>
          <p:cNvSpPr/>
          <p:nvPr/>
        </p:nvSpPr>
        <p:spPr>
          <a:xfrm>
            <a:off x="6537960" y="4215384"/>
            <a:ext cx="329184" cy="329184"/>
          </a:xfrm>
          <a:prstGeom prst="ellipse">
            <a:avLst/>
          </a:prstGeom>
          <a:solidFill>
            <a:srgbClr val="E08A2E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1" name="Text 29"/>
          <p:cNvSpPr txBox="1"/>
          <p:nvPr/>
        </p:nvSpPr>
        <p:spPr>
          <a:xfrm>
            <a:off x="6537960" y="4215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ES_tradnl" sz="1300" noProof="1"/>
          </a:p>
        </p:txBody>
      </p:sp>
      <p:sp>
        <p:nvSpPr>
          <p:cNvPr id="32" name="Text 30"/>
          <p:cNvSpPr txBox="1"/>
          <p:nvPr/>
        </p:nvSpPr>
        <p:spPr>
          <a:xfrm>
            <a:off x="6995160" y="41970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caso</a:t>
            </a:r>
            <a:endParaRPr lang="es-ES_tradnl" sz="1500" noProof="1"/>
          </a:p>
        </p:txBody>
      </p:sp>
      <p:sp>
        <p:nvSpPr>
          <p:cNvPr id="33" name="Text 31"/>
          <p:cNvSpPr txBox="1"/>
          <p:nvPr/>
        </p:nvSpPr>
        <p:spPr>
          <a:xfrm>
            <a:off x="6995160" y="45811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7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r>
              <a:rPr lang="es-ES_tradnl" sz="1700" baseline="-40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</a:t>
            </a:r>
            <a:r>
              <a:rPr lang="es-ES_tradnl" sz="17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maxᵢ εᵢ</a:t>
            </a:r>
            <a:endParaRPr lang="es-ES_tradnl" sz="1700" noProof="1"/>
          </a:p>
        </p:txBody>
      </p:sp>
      <p:sp>
        <p:nvSpPr>
          <p:cNvPr id="34" name="Text 32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6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dPD: Algoritmo 2 de Zhou &amp; Ying. Totales: Teo = Σₖ ε</a:t>
            </a:r>
            <a:r>
              <a:rPr lang="es-ES_tradnl" sz="1600" baseline="-400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teo,k</a:t>
            </a:r>
            <a:r>
              <a:rPr lang="es-ES_tradnl" sz="16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Exp = Σₖ ε</a:t>
            </a:r>
            <a:r>
              <a:rPr lang="es-ES_tradnl" sz="1600" baseline="-400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exp,k</a:t>
            </a:r>
            <a:endParaRPr lang="es-ES_tradnl" sz="16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completo</a:t>
            </a:r>
            <a:endParaRPr lang="es-ES_tradnl" sz="3200" noProof="1"/>
          </a:p>
        </p:txBody>
      </p:sp>
      <p:sp>
        <p:nvSpPr>
          <p:cNvPr id="5" name="Text 3"/>
          <p:cNvSpPr txBox="1"/>
          <p:nvPr/>
        </p:nvSpPr>
        <p:spPr>
          <a:xfrm>
            <a:off x="8686800" y="502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1100" kern="0" spc="2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s-ES_tradnl" sz="1100" noProof="1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4892040"/>
          </a:xfrm>
          <a:prstGeom prst="roundRect">
            <a:avLst>
              <a:gd name="adj" fmla="val 224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/>
          <p:cNvSpPr txBox="1"/>
          <p:nvPr/>
        </p:nvSpPr>
        <p:spPr>
          <a:xfrm>
            <a:off x="7772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b="1" noProof="1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columna k = 0, …, 6</a:t>
            </a:r>
            <a:endParaRPr lang="es-ES_tradnl" sz="1500" noProof="1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9" name="Text 7"/>
          <p:cNvSpPr txBox="1"/>
          <p:nvPr/>
        </p:nvSpPr>
        <p:spPr>
          <a:xfrm>
            <a:off x="96012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A9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encodeOneCol</a:t>
            </a:r>
            <a:endParaRPr lang="es-ES_tradnl" sz="1200" noProof="1"/>
          </a:p>
        </p:txBody>
      </p:sp>
      <p:sp>
        <p:nvSpPr>
          <p:cNvPr id="10" name="Text 8"/>
          <p:cNvSpPr txBox="1"/>
          <p:nvPr/>
        </p:nvSpPr>
        <p:spPr>
          <a:xfrm>
            <a:off x="960120" y="2304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3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Qd: 1000 estados</a:t>
            </a:r>
            <a:endParaRPr lang="es-ES_tradnl" sz="1300" noProof="1"/>
          </a:p>
        </p:txBody>
      </p:sp>
      <p:sp>
        <p:nvSpPr>
          <p:cNvPr id="11" name="Shape 9"/>
          <p:cNvSpPr/>
          <p:nvPr/>
        </p:nvSpPr>
        <p:spPr>
          <a:xfrm>
            <a:off x="3794760" y="2304288"/>
            <a:ext cx="64008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2" name="Shape 10"/>
          <p:cNvSpPr/>
          <p:nvPr/>
        </p:nvSpPr>
        <p:spPr>
          <a:xfrm>
            <a:off x="4434840" y="18745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3" name="Text 11"/>
          <p:cNvSpPr txBox="1"/>
          <p:nvPr/>
        </p:nvSpPr>
        <p:spPr>
          <a:xfrm>
            <a:off x="452628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A9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</a:t>
            </a:r>
            <a:endParaRPr lang="es-ES_tradnl" sz="1200" noProof="1"/>
          </a:p>
        </p:txBody>
      </p:sp>
      <p:sp>
        <p:nvSpPr>
          <p:cNvPr id="14" name="Text 12"/>
          <p:cNvSpPr txBox="1"/>
          <p:nvPr/>
        </p:nvSpPr>
        <p:spPr>
          <a:xfrm>
            <a:off x="4526280" y="2304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3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A(D)</a:t>
            </a:r>
            <a:endParaRPr lang="es-ES_tradnl" sz="1300" noProof="1"/>
          </a:p>
        </p:txBody>
      </p:sp>
      <p:sp>
        <p:nvSpPr>
          <p:cNvPr id="15" name="Shape 13"/>
          <p:cNvSpPr/>
          <p:nvPr/>
        </p:nvSpPr>
        <p:spPr>
          <a:xfrm>
            <a:off x="7360920" y="2304288"/>
            <a:ext cx="64008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6" name="Shape 14"/>
          <p:cNvSpPr/>
          <p:nvPr/>
        </p:nvSpPr>
        <p:spPr>
          <a:xfrm>
            <a:off x="8001000" y="18745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A9E8F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7" name="Text 15"/>
          <p:cNvSpPr txBox="1"/>
          <p:nvPr/>
        </p:nvSpPr>
        <p:spPr>
          <a:xfrm>
            <a:off x="809244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A9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GADNoiseMultiQubit</a:t>
            </a:r>
            <a:endParaRPr lang="es-ES_tradnl" sz="1200" noProof="1"/>
          </a:p>
        </p:txBody>
      </p:sp>
      <p:sp>
        <p:nvSpPr>
          <p:cNvPr id="18" name="Text 16"/>
          <p:cNvSpPr txBox="1"/>
          <p:nvPr/>
        </p:nvSpPr>
        <p:spPr>
          <a:xfrm>
            <a:off x="8092440" y="2304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3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ρ′ = ℰ(ρ)</a:t>
            </a:r>
            <a:endParaRPr lang="es-ES_tradnl" sz="1300" noProof="1"/>
          </a:p>
        </p:txBody>
      </p:sp>
      <p:sp>
        <p:nvSpPr>
          <p:cNvPr id="19" name="Shape 17"/>
          <p:cNvSpPr/>
          <p:nvPr/>
        </p:nvSpPr>
        <p:spPr>
          <a:xfrm>
            <a:off x="777240" y="2971800"/>
            <a:ext cx="10607040" cy="1691640"/>
          </a:xfrm>
          <a:prstGeom prst="roundRect">
            <a:avLst>
              <a:gd name="adj" fmla="val 5405"/>
            </a:avLst>
          </a:prstGeom>
          <a:solidFill>
            <a:srgbClr val="FBF0E3"/>
          </a:solidFill>
          <a:ln w="12700">
            <a:solidFill>
              <a:srgbClr val="FBF0E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0" name="Text 18"/>
          <p:cNvSpPr txBox="1"/>
          <p:nvPr/>
        </p:nvSpPr>
        <p:spPr>
          <a:xfrm>
            <a:off x="960120" y="3035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b="1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fila i = 0, …, 999</a:t>
            </a:r>
            <a:endParaRPr lang="es-ES_tradnl" sz="1400" noProof="1"/>
          </a:p>
        </p:txBody>
      </p:sp>
      <p:sp>
        <p:nvSpPr>
          <p:cNvPr id="21" name="Shape 19"/>
          <p:cNvSpPr/>
          <p:nvPr/>
        </p:nvSpPr>
        <p:spPr>
          <a:xfrm>
            <a:off x="960120" y="356616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E08A2E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2" name="Text 20"/>
          <p:cNvSpPr txBox="1"/>
          <p:nvPr/>
        </p:nvSpPr>
        <p:spPr>
          <a:xfrm>
            <a:off x="1051560" y="3657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E0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encodeExcludeOne</a:t>
            </a:r>
            <a:endParaRPr lang="es-ES_tradnl" sz="1200" noProof="1"/>
          </a:p>
        </p:txBody>
      </p:sp>
      <p:sp>
        <p:nvSpPr>
          <p:cNvPr id="23" name="Text 21"/>
          <p:cNvSpPr txBox="1"/>
          <p:nvPr/>
        </p:nvSpPr>
        <p:spPr>
          <a:xfrm>
            <a:off x="1051560" y="39959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3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D′ᵢ sin la fila i</a:t>
            </a:r>
            <a:endParaRPr lang="es-ES_tradnl" sz="1300" noProof="1"/>
          </a:p>
        </p:txBody>
      </p:sp>
      <p:sp>
        <p:nvSpPr>
          <p:cNvPr id="24" name="Shape 22"/>
          <p:cNvSpPr/>
          <p:nvPr/>
        </p:nvSpPr>
        <p:spPr>
          <a:xfrm>
            <a:off x="3200400" y="3995928"/>
            <a:ext cx="36576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5" name="Shape 23"/>
          <p:cNvSpPr/>
          <p:nvPr/>
        </p:nvSpPr>
        <p:spPr>
          <a:xfrm>
            <a:off x="3566160" y="356616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E08A2E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6" name="Text 24"/>
          <p:cNvSpPr txBox="1"/>
          <p:nvPr/>
        </p:nvSpPr>
        <p:spPr>
          <a:xfrm>
            <a:off x="3657600" y="3657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E0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</a:t>
            </a:r>
            <a:endParaRPr lang="es-ES_tradnl" sz="1200" noProof="1"/>
          </a:p>
        </p:txBody>
      </p:sp>
      <p:sp>
        <p:nvSpPr>
          <p:cNvPr id="27" name="Text 25"/>
          <p:cNvSpPr txBox="1"/>
          <p:nvPr/>
        </p:nvSpPr>
        <p:spPr>
          <a:xfrm>
            <a:off x="3657600" y="39959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3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σᵢ = A(D′ᵢ)</a:t>
            </a:r>
            <a:endParaRPr lang="es-ES_tradnl" sz="1300" noProof="1"/>
          </a:p>
        </p:txBody>
      </p:sp>
      <p:sp>
        <p:nvSpPr>
          <p:cNvPr id="28" name="Shape 26"/>
          <p:cNvSpPr/>
          <p:nvPr/>
        </p:nvSpPr>
        <p:spPr>
          <a:xfrm>
            <a:off x="5806440" y="3995928"/>
            <a:ext cx="36576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29" name="Shape 27"/>
          <p:cNvSpPr/>
          <p:nvPr/>
        </p:nvSpPr>
        <p:spPr>
          <a:xfrm>
            <a:off x="6172200" y="356616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E08A2E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0" name="Text 28"/>
          <p:cNvSpPr txBox="1"/>
          <p:nvPr/>
        </p:nvSpPr>
        <p:spPr>
          <a:xfrm>
            <a:off x="6263640" y="3657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E0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GADNoiseMultiQubit</a:t>
            </a:r>
            <a:endParaRPr lang="es-ES_tradnl" sz="1200" noProof="1"/>
          </a:p>
        </p:txBody>
      </p:sp>
      <p:sp>
        <p:nvSpPr>
          <p:cNvPr id="31" name="Text 29"/>
          <p:cNvSpPr txBox="1"/>
          <p:nvPr/>
        </p:nvSpPr>
        <p:spPr>
          <a:xfrm>
            <a:off x="6263640" y="39959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3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σ′ᵢ = ℰ(σᵢ)</a:t>
            </a:r>
            <a:endParaRPr lang="es-ES_tradnl" sz="1300" noProof="1"/>
          </a:p>
        </p:txBody>
      </p:sp>
      <p:sp>
        <p:nvSpPr>
          <p:cNvPr id="32" name="Shape 30"/>
          <p:cNvSpPr/>
          <p:nvPr/>
        </p:nvSpPr>
        <p:spPr>
          <a:xfrm>
            <a:off x="8412480" y="3995928"/>
            <a:ext cx="36576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3" name="Shape 31"/>
          <p:cNvSpPr/>
          <p:nvPr/>
        </p:nvSpPr>
        <p:spPr>
          <a:xfrm>
            <a:off x="8778240" y="356616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E08A2E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4" name="Text 32"/>
          <p:cNvSpPr txBox="1"/>
          <p:nvPr/>
        </p:nvSpPr>
        <p:spPr>
          <a:xfrm>
            <a:off x="8869680" y="3657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E0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trace_distance · dPD</a:t>
            </a:r>
            <a:endParaRPr lang="es-ES_tradnl" sz="1200" noProof="1"/>
          </a:p>
        </p:txBody>
      </p:sp>
      <p:sp>
        <p:nvSpPr>
          <p:cNvPr id="35" name="Text 33"/>
          <p:cNvSpPr txBox="1"/>
          <p:nvPr/>
        </p:nvSpPr>
        <p:spPr>
          <a:xfrm>
            <a:off x="8869680" y="39959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3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dᵢ  y  εᵢ</a:t>
            </a:r>
            <a:endParaRPr lang="es-ES_tradnl" sz="1300" noProof="1"/>
          </a:p>
        </p:txBody>
      </p:sp>
      <p:sp>
        <p:nvSpPr>
          <p:cNvPr id="36" name="Shape 34"/>
          <p:cNvSpPr/>
          <p:nvPr/>
        </p:nvSpPr>
        <p:spPr>
          <a:xfrm>
            <a:off x="868680" y="502920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37" name="Text 35"/>
          <p:cNvSpPr txBox="1"/>
          <p:nvPr/>
        </p:nvSpPr>
        <p:spPr>
          <a:xfrm>
            <a:off x="960120" y="5120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max(d_list)</a:t>
            </a:r>
            <a:endParaRPr lang="es-ES_tradnl" sz="1200" noProof="1"/>
          </a:p>
        </p:txBody>
      </p:sp>
      <p:sp>
        <p:nvSpPr>
          <p:cNvPr id="38" name="Text 36"/>
          <p:cNvSpPr txBox="1"/>
          <p:nvPr/>
        </p:nvSpPr>
        <p:spPr>
          <a:xfrm>
            <a:off x="960120" y="54589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3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s-ES_tradnl" sz="1300" baseline="-400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max,k</a:t>
            </a:r>
            <a:endParaRPr lang="es-ES_tradnl" sz="1300" noProof="1"/>
          </a:p>
        </p:txBody>
      </p:sp>
      <p:sp>
        <p:nvSpPr>
          <p:cNvPr id="39" name="Shape 37"/>
          <p:cNvSpPr/>
          <p:nvPr/>
        </p:nvSpPr>
        <p:spPr>
          <a:xfrm>
            <a:off x="3200400" y="5458968"/>
            <a:ext cx="36576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0" name="Shape 38"/>
          <p:cNvSpPr/>
          <p:nvPr/>
        </p:nvSpPr>
        <p:spPr>
          <a:xfrm>
            <a:off x="3566160" y="502920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1" name="Text 39"/>
          <p:cNvSpPr txBox="1"/>
          <p:nvPr/>
        </p:nvSpPr>
        <p:spPr>
          <a:xfrm>
            <a:off x="3657600" y="5120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GADNoiseTeo</a:t>
            </a:r>
            <a:endParaRPr lang="es-ES_tradnl" sz="1200" noProof="1"/>
          </a:p>
        </p:txBody>
      </p:sp>
      <p:sp>
        <p:nvSpPr>
          <p:cNvPr id="42" name="Text 40"/>
          <p:cNvSpPr txBox="1"/>
          <p:nvPr/>
        </p:nvSpPr>
        <p:spPr>
          <a:xfrm>
            <a:off x="3657600" y="54589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3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r>
              <a:rPr lang="es-ES_tradnl" sz="1300" baseline="-400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teo,k</a:t>
            </a:r>
            <a:endParaRPr lang="es-ES_tradnl" sz="1300" noProof="1"/>
          </a:p>
        </p:txBody>
      </p:sp>
      <p:sp>
        <p:nvSpPr>
          <p:cNvPr id="43" name="Shape 41"/>
          <p:cNvSpPr/>
          <p:nvPr/>
        </p:nvSpPr>
        <p:spPr>
          <a:xfrm>
            <a:off x="6263640" y="502920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4" name="Text 42"/>
          <p:cNvSpPr txBox="1"/>
          <p:nvPr/>
        </p:nvSpPr>
        <p:spPr>
          <a:xfrm>
            <a:off x="6355080" y="5120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max(e_list)</a:t>
            </a:r>
            <a:endParaRPr lang="es-ES_tradnl" sz="1200" noProof="1"/>
          </a:p>
        </p:txBody>
      </p:sp>
      <p:sp>
        <p:nvSpPr>
          <p:cNvPr id="45" name="Text 43"/>
          <p:cNvSpPr txBox="1"/>
          <p:nvPr/>
        </p:nvSpPr>
        <p:spPr>
          <a:xfrm>
            <a:off x="6355080" y="54589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3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r>
              <a:rPr lang="es-ES_tradnl" sz="1300" baseline="-400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exp,k</a:t>
            </a:r>
            <a:endParaRPr lang="es-ES_tradnl" sz="1300" noProof="1"/>
          </a:p>
        </p:txBody>
      </p:sp>
      <p:sp>
        <p:nvSpPr>
          <p:cNvPr id="46" name="Shape 44"/>
          <p:cNvSpPr/>
          <p:nvPr/>
        </p:nvSpPr>
        <p:spPr>
          <a:xfrm>
            <a:off x="8961120" y="502920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6193B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47" name="Text 45"/>
          <p:cNvSpPr txBox="1"/>
          <p:nvPr/>
        </p:nvSpPr>
        <p:spPr>
          <a:xfrm>
            <a:off x="9052560" y="5120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sobre k</a:t>
            </a:r>
            <a:endParaRPr lang="es-ES_tradnl" sz="1200" noProof="1"/>
          </a:p>
        </p:txBody>
      </p:sp>
      <p:sp>
        <p:nvSpPr>
          <p:cNvPr id="48" name="Text 46"/>
          <p:cNvSpPr txBox="1"/>
          <p:nvPr/>
        </p:nvSpPr>
        <p:spPr>
          <a:xfrm>
            <a:off x="9052560" y="54589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3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 vs Exp</a:t>
            </a:r>
            <a:endParaRPr lang="es-ES_tradnl" sz="13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Validación: cálculo a mano vs código</a:t>
            </a:r>
            <a:endParaRPr lang="es-ES_tradnl" sz="3200" noProof="1"/>
          </a:p>
        </p:txBody>
      </p:sp>
      <p:sp>
        <p:nvSpPr>
          <p:cNvPr id="5" name="Text 3"/>
          <p:cNvSpPr txBox="1"/>
          <p:nvPr/>
        </p:nvSpPr>
        <p:spPr>
          <a:xfrm>
            <a:off x="8686800" y="502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1100" kern="0" spc="2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s-ES_tradnl" sz="1100" noProof="1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/>
          <p:cNvSpPr txBox="1"/>
          <p:nvPr/>
        </p:nvSpPr>
        <p:spPr>
          <a:xfrm>
            <a:off x="868680" y="1600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2000" b="1" noProof="1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mano (collateral = 3)</a:t>
            </a:r>
            <a:endParaRPr lang="es-ES_tradnl" sz="2000" noProof="1"/>
          </a:p>
        </p:txBody>
      </p:sp>
      <p:sp>
        <p:nvSpPr>
          <p:cNvPr id="8" name="Text 6"/>
          <p:cNvSpPr txBox="1"/>
          <p:nvPr/>
        </p:nvSpPr>
        <p:spPr>
          <a:xfrm>
            <a:off x="86868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b="1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codificado</a:t>
            </a:r>
            <a:endParaRPr lang="es-ES_tradnl" sz="1500" noProof="1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ρ₀ = ½ [ 1  i ; −i  1 ]</a:t>
            </a:r>
            <a:endParaRPr lang="es-ES_tradnl" sz="2000" noProof="1"/>
          </a:p>
        </p:txBody>
      </p:sp>
      <p:sp>
        <p:nvSpPr>
          <p:cNvPr id="10" name="Text 8"/>
          <p:cNvSpPr txBox="1"/>
          <p:nvPr/>
        </p:nvSpPr>
        <p:spPr>
          <a:xfrm>
            <a:off x="868680" y="3474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b="1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GAD (p = γ = 0.5)</a:t>
            </a:r>
            <a:endParaRPr lang="es-ES_tradnl" sz="1500" noProof="1"/>
          </a:p>
        </p:txBody>
      </p:sp>
      <p:sp>
        <p:nvSpPr>
          <p:cNvPr id="11" name="Text 9"/>
          <p:cNvSpPr txBox="1"/>
          <p:nvPr/>
        </p:nvSpPr>
        <p:spPr>
          <a:xfrm>
            <a:off x="868680" y="3840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ℰ(ρ₀) = ½ [ 1  i/√2 ; −i/√2  1 ]</a:t>
            </a:r>
            <a:endParaRPr lang="es-ES_tradnl" sz="2000" noProof="1"/>
          </a:p>
        </p:txBody>
      </p:sp>
      <p:sp>
        <p:nvSpPr>
          <p:cNvPr id="12" name="Text 10"/>
          <p:cNvSpPr txBox="1"/>
          <p:nvPr/>
        </p:nvSpPr>
        <p:spPr>
          <a:xfrm>
            <a:off x="868680" y="4480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½ [ 1  0.707i ; −0.707i  1 ]</a:t>
            </a:r>
            <a:endParaRPr lang="es-ES_tradnl" sz="1500" noProof="1"/>
          </a:p>
        </p:txBody>
      </p:sp>
      <p:sp>
        <p:nvSpPr>
          <p:cNvPr id="13" name="Shape 11"/>
          <p:cNvSpPr/>
          <p:nvPr/>
        </p:nvSpPr>
        <p:spPr>
          <a:xfrm>
            <a:off x="6263640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E08A2E"/>
            </a:solidFill>
            <a:prstDash val="dash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4" name="Text 12"/>
          <p:cNvSpPr txBox="1"/>
          <p:nvPr/>
        </p:nvSpPr>
        <p:spPr>
          <a:xfrm>
            <a:off x="6537960" y="15544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500" i="1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salida de PennyLane para la misma fila (Qd[i] y GADNoiseMultiQubit aplicado a ese estado)</a:t>
            </a:r>
            <a:endParaRPr lang="es-ES_tradnl" sz="15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por columna</a:t>
            </a:r>
            <a:endParaRPr lang="es-ES_tradnl" sz="3200" noProof="1"/>
          </a:p>
        </p:txBody>
      </p:sp>
      <p:sp>
        <p:nvSpPr>
          <p:cNvPr id="5" name="Text 3"/>
          <p:cNvSpPr txBox="1"/>
          <p:nvPr/>
        </p:nvSpPr>
        <p:spPr>
          <a:xfrm>
            <a:off x="8686800" y="502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1100" kern="0" spc="2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s-ES_tradnl" sz="1100" noProof="1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135645"/>
              </p:ext>
            </p:extLst>
          </p:nvPr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5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5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máx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5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teórico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5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experimental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5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Razón teo / exp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collateral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credit_history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status_account + month_duration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status_savings + years_employment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400" noProof="1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credit_amount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400" noProof="1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4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500" b="1" noProof="1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(Σ)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500" b="1" noProof="1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500" b="1" noProof="1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500" b="1" noProof="1">
                          <a:solidFill>
                            <a:srgbClr val="1A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ES_tradnl" sz="15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i="1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re-ejecutar GAD2x2.py con la codificación numérica normalizada.</a:t>
            </a:r>
            <a:endParaRPr lang="es-ES_tradnl" sz="14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teórico vs experimental</a:t>
            </a:r>
            <a:endParaRPr lang="es-ES_tradnl" sz="3200" noProof="1"/>
          </a:p>
        </p:txBody>
      </p:sp>
      <p:sp>
        <p:nvSpPr>
          <p:cNvPr id="5" name="Text 3"/>
          <p:cNvSpPr txBox="1"/>
          <p:nvPr/>
        </p:nvSpPr>
        <p:spPr>
          <a:xfrm>
            <a:off x="8686800" y="502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1100" kern="0" spc="2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s-ES_tradnl" sz="1100" noProof="1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9494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E08A2E"/>
            </a:solidFill>
            <a:prstDash val="dash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/>
          <p:cNvSpPr txBox="1"/>
          <p:nvPr/>
        </p:nvSpPr>
        <p:spPr>
          <a:xfrm>
            <a:off x="822960" y="155448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500" i="1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gráfico de barras de ε</a:t>
            </a:r>
            <a:r>
              <a:rPr lang="es-ES_tradnl" sz="1500" i="1" baseline="-40000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</a:t>
            </a:r>
            <a:r>
              <a:rPr lang="es-ES_tradnl" sz="1500" i="1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ε</a:t>
            </a:r>
            <a:r>
              <a:rPr lang="es-ES_tradnl" sz="1500" i="1" baseline="-40000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r>
              <a:rPr lang="es-ES_tradnl" sz="1500" i="1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columna</a:t>
            </a:r>
            <a:endParaRPr lang="es-ES_tradnl" sz="1500" noProof="1"/>
          </a:p>
        </p:txBody>
      </p:sp>
      <p:sp>
        <p:nvSpPr>
          <p:cNvPr id="8" name="Shape 6"/>
          <p:cNvSpPr/>
          <p:nvPr/>
        </p:nvSpPr>
        <p:spPr>
          <a:xfrm>
            <a:off x="7818120" y="1371600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9" name="Text 7"/>
          <p:cNvSpPr txBox="1"/>
          <p:nvPr/>
        </p:nvSpPr>
        <p:spPr>
          <a:xfrm>
            <a:off x="8046720" y="16459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5400" b="1" noProof="1">
                <a:solidFill>
                  <a:srgbClr val="1A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s-ES_tradnl" sz="5400" noProof="1"/>
          </a:p>
        </p:txBody>
      </p:sp>
      <p:sp>
        <p:nvSpPr>
          <p:cNvPr id="10" name="Text 8"/>
          <p:cNvSpPr txBox="1"/>
          <p:nvPr/>
        </p:nvSpPr>
        <p:spPr>
          <a:xfrm>
            <a:off x="8046720" y="2697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8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</a:t>
            </a:r>
            <a:endParaRPr lang="es-ES_tradnl" sz="1800" noProof="1"/>
          </a:p>
        </p:txBody>
      </p:sp>
      <p:sp>
        <p:nvSpPr>
          <p:cNvPr id="11" name="Text 9"/>
          <p:cNvSpPr txBox="1"/>
          <p:nvPr/>
        </p:nvSpPr>
        <p:spPr>
          <a:xfrm>
            <a:off x="8046720" y="3063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noProof="1">
                <a:solidFill>
                  <a:srgbClr val="5F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ε</a:t>
            </a:r>
            <a:r>
              <a:rPr lang="es-ES_tradnl" sz="1600" baseline="-40000" noProof="1">
                <a:solidFill>
                  <a:srgbClr val="5F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teo,k</a:t>
            </a:r>
            <a:endParaRPr lang="es-ES_tradnl" sz="1600" noProof="1"/>
          </a:p>
        </p:txBody>
      </p:sp>
      <p:sp>
        <p:nvSpPr>
          <p:cNvPr id="12" name="Shape 10"/>
          <p:cNvSpPr/>
          <p:nvPr/>
        </p:nvSpPr>
        <p:spPr>
          <a:xfrm>
            <a:off x="7818120" y="3840480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FBF0E3"/>
          </a:solidFill>
          <a:ln w="12700">
            <a:solidFill>
              <a:srgbClr val="FBF0E3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3" name="Text 11"/>
          <p:cNvSpPr txBox="1"/>
          <p:nvPr/>
        </p:nvSpPr>
        <p:spPr>
          <a:xfrm>
            <a:off x="8046720" y="41148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5400" b="1" noProof="1">
                <a:solidFill>
                  <a:srgbClr val="E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s-ES_tradnl" sz="5400" noProof="1"/>
          </a:p>
        </p:txBody>
      </p:sp>
      <p:sp>
        <p:nvSpPr>
          <p:cNvPr id="14" name="Text 12"/>
          <p:cNvSpPr txBox="1"/>
          <p:nvPr/>
        </p:nvSpPr>
        <p:spPr>
          <a:xfrm>
            <a:off x="8046720" y="5166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8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endParaRPr lang="es-ES_tradnl" sz="1800" noProof="1"/>
          </a:p>
        </p:txBody>
      </p:sp>
      <p:sp>
        <p:nvSpPr>
          <p:cNvPr id="15" name="Text 13"/>
          <p:cNvSpPr txBox="1"/>
          <p:nvPr/>
        </p:nvSpPr>
        <p:spPr>
          <a:xfrm>
            <a:off x="8046720" y="5532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noProof="1">
                <a:solidFill>
                  <a:srgbClr val="5F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ε</a:t>
            </a:r>
            <a:r>
              <a:rPr lang="es-ES_tradnl" sz="1600" baseline="-40000" noProof="1">
                <a:solidFill>
                  <a:srgbClr val="5F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exp,k</a:t>
            </a:r>
            <a:endParaRPr lang="es-ES_tradnl" sz="16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</a:t>
            </a:r>
            <a:endParaRPr lang="es-ES_tradnl" sz="3200" noProof="1"/>
          </a:p>
        </p:txBody>
      </p:sp>
      <p:sp>
        <p:nvSpPr>
          <p:cNvPr id="5" name="Text 3"/>
          <p:cNvSpPr txBox="1"/>
          <p:nvPr/>
        </p:nvSpPr>
        <p:spPr>
          <a:xfrm>
            <a:off x="8686800" y="502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1100" kern="0" spc="2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s-ES_tradnl" sz="1100" noProof="1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7" name="Shape 5"/>
          <p:cNvSpPr/>
          <p:nvPr/>
        </p:nvSpPr>
        <p:spPr>
          <a:xfrm>
            <a:off x="822960" y="1801368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8" name="Text 6"/>
          <p:cNvSpPr txBox="1"/>
          <p:nvPr/>
        </p:nvSpPr>
        <p:spPr>
          <a:xfrm>
            <a:off x="822960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ES_tradnl" sz="1300" noProof="1"/>
          </a:p>
        </p:txBody>
      </p:sp>
      <p:sp>
        <p:nvSpPr>
          <p:cNvPr id="9" name="Text 7"/>
          <p:cNvSpPr txBox="1"/>
          <p:nvPr/>
        </p:nvSpPr>
        <p:spPr>
          <a:xfrm>
            <a:off x="1371600" y="15544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8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Holgura de la cota</a:t>
            </a:r>
            <a:endParaRPr lang="es-ES_tradnl" sz="1800" noProof="1"/>
          </a:p>
        </p:txBody>
      </p:sp>
      <p:sp>
        <p:nvSpPr>
          <p:cNvPr id="10" name="Text 8"/>
          <p:cNvSpPr txBox="1"/>
          <p:nvPr/>
        </p:nvSpPr>
        <p:spPr>
          <a:xfrm>
            <a:off x="1371600" y="19659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mayor es ε</a:t>
            </a:r>
            <a:r>
              <a:rPr lang="es-ES_tradnl" sz="1500" baseline="-400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</a:t>
            </a:r>
            <a:r>
              <a:rPr lang="es-ES_tradnl" sz="15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ε</a:t>
            </a:r>
            <a:r>
              <a:rPr lang="es-ES_tradnl" sz="1500" baseline="-400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r>
              <a:rPr lang="es-ES_tradnl" sz="15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¿Es uniforme entre columnas?</a:t>
            </a:r>
            <a:endParaRPr lang="es-ES_tradnl" sz="1500" noProof="1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2" name="Shape 10"/>
          <p:cNvSpPr/>
          <p:nvPr/>
        </p:nvSpPr>
        <p:spPr>
          <a:xfrm>
            <a:off x="822960" y="3172968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3" name="Text 11"/>
          <p:cNvSpPr txBox="1"/>
          <p:nvPr/>
        </p:nvSpPr>
        <p:spPr>
          <a:xfrm>
            <a:off x="822960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ES_tradnl" sz="1300" noProof="1"/>
          </a:p>
        </p:txBody>
      </p:sp>
      <p:sp>
        <p:nvSpPr>
          <p:cNvPr id="14" name="Text 12"/>
          <p:cNvSpPr txBox="1"/>
          <p:nvPr/>
        </p:nvSpPr>
        <p:spPr>
          <a:xfrm>
            <a:off x="1371600" y="29260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8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dominantes</a:t>
            </a:r>
            <a:endParaRPr lang="es-ES_tradnl" sz="1800" noProof="1"/>
          </a:p>
        </p:txBody>
      </p:sp>
      <p:sp>
        <p:nvSpPr>
          <p:cNvPr id="15" name="Text 13"/>
          <p:cNvSpPr txBox="1"/>
          <p:nvPr/>
        </p:nvSpPr>
        <p:spPr>
          <a:xfrm>
            <a:off x="1371600" y="33375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columnas aportan más al ε total y por qué (distribución de sus estados)?</a:t>
            </a:r>
            <a:endParaRPr lang="es-ES_tradnl" sz="1500" noProof="1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7" name="Shape 15"/>
          <p:cNvSpPr/>
          <p:nvPr/>
        </p:nvSpPr>
        <p:spPr>
          <a:xfrm>
            <a:off x="822960" y="4544568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8" name="Text 16"/>
          <p:cNvSpPr txBox="1"/>
          <p:nvPr/>
        </p:nvSpPr>
        <p:spPr>
          <a:xfrm>
            <a:off x="822960" y="4544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ES_tradnl" sz="1300" noProof="1"/>
          </a:p>
        </p:txBody>
      </p:sp>
      <p:sp>
        <p:nvSpPr>
          <p:cNvPr id="19" name="Text 17"/>
          <p:cNvSpPr txBox="1"/>
          <p:nvPr/>
        </p:nvSpPr>
        <p:spPr>
          <a:xfrm>
            <a:off x="1371600" y="42976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800" b="1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 la normalización</a:t>
            </a:r>
            <a:endParaRPr lang="es-ES_tradnl" sz="1800" noProof="1"/>
          </a:p>
        </p:txBody>
      </p:sp>
      <p:sp>
        <p:nvSpPr>
          <p:cNvPr id="20" name="Text 18"/>
          <p:cNvSpPr txBox="1"/>
          <p:nvPr/>
        </p:nvSpPr>
        <p:spPr>
          <a:xfrm>
            <a:off x="1371600" y="47091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5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cambian d</a:t>
            </a:r>
            <a:r>
              <a:rPr lang="es-ES_tradnl" sz="1500" baseline="-400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s-ES_tradnl" sz="15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ε en las columnas numéricas tras normalizar?</a:t>
            </a:r>
            <a:endParaRPr lang="es-ES_tradnl" sz="1500" noProof="1"/>
          </a:p>
        </p:txBody>
      </p:sp>
      <p:sp>
        <p:nvSpPr>
          <p:cNvPr id="21" name="Text 19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400" i="1" noProof="1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con los resultados de la nueva ejecución.</a:t>
            </a:r>
            <a:endParaRPr lang="es-ES_tradnl" sz="14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s-ES_tradnl" sz="1200" noProof="1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1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próximos pasos</a:t>
            </a:r>
            <a:endParaRPr lang="es-ES_tradnl" sz="3200" noProof="1"/>
          </a:p>
        </p:txBody>
      </p:sp>
      <p:sp>
        <p:nvSpPr>
          <p:cNvPr id="5" name="Text 3"/>
          <p:cNvSpPr txBox="1"/>
          <p:nvPr/>
        </p:nvSpPr>
        <p:spPr>
          <a:xfrm>
            <a:off x="8686800" y="502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1100" kern="0" spc="200" noProof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s-ES_tradnl" sz="1100" noProof="1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/>
          <p:cNvSpPr txBox="1"/>
          <p:nvPr/>
        </p:nvSpPr>
        <p:spPr>
          <a:xfrm>
            <a:off x="868680" y="1600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2000" b="1" noProof="1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s-ES_tradnl" sz="2000" noProof="1"/>
          </a:p>
        </p:txBody>
      </p:sp>
      <p:sp>
        <p:nvSpPr>
          <p:cNvPr id="8" name="Text 6"/>
          <p:cNvSpPr txBox="1"/>
          <p:nvPr/>
        </p:nvSpPr>
        <p:spPr>
          <a:xfrm>
            <a:off x="868680" y="224028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s-ES_tradnl" sz="18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punto de parámetros: p = γ = 0.5.</a:t>
            </a:r>
            <a:endParaRPr lang="es-ES_tradnl" sz="1800" noProof="1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s-ES_tradnl" sz="18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de marginales: no es el mismo estado que la fila completa.</a:t>
            </a:r>
            <a:endParaRPr lang="es-ES_tradnl" sz="1800" noProof="1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s-ES_tradnl" sz="18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con cotas del dataset: deben tratarse como públicas.</a:t>
            </a:r>
            <a:endParaRPr lang="es-ES_tradnl" sz="1800" noProof="1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s-ES_tradnl" sz="18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precisión θ = 0.001 fija la resolución de dPD.</a:t>
            </a:r>
            <a:endParaRPr lang="es-ES_tradnl" sz="1800" noProof="1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s-ES_tradnl" noProof="1"/>
          </a:p>
        </p:txBody>
      </p:sp>
      <p:sp>
        <p:nvSpPr>
          <p:cNvPr id="10" name="Text 8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2000" b="1" noProof="1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s-ES_tradnl" sz="2000" noProof="1"/>
          </a:p>
        </p:txBody>
      </p:sp>
      <p:sp>
        <p:nvSpPr>
          <p:cNvPr id="11" name="Text 9"/>
          <p:cNvSpPr txBox="1"/>
          <p:nvPr/>
        </p:nvSpPr>
        <p:spPr>
          <a:xfrm>
            <a:off x="6537960" y="224028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s-ES_tradnl" sz="18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Barrido de p y γ para ver cómo cambia la holgura.</a:t>
            </a:r>
            <a:endParaRPr lang="es-ES_tradnl" sz="1800" noProof="1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s-ES_tradnl" sz="18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 GADSingle (7 qubits, 128×128).</a:t>
            </a:r>
            <a:endParaRPr lang="es-ES_tradnl" sz="1800" noProof="1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s-ES_tradnl" sz="18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cotas de dominio públicas para normalizar.</a:t>
            </a:r>
            <a:endParaRPr lang="es-ES_tradnl" sz="1800" noProof="1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s-ES_tradnl" sz="1800" noProof="1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qué atributos concentran la pérdida de privacidad.</a:t>
            </a:r>
            <a:endParaRPr lang="es-ES_tradnl" sz="18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6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para discutir</a:t>
            </a:r>
            <a:endParaRPr lang="es-ES_tradnl" sz="3600" noProof="1"/>
          </a:p>
        </p:txBody>
      </p:sp>
      <p:sp>
        <p:nvSpPr>
          <p:cNvPr id="3" name="Shape 1"/>
          <p:cNvSpPr/>
          <p:nvPr/>
        </p:nvSpPr>
        <p:spPr>
          <a:xfrm>
            <a:off x="731520" y="1892808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4" name="Text 2"/>
          <p:cNvSpPr txBox="1"/>
          <p:nvPr/>
        </p:nvSpPr>
        <p:spPr>
          <a:xfrm>
            <a:off x="731520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ES_tradnl" sz="1300" noProof="1"/>
          </a:p>
        </p:txBody>
      </p:sp>
      <p:sp>
        <p:nvSpPr>
          <p:cNvPr id="5" name="Text 3"/>
          <p:cNvSpPr txBox="1"/>
          <p:nvPr/>
        </p:nvSpPr>
        <p:spPr>
          <a:xfrm>
            <a:off x="1280160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aceptable el producto de marginales como mecanismo, o conviene priorizar GADSingle?</a:t>
            </a:r>
            <a:endParaRPr lang="es-ES_tradnl" sz="2000" noProof="1"/>
          </a:p>
        </p:txBody>
      </p:sp>
      <p:sp>
        <p:nvSpPr>
          <p:cNvPr id="6" name="Shape 4"/>
          <p:cNvSpPr/>
          <p:nvPr/>
        </p:nvSpPr>
        <p:spPr>
          <a:xfrm>
            <a:off x="731520" y="2990088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7" name="Text 5"/>
          <p:cNvSpPr txBox="1"/>
          <p:nvPr/>
        </p:nvSpPr>
        <p:spPr>
          <a:xfrm>
            <a:off x="731520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ES_tradnl" sz="1300" noProof="1"/>
          </a:p>
        </p:txBody>
      </p:sp>
      <p:sp>
        <p:nvSpPr>
          <p:cNvPr id="8" name="Text 6"/>
          <p:cNvSpPr txBox="1"/>
          <p:nvPr/>
        </p:nvSpPr>
        <p:spPr>
          <a:xfrm>
            <a:off x="12801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¿Cotas de dominio públicas o mín/máx del dataset para normalizar?</a:t>
            </a:r>
            <a:endParaRPr lang="es-ES_tradnl" sz="2000" noProof="1"/>
          </a:p>
        </p:txBody>
      </p:sp>
      <p:sp>
        <p:nvSpPr>
          <p:cNvPr id="9" name="Shape 7"/>
          <p:cNvSpPr/>
          <p:nvPr/>
        </p:nvSpPr>
        <p:spPr>
          <a:xfrm>
            <a:off x="731520" y="4087368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0" name="Text 8"/>
          <p:cNvSpPr txBox="1"/>
          <p:nvPr/>
        </p:nvSpPr>
        <p:spPr>
          <a:xfrm>
            <a:off x="731520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ES_tradnl" sz="1300" noProof="1"/>
          </a:p>
        </p:txBody>
      </p:sp>
      <p:sp>
        <p:nvSpPr>
          <p:cNvPr id="11" name="Text 9"/>
          <p:cNvSpPr txBox="1"/>
          <p:nvPr/>
        </p:nvSpPr>
        <p:spPr>
          <a:xfrm>
            <a:off x="1280160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rango de p y γ vale la pena explorar?</a:t>
            </a:r>
            <a:endParaRPr lang="es-ES_tradnl" sz="2000" noProof="1"/>
          </a:p>
        </p:txBody>
      </p:sp>
      <p:sp>
        <p:nvSpPr>
          <p:cNvPr id="12" name="Shape 10"/>
          <p:cNvSpPr/>
          <p:nvPr/>
        </p:nvSpPr>
        <p:spPr>
          <a:xfrm>
            <a:off x="731520" y="5184648"/>
            <a:ext cx="329184" cy="329184"/>
          </a:xfrm>
          <a:prstGeom prst="ellipse">
            <a:avLst/>
          </a:prstGeom>
          <a:solidFill>
            <a:srgbClr val="1A9E8F"/>
          </a:solidFill>
          <a:ln/>
        </p:spPr>
        <p:txBody>
          <a:bodyPr/>
          <a:lstStyle/>
          <a:p>
            <a:endParaRPr lang="es-ES_tradnl" noProof="1"/>
          </a:p>
        </p:txBody>
      </p:sp>
      <p:sp>
        <p:nvSpPr>
          <p:cNvPr id="13" name="Text 11"/>
          <p:cNvSpPr txBox="1"/>
          <p:nvPr/>
        </p:nvSpPr>
        <p:spPr>
          <a:xfrm>
            <a:off x="731520" y="5184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ES_tradnl" sz="1300" noProof="1"/>
          </a:p>
        </p:txBody>
      </p:sp>
      <p:sp>
        <p:nvSpPr>
          <p:cNvPr id="14" name="Text 12"/>
          <p:cNvSpPr txBox="1"/>
          <p:nvPr/>
        </p:nvSpPr>
        <p:spPr>
          <a:xfrm>
            <a:off x="1280160" y="5074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presentar la holgura de la cota en la tesis?</a:t>
            </a:r>
            <a:endParaRPr lang="es-ES_tradnl" sz="2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76467CA-29D5-4242-9F88-544A082EF20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f3d6df-9f9d-4bf1-b1ad-7e6c0c763a9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2127</Words>
  <Application>Microsoft Macintosh PowerPoint</Application>
  <PresentationFormat>Widescreen</PresentationFormat>
  <Paragraphs>304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Privacidad diferencial cuántica con GAD</dc:title>
  <dc:subject>PptxGenJS Presentation</dc:subject>
  <dc:creator>PptxGenJS</dc:creator>
  <cp:lastModifiedBy>Tomas Sierra Sanchez</cp:lastModifiedBy>
  <cp:revision>3</cp:revision>
  <dcterms:created xsi:type="dcterms:W3CDTF">2026-09-22T20:32:08Z</dcterms:created>
  <dcterms:modified xsi:type="dcterms:W3CDTF">2026-09-22T21:15:26Z</dcterms:modified>
</cp:coreProperties>
</file>