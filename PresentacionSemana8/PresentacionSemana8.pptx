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313" r:id="rId3"/>
    <p:sldId id="311" r:id="rId4"/>
    <p:sldId id="308" r:id="rId5"/>
    <p:sldId id="312" r:id="rId6"/>
    <p:sldId id="310" r:id="rId7"/>
    <p:sldId id="299" r:id="rId8"/>
    <p:sldId id="298" r:id="rId9"/>
    <p:sldId id="285" r:id="rId10"/>
    <p:sldId id="326" r:id="rId11"/>
    <p:sldId id="327" r:id="rId12"/>
    <p:sldId id="328" r:id="rId13"/>
    <p:sldId id="329" r:id="rId14"/>
    <p:sldId id="314" r:id="rId15"/>
    <p:sldId id="330" r:id="rId16"/>
    <p:sldId id="315" r:id="rId17"/>
    <p:sldId id="331" r:id="rId18"/>
    <p:sldId id="332" r:id="rId19"/>
    <p:sldId id="333" r:id="rId20"/>
    <p:sldId id="273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275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84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35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303-1F8C-1F4C-B182-ABA6E8EF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595DE-ACDC-0979-D57C-A1C5FDF6F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72DA1-5B02-0BDF-6108-8E4CB277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0FFB4-EBA0-ABB2-CF05-971571202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88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4812-7E4D-B3BD-D643-C3F28A99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13A17-48C5-D6DA-6533-E641A632F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6E431-D4F2-38CA-585F-2C144796F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E1153-0E78-96DF-0C8D-E98EFF007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33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Verificar en Encoder.py cómo se codifica credit_amount (un solo atributo con RY + RZ). La normalización de los numéricos se agregó después de la verificación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verificación a mano mostró que sin normalizar, RZ(24) da vueltas módulo 2π y el orden de los valores se pierde. Por eso se normaliza.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Mostrar que el código reproduce exactamente el cálculo a mano. La verificación a mano además detectó la falta de normalización en la codificación numérica.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6BFB7-F104-E381-1193-94459BE9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3098D-A3E9-7EF0-EA7A-EA208076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959D1-2D6D-364A-E315-34DCF34BD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C1E73-39DF-EC74-6357-3F5D6AEA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8136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ρ − σᵢ escala con 1/N, las distancias de traza son del orden de 10⁻³, y ambos ε deberían ser pequeños.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CB7F1-5F74-E17A-DD1A-466609583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5220B-440E-F13A-14B1-58E7A6E8D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BCE6A-FA39-790C-510B-FC522FFDC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E8873-E864-5911-9284-62E994037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929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 el experimento GAD se aplica al estado agregado ρ, no a una fila; el ejemplo de una fila es solo para mostrar el mecanismo. El ejemplo categórico está en z = 0, así que solo se ve la contracción en x, y. El numérico (z ≠ 0) mostrará además la contracción en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235568"/>
            <a:ext cx="7873218" cy="69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Avances Tesis Semana 8</a:t>
            </a:r>
            <a:endParaRPr lang="es-ES_tradnl" sz="4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98D03-FD64-D562-2306-F6E39458B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DF7CDC-54F0-4925-8CA1-3F031066DFE9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0F97D9-BDAD-FC8A-E13C-637891434CCE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85AD4D-50AE-8817-C3D8-EED3B63C018E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0F1031-DE22-883D-0967-CD12385F7BA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 independencia de operaciones con producto tensorial.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3117392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Proposición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densidad sobre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</a:t>
                </a:r>
                <a:r>
                  <a:rPr lang="es-ES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Debo demostrar que la composición de la operación cuántica individual es igual que la operación cuántica compuesta por todos los operadores.</a:t>
                </a:r>
                <a:endParaRPr lang="es-ES" noProof="1"/>
              </a:p>
              <a:p>
                <a:pPr marL="0" indent="0" algn="l">
                  <a:lnSpc>
                    <a:spcPct val="110000"/>
                  </a:lnSpc>
                  <a:buNone/>
                </a:pPr>
                <a:endParaRPr lang="es-ES" sz="1800" noProof="1"/>
              </a:p>
            </p:txBody>
          </p:sp>
        </mc:Choice>
        <mc:Fallback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 r="-686" b="-344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667000"/>
            <a:ext cx="11099800" cy="2235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825500" y="29718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otras palabras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2"/>
              <p:cNvSpPr txBox="1"/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501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Lema: producto mixto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Lema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tres pares de operadores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 tres espacios vectoriales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respectivamente.</a:t>
                </a:r>
                <a:endParaRPr lang="es-ES" sz="1800" noProof="1"/>
              </a:p>
            </p:txBody>
          </p:sp>
        </mc:Choice>
        <mc:Fallback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2463800"/>
            <a:ext cx="11099800" cy="7874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9"/>
              <p:cNvSpPr txBox="1"/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3505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igualdad</a:t>
            </a:r>
            <a:endParaRPr lang="es-ES" sz="1600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3860800"/>
            <a:ext cx="1109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8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operadores son iguales si y solo si actúan de la misma forma en cualquier vector del espacio vectorial.</a:t>
            </a:r>
            <a:endParaRPr lang="es-ES" sz="1800" noProof="1"/>
          </a:p>
        </p:txBody>
      </p:sp>
      <p:sp>
        <p:nvSpPr>
          <p:cNvPr id="12" name="Text 12"/>
          <p:cNvSpPr txBox="1"/>
          <p:nvPr/>
        </p:nvSpPr>
        <p:spPr>
          <a:xfrm>
            <a:off x="546100" y="4470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demostrar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3"/>
              <p:cNvSpPr txBox="1"/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tenemos que demostrar que</a:t>
                </a:r>
                <a:endParaRPr lang="es-ES" sz="1800" noProof="1"/>
              </a:p>
            </p:txBody>
          </p:sp>
        </mc:Choice>
        <mc:Fallback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blipFill>
                <a:blip r:embed="rId5"/>
                <a:stretch>
                  <a:fillRect l="-1373" t="-16667" b="-1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384800"/>
            <a:ext cx="11099800" cy="7366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5"/>
              <p:cNvSpPr txBox="1"/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836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del lema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19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la definición 1.8 de las notas de la clase Quantum Physics II, Lecture Notes 8 del profesor Zwiebach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7"/>
              <p:cNvSpPr txBox="1"/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Entonces:</a:t>
                </a:r>
                <a:endParaRPr lang="es-ES" sz="1800" noProof="1"/>
              </a:p>
            </p:txBody>
          </p:sp>
        </mc:Choice>
        <mc:Fallback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blipFill>
                <a:blip r:embed="rId3"/>
                <a:stretch>
                  <a:fillRect l="-1373" t="-12500" b="-937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1981200"/>
            <a:ext cx="11099800" cy="5588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9"/>
              <p:cNvSpPr txBox="1"/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𝑇𝑣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𝑆𝑤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2692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11"/>
              <p:cNvSpPr txBox="1"/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0" indent="0" algn="l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1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2"/>
          <p:cNvSpPr txBox="1"/>
          <p:nvPr/>
        </p:nvSpPr>
        <p:spPr>
          <a:xfrm>
            <a:off x="546100" y="40386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3"/>
              <p:cNvSpPr txBox="1"/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054600"/>
            <a:ext cx="11099800" cy="1219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5"/>
              <p:cNvSpPr txBox="1"/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Como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genera todo el espacio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el producto tensorial es lineal, la igualdad en cada vector generador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implica su igualdad en cualquier combinación lineal de ellos.  ∎</a:t>
                </a:r>
                <a:endParaRPr lang="es-ES" sz="1600" noProof="1"/>
              </a:p>
            </p:txBody>
          </p:sp>
        </mc:Choice>
        <mc:Fallback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blipFill>
                <a:blip r:embed="rId7"/>
                <a:stretch>
                  <a:fillRect l="-108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7068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 la proposición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lema a la demostración</a:t>
            </a:r>
            <a:endParaRPr lang="es-ES" sz="1600" noProof="1"/>
          </a:p>
        </p:txBody>
      </p:sp>
      <p:sp>
        <p:nvSpPr>
          <p:cNvPr id="7" name="Shape 7"/>
          <p:cNvSpPr/>
          <p:nvPr/>
        </p:nvSpPr>
        <p:spPr>
          <a:xfrm>
            <a:off x="546100" y="19050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8" name="Text 8"/>
          <p:cNvSpPr txBox="1"/>
          <p:nvPr/>
        </p:nvSpPr>
        <p:spPr>
          <a:xfrm>
            <a:off x="546100" y="190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9"/>
              <p:cNvSpPr txBox="1"/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8448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284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2"/>
              <p:cNvSpPr txBox="1"/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3"/>
          <p:cNvSpPr/>
          <p:nvPr/>
        </p:nvSpPr>
        <p:spPr>
          <a:xfrm>
            <a:off x="546100" y="3810000"/>
            <a:ext cx="11099800" cy="22860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4" name="Text 14"/>
          <p:cNvSpPr txBox="1"/>
          <p:nvPr/>
        </p:nvSpPr>
        <p:spPr>
          <a:xfrm>
            <a:off x="825500" y="40132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5"/>
              <p:cNvSpPr txBox="1"/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 ∎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29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05AB7-E57C-B2EC-B981-ED380DC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08B19-A33F-2FEB-4130-87006A56427A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6E7950-B1F9-213F-67E5-3DF67D45DB3A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502014-44BF-0ED7-3A04-AFA2C6FC4148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0BB1FF-3949-8838-BF4A-B10378B0649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Busqueda de presupuesto de privacidad diferencial cuántica con Generalized Amplitude Damping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4144996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1</a:t>
            </a:r>
            <a:endParaRPr lang="es-ES_tradnl" sz="1400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Codificación</a:t>
            </a:r>
            <a:endParaRPr lang="es-ES_tradnl" sz="4000" noProof="1"/>
          </a:p>
        </p:txBody>
      </p:sp>
      <p:sp>
        <p:nvSpPr>
          <p:cNvPr id="6" name="Text 4"/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atributos de German Credit a estados de un qubit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2478606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codificación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· 1000 filas · 9 atributos → 7 qubits (uno por columna)</a:t>
            </a:r>
            <a:endParaRPr lang="es-ES_tradnl" sz="1800" noProof="1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874520"/>
          <a:ext cx="74066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Atributo(s)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Compuertas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RZ(0)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75320" y="187452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6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7"/>
              <p:cNvSpPr txBox="1"/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categoría,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nº de categorías. Todos los estados quedan sobre el ecuador de la esfera de Bloch.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blipFill>
                <a:blip r:embed="rId3"/>
                <a:stretch>
                  <a:fillRect l="-3766" t="-5319" r="-376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8275320" y="3840480"/>
            <a:ext cx="3383280" cy="1874520"/>
          </a:xfrm>
          <a:prstGeom prst="roundRect">
            <a:avLst>
              <a:gd name="adj" fmla="val 5854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9"/>
          <p:cNvSpPr txBox="1"/>
          <p:nvPr/>
        </p:nvSpPr>
        <p:spPr>
          <a:xfrm>
            <a:off x="8503920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0"/>
              <p:cNvSpPr txBox="1"/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Dos atributos por qubit: uno fija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y otro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 Ángulos normalizados 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[0,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blipFill>
                <a:blip r:embed="rId4"/>
                <a:stretch>
                  <a:fillRect l="-3766" t="-3922" r="-209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697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categórica</a:t>
            </a:r>
            <a:endParaRPr lang="es-ES_tradnl" sz="3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548640" y="1262941"/>
                <a:ext cx="8880368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Dato: Collateral = 3 (savings agreement/life insurance), con </a:t>
                </a:r>
                <a14:m>
                  <m:oMath xmlns:m="http://schemas.openxmlformats.org/officeDocument/2006/math"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categorías</a:t>
                </a:r>
                <a:endParaRPr lang="es-ES_tradnl" sz="2200" noProof="1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262941"/>
                <a:ext cx="8880368" cy="411480"/>
              </a:xfrm>
              <a:prstGeom prst="rect">
                <a:avLst/>
              </a:prstGeom>
              <a:blipFill>
                <a:blip r:embed="rId3"/>
                <a:stretch>
                  <a:fillRect l="-2000" t="-21212" r="-1571" b="-2424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548640" y="1674421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r>
                        <a:rPr lang="es-419" sz="2200" b="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sz="22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74421"/>
                <a:ext cx="6309360" cy="502920"/>
              </a:xfrm>
              <a:prstGeom prst="rect">
                <a:avLst/>
              </a:prstGeom>
              <a:blipFill>
                <a:blip r:embed="rId4"/>
                <a:stretch>
                  <a:fillRect l="-1610" t="-20000" b="-3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 txBox="1"/>
          <p:nvPr/>
        </p:nvSpPr>
        <p:spPr>
          <a:xfrm>
            <a:off x="548640" y="2451661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2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Hadamard</a:t>
            </a:r>
            <a:endParaRPr lang="es-ES_tradnl" sz="2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548640" y="2863141"/>
                <a:ext cx="6309360" cy="914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863141"/>
                <a:ext cx="6309360" cy="914400"/>
              </a:xfrm>
              <a:prstGeom prst="rect">
                <a:avLst/>
              </a:prstGeom>
              <a:blipFill>
                <a:blip r:embed="rId5"/>
                <a:stretch>
                  <a:fillRect l="-20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 txBox="1"/>
              <p:nvPr/>
            </p:nvSpPr>
            <p:spPr>
              <a:xfrm>
                <a:off x="556260" y="3777541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0" y="3777541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610" t="-21212" b="-2424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 15"/>
              <p:cNvSpPr txBox="1"/>
              <p:nvPr/>
            </p:nvSpPr>
            <p:spPr>
              <a:xfrm>
                <a:off x="548640" y="4372048"/>
                <a:ext cx="5547360" cy="2310105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≅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dirty="0"/>
              </a:p>
              <a:p>
                <a:endParaRPr lang="es-419" sz="2200" dirty="0"/>
              </a:p>
              <a:p>
                <a14:m>
                  <m:oMath xmlns:m="http://schemas.openxmlformats.org/officeDocument/2006/math">
                    <m:r>
                      <a:rPr lang="es-ES" sz="2200" i="1">
                        <a:latin typeface="Cambria Math" panose="02040503050406030204" pitchFamily="18" charset="0"/>
                      </a:rPr>
                      <m:t>≅</m:t>
                    </m:r>
                  </m:oMath>
                </a14:m>
                <a:r>
                  <a:rPr lang="es-419" sz="2200" dirty="0"/>
                  <a:t> ? Es gracias a la fase global !</a:t>
                </a:r>
              </a:p>
              <a:p>
                <a:endParaRPr sz="2200" dirty="0"/>
              </a:p>
            </p:txBody>
          </p:sp>
        </mc:Choice>
        <mc:Fallback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372048"/>
                <a:ext cx="5547360" cy="2310105"/>
              </a:xfrm>
              <a:prstGeom prst="rect">
                <a:avLst/>
              </a:prstGeom>
              <a:blipFill>
                <a:blip r:embed="rId7"/>
                <a:stretch>
                  <a:fillRect l="-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0"/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>
          <p:sp>
            <p:nvSpPr>
              <p:cNvPr id="23" name="Tex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9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997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2200" y="368300"/>
            <a:ext cx="9321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matriz de densidad paso a paso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tras Hadamard: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begChr m:val="|"/>
                        <m:endChr m:val="⟩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sSup>
                      <m:sSup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n-CO" sz="2000" dirty="0">
                  <a:noFill/>
                </a:endParaRPr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blipFill>
                <a:blip r:embed="rId3"/>
                <a:stretch>
                  <a:fillRect l="-723" t="-3030" b="-2727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500" dirty="0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9083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908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 txBox="1"/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num>
                          <m:den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sub>
                    </m:sSub>
                    <m:sSup>
                      <m:sSup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s-ES" sz="2000" b="1" i="1" smtClean="0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sub>
                        </m:sSub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s-ES_tradnl" sz="2000" noProof="1"/>
              </a:p>
            </p:txBody>
          </p:sp>
        </mc:Choice>
        <mc:Fallback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blipFill>
                <a:blip r:embed="rId5"/>
                <a:stretch>
                  <a:fillRect l="-1566" t="-2857" b="-22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419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50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ar-AE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25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s-419" sz="2500" dirty="0"/>
                  <a:t> dado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419" sz="25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419" sz="25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s-419" sz="25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s-419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num>
                              <m:den>
                                <m: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𝑖𝑠𝑖𝑛</m:t>
                    </m:r>
                    <m:d>
                      <m:d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s-419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endParaRPr sz="2500" dirty="0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BBFFACC-C21B-59BD-29EC-00514B79CC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8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433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numérica (dense angle)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[0, π]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blipFill>
                <a:blip r:embed="rId3"/>
                <a:stretch>
                  <a:fillRect l="-1408" t="-8108" b="-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 txBox="1"/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primer atributo</a:t>
                </a:r>
                <a:endParaRPr lang="es-ES_tradnl" sz="1600" noProof="1"/>
              </a:p>
            </p:txBody>
          </p:sp>
        </mc:Choice>
        <mc:Fallback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blipFill>
                <a:blip r:embed="rId4"/>
                <a:stretch>
                  <a:fillRect l="-2213" t="-1470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blipFill>
                <a:blip r:embed="rId5"/>
                <a:stretch>
                  <a:fillRect l="-1408" t="-10811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548640" y="346557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 txBox="1"/>
          <p:nvPr/>
        </p:nvSpPr>
        <p:spPr>
          <a:xfrm>
            <a:off x="54864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 txBox="1"/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segundo atributo</a:t>
                </a:r>
                <a:endParaRPr lang="es-ES_tradnl" sz="1600" noProof="1"/>
              </a:p>
            </p:txBody>
          </p:sp>
        </mc:Choice>
        <mc:Fallback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213" t="-1515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 15"/>
              <p:cNvSpPr txBox="1"/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blipFill>
                <a:blip r:embed="rId7"/>
                <a:stretch>
                  <a:fillRect l="-1207" t="-8108" b="-24324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548640" y="448970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 txBox="1"/>
          <p:nvPr/>
        </p:nvSpPr>
        <p:spPr>
          <a:xfrm>
            <a:off x="548640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_tradnl" sz="1300" noProof="1"/>
          </a:p>
        </p:txBody>
      </p:sp>
      <p:sp>
        <p:nvSpPr>
          <p:cNvPr id="20" name="Text 18"/>
          <p:cNvSpPr txBox="1"/>
          <p:nvPr/>
        </p:nvSpPr>
        <p:spPr>
          <a:xfrm>
            <a:off x="1051560" y="44439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de Bloch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19"/>
              <p:cNvSpPr txBox="1"/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548640" y="5359400"/>
            <a:ext cx="6766560" cy="9906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8A2E"/>
            </a:solidFill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/>
              <p:cNvSpPr txBox="1"/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s-ES_tradnl" sz="1500" b="1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Ejemplo: </a:t>
                </a:r>
                <a14:m>
                  <m:oMath xmlns:m="http://schemas.openxmlformats.org/officeDocument/2006/math"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⇒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es-ES" sz="1500" i="1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s-ES" sz="1500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·5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/17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buNone/>
                </a:pPr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Vector de Bloch: </a:t>
                </a:r>
                <a14:m>
                  <m:oMath xmlns:m="http://schemas.openxmlformats.org/officeDocument/2006/math"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)≈(0.52, 0.69, 0.50)</m:t>
                    </m:r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blipFill>
                <a:blip r:embed="rId9"/>
                <a:stretch>
                  <a:fillRect t="-28571" b="-3015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 22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evita que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junte el mínimo con el máximo y conserva el orden.</a:t>
                </a:r>
                <a:endParaRPr lang="es-ES_tradnl" sz="1400" noProof="1"/>
              </a:p>
            </p:txBody>
          </p:sp>
        </mc:Choice>
        <mc:Fallback>
          <p:sp>
            <p:nvSpPr>
              <p:cNvPr id="25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1"/>
                <a:stretch>
                  <a:fillRect t="-862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4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cálculo a mano vs código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mano (collateral = 3)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codificado</a:t>
            </a:r>
            <a:endParaRPr lang="es-ES_tradnl" sz="15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blipFill>
                <a:blip r:embed="rId3"/>
                <a:stretch>
                  <a:fillRect l="-1862" t="-4878" b="-2439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GAD (p = γ = 0.5)</a:t>
            </a:r>
            <a:endParaRPr lang="es-ES_tradnl" sz="15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blipFill>
                <a:blip r:embed="rId4"/>
                <a:stretch>
                  <a:fillRect l="-1862" t="-109756" b="-17561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 txBox="1"/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5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5F6B7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−0.707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 l="-1064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6263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50B710-F3D9-9150-10D7-2F46BEC6A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1747520"/>
            <a:ext cx="49149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484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393384-49CF-4EFE-176E-12EE047B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D45C-5A5A-8D1C-4546-62DC9993C5F0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FAF7C3-13A0-8DF3-6F48-8DEE7859F40C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C22520-472A-CF41-B0EF-423C7A8256B5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2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BBA5D4-EFCA-2E2A-FFA1-4B6BA821DAD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Agrupación</a:t>
            </a:r>
            <a:endParaRPr lang="es-ES_tradnl" sz="4000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6457DBF-ECF7-FA94-63CB-211B0B64C79F}"/>
              </a:ext>
            </a:extLst>
          </p:cNvPr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matrices de densidad independientes del dataset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376251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Agregación y datasets vecinos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927098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204597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blipFill>
                <a:blip r:embed="rId3"/>
                <a:stretch>
                  <a:fillRect l="-1222"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48640" y="4094402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822960" y="4306473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 D′ᵢ (se elimina la fila i)</a:t>
            </a:r>
            <a:endParaRPr lang="es-ES_tradnl" sz="16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blipFill>
                <a:blip r:embed="rId4"/>
                <a:stretch>
                  <a:fillRect l="-815"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5486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Ilustrativo: el promedio de estados puros queda dentro de la esfera (estado mixto).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885019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10BF9-83B2-B322-F7C0-43DA7E5F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E1691D-9C21-6CE3-EB72-A8AF1ECE7DEB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5AA3A49-24F5-466C-F124-46F6462FE560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A010F3-2CCD-9883-606C-DEA90911C742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3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6C43DC-F352-EFDE-1675-57918E79D85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de canal depolarizante</a:t>
            </a:r>
            <a:endParaRPr lang="es-ES_tradnl" sz="40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/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Sobre las matrices de densidad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𝜌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𝜎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</p:txBody>
          </p:sp>
        </mc:Choice>
        <mc:Fallback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blipFill>
                <a:blip r:embed="rId3"/>
                <a:stretch>
                  <a:fillRect l="-2080" t="-162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601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Generalized Amplitude Damping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5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8214362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214362" y="2144268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 txBox="1"/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2"/>
              <p:cNvSpPr txBox="1"/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bSup>
                            <m:sSubSup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nary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con</m:t>
                      </m:r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blipFill>
                <a:blip r:embed="rId7"/>
                <a:stretch>
                  <a:fillRect l="-660" t="-218919" r="-330" b="-32702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7"/>
              <p:cNvSpPr txBox="1"/>
              <p:nvPr/>
            </p:nvSpPr>
            <p:spPr>
              <a:xfrm>
                <a:off x="2194560" y="5682996"/>
                <a:ext cx="2740825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0,−1,0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0,−</m:t>
                          </m:r>
                          <m:f>
                            <m:fPr>
                              <m:type m:val="lin"/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19" name="Tex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0" y="5682996"/>
                <a:ext cx="2740825" cy="411480"/>
              </a:xfrm>
              <a:prstGeom prst="rect">
                <a:avLst/>
              </a:prstGeom>
              <a:blipFill>
                <a:blip r:embed="rId8"/>
                <a:stretch>
                  <a:fillRect t="-91176" b="-14117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 txBox="1"/>
              <p:nvPr/>
            </p:nvSpPr>
            <p:spPr>
              <a:xfrm>
                <a:off x="7097784" y="5189220"/>
                <a:ext cx="2507475" cy="1399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784" y="5189220"/>
                <a:ext cx="2507475" cy="1399032"/>
              </a:xfrm>
              <a:prstGeom prst="rect">
                <a:avLst/>
              </a:prstGeom>
              <a:blipFill>
                <a:blip r:embed="rId9"/>
                <a:stretch>
                  <a:fillRect l="-301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Kraus numéricos"/>
              <p:cNvSpPr txBox="1"/>
              <p:nvPr/>
            </p:nvSpPr>
            <p:spPr>
              <a:xfrm>
                <a:off x="370986" y="3038094"/>
                <a:ext cx="11287614" cy="13716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0" indent="0">
                  <a:spcBef>
                    <a:spcPts val="4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4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4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</p:txBody>
          </p:sp>
        </mc:Choice>
        <mc:Fallback>
          <p:sp>
            <p:nvSpPr>
              <p:cNvPr id="40" name="Kraus numérico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6" y="3038094"/>
                <a:ext cx="11287614" cy="1371600"/>
              </a:xfrm>
              <a:prstGeom prst="rect">
                <a:avLst/>
              </a:prstGeom>
              <a:blipFill>
                <a:blip r:embed="rId10"/>
                <a:stretch>
                  <a:fillRect t="-30275" b="-83486"/>
                </a:stretch>
              </a:blipFill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6122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/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/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/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/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/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 21"/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/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/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 25"/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27" name="Tex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487045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/>
          <p:cNvSpPr/>
          <p:nvPr/>
        </p:nvSpPr>
        <p:spPr>
          <a:xfrm>
            <a:off x="683895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/>
          <p:cNvSpPr/>
          <p:nvPr/>
        </p:nvSpPr>
        <p:spPr>
          <a:xfrm>
            <a:off x="7108825" y="3581400"/>
            <a:ext cx="1397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/>
          <p:cNvSpPr txBox="1"/>
          <p:nvPr/>
        </p:nvSpPr>
        <p:spPr>
          <a:xfrm>
            <a:off x="492125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Distancia de traza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 33"/>
              <p:cNvSpPr txBox="1"/>
              <p:nvPr/>
            </p:nvSpPr>
            <p:spPr>
              <a:xfrm>
                <a:off x="492125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35" name="Text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125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/>
          <p:cNvSpPr/>
          <p:nvPr/>
        </p:nvSpPr>
        <p:spPr>
          <a:xfrm>
            <a:off x="3219450" y="5029200"/>
            <a:ext cx="2667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/>
          <p:cNvSpPr txBox="1"/>
          <p:nvPr/>
        </p:nvSpPr>
        <p:spPr>
          <a:xfrm>
            <a:off x="3270250" y="5130800"/>
            <a:ext cx="256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40"/>
              <p:cNvSpPr txBox="1"/>
              <p:nvPr/>
            </p:nvSpPr>
            <p:spPr>
              <a:xfrm>
                <a:off x="3270250" y="5461000"/>
                <a:ext cx="2565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2" name="Text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250" y="5461000"/>
                <a:ext cx="2565400" cy="355600"/>
              </a:xfrm>
              <a:prstGeom prst="rect">
                <a:avLst/>
              </a:prstGeom>
              <a:blipFill>
                <a:blip r:embed="rId8"/>
                <a:stretch>
                  <a:fillRect t="-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/>
          <p:cNvSpPr/>
          <p:nvPr/>
        </p:nvSpPr>
        <p:spPr>
          <a:xfrm>
            <a:off x="6267450" y="5029200"/>
            <a:ext cx="2667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/>
          <p:cNvSpPr txBox="1"/>
          <p:nvPr/>
        </p:nvSpPr>
        <p:spPr>
          <a:xfrm>
            <a:off x="6318250" y="5130800"/>
            <a:ext cx="256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 43"/>
              <p:cNvSpPr txBox="1"/>
              <p:nvPr/>
            </p:nvSpPr>
            <p:spPr>
              <a:xfrm>
                <a:off x="6318250" y="5461000"/>
                <a:ext cx="2565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45" name="Text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250" y="5461000"/>
                <a:ext cx="2565400" cy="355600"/>
              </a:xfrm>
              <a:prstGeom prst="rect">
                <a:avLst/>
              </a:prstGeom>
              <a:blipFill>
                <a:blip r:embed="rId9"/>
                <a:stretch>
                  <a:fillRect t="-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AC9C5B5-4E4F-82C6-4B8A-7FDFA897BE1E}"/>
              </a:ext>
            </a:extLst>
          </p:cNvPr>
          <p:cNvSpPr txBox="1"/>
          <p:nvPr/>
        </p:nvSpPr>
        <p:spPr>
          <a:xfrm>
            <a:off x="7159625" y="3683000"/>
            <a:ext cx="129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/>
              <p:nvPr/>
            </p:nvSpPr>
            <p:spPr>
              <a:xfrm>
                <a:off x="7159625" y="4013200"/>
                <a:ext cx="1295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/>
                      </m:sSub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625" y="4013200"/>
                <a:ext cx="12954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497741D7-E530-49F9-F812-2E0AEF15371D}"/>
              </a:ext>
            </a:extLst>
          </p:cNvPr>
          <p:cNvSpPr/>
          <p:nvPr/>
        </p:nvSpPr>
        <p:spPr>
          <a:xfrm>
            <a:off x="856932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5A11D58D-ECAD-45F4-7618-F4CF5FA88D7B}"/>
              </a:ext>
            </a:extLst>
          </p:cNvPr>
          <p:cNvSpPr/>
          <p:nvPr/>
        </p:nvSpPr>
        <p:spPr>
          <a:xfrm>
            <a:off x="8839200" y="3581400"/>
            <a:ext cx="23495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94DDEF98-81B9-8337-5E57-B74315F56C3A}"/>
              </a:ext>
            </a:extLst>
          </p:cNvPr>
          <p:cNvSpPr txBox="1"/>
          <p:nvPr/>
        </p:nvSpPr>
        <p:spPr>
          <a:xfrm>
            <a:off x="8890000" y="3683000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/>
              <p:nvPr/>
            </p:nvSpPr>
            <p:spPr>
              <a:xfrm>
                <a:off x="8890000" y="4013200"/>
                <a:ext cx="2247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4013200"/>
                <a:ext cx="22479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5127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columna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s-ES_tradnl" sz="1100" noProof="1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máx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teórico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experimental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teo / exp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0.002733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0.000887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0.000513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0.000739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0.003253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0.000709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0.003415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0.001566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0.003482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0.001327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0.003950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0.004441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0.001828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(Σ)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0.023750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0.008974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1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por composición secuencial sobre las 7 columnas. La razón total es el cociente de los dos totales, no la suma de las razones.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1001733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6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Pasos a seguir</a:t>
            </a:r>
            <a:endParaRPr lang="es-ES_tradnl" sz="3600" noProof="1"/>
          </a:p>
        </p:txBody>
      </p:sp>
      <p:sp>
        <p:nvSpPr>
          <p:cNvPr id="3" name="Shape 1"/>
          <p:cNvSpPr/>
          <p:nvPr/>
        </p:nvSpPr>
        <p:spPr>
          <a:xfrm>
            <a:off x="731520" y="189280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Decuantizar los datos para observar el resultado de la privacidad diferencial sobre los datos.</a:t>
            </a:r>
            <a:endParaRPr lang="es-ES_tradnl" sz="2000" noProof="1"/>
          </a:p>
        </p:txBody>
      </p:sp>
      <p:sp>
        <p:nvSpPr>
          <p:cNvPr id="6" name="Shape 4"/>
          <p:cNvSpPr/>
          <p:nvPr/>
        </p:nvSpPr>
        <p:spPr>
          <a:xfrm>
            <a:off x="731520" y="299008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3152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Ruidos medidos en kernel reales</a:t>
            </a:r>
            <a:endParaRPr lang="es-ES_tradnl" sz="2000" noProof="1"/>
          </a:p>
        </p:txBody>
      </p:sp>
      <p:sp>
        <p:nvSpPr>
          <p:cNvPr id="9" name="Shape 7"/>
          <p:cNvSpPr/>
          <p:nvPr/>
        </p:nvSpPr>
        <p:spPr>
          <a:xfrm>
            <a:off x="731520" y="408736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73152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</a:t>
            </a:r>
            <a:endParaRPr lang="es-ES_tradnl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76467CA-29D5-4242-9F88-544A082EF20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f3d6df-9f9d-4bf1-b1ad-7e6c0c763a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1831</Words>
  <Application>Microsoft Macintosh PowerPoint</Application>
  <PresentationFormat>Widescreen</PresentationFormat>
  <Paragraphs>274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Privacidad diferencial cuántica con GAD</dc:title>
  <dc:subject>PptxGenJS Presentation</dc:subject>
  <dc:creator>PptxGenJS</dc:creator>
  <cp:lastModifiedBy>Tomas Sierra Sanchez</cp:lastModifiedBy>
  <cp:revision>5</cp:revision>
  <dcterms:created xsi:type="dcterms:W3CDTF">2026-09-22T20:32:08Z</dcterms:created>
  <dcterms:modified xsi:type="dcterms:W3CDTF">2026-09-23T00:58:32Z</dcterms:modified>
</cp:coreProperties>
</file>