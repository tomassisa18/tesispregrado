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85" r:id="rId3"/>
    <p:sldId id="293" r:id="rId4"/>
    <p:sldId id="292" r:id="rId5"/>
    <p:sldId id="277" r:id="rId6"/>
    <p:sldId id="278" r:id="rId7"/>
    <p:sldId id="275" r:id="rId8"/>
    <p:sldId id="279" r:id="rId9"/>
    <p:sldId id="280" r:id="rId10"/>
    <p:sldId id="281" r:id="rId11"/>
    <p:sldId id="282" r:id="rId12"/>
    <p:sldId id="283" r:id="rId13"/>
    <p:sldId id="269" r:id="rId14"/>
    <p:sldId id="284" r:id="rId15"/>
    <p:sldId id="273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859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23558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Presentar el experimento GAD 2×2: codificación por característica, ruido GAD y comparación entre el ε teórico y el ε medido.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Verificar en Encoder.py cómo se codifica credit_amount (un solo atributo con RY + RZ). La normalización de los numéricos se agregó después de la verificación a mano.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 elimina la fase global e^(−3πi/4). e^(3πi/2) = −i, por eso el estado es (|0⟩ − i|1⟩)/√2. Bloch: θ = π/2, φ = 3π/2.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Se elimina la fase global e^(−3πi/4). e^(3πi/2) = −i, por eso el estado es (|0⟩ − i|1⟩)/√2. Bloch: θ = π/2, φ = 3π/2.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La verificación a mano mostró que sin normalizar, RZ(24) da vueltas módulo 2π y el orden de los valores se pierde. Por eso se normaliza.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Como ρ − σᵢ escala con 1/N, las distancias de traza son del orden de 10⁻³, y ambos ε deberían ser pequeños.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En el experimento GAD se aplica al estado agregado ρ, no a una fila; el ejemplo de una fila es solo para mostrar el mecanismo. El ejemplo categórico está en z = 0, así que solo se ve la contracción en x, y. El numérico (z ≠ 0) mostrará además la contracción en 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Conclusión: el ruido sobre un estado producto es igual al producto de los ruidos por qubit. Esto justifica aplicar GAD columna por columna.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Si preguntan por qué es válido sumar los ε: es el teorema de composición, no la proposición del producto tensorial.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La distancia de traza se mide sobre los estados sin ruido porque la cota teórica está en función de d antes del canal. dPD se ejecuta sobre los estados con ruido.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Ciclo externo por columna, ciclo interno leave-one-out por fila. Cada caja corresponde a una función de Encoder.py, QuantProcesses.py, NoiseMechanisms.py o ProportionalDistance.py.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Mostrar que el código reproduce exactamente el cálculo a mano. La verificación a mano además detectó la falta de normalización en la codificación numérica.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12" Type="http://schemas.openxmlformats.org/officeDocument/2006/relationships/image" Target="../media/image3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11" Type="http://schemas.openxmlformats.org/officeDocument/2006/relationships/image" Target="../media/image35.png"/><Relationship Id="rId5" Type="http://schemas.openxmlformats.org/officeDocument/2006/relationships/image" Target="../media/image29.png"/><Relationship Id="rId10" Type="http://schemas.openxmlformats.org/officeDocument/2006/relationships/image" Target="../media/image34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10" Type="http://schemas.openxmlformats.org/officeDocument/2006/relationships/image" Target="../media/image54.png"/><Relationship Id="rId4" Type="http://schemas.openxmlformats.org/officeDocument/2006/relationships/image" Target="../media/image48.png"/><Relationship Id="rId9" Type="http://schemas.openxmlformats.org/officeDocument/2006/relationships/image" Target="../media/image5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0" Type="http://schemas.openxmlformats.org/officeDocument/2006/relationships/image" Target="../media/image62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1097280"/>
            <a:ext cx="4754880" cy="47548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9052560" y="2011680"/>
            <a:ext cx="2926080" cy="2926080"/>
          </a:xfrm>
          <a:prstGeom prst="ellipse">
            <a:avLst/>
          </a:prstGeom>
          <a:solidFill>
            <a:srgbClr val="16193B"/>
          </a:solidFill>
          <a:ln w="19050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 txBox="1"/>
          <p:nvPr/>
        </p:nvSpPr>
        <p:spPr>
          <a:xfrm>
            <a:off x="731520" y="1463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kern="0" spc="300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DE TESIS SEMANA 8</a:t>
            </a:r>
            <a:endParaRPr lang="es-ES_tradnl" sz="1400" noProof="1"/>
          </a:p>
        </p:txBody>
      </p:sp>
      <p:sp>
        <p:nvSpPr>
          <p:cNvPr id="5" name="Text 3"/>
          <p:cNvSpPr txBox="1"/>
          <p:nvPr/>
        </p:nvSpPr>
        <p:spPr>
          <a:xfrm>
            <a:off x="731520" y="192024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40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Privacidad diferencial cuántica con Generalized Amplitude Damping</a:t>
            </a:r>
            <a:endParaRPr lang="es-ES_tradnl" sz="4000" noProof="1"/>
          </a:p>
        </p:txBody>
      </p:sp>
      <p:sp>
        <p:nvSpPr>
          <p:cNvPr id="6" name="Text 4"/>
          <p:cNvSpPr txBox="1"/>
          <p:nvPr/>
        </p:nvSpPr>
        <p:spPr>
          <a:xfrm>
            <a:off x="731520" y="40690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2000" noProof="1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 GAD 2×2 sobre el dataset German Credit Score</a:t>
            </a:r>
            <a:endParaRPr lang="es-ES_tradnl" sz="2000" noProof="1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 y codificación</a:t>
            </a:r>
            <a:endParaRPr lang="es-ES_tradnl" sz="3200" noProof="1"/>
          </a:p>
        </p:txBody>
      </p:sp>
      <p:sp>
        <p:nvSpPr>
          <p:cNvPr id="5" name="Text 3"/>
          <p:cNvSpPr txBox="1"/>
          <p:nvPr/>
        </p:nvSpPr>
        <p:spPr>
          <a:xfrm>
            <a:off x="8686800" y="5029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_tradnl" sz="1100" kern="0" spc="2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s-ES_tradnl" sz="1100" noProof="1"/>
          </a:p>
        </p:txBody>
      </p:sp>
      <p:sp>
        <p:nvSpPr>
          <p:cNvPr id="6" name="Text 4"/>
          <p:cNvSpPr txBox="1"/>
          <p:nvPr/>
        </p:nvSpPr>
        <p:spPr>
          <a:xfrm>
            <a:off x="548640" y="128016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8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German Credit · 1000 filas · 9 atributos → 7 qubits (uno por columna)</a:t>
            </a:r>
            <a:endParaRPr lang="es-ES_tradnl" sz="1800" noProof="1"/>
          </a:p>
        </p:txBody>
      </p:sp>
      <p:graphicFrame>
        <p:nvGraphicFramePr>
          <p:cNvPr id="7" name="Table 0"/>
          <p:cNvGraphicFramePr>
            <a:graphicFrameLocks noGrp="1"/>
          </p:cNvGraphicFramePr>
          <p:nvPr/>
        </p:nvGraphicFramePr>
        <p:xfrm>
          <a:off x="548640" y="1874520"/>
          <a:ext cx="7406640" cy="3803904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Atributo(s)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Compuertas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collateral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Categórico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 + RZ(2πk/V)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Categórico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 + RZ(2πk/V)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credit_history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Categórico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 + RZ(2πk/V)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housing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Categórico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 + RZ(2πk/V)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status_account + month_duration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E08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Numérico (dense angle)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RY(θ) + RZ(φ)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status_savings + years_employment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E08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Numérico (dense angle)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RY(θ) + RZ(φ)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credit_amount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E08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Numérico (dense angle)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RY(θ) + RZ(0)</a:t>
                      </a:r>
                      <a:endParaRPr lang="es-ES_tradnl" sz="1400" noProof="1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275320" y="187452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E6F4F2"/>
          </a:solidFill>
          <a:ln w="12700">
            <a:solidFill>
              <a:srgbClr val="E6F4F2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6"/>
          <p:cNvSpPr txBox="1"/>
          <p:nvPr/>
        </p:nvSpPr>
        <p:spPr>
          <a:xfrm>
            <a:off x="8503920" y="20116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700" b="1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Categóricos</a:t>
            </a:r>
            <a:endParaRPr lang="es-ES_tradnl" sz="17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7"/>
              <p:cNvSpPr txBox="1"/>
              <p:nvPr/>
            </p:nvSpPr>
            <p:spPr>
              <a:xfrm>
                <a:off x="8503920" y="2423160"/>
                <a:ext cx="3017520" cy="11887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categoría,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nº de categorías. Todos los estados quedan sobre el ecuador de la esfera de Bloch.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10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920" y="2423160"/>
                <a:ext cx="3017520" cy="1188720"/>
              </a:xfrm>
              <a:prstGeom prst="rect">
                <a:avLst/>
              </a:prstGeom>
              <a:blipFill>
                <a:blip r:embed="rId3"/>
                <a:stretch>
                  <a:fillRect l="-3766" t="-5319" r="-376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8"/>
          <p:cNvSpPr/>
          <p:nvPr/>
        </p:nvSpPr>
        <p:spPr>
          <a:xfrm>
            <a:off x="8275320" y="3840480"/>
            <a:ext cx="3383280" cy="1874520"/>
          </a:xfrm>
          <a:prstGeom prst="roundRect">
            <a:avLst>
              <a:gd name="adj" fmla="val 5854"/>
            </a:avLst>
          </a:prstGeom>
          <a:solidFill>
            <a:srgbClr val="FBF0E3"/>
          </a:solidFill>
          <a:ln w="12700">
            <a:solidFill>
              <a:srgbClr val="FBF0E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Text 9"/>
          <p:cNvSpPr txBox="1"/>
          <p:nvPr/>
        </p:nvSpPr>
        <p:spPr>
          <a:xfrm>
            <a:off x="8503920" y="397764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700" b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Numéricos</a:t>
            </a:r>
            <a:endParaRPr lang="es-ES_tradnl" sz="17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0"/>
              <p:cNvSpPr txBox="1"/>
              <p:nvPr/>
            </p:nvSpPr>
            <p:spPr>
              <a:xfrm>
                <a:off x="8503920" y="4389120"/>
                <a:ext cx="3017520" cy="12801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Dos atributos por qubit: uno fija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𝑌</m:t>
                        </m:r>
                      </m:sub>
                    </m:sSub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 y otro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𝜑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sub>
                    </m:sSub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). Ángulos normalizados a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[0,</m:t>
                    </m:r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13" name="Tex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920" y="4389120"/>
                <a:ext cx="3017520" cy="1280160"/>
              </a:xfrm>
              <a:prstGeom prst="rect">
                <a:avLst/>
              </a:prstGeom>
              <a:blipFill>
                <a:blip r:embed="rId4"/>
                <a:stretch>
                  <a:fillRect l="-3766" t="-3922" r="-209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2697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Ejemplo: codificación categórica</a:t>
            </a:r>
            <a:endParaRPr lang="es-ES_tradnl" sz="3200" noProof="1"/>
          </a:p>
        </p:txBody>
      </p:sp>
      <p:sp>
        <p:nvSpPr>
          <p:cNvPr id="5" name="Text 3"/>
          <p:cNvSpPr txBox="1"/>
          <p:nvPr/>
        </p:nvSpPr>
        <p:spPr>
          <a:xfrm>
            <a:off x="8686800" y="5029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_tradnl" sz="1100" kern="0" spc="2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s-ES_tradnl" sz="11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 txBox="1"/>
              <p:nvPr/>
            </p:nvSpPr>
            <p:spPr>
              <a:xfrm>
                <a:off x="548640" y="1262941"/>
                <a:ext cx="8880368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r>
                  <a:rPr lang="es-ES_tradnl" sz="22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Dato: Collateral = 3 (savings agreement/life insurance), con </a:t>
                </a:r>
                <a14:m>
                  <m:oMath xmlns:m="http://schemas.openxmlformats.org/officeDocument/2006/math">
                    <m:r>
                      <a:rPr lang="es-ES" sz="22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𝑽</m:t>
                    </m:r>
                    <m:r>
                      <a:rPr lang="es-ES" sz="22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sz="22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𝟒</m:t>
                    </m:r>
                  </m:oMath>
                </a14:m>
                <a:r>
                  <a:rPr lang="es-ES_tradnl" sz="22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categorías</a:t>
                </a:r>
                <a:endParaRPr lang="es-ES_tradnl" sz="2200" noProof="1"/>
              </a:p>
            </p:txBody>
          </p:sp>
        </mc:Choice>
        <mc:Fallback xmlns="">
          <p:sp>
            <p:nvSpPr>
              <p:cNvPr id="8" name="Tex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262941"/>
                <a:ext cx="8880368" cy="411480"/>
              </a:xfrm>
              <a:prstGeom prst="rect">
                <a:avLst/>
              </a:prstGeom>
              <a:blipFill>
                <a:blip r:embed="rId3"/>
                <a:stretch>
                  <a:fillRect l="-2000" t="-21212" r="-1571" b="-2424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 txBox="1"/>
              <p:nvPr/>
            </p:nvSpPr>
            <p:spPr>
              <a:xfrm>
                <a:off x="548640" y="1674421"/>
                <a:ext cx="6309360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𝜑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f>
                        <m:f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s-ES_tradnl" sz="2200" noProof="1"/>
              </a:p>
            </p:txBody>
          </p:sp>
        </mc:Choice>
        <mc:Fallback xmlns=""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674421"/>
                <a:ext cx="6309360" cy="502920"/>
              </a:xfrm>
              <a:prstGeom prst="rect">
                <a:avLst/>
              </a:prstGeom>
              <a:blipFill>
                <a:blip r:embed="rId4"/>
                <a:stretch>
                  <a:fillRect l="-1610" t="-15000" b="-3250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 10"/>
          <p:cNvSpPr txBox="1"/>
          <p:nvPr/>
        </p:nvSpPr>
        <p:spPr>
          <a:xfrm>
            <a:off x="548640" y="2451661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22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Hadamard</a:t>
            </a:r>
            <a:endParaRPr lang="es-ES_tradnl" sz="2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 txBox="1"/>
              <p:nvPr/>
            </p:nvSpPr>
            <p:spPr>
              <a:xfrm>
                <a:off x="548640" y="2863141"/>
                <a:ext cx="6309360" cy="914400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200" i="1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begChr m:val="|"/>
                          <m:endChr m:val="⟩"/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sz="2200" dirty="0"/>
              </a:p>
            </p:txBody>
          </p:sp>
        </mc:Choice>
        <mc:Fallback xmlns="">
          <p:sp>
            <p:nvSpPr>
              <p:cNvPr id="13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2863141"/>
                <a:ext cx="6309360" cy="914400"/>
              </a:xfrm>
              <a:prstGeom prst="rect">
                <a:avLst/>
              </a:prstGeom>
              <a:blipFill>
                <a:blip r:embed="rId5"/>
                <a:stretch>
                  <a:fillRect l="-20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14"/>
              <p:cNvSpPr txBox="1"/>
              <p:nvPr/>
            </p:nvSpPr>
            <p:spPr>
              <a:xfrm>
                <a:off x="548640" y="3640381"/>
                <a:ext cx="63093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22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Rotación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  <m:d>
                      <m:dPr>
                        <m:ctrlP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22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</m:e>
                    </m:d>
                  </m:oMath>
                </a14:m>
                <a:endParaRPr lang="es-ES_tradnl" sz="2200" noProof="1"/>
              </a:p>
            </p:txBody>
          </p:sp>
        </mc:Choice>
        <mc:Fallback xmlns="">
          <p:sp>
            <p:nvSpPr>
              <p:cNvPr id="16" name="Text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3640381"/>
                <a:ext cx="6309360" cy="411480"/>
              </a:xfrm>
              <a:prstGeom prst="rect">
                <a:avLst/>
              </a:prstGeom>
              <a:blipFill>
                <a:blip r:embed="rId6"/>
                <a:stretch>
                  <a:fillRect l="-2817" t="-20588" b="-20588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15"/>
              <p:cNvSpPr txBox="1"/>
              <p:nvPr/>
            </p:nvSpPr>
            <p:spPr>
              <a:xfrm>
                <a:off x="548640" y="4051861"/>
                <a:ext cx="8880368" cy="1623060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22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𝑍</m:t>
                          </m:r>
                        </m:sub>
                      </m:sSub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num>
                            <m:den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begChr m:val="|"/>
                          <m:endChr m:val="⟩"/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419" sz="2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2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es-ES" sz="22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r>
                        <a:rPr lang="es-ES" sz="2200" i="1">
                          <a:latin typeface="Cambria Math" panose="02040503050406030204" pitchFamily="18" charset="0"/>
                        </a:rPr>
                        <m:t>≅</m:t>
                      </m:r>
                      <m:f>
                        <m:f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s-ES" sz="2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den>
                      </m:f>
                      <m:d>
                        <m:dPr>
                          <m:ctrlPr>
                            <a:rPr lang="es-ES" sz="2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s-ES" sz="2200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sz="2200" dirty="0"/>
              </a:p>
            </p:txBody>
          </p:sp>
        </mc:Choice>
        <mc:Fallback xmlns="">
          <p:sp>
            <p:nvSpPr>
              <p:cNvPr id="17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4051861"/>
                <a:ext cx="8880368" cy="1623060"/>
              </a:xfrm>
              <a:prstGeom prst="rect">
                <a:avLst/>
              </a:prstGeom>
              <a:blipFill>
                <a:blip r:embed="rId7"/>
                <a:stretch>
                  <a:fillRect l="-14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19"/>
              <p:cNvSpPr txBox="1"/>
              <p:nvPr/>
            </p:nvSpPr>
            <p:spPr>
              <a:xfrm>
                <a:off x="723326" y="6177841"/>
                <a:ext cx="6309360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22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2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2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2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2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s-ES" sz="22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e>
                                <m:r>
                                  <a:rPr lang="es-ES" sz="22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ES" sz="22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 →   </m:t>
                      </m:r>
                      <m:d>
                        <m:dPr>
                          <m:ctrlP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2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0,−1,0</m:t>
                          </m:r>
                        </m:e>
                      </m:d>
                    </m:oMath>
                  </m:oMathPara>
                </a14:m>
                <a:endParaRPr lang="es-ES_tradnl" sz="2200" noProof="1"/>
              </a:p>
            </p:txBody>
          </p:sp>
        </mc:Choice>
        <mc:Fallback xmlns="">
          <p:sp>
            <p:nvSpPr>
              <p:cNvPr id="21" name="Text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326" y="6177841"/>
                <a:ext cx="6309360" cy="502920"/>
              </a:xfrm>
              <a:prstGeom prst="rect">
                <a:avLst/>
              </a:prstGeom>
              <a:blipFill>
                <a:blip r:embed="rId8"/>
                <a:stretch>
                  <a:fillRect l="-1610" t="-14634" b="-3170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35240" y="1925881"/>
            <a:ext cx="3931920" cy="39319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20"/>
              <p:cNvSpPr txBox="1"/>
              <p:nvPr/>
            </p:nvSpPr>
            <p:spPr>
              <a:xfrm>
                <a:off x="7635240" y="5857801"/>
                <a:ext cx="39319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Estado propio de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−</m:t>
                    </m:r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sobre el ecuador, en el ángulo de su categoría.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23" name="Text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5240" y="5857801"/>
                <a:ext cx="3931920" cy="640080"/>
              </a:xfrm>
              <a:prstGeom prst="rect">
                <a:avLst/>
              </a:prstGeom>
              <a:blipFill>
                <a:blip r:embed="rId10"/>
                <a:stretch>
                  <a:fillRect l="-643" t="-9804" r="-128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07242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06b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2200" y="368300"/>
            <a:ext cx="9321800" cy="66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Ejemplo: matriz de densidad paso a paso</a:t>
            </a:r>
            <a:endParaRPr lang="es-ES_tradnl" sz="3200" noProof="1"/>
          </a:p>
        </p:txBody>
      </p:sp>
      <p:sp>
        <p:nvSpPr>
          <p:cNvPr id="5" name="Text 3"/>
          <p:cNvSpPr txBox="1"/>
          <p:nvPr/>
        </p:nvSpPr>
        <p:spPr>
          <a:xfrm>
            <a:off x="8686800" y="5029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_tradnl" sz="1100" kern="0" spc="2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s-ES_tradnl" sz="1100" noProof="1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548640" y="1463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ES_tradnl" sz="13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 txBox="1"/>
              <p:nvPr/>
            </p:nvSpPr>
            <p:spPr>
              <a:xfrm>
                <a:off x="1054100" y="1422400"/>
                <a:ext cx="10541000" cy="406400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r>
                  <a:rPr lang="es-ES_tradnl" sz="20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Estado tras Hadamard: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sub>
                    </m:sSub>
                    <m:r>
                      <a:rPr lang="es-ES" sz="20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sz="20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begChr m:val="|"/>
                        <m:endChr m:val="⟩"/>
                        <m:ctrlPr>
                          <a:rPr lang="es-E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</m:d>
                    <m:d>
                      <m:dPr>
                        <m:begChr m:val="⟨"/>
                        <m:endChr m:val="|"/>
                        <m:ctrlPr>
                          <a:rPr lang="es-ES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e>
                    </m:d>
                    <m:sSup>
                      <m:sSupPr>
                        <m:ctrlPr>
                          <a:rPr lang="es-ES" sz="20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p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p>
                  </m:oMath>
                </a14:m>
                <a:endParaRPr lang="en-CO" sz="2000" dirty="0">
                  <a:noFill/>
                </a:endParaRPr>
              </a:p>
            </p:txBody>
          </p:sp>
        </mc:Choice>
        <mc:Fallback xmlns="">
          <p:sp>
            <p:nvSpPr>
              <p:cNvPr id="8" name="Tex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1422400"/>
                <a:ext cx="10541000" cy="406400"/>
              </a:xfrm>
              <a:prstGeom prst="rect">
                <a:avLst/>
              </a:prstGeom>
              <a:blipFill>
                <a:blip r:embed="rId3"/>
                <a:stretch>
                  <a:fillRect l="-723" t="-3030" b="-2727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 txBox="1"/>
              <p:nvPr/>
            </p:nvSpPr>
            <p:spPr>
              <a:xfrm>
                <a:off x="1054100" y="1854200"/>
                <a:ext cx="10541000" cy="876300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500" i="1"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sz="2500" i="1">
                              <a:latin typeface="Cambria Math" panose="02040503050406030204" pitchFamily="18" charset="0"/>
                            </a:rPr>
                            <m:t>𝐻</m:t>
                          </m:r>
                        </m:sub>
                      </m:sSub>
                      <m:r>
                        <a:rPr lang="es-ES" sz="25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2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</m:mr>
                          </m:m>
                        </m:e>
                      </m:d>
                      <m:r>
                        <a:rPr lang="es-ES" sz="25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2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es-ES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sz="2500" dirty="0"/>
              </a:p>
            </p:txBody>
          </p:sp>
        </mc:Choice>
        <mc:Fallback xmlns=""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1854200"/>
                <a:ext cx="10541000" cy="876300"/>
              </a:xfrm>
              <a:prstGeom prst="rect">
                <a:avLst/>
              </a:prstGeom>
              <a:blipFill>
                <a:blip r:embed="rId4"/>
                <a:stretch>
                  <a:fillRect l="-24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548640" y="2908300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1" name="Text 9"/>
          <p:cNvSpPr txBox="1"/>
          <p:nvPr/>
        </p:nvSpPr>
        <p:spPr>
          <a:xfrm>
            <a:off x="548640" y="29083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ES_tradnl" sz="13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0"/>
              <p:cNvSpPr txBox="1"/>
              <p:nvPr/>
            </p:nvSpPr>
            <p:spPr>
              <a:xfrm>
                <a:off x="1054100" y="2844800"/>
                <a:ext cx="10541000" cy="4318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20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Rotación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  <m:d>
                      <m:d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𝟑</m:t>
                            </m:r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𝝅</m:t>
                            </m:r>
                          </m:num>
                          <m:den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den>
                        </m:f>
                      </m:e>
                    </m:d>
                  </m:oMath>
                </a14:m>
                <a:r>
                  <a:rPr lang="es-ES_tradnl" sz="20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𝝆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s-ES" sz="20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  <m:sSub>
                      <m:sSub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𝝆</m:t>
                        </m:r>
                      </m:e>
                      <m:sub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𝑯</m:t>
                        </m:r>
                      </m:sub>
                    </m:sSub>
                    <m:sSup>
                      <m:sSupPr>
                        <m:ctrlP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s-ES" sz="2000" b="1" i="1" smtClean="0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𝑹</m:t>
                            </m:r>
                          </m:e>
                          <m:sub>
                            <m:r>
                              <a:rPr lang="es-ES" sz="2000" b="1" i="1">
                                <a:solidFill>
                                  <a:srgbClr val="1F2433"/>
                                </a:solidFill>
                                <a:latin typeface="Cambria Math" panose="02040503050406030204" pitchFamily="18" charset="0"/>
                              </a:rPr>
                              <m:t>𝒁</m:t>
                            </m:r>
                          </m:sub>
                        </m:sSub>
                      </m:e>
                      <m:sup>
                        <m:r>
                          <a:rPr lang="es-ES" sz="20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†</m:t>
                        </m:r>
                      </m:sup>
                    </m:sSup>
                  </m:oMath>
                </a14:m>
                <a:endParaRPr lang="es-ES_tradnl" sz="2000" noProof="1"/>
              </a:p>
            </p:txBody>
          </p:sp>
        </mc:Choice>
        <mc:Fallback xmlns="">
          <p:sp>
            <p:nvSpPr>
              <p:cNvPr id="12" name="Tex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100" y="2844800"/>
                <a:ext cx="10541000" cy="431800"/>
              </a:xfrm>
              <a:prstGeom prst="rect">
                <a:avLst/>
              </a:prstGeom>
              <a:blipFill>
                <a:blip r:embed="rId5"/>
                <a:stretch>
                  <a:fillRect l="-1566" t="-2857" b="-2285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 txBox="1"/>
              <p:nvPr/>
            </p:nvSpPr>
            <p:spPr>
              <a:xfrm>
                <a:off x="932688" y="3492500"/>
                <a:ext cx="9359900" cy="3365500"/>
              </a:xfrm>
              <a:prstGeom prst="rect">
                <a:avLst/>
              </a:prstGeom>
              <a:noFill/>
              <a:ln/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ar-AE" sz="25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f>
                        <m:f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2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419" sz="25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419" sz="25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419" sz="25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419" sz="25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419" sz="25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/4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419" sz="25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ar-AE" sz="25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 sz="25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sz="2500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ar-AE" sz="2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sz="2500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−3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sup>
                                </m:sSup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ar-AE" sz="2500" i="1">
                                        <a:latin typeface="Cambria Math" panose="02040503050406030204" pitchFamily="18" charset="0"/>
                                      </a:rPr>
                                      <m:t>/2</m:t>
                                    </m:r>
                                  </m:sup>
                                </m:sSup>
                              </m:e>
                              <m:e>
                                <m:r>
                                  <a:rPr lang="ar-AE" sz="25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sz="2500" i="1" dirty="0">
                  <a:latin typeface="Cambria Math" panose="02040503050406030204" pitchFamily="18" charset="0"/>
                </a:endParaRPr>
              </a:p>
              <a:p>
                <a:pPr>
                  <a:spcBef>
                    <a:spcPts val="1200"/>
                  </a:spcBef>
                </a:pPr>
                <a14:m>
                  <m:oMath xmlns:m="http://schemas.openxmlformats.org/officeDocument/2006/math">
                    <m:r>
                      <a:rPr lang="ar-AE" sz="25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ar-AE" sz="2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ar-AE" sz="25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ar-AE" sz="25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ar-AE" sz="25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sz="25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mr>
                          <m:mr>
                            <m:e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  <m:e>
                              <m:r>
                                <a:rPr lang="ar-AE" sz="25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lang="es-419" sz="2500" dirty="0"/>
                  <a:t> dado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s-419" sz="25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s-419" sz="2500" b="0" i="0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d>
                          <m:dPr>
                            <m:ctrlPr>
                              <a:rPr lang="es-419" sz="25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s-419" sz="25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s-419" sz="25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num>
                              <m:den>
                                <m:r>
                                  <a:rPr lang="es-419" sz="25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es-419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s-419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𝑖𝑠𝑖𝑛</m:t>
                    </m:r>
                    <m:d>
                      <m:dPr>
                        <m:ctrlPr>
                          <a:rPr lang="es-419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s-419" sz="25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s-419" sz="25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num>
                          <m:den>
                            <m:r>
                              <a:rPr lang="es-419" sz="25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es-419" sz="25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s-419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s-419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s-419" sz="25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  <m:r>
                          <a:rPr lang="es-419" sz="2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sup>
                    </m:sSup>
                  </m:oMath>
                </a14:m>
                <a:endParaRPr sz="2500" dirty="0"/>
              </a:p>
            </p:txBody>
          </p:sp>
        </mc:Choice>
        <mc:Fallback xmlns="">
          <p:sp>
            <p:nvSpPr>
              <p:cNvPr id="13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2688" y="3492500"/>
                <a:ext cx="9359900" cy="336550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2485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Ejemplo: codificación numérica (dense angle)</a:t>
            </a:r>
            <a:endParaRPr lang="es-ES_tradnl" sz="3200" noProof="1"/>
          </a:p>
        </p:txBody>
      </p:sp>
      <p:sp>
        <p:nvSpPr>
          <p:cNvPr id="5" name="Text 3"/>
          <p:cNvSpPr txBox="1"/>
          <p:nvPr/>
        </p:nvSpPr>
        <p:spPr>
          <a:xfrm>
            <a:off x="8686800" y="5029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_tradnl" sz="1100" kern="0" spc="2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s-ES_tradnl" sz="1100" noProof="1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548640" y="1417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ES_tradnl" sz="1300" noProof="1"/>
          </a:p>
        </p:txBody>
      </p:sp>
      <p:sp>
        <p:nvSpPr>
          <p:cNvPr id="8" name="Text 6"/>
          <p:cNvSpPr txBox="1"/>
          <p:nvPr/>
        </p:nvSpPr>
        <p:spPr>
          <a:xfrm>
            <a:off x="1051560" y="1371600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 a [0, π]</a:t>
            </a:r>
            <a:endParaRPr lang="es-ES_tradnl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 txBox="1"/>
              <p:nvPr/>
            </p:nvSpPr>
            <p:spPr>
              <a:xfrm>
                <a:off x="1051560" y="1783080"/>
                <a:ext cx="63093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f>
                        <m:f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sub>
                          </m:sSub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s-ES_tradnl" sz="1800" noProof="1"/>
              </a:p>
            </p:txBody>
          </p:sp>
        </mc:Choice>
        <mc:Fallback xmlns=""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1783080"/>
                <a:ext cx="6309360" cy="457200"/>
              </a:xfrm>
              <a:prstGeom prst="rect">
                <a:avLst/>
              </a:prstGeom>
              <a:blipFill>
                <a:blip r:embed="rId3"/>
                <a:stretch>
                  <a:fillRect l="-1408" t="-8108" b="-1891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548640" y="2441448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1" name="Text 9"/>
          <p:cNvSpPr txBox="1"/>
          <p:nvPr/>
        </p:nvSpPr>
        <p:spPr>
          <a:xfrm>
            <a:off x="548640" y="2441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ES_tradnl" sz="13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0"/>
              <p:cNvSpPr txBox="1"/>
              <p:nvPr/>
            </p:nvSpPr>
            <p:spPr>
              <a:xfrm>
                <a:off x="1051560" y="2395728"/>
                <a:ext cx="63093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16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Rotación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𝒀</m:t>
                        </m:r>
                      </m:sub>
                    </m:sSub>
                    <m:d>
                      <m:dPr>
                        <m:ctrlP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</m:oMath>
                </a14:m>
                <a:r>
                  <a:rPr lang="es-ES_tradnl" sz="16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— primer atributo</a:t>
                </a:r>
                <a:endParaRPr lang="es-ES_tradnl" sz="1600" noProof="1"/>
              </a:p>
            </p:txBody>
          </p:sp>
        </mc:Choice>
        <mc:Fallback xmlns="">
          <p:sp>
            <p:nvSpPr>
              <p:cNvPr id="12" name="Tex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2395728"/>
                <a:ext cx="6309360" cy="411480"/>
              </a:xfrm>
              <a:prstGeom prst="rect">
                <a:avLst/>
              </a:prstGeom>
              <a:blipFill>
                <a:blip r:embed="rId4"/>
                <a:stretch>
                  <a:fillRect l="-2213" t="-1470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 txBox="1"/>
              <p:nvPr/>
            </p:nvSpPr>
            <p:spPr>
              <a:xfrm>
                <a:off x="1051560" y="2807208"/>
                <a:ext cx="63093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</m:sub>
                      </m:sSub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num>
                                <m:den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num>
                                <m:den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s-ES_tradnl" sz="1800" noProof="1"/>
              </a:p>
            </p:txBody>
          </p:sp>
        </mc:Choice>
        <mc:Fallback xmlns="">
          <p:sp>
            <p:nvSpPr>
              <p:cNvPr id="13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2807208"/>
                <a:ext cx="6309360" cy="457200"/>
              </a:xfrm>
              <a:prstGeom prst="rect">
                <a:avLst/>
              </a:prstGeom>
              <a:blipFill>
                <a:blip r:embed="rId5"/>
                <a:stretch>
                  <a:fillRect l="-1408" t="-10811" b="-2162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12"/>
          <p:cNvSpPr/>
          <p:nvPr/>
        </p:nvSpPr>
        <p:spPr>
          <a:xfrm>
            <a:off x="548640" y="3465576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5" name="Text 13"/>
          <p:cNvSpPr txBox="1"/>
          <p:nvPr/>
        </p:nvSpPr>
        <p:spPr>
          <a:xfrm>
            <a:off x="548640" y="34655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ES_tradnl" sz="13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14"/>
              <p:cNvSpPr txBox="1"/>
              <p:nvPr/>
            </p:nvSpPr>
            <p:spPr>
              <a:xfrm>
                <a:off x="1051560" y="3419856"/>
                <a:ext cx="630936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16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Rotación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b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sub>
                    </m:sSub>
                    <m:d>
                      <m:dPr>
                        <m:ctrlP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6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𝝋</m:t>
                        </m:r>
                      </m:e>
                    </m:d>
                  </m:oMath>
                </a14:m>
                <a:r>
                  <a:rPr lang="es-ES_tradnl" sz="16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— segundo atributo</a:t>
                </a:r>
                <a:endParaRPr lang="es-ES_tradnl" sz="1600" noProof="1"/>
              </a:p>
            </p:txBody>
          </p:sp>
        </mc:Choice>
        <mc:Fallback xmlns="">
          <p:sp>
            <p:nvSpPr>
              <p:cNvPr id="16" name="Text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3419856"/>
                <a:ext cx="6309360" cy="411480"/>
              </a:xfrm>
              <a:prstGeom prst="rect">
                <a:avLst/>
              </a:prstGeom>
              <a:blipFill>
                <a:blip r:embed="rId6"/>
                <a:stretch>
                  <a:fillRect l="-2213" t="-1515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15"/>
              <p:cNvSpPr txBox="1"/>
              <p:nvPr/>
            </p:nvSpPr>
            <p:spPr>
              <a:xfrm>
                <a:off x="1051560" y="3831336"/>
                <a:ext cx="63093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≅</m:t>
                      </m:r>
                      <m:func>
                        <m:func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d>
                            <m:d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num>
                                <m:den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𝜑</m:t>
                          </m:r>
                        </m:sup>
                      </m:sSup>
                      <m:func>
                        <m:func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num>
                                <m:den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func>
                      <m:d>
                        <m:dPr>
                          <m:begChr m:val="|"/>
                          <m:endChr m:val="⟩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</m:oMath>
                  </m:oMathPara>
                </a14:m>
                <a:endParaRPr lang="es-ES_tradnl" sz="1800" noProof="1"/>
              </a:p>
            </p:txBody>
          </p:sp>
        </mc:Choice>
        <mc:Fallback xmlns="">
          <p:sp>
            <p:nvSpPr>
              <p:cNvPr id="17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3831336"/>
                <a:ext cx="6309360" cy="457200"/>
              </a:xfrm>
              <a:prstGeom prst="rect">
                <a:avLst/>
              </a:prstGeom>
              <a:blipFill>
                <a:blip r:embed="rId7"/>
                <a:stretch>
                  <a:fillRect l="-1207" t="-8108" b="-24324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Shape 16"/>
          <p:cNvSpPr/>
          <p:nvPr/>
        </p:nvSpPr>
        <p:spPr>
          <a:xfrm>
            <a:off x="548640" y="4489704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9" name="Text 17"/>
          <p:cNvSpPr txBox="1"/>
          <p:nvPr/>
        </p:nvSpPr>
        <p:spPr>
          <a:xfrm>
            <a:off x="548640" y="44897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s-ES_tradnl" sz="1300" noProof="1"/>
          </a:p>
        </p:txBody>
      </p:sp>
      <p:sp>
        <p:nvSpPr>
          <p:cNvPr id="20" name="Text 18"/>
          <p:cNvSpPr txBox="1"/>
          <p:nvPr/>
        </p:nvSpPr>
        <p:spPr>
          <a:xfrm>
            <a:off x="1051560" y="4443984"/>
            <a:ext cx="6309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de Bloch</a:t>
            </a:r>
            <a:endParaRPr lang="es-ES_tradnl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 19"/>
              <p:cNvSpPr txBox="1"/>
              <p:nvPr/>
            </p:nvSpPr>
            <p:spPr>
              <a:xfrm>
                <a:off x="1051560" y="4855464"/>
                <a:ext cx="63093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func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𝜑</m:t>
                              </m:r>
                            </m:e>
                          </m:func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8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  </m:t>
                          </m:r>
                          <m:func>
                            <m:func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s-ES" sz="18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e>
                      </m:d>
                    </m:oMath>
                  </m:oMathPara>
                </a14:m>
                <a:endParaRPr lang="es-ES_tradnl" sz="1800" noProof="1"/>
              </a:p>
            </p:txBody>
          </p:sp>
        </mc:Choice>
        <mc:Fallback xmlns="">
          <p:sp>
            <p:nvSpPr>
              <p:cNvPr id="21" name="Text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4855464"/>
                <a:ext cx="6309360" cy="45720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Shape 20"/>
          <p:cNvSpPr/>
          <p:nvPr/>
        </p:nvSpPr>
        <p:spPr>
          <a:xfrm>
            <a:off x="548640" y="5486400"/>
            <a:ext cx="6766560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E08A2E"/>
            </a:solidFill>
            <a:prstDash val="dash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3" name="Text 21"/>
          <p:cNvSpPr txBox="1"/>
          <p:nvPr/>
        </p:nvSpPr>
        <p:spPr>
          <a:xfrm>
            <a:off x="822960" y="56692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500" i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Pendiente: valores normalizados para status_account = 1, month_duration = 24</a:t>
            </a:r>
            <a:endParaRPr lang="es-ES_tradnl" sz="1500" noProof="1"/>
          </a:p>
        </p:txBody>
      </p:sp>
      <p:pic>
        <p:nvPicPr>
          <p:cNvPr id="24" name="Image 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35240" y="1371600"/>
            <a:ext cx="3931920" cy="39319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22"/>
              <p:cNvSpPr txBox="1"/>
              <p:nvPr/>
            </p:nvSpPr>
            <p:spPr>
              <a:xfrm>
                <a:off x="7635240" y="5486400"/>
                <a:ext cx="3931920" cy="7315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s-ES" sz="1400" i="1">
                            <a:solidFill>
                              <a:srgbClr val="5F6B7A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400" i="1">
                            <a:solidFill>
                              <a:srgbClr val="5F6B7A"/>
                            </a:solidFill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es-ES" sz="1400" i="1">
                            <a:solidFill>
                              <a:srgbClr val="5F6B7A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evita que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2</m:t>
                    </m:r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≡0</m:t>
                    </m:r>
                  </m:oMath>
                </a14:m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junte el mínimo con el máximo y conserva el orden.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25" name="Text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5240" y="5486400"/>
                <a:ext cx="3931920" cy="731520"/>
              </a:xfrm>
              <a:prstGeom prst="rect">
                <a:avLst/>
              </a:prstGeom>
              <a:blipFill>
                <a:blip r:embed="rId10"/>
                <a:stretch>
                  <a:fillRect t="-862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39801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Agregación y datasets vecinos</a:t>
            </a:r>
            <a:endParaRPr lang="es-ES_tradnl" sz="3200" noProof="1"/>
          </a:p>
        </p:txBody>
      </p:sp>
      <p:sp>
        <p:nvSpPr>
          <p:cNvPr id="5" name="Text 3"/>
          <p:cNvSpPr txBox="1"/>
          <p:nvPr/>
        </p:nvSpPr>
        <p:spPr>
          <a:xfrm>
            <a:off x="8686800" y="5029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_tradnl" sz="1100" kern="0" spc="2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s-ES_tradnl" sz="1100" noProof="1"/>
          </a:p>
        </p:txBody>
      </p:sp>
      <p:sp>
        <p:nvSpPr>
          <p:cNvPr id="6" name="Shape 4"/>
          <p:cNvSpPr/>
          <p:nvPr/>
        </p:nvSpPr>
        <p:spPr>
          <a:xfrm>
            <a:off x="548640" y="1417320"/>
            <a:ext cx="6766560" cy="1051560"/>
          </a:xfrm>
          <a:prstGeom prst="roundRect">
            <a:avLst>
              <a:gd name="adj" fmla="val 10435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822960" y="153619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</a:t>
            </a:r>
            <a:endParaRPr lang="es-ES_tradnl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6"/>
              <p:cNvSpPr txBox="1"/>
              <p:nvPr/>
            </p:nvSpPr>
            <p:spPr>
              <a:xfrm>
                <a:off x="822960" y="1920240"/>
                <a:ext cx="621792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s-ES_tradnl" sz="1900" noProof="1"/>
              </a:p>
            </p:txBody>
          </p:sp>
        </mc:Choice>
        <mc:Fallback xmlns="">
          <p:sp>
            <p:nvSpPr>
              <p:cNvPr id="8" name="Text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1920240"/>
                <a:ext cx="6217920" cy="457200"/>
              </a:xfrm>
              <a:prstGeom prst="rect">
                <a:avLst/>
              </a:prstGeom>
              <a:blipFill>
                <a:blip r:embed="rId3"/>
                <a:stretch>
                  <a:fillRect l="-1222" t="-237838" b="-34864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Shape 7"/>
          <p:cNvSpPr/>
          <p:nvPr/>
        </p:nvSpPr>
        <p:spPr>
          <a:xfrm>
            <a:off x="548640" y="2651760"/>
            <a:ext cx="6766560" cy="1051560"/>
          </a:xfrm>
          <a:prstGeom prst="roundRect">
            <a:avLst>
              <a:gd name="adj" fmla="val 10435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 txBox="1"/>
          <p:nvPr/>
        </p:nvSpPr>
        <p:spPr>
          <a:xfrm>
            <a:off x="822960" y="277063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Vecino D′ᵢ (se elimina la fila i)</a:t>
            </a:r>
            <a:endParaRPr lang="es-ES_tradnl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 txBox="1"/>
              <p:nvPr/>
            </p:nvSpPr>
            <p:spPr>
              <a:xfrm>
                <a:off x="822960" y="3154680"/>
                <a:ext cx="621792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𝑗</m:t>
                          </m:r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≠</m:t>
                          </m:r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s-ES_tradnl" sz="1900" noProof="1"/>
              </a:p>
            </p:txBody>
          </p:sp>
        </mc:Choice>
        <mc:Fallback xmlns="">
          <p:sp>
            <p:nvSpPr>
              <p:cNvPr id="11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3154680"/>
                <a:ext cx="6217920" cy="457200"/>
              </a:xfrm>
              <a:prstGeom prst="rect">
                <a:avLst/>
              </a:prstGeom>
              <a:blipFill>
                <a:blip r:embed="rId4"/>
                <a:stretch>
                  <a:fillRect l="-815" t="-240541" b="-34324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10"/>
          <p:cNvSpPr/>
          <p:nvPr/>
        </p:nvSpPr>
        <p:spPr>
          <a:xfrm>
            <a:off x="548640" y="3886200"/>
            <a:ext cx="6766560" cy="1051560"/>
          </a:xfrm>
          <a:prstGeom prst="roundRect">
            <a:avLst>
              <a:gd name="adj" fmla="val 10435"/>
            </a:avLst>
          </a:prstGeom>
          <a:solidFill>
            <a:srgbClr val="E6F4F2"/>
          </a:solidFill>
          <a:ln w="12700">
            <a:solidFill>
              <a:srgbClr val="E6F4F2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/>
          <p:cNvSpPr txBox="1"/>
          <p:nvPr/>
        </p:nvSpPr>
        <p:spPr>
          <a:xfrm>
            <a:off x="822960" y="4005072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Diferencia</a:t>
            </a:r>
            <a:endParaRPr lang="es-ES_tradnl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 12"/>
              <p:cNvSpPr txBox="1"/>
              <p:nvPr/>
            </p:nvSpPr>
            <p:spPr>
              <a:xfrm>
                <a:off x="822960" y="4389120"/>
                <a:ext cx="621792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r>
                        <a:rPr lang="es-ES" sz="19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 ⇒   </m:t>
                      </m:r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𝑂</m:t>
                      </m:r>
                      <m:d>
                        <m:d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1/</m:t>
                          </m:r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</m:d>
                    </m:oMath>
                  </m:oMathPara>
                </a14:m>
                <a:endParaRPr lang="es-ES_tradnl" sz="1900" noProof="1"/>
              </a:p>
            </p:txBody>
          </p:sp>
        </mc:Choice>
        <mc:Fallback xmlns="">
          <p:sp>
            <p:nvSpPr>
              <p:cNvPr id="14" name="Tex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4389120"/>
                <a:ext cx="6217920" cy="457200"/>
              </a:xfrm>
              <a:prstGeom prst="rect">
                <a:avLst/>
              </a:prstGeom>
              <a:blipFill>
                <a:blip r:embed="rId5"/>
                <a:stretch>
                  <a:fillRect l="-1222" t="-5405" b="-2162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 13"/>
          <p:cNvSpPr txBox="1"/>
          <p:nvPr/>
        </p:nvSpPr>
        <p:spPr>
          <a:xfrm>
            <a:off x="548640" y="525780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s-ES_tradnl" sz="1500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Vecindad por eliminación (add/remove), no por reemplazo.</a:t>
            </a:r>
            <a:endParaRPr lang="es-ES_tradnl" sz="1500" noProof="1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s-ES_tradnl" sz="1500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Código: Aggregate(Qd) y encodeExcludeOne(i, Qd).</a:t>
            </a:r>
            <a:endParaRPr lang="es-ES_tradnl" sz="1500" noProof="1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35240" y="1371600"/>
            <a:ext cx="3931920" cy="393192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635240" y="54864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4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Ilustrativo: el promedio de estados puros queda dentro de la esfera (estado mixto).</a:t>
            </a:r>
            <a:endParaRPr lang="es-ES_tradnl" sz="1400" noProof="1"/>
          </a:p>
        </p:txBody>
      </p:sp>
    </p:spTree>
    <p:extLst>
      <p:ext uri="{BB962C8B-B14F-4D97-AF65-F5344CB8AC3E}">
        <p14:creationId xmlns:p14="http://schemas.microsoft.com/office/powerpoint/2010/main" val="33167363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Canal Generalized Amplitude Damping</a:t>
            </a:r>
            <a:endParaRPr lang="es-ES_tradnl" sz="3200" noProof="1"/>
          </a:p>
        </p:txBody>
      </p:sp>
      <p:sp>
        <p:nvSpPr>
          <p:cNvPr id="5" name="Text 3"/>
          <p:cNvSpPr txBox="1"/>
          <p:nvPr/>
        </p:nvSpPr>
        <p:spPr>
          <a:xfrm>
            <a:off x="8686800" y="5029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_tradnl" sz="1100" kern="0" spc="2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s-ES_tradnl" sz="1100" noProof="1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3291840" cy="640080"/>
          </a:xfrm>
          <a:prstGeom prst="roundRect">
            <a:avLst>
              <a:gd name="adj" fmla="val 17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 txBox="1"/>
              <p:nvPr/>
            </p:nvSpPr>
            <p:spPr>
              <a:xfrm>
                <a:off x="685800" y="1371600"/>
                <a:ext cx="30175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sz="15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15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500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1500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1500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ad>
                                  <m:radPr>
                                    <m:ctrlP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s-ES" sz="1500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ra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 xmlns="">
          <p:sp>
            <p:nvSpPr>
              <p:cNvPr id="7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1371600"/>
                <a:ext cx="3017520" cy="64008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Shape 6"/>
          <p:cNvSpPr/>
          <p:nvPr/>
        </p:nvSpPr>
        <p:spPr>
          <a:xfrm>
            <a:off x="3977640" y="1371600"/>
            <a:ext cx="3291840" cy="640080"/>
          </a:xfrm>
          <a:prstGeom prst="roundRect">
            <a:avLst>
              <a:gd name="adj" fmla="val 17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 txBox="1"/>
              <p:nvPr/>
            </p:nvSpPr>
            <p:spPr>
              <a:xfrm>
                <a:off x="4114800" y="1371600"/>
                <a:ext cx="30175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s-ES" sz="15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ad>
                                  <m:radPr>
                                    <m:ctrlP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rad>
                              </m:e>
                            </m:m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 xmlns=""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0" y="1371600"/>
                <a:ext cx="3017520" cy="64008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548640" y="2148840"/>
            <a:ext cx="3291840" cy="640080"/>
          </a:xfrm>
          <a:prstGeom prst="roundRect">
            <a:avLst>
              <a:gd name="adj" fmla="val 17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 txBox="1"/>
              <p:nvPr/>
            </p:nvSpPr>
            <p:spPr>
              <a:xfrm>
                <a:off x="685800" y="2148840"/>
                <a:ext cx="30175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s-ES" sz="15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ad>
                                  <m:radPr>
                                    <m:ctrlP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rad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 xmlns="">
          <p:sp>
            <p:nvSpPr>
              <p:cNvPr id="11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800" y="2148840"/>
                <a:ext cx="3017520" cy="64008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10"/>
          <p:cNvSpPr/>
          <p:nvPr/>
        </p:nvSpPr>
        <p:spPr>
          <a:xfrm>
            <a:off x="3977640" y="2148840"/>
            <a:ext cx="3291840" cy="640080"/>
          </a:xfrm>
          <a:prstGeom prst="roundRect">
            <a:avLst>
              <a:gd name="adj" fmla="val 171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 txBox="1"/>
              <p:nvPr/>
            </p:nvSpPr>
            <p:spPr>
              <a:xfrm>
                <a:off x="4114800" y="2148840"/>
                <a:ext cx="3017520" cy="6400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s-ES" sz="15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rad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ad>
                                  <m:radPr>
                                    <m:ctrlP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radPr>
                                  <m:deg/>
                                  <m:e>
                                    <m:r>
                                      <a:rPr lang="es-ES" sz="15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𝛾</m:t>
                                    </m:r>
                                  </m:e>
                                </m:rad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 xmlns="">
          <p:sp>
            <p:nvSpPr>
              <p:cNvPr id="13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4800" y="2148840"/>
                <a:ext cx="3017520" cy="64008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 12"/>
              <p:cNvSpPr txBox="1"/>
              <p:nvPr/>
            </p:nvSpPr>
            <p:spPr>
              <a:xfrm>
                <a:off x="548640" y="3017520"/>
                <a:ext cx="672084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  <m:sSubSup>
                            <m:sSubSup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  <m:sub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bSup>
                        </m:e>
                      </m:nary>
                      <m:r>
                        <a:rPr lang="es-ES" sz="18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    </m:t>
                      </m:r>
                      <m:r>
                        <m:rPr>
                          <m:sty m:val="p"/>
                        </m:rPr>
                        <a:rPr lang="es-ES" sz="18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con</m:t>
                      </m:r>
                      <m:r>
                        <a:rPr lang="es-ES" sz="18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=0.5</m:t>
                      </m:r>
                    </m:oMath>
                  </m:oMathPara>
                </a14:m>
                <a:endParaRPr lang="es-ES_tradnl" sz="1800" noProof="1"/>
              </a:p>
            </p:txBody>
          </p:sp>
        </mc:Choice>
        <mc:Fallback xmlns="">
          <p:sp>
            <p:nvSpPr>
              <p:cNvPr id="14" name="Tex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3017520"/>
                <a:ext cx="6720840" cy="457200"/>
              </a:xfrm>
              <a:prstGeom prst="rect">
                <a:avLst/>
              </a:prstGeom>
              <a:blipFill>
                <a:blip r:embed="rId7"/>
                <a:stretch>
                  <a:fillRect l="-1698" t="-218919" b="-32973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Shape 13"/>
          <p:cNvSpPr/>
          <p:nvPr/>
        </p:nvSpPr>
        <p:spPr>
          <a:xfrm>
            <a:off x="548640" y="3657600"/>
            <a:ext cx="6720840" cy="914400"/>
          </a:xfrm>
          <a:prstGeom prst="roundRect">
            <a:avLst>
              <a:gd name="adj" fmla="val 12000"/>
            </a:avLst>
          </a:prstGeom>
          <a:solidFill>
            <a:srgbClr val="FBF0E3"/>
          </a:solidFill>
          <a:ln w="12700">
            <a:solidFill>
              <a:srgbClr val="FBF0E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6" name="Text 14"/>
          <p:cNvSpPr txBox="1"/>
          <p:nvPr/>
        </p:nvSpPr>
        <p:spPr>
          <a:xfrm>
            <a:off x="822960" y="3730752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Efecto en la esfera de Bloch</a:t>
            </a:r>
            <a:endParaRPr lang="es-ES_tradnl" sz="15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15"/>
              <p:cNvSpPr txBox="1"/>
              <p:nvPr/>
            </p:nvSpPr>
            <p:spPr>
              <a:xfrm>
                <a:off x="822960" y="4069080"/>
                <a:ext cx="621792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s-ES" sz="17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rad>
                        <m:radPr>
                          <m:ctrlP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rad>
                      <m:r>
                        <a:rPr lang="es-ES" sz="17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d>
                        <m:dPr>
                          <m:ctrlP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s-ES" sz="17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      </m:t>
                      </m:r>
                      <m:r>
                        <a:rPr lang="es-ES" sz="17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s-ES" sz="17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ctrlP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𝛾</m:t>
                          </m:r>
                        </m:e>
                      </m:d>
                      <m:r>
                        <a:rPr lang="es-ES" sz="17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s-ES" sz="17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s-ES" sz="17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𝛾</m:t>
                      </m:r>
                      <m:d>
                        <m:dPr>
                          <m:ctrlP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</m:oMath>
                  </m:oMathPara>
                </a14:m>
                <a:endParaRPr lang="es-ES_tradnl" sz="1700" noProof="1"/>
              </a:p>
            </p:txBody>
          </p:sp>
        </mc:Choice>
        <mc:Fallback xmlns="">
          <p:sp>
            <p:nvSpPr>
              <p:cNvPr id="17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4069080"/>
                <a:ext cx="6217920" cy="411480"/>
              </a:xfrm>
              <a:prstGeom prst="rect">
                <a:avLst/>
              </a:prstGeom>
              <a:blipFill>
                <a:blip r:embed="rId8"/>
                <a:stretch>
                  <a:fillRect b="-909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 16"/>
          <p:cNvSpPr txBox="1"/>
          <p:nvPr/>
        </p:nvSpPr>
        <p:spPr>
          <a:xfrm>
            <a:off x="548640" y="4800600"/>
            <a:ext cx="672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(collateral = 3):</a:t>
            </a:r>
            <a:endParaRPr lang="es-ES_tradnl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 17"/>
              <p:cNvSpPr txBox="1"/>
              <p:nvPr/>
            </p:nvSpPr>
            <p:spPr>
              <a:xfrm>
                <a:off x="548640" y="5486400"/>
                <a:ext cx="2740825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0,−1,0</m:t>
                          </m:r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→</m:t>
                      </m:r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0,−</m:t>
                          </m:r>
                          <m:f>
                            <m:fPr>
                              <m:type m:val="lin"/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ctrlP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s-ES" sz="18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rad>
                            </m:den>
                          </m:f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,0</m:t>
                          </m:r>
                        </m:e>
                      </m:d>
                    </m:oMath>
                  </m:oMathPara>
                </a14:m>
                <a:endParaRPr lang="es-ES_tradnl" sz="1800" noProof="1"/>
              </a:p>
            </p:txBody>
          </p:sp>
        </mc:Choice>
        <mc:Fallback xmlns="">
          <p:sp>
            <p:nvSpPr>
              <p:cNvPr id="19" name="Text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5486400"/>
                <a:ext cx="2740825" cy="411480"/>
              </a:xfrm>
              <a:prstGeom prst="rect">
                <a:avLst/>
              </a:prstGeom>
              <a:blipFill>
                <a:blip r:embed="rId9"/>
                <a:stretch>
                  <a:fillRect t="-93939" b="-148485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18"/>
              <p:cNvSpPr txBox="1"/>
              <p:nvPr/>
            </p:nvSpPr>
            <p:spPr>
              <a:xfrm>
                <a:off x="3931920" y="4947854"/>
                <a:ext cx="2507475" cy="1399032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sz="18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sz="18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8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8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ctrlPr>
                                      <a:rPr lang="es-ES" sz="18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sz="18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sz="18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sz="18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s-ES" sz="18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ctrlPr>
                                      <a:rPr lang="es-ES" sz="18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sz="18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sz="18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sz="18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es-ES" sz="18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800" noProof="1"/>
              </a:p>
            </p:txBody>
          </p:sp>
        </mc:Choice>
        <mc:Fallback xmlns="">
          <p:sp>
            <p:nvSpPr>
              <p:cNvPr id="20" name="Text 1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1920" y="4947854"/>
                <a:ext cx="2507475" cy="1399032"/>
              </a:xfrm>
              <a:prstGeom prst="rect">
                <a:avLst/>
              </a:prstGeom>
              <a:blipFill>
                <a:blip r:embed="rId10"/>
                <a:stretch>
                  <a:fillRect l="-303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635240" y="1371600"/>
            <a:ext cx="3931920" cy="393192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 19"/>
              <p:cNvSpPr txBox="1"/>
              <p:nvPr/>
            </p:nvSpPr>
            <p:spPr>
              <a:xfrm>
                <a:off x="7635240" y="5486400"/>
                <a:ext cx="3931920" cy="7315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Con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la esfera se contrae hacia el centro sin desplazarse en </a:t>
                </a: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22" name="Text 1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35240" y="5486400"/>
                <a:ext cx="3931920" cy="731520"/>
              </a:xfrm>
              <a:prstGeom prst="rect">
                <a:avLst/>
              </a:prstGeom>
              <a:blipFill>
                <a:blip r:embed="rId12"/>
                <a:stretch>
                  <a:fillRect t="-8621" r="-32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9774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Independencia por columna</a:t>
            </a:r>
            <a:endParaRPr lang="es-ES_tradnl" sz="3200" noProof="1"/>
          </a:p>
        </p:txBody>
      </p:sp>
      <p:sp>
        <p:nvSpPr>
          <p:cNvPr id="5" name="Text 3"/>
          <p:cNvSpPr txBox="1"/>
          <p:nvPr/>
        </p:nvSpPr>
        <p:spPr>
          <a:xfrm>
            <a:off x="8686800" y="5029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_tradnl" sz="1100" kern="0" spc="2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s-ES_tradnl" sz="1100" noProof="1"/>
          </a:p>
        </p:txBody>
      </p:sp>
      <p:sp>
        <p:nvSpPr>
          <p:cNvPr id="6" name="Text 4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Proposición</a:t>
            </a:r>
            <a:endParaRPr lang="es-ES_tradnl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5"/>
              <p:cNvSpPr txBox="1"/>
              <p:nvPr/>
            </p:nvSpPr>
            <p:spPr>
              <a:xfrm>
                <a:off x="548640" y="1645920"/>
                <a:ext cx="11064240" cy="5486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sSub>
                            <m:sSubPr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sSub>
                            <m:sSubPr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p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sSub>
                            <m:sSubPr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  <m:sSup>
                            <m:sSupPr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p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d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d>
                        <m:d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e>
                      </m:d>
                      <m:sSup>
                        <m:sSup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⊗</m:t>
                              </m:r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⊗</m:t>
                              </m:r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d>
                        </m:e>
                        <m:sup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†</m:t>
                          </m:r>
                        </m:sup>
                      </m:sSup>
                    </m:oMath>
                  </m:oMathPara>
                </a14:m>
                <a:endParaRPr lang="es-ES_tradnl" sz="2000" noProof="1"/>
              </a:p>
            </p:txBody>
          </p:sp>
        </mc:Choice>
        <mc:Fallback xmlns="">
          <p:sp>
            <p:nvSpPr>
              <p:cNvPr id="7" name="Text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645920"/>
                <a:ext cx="11064240" cy="54864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 6"/>
          <p:cNvSpPr txBox="1"/>
          <p:nvPr/>
        </p:nvSpPr>
        <p:spPr>
          <a:xfrm>
            <a:off x="548640" y="23774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Lema (producto mixto)</a:t>
            </a:r>
            <a:endParaRPr lang="es-ES_tradnl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 txBox="1"/>
              <p:nvPr/>
            </p:nvSpPr>
            <p:spPr>
              <a:xfrm>
                <a:off x="548640" y="2743200"/>
                <a:ext cx="11064240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𝑌</m:t>
                          </m:r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d>
                      <m:d>
                        <m:d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𝑈</m:t>
                          </m:r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</m:d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𝑋𝑈</m:t>
                      </m:r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𝑌𝑉</m:t>
                      </m:r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𝑍𝑊</m:t>
                      </m:r>
                    </m:oMath>
                  </m:oMathPara>
                </a14:m>
                <a:endParaRPr lang="es-ES_tradnl" sz="2000" noProof="1"/>
              </a:p>
            </p:txBody>
          </p:sp>
        </mc:Choice>
        <mc:Fallback xmlns=""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2743200"/>
                <a:ext cx="11064240" cy="5029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Shape 8"/>
          <p:cNvSpPr/>
          <p:nvPr/>
        </p:nvSpPr>
        <p:spPr>
          <a:xfrm>
            <a:off x="548640" y="3520440"/>
            <a:ext cx="3520440" cy="1188720"/>
          </a:xfrm>
          <a:prstGeom prst="roundRect">
            <a:avLst>
              <a:gd name="adj" fmla="val 923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1" name="Shape 9"/>
          <p:cNvSpPr/>
          <p:nvPr/>
        </p:nvSpPr>
        <p:spPr>
          <a:xfrm>
            <a:off x="731520" y="3657600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2" name="Text 10"/>
          <p:cNvSpPr txBox="1"/>
          <p:nvPr/>
        </p:nvSpPr>
        <p:spPr>
          <a:xfrm>
            <a:off x="731520" y="3657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ES_tradnl" sz="13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11"/>
              <p:cNvSpPr txBox="1"/>
              <p:nvPr/>
            </p:nvSpPr>
            <p:spPr>
              <a:xfrm>
                <a:off x="1188720" y="3657600"/>
                <a:ext cx="2697480" cy="9601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Se verifica sobre vectores producto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usando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⊗</m:t>
                        </m:r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</m:d>
                    <m:d>
                      <m:dPr>
                        <m:ctrlP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⊗</m:t>
                        </m:r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</m:d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𝑇𝑣</m:t>
                    </m:r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⊗</m:t>
                    </m:r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𝑆𝑤</m:t>
                    </m:r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13" name="Tex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8720" y="3657600"/>
                <a:ext cx="2697480" cy="960120"/>
              </a:xfrm>
              <a:prstGeom prst="rect">
                <a:avLst/>
              </a:prstGeom>
              <a:blipFill>
                <a:blip r:embed="rId5"/>
                <a:stretch>
                  <a:fillRect l="-7009" t="-17105" b="-2631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Shape 12"/>
          <p:cNvSpPr/>
          <p:nvPr/>
        </p:nvSpPr>
        <p:spPr>
          <a:xfrm>
            <a:off x="4297680" y="3520440"/>
            <a:ext cx="3520440" cy="1188720"/>
          </a:xfrm>
          <a:prstGeom prst="roundRect">
            <a:avLst>
              <a:gd name="adj" fmla="val 923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5" name="Shape 13"/>
          <p:cNvSpPr/>
          <p:nvPr/>
        </p:nvSpPr>
        <p:spPr>
          <a:xfrm>
            <a:off x="4480560" y="3657600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6" name="Text 14"/>
          <p:cNvSpPr txBox="1"/>
          <p:nvPr/>
        </p:nvSpPr>
        <p:spPr>
          <a:xfrm>
            <a:off x="4480560" y="3657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ES_tradnl" sz="13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15"/>
              <p:cNvSpPr txBox="1"/>
              <p:nvPr/>
            </p:nvSpPr>
            <p:spPr>
              <a:xfrm>
                <a:off x="4937760" y="3657600"/>
                <a:ext cx="2697480" cy="9601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Los vectores producto generan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s-ES" sz="14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⊗</m:t>
                    </m:r>
                    <m:sSub>
                      <m:sSubPr>
                        <m:ctrlP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b>
                        <m:r>
                          <a:rPr lang="es-ES" sz="14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s-ES_tradnl" sz="14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; por linealidad vale en todo el espacio.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17" name="Text 1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37760" y="3657600"/>
                <a:ext cx="2697480" cy="960120"/>
              </a:xfrm>
              <a:prstGeom prst="rect">
                <a:avLst/>
              </a:prstGeom>
              <a:blipFill>
                <a:blip r:embed="rId6"/>
                <a:stretch>
                  <a:fillRect l="-3738" t="-6579" r="-327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Shape 16"/>
          <p:cNvSpPr/>
          <p:nvPr/>
        </p:nvSpPr>
        <p:spPr>
          <a:xfrm>
            <a:off x="8046720" y="3520440"/>
            <a:ext cx="3520440" cy="1188720"/>
          </a:xfrm>
          <a:prstGeom prst="roundRect">
            <a:avLst>
              <a:gd name="adj" fmla="val 9231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9" name="Shape 17"/>
          <p:cNvSpPr/>
          <p:nvPr/>
        </p:nvSpPr>
        <p:spPr>
          <a:xfrm>
            <a:off x="8229600" y="3657600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20" name="Text 18"/>
          <p:cNvSpPr txBox="1"/>
          <p:nvPr/>
        </p:nvSpPr>
        <p:spPr>
          <a:xfrm>
            <a:off x="8229600" y="36576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ES_tradnl" sz="1300" noProof="1"/>
          </a:p>
        </p:txBody>
      </p:sp>
      <p:sp>
        <p:nvSpPr>
          <p:cNvPr id="21" name="Text 19"/>
          <p:cNvSpPr txBox="1"/>
          <p:nvPr/>
        </p:nvSpPr>
        <p:spPr>
          <a:xfrm>
            <a:off x="8686800" y="3657600"/>
            <a:ext cx="2697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Aplicando el lema dos veces se obtiene la proposición.</a:t>
            </a:r>
            <a:endParaRPr lang="es-ES_tradnl" sz="1400" noProof="1"/>
          </a:p>
        </p:txBody>
      </p:sp>
      <p:sp>
        <p:nvSpPr>
          <p:cNvPr id="22" name="Shape 20"/>
          <p:cNvSpPr/>
          <p:nvPr/>
        </p:nvSpPr>
        <p:spPr>
          <a:xfrm>
            <a:off x="548640" y="4937760"/>
            <a:ext cx="11064240" cy="1280160"/>
          </a:xfrm>
          <a:prstGeom prst="roundRect">
            <a:avLst>
              <a:gd name="adj" fmla="val 8571"/>
            </a:avLst>
          </a:prstGeom>
          <a:solidFill>
            <a:srgbClr val="E6F4F2"/>
          </a:solidFill>
          <a:ln w="12700">
            <a:solidFill>
              <a:srgbClr val="E6F4F2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3" name="Text 21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Extensión a canales con varios operadores de Kraus (GAD tiene 4)</a:t>
            </a:r>
            <a:endParaRPr lang="es-ES_tradnl" sz="15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22"/>
              <p:cNvSpPr txBox="1"/>
              <p:nvPr/>
            </p:nvSpPr>
            <p:spPr>
              <a:xfrm>
                <a:off x="822960" y="5394960"/>
                <a:ext cx="1051560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16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ℰ</m:t>
                              </m:r>
                            </m:e>
                            <m:sub>
                              <m: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s-ES" sz="16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ℰ</m:t>
                              </m:r>
                            </m:e>
                            <m:sub>
                              <m: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s-ES" sz="16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ℰ</m:t>
                              </m:r>
                            </m:e>
                            <m:sub>
                              <m: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s-ES" sz="16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s-ES" sz="16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es-ES" sz="16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>
                            <m:sSubPr>
                              <m:ctrlP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sub>
                          </m:sSub>
                        </m:e>
                      </m:d>
                      <m:r>
                        <a:rPr lang="es-ES" sz="16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s-ES" sz="16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6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𝑗𝑘𝑙</m:t>
                          </m:r>
                        </m:sub>
                        <m:sup/>
                        <m:e>
                          <m:d>
                            <m:dPr>
                              <m:ctrlP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s-ES" sz="16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6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</m:e>
                                <m:sub>
                                  <m:r>
                                    <a:rPr lang="es-ES" sz="16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⊗</m:t>
                              </m:r>
                              <m:sSub>
                                <m:sSubPr>
                                  <m:ctrlPr>
                                    <a:rPr lang="es-ES" sz="16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6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𝐹</m:t>
                                  </m:r>
                                </m:e>
                                <m:sub>
                                  <m:r>
                                    <a:rPr lang="es-ES" sz="16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⊗</m:t>
                              </m:r>
                              <m:sSub>
                                <m:sSubPr>
                                  <m:ctrlPr>
                                    <a:rPr lang="es-ES" sz="16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6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𝐺</m:t>
                                  </m:r>
                                </m:e>
                                <m:sub>
                                  <m:r>
                                    <a:rPr lang="es-ES" sz="16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</m:sub>
                              </m:sSub>
                            </m:e>
                          </m:d>
                          <m:d>
                            <m:dPr>
                              <m:ctrlP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s-ES" sz="16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6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s-ES" sz="16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b>
                              </m:sSub>
                              <m: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⊗</m:t>
                              </m:r>
                              <m:sSub>
                                <m:sSubPr>
                                  <m:ctrlPr>
                                    <a:rPr lang="es-ES" sz="16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6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s-ES" sz="16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b>
                              </m:sSub>
                              <m: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⊗</m:t>
                              </m:r>
                              <m:sSub>
                                <m:sSubPr>
                                  <m:ctrlPr>
                                    <a:rPr lang="es-ES" sz="16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6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s-ES" sz="16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sub>
                              </m:sSub>
                            </m:e>
                          </m:d>
                          <m:sSup>
                            <m:sSupPr>
                              <m:ctrlP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s-ES" sz="16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s-ES" sz="1600" i="1">
                                          <a:solidFill>
                                            <a:srgbClr val="16193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s-ES" sz="1600" i="1">
                                          <a:solidFill>
                                            <a:srgbClr val="16193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𝐸</m:t>
                                      </m:r>
                                    </m:e>
                                    <m:sub>
                                      <m:r>
                                        <a:rPr lang="es-ES" sz="1600" i="1">
                                          <a:solidFill>
                                            <a:srgbClr val="16193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s-ES" sz="16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⊗</m:t>
                                  </m:r>
                                  <m:sSub>
                                    <m:sSubPr>
                                      <m:ctrlPr>
                                        <a:rPr lang="es-ES" sz="1600" i="1">
                                          <a:solidFill>
                                            <a:srgbClr val="16193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s-ES" sz="1600" i="1">
                                          <a:solidFill>
                                            <a:srgbClr val="16193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s-ES" sz="1600" i="1">
                                          <a:solidFill>
                                            <a:srgbClr val="16193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s-ES" sz="16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⊗</m:t>
                                  </m:r>
                                  <m:sSub>
                                    <m:sSubPr>
                                      <m:ctrlPr>
                                        <a:rPr lang="es-ES" sz="1600" i="1">
                                          <a:solidFill>
                                            <a:srgbClr val="16193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s-ES" sz="1600" i="1">
                                          <a:solidFill>
                                            <a:srgbClr val="16193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𝐺</m:t>
                                      </m:r>
                                    </m:e>
                                    <m:sub>
                                      <m:r>
                                        <a:rPr lang="es-ES" sz="1600" i="1">
                                          <a:solidFill>
                                            <a:srgbClr val="16193B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𝑙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s-ES" sz="16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†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s-ES_tradnl" sz="1600" noProof="1"/>
              </a:p>
            </p:txBody>
          </p:sp>
        </mc:Choice>
        <mc:Fallback xmlns="">
          <p:sp>
            <p:nvSpPr>
              <p:cNvPr id="24" name="Text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960" y="5394960"/>
                <a:ext cx="10515600" cy="411480"/>
              </a:xfrm>
              <a:prstGeom prst="rect">
                <a:avLst/>
              </a:prstGeom>
              <a:blipFill>
                <a:blip r:embed="rId7"/>
                <a:stretch>
                  <a:fillRect t="-217647" b="-32352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 23"/>
          <p:cNvSpPr txBox="1"/>
          <p:nvPr/>
        </p:nvSpPr>
        <p:spPr>
          <a:xfrm>
            <a:off x="82296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término por el lema; la suma por bilinealidad del producto tensorial.</a:t>
            </a:r>
            <a:endParaRPr lang="es-ES_tradnl" sz="1400" noProof="1"/>
          </a:p>
        </p:txBody>
      </p:sp>
    </p:spTree>
    <p:extLst>
      <p:ext uri="{BB962C8B-B14F-4D97-AF65-F5344CB8AC3E}">
        <p14:creationId xmlns:p14="http://schemas.microsoft.com/office/powerpoint/2010/main" val="3264123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Composición y alcance</a:t>
            </a:r>
            <a:endParaRPr lang="es-ES_tradnl" sz="3200" noProof="1"/>
          </a:p>
        </p:txBody>
      </p:sp>
      <p:sp>
        <p:nvSpPr>
          <p:cNvPr id="5" name="Text 3"/>
          <p:cNvSpPr txBox="1"/>
          <p:nvPr/>
        </p:nvSpPr>
        <p:spPr>
          <a:xfrm>
            <a:off x="8686800" y="5029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_tradnl" sz="1100" kern="0" spc="2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s-ES_tradnl" sz="1100" noProof="1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94960" cy="4754880"/>
          </a:xfrm>
          <a:prstGeom prst="roundRect">
            <a:avLst>
              <a:gd name="adj" fmla="val 2308"/>
            </a:avLst>
          </a:prstGeom>
          <a:solidFill>
            <a:srgbClr val="E6F4F2"/>
          </a:solidFill>
          <a:ln w="12700">
            <a:solidFill>
              <a:srgbClr val="E6F4F2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868680" y="1600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2000" b="1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</a:t>
            </a:r>
            <a:endParaRPr lang="es-ES_tradnl" sz="2000" noProof="1"/>
          </a:p>
        </p:txBody>
      </p:sp>
      <p:sp>
        <p:nvSpPr>
          <p:cNvPr id="8" name="Text 6"/>
          <p:cNvSpPr txBox="1"/>
          <p:nvPr/>
        </p:nvSpPr>
        <p:spPr>
          <a:xfrm>
            <a:off x="868680" y="214884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individuo aparece en las 7 columnas, así que la pérdida de privacidad se acumula por composición secuencial.</a:t>
            </a:r>
            <a:endParaRPr lang="es-ES_tradnl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 txBox="1"/>
              <p:nvPr/>
            </p:nvSpPr>
            <p:spPr>
              <a:xfrm>
                <a:off x="868680" y="3566160"/>
                <a:ext cx="4754880" cy="8229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3000" b="1" i="1">
                              <a:solidFill>
                                <a:srgbClr val="1A9E8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3000" b="1" i="1">
                              <a:solidFill>
                                <a:srgbClr val="1A9E8F"/>
                              </a:solidFill>
                              <a:latin typeface="Cambria Math" panose="02040503050406030204" pitchFamily="18" charset="0"/>
                            </a:rPr>
                            <m:t>𝜺</m:t>
                          </m:r>
                        </m:e>
                        <m:sub>
                          <m:r>
                            <a:rPr lang="es-ES" sz="3000" b="1">
                              <a:solidFill>
                                <a:srgbClr val="1A9E8F"/>
                              </a:solidFill>
                              <a:latin typeface="Cambria Math" panose="02040503050406030204" pitchFamily="18" charset="0"/>
                            </a:rPr>
                            <m:t>𝐭𝐨𝐭𝐚𝐥</m:t>
                          </m:r>
                        </m:sub>
                      </m:sSub>
                      <m:r>
                        <a:rPr lang="es-ES" sz="3000" b="1" i="1">
                          <a:solidFill>
                            <a:srgbClr val="1A9E8F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subSup"/>
                          <m:ctrlPr>
                            <a:rPr lang="es-ES" sz="3000" b="1" i="1">
                              <a:solidFill>
                                <a:srgbClr val="1A9E8F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3000" b="1" i="1">
                              <a:solidFill>
                                <a:srgbClr val="1A9E8F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s-ES" sz="3000" b="1" i="1">
                                  <a:solidFill>
                                    <a:srgbClr val="1A9E8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3000" b="1" i="1">
                                  <a:solidFill>
                                    <a:srgbClr val="1A9E8F"/>
                                  </a:solidFill>
                                  <a:latin typeface="Cambria Math" panose="02040503050406030204" pitchFamily="18" charset="0"/>
                                </a:rPr>
                                <m:t>𝜺</m:t>
                              </m:r>
                            </m:e>
                            <m:sub>
                              <m:r>
                                <a:rPr lang="es-ES" sz="3000" b="1" i="1">
                                  <a:solidFill>
                                    <a:srgbClr val="1A9E8F"/>
                                  </a:solidFill>
                                  <a:latin typeface="Cambria Math" panose="02040503050406030204" pitchFamily="18" charset="0"/>
                                </a:rPr>
                                <m:t>𝒌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s-ES_tradnl" sz="3000" noProof="1"/>
              </a:p>
            </p:txBody>
          </p:sp>
        </mc:Choice>
        <mc:Fallback xmlns=""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3566160"/>
                <a:ext cx="4754880" cy="822960"/>
              </a:xfrm>
              <a:prstGeom prst="rect">
                <a:avLst/>
              </a:prstGeom>
              <a:blipFill>
                <a:blip r:embed="rId3"/>
                <a:stretch>
                  <a:fillRect t="-201515" b="-30606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 8"/>
              <p:cNvSpPr txBox="1"/>
              <p:nvPr/>
            </p:nvSpPr>
            <p:spPr>
              <a:xfrm>
                <a:off x="868680" y="4434840"/>
                <a:ext cx="4754880" cy="3657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s-ES" sz="1400" i="1">
                        <a:solidFill>
                          <a:srgbClr val="5F6B7A"/>
                        </a:solidFill>
                        <a:latin typeface="Cambria Math" panose="02040503050406030204" pitchFamily="18" charset="0"/>
                      </a:rPr>
                      <m:t>=1,…,7</m:t>
                    </m:r>
                  </m:oMath>
                </a14:m>
                <a:r>
                  <a:rPr lang="es-ES_tradnl" sz="14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columnas</a:t>
                </a:r>
                <a:endParaRPr lang="es-ES_tradnl" sz="1400" noProof="1"/>
              </a:p>
            </p:txBody>
          </p:sp>
        </mc:Choice>
        <mc:Fallback xmlns="">
          <p:sp>
            <p:nvSpPr>
              <p:cNvPr id="10" name="Text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4434840"/>
                <a:ext cx="4754880" cy="365760"/>
              </a:xfrm>
              <a:prstGeom prst="rect">
                <a:avLst/>
              </a:prstGeom>
              <a:blipFill>
                <a:blip r:embed="rId4"/>
                <a:stretch>
                  <a:fillRect t="-1666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Shape 9"/>
          <p:cNvSpPr/>
          <p:nvPr/>
        </p:nvSpPr>
        <p:spPr>
          <a:xfrm>
            <a:off x="6263640" y="1371600"/>
            <a:ext cx="5394960" cy="4754880"/>
          </a:xfrm>
          <a:prstGeom prst="roundRect">
            <a:avLst>
              <a:gd name="adj" fmla="val 2308"/>
            </a:avLst>
          </a:prstGeom>
          <a:solidFill>
            <a:srgbClr val="FBEAE6"/>
          </a:solidFill>
          <a:ln w="12700">
            <a:solidFill>
              <a:srgbClr val="FBEAE6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Text 10"/>
          <p:cNvSpPr txBox="1"/>
          <p:nvPr/>
        </p:nvSpPr>
        <p:spPr>
          <a:xfrm>
            <a:off x="6583680" y="1600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2000" b="1" noProof="1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del resultado</a:t>
            </a:r>
            <a:endParaRPr lang="es-ES_tradnl" sz="2000" noProof="1"/>
          </a:p>
        </p:txBody>
      </p:sp>
      <p:sp>
        <p:nvSpPr>
          <p:cNvPr id="13" name="Text 11"/>
          <p:cNvSpPr txBox="1"/>
          <p:nvPr/>
        </p:nvSpPr>
        <p:spPr>
          <a:xfrm>
            <a:off x="6583680" y="21488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600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proposición cubre el ruido, no la agregación. En general:</a:t>
            </a:r>
            <a:endParaRPr lang="es-ES_tradnl" sz="16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 12"/>
              <p:cNvSpPr txBox="1"/>
              <p:nvPr/>
            </p:nvSpPr>
            <p:spPr>
              <a:xfrm>
                <a:off x="6583680" y="2834640"/>
                <a:ext cx="475488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subSup"/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Sup>
                            <m:sSubSupPr>
                              <m:ctrlP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p>
                          </m:sSubSup>
                          <m: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⊗</m:t>
                          </m:r>
                          <m:sSubSup>
                            <m:sSubSupPr>
                              <m:ctrlP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p>
                          </m:sSubSup>
                        </m:e>
                      </m:nary>
                    </m:oMath>
                  </m:oMathPara>
                </a14:m>
                <a:endParaRPr lang="es-ES_tradnl" sz="1900" noProof="1"/>
              </a:p>
            </p:txBody>
          </p:sp>
        </mc:Choice>
        <mc:Fallback xmlns="">
          <p:sp>
            <p:nvSpPr>
              <p:cNvPr id="14" name="Tex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0" y="2834640"/>
                <a:ext cx="4754880" cy="457200"/>
              </a:xfrm>
              <a:prstGeom prst="rect">
                <a:avLst/>
              </a:prstGeom>
              <a:blipFill>
                <a:blip r:embed="rId5"/>
                <a:stretch>
                  <a:fillRect t="-237838" b="-34864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13"/>
              <p:cNvSpPr txBox="1"/>
              <p:nvPr/>
            </p:nvSpPr>
            <p:spPr>
              <a:xfrm>
                <a:off x="6583680" y="3246120"/>
                <a:ext cx="4754880" cy="3657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900" i="1">
                          <a:solidFill>
                            <a:srgbClr val="C8553D"/>
                          </a:solidFill>
                          <a:latin typeface="Cambria Math" panose="02040503050406030204" pitchFamily="18" charset="0"/>
                        </a:rPr>
                        <m:t>≠</m:t>
                      </m:r>
                    </m:oMath>
                  </m:oMathPara>
                </a14:m>
                <a:endParaRPr lang="es-ES_tradnl" sz="1900" noProof="1"/>
              </a:p>
            </p:txBody>
          </p:sp>
        </mc:Choice>
        <mc:Fallback xmlns="">
          <p:sp>
            <p:nvSpPr>
              <p:cNvPr id="15" name="Text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0" y="3246120"/>
                <a:ext cx="4754880" cy="36576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 14"/>
              <p:cNvSpPr txBox="1"/>
              <p:nvPr/>
            </p:nvSpPr>
            <p:spPr>
              <a:xfrm>
                <a:off x="6583680" y="3611880"/>
                <a:ext cx="475488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s-ES" sz="19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s-ES" sz="19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s-ES" sz="19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s-ES" sz="19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sup>
                              </m:sSubSup>
                            </m:e>
                          </m:nary>
                        </m:e>
                      </m:d>
                      <m:r>
                        <a:rPr lang="es-ES" sz="19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⊗</m:t>
                      </m:r>
                      <m:d>
                        <m:dPr>
                          <m:ctrlPr>
                            <a:rPr lang="es-ES" sz="19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nary>
                            <m:naryPr>
                              <m:chr m:val="∑"/>
                              <m:limLoc m:val="subSup"/>
                              <m:ctrlP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s-ES" sz="19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  <m:sup/>
                            <m:e>
                              <m:sSubSup>
                                <m:sSubSupPr>
                                  <m:ctrlPr>
                                    <a:rPr lang="es-ES" sz="19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s-ES" sz="19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𝜌</m:t>
                                  </m:r>
                                </m:e>
                                <m:sub>
                                  <m:r>
                                    <a:rPr lang="es-ES" sz="19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s-ES" sz="19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sup>
                              </m:sSubSup>
                            </m:e>
                          </m:nary>
                        </m:e>
                      </m:d>
                    </m:oMath>
                  </m:oMathPara>
                </a14:m>
                <a:endParaRPr lang="es-ES_tradnl" sz="1900" noProof="1"/>
              </a:p>
            </p:txBody>
          </p:sp>
        </mc:Choice>
        <mc:Fallback xmlns="">
          <p:sp>
            <p:nvSpPr>
              <p:cNvPr id="16" name="Text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3680" y="3611880"/>
                <a:ext cx="4754880" cy="457200"/>
              </a:xfrm>
              <a:prstGeom prst="rect">
                <a:avLst/>
              </a:prstGeom>
              <a:blipFill>
                <a:blip r:embed="rId7"/>
                <a:stretch>
                  <a:fillRect t="-240541" b="-34324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 15"/>
          <p:cNvSpPr txBox="1"/>
          <p:nvPr/>
        </p:nvSpPr>
        <p:spPr>
          <a:xfrm>
            <a:off x="6583680" y="4343400"/>
            <a:ext cx="47548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GADSingle conserva las correlaciones entre atributos; GAD 2×2 usa el producto de marginales. Es un mecanismo distinto, no una descomposición de GADSingle.</a:t>
            </a:r>
            <a:endParaRPr lang="es-ES_tradnl" sz="1500" noProof="1"/>
          </a:p>
        </p:txBody>
      </p:sp>
    </p:spTree>
    <p:extLst>
      <p:ext uri="{BB962C8B-B14F-4D97-AF65-F5344CB8AC3E}">
        <p14:creationId xmlns:p14="http://schemas.microsoft.com/office/powerpoint/2010/main" val="1960413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Cálculo de ε por columna</a:t>
            </a:r>
            <a:endParaRPr lang="es-ES_tradnl" sz="3200" noProof="1"/>
          </a:p>
        </p:txBody>
      </p:sp>
      <p:sp>
        <p:nvSpPr>
          <p:cNvPr id="5" name="Text 3"/>
          <p:cNvSpPr txBox="1"/>
          <p:nvPr/>
        </p:nvSpPr>
        <p:spPr>
          <a:xfrm>
            <a:off x="8686800" y="5029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_tradnl" sz="1100" kern="0" spc="2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s-ES_tradnl" sz="1100" noProof="1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E6F4F2"/>
          </a:solidFill>
          <a:ln w="12700">
            <a:solidFill>
              <a:srgbClr val="E6F4F2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868680" y="15544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2000" b="1" noProof="1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Teórico (sin ruido)</a:t>
            </a:r>
            <a:endParaRPr lang="es-ES_tradnl" sz="2000" noProof="1"/>
          </a:p>
        </p:txBody>
      </p:sp>
      <p:sp>
        <p:nvSpPr>
          <p:cNvPr id="8" name="Shape 6"/>
          <p:cNvSpPr/>
          <p:nvPr/>
        </p:nvSpPr>
        <p:spPr>
          <a:xfrm>
            <a:off x="868680" y="2167128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7"/>
          <p:cNvSpPr txBox="1"/>
          <p:nvPr/>
        </p:nvSpPr>
        <p:spPr>
          <a:xfrm>
            <a:off x="868680" y="2167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ES_tradnl" sz="1300" noProof="1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Distancia de traza por fila</a:t>
            </a:r>
            <a:endParaRPr lang="es-ES_tradnl" sz="15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 txBox="1"/>
              <p:nvPr/>
            </p:nvSpPr>
            <p:spPr>
              <a:xfrm>
                <a:off x="1325880" y="2532888"/>
                <a:ext cx="44805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7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7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s-ES" sz="17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7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s-ES" sz="17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s-ES_tradnl" sz="1700" noProof="1"/>
              </a:p>
            </p:txBody>
          </p:sp>
        </mc:Choice>
        <mc:Fallback xmlns="">
          <p:sp>
            <p:nvSpPr>
              <p:cNvPr id="11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5880" y="2532888"/>
                <a:ext cx="4480560" cy="457200"/>
              </a:xfrm>
              <a:prstGeom prst="rect">
                <a:avLst/>
              </a:prstGeom>
              <a:blipFill>
                <a:blip r:embed="rId3"/>
                <a:stretch>
                  <a:fillRect l="-1695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10"/>
          <p:cNvSpPr/>
          <p:nvPr/>
        </p:nvSpPr>
        <p:spPr>
          <a:xfrm>
            <a:off x="868680" y="3191256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/>
          <p:cNvSpPr txBox="1"/>
          <p:nvPr/>
        </p:nvSpPr>
        <p:spPr>
          <a:xfrm>
            <a:off x="868680" y="31912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ES_tradnl" sz="1300" noProof="1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caso</a:t>
            </a:r>
            <a:endParaRPr lang="es-ES_tradnl" sz="15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13"/>
              <p:cNvSpPr txBox="1"/>
              <p:nvPr/>
            </p:nvSpPr>
            <p:spPr>
              <a:xfrm>
                <a:off x="1325880" y="3557016"/>
                <a:ext cx="44805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ES" sz="17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sub>
                      </m:sSub>
                      <m:r>
                        <a:rPr lang="es-ES" sz="17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s-ES" sz="17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lim>
                      </m:limLow>
                      <m:sSub>
                        <m:sSubPr>
                          <m:ctrlP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s-ES_tradnl" sz="1700" noProof="1"/>
              </a:p>
            </p:txBody>
          </p:sp>
        </mc:Choice>
        <mc:Fallback xmlns="">
          <p:sp>
            <p:nvSpPr>
              <p:cNvPr id="15" name="Text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5880" y="3557016"/>
                <a:ext cx="4480560" cy="457200"/>
              </a:xfrm>
              <a:prstGeom prst="rect">
                <a:avLst/>
              </a:prstGeom>
              <a:blipFill>
                <a:blip r:embed="rId4"/>
                <a:stretch>
                  <a:fillRect l="-1695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Shape 14"/>
          <p:cNvSpPr/>
          <p:nvPr/>
        </p:nvSpPr>
        <p:spPr>
          <a:xfrm>
            <a:off x="868680" y="4215384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7" name="Text 15"/>
          <p:cNvSpPr txBox="1"/>
          <p:nvPr/>
        </p:nvSpPr>
        <p:spPr>
          <a:xfrm>
            <a:off x="868680" y="4215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ES_tradnl" sz="1300" noProof="1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Cota GAD</a:t>
            </a:r>
            <a:endParaRPr lang="es-ES_tradnl" sz="15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 17"/>
              <p:cNvSpPr txBox="1"/>
              <p:nvPr/>
            </p:nvSpPr>
            <p:spPr>
              <a:xfrm>
                <a:off x="1325880" y="4581144"/>
                <a:ext cx="44805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ES" sz="17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teo</m:t>
                          </m:r>
                        </m:sub>
                      </m:sSub>
                      <m:r>
                        <a:rPr lang="es-ES" sz="17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s-ES" sz="17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lang="es-ES" sz="17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sz="17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1+4.83·</m:t>
                              </m:r>
                              <m:sSub>
                                <m:sSubPr>
                                  <m:ctrlPr>
                                    <a:rPr lang="es-ES" sz="17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7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s-ES" sz="1700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es-ES_tradnl" sz="1700" noProof="1"/>
              </a:p>
            </p:txBody>
          </p:sp>
        </mc:Choice>
        <mc:Fallback xmlns="">
          <p:sp>
            <p:nvSpPr>
              <p:cNvPr id="19" name="Text 1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5880" y="4581144"/>
                <a:ext cx="4480560" cy="457200"/>
              </a:xfrm>
              <a:prstGeom prst="rect">
                <a:avLst/>
              </a:prstGeom>
              <a:blipFill>
                <a:blip r:embed="rId5"/>
                <a:stretch>
                  <a:fillRect l="-113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Shape 18"/>
          <p:cNvSpPr/>
          <p:nvPr/>
        </p:nvSpPr>
        <p:spPr>
          <a:xfrm>
            <a:off x="6217920" y="1371600"/>
            <a:ext cx="5394960" cy="3931920"/>
          </a:xfrm>
          <a:prstGeom prst="roundRect">
            <a:avLst>
              <a:gd name="adj" fmla="val 2791"/>
            </a:avLst>
          </a:prstGeom>
          <a:solidFill>
            <a:srgbClr val="FBF0E3"/>
          </a:solidFill>
          <a:ln w="12700">
            <a:solidFill>
              <a:srgbClr val="FBF0E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1" name="Text 19"/>
          <p:cNvSpPr txBox="1"/>
          <p:nvPr/>
        </p:nvSpPr>
        <p:spPr>
          <a:xfrm>
            <a:off x="6537960" y="15544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2000" b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(con ruido)</a:t>
            </a:r>
            <a:endParaRPr lang="es-ES_tradnl" sz="2000" noProof="1"/>
          </a:p>
        </p:txBody>
      </p:sp>
      <p:sp>
        <p:nvSpPr>
          <p:cNvPr id="22" name="Shape 20"/>
          <p:cNvSpPr/>
          <p:nvPr/>
        </p:nvSpPr>
        <p:spPr>
          <a:xfrm>
            <a:off x="6537960" y="2167128"/>
            <a:ext cx="329184" cy="329184"/>
          </a:xfrm>
          <a:prstGeom prst="ellipse">
            <a:avLst/>
          </a:prstGeom>
          <a:solidFill>
            <a:srgbClr val="E08A2E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23" name="Text 21"/>
          <p:cNvSpPr txBox="1"/>
          <p:nvPr/>
        </p:nvSpPr>
        <p:spPr>
          <a:xfrm>
            <a:off x="6537960" y="2167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ES_tradnl" sz="1300" noProof="1"/>
          </a:p>
        </p:txBody>
      </p:sp>
      <p:sp>
        <p:nvSpPr>
          <p:cNvPr id="24" name="Text 22"/>
          <p:cNvSpPr txBox="1"/>
          <p:nvPr/>
        </p:nvSpPr>
        <p:spPr>
          <a:xfrm>
            <a:off x="6995160" y="21488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con ruido</a:t>
            </a:r>
            <a:endParaRPr lang="es-ES_tradnl" sz="15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23"/>
              <p:cNvSpPr txBox="1"/>
              <p:nvPr/>
            </p:nvSpPr>
            <p:spPr>
              <a:xfrm>
                <a:off x="6995160" y="2532888"/>
                <a:ext cx="44805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7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s-ES" sz="17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r>
                        <a:rPr lang="es-ES" sz="17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  <m:r>
                        <a:rPr lang="es-ES" sz="17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s-ES" sz="17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sSub>
                        <m:sSubPr>
                          <m:ctrlP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7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7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7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7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s-ES" sz="17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s-ES_tradnl" sz="1700" noProof="1"/>
              </a:p>
            </p:txBody>
          </p:sp>
        </mc:Choice>
        <mc:Fallback xmlns="">
          <p:sp>
            <p:nvSpPr>
              <p:cNvPr id="25" name="Text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5160" y="2532888"/>
                <a:ext cx="4480560" cy="457200"/>
              </a:xfrm>
              <a:prstGeom prst="rect">
                <a:avLst/>
              </a:prstGeom>
              <a:blipFill>
                <a:blip r:embed="rId6"/>
                <a:stretch>
                  <a:fillRect l="-2833" b="-270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Shape 24"/>
          <p:cNvSpPr/>
          <p:nvPr/>
        </p:nvSpPr>
        <p:spPr>
          <a:xfrm>
            <a:off x="6537960" y="3191256"/>
            <a:ext cx="329184" cy="329184"/>
          </a:xfrm>
          <a:prstGeom prst="ellipse">
            <a:avLst/>
          </a:prstGeom>
          <a:solidFill>
            <a:srgbClr val="E08A2E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27" name="Text 25"/>
          <p:cNvSpPr txBox="1"/>
          <p:nvPr/>
        </p:nvSpPr>
        <p:spPr>
          <a:xfrm>
            <a:off x="6537960" y="31912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ES_tradnl" sz="13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 26"/>
              <p:cNvSpPr txBox="1"/>
              <p:nvPr/>
            </p:nvSpPr>
            <p:spPr>
              <a:xfrm>
                <a:off x="6995160" y="3172968"/>
                <a:ext cx="4389120" cy="3657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" sz="15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500" b="1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</m:e>
                      <m:sub>
                        <m:r>
                          <a:rPr lang="es-ES" sz="1500" b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𝐏𝐃</m:t>
                        </m:r>
                      </m:sub>
                    </m:sSub>
                  </m:oMath>
                </a14:m>
                <a:r>
                  <a:rPr lang="es-ES_tradnl" sz="15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en ambas direcciones (</a:t>
                </a:r>
                <a14:m>
                  <m:oMath xmlns:m="http://schemas.openxmlformats.org/officeDocument/2006/math">
                    <m:r>
                      <a:rPr lang="es-ES" sz="15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𝜽</m:t>
                    </m:r>
                    <m:r>
                      <a:rPr lang="es-ES" sz="15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s-ES" sz="15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s-ES" sz="15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s-ES" sz="1500" b="1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𝟎𝟎𝟏</m:t>
                    </m:r>
                  </m:oMath>
                </a14:m>
                <a:r>
                  <a:rPr lang="es-ES_tradnl" sz="1500" b="1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</a:t>
                </a:r>
                <a:endParaRPr lang="es-ES_tradnl" sz="1500" noProof="1"/>
              </a:p>
            </p:txBody>
          </p:sp>
        </mc:Choice>
        <mc:Fallback xmlns="">
          <p:sp>
            <p:nvSpPr>
              <p:cNvPr id="28" name="Text 2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5160" y="3172968"/>
                <a:ext cx="4389120" cy="365760"/>
              </a:xfrm>
              <a:prstGeom prst="rect">
                <a:avLst/>
              </a:prstGeom>
              <a:blipFill>
                <a:blip r:embed="rId7"/>
                <a:stretch>
                  <a:fillRect l="-1734" t="-17241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 27"/>
              <p:cNvSpPr txBox="1"/>
              <p:nvPr/>
            </p:nvSpPr>
            <p:spPr>
              <a:xfrm>
                <a:off x="6995160" y="3557016"/>
                <a:ext cx="44805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7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s-ES" sz="1700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max</m:t>
                      </m:r>
                      <m:d>
                        <m:dPr>
                          <m:ctrlP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7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7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s-ES" sz="17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PD</m:t>
                              </m:r>
                            </m:sub>
                          </m:sSub>
                          <m:d>
                            <m:dPr>
                              <m:ctrlPr>
                                <a:rPr lang="es-ES" sz="17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s-ES" sz="17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r>
                                <a:rPr lang="es-ES" sz="17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sSub>
                                <m:sSubPr>
                                  <m:ctrlPr>
                                    <a:rPr lang="es-ES" sz="17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7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r>
                                    <a:rPr lang="es-ES" sz="17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  <m:sub>
                                  <m:r>
                                    <a:rPr lang="es-ES" sz="17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7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s-ES" sz="17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7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s-ES" sz="1700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PD</m:t>
                              </m:r>
                            </m:sub>
                          </m:sSub>
                          <m:d>
                            <m:dPr>
                              <m:ctrlPr>
                                <a:rPr lang="es-ES" sz="17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s-ES" sz="17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s-ES" sz="17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  <m:r>
                                    <a:rPr lang="es-ES" sz="17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e>
                                <m:sub>
                                  <m:r>
                                    <a:rPr lang="es-ES" sz="1700" i="1">
                                      <a:solidFill>
                                        <a:srgbClr val="16193B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s-ES" sz="17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s-ES" sz="17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  <m:r>
                                <a:rPr lang="es-ES" sz="17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s-ES_tradnl" sz="1700" noProof="1"/>
              </a:p>
            </p:txBody>
          </p:sp>
        </mc:Choice>
        <mc:Fallback xmlns="">
          <p:sp>
            <p:nvSpPr>
              <p:cNvPr id="29" name="Text 2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5160" y="3557016"/>
                <a:ext cx="4480560" cy="457200"/>
              </a:xfrm>
              <a:prstGeom prst="rect">
                <a:avLst/>
              </a:prstGeom>
              <a:blipFill>
                <a:blip r:embed="rId8"/>
                <a:stretch>
                  <a:fillRect l="-1416" b="-270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Shape 28"/>
          <p:cNvSpPr/>
          <p:nvPr/>
        </p:nvSpPr>
        <p:spPr>
          <a:xfrm>
            <a:off x="6537960" y="4215384"/>
            <a:ext cx="329184" cy="329184"/>
          </a:xfrm>
          <a:prstGeom prst="ellipse">
            <a:avLst/>
          </a:prstGeom>
          <a:solidFill>
            <a:srgbClr val="E08A2E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1" name="Text 29"/>
          <p:cNvSpPr txBox="1"/>
          <p:nvPr/>
        </p:nvSpPr>
        <p:spPr>
          <a:xfrm>
            <a:off x="6537960" y="42153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ES_tradnl" sz="1300" noProof="1"/>
          </a:p>
        </p:txBody>
      </p:sp>
      <p:sp>
        <p:nvSpPr>
          <p:cNvPr id="32" name="Text 30"/>
          <p:cNvSpPr txBox="1"/>
          <p:nvPr/>
        </p:nvSpPr>
        <p:spPr>
          <a:xfrm>
            <a:off x="6995160" y="4197096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Peor caso</a:t>
            </a:r>
            <a:endParaRPr lang="es-ES_tradnl" sz="15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 31"/>
              <p:cNvSpPr txBox="1"/>
              <p:nvPr/>
            </p:nvSpPr>
            <p:spPr>
              <a:xfrm>
                <a:off x="6995160" y="4581144"/>
                <a:ext cx="448056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ES" sz="17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exp</m:t>
                          </m:r>
                        </m:sub>
                      </m:sSub>
                      <m:r>
                        <a:rPr lang="es-ES" sz="17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s-ES" sz="1700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lim>
                      </m:limLow>
                      <m:sSub>
                        <m:sSubPr>
                          <m:ctrlP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s-ES" sz="17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s-ES_tradnl" sz="1700" noProof="1"/>
              </a:p>
            </p:txBody>
          </p:sp>
        </mc:Choice>
        <mc:Fallback xmlns="">
          <p:sp>
            <p:nvSpPr>
              <p:cNvPr id="33" name="Text 3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95160" y="4581144"/>
                <a:ext cx="4480560" cy="457200"/>
              </a:xfrm>
              <a:prstGeom prst="rect">
                <a:avLst/>
              </a:prstGeom>
              <a:blipFill>
                <a:blip r:embed="rId9"/>
                <a:stretch>
                  <a:fillRect l="-1416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 32"/>
              <p:cNvSpPr txBox="1"/>
              <p:nvPr/>
            </p:nvSpPr>
            <p:spPr>
              <a:xfrm>
                <a:off x="548640" y="5577840"/>
                <a:ext cx="11064240" cy="4572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" sz="1600" i="1">
                            <a:solidFill>
                              <a:srgbClr val="5F6B7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600" i="1">
                            <a:solidFill>
                              <a:srgbClr val="5F6B7A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s-ES" sz="1600">
                            <a:solidFill>
                              <a:srgbClr val="5F6B7A"/>
                            </a:solidFill>
                            <a:latin typeface="Cambria Math" panose="02040503050406030204" pitchFamily="18" charset="0"/>
                          </a:rPr>
                          <m:t>PD</m:t>
                        </m:r>
                      </m:sub>
                    </m:sSub>
                  </m:oMath>
                </a14:m>
                <a:r>
                  <a:rPr lang="es-ES_tradnl" sz="16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Algoritmo 2 de Zhou &amp; Ying. Totales: Teo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s-ES" sz="1600" i="1">
                            <a:solidFill>
                              <a:srgbClr val="5F6B7A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s-ES" sz="1600" i="1">
                            <a:solidFill>
                              <a:srgbClr val="5F6B7A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s-ES" sz="1600" i="1">
                                <a:solidFill>
                                  <a:srgbClr val="5F6B7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i="1">
                                <a:solidFill>
                                  <a:srgbClr val="5F6B7A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s-ES" sz="1600">
                                <a:solidFill>
                                  <a:srgbClr val="5F6B7A"/>
                                </a:solidFill>
                                <a:latin typeface="Cambria Math" panose="02040503050406030204" pitchFamily="18" charset="0"/>
                              </a:rPr>
                              <m:t>teo</m:t>
                            </m:r>
                            <m:r>
                              <a:rPr lang="es-ES" sz="1600" i="1">
                                <a:solidFill>
                                  <a:srgbClr val="5F6B7A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s-ES" sz="1600" i="1">
                                <a:solidFill>
                                  <a:srgbClr val="5F6B7A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r>
                  <a:rPr lang="es-ES_tradnl" sz="1600" noProof="1">
                    <a:solidFill>
                      <a:srgbClr val="5F6B7A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  ·   Exp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subSup"/>
                        <m:ctrlPr>
                          <a:rPr lang="es-ES" sz="1600" i="1">
                            <a:solidFill>
                              <a:srgbClr val="5F6B7A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s-ES" sz="1600" i="1">
                            <a:solidFill>
                              <a:srgbClr val="5F6B7A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es-ES" sz="1600" i="1">
                                <a:solidFill>
                                  <a:srgbClr val="5F6B7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s-ES" sz="1600" i="1">
                                <a:solidFill>
                                  <a:srgbClr val="5F6B7A"/>
                                </a:solidFill>
                                <a:latin typeface="Cambria Math" panose="02040503050406030204" pitchFamily="18" charset="0"/>
                              </a:rPr>
                              <m:t>𝜀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s-ES" sz="1600">
                                <a:solidFill>
                                  <a:srgbClr val="5F6B7A"/>
                                </a:solidFill>
                                <a:latin typeface="Cambria Math" panose="02040503050406030204" pitchFamily="18" charset="0"/>
                              </a:rPr>
                              <m:t>exp</m:t>
                            </m:r>
                            <m:r>
                              <a:rPr lang="es-ES" sz="1600" i="1">
                                <a:solidFill>
                                  <a:srgbClr val="5F6B7A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s-ES" sz="1600" i="1">
                                <a:solidFill>
                                  <a:srgbClr val="5F6B7A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nary>
                  </m:oMath>
                </a14:m>
                <a:endParaRPr lang="es-ES_tradnl" sz="1600" noProof="1"/>
              </a:p>
            </p:txBody>
          </p:sp>
        </mc:Choice>
        <mc:Fallback xmlns="">
          <p:sp>
            <p:nvSpPr>
              <p:cNvPr id="34" name="Text 3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5577840"/>
                <a:ext cx="11064240" cy="457200"/>
              </a:xfrm>
              <a:prstGeom prst="rect">
                <a:avLst/>
              </a:prstGeom>
              <a:blipFill>
                <a:blip r:embed="rId10"/>
                <a:stretch>
                  <a:fillRect t="-67568" b="-11891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1983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completo</a:t>
            </a:r>
            <a:endParaRPr lang="es-ES_tradnl" sz="3200" noProof="1"/>
          </a:p>
        </p:txBody>
      </p:sp>
      <p:sp>
        <p:nvSpPr>
          <p:cNvPr id="5" name="Text 3"/>
          <p:cNvSpPr txBox="1"/>
          <p:nvPr/>
        </p:nvSpPr>
        <p:spPr>
          <a:xfrm>
            <a:off x="8686800" y="5029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_tradnl" sz="1100" kern="0" spc="2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s-ES_tradnl" sz="1100" noProof="1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11064240" cy="4892040"/>
          </a:xfrm>
          <a:prstGeom prst="roundRect">
            <a:avLst>
              <a:gd name="adj" fmla="val 2243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777240" y="1417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161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columna k = 0, …, 6</a:t>
            </a:r>
            <a:endParaRPr lang="es-ES_tradnl" sz="1500" noProof="1"/>
          </a:p>
        </p:txBody>
      </p:sp>
      <p:sp>
        <p:nvSpPr>
          <p:cNvPr id="8" name="Shape 6"/>
          <p:cNvSpPr/>
          <p:nvPr/>
        </p:nvSpPr>
        <p:spPr>
          <a:xfrm>
            <a:off x="868680" y="18745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7"/>
          <p:cNvSpPr txBox="1"/>
          <p:nvPr/>
        </p:nvSpPr>
        <p:spPr>
          <a:xfrm>
            <a:off x="960120" y="1965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encodeOneCol</a:t>
            </a:r>
            <a:endParaRPr lang="es-ES_tradnl" sz="1200" noProof="1"/>
          </a:p>
        </p:txBody>
      </p:sp>
      <p:sp>
        <p:nvSpPr>
          <p:cNvPr id="10" name="Text 8"/>
          <p:cNvSpPr txBox="1"/>
          <p:nvPr/>
        </p:nvSpPr>
        <p:spPr>
          <a:xfrm>
            <a:off x="960120" y="23042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300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Qd: 1000 estados</a:t>
            </a:r>
            <a:endParaRPr lang="es-ES_tradnl" sz="1300" noProof="1"/>
          </a:p>
        </p:txBody>
      </p:sp>
      <p:sp>
        <p:nvSpPr>
          <p:cNvPr id="11" name="Shape 9"/>
          <p:cNvSpPr/>
          <p:nvPr/>
        </p:nvSpPr>
        <p:spPr>
          <a:xfrm>
            <a:off x="3794760" y="2304288"/>
            <a:ext cx="64008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Shape 10"/>
          <p:cNvSpPr/>
          <p:nvPr/>
        </p:nvSpPr>
        <p:spPr>
          <a:xfrm>
            <a:off x="4434840" y="18745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/>
          <p:cNvSpPr txBox="1"/>
          <p:nvPr/>
        </p:nvSpPr>
        <p:spPr>
          <a:xfrm>
            <a:off x="4526280" y="1965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Aggregate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 12"/>
              <p:cNvSpPr txBox="1"/>
              <p:nvPr/>
            </p:nvSpPr>
            <p:spPr>
              <a:xfrm>
                <a:off x="4526280" y="2304288"/>
                <a:ext cx="2743200" cy="3657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s-ES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14" name="Text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6280" y="2304288"/>
                <a:ext cx="2743200" cy="36576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Shape 13"/>
          <p:cNvSpPr/>
          <p:nvPr/>
        </p:nvSpPr>
        <p:spPr>
          <a:xfrm>
            <a:off x="7360920" y="2304288"/>
            <a:ext cx="64008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6" name="Shape 14"/>
          <p:cNvSpPr/>
          <p:nvPr/>
        </p:nvSpPr>
        <p:spPr>
          <a:xfrm>
            <a:off x="8001000" y="187452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7" name="Text 15"/>
          <p:cNvSpPr txBox="1"/>
          <p:nvPr/>
        </p:nvSpPr>
        <p:spPr>
          <a:xfrm>
            <a:off x="8092440" y="19659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A9E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GADNoiseMultiQubit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 16"/>
              <p:cNvSpPr txBox="1"/>
              <p:nvPr/>
            </p:nvSpPr>
            <p:spPr>
              <a:xfrm>
                <a:off x="8092440" y="2304288"/>
                <a:ext cx="2743200" cy="3657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s-ES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𝜌</m:t>
                      </m:r>
                      <m:r>
                        <a:rPr lang="es-ES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′=</m:t>
                      </m:r>
                      <m:r>
                        <a:rPr lang="es-ES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18" name="Text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92440" y="2304288"/>
                <a:ext cx="2743200" cy="365760"/>
              </a:xfrm>
              <a:prstGeom prst="rect">
                <a:avLst/>
              </a:prstGeom>
              <a:blipFill>
                <a:blip r:embed="rId4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Shape 17"/>
          <p:cNvSpPr/>
          <p:nvPr/>
        </p:nvSpPr>
        <p:spPr>
          <a:xfrm>
            <a:off x="777240" y="2971800"/>
            <a:ext cx="10607040" cy="1691640"/>
          </a:xfrm>
          <a:prstGeom prst="roundRect">
            <a:avLst>
              <a:gd name="adj" fmla="val 5405"/>
            </a:avLst>
          </a:prstGeom>
          <a:solidFill>
            <a:srgbClr val="FBF0E3"/>
          </a:solidFill>
          <a:ln w="12700">
            <a:solidFill>
              <a:srgbClr val="FBF0E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0" name="Text 18"/>
          <p:cNvSpPr txBox="1"/>
          <p:nvPr/>
        </p:nvSpPr>
        <p:spPr>
          <a:xfrm>
            <a:off x="960120" y="303580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b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fila i = 0, …, 999</a:t>
            </a:r>
            <a:endParaRPr lang="es-ES_tradnl" sz="1400" noProof="1"/>
          </a:p>
        </p:txBody>
      </p:sp>
      <p:sp>
        <p:nvSpPr>
          <p:cNvPr id="21" name="Shape 19"/>
          <p:cNvSpPr/>
          <p:nvPr/>
        </p:nvSpPr>
        <p:spPr>
          <a:xfrm>
            <a:off x="960120" y="3566160"/>
            <a:ext cx="22402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2" name="Text 20"/>
          <p:cNvSpPr txBox="1"/>
          <p:nvPr/>
        </p:nvSpPr>
        <p:spPr>
          <a:xfrm>
            <a:off x="1051560" y="36576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E08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encodeExcludeOne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21"/>
              <p:cNvSpPr txBox="1"/>
              <p:nvPr/>
            </p:nvSpPr>
            <p:spPr>
              <a:xfrm>
                <a:off x="1051560" y="3995928"/>
                <a:ext cx="2057400" cy="3657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s-ES" sz="13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3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 lang="es-ES" sz="13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  <m:sub>
                        <m:r>
                          <a:rPr lang="es-ES" sz="1300" i="1">
                            <a:solidFill>
                              <a:srgbClr val="1F2433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s-ES_tradnl" sz="1300" noProof="1">
                    <a:solidFill>
                      <a:srgbClr val="1F2433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sin la fila </a:t>
                </a:r>
                <a14:m>
                  <m:oMath xmlns:m="http://schemas.openxmlformats.org/officeDocument/2006/math">
                    <m:r>
                      <a:rPr lang="es-ES" sz="1300" i="1">
                        <a:solidFill>
                          <a:srgbClr val="1F2433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23" name="Text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1560" y="3995928"/>
                <a:ext cx="2057400" cy="365760"/>
              </a:xfrm>
              <a:prstGeom prst="rect">
                <a:avLst/>
              </a:prstGeom>
              <a:blipFill>
                <a:blip r:embed="rId5"/>
                <a:stretch>
                  <a:fillRect t="-1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Shape 22"/>
          <p:cNvSpPr/>
          <p:nvPr/>
        </p:nvSpPr>
        <p:spPr>
          <a:xfrm>
            <a:off x="3200400" y="3995928"/>
            <a:ext cx="36576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5" name="Shape 23"/>
          <p:cNvSpPr/>
          <p:nvPr/>
        </p:nvSpPr>
        <p:spPr>
          <a:xfrm>
            <a:off x="3566160" y="3566160"/>
            <a:ext cx="22402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6" name="Text 24"/>
          <p:cNvSpPr txBox="1"/>
          <p:nvPr/>
        </p:nvSpPr>
        <p:spPr>
          <a:xfrm>
            <a:off x="3657600" y="36576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E08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Aggregate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 25"/>
              <p:cNvSpPr txBox="1"/>
              <p:nvPr/>
            </p:nvSpPr>
            <p:spPr>
              <a:xfrm>
                <a:off x="3657600" y="3995928"/>
                <a:ext cx="2057400" cy="3657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𝐴</m:t>
                      </m:r>
                      <m:d>
                        <m:d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s-ES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e>
                            <m:sub>
                              <m:r>
                                <a:rPr lang="es-ES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27" name="Text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3995928"/>
                <a:ext cx="2057400" cy="365760"/>
              </a:xfrm>
              <a:prstGeom prst="rect">
                <a:avLst/>
              </a:prstGeom>
              <a:blipFill>
                <a:blip r:embed="rId6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Shape 26"/>
          <p:cNvSpPr/>
          <p:nvPr/>
        </p:nvSpPr>
        <p:spPr>
          <a:xfrm>
            <a:off x="5806440" y="3995928"/>
            <a:ext cx="36576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9" name="Shape 27"/>
          <p:cNvSpPr/>
          <p:nvPr/>
        </p:nvSpPr>
        <p:spPr>
          <a:xfrm>
            <a:off x="6172200" y="3566160"/>
            <a:ext cx="22402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0" name="Text 28"/>
          <p:cNvSpPr txBox="1"/>
          <p:nvPr/>
        </p:nvSpPr>
        <p:spPr>
          <a:xfrm>
            <a:off x="6263640" y="36576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E08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GADNoiseMultiQubit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 29"/>
              <p:cNvSpPr txBox="1"/>
              <p:nvPr/>
            </p:nvSpPr>
            <p:spPr>
              <a:xfrm>
                <a:off x="6263640" y="3995928"/>
                <a:ext cx="2057400" cy="3657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′</m:t>
                          </m:r>
                        </m:e>
                        <m:sub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s-ES" sz="1300" i="1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s-ES" sz="1300" i="1">
                                  <a:solidFill>
                                    <a:srgbClr val="1F2433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31" name="Text 2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3640" y="3995928"/>
                <a:ext cx="2057400" cy="365760"/>
              </a:xfrm>
              <a:prstGeom prst="rect">
                <a:avLst/>
              </a:prstGeom>
              <a:blipFill>
                <a:blip r:embed="rId7"/>
                <a:stretch>
                  <a:fillRect t="-3333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Shape 30"/>
          <p:cNvSpPr/>
          <p:nvPr/>
        </p:nvSpPr>
        <p:spPr>
          <a:xfrm>
            <a:off x="8412480" y="3995928"/>
            <a:ext cx="36576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3" name="Shape 31"/>
          <p:cNvSpPr/>
          <p:nvPr/>
        </p:nvSpPr>
        <p:spPr>
          <a:xfrm>
            <a:off x="8778240" y="3566160"/>
            <a:ext cx="224028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E08A2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4" name="Text 32"/>
          <p:cNvSpPr txBox="1"/>
          <p:nvPr/>
        </p:nvSpPr>
        <p:spPr>
          <a:xfrm>
            <a:off x="8869680" y="3657600"/>
            <a:ext cx="2057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E08A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trace_distance · dPD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33"/>
              <p:cNvSpPr txBox="1"/>
              <p:nvPr/>
            </p:nvSpPr>
            <p:spPr>
              <a:xfrm>
                <a:off x="8869680" y="3995928"/>
                <a:ext cx="2057400" cy="3657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s-ES" sz="130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s-ES" sz="130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s-ES" sz="1300">
                          <a:solidFill>
                            <a:srgbClr val="1F2433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35" name="Text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9680" y="3995928"/>
                <a:ext cx="2057400" cy="365760"/>
              </a:xfrm>
              <a:prstGeom prst="rect">
                <a:avLst/>
              </a:prstGeom>
              <a:blipFill>
                <a:blip r:embed="rId8"/>
                <a:stretch>
                  <a:fillRect t="-6667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Shape 34"/>
          <p:cNvSpPr/>
          <p:nvPr/>
        </p:nvSpPr>
        <p:spPr>
          <a:xfrm>
            <a:off x="868680" y="5029200"/>
            <a:ext cx="2331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7" name="Text 35"/>
          <p:cNvSpPr txBox="1"/>
          <p:nvPr/>
        </p:nvSpPr>
        <p:spPr>
          <a:xfrm>
            <a:off x="960120" y="51206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max(d_list)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 36"/>
              <p:cNvSpPr txBox="1"/>
              <p:nvPr/>
            </p:nvSpPr>
            <p:spPr>
              <a:xfrm>
                <a:off x="960120" y="5458968"/>
                <a:ext cx="2148840" cy="3657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ES" sz="130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max</m:t>
                          </m:r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38" name="Text 3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0120" y="5458968"/>
                <a:ext cx="2148840" cy="36576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9" name="Shape 37"/>
          <p:cNvSpPr/>
          <p:nvPr/>
        </p:nvSpPr>
        <p:spPr>
          <a:xfrm>
            <a:off x="3200400" y="5458968"/>
            <a:ext cx="365760" cy="0"/>
          </a:xfrm>
          <a:prstGeom prst="line">
            <a:avLst/>
          </a:prstGeom>
          <a:noFill/>
          <a:ln w="15875">
            <a:solidFill>
              <a:srgbClr val="5F6B7A"/>
            </a:solidFill>
            <a:prstDash val="solid"/>
            <a:tailEnd type="triangle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0" name="Shape 38"/>
          <p:cNvSpPr/>
          <p:nvPr/>
        </p:nvSpPr>
        <p:spPr>
          <a:xfrm>
            <a:off x="3566160" y="5029200"/>
            <a:ext cx="2331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1" name="Text 39"/>
          <p:cNvSpPr txBox="1"/>
          <p:nvPr/>
        </p:nvSpPr>
        <p:spPr>
          <a:xfrm>
            <a:off x="3657600" y="51206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GADNoiseTeo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 40"/>
              <p:cNvSpPr txBox="1"/>
              <p:nvPr/>
            </p:nvSpPr>
            <p:spPr>
              <a:xfrm>
                <a:off x="3657600" y="5458968"/>
                <a:ext cx="2148840" cy="3657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ES" sz="130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teo</m:t>
                          </m:r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42" name="Text 4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57600" y="5458968"/>
                <a:ext cx="2148840" cy="36576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Shape 41"/>
          <p:cNvSpPr/>
          <p:nvPr/>
        </p:nvSpPr>
        <p:spPr>
          <a:xfrm>
            <a:off x="6263640" y="5029200"/>
            <a:ext cx="2331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4" name="Text 42"/>
          <p:cNvSpPr txBox="1"/>
          <p:nvPr/>
        </p:nvSpPr>
        <p:spPr>
          <a:xfrm>
            <a:off x="6355080" y="51206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max(e_list)</a:t>
            </a:r>
            <a:endParaRPr lang="es-ES_tradnl" sz="12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 43"/>
              <p:cNvSpPr txBox="1"/>
              <p:nvPr/>
            </p:nvSpPr>
            <p:spPr>
              <a:xfrm>
                <a:off x="6355080" y="5458968"/>
                <a:ext cx="2148840" cy="3657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ES" sz="1300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300" i="1">
                              <a:solidFill>
                                <a:srgbClr val="1F2433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s-ES_tradnl" sz="1300" noProof="1"/>
              </a:p>
            </p:txBody>
          </p:sp>
        </mc:Choice>
        <mc:Fallback xmlns="">
          <p:sp>
            <p:nvSpPr>
              <p:cNvPr id="45" name="Text 4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5080" y="5458968"/>
                <a:ext cx="2148840" cy="36576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Shape 44"/>
          <p:cNvSpPr/>
          <p:nvPr/>
        </p:nvSpPr>
        <p:spPr>
          <a:xfrm>
            <a:off x="8961120" y="5029200"/>
            <a:ext cx="233172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5875">
            <a:solidFill>
              <a:srgbClr val="16193B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7" name="Text 45"/>
          <p:cNvSpPr txBox="1"/>
          <p:nvPr/>
        </p:nvSpPr>
        <p:spPr>
          <a:xfrm>
            <a:off x="9052560" y="51206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161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Σ sobre k</a:t>
            </a:r>
            <a:endParaRPr lang="es-ES_tradnl" sz="1200" noProof="1"/>
          </a:p>
        </p:txBody>
      </p:sp>
      <p:sp>
        <p:nvSpPr>
          <p:cNvPr id="48" name="Text 46"/>
          <p:cNvSpPr txBox="1"/>
          <p:nvPr/>
        </p:nvSpPr>
        <p:spPr>
          <a:xfrm>
            <a:off x="9052560" y="54589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s-ES_tradnl" sz="1300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 vs Exp</a:t>
            </a:r>
            <a:endParaRPr lang="es-ES_tradnl" sz="1300" noProof="1"/>
          </a:p>
        </p:txBody>
      </p:sp>
    </p:spTree>
    <p:extLst>
      <p:ext uri="{BB962C8B-B14F-4D97-AF65-F5344CB8AC3E}">
        <p14:creationId xmlns:p14="http://schemas.microsoft.com/office/powerpoint/2010/main" val="7337229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Validación: cálculo a mano vs código</a:t>
            </a:r>
            <a:endParaRPr lang="es-ES_tradnl" sz="3200" noProof="1"/>
          </a:p>
        </p:txBody>
      </p:sp>
      <p:sp>
        <p:nvSpPr>
          <p:cNvPr id="5" name="Text 3"/>
          <p:cNvSpPr txBox="1"/>
          <p:nvPr/>
        </p:nvSpPr>
        <p:spPr>
          <a:xfrm>
            <a:off x="8686800" y="5029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_tradnl" sz="1100" kern="0" spc="2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s-ES_tradnl" sz="1100" noProof="1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2F5F9"/>
          </a:solidFill>
          <a:ln w="12700">
            <a:solidFill>
              <a:srgbClr val="F2F5F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868680" y="1600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2000" b="1" noProof="1">
                <a:solidFill>
                  <a:srgbClr val="161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mano (collateral = 3)</a:t>
            </a:r>
            <a:endParaRPr lang="es-ES_tradnl" sz="2000" noProof="1"/>
          </a:p>
        </p:txBody>
      </p:sp>
      <p:sp>
        <p:nvSpPr>
          <p:cNvPr id="8" name="Text 6"/>
          <p:cNvSpPr txBox="1"/>
          <p:nvPr/>
        </p:nvSpPr>
        <p:spPr>
          <a:xfrm>
            <a:off x="868680" y="22860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codificado</a:t>
            </a:r>
            <a:endParaRPr lang="es-ES_tradnl" sz="15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 7"/>
              <p:cNvSpPr txBox="1"/>
              <p:nvPr/>
            </p:nvSpPr>
            <p:spPr>
              <a:xfrm>
                <a:off x="868680" y="2651760"/>
                <a:ext cx="4754880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𝜌</m:t>
                          </m:r>
                        </m:e>
                        <m:sub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2000" noProof="1"/>
              </a:p>
            </p:txBody>
          </p:sp>
        </mc:Choice>
        <mc:Fallback xmlns="">
          <p:sp>
            <p:nvSpPr>
              <p:cNvPr id="9" name="Tex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2651760"/>
                <a:ext cx="4754880" cy="502920"/>
              </a:xfrm>
              <a:prstGeom prst="rect">
                <a:avLst/>
              </a:prstGeom>
              <a:blipFill>
                <a:blip r:embed="rId3"/>
                <a:stretch>
                  <a:fillRect l="-1862" t="-4878" b="-2439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 8"/>
          <p:cNvSpPr txBox="1"/>
          <p:nvPr/>
        </p:nvSpPr>
        <p:spPr>
          <a:xfrm>
            <a:off x="868680" y="34747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500" b="1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GAD (p = γ = 0.5)</a:t>
            </a:r>
            <a:endParaRPr lang="es-ES_tradnl" sz="15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 txBox="1"/>
              <p:nvPr/>
            </p:nvSpPr>
            <p:spPr>
              <a:xfrm>
                <a:off x="868680" y="3840480"/>
                <a:ext cx="4754880" cy="5029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ℰ</m:t>
                      </m:r>
                      <m:d>
                        <m:d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s-ES" sz="2000" i="1">
                          <a:solidFill>
                            <a:srgbClr val="16193B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sz="2000" i="1">
                              <a:solidFill>
                                <a:srgbClr val="16193B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2000" i="1">
                                  <a:solidFill>
                                    <a:srgbClr val="16193B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f>
                                  <m:fPr>
                                    <m:type m:val="lin"/>
                                    <m:ctrlPr>
                                      <a:rPr lang="es-ES" sz="20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sz="20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sz="20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sz="20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</m:mr>
                            <m:mr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f>
                                  <m:fPr>
                                    <m:type m:val="lin"/>
                                    <m:ctrlPr>
                                      <a:rPr lang="es-ES" sz="20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s-ES" sz="2000" i="1">
                                        <a:solidFill>
                                          <a:srgbClr val="16193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num>
                                  <m:den>
                                    <m:rad>
                                      <m:radPr>
                                        <m:ctrlPr>
                                          <a:rPr lang="es-ES" sz="20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r>
                                          <a:rPr lang="es-ES" sz="2000" i="1">
                                            <a:solidFill>
                                              <a:srgbClr val="16193B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e>
                                    </m:rad>
                                  </m:den>
                                </m:f>
                              </m:e>
                              <m:e>
                                <m:r>
                                  <a:rPr lang="es-ES" sz="2000" i="1">
                                    <a:solidFill>
                                      <a:srgbClr val="16193B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2000" noProof="1"/>
              </a:p>
            </p:txBody>
          </p:sp>
        </mc:Choice>
        <mc:Fallback xmlns="">
          <p:sp>
            <p:nvSpPr>
              <p:cNvPr id="11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3840480"/>
                <a:ext cx="4754880" cy="502920"/>
              </a:xfrm>
              <a:prstGeom prst="rect">
                <a:avLst/>
              </a:prstGeom>
              <a:blipFill>
                <a:blip r:embed="rId4"/>
                <a:stretch>
                  <a:fillRect l="-1862" t="-109756" b="-175610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10"/>
              <p:cNvSpPr txBox="1"/>
              <p:nvPr/>
            </p:nvSpPr>
            <p:spPr>
              <a:xfrm>
                <a:off x="868680" y="4480560"/>
                <a:ext cx="475488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500" i="1">
                          <a:solidFill>
                            <a:srgbClr val="5F6B7A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s-ES" sz="15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5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s-ES" sz="15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s-ES" sz="15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s-ES" sz="1500" i="1">
                                  <a:solidFill>
                                    <a:srgbClr val="5F6B7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0.707</m:t>
                                </m:r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</m:mr>
                            <m:mr>
                              <m:e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−0.707</m:t>
                                </m:r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e>
                              <m:e>
                                <m:r>
                                  <a:rPr lang="es-ES" sz="1500" i="1">
                                    <a:solidFill>
                                      <a:srgbClr val="5F6B7A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s-ES_tradnl" sz="1500" noProof="1"/>
              </a:p>
            </p:txBody>
          </p:sp>
        </mc:Choice>
        <mc:Fallback xmlns="">
          <p:sp>
            <p:nvSpPr>
              <p:cNvPr id="12" name="Text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4480560"/>
                <a:ext cx="4754880" cy="411480"/>
              </a:xfrm>
              <a:prstGeom prst="rect">
                <a:avLst/>
              </a:prstGeom>
              <a:blipFill>
                <a:blip r:embed="rId5"/>
                <a:stretch>
                  <a:fillRect l="-1064" b="-23529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Shape 11"/>
          <p:cNvSpPr/>
          <p:nvPr/>
        </p:nvSpPr>
        <p:spPr>
          <a:xfrm>
            <a:off x="6263640" y="13716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9050">
            <a:solidFill>
              <a:srgbClr val="E08A2E"/>
            </a:solidFill>
            <a:prstDash val="dash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4" name="Text 12"/>
          <p:cNvSpPr txBox="1"/>
          <p:nvPr/>
        </p:nvSpPr>
        <p:spPr>
          <a:xfrm>
            <a:off x="6537960" y="1554480"/>
            <a:ext cx="48463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500" i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Pendiente: salida de PennyLane para la misma fila (Qd[i] y GADNoiseMultiQubit aplicado a ese estado)</a:t>
            </a:r>
            <a:endParaRPr lang="es-ES_tradnl" sz="1500" noProof="1"/>
          </a:p>
        </p:txBody>
      </p:sp>
    </p:spTree>
    <p:extLst>
      <p:ext uri="{BB962C8B-B14F-4D97-AF65-F5344CB8AC3E}">
        <p14:creationId xmlns:p14="http://schemas.microsoft.com/office/powerpoint/2010/main" val="18746805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Resultados por columna</a:t>
            </a:r>
            <a:endParaRPr lang="es-ES_tradnl" sz="3200" noProof="1"/>
          </a:p>
        </p:txBody>
      </p:sp>
      <p:sp>
        <p:nvSpPr>
          <p:cNvPr id="5" name="Text 3"/>
          <p:cNvSpPr txBox="1"/>
          <p:nvPr/>
        </p:nvSpPr>
        <p:spPr>
          <a:xfrm>
            <a:off x="8686800" y="5029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_tradnl" sz="1100" kern="0" spc="2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s-ES_tradnl" sz="1100" noProof="1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1135645"/>
              </p:ext>
            </p:extLst>
          </p:nvPr>
        </p:nvGraphicFramePr>
        <p:xfrm>
          <a:off x="548640" y="1371600"/>
          <a:ext cx="11064240" cy="4114800"/>
        </p:xfrm>
        <a:graphic>
          <a:graphicData uri="http://schemas.openxmlformats.org/drawingml/2006/table">
            <a:tbl>
              <a:tblPr/>
              <a:tblGrid>
                <a:gridCol w="3931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Columna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máx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teórico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experimental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500" b="1" noProof="1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Razón teo / exp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collateral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credit_history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housing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status_account + month_duration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status_savings + years_employment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400" noProof="1">
                          <a:solidFill>
                            <a:srgbClr val="1F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credit_amount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400" noProof="1">
                          <a:solidFill>
                            <a:srgbClr val="5F6B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4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s-ES_tradnl" sz="1500" b="1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(Σ)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500" b="1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500" b="1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s-ES_tradnl" sz="1500" b="1" noProof="1">
                          <a:solidFill>
                            <a:srgbClr val="1A9E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s-ES_tradnl" sz="1500" noProof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T="91440" marB="91440" anchor="ctr">
                    <a:lnL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4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400" i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Pendiente: re-ejecutar GAD2x2.py con la codificación numérica normalizada.</a:t>
            </a:r>
            <a:endParaRPr lang="es-ES_tradnl" sz="1400" noProof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384048" cy="384048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 txBox="1"/>
          <p:nvPr/>
        </p:nvSpPr>
        <p:spPr>
          <a:xfrm>
            <a:off x="548640" y="502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2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s-ES_tradnl" sz="1200" noProof="1"/>
          </a:p>
        </p:txBody>
      </p:sp>
      <p:sp>
        <p:nvSpPr>
          <p:cNvPr id="4" name="Text 2"/>
          <p:cNvSpPr txBox="1"/>
          <p:nvPr/>
        </p:nvSpPr>
        <p:spPr>
          <a:xfrm>
            <a:off x="1097280" y="365760"/>
            <a:ext cx="9326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200" b="1" noProof="1">
                <a:solidFill>
                  <a:srgbClr val="161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Comparación teórico vs experimental</a:t>
            </a:r>
            <a:endParaRPr lang="es-ES_tradnl" sz="3200" noProof="1"/>
          </a:p>
        </p:txBody>
      </p:sp>
      <p:sp>
        <p:nvSpPr>
          <p:cNvPr id="5" name="Text 3"/>
          <p:cNvSpPr txBox="1"/>
          <p:nvPr/>
        </p:nvSpPr>
        <p:spPr>
          <a:xfrm>
            <a:off x="8686800" y="50292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s-ES_tradnl" sz="1100" kern="0" spc="200" noProof="1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s-ES_tradnl" sz="1100" noProof="1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6949440" cy="475488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9050">
            <a:solidFill>
              <a:srgbClr val="E08A2E"/>
            </a:solidFill>
            <a:prstDash val="dash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822960" y="1554480"/>
            <a:ext cx="640080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500" i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Pendiente: gráfico de barras de ε</a:t>
            </a:r>
            <a:r>
              <a:rPr lang="es-ES_tradnl" sz="1500" i="1" baseline="-40000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</a:t>
            </a:r>
            <a:r>
              <a:rPr lang="es-ES_tradnl" sz="1500" i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ε</a:t>
            </a:r>
            <a:r>
              <a:rPr lang="es-ES_tradnl" sz="1500" i="1" baseline="-40000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</a:t>
            </a:r>
            <a:r>
              <a:rPr lang="es-ES_tradnl" sz="1500" i="1" noProof="1">
                <a:solidFill>
                  <a:srgbClr val="E08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por columna</a:t>
            </a:r>
            <a:endParaRPr lang="es-ES_tradnl" sz="1500" noProof="1"/>
          </a:p>
        </p:txBody>
      </p:sp>
      <p:sp>
        <p:nvSpPr>
          <p:cNvPr id="8" name="Shape 6"/>
          <p:cNvSpPr/>
          <p:nvPr/>
        </p:nvSpPr>
        <p:spPr>
          <a:xfrm>
            <a:off x="7818120" y="1371600"/>
            <a:ext cx="3840480" cy="2286000"/>
          </a:xfrm>
          <a:prstGeom prst="roundRect">
            <a:avLst>
              <a:gd name="adj" fmla="val 4800"/>
            </a:avLst>
          </a:prstGeom>
          <a:solidFill>
            <a:srgbClr val="E6F4F2"/>
          </a:solidFill>
          <a:ln w="12700">
            <a:solidFill>
              <a:srgbClr val="E6F4F2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7"/>
          <p:cNvSpPr txBox="1"/>
          <p:nvPr/>
        </p:nvSpPr>
        <p:spPr>
          <a:xfrm>
            <a:off x="8046720" y="164592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5400" b="1" noProof="1">
                <a:solidFill>
                  <a:srgbClr val="1A9E8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s-ES_tradnl" sz="5400" noProof="1"/>
          </a:p>
        </p:txBody>
      </p:sp>
      <p:sp>
        <p:nvSpPr>
          <p:cNvPr id="10" name="Text 8"/>
          <p:cNvSpPr txBox="1"/>
          <p:nvPr/>
        </p:nvSpPr>
        <p:spPr>
          <a:xfrm>
            <a:off x="8046720" y="2697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8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</a:t>
            </a:r>
            <a:endParaRPr lang="es-ES_tradnl" sz="18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 9"/>
              <p:cNvSpPr txBox="1"/>
              <p:nvPr/>
            </p:nvSpPr>
            <p:spPr>
              <a:xfrm>
                <a:off x="8046720" y="3063240"/>
                <a:ext cx="338328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600" i="1">
                          <a:solidFill>
                            <a:srgbClr val="5F6B7A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sSubPr>
                          <m:ctrlPr>
                            <a:rPr lang="es-ES" sz="16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ES" sz="1600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  <m:t>teo</m:t>
                          </m:r>
                          <m:r>
                            <a:rPr lang="es-ES" sz="16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s-ES_tradnl" sz="1600" noProof="1"/>
              </a:p>
            </p:txBody>
          </p:sp>
        </mc:Choice>
        <mc:Fallback xmlns="">
          <p:sp>
            <p:nvSpPr>
              <p:cNvPr id="11" name="Tex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3063240"/>
                <a:ext cx="3383280" cy="411480"/>
              </a:xfrm>
              <a:prstGeom prst="rect">
                <a:avLst/>
              </a:prstGeom>
              <a:blipFill>
                <a:blip r:embed="rId3"/>
                <a:stretch>
                  <a:fillRect l="-261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hape 10"/>
          <p:cNvSpPr/>
          <p:nvPr/>
        </p:nvSpPr>
        <p:spPr>
          <a:xfrm>
            <a:off x="7818120" y="3840480"/>
            <a:ext cx="3840480" cy="2286000"/>
          </a:xfrm>
          <a:prstGeom prst="roundRect">
            <a:avLst>
              <a:gd name="adj" fmla="val 4800"/>
            </a:avLst>
          </a:prstGeom>
          <a:solidFill>
            <a:srgbClr val="FBF0E3"/>
          </a:solidFill>
          <a:ln w="12700">
            <a:solidFill>
              <a:srgbClr val="FBF0E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/>
          <p:cNvSpPr txBox="1"/>
          <p:nvPr/>
        </p:nvSpPr>
        <p:spPr>
          <a:xfrm>
            <a:off x="8046720" y="4114800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5400" b="1" noProof="1">
                <a:solidFill>
                  <a:srgbClr val="E08A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s-ES_tradnl" sz="5400" noProof="1"/>
          </a:p>
        </p:txBody>
      </p:sp>
      <p:sp>
        <p:nvSpPr>
          <p:cNvPr id="14" name="Text 12"/>
          <p:cNvSpPr txBox="1"/>
          <p:nvPr/>
        </p:nvSpPr>
        <p:spPr>
          <a:xfrm>
            <a:off x="8046720" y="51663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s-ES_tradnl" sz="1800" b="1" noProof="1">
                <a:solidFill>
                  <a:srgbClr val="1F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</a:t>
            </a:r>
            <a:endParaRPr lang="es-ES_tradnl" sz="1800" noProof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13"/>
              <p:cNvSpPr txBox="1"/>
              <p:nvPr/>
            </p:nvSpPr>
            <p:spPr>
              <a:xfrm>
                <a:off x="8046720" y="5532120"/>
                <a:ext cx="3383280" cy="41148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s-ES" sz="1600" i="1">
                          <a:solidFill>
                            <a:srgbClr val="5F6B7A"/>
                          </a:solidFill>
                          <a:latin typeface="Cambria Math" panose="02040503050406030204" pitchFamily="18" charset="0"/>
                        </a:rPr>
                        <m:t>∑</m:t>
                      </m:r>
                      <m:sSub>
                        <m:sSubPr>
                          <m:ctrlPr>
                            <a:rPr lang="es-ES" sz="16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6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  <m:t>𝜀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s-ES" sz="1600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s-ES" sz="16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s-ES" sz="1600" i="1">
                              <a:solidFill>
                                <a:srgbClr val="5F6B7A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s-ES_tradnl" sz="1600" noProof="1"/>
              </a:p>
            </p:txBody>
          </p:sp>
        </mc:Choice>
        <mc:Fallback xmlns="">
          <p:sp>
            <p:nvSpPr>
              <p:cNvPr id="15" name="Text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46720" y="5532120"/>
                <a:ext cx="3383280" cy="411480"/>
              </a:xfrm>
              <a:prstGeom prst="rect">
                <a:avLst/>
              </a:prstGeom>
              <a:blipFill>
                <a:blip r:embed="rId4"/>
                <a:stretch>
                  <a:fillRect l="-2612"/>
                </a:stretch>
              </a:blipFill>
              <a:ln/>
            </p:spPr>
            <p:txBody>
              <a:bodyPr/>
              <a:lstStyle/>
              <a:p>
                <a:r>
                  <a:rPr lang="en-CO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278600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3600" b="1" noProof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Pasos a seguir</a:t>
            </a:r>
            <a:endParaRPr lang="es-ES_tradnl" sz="3600" noProof="1"/>
          </a:p>
        </p:txBody>
      </p:sp>
      <p:sp>
        <p:nvSpPr>
          <p:cNvPr id="3" name="Shape 1"/>
          <p:cNvSpPr/>
          <p:nvPr/>
        </p:nvSpPr>
        <p:spPr>
          <a:xfrm>
            <a:off x="731520" y="1892808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 txBox="1"/>
          <p:nvPr/>
        </p:nvSpPr>
        <p:spPr>
          <a:xfrm>
            <a:off x="731520" y="1892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s-ES_tradnl" sz="1300" noProof="1"/>
          </a:p>
        </p:txBody>
      </p:sp>
      <p:sp>
        <p:nvSpPr>
          <p:cNvPr id="5" name="Text 3"/>
          <p:cNvSpPr txBox="1"/>
          <p:nvPr/>
        </p:nvSpPr>
        <p:spPr>
          <a:xfrm>
            <a:off x="1280160" y="1783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200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Decuantizar los datos para observar el resultado de la privacidad diferencial sobre los datos.</a:t>
            </a:r>
            <a:endParaRPr lang="es-ES_tradnl" sz="2000" noProof="1"/>
          </a:p>
        </p:txBody>
      </p:sp>
      <p:sp>
        <p:nvSpPr>
          <p:cNvPr id="6" name="Shape 4"/>
          <p:cNvSpPr/>
          <p:nvPr/>
        </p:nvSpPr>
        <p:spPr>
          <a:xfrm>
            <a:off x="731520" y="2990088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 txBox="1"/>
          <p:nvPr/>
        </p:nvSpPr>
        <p:spPr>
          <a:xfrm>
            <a:off x="731520" y="2990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s-ES_tradnl" sz="1300" noProof="1"/>
          </a:p>
        </p:txBody>
      </p:sp>
      <p:sp>
        <p:nvSpPr>
          <p:cNvPr id="8" name="Text 6"/>
          <p:cNvSpPr txBox="1"/>
          <p:nvPr/>
        </p:nvSpPr>
        <p:spPr>
          <a:xfrm>
            <a:off x="1280160" y="28803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200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Ruidos medidos en kernel reales</a:t>
            </a:r>
            <a:endParaRPr lang="es-ES_tradnl" sz="2000" noProof="1"/>
          </a:p>
        </p:txBody>
      </p:sp>
      <p:sp>
        <p:nvSpPr>
          <p:cNvPr id="9" name="Shape 7"/>
          <p:cNvSpPr/>
          <p:nvPr/>
        </p:nvSpPr>
        <p:spPr>
          <a:xfrm>
            <a:off x="731520" y="4087368"/>
            <a:ext cx="329184" cy="329184"/>
          </a:xfrm>
          <a:prstGeom prst="ellipse">
            <a:avLst/>
          </a:prstGeom>
          <a:solidFill>
            <a:srgbClr val="1A9E8F"/>
          </a:solidFill>
          <a:ln/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 txBox="1"/>
          <p:nvPr/>
        </p:nvSpPr>
        <p:spPr>
          <a:xfrm>
            <a:off x="731520" y="4087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s-ES_tradnl" sz="1300" noProof="1"/>
          </a:p>
        </p:txBody>
      </p:sp>
      <p:sp>
        <p:nvSpPr>
          <p:cNvPr id="11" name="Text 9"/>
          <p:cNvSpPr txBox="1"/>
          <p:nvPr/>
        </p:nvSpPr>
        <p:spPr>
          <a:xfrm>
            <a:off x="1280160" y="39776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s-ES_tradnl" sz="2000" noProof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Documentar</a:t>
            </a:r>
            <a:endParaRPr lang="es-ES_tradnl" sz="20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076467CA-29D5-4242-9F88-544A082EF209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6ef3d6df-9f9d-4bf1-b1ad-7e6c0c763a9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71</TotalTime>
  <Words>1609</Words>
  <Application>Microsoft Macintosh PowerPoint</Application>
  <PresentationFormat>Widescreen</PresentationFormat>
  <Paragraphs>284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Cambria</vt:lpstr>
      <vt:lpstr>Cambria Math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Privacidad diferencial cuántica con GAD</dc:title>
  <dc:subject>PptxGenJS Presentation</dc:subject>
  <dc:creator>PptxGenJS</dc:creator>
  <cp:lastModifiedBy>Tomas Sierra Sanchez</cp:lastModifiedBy>
  <cp:revision>4</cp:revision>
  <dcterms:created xsi:type="dcterms:W3CDTF">2026-09-22T20:32:08Z</dcterms:created>
  <dcterms:modified xsi:type="dcterms:W3CDTF">2026-09-22T21:58:54Z</dcterms:modified>
</cp:coreProperties>
</file>