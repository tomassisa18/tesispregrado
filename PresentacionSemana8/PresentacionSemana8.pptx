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313" r:id="rId3"/>
    <p:sldId id="311" r:id="rId4"/>
    <p:sldId id="308" r:id="rId5"/>
    <p:sldId id="312" r:id="rId6"/>
    <p:sldId id="310" r:id="rId7"/>
    <p:sldId id="299" r:id="rId8"/>
    <p:sldId id="335" r:id="rId9"/>
    <p:sldId id="298" r:id="rId10"/>
    <p:sldId id="285" r:id="rId11"/>
    <p:sldId id="326" r:id="rId12"/>
    <p:sldId id="327" r:id="rId13"/>
    <p:sldId id="328" r:id="rId14"/>
    <p:sldId id="336" r:id="rId15"/>
    <p:sldId id="314" r:id="rId16"/>
    <p:sldId id="342" r:id="rId17"/>
    <p:sldId id="340" r:id="rId18"/>
    <p:sldId id="315" r:id="rId19"/>
    <p:sldId id="343" r:id="rId20"/>
    <p:sldId id="344" r:id="rId21"/>
    <p:sldId id="341" r:id="rId22"/>
    <p:sldId id="345" r:id="rId23"/>
    <p:sldId id="273" r:id="rId24"/>
    <p:sldId id="346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251"/>
    <p:restoredTop sz="94610"/>
  </p:normalViewPr>
  <p:slideViewPr>
    <p:cSldViewPr snapToGrid="0" snapToObjects="1">
      <p:cViewPr>
        <p:scale>
          <a:sx n="90" d="100"/>
          <a:sy n="90" d="100"/>
        </p:scale>
        <p:origin x="528" y="1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23558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Presentar el experimento GAD 2×2: codificación por característica, ruido GAD y comparación entre el ε teórico y el ε medido.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1C303-1F8C-1F4C-B182-ABA6E8EFD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9595DE-ACDC-0979-D57C-A1C5FDF6F1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472DA1-5B02-0BDF-6108-8E4CB277C2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Presentar el experimento GAD 2×2: codificación por característica, ruido GAD y comparación entre el ε teórico y el ε medido.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E0FFB4-EBA0-ABB2-CF05-9715712024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2883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Conclusión: el ruido sobre un estado producto es igual al producto de los ruidos por qubit. Esto justifica aplicar GAD columna por columna.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Conclusión: el ruido sobre un estado producto es igual al producto de los ruidos por qubit. Esto justifica aplicar GAD columna por columna.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Conclusión: el ruido sobre un estado producto es igual al producto de los ruidos por qubit. Esto justifica aplicar GAD columna por columna.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Conclusión: el ruido sobre un estado producto es igual al producto de los ruidos por qubit. Esto justifica aplicar GAD columna por columna.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E4812-7E4D-B3BD-D643-C3F28A99C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313A17-48C5-D6DA-6533-E641A632F4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A6E431-D4F2-38CA-585F-2C144796F6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Presentar el experimento GAD 2×2: codificación por característica, ruido GAD y comparación entre el ε teórico y el ε medido.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BE1153-0E78-96DF-0C8D-E98EFF0078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3334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Ciclo externo por columna, ciclo interno leave-one-out por fila. Cada caja corresponde a una función de Encoder.py, QuantProcesses.py, NoiseMechanisms.py o ProportionalDistance.py.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Presentar el experimento GAD 2×2: codificación por característica, ruido GAD y comparación entre el ε teórico y el ε medido.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Verificar en Encoder.py cómo se codifica credit_amount (un solo atributo con RY + RZ). La normalización de los numéricos se agregó después de la verificación a mano.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Se elimina la fase global e^(−3πi/4). e^(3πi/2) = −i, por eso el estado es (|0⟩ − i|1⟩)/√2. Bloch: θ = π/2, φ = 3π/2.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Se elimina la fase global e^(−3πi/4). e^(3πi/2) = −i, por eso el estado es (|0⟩ − i|1⟩)/√2. Bloch: θ = π/2, φ = 3π/2.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La verificación a mano mostró que sin normalizar, RZ(24) da vueltas módulo 2π y el orden de los valores se pierde. Por eso se normaliza.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0EC410-2BE5-CAAA-C164-40BC574DC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42389F-59E9-4CD4-688F-D906C5E9C3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7460D2-2884-0658-1100-7D3C70D866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Ciclo externo por columna, ciclo interno leave-one-out por fila. Cada caja corresponde a una función de Encoder.py, QuantProcesses.py, NoiseMechanisms.py o ProportionalDistance.py.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BF08AF-3400-B0FA-9872-0124CFF2B0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5213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6BFB7-F104-E381-1193-94459BE9B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B3098D-A3E9-7EF0-EA7A-EA208076F8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4959D1-2D6D-364A-E315-34DCF34BDE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Presentar el experimento GAD 2×2: codificación por característica, ruido GAD y comparación entre el ε teórico y el ε medido.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CC1E73-39DF-EC74-6357-3F5D6AEAFD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8136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Como ρ − σᵢ escala con 1/N, las distancias de traza son del orden de 10⁻³, y ambos ε deberían ser pequeños.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5A7A5-DADD-2C6B-4A24-018789368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4EA5D2-BD25-8986-7101-A0D5E19566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B28D51-BE98-4F49-0347-8EE91DDFFE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Ciclo externo por columna, ciclo interno leave-one-out por fila. Cada caja corresponde a una función de Encoder.py, QuantProcesses.py, NoiseMechanisms.py o ProportionalDistance.py.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00C4F-0CA6-23C8-B4C2-073EC35CBD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66000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CB7F1-5F74-E17A-DD1A-466609583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95220B-440E-F13A-14B1-58E7A6E8DB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EBCE6A-FA39-790C-510B-FC522FFDC3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Presentar el experimento GAD 2×2: codificación por característica, ruido GAD y comparación entre el ε teórico y el ε medido.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8E8873-E864-5911-9284-62E994037E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39297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En el experimento GAD se aplica al estado agregado ρ, no a una fila; el ejemplo de una fila es solo para mostrar el mecanismo. El ejemplo categórico está en z = 0, así que solo se ve la contracción en x, y. El numérico (z ≠ 0) mostrará además la contracción en 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Mostrar que el código reproduce exactamente el cálculo a mano. La verificación a mano además detectó la falta de normalización en la codificación numérica.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02512-CF00-4204-4CCC-424106654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F7D76A-0E79-EA50-0387-E19EC513E9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F0A51B-05D4-3539-FCCF-D43EB48915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Ciclo externo por columna, ciclo interno leave-one-out por fila. Cada caja corresponde a una función de Encoder.py, QuantProcesses.py, NoiseMechanisms.py o ProportionalDistance.py.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A02FD-CDD4-7995-58EC-870D23825C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24423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Relationship Id="rId9" Type="http://schemas.openxmlformats.org/officeDocument/2006/relationships/image" Target="../media/image21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1.png"/><Relationship Id="rId3" Type="http://schemas.openxmlformats.org/officeDocument/2006/relationships/image" Target="../media/image220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0.png"/><Relationship Id="rId5" Type="http://schemas.openxmlformats.org/officeDocument/2006/relationships/image" Target="../media/image240.png"/><Relationship Id="rId4" Type="http://schemas.openxmlformats.org/officeDocument/2006/relationships/image" Target="../media/image23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0.png"/><Relationship Id="rId7" Type="http://schemas.openxmlformats.org/officeDocument/2006/relationships/image" Target="../media/image30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11" Type="http://schemas.openxmlformats.org/officeDocument/2006/relationships/image" Target="../media/image34.png"/><Relationship Id="rId5" Type="http://schemas.openxmlformats.org/officeDocument/2006/relationships/image" Target="../media/image280.png"/><Relationship Id="rId10" Type="http://schemas.openxmlformats.org/officeDocument/2006/relationships/image" Target="../media/image33.png"/><Relationship Id="rId4" Type="http://schemas.openxmlformats.org/officeDocument/2006/relationships/image" Target="../media/image270.png"/><Relationship Id="rId9" Type="http://schemas.openxmlformats.org/officeDocument/2006/relationships/image" Target="../media/image3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8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Relationship Id="rId9" Type="http://schemas.openxmlformats.org/officeDocument/2006/relationships/image" Target="../media/image4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1097280"/>
            <a:ext cx="4754880" cy="47548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9052560" y="2011680"/>
            <a:ext cx="2926080" cy="29260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E08A2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" name="Text 3"/>
          <p:cNvSpPr txBox="1"/>
          <p:nvPr/>
        </p:nvSpPr>
        <p:spPr>
          <a:xfrm>
            <a:off x="731520" y="3235568"/>
            <a:ext cx="7873218" cy="69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4000" b="1" noProof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Avances Tesis Semana 8</a:t>
            </a:r>
            <a:endParaRPr lang="es-ES_tradnl" sz="400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93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E98D03-FD64-D562-2306-F6E39458B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BDF7CDC-54F0-4925-8CA1-3F031066DFE9}"/>
              </a:ext>
            </a:extLst>
          </p:cNvPr>
          <p:cNvSpPr/>
          <p:nvPr/>
        </p:nvSpPr>
        <p:spPr>
          <a:xfrm>
            <a:off x="8138160" y="1097280"/>
            <a:ext cx="4754880" cy="47548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A0F97D9-BDAD-FC8A-E13C-637891434CCE}"/>
              </a:ext>
            </a:extLst>
          </p:cNvPr>
          <p:cNvSpPr/>
          <p:nvPr/>
        </p:nvSpPr>
        <p:spPr>
          <a:xfrm>
            <a:off x="9052560" y="2011680"/>
            <a:ext cx="2926080" cy="29260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E08A2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E85AD4D-50AE-8817-C3D8-EED3B63C018E}"/>
              </a:ext>
            </a:extLst>
          </p:cNvPr>
          <p:cNvSpPr txBox="1"/>
          <p:nvPr/>
        </p:nvSpPr>
        <p:spPr>
          <a:xfrm>
            <a:off x="73152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400" b="1" kern="0" spc="300" noProof="1">
                <a:solidFill>
                  <a:srgbClr val="1A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DE TESIS SEMANA 8</a:t>
            </a:r>
            <a:endParaRPr lang="es-ES_tradnl" sz="1400" noProof="1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B0F1031-DE22-883D-0967-CD12385F7BAA}"/>
              </a:ext>
            </a:extLst>
          </p:cNvPr>
          <p:cNvSpPr txBox="1"/>
          <p:nvPr/>
        </p:nvSpPr>
        <p:spPr>
          <a:xfrm>
            <a:off x="731520" y="1920240"/>
            <a:ext cx="787321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4000" b="1" noProof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Demostración de independencia de operaciones con producto tensorial.</a:t>
            </a:r>
            <a:endParaRPr lang="es-ES_tradnl" sz="4000" noProof="1"/>
          </a:p>
        </p:txBody>
      </p:sp>
    </p:spTree>
    <p:extLst>
      <p:ext uri="{BB962C8B-B14F-4D97-AF65-F5344CB8AC3E}">
        <p14:creationId xmlns:p14="http://schemas.microsoft.com/office/powerpoint/2010/main" val="31173924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546100" y="508000"/>
            <a:ext cx="381000" cy="381000"/>
          </a:xfrm>
          <a:prstGeom prst="ellipse">
            <a:avLst/>
          </a:prstGeom>
          <a:solidFill>
            <a:srgbClr val="1A9E8F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p:sp>
        <p:nvSpPr>
          <p:cNvPr id="3" name="Text 3"/>
          <p:cNvSpPr txBox="1"/>
          <p:nvPr/>
        </p:nvSpPr>
        <p:spPr>
          <a:xfrm>
            <a:off x="546100" y="5080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s-ES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1092200" y="368300"/>
            <a:ext cx="7493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s-ES" sz="3200" b="1" noProof="1">
                <a:solidFill>
                  <a:srgbClr val="16193B"/>
                </a:solidFill>
                <a:latin typeface="Cambria" pitchFamily="18" charset="0"/>
                <a:ea typeface="Cambria"/>
                <a:cs typeface="Cambria"/>
              </a:rPr>
              <a:t>Proposición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546100" y="1270000"/>
            <a:ext cx="1109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6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Hipótesis</a:t>
            </a:r>
            <a:endParaRPr lang="es-ES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7"/>
              <p:cNvSpPr txBox="1"/>
              <p:nvPr/>
            </p:nvSpPr>
            <p:spPr>
              <a:xfrm>
                <a:off x="546100" y="1625600"/>
                <a:ext cx="11099800" cy="762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Sean </a:t>
                </a:r>
                <a14:m>
                  <m:oMath xmlns:m="http://schemas.openxmlformats.org/officeDocument/2006/math"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operadores de un espacio de Hilbert </a:t>
                </a:r>
                <a14:m>
                  <m:oMath xmlns:m="http://schemas.openxmlformats.org/officeDocument/2006/math"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-dimensional 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operadores de densidad sobre un espacio de Hilbert </a:t>
                </a:r>
                <a14:m>
                  <m:oMath xmlns:m="http://schemas.openxmlformats.org/officeDocument/2006/math"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-dimensional</a:t>
                </a:r>
                <a:r>
                  <a:rPr lang="es-ES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. Debo demostrar que la composición de la operación cuántica individual es igual que la operación cuántica compuesta por todos los operadores.</a:t>
                </a:r>
                <a:endParaRPr lang="es-ES" noProof="1"/>
              </a:p>
              <a:p>
                <a:pPr marL="0" indent="0" algn="l">
                  <a:lnSpc>
                    <a:spcPct val="110000"/>
                  </a:lnSpc>
                  <a:buNone/>
                </a:pPr>
                <a:endParaRPr lang="es-ES" sz="1800" noProof="1"/>
              </a:p>
            </p:txBody>
          </p:sp>
        </mc:Choice>
        <mc:Fallback xmlns="">
          <p:sp>
            <p:nvSpPr>
              <p:cNvPr id="7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00" y="1625600"/>
                <a:ext cx="11099800" cy="762000"/>
              </a:xfrm>
              <a:prstGeom prst="rect">
                <a:avLst/>
              </a:prstGeom>
              <a:blipFill>
                <a:blip r:embed="rId3"/>
                <a:stretch>
                  <a:fillRect l="-1373" t="-8197" r="-686" b="-34426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hape 10"/>
          <p:cNvSpPr/>
          <p:nvPr/>
        </p:nvSpPr>
        <p:spPr>
          <a:xfrm>
            <a:off x="546100" y="2667000"/>
            <a:ext cx="11099800" cy="2235200"/>
          </a:xfrm>
          <a:prstGeom prst="roundRect">
            <a:avLst>
              <a:gd name="adj" fmla="val 8571"/>
            </a:avLst>
          </a:prstGeom>
          <a:solidFill>
            <a:srgbClr val="E6F4F2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p:sp>
        <p:nvSpPr>
          <p:cNvPr id="11" name="Text 11"/>
          <p:cNvSpPr txBox="1"/>
          <p:nvPr/>
        </p:nvSpPr>
        <p:spPr>
          <a:xfrm>
            <a:off x="825500" y="2971800"/>
            <a:ext cx="1054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600" b="1" noProof="1">
                <a:solidFill>
                  <a:srgbClr val="1A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otras palabras</a:t>
            </a:r>
            <a:endParaRPr lang="es-ES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12"/>
              <p:cNvSpPr txBox="1"/>
              <p:nvPr/>
            </p:nvSpPr>
            <p:spPr>
              <a:xfrm>
                <a:off x="825500" y="3416300"/>
                <a:ext cx="10541000" cy="1371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dirty="0"/>
              </a:p>
              <a:p>
                <a:pPr marL="0" indent="0" algn="ctr">
                  <a:spcBef>
                    <a:spcPts val="1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2" name="Text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500" y="3416300"/>
                <a:ext cx="10541000" cy="13716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350177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546100" y="508000"/>
            <a:ext cx="381000" cy="381000"/>
          </a:xfrm>
          <a:prstGeom prst="ellipse">
            <a:avLst/>
          </a:prstGeom>
          <a:solidFill>
            <a:srgbClr val="1A9E8F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p:sp>
        <p:nvSpPr>
          <p:cNvPr id="3" name="Text 3"/>
          <p:cNvSpPr txBox="1"/>
          <p:nvPr/>
        </p:nvSpPr>
        <p:spPr>
          <a:xfrm>
            <a:off x="546100" y="5080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s-ES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1092200" y="368300"/>
            <a:ext cx="7493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s-ES" sz="3200" b="1" noProof="1">
                <a:solidFill>
                  <a:srgbClr val="16193B"/>
                </a:solidFill>
                <a:latin typeface="Cambria" pitchFamily="18" charset="0"/>
                <a:ea typeface="Cambria"/>
                <a:cs typeface="Cambria"/>
              </a:rPr>
              <a:t>Lema: producto mixto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546100" y="1270000"/>
            <a:ext cx="1109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6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Lema</a:t>
            </a:r>
            <a:endParaRPr lang="es-ES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7"/>
              <p:cNvSpPr txBox="1"/>
              <p:nvPr/>
            </p:nvSpPr>
            <p:spPr>
              <a:xfrm>
                <a:off x="546100" y="1625600"/>
                <a:ext cx="11099800" cy="762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lnSpc>
                    <a:spcPct val="110000"/>
                  </a:lnSpc>
                  <a:buNone/>
                </a:pPr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Sean tres pares de operadores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y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</m:d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en tres espacios vectoriales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respectivamente.</a:t>
                </a:r>
                <a:endParaRPr lang="es-ES" sz="1800" noProof="1"/>
              </a:p>
            </p:txBody>
          </p:sp>
        </mc:Choice>
        <mc:Fallback xmlns="">
          <p:sp>
            <p:nvSpPr>
              <p:cNvPr id="7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00" y="1625600"/>
                <a:ext cx="11099800" cy="762000"/>
              </a:xfrm>
              <a:prstGeom prst="rect">
                <a:avLst/>
              </a:prstGeom>
              <a:blipFill>
                <a:blip r:embed="rId3"/>
                <a:stretch>
                  <a:fillRect l="-1373" t="-819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hape 8"/>
          <p:cNvSpPr/>
          <p:nvPr/>
        </p:nvSpPr>
        <p:spPr>
          <a:xfrm>
            <a:off x="546100" y="2463800"/>
            <a:ext cx="11099800" cy="787400"/>
          </a:xfrm>
          <a:prstGeom prst="roundRect">
            <a:avLst>
              <a:gd name="adj" fmla="val 8571"/>
            </a:avLst>
          </a:prstGeom>
          <a:solidFill>
            <a:srgbClr val="E6F4F2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9"/>
              <p:cNvSpPr txBox="1"/>
              <p:nvPr/>
            </p:nvSpPr>
            <p:spPr>
              <a:xfrm>
                <a:off x="825500" y="2463800"/>
                <a:ext cx="10541000" cy="7874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d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𝑋𝑈</m:t>
                          </m:r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𝑌𝑉</m:t>
                          </m:r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𝑍𝑊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Tex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500" y="2463800"/>
                <a:ext cx="10541000" cy="7874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 10"/>
          <p:cNvSpPr txBox="1"/>
          <p:nvPr/>
        </p:nvSpPr>
        <p:spPr>
          <a:xfrm>
            <a:off x="546100" y="3505200"/>
            <a:ext cx="1109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6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de igualdad</a:t>
            </a:r>
            <a:endParaRPr lang="es-ES" sz="1600" noProof="1"/>
          </a:p>
        </p:txBody>
      </p:sp>
      <p:sp>
        <p:nvSpPr>
          <p:cNvPr id="11" name="Text 11"/>
          <p:cNvSpPr txBox="1"/>
          <p:nvPr/>
        </p:nvSpPr>
        <p:spPr>
          <a:xfrm>
            <a:off x="546100" y="3860800"/>
            <a:ext cx="11099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800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operadores son iguales si y solo si actúan de la misma forma en cualquier vector del espacio vectorial.</a:t>
            </a:r>
            <a:endParaRPr lang="es-ES" sz="1800" noProof="1"/>
          </a:p>
        </p:txBody>
      </p:sp>
      <p:sp>
        <p:nvSpPr>
          <p:cNvPr id="12" name="Text 12"/>
          <p:cNvSpPr txBox="1"/>
          <p:nvPr/>
        </p:nvSpPr>
        <p:spPr>
          <a:xfrm>
            <a:off x="546100" y="4470400"/>
            <a:ext cx="1109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6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hay que demostrar</a:t>
            </a:r>
            <a:endParaRPr lang="es-ES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13"/>
              <p:cNvSpPr txBox="1"/>
              <p:nvPr/>
            </p:nvSpPr>
            <p:spPr>
              <a:xfrm>
                <a:off x="546100" y="4826000"/>
                <a:ext cx="11099800" cy="381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lnSpc>
                    <a:spcPct val="110000"/>
                  </a:lnSpc>
                  <a:buNone/>
                </a:pPr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; tenemos que demostrar que</a:t>
                </a:r>
                <a:endParaRPr lang="es-ES" sz="1800" noProof="1"/>
              </a:p>
            </p:txBody>
          </p:sp>
        </mc:Choice>
        <mc:Fallback xmlns="">
          <p:sp>
            <p:nvSpPr>
              <p:cNvPr id="13" name="Text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00" y="4826000"/>
                <a:ext cx="11099800" cy="381000"/>
              </a:xfrm>
              <a:prstGeom prst="rect">
                <a:avLst/>
              </a:prstGeom>
              <a:blipFill>
                <a:blip r:embed="rId5"/>
                <a:stretch>
                  <a:fillRect l="-1373" t="-16667" b="-1666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Shape 14"/>
          <p:cNvSpPr/>
          <p:nvPr/>
        </p:nvSpPr>
        <p:spPr>
          <a:xfrm>
            <a:off x="546100" y="5384800"/>
            <a:ext cx="11099800" cy="736600"/>
          </a:xfrm>
          <a:prstGeom prst="roundRect">
            <a:avLst>
              <a:gd name="adj" fmla="val 8571"/>
            </a:avLst>
          </a:prstGeom>
          <a:solidFill>
            <a:srgbClr val="F2F5F9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15"/>
              <p:cNvSpPr txBox="1"/>
              <p:nvPr/>
            </p:nvSpPr>
            <p:spPr>
              <a:xfrm>
                <a:off x="825500" y="5384800"/>
                <a:ext cx="10541000" cy="736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d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</m:d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𝑋𝑈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𝑌𝑉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𝑍𝑊</m:t>
                          </m:r>
                        </m:e>
                      </m:d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5" name="Text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500" y="5384800"/>
                <a:ext cx="10541000" cy="7366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98367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546100" y="508000"/>
            <a:ext cx="381000" cy="381000"/>
          </a:xfrm>
          <a:prstGeom prst="ellipse">
            <a:avLst/>
          </a:prstGeom>
          <a:solidFill>
            <a:srgbClr val="1A9E8F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p:sp>
        <p:nvSpPr>
          <p:cNvPr id="3" name="Text 3"/>
          <p:cNvSpPr txBox="1"/>
          <p:nvPr/>
        </p:nvSpPr>
        <p:spPr>
          <a:xfrm>
            <a:off x="546100" y="5080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s-ES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1092200" y="368300"/>
            <a:ext cx="7493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s-ES" sz="3200" b="1" noProof="1">
                <a:solidFill>
                  <a:srgbClr val="16193B"/>
                </a:solidFill>
                <a:latin typeface="Cambria" pitchFamily="18" charset="0"/>
                <a:ea typeface="Cambria"/>
                <a:cs typeface="Cambria"/>
              </a:rPr>
              <a:t>Demostración del lema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546100" y="1219200"/>
            <a:ext cx="1109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6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la definición 1.8 de las notas de la clase Quantum Physics II, Lecture Notes 8 del profesor Zwiebach</a:t>
            </a:r>
            <a:endParaRPr lang="es-ES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7"/>
              <p:cNvSpPr txBox="1"/>
              <p:nvPr/>
            </p:nvSpPr>
            <p:spPr>
              <a:xfrm>
                <a:off x="546100" y="1549400"/>
                <a:ext cx="11099800" cy="381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lnSpc>
                    <a:spcPct val="110000"/>
                  </a:lnSpc>
                  <a:buNone/>
                </a:pPr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Sean </a:t>
                </a:r>
                <a14:m>
                  <m:oMath xmlns:m="http://schemas.openxmlformats.org/officeDocument/2006/math"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, </a:t>
                </a:r>
                <a14:m>
                  <m:oMath xmlns:m="http://schemas.openxmlformats.org/officeDocument/2006/math"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</m:d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, </a:t>
                </a:r>
                <a14:m>
                  <m:oMath xmlns:m="http://schemas.openxmlformats.org/officeDocument/2006/math"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y </a:t>
                </a:r>
                <a14:m>
                  <m:oMath xmlns:m="http://schemas.openxmlformats.org/officeDocument/2006/math"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. Entonces:</a:t>
                </a:r>
                <a:endParaRPr lang="es-ES" sz="1800" noProof="1"/>
              </a:p>
            </p:txBody>
          </p:sp>
        </mc:Choice>
        <mc:Fallback xmlns="">
          <p:sp>
            <p:nvSpPr>
              <p:cNvPr id="7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00" y="1549400"/>
                <a:ext cx="11099800" cy="381000"/>
              </a:xfrm>
              <a:prstGeom prst="rect">
                <a:avLst/>
              </a:prstGeom>
              <a:blipFill>
                <a:blip r:embed="rId3"/>
                <a:stretch>
                  <a:fillRect l="-1373" t="-12500" b="-9375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hape 8"/>
          <p:cNvSpPr/>
          <p:nvPr/>
        </p:nvSpPr>
        <p:spPr>
          <a:xfrm>
            <a:off x="546100" y="1981200"/>
            <a:ext cx="11099800" cy="558800"/>
          </a:xfrm>
          <a:prstGeom prst="roundRect">
            <a:avLst>
              <a:gd name="adj" fmla="val 8571"/>
            </a:avLst>
          </a:prstGeom>
          <a:solidFill>
            <a:srgbClr val="F2F5F9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9"/>
              <p:cNvSpPr txBox="1"/>
              <p:nvPr/>
            </p:nvSpPr>
            <p:spPr>
              <a:xfrm>
                <a:off x="825500" y="1981200"/>
                <a:ext cx="10541000" cy="5588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𝑇𝑣</m:t>
                          </m:r>
                        </m:e>
                      </m:d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𝑆𝑤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Tex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500" y="1981200"/>
                <a:ext cx="10541000" cy="5588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 10"/>
          <p:cNvSpPr txBox="1"/>
          <p:nvPr/>
        </p:nvSpPr>
        <p:spPr>
          <a:xfrm>
            <a:off x="546100" y="2692400"/>
            <a:ext cx="1109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6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lo tanto</a:t>
            </a:r>
            <a:endParaRPr lang="es-ES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11"/>
              <p:cNvSpPr txBox="1"/>
              <p:nvPr/>
            </p:nvSpPr>
            <p:spPr>
              <a:xfrm>
                <a:off x="546100" y="3048000"/>
                <a:ext cx="11099800" cy="965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</m:d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𝑈</m:t>
                      </m:r>
                      <m:sSub>
                        <m:sSub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sSub>
                        <m:sSub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𝑊</m:t>
                      </m:r>
                      <m:sSub>
                        <m:sSub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/>
              </a:p>
              <a:p>
                <a:pPr marL="0" indent="0" algn="l">
                  <a:spcBef>
                    <a:spcPts val="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d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𝑋𝑈</m:t>
                      </m:r>
                      <m:sSub>
                        <m:sSub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𝑌𝑉</m:t>
                      </m:r>
                      <m:sSub>
                        <m:sSub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𝑍𝑊</m:t>
                      </m:r>
                      <m:sSub>
                        <m:sSub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1" name="Text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00" y="3048000"/>
                <a:ext cx="11099800" cy="9652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 12"/>
          <p:cNvSpPr txBox="1"/>
          <p:nvPr/>
        </p:nvSpPr>
        <p:spPr>
          <a:xfrm>
            <a:off x="546100" y="4038600"/>
            <a:ext cx="1109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6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endParaRPr lang="es-ES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13"/>
              <p:cNvSpPr txBox="1"/>
              <p:nvPr/>
            </p:nvSpPr>
            <p:spPr>
              <a:xfrm>
                <a:off x="546100" y="4368800"/>
                <a:ext cx="1109980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𝑋𝑈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𝑌𝑉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𝑍𝑊</m:t>
                          </m:r>
                        </m:e>
                      </m:d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𝑋𝑈</m:t>
                      </m:r>
                      <m:sSub>
                        <m:sSub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𝑌𝑉</m:t>
                      </m:r>
                      <m:sSub>
                        <m:sSub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𝑍𝑊</m:t>
                      </m:r>
                      <m:sSub>
                        <m:sSub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3" name="Text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00" y="4368800"/>
                <a:ext cx="11099800" cy="4572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Shape 14"/>
          <p:cNvSpPr/>
          <p:nvPr/>
        </p:nvSpPr>
        <p:spPr>
          <a:xfrm>
            <a:off x="546100" y="5054600"/>
            <a:ext cx="11099800" cy="1219200"/>
          </a:xfrm>
          <a:prstGeom prst="roundRect">
            <a:avLst>
              <a:gd name="adj" fmla="val 8571"/>
            </a:avLst>
          </a:prstGeom>
          <a:solidFill>
            <a:srgbClr val="E6F4F2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15"/>
              <p:cNvSpPr txBox="1"/>
              <p:nvPr/>
            </p:nvSpPr>
            <p:spPr>
              <a:xfrm>
                <a:off x="825500" y="5181600"/>
                <a:ext cx="10541000" cy="965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l">
                  <a:lnSpc>
                    <a:spcPct val="110000"/>
                  </a:lnSpc>
                  <a:buNone/>
                </a:pPr>
                <a:r>
                  <a:rPr lang="es-ES" sz="16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Como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s-ES" sz="1600" i="1">
                                <a:solidFill>
                                  <a:srgbClr val="161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1600" i="1">
                                <a:solidFill>
                                  <a:srgbClr val="16193B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s-ES" sz="1600" i="1">
                                <a:solidFill>
                                  <a:srgbClr val="16193B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⊗</m:t>
                        </m:r>
                        <m:sSub>
                          <m:sSubPr>
                            <m:ctrlPr>
                              <a:rPr lang="es-ES" sz="1600" i="1">
                                <a:solidFill>
                                  <a:srgbClr val="161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1600" i="1">
                                <a:solidFill>
                                  <a:srgbClr val="16193B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s-ES" sz="1600" i="1">
                                <a:solidFill>
                                  <a:srgbClr val="161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⊗</m:t>
                        </m:r>
                        <m:sSub>
                          <m:sSubPr>
                            <m:ctrlPr>
                              <a:rPr lang="es-ES" sz="1600" i="1">
                                <a:solidFill>
                                  <a:srgbClr val="161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1600" i="1">
                                <a:solidFill>
                                  <a:srgbClr val="16193B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s-ES" sz="1600" i="1">
                                <a:solidFill>
                                  <a:srgbClr val="161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s-ES" sz="16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genera todo el espacio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s-ES" sz="16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s-ES" sz="16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s-ES" sz="16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y el producto tensorial es lineal, la igualdad en cada vector generador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s-ES" sz="16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s-ES" sz="16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s-ES" sz="16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implica su igualdad en cualquier combinación lineal de ellos.  ∎</a:t>
                </a:r>
                <a:endParaRPr lang="es-ES" sz="1600" noProof="1"/>
              </a:p>
            </p:txBody>
          </p:sp>
        </mc:Choice>
        <mc:Fallback xmlns="">
          <p:sp>
            <p:nvSpPr>
              <p:cNvPr id="15" name="Text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500" y="5181600"/>
                <a:ext cx="10541000" cy="965200"/>
              </a:xfrm>
              <a:prstGeom prst="rect">
                <a:avLst/>
              </a:prstGeom>
              <a:blipFill>
                <a:blip r:embed="rId7"/>
                <a:stretch>
                  <a:fillRect l="-1082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70684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546100" y="508000"/>
            <a:ext cx="381000" cy="381000"/>
          </a:xfrm>
          <a:prstGeom prst="ellipse">
            <a:avLst/>
          </a:prstGeom>
          <a:solidFill>
            <a:srgbClr val="1A9E8F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p:sp>
        <p:nvSpPr>
          <p:cNvPr id="3" name="Text 3"/>
          <p:cNvSpPr txBox="1"/>
          <p:nvPr/>
        </p:nvSpPr>
        <p:spPr>
          <a:xfrm>
            <a:off x="546100" y="5080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s-ES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1092200" y="368300"/>
            <a:ext cx="7493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s-ES" sz="3200" b="1" noProof="1">
                <a:solidFill>
                  <a:srgbClr val="16193B"/>
                </a:solidFill>
                <a:latin typeface="Cambria" pitchFamily="18" charset="0"/>
                <a:ea typeface="Cambria"/>
                <a:cs typeface="Cambria"/>
              </a:rPr>
              <a:t>Demostración de la proposición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546100" y="1270000"/>
            <a:ext cx="1109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6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Aplicando el lema a la demostración</a:t>
            </a:r>
            <a:endParaRPr lang="es-ES" sz="1600" noProof="1"/>
          </a:p>
        </p:txBody>
      </p:sp>
      <p:sp>
        <p:nvSpPr>
          <p:cNvPr id="7" name="Shape 7"/>
          <p:cNvSpPr/>
          <p:nvPr/>
        </p:nvSpPr>
        <p:spPr>
          <a:xfrm>
            <a:off x="546100" y="1905000"/>
            <a:ext cx="330200" cy="330200"/>
          </a:xfrm>
          <a:prstGeom prst="ellipse">
            <a:avLst/>
          </a:prstGeom>
          <a:solidFill>
            <a:srgbClr val="1A9E8F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p:sp>
        <p:nvSpPr>
          <p:cNvPr id="8" name="Text 8"/>
          <p:cNvSpPr txBox="1"/>
          <p:nvPr/>
        </p:nvSpPr>
        <p:spPr>
          <a:xfrm>
            <a:off x="546100" y="19050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s-ES" sz="11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9"/>
              <p:cNvSpPr txBox="1"/>
              <p:nvPr/>
            </p:nvSpPr>
            <p:spPr>
              <a:xfrm>
                <a:off x="1054100" y="1803400"/>
                <a:ext cx="10591800" cy="5334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l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sSup>
                        <m:sSup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p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sSub>
                        <m:sSub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sSup>
                        <m:sSup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p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sSub>
                        <m:sSub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sSup>
                        <m:sSup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Tex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100" y="1803400"/>
                <a:ext cx="10591800" cy="533400"/>
              </a:xfrm>
              <a:prstGeom prst="rect">
                <a:avLst/>
              </a:prstGeom>
              <a:blipFill>
                <a:blip r:embed="rId3"/>
                <a:stretch>
                  <a:fillRect b="-2381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hape 10"/>
          <p:cNvSpPr/>
          <p:nvPr/>
        </p:nvSpPr>
        <p:spPr>
          <a:xfrm>
            <a:off x="546100" y="2844800"/>
            <a:ext cx="330200" cy="330200"/>
          </a:xfrm>
          <a:prstGeom prst="ellipse">
            <a:avLst/>
          </a:prstGeom>
          <a:solidFill>
            <a:srgbClr val="1A9E8F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p:sp>
        <p:nvSpPr>
          <p:cNvPr id="11" name="Text 11"/>
          <p:cNvSpPr txBox="1"/>
          <p:nvPr/>
        </p:nvSpPr>
        <p:spPr>
          <a:xfrm>
            <a:off x="546100" y="28448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s-ES" sz="11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12"/>
              <p:cNvSpPr txBox="1"/>
              <p:nvPr/>
            </p:nvSpPr>
            <p:spPr>
              <a:xfrm>
                <a:off x="1054100" y="2743200"/>
                <a:ext cx="10591800" cy="5334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l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2" name="Text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100" y="2743200"/>
                <a:ext cx="10591800" cy="533400"/>
              </a:xfrm>
              <a:prstGeom prst="rect">
                <a:avLst/>
              </a:prstGeom>
              <a:blipFill>
                <a:blip r:embed="rId4"/>
                <a:stretch>
                  <a:fillRect b="-2326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hape 13"/>
          <p:cNvSpPr/>
          <p:nvPr/>
        </p:nvSpPr>
        <p:spPr>
          <a:xfrm>
            <a:off x="546100" y="3810000"/>
            <a:ext cx="11099800" cy="2286000"/>
          </a:xfrm>
          <a:prstGeom prst="roundRect">
            <a:avLst>
              <a:gd name="adj" fmla="val 8571"/>
            </a:avLst>
          </a:prstGeom>
          <a:solidFill>
            <a:srgbClr val="E6F4F2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p:sp>
        <p:nvSpPr>
          <p:cNvPr id="14" name="Text 14"/>
          <p:cNvSpPr txBox="1"/>
          <p:nvPr/>
        </p:nvSpPr>
        <p:spPr>
          <a:xfrm>
            <a:off x="825500" y="4013200"/>
            <a:ext cx="1054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600" b="1" noProof="1">
                <a:solidFill>
                  <a:srgbClr val="1A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lo tanto</a:t>
            </a:r>
            <a:endParaRPr lang="es-ES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15"/>
              <p:cNvSpPr txBox="1"/>
              <p:nvPr/>
            </p:nvSpPr>
            <p:spPr>
              <a:xfrm>
                <a:off x="825500" y="4521200"/>
                <a:ext cx="10541000" cy="1397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/>
              </a:p>
              <a:p>
                <a:pPr marL="0" indent="0" algn="ctr">
                  <a:spcBef>
                    <a:spcPts val="1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 ∎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5" name="Text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500" y="4521200"/>
                <a:ext cx="10541000" cy="13970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7299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93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505AB7-E57C-B2EC-B981-ED380DCA9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5708B19-A33F-2FEB-4130-87006A56427A}"/>
              </a:ext>
            </a:extLst>
          </p:cNvPr>
          <p:cNvSpPr/>
          <p:nvPr/>
        </p:nvSpPr>
        <p:spPr>
          <a:xfrm>
            <a:off x="8138160" y="1097280"/>
            <a:ext cx="4754880" cy="47548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E6E7950-B1F9-213F-67E5-3DF67D45DB3A}"/>
              </a:ext>
            </a:extLst>
          </p:cNvPr>
          <p:cNvSpPr/>
          <p:nvPr/>
        </p:nvSpPr>
        <p:spPr>
          <a:xfrm>
            <a:off x="9052560" y="2011680"/>
            <a:ext cx="2926080" cy="29260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E08A2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C502014-44BF-0ED7-3A04-AFA2C6FC4148}"/>
              </a:ext>
            </a:extLst>
          </p:cNvPr>
          <p:cNvSpPr txBox="1"/>
          <p:nvPr/>
        </p:nvSpPr>
        <p:spPr>
          <a:xfrm>
            <a:off x="73152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400" b="1" kern="0" spc="300" noProof="1">
                <a:solidFill>
                  <a:srgbClr val="1A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DE TESIS SEMANA 8</a:t>
            </a:r>
            <a:endParaRPr lang="es-ES_tradnl" sz="1400" noProof="1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A0BB1FF-3949-8838-BF4A-B10378B0649A}"/>
              </a:ext>
            </a:extLst>
          </p:cNvPr>
          <p:cNvSpPr txBox="1"/>
          <p:nvPr/>
        </p:nvSpPr>
        <p:spPr>
          <a:xfrm>
            <a:off x="731520" y="1920240"/>
            <a:ext cx="787321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4000" b="1" noProof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Ejemplo: Busqueda de presupuesto de privacidad diferencial cuántica con Generalized Amplitude Damping</a:t>
            </a:r>
            <a:endParaRPr lang="es-ES_tradnl" sz="4000" noProof="1"/>
          </a:p>
        </p:txBody>
      </p:sp>
    </p:spTree>
    <p:extLst>
      <p:ext uri="{BB962C8B-B14F-4D97-AF65-F5344CB8AC3E}">
        <p14:creationId xmlns:p14="http://schemas.microsoft.com/office/powerpoint/2010/main" val="41449962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48640" y="370904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completo</a:t>
            </a:r>
            <a:endParaRPr lang="es-ES_tradnl" sz="3200" noProof="1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11064240" cy="4892040"/>
          </a:xfrm>
          <a:prstGeom prst="roundRect">
            <a:avLst>
              <a:gd name="adj" fmla="val 224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 txBox="1"/>
          <p:nvPr/>
        </p:nvSpPr>
        <p:spPr>
          <a:xfrm>
            <a:off x="77724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500" b="1" noProof="1">
                <a:solidFill>
                  <a:srgbClr val="161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columna k = 0, …, 6</a:t>
            </a:r>
            <a:endParaRPr lang="es-ES_tradnl" sz="1500" noProof="1"/>
          </a:p>
        </p:txBody>
      </p:sp>
      <p:sp>
        <p:nvSpPr>
          <p:cNvPr id="8" name="Shape 6"/>
          <p:cNvSpPr/>
          <p:nvPr/>
        </p:nvSpPr>
        <p:spPr>
          <a:xfrm>
            <a:off x="965200" y="1854200"/>
            <a:ext cx="2857500" cy="863600"/>
          </a:xfrm>
          <a:prstGeom prst="roundRect">
            <a:avLst>
              <a:gd name="adj" fmla="val 8421"/>
            </a:avLst>
          </a:prstGeom>
          <a:solidFill>
            <a:srgbClr val="E6F5F3"/>
          </a:solidFill>
          <a:ln w="15875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9" name="Text 7"/>
          <p:cNvSpPr txBox="1"/>
          <p:nvPr/>
        </p:nvSpPr>
        <p:spPr>
          <a:xfrm>
            <a:off x="1016000" y="1955800"/>
            <a:ext cx="275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A9E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Codificar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 8"/>
              <p:cNvSpPr txBox="1"/>
              <p:nvPr/>
            </p:nvSpPr>
            <p:spPr>
              <a:xfrm>
                <a:off x="1016000" y="2286000"/>
                <a:ext cx="2755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ES_tradnl" sz="130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s-ES_tradnl" sz="130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itchFamily="34" charset="-120"/>
                          </a:rPr>
                          <m:t>𝜌</m:t>
                        </m:r>
                      </m:e>
                      <m:sub>
                        <m:r>
                          <a:rPr lang="es-419" sz="1300" b="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s-ES_tradnl" sz="13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1000 estados</a:t>
                </a:r>
                <a:endParaRPr lang="es-ES_tradnl" sz="1300" noProof="1"/>
              </a:p>
            </p:txBody>
          </p:sp>
        </mc:Choice>
        <mc:Fallback>
          <p:sp>
            <p:nvSpPr>
              <p:cNvPr id="10" name="Text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2286000"/>
                <a:ext cx="2755900" cy="355600"/>
              </a:xfrm>
              <a:prstGeom prst="rect">
                <a:avLst/>
              </a:prstGeom>
              <a:blipFill>
                <a:blip r:embed="rId3"/>
                <a:stretch>
                  <a:fillRect t="-1785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hape 9"/>
          <p:cNvSpPr/>
          <p:nvPr/>
        </p:nvSpPr>
        <p:spPr>
          <a:xfrm>
            <a:off x="3898900" y="2286000"/>
            <a:ext cx="6731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2" name="Shape 10"/>
          <p:cNvSpPr/>
          <p:nvPr/>
        </p:nvSpPr>
        <p:spPr>
          <a:xfrm>
            <a:off x="4648200" y="1854200"/>
            <a:ext cx="2857500" cy="863600"/>
          </a:xfrm>
          <a:prstGeom prst="roundRect">
            <a:avLst>
              <a:gd name="adj" fmla="val 8421"/>
            </a:avLst>
          </a:prstGeom>
          <a:solidFill>
            <a:srgbClr val="F1ECF8"/>
          </a:solidFill>
          <a:ln w="15875">
            <a:solidFill>
              <a:srgbClr val="7A4FB0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3" name="Text 11"/>
          <p:cNvSpPr txBox="1"/>
          <p:nvPr/>
        </p:nvSpPr>
        <p:spPr>
          <a:xfrm>
            <a:off x="4699000" y="1955800"/>
            <a:ext cx="275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7A4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Agregar</a:t>
            </a:r>
            <a:endParaRPr lang="es-ES_tradnl" sz="1200" noProof="1"/>
          </a:p>
        </p:txBody>
      </p:sp>
      <p:sp>
        <p:nvSpPr>
          <p:cNvPr id="15" name="Shape 13"/>
          <p:cNvSpPr/>
          <p:nvPr/>
        </p:nvSpPr>
        <p:spPr>
          <a:xfrm>
            <a:off x="7581900" y="2286000"/>
            <a:ext cx="6731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6" name="Shape 14"/>
          <p:cNvSpPr/>
          <p:nvPr/>
        </p:nvSpPr>
        <p:spPr>
          <a:xfrm>
            <a:off x="8331200" y="1854200"/>
            <a:ext cx="2857500" cy="86360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5875">
            <a:solidFill>
              <a:srgbClr val="2E6DB4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7" name="Text 15"/>
          <p:cNvSpPr txBox="1"/>
          <p:nvPr/>
        </p:nvSpPr>
        <p:spPr>
          <a:xfrm>
            <a:off x="8382000" y="1955800"/>
            <a:ext cx="275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2E6D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GAD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 16"/>
              <p:cNvSpPr txBox="1"/>
              <p:nvPr/>
            </p:nvSpPr>
            <p:spPr>
              <a:xfrm>
                <a:off x="8382000" y="2286000"/>
                <a:ext cx="2755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3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s-ES" sz="13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′=</m:t>
                      </m:r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ℰ</m:t>
                          </m:r>
                        </m:e>
                        <m:sub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𝐺𝐴𝐷</m:t>
                          </m:r>
                        </m:sub>
                      </m:sSub>
                      <m:d>
                        <m:d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</m:oMath>
                  </m:oMathPara>
                </a14:m>
                <a:endParaRPr lang="es-ES_tradnl" sz="1300" noProof="1"/>
              </a:p>
            </p:txBody>
          </p:sp>
        </mc:Choice>
        <mc:Fallback>
          <p:sp>
            <p:nvSpPr>
              <p:cNvPr id="18" name="Text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0" y="2286000"/>
                <a:ext cx="2755900" cy="355600"/>
              </a:xfrm>
              <a:prstGeom prst="rect">
                <a:avLst/>
              </a:prstGeom>
              <a:blipFill>
                <a:blip r:embed="rId4"/>
                <a:stretch>
                  <a:fillRect t="-714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Shape 17"/>
          <p:cNvSpPr/>
          <p:nvPr/>
        </p:nvSpPr>
        <p:spPr>
          <a:xfrm>
            <a:off x="774700" y="3048000"/>
            <a:ext cx="10604500" cy="1651000"/>
          </a:xfrm>
          <a:prstGeom prst="roundRect">
            <a:avLst>
              <a:gd name="adj" fmla="val 5405"/>
            </a:avLst>
          </a:prstGeom>
          <a:solidFill>
            <a:srgbClr val="FBF0E3"/>
          </a:solidFill>
          <a:ln w="12700">
            <a:solidFill>
              <a:srgbClr val="FBF0E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0" name="Text 18"/>
          <p:cNvSpPr txBox="1"/>
          <p:nvPr/>
        </p:nvSpPr>
        <p:spPr>
          <a:xfrm>
            <a:off x="965200" y="3098800"/>
            <a:ext cx="5486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400" b="1" noProof="1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fila i = 0, …, 999</a:t>
            </a:r>
            <a:endParaRPr lang="es-ES_tradnl" sz="1400" noProof="1"/>
          </a:p>
        </p:txBody>
      </p:sp>
      <p:sp>
        <p:nvSpPr>
          <p:cNvPr id="21" name="Shape 19"/>
          <p:cNvSpPr/>
          <p:nvPr/>
        </p:nvSpPr>
        <p:spPr>
          <a:xfrm>
            <a:off x="965200" y="3581400"/>
            <a:ext cx="1524000" cy="863600"/>
          </a:xfrm>
          <a:prstGeom prst="roundRect">
            <a:avLst>
              <a:gd name="adj" fmla="val 8421"/>
            </a:avLst>
          </a:prstGeom>
          <a:solidFill>
            <a:srgbClr val="E6F5F3"/>
          </a:solidFill>
          <a:ln w="15875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2" name="Text 20"/>
          <p:cNvSpPr txBox="1"/>
          <p:nvPr/>
        </p:nvSpPr>
        <p:spPr>
          <a:xfrm>
            <a:off x="1016000" y="3683000"/>
            <a:ext cx="1422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A9E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Codificar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 21"/>
              <p:cNvSpPr txBox="1"/>
              <p:nvPr/>
            </p:nvSpPr>
            <p:spPr>
              <a:xfrm>
                <a:off x="1016000" y="4013200"/>
                <a:ext cx="14224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s-ES_tradnl" sz="1300" i="1" noProof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s-ES_tradnl" sz="130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itchFamily="34" charset="-120"/>
                          </a:rPr>
                          <m:t>𝜎</m:t>
                        </m:r>
                      </m:e>
                      <m:sub>
                        <m:r>
                          <a:rPr lang="es-419" sz="1300" i="1" noProof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s-ES_tradnl" sz="13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1000 estados</a:t>
                </a:r>
                <a:endParaRPr lang="es-ES_tradnl" sz="1300" noProof="1"/>
              </a:p>
              <a:p>
                <a:pPr marL="0" indent="0" algn="ctr">
                  <a:buNone/>
                </a:pPr>
                <a:r>
                  <a:rPr lang="es-ES_tradnl" sz="13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sin la fila </a:t>
                </a:r>
                <a14:m>
                  <m:oMath xmlns:m="http://schemas.openxmlformats.org/officeDocument/2006/math">
                    <m:r>
                      <a:rPr lang="es-ES" sz="13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s-ES_tradnl" sz="1300" noProof="1"/>
              </a:p>
            </p:txBody>
          </p:sp>
        </mc:Choice>
        <mc:Fallback>
          <p:sp>
            <p:nvSpPr>
              <p:cNvPr id="23" name="Text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4013200"/>
                <a:ext cx="1422400" cy="355600"/>
              </a:xfrm>
              <a:prstGeom prst="rect">
                <a:avLst/>
              </a:prstGeom>
              <a:blipFill>
                <a:blip r:embed="rId5"/>
                <a:stretch>
                  <a:fillRect t="-10000" b="-3666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Shape 22"/>
          <p:cNvSpPr/>
          <p:nvPr/>
        </p:nvSpPr>
        <p:spPr>
          <a:xfrm>
            <a:off x="2552700" y="4013200"/>
            <a:ext cx="206375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5" name="Shape 23"/>
          <p:cNvSpPr/>
          <p:nvPr/>
        </p:nvSpPr>
        <p:spPr>
          <a:xfrm>
            <a:off x="2822575" y="3581400"/>
            <a:ext cx="1714500" cy="863600"/>
          </a:xfrm>
          <a:prstGeom prst="roundRect">
            <a:avLst>
              <a:gd name="adj" fmla="val 8421"/>
            </a:avLst>
          </a:prstGeom>
          <a:solidFill>
            <a:srgbClr val="F1ECF8"/>
          </a:solidFill>
          <a:ln w="15875">
            <a:solidFill>
              <a:srgbClr val="7A4FB0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6" name="Text 24"/>
          <p:cNvSpPr txBox="1"/>
          <p:nvPr/>
        </p:nvSpPr>
        <p:spPr>
          <a:xfrm>
            <a:off x="2873375" y="3683000"/>
            <a:ext cx="1612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7A4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Agregar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 25"/>
              <p:cNvSpPr txBox="1"/>
              <p:nvPr/>
            </p:nvSpPr>
            <p:spPr>
              <a:xfrm>
                <a:off x="2873375" y="3937000"/>
                <a:ext cx="1612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2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s-ES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s-ES" sz="120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s-ES_tradnl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</m:ctrlPr>
                                </m:sSubPr>
                                <m:e>
                                  <m:r>
                                    <a:rPr lang="es-ES_tradnl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alibri" pitchFamily="34" charset="-12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s-419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s-ES_tradnl" sz="1000" noProof="1"/>
              </a:p>
            </p:txBody>
          </p:sp>
        </mc:Choice>
        <mc:Fallback>
          <p:sp>
            <p:nvSpPr>
              <p:cNvPr id="27" name="Text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3375" y="3937000"/>
                <a:ext cx="1612900" cy="355600"/>
              </a:xfrm>
              <a:prstGeom prst="rect">
                <a:avLst/>
              </a:prstGeom>
              <a:blipFill>
                <a:blip r:embed="rId6"/>
                <a:stretch>
                  <a:fillRect t="-178571" b="-303571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Shape 26"/>
          <p:cNvSpPr/>
          <p:nvPr/>
        </p:nvSpPr>
        <p:spPr>
          <a:xfrm>
            <a:off x="4600575" y="4013200"/>
            <a:ext cx="206375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9" name="Shape 27"/>
          <p:cNvSpPr/>
          <p:nvPr/>
        </p:nvSpPr>
        <p:spPr>
          <a:xfrm>
            <a:off x="4876800" y="3581400"/>
            <a:ext cx="1320800" cy="86360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5875">
            <a:solidFill>
              <a:srgbClr val="2E6DB4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2" name="Shape 30"/>
          <p:cNvSpPr/>
          <p:nvPr/>
        </p:nvSpPr>
        <p:spPr>
          <a:xfrm flipV="1">
            <a:off x="6261100" y="4013200"/>
            <a:ext cx="2032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3" name="Shape 31"/>
          <p:cNvSpPr/>
          <p:nvPr/>
        </p:nvSpPr>
        <p:spPr>
          <a:xfrm>
            <a:off x="6527800" y="3581400"/>
            <a:ext cx="1905000" cy="8636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5F6B7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4" name="Text 32"/>
          <p:cNvSpPr txBox="1"/>
          <p:nvPr/>
        </p:nvSpPr>
        <p:spPr>
          <a:xfrm>
            <a:off x="6578600" y="3683000"/>
            <a:ext cx="1803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cs typeface="Courier New" pitchFamily="34" charset="-120"/>
              </a:rPr>
              <a:t>Distancia de traza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 33"/>
              <p:cNvSpPr txBox="1"/>
              <p:nvPr/>
            </p:nvSpPr>
            <p:spPr>
              <a:xfrm>
                <a:off x="6578600" y="4013200"/>
                <a:ext cx="18034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ES" sz="130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419" sz="1300" b="0" i="0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l-GR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τ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300" noProof="1"/>
              </a:p>
            </p:txBody>
          </p:sp>
        </mc:Choice>
        <mc:Fallback>
          <p:sp>
            <p:nvSpPr>
              <p:cNvPr id="35" name="Text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8600" y="4013200"/>
                <a:ext cx="1803400" cy="355600"/>
              </a:xfrm>
              <a:prstGeom prst="rect">
                <a:avLst/>
              </a:prstGeom>
              <a:blipFill>
                <a:blip r:embed="rId7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Shape 38"/>
          <p:cNvSpPr/>
          <p:nvPr/>
        </p:nvSpPr>
        <p:spPr>
          <a:xfrm>
            <a:off x="6400800" y="4965700"/>
            <a:ext cx="2159000" cy="9652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1" name="Text 39"/>
          <p:cNvSpPr txBox="1"/>
          <p:nvPr/>
        </p:nvSpPr>
        <p:spPr>
          <a:xfrm>
            <a:off x="6451600" y="5067300"/>
            <a:ext cx="2057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cs typeface="Courier New" pitchFamily="34" charset="-120"/>
              </a:rPr>
              <a:t>Epsilon Teorico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 40"/>
              <p:cNvSpPr txBox="1"/>
              <p:nvPr/>
            </p:nvSpPr>
            <p:spPr>
              <a:xfrm>
                <a:off x="6451600" y="5397500"/>
                <a:ext cx="2057400" cy="3937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419" sz="1300" b="0" i="0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te</m:t>
                          </m:r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419" sz="130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te</m:t>
                          </m:r>
                          <m: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419" sz="1300" b="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419" sz="1300" b="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s-419" sz="1300" b="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𝛾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300" noProof="1"/>
              </a:p>
            </p:txBody>
          </p:sp>
        </mc:Choice>
        <mc:Fallback>
          <p:sp>
            <p:nvSpPr>
              <p:cNvPr id="42" name="Text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1600" y="5397500"/>
                <a:ext cx="2057400" cy="3937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Shape 41"/>
          <p:cNvSpPr/>
          <p:nvPr/>
        </p:nvSpPr>
        <p:spPr>
          <a:xfrm>
            <a:off x="8801100" y="4965700"/>
            <a:ext cx="2349500" cy="9652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4" name="Text 42"/>
          <p:cNvSpPr txBox="1"/>
          <p:nvPr/>
        </p:nvSpPr>
        <p:spPr>
          <a:xfrm>
            <a:off x="8851900" y="5067300"/>
            <a:ext cx="2260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Epsilon Experimental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 43"/>
              <p:cNvSpPr txBox="1"/>
              <p:nvPr/>
            </p:nvSpPr>
            <p:spPr>
              <a:xfrm>
                <a:off x="8851900" y="5397500"/>
                <a:ext cx="2260600" cy="3937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es-419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419" sz="1300" b="0" i="0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sub>
                      </m:sSub>
                      <m:r>
                        <a:rPr lang="es-419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419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 lang="es-419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s-419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300" noProof="1"/>
              </a:p>
            </p:txBody>
          </p:sp>
        </mc:Choice>
        <mc:Fallback>
          <p:sp>
            <p:nvSpPr>
              <p:cNvPr id="45" name="Text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1900" y="5397500"/>
                <a:ext cx="2260600" cy="3937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 25">
                <a:extLst>
                  <a:ext uri="{FF2B5EF4-FFF2-40B4-BE49-F238E27FC236}">
                    <a16:creationId xmlns:a16="http://schemas.microsoft.com/office/drawing/2014/main" id="{A047B3C7-3C7A-7B7C-6CDC-5579745FC62C}"/>
                  </a:ext>
                </a:extLst>
              </p:cNvPr>
              <p:cNvSpPr txBox="1"/>
              <p:nvPr/>
            </p:nvSpPr>
            <p:spPr>
              <a:xfrm>
                <a:off x="4699000" y="2171700"/>
                <a:ext cx="2755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2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s-ES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s-ES" sz="120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s-ES_tradnl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</m:ctrlPr>
                                </m:sSubPr>
                                <m:e>
                                  <m:r>
                                    <a:rPr lang="es-ES_tradnl" sz="1200" i="1" noProof="1" smtClean="0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alibri" pitchFamily="34" charset="-12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s-419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s-ES_tradnl" sz="1000" noProof="1"/>
              </a:p>
            </p:txBody>
          </p:sp>
        </mc:Choice>
        <mc:Fallback>
          <p:sp>
            <p:nvSpPr>
              <p:cNvPr id="49" name="Text 25">
                <a:extLst>
                  <a:ext uri="{FF2B5EF4-FFF2-40B4-BE49-F238E27FC236}">
                    <a16:creationId xmlns:a16="http://schemas.microsoft.com/office/drawing/2014/main" id="{A047B3C7-3C7A-7B7C-6CDC-5579745FC6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9000" y="2171700"/>
                <a:ext cx="2755900" cy="355600"/>
              </a:xfrm>
              <a:prstGeom prst="rect">
                <a:avLst/>
              </a:prstGeom>
              <a:blipFill>
                <a:blip r:embed="rId10"/>
                <a:stretch>
                  <a:fillRect t="-163333" b="-280000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 28">
            <a:extLst>
              <a:ext uri="{FF2B5EF4-FFF2-40B4-BE49-F238E27FC236}">
                <a16:creationId xmlns:a16="http://schemas.microsoft.com/office/drawing/2014/main" id="{5AC9C5B5-4E4F-82C6-4B8A-7FDFA897BE1E}"/>
              </a:ext>
            </a:extLst>
          </p:cNvPr>
          <p:cNvSpPr txBox="1"/>
          <p:nvPr/>
        </p:nvSpPr>
        <p:spPr>
          <a:xfrm>
            <a:off x="4927600" y="3683000"/>
            <a:ext cx="1219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2E6D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GAD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 29">
                <a:extLst>
                  <a:ext uri="{FF2B5EF4-FFF2-40B4-BE49-F238E27FC236}">
                    <a16:creationId xmlns:a16="http://schemas.microsoft.com/office/drawing/2014/main" id="{CD1772D8-A8F5-B866-8C48-FCD5121E934B}"/>
                  </a:ext>
                </a:extLst>
              </p:cNvPr>
              <p:cNvSpPr txBox="1"/>
              <p:nvPr/>
            </p:nvSpPr>
            <p:spPr>
              <a:xfrm>
                <a:off x="4927600" y="4013200"/>
                <a:ext cx="12192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4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s-ES" sz="14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′=</m:t>
                      </m:r>
                      <m:r>
                        <a:rPr lang="es-ES" sz="14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ℰ</m:t>
                      </m:r>
                      <m:d>
                        <m:dPr>
                          <m:ctrlPr>
                            <a:rPr lang="es-ES" sz="14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14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4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s-ES" sz="14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s-ES_tradnl" sz="1300" noProof="1"/>
              </a:p>
            </p:txBody>
          </p:sp>
        </mc:Choice>
        <mc:Fallback>
          <p:sp>
            <p:nvSpPr>
              <p:cNvPr id="51" name="Text 29">
                <a:extLst>
                  <a:ext uri="{FF2B5EF4-FFF2-40B4-BE49-F238E27FC236}">
                    <a16:creationId xmlns:a16="http://schemas.microsoft.com/office/drawing/2014/main" id="{CD1772D8-A8F5-B866-8C48-FCD5121E93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7600" y="4013200"/>
                <a:ext cx="1219200" cy="355600"/>
              </a:xfrm>
              <a:prstGeom prst="rect">
                <a:avLst/>
              </a:prstGeom>
              <a:blipFill>
                <a:blip r:embed="rId11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hape 30">
            <a:extLst>
              <a:ext uri="{FF2B5EF4-FFF2-40B4-BE49-F238E27FC236}">
                <a16:creationId xmlns:a16="http://schemas.microsoft.com/office/drawing/2014/main" id="{497741D7-E530-49F9-F812-2E0AEF15371D}"/>
              </a:ext>
            </a:extLst>
          </p:cNvPr>
          <p:cNvSpPr/>
          <p:nvPr/>
        </p:nvSpPr>
        <p:spPr>
          <a:xfrm>
            <a:off x="8496300" y="4013200"/>
            <a:ext cx="2032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3" name="Shape 31">
            <a:extLst>
              <a:ext uri="{FF2B5EF4-FFF2-40B4-BE49-F238E27FC236}">
                <a16:creationId xmlns:a16="http://schemas.microsoft.com/office/drawing/2014/main" id="{5A11D58D-ECAD-45F4-7618-F4CF5FA88D7B}"/>
              </a:ext>
            </a:extLst>
          </p:cNvPr>
          <p:cNvSpPr/>
          <p:nvPr/>
        </p:nvSpPr>
        <p:spPr>
          <a:xfrm>
            <a:off x="8763000" y="3581400"/>
            <a:ext cx="2425700" cy="8636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4" name="Text 28">
            <a:extLst>
              <a:ext uri="{FF2B5EF4-FFF2-40B4-BE49-F238E27FC236}">
                <a16:creationId xmlns:a16="http://schemas.microsoft.com/office/drawing/2014/main" id="{94DDEF98-81B9-8337-5E57-B74315F56C3A}"/>
              </a:ext>
            </a:extLst>
          </p:cNvPr>
          <p:cNvSpPr txBox="1"/>
          <p:nvPr/>
        </p:nvSpPr>
        <p:spPr>
          <a:xfrm>
            <a:off x="8813800" y="3683000"/>
            <a:ext cx="2324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Epsilon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 29">
                <a:extLst>
                  <a:ext uri="{FF2B5EF4-FFF2-40B4-BE49-F238E27FC236}">
                    <a16:creationId xmlns:a16="http://schemas.microsoft.com/office/drawing/2014/main" id="{975FA217-8E95-611E-988F-2378DA779640}"/>
                  </a:ext>
                </a:extLst>
              </p:cNvPr>
              <p:cNvSpPr txBox="1"/>
              <p:nvPr/>
            </p:nvSpPr>
            <p:spPr>
              <a:xfrm>
                <a:off x="8813800" y="4013200"/>
                <a:ext cx="23241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2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2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s-419" sz="12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𝑑𝑃𝐷</m:t>
                      </m:r>
                      <m:d>
                        <m:dPr>
                          <m:ctrlPr>
                            <a:rPr lang="es-419" sz="12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𝑑𝑃𝐷</m:t>
                      </m:r>
                      <m:d>
                        <m:dPr>
                          <m:ctrlPr>
                            <a:rPr lang="es-419" sz="12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200" noProof="1"/>
              </a:p>
            </p:txBody>
          </p:sp>
        </mc:Choice>
        <mc:Fallback>
          <p:sp>
            <p:nvSpPr>
              <p:cNvPr id="55" name="Text 29">
                <a:extLst>
                  <a:ext uri="{FF2B5EF4-FFF2-40B4-BE49-F238E27FC236}">
                    <a16:creationId xmlns:a16="http://schemas.microsoft.com/office/drawing/2014/main" id="{975FA217-8E95-611E-988F-2378DA7796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3800" y="4013200"/>
                <a:ext cx="2324100" cy="355600"/>
              </a:xfrm>
              <a:prstGeom prst="rect">
                <a:avLst/>
              </a:prstGeom>
              <a:blipFill>
                <a:blip r:embed="rId12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Shape 30">
            <a:extLst>
              <a:ext uri="{FF2B5EF4-FFF2-40B4-BE49-F238E27FC236}">
                <a16:creationId xmlns:a16="http://schemas.microsoft.com/office/drawing/2014/main" id="{F2EFCF72-7879-0032-FA65-D1345CF05B2F}"/>
              </a:ext>
            </a:extLst>
          </p:cNvPr>
          <p:cNvSpPr/>
          <p:nvPr/>
        </p:nvSpPr>
        <p:spPr>
          <a:xfrm>
            <a:off x="7480300" y="4508500"/>
            <a:ext cx="0" cy="45720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0" name="Shape 30">
            <a:extLst>
              <a:ext uri="{FF2B5EF4-FFF2-40B4-BE49-F238E27FC236}">
                <a16:creationId xmlns:a16="http://schemas.microsoft.com/office/drawing/2014/main" id="{EB7E8CFD-2027-03E4-ECF7-1AE9665CED30}"/>
              </a:ext>
            </a:extLst>
          </p:cNvPr>
          <p:cNvSpPr/>
          <p:nvPr/>
        </p:nvSpPr>
        <p:spPr>
          <a:xfrm>
            <a:off x="9975850" y="4508500"/>
            <a:ext cx="0" cy="45720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</p:spTree>
    <p:extLst>
      <p:ext uri="{BB962C8B-B14F-4D97-AF65-F5344CB8AC3E}">
        <p14:creationId xmlns:p14="http://schemas.microsoft.com/office/powerpoint/2010/main" val="39539734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1097280"/>
            <a:ext cx="4754880" cy="47548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9052560" y="2011680"/>
            <a:ext cx="2926080" cy="29260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E08A2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 txBox="1"/>
          <p:nvPr/>
        </p:nvSpPr>
        <p:spPr>
          <a:xfrm>
            <a:off x="731520" y="2603500"/>
            <a:ext cx="54864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400" b="1" kern="0" spc="300" noProof="1">
                <a:solidFill>
                  <a:srgbClr val="1A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Prerequisito 1</a:t>
            </a:r>
            <a:endParaRPr lang="es-ES_tradnl" sz="1400" noProof="1"/>
          </a:p>
        </p:txBody>
      </p:sp>
      <p:sp>
        <p:nvSpPr>
          <p:cNvPr id="5" name="Text 3"/>
          <p:cNvSpPr txBox="1"/>
          <p:nvPr/>
        </p:nvSpPr>
        <p:spPr>
          <a:xfrm>
            <a:off x="731520" y="3022600"/>
            <a:ext cx="749808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4000" b="1" noProof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Codificar</a:t>
            </a:r>
            <a:endParaRPr lang="es-ES_tradnl" sz="4000" noProof="1"/>
          </a:p>
        </p:txBody>
      </p:sp>
      <p:sp>
        <p:nvSpPr>
          <p:cNvPr id="6" name="Text 4"/>
          <p:cNvSpPr txBox="1"/>
          <p:nvPr/>
        </p:nvSpPr>
        <p:spPr>
          <a:xfrm>
            <a:off x="731520" y="4013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2000" noProof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atributos de German Credit a estados de un qubit</a:t>
            </a:r>
            <a:endParaRPr lang="es-ES_tradnl" sz="2000" noProof="1"/>
          </a:p>
        </p:txBody>
      </p:sp>
    </p:spTree>
    <p:extLst>
      <p:ext uri="{BB962C8B-B14F-4D97-AF65-F5344CB8AC3E}">
        <p14:creationId xmlns:p14="http://schemas.microsoft.com/office/powerpoint/2010/main" val="24786069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y codificación</a:t>
            </a:r>
            <a:endParaRPr lang="es-ES_tradnl" sz="3200" noProof="1"/>
          </a:p>
        </p:txBody>
      </p:sp>
      <p:sp>
        <p:nvSpPr>
          <p:cNvPr id="6" name="Text 4"/>
          <p:cNvSpPr txBox="1"/>
          <p:nvPr/>
        </p:nvSpPr>
        <p:spPr>
          <a:xfrm>
            <a:off x="548640" y="12801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800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 Credit · 1000 filas · 9 atributos → 7 qubits (uno por columna)</a:t>
            </a:r>
            <a:endParaRPr lang="es-ES_tradnl" sz="1800" noProof="1"/>
          </a:p>
        </p:txBody>
      </p:sp>
      <p:graphicFrame>
        <p:nvGraphicFramePr>
          <p:cNvPr id="7" name="Table 0"/>
          <p:cNvGraphicFramePr>
            <a:graphicFrameLocks noGrp="1"/>
          </p:cNvGraphicFramePr>
          <p:nvPr/>
        </p:nvGraphicFramePr>
        <p:xfrm>
          <a:off x="548640" y="1874520"/>
          <a:ext cx="7406640" cy="3803904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500" b="1" noProof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Atributo(s)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500" b="1" noProof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500" b="1" noProof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Compuertas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collateral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A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Categórico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 + RZ(2πk/V)</a:t>
                      </a:r>
                      <a:endParaRPr lang="es-ES_tradnl" sz="1400" noProof="1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A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Categórico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 + RZ(2πk/V)</a:t>
                      </a:r>
                      <a:endParaRPr lang="es-ES_tradnl" sz="1400" noProof="1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credit_history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A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Categórico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 + RZ(2πk/V)</a:t>
                      </a:r>
                      <a:endParaRPr lang="es-ES_tradnl" sz="1400" noProof="1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housing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A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Categórico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 + RZ(2πk/V)</a:t>
                      </a:r>
                      <a:endParaRPr lang="es-ES_tradnl" sz="1400" noProof="1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status_account + month_duration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E08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Numérico (dense angle)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RY(θ) + RZ(φ)</a:t>
                      </a:r>
                      <a:endParaRPr lang="es-ES_tradnl" sz="1400" noProof="1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status_savings + years_employment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E08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Numérico (dense angle)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RY(θ) + RZ(φ)</a:t>
                      </a:r>
                      <a:endParaRPr lang="es-ES_tradnl" sz="1400" noProof="1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credit_amount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E08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Numérico (dense angle)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RY(θ) + RZ(0)</a:t>
                      </a:r>
                      <a:endParaRPr lang="es-ES_tradnl" sz="1400" noProof="1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275320" y="187452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E6F4F2"/>
          </a:solidFill>
          <a:ln w="12700">
            <a:solidFill>
              <a:srgbClr val="E6F4F2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9" name="Text 6"/>
          <p:cNvSpPr txBox="1"/>
          <p:nvPr/>
        </p:nvSpPr>
        <p:spPr>
          <a:xfrm>
            <a:off x="8503920" y="20116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700" b="1" noProof="1">
                <a:solidFill>
                  <a:srgbClr val="1A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Categóricos</a:t>
            </a:r>
            <a:endParaRPr lang="es-ES_tradnl" sz="17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7"/>
              <p:cNvSpPr txBox="1"/>
              <p:nvPr/>
            </p:nvSpPr>
            <p:spPr>
              <a:xfrm>
                <a:off x="8503920" y="2423160"/>
                <a:ext cx="3017520" cy="11887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= categoría, </a:t>
                </a: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= nº de categorías. Todos los estados quedan sobre el ecuador de la esfera de Bloch.</a:t>
                </a:r>
                <a:endParaRPr lang="es-ES_tradnl" sz="1400" noProof="1"/>
              </a:p>
            </p:txBody>
          </p:sp>
        </mc:Choice>
        <mc:Fallback xmlns="">
          <p:sp>
            <p:nvSpPr>
              <p:cNvPr id="10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3920" y="2423160"/>
                <a:ext cx="3017520" cy="1188720"/>
              </a:xfrm>
              <a:prstGeom prst="rect">
                <a:avLst/>
              </a:prstGeom>
              <a:blipFill>
                <a:blip r:embed="rId3"/>
                <a:stretch>
                  <a:fillRect l="-3766" t="-5319" r="-3766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hape 8"/>
          <p:cNvSpPr/>
          <p:nvPr/>
        </p:nvSpPr>
        <p:spPr>
          <a:xfrm>
            <a:off x="8275320" y="3840480"/>
            <a:ext cx="3383280" cy="1874520"/>
          </a:xfrm>
          <a:prstGeom prst="roundRect">
            <a:avLst>
              <a:gd name="adj" fmla="val 5854"/>
            </a:avLst>
          </a:prstGeom>
          <a:solidFill>
            <a:srgbClr val="FBF0E3"/>
          </a:solidFill>
          <a:ln w="12700">
            <a:solidFill>
              <a:srgbClr val="FBF0E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2" name="Text 9"/>
          <p:cNvSpPr txBox="1"/>
          <p:nvPr/>
        </p:nvSpPr>
        <p:spPr>
          <a:xfrm>
            <a:off x="8503920" y="3977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700" b="1" noProof="1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Numéricos</a:t>
            </a:r>
            <a:endParaRPr lang="es-ES_tradnl" sz="17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10"/>
              <p:cNvSpPr txBox="1"/>
              <p:nvPr/>
            </p:nvSpPr>
            <p:spPr>
              <a:xfrm>
                <a:off x="8503920" y="4389120"/>
                <a:ext cx="3017520" cy="12801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Dos atributos por qubit: uno fija </a:t>
                </a: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sub>
                    </m:sSub>
                  </m:oMath>
                </a14:m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) y otro </a:t>
                </a: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sub>
                    </m:sSub>
                  </m:oMath>
                </a14:m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). Ángulos normalizados a </a:t>
                </a: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[0,</m:t>
                    </m:r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.</a:t>
                </a:r>
                <a:endParaRPr lang="es-ES_tradnl" sz="1400" noProof="1"/>
              </a:p>
            </p:txBody>
          </p:sp>
        </mc:Choice>
        <mc:Fallback xmlns="">
          <p:sp>
            <p:nvSpPr>
              <p:cNvPr id="13" name="Text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3920" y="4389120"/>
                <a:ext cx="3017520" cy="1280160"/>
              </a:xfrm>
              <a:prstGeom prst="rect">
                <a:avLst/>
              </a:prstGeom>
              <a:blipFill>
                <a:blip r:embed="rId4"/>
                <a:stretch>
                  <a:fillRect l="-3766" t="-3922" r="-2092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26978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Ejemplo: codificación categórica</a:t>
            </a:r>
            <a:endParaRPr lang="es-ES_tradnl" sz="3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 6"/>
              <p:cNvSpPr txBox="1"/>
              <p:nvPr/>
            </p:nvSpPr>
            <p:spPr>
              <a:xfrm>
                <a:off x="548640" y="1262941"/>
                <a:ext cx="11524298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r>
                  <a:rPr lang="es-ES_tradnl" sz="22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Dato: Collateral = 3 (savings agreement/life insurance), con </a:t>
                </a:r>
                <a14:m>
                  <m:oMath xmlns:m="http://schemas.openxmlformats.org/officeDocument/2006/math">
                    <m:r>
                      <a:rPr lang="es-ES" sz="2200" b="1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𝑽</m:t>
                    </m:r>
                    <m:r>
                      <a:rPr lang="es-ES" sz="2200" b="1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s-ES" sz="2200" b="1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𝟒</m:t>
                    </m:r>
                  </m:oMath>
                </a14:m>
                <a:r>
                  <a:rPr lang="es-ES_tradnl" sz="22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categorías  empezamos con el ket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s-ES_tradnl" sz="2200" b="1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</m:ctrlPr>
                      </m:dPr>
                      <m:e>
                        <m:r>
                          <a:rPr lang="es-419" sz="2200" b="1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  <m:t>|</m:t>
                        </m:r>
                        <m:r>
                          <a:rPr lang="es-419" sz="2200" b="1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  <m:t>𝟎</m:t>
                        </m:r>
                      </m:e>
                    </m:d>
                  </m:oMath>
                </a14:m>
                <a:endParaRPr lang="es-ES_tradnl" sz="2200" noProof="1"/>
              </a:p>
            </p:txBody>
          </p:sp>
        </mc:Choice>
        <mc:Fallback>
          <p:sp>
            <p:nvSpPr>
              <p:cNvPr id="8" name="Text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1262941"/>
                <a:ext cx="11524298" cy="411480"/>
              </a:xfrm>
              <a:prstGeom prst="rect">
                <a:avLst/>
              </a:prstGeom>
              <a:blipFill>
                <a:blip r:embed="rId3"/>
                <a:stretch>
                  <a:fillRect l="-1542" t="-57576" b="-26969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 7"/>
              <p:cNvSpPr txBox="1"/>
              <p:nvPr/>
            </p:nvSpPr>
            <p:spPr>
              <a:xfrm>
                <a:off x="548640" y="3766203"/>
                <a:ext cx="6309360" cy="5029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2200" i="1" smtClean="0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es-ES" sz="2200" i="1" smtClean="0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f>
                        <m:f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419" sz="2200" b="0" i="1" smtClean="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a:rPr lang="es-419" sz="2200" b="0" i="1" smtClean="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den>
                      </m:f>
                      <m:r>
                        <a:rPr lang="es-419" sz="2200" b="0" i="1" smtClean="0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f>
                        <m:f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s-ES_tradnl" sz="2200" noProof="1"/>
              </a:p>
            </p:txBody>
          </p:sp>
        </mc:Choice>
        <mc:Fallback>
          <p:sp>
            <p:nvSpPr>
              <p:cNvPr id="9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3766203"/>
                <a:ext cx="6309360" cy="502920"/>
              </a:xfrm>
              <a:prstGeom prst="rect">
                <a:avLst/>
              </a:prstGeom>
              <a:blipFill>
                <a:blip r:embed="rId4"/>
                <a:stretch>
                  <a:fillRect l="-1610" t="-17500" b="-32500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 10"/>
          <p:cNvSpPr txBox="1"/>
          <p:nvPr/>
        </p:nvSpPr>
        <p:spPr>
          <a:xfrm>
            <a:off x="548640" y="2063041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2200" b="1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Hadamard</a:t>
            </a:r>
            <a:endParaRPr lang="es-ES_tradnl" sz="2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 11"/>
              <p:cNvSpPr txBox="1"/>
              <p:nvPr/>
            </p:nvSpPr>
            <p:spPr>
              <a:xfrm>
                <a:off x="548640" y="2440231"/>
                <a:ext cx="6309360" cy="914400"/>
              </a:xfrm>
              <a:prstGeom prst="rect">
                <a:avLst/>
              </a:prstGeom>
              <a:noFill/>
              <a:ln/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2200" i="1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begChr m:val="|"/>
                          <m:endChr m:val="⟩"/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s-ES" sz="2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s-ES" sz="2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sz="2200" dirty="0"/>
              </a:p>
            </p:txBody>
          </p:sp>
        </mc:Choice>
        <mc:Fallback>
          <p:sp>
            <p:nvSpPr>
              <p:cNvPr id="13" name="Text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2440231"/>
                <a:ext cx="6309360" cy="914400"/>
              </a:xfrm>
              <a:prstGeom prst="rect">
                <a:avLst/>
              </a:prstGeom>
              <a:blipFill>
                <a:blip r:embed="rId5"/>
                <a:stretch>
                  <a:fillRect l="-201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 14"/>
              <p:cNvSpPr txBox="1"/>
              <p:nvPr/>
            </p:nvSpPr>
            <p:spPr>
              <a:xfrm>
                <a:off x="548640" y="3251798"/>
                <a:ext cx="630936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s-ES_tradnl" sz="22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Rotación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22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2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s-ES" sz="22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sub>
                    </m:sSub>
                    <m:d>
                      <m:dPr>
                        <m:ctrlPr>
                          <a:rPr lang="es-ES" sz="22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22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𝝋</m:t>
                        </m:r>
                      </m:e>
                    </m:d>
                  </m:oMath>
                </a14:m>
                <a:endParaRPr lang="es-ES_tradnl" sz="2200" noProof="1"/>
              </a:p>
            </p:txBody>
          </p:sp>
        </mc:Choice>
        <mc:Fallback>
          <p:sp>
            <p:nvSpPr>
              <p:cNvPr id="16" name="Text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3251798"/>
                <a:ext cx="6309360" cy="411480"/>
              </a:xfrm>
              <a:prstGeom prst="rect">
                <a:avLst/>
              </a:prstGeom>
              <a:blipFill>
                <a:blip r:embed="rId6"/>
                <a:stretch>
                  <a:fillRect l="-2817" t="-17647" b="-23529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 15"/>
              <p:cNvSpPr txBox="1"/>
              <p:nvPr/>
            </p:nvSpPr>
            <p:spPr>
              <a:xfrm>
                <a:off x="548640" y="4547895"/>
                <a:ext cx="5547360" cy="2310105"/>
              </a:xfrm>
              <a:prstGeom prst="rect">
                <a:avLst/>
              </a:prstGeom>
              <a:noFill/>
              <a:ln/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d>
                        <m:d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ES" sz="22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s-ES" sz="2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es-ES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s-ES" sz="2200" i="1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begChr m:val="|"/>
                          <m:endChr m:val="⟩"/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s-ES" sz="2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f>
                        <m:f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419" sz="2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2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r>
                        <a:rPr lang="es-ES" sz="2200" i="1">
                          <a:latin typeface="Cambria Math" panose="02040503050406030204" pitchFamily="18" charset="0"/>
                        </a:rPr>
                        <m:t>≅</m:t>
                      </m:r>
                      <m:f>
                        <m:f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419" sz="2200" dirty="0"/>
              </a:p>
              <a:p>
                <a:endParaRPr lang="es-419" sz="2200" dirty="0"/>
              </a:p>
              <a:p>
                <a14:m>
                  <m:oMath xmlns:m="http://schemas.openxmlformats.org/officeDocument/2006/math">
                    <m:r>
                      <a:rPr lang="es-ES" sz="2200" i="1">
                        <a:latin typeface="Cambria Math" panose="02040503050406030204" pitchFamily="18" charset="0"/>
                      </a:rPr>
                      <m:t>≅</m:t>
                    </m:r>
                  </m:oMath>
                </a14:m>
                <a:r>
                  <a:rPr lang="es-419" sz="2200" dirty="0"/>
                  <a:t> ? Es gracias a la fase global !</a:t>
                </a:r>
              </a:p>
              <a:p>
                <a:endParaRPr sz="2200" dirty="0"/>
              </a:p>
            </p:txBody>
          </p:sp>
        </mc:Choice>
        <mc:Fallback>
          <p:sp>
            <p:nvSpPr>
              <p:cNvPr id="17" name="Text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4547895"/>
                <a:ext cx="5547360" cy="2310105"/>
              </a:xfrm>
              <a:prstGeom prst="rect">
                <a:avLst/>
              </a:prstGeom>
              <a:blipFill>
                <a:blip r:embed="rId7"/>
                <a:stretch>
                  <a:fillRect l="-228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35240" y="1925881"/>
            <a:ext cx="3931920" cy="393192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 20"/>
              <p:cNvSpPr txBox="1"/>
              <p:nvPr/>
            </p:nvSpPr>
            <p:spPr>
              <a:xfrm>
                <a:off x="7635240" y="5857801"/>
                <a:ext cx="393192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:r>
                  <a:rPr lang="es-ES_tradnl" sz="1400" noProof="1">
                    <a:solidFill>
                      <a:srgbClr val="5F6B7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Estado propio de </a:t>
                </a: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5F6B7A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s-ES" sz="1400" i="1">
                        <a:solidFill>
                          <a:srgbClr val="5F6B7A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s-ES_tradnl" sz="1400" noProof="1">
                    <a:solidFill>
                      <a:srgbClr val="5F6B7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sobre el ecuador, en el ángulo de su categoría.</a:t>
                </a:r>
                <a:endParaRPr lang="es-ES_tradnl" sz="1400" noProof="1"/>
              </a:p>
            </p:txBody>
          </p:sp>
        </mc:Choice>
        <mc:Fallback xmlns="">
          <p:sp>
            <p:nvSpPr>
              <p:cNvPr id="23" name="Text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5240" y="5857801"/>
                <a:ext cx="3931920" cy="640080"/>
              </a:xfrm>
              <a:prstGeom prst="rect">
                <a:avLst/>
              </a:prstGeom>
              <a:blipFill>
                <a:blip r:embed="rId9"/>
                <a:stretch>
                  <a:fillRect l="-643" t="-9804" r="-1286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99979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2200" y="368300"/>
            <a:ext cx="93218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Ejemplo: matriz de densidad paso a paso</a:t>
            </a:r>
            <a:endParaRPr lang="es-ES_tradnl" sz="3200" noProof="1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 txBox="1"/>
          <p:nvPr/>
        </p:nvSpPr>
        <p:spPr>
          <a:xfrm>
            <a:off x="548640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s-ES_tradnl" sz="13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6"/>
              <p:cNvSpPr txBox="1"/>
              <p:nvPr/>
            </p:nvSpPr>
            <p:spPr>
              <a:xfrm>
                <a:off x="1054100" y="1422400"/>
                <a:ext cx="10541000" cy="406400"/>
              </a:xfrm>
              <a:prstGeom prst="rect">
                <a:avLst/>
              </a:prstGeom>
              <a:noFill/>
              <a:ln/>
            </p:spPr>
            <p:txBody>
              <a:bodyPr/>
              <a:lstStyle/>
              <a:p>
                <a:r>
                  <a:rPr lang="es-ES_tradnl" sz="20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Estado tras Hadamard: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sub>
                    </m:sSub>
                    <m:r>
                      <a:rPr lang="es-ES" sz="2000" b="1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s-ES" sz="2000" b="1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begChr m:val="|"/>
                        <m:endChr m:val="⟩"/>
                        <m:ctrlPr>
                          <a:rPr lang="es-E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e>
                    </m:d>
                    <m:d>
                      <m:dPr>
                        <m:begChr m:val="⟨"/>
                        <m:endChr m:val="|"/>
                        <m:ctrlPr>
                          <a:rPr lang="es-E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e>
                    </m:d>
                    <m:sSup>
                      <m:sSupPr>
                        <m:ctrlPr>
                          <a:rPr lang="es-E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†</m:t>
                        </m:r>
                      </m:sup>
                    </m:sSup>
                  </m:oMath>
                </a14:m>
                <a:endParaRPr lang="en-CO" sz="2000" dirty="0">
                  <a:noFill/>
                </a:endParaRPr>
              </a:p>
            </p:txBody>
          </p:sp>
        </mc:Choice>
        <mc:Fallback xmlns="">
          <p:sp>
            <p:nvSpPr>
              <p:cNvPr id="8" name="Text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100" y="1422400"/>
                <a:ext cx="10541000" cy="406400"/>
              </a:xfrm>
              <a:prstGeom prst="rect">
                <a:avLst/>
              </a:prstGeom>
              <a:blipFill>
                <a:blip r:embed="rId3"/>
                <a:stretch>
                  <a:fillRect l="-723" t="-3030" b="-2727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 txBox="1"/>
              <p:nvPr/>
            </p:nvSpPr>
            <p:spPr>
              <a:xfrm>
                <a:off x="1054100" y="1854200"/>
                <a:ext cx="10541000" cy="876300"/>
              </a:xfrm>
              <a:prstGeom prst="rect">
                <a:avLst/>
              </a:prstGeom>
              <a:noFill/>
              <a:ln/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25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5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25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s-ES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s-ES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s-ES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  <m:r>
                        <a:rPr lang="es-ES" sz="25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5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25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s-ES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sz="2500" dirty="0"/>
              </a:p>
            </p:txBody>
          </p:sp>
        </mc:Choice>
        <mc:Fallback xmlns="">
          <p:sp>
            <p:nvSpPr>
              <p:cNvPr id="9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100" y="1854200"/>
                <a:ext cx="10541000" cy="8763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hape 8"/>
          <p:cNvSpPr/>
          <p:nvPr/>
        </p:nvSpPr>
        <p:spPr>
          <a:xfrm>
            <a:off x="548640" y="2908300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11" name="Text 9"/>
          <p:cNvSpPr txBox="1"/>
          <p:nvPr/>
        </p:nvSpPr>
        <p:spPr>
          <a:xfrm>
            <a:off x="548640" y="29083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s-ES_tradnl" sz="13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10"/>
              <p:cNvSpPr txBox="1"/>
              <p:nvPr/>
            </p:nvSpPr>
            <p:spPr>
              <a:xfrm>
                <a:off x="1054100" y="2844800"/>
                <a:ext cx="10541000" cy="4318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s-ES_tradnl" sz="20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Rotación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sub>
                    </m:sSub>
                    <m:d>
                      <m:dPr>
                        <m:ctrlP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2000" b="1" i="1">
                                <a:solidFill>
                                  <a:srgbClr val="1F24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2000" b="1" i="1">
                                <a:solidFill>
                                  <a:srgbClr val="1F2433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  <m:r>
                              <a:rPr lang="es-ES" sz="2000" b="1" i="1">
                                <a:solidFill>
                                  <a:srgbClr val="1F2433"/>
                                </a:solidFill>
                                <a:latin typeface="Cambria Math" panose="02040503050406030204" pitchFamily="18" charset="0"/>
                              </a:rPr>
                              <m:t>𝝅</m:t>
                            </m:r>
                          </m:num>
                          <m:den>
                            <m:r>
                              <a:rPr lang="es-ES" sz="2000" b="1" i="1">
                                <a:solidFill>
                                  <a:srgbClr val="1F2433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den>
                        </m:f>
                      </m:e>
                    </m:d>
                  </m:oMath>
                </a14:m>
                <a:r>
                  <a:rPr lang="es-ES_tradnl" sz="20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𝝆</m:t>
                        </m:r>
                      </m:e>
                      <m:sub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s-ES" sz="2000" b="1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sub>
                    </m:sSub>
                    <m:sSub>
                      <m:sSubPr>
                        <m:ctrlP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𝝆</m:t>
                        </m:r>
                      </m:e>
                      <m:sub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𝑯</m:t>
                        </m:r>
                      </m:sub>
                    </m:sSub>
                    <m:sSup>
                      <m:sSupPr>
                        <m:ctrlP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s-ES" sz="2000" b="1" i="1" smtClean="0">
                                <a:solidFill>
                                  <a:srgbClr val="1F24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2000" b="1" i="1">
                                <a:solidFill>
                                  <a:srgbClr val="1F2433"/>
                                </a:solidFill>
                                <a:latin typeface="Cambria Math" panose="02040503050406030204" pitchFamily="18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s-ES" sz="2000" b="1" i="1">
                                <a:solidFill>
                                  <a:srgbClr val="1F2433"/>
                                </a:solidFill>
                                <a:latin typeface="Cambria Math" panose="02040503050406030204" pitchFamily="18" charset="0"/>
                              </a:rPr>
                              <m:t>𝒁</m:t>
                            </m:r>
                          </m:sub>
                        </m:sSub>
                      </m:e>
                      <m:sup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†</m:t>
                        </m:r>
                      </m:sup>
                    </m:sSup>
                  </m:oMath>
                </a14:m>
                <a:endParaRPr lang="es-ES_tradnl" sz="2000" noProof="1"/>
              </a:p>
            </p:txBody>
          </p:sp>
        </mc:Choice>
        <mc:Fallback xmlns="">
          <p:sp>
            <p:nvSpPr>
              <p:cNvPr id="12" name="Text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100" y="2844800"/>
                <a:ext cx="10541000" cy="431800"/>
              </a:xfrm>
              <a:prstGeom prst="rect">
                <a:avLst/>
              </a:prstGeom>
              <a:blipFill>
                <a:blip r:embed="rId5"/>
                <a:stretch>
                  <a:fillRect l="-1566" t="-2857" b="-2285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11"/>
              <p:cNvSpPr txBox="1"/>
              <p:nvPr/>
            </p:nvSpPr>
            <p:spPr>
              <a:xfrm>
                <a:off x="932688" y="3492500"/>
                <a:ext cx="9359900" cy="3365500"/>
              </a:xfrm>
              <a:prstGeom prst="rect">
                <a:avLst/>
              </a:prstGeom>
              <a:noFill/>
              <a:ln/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ar-AE" sz="25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f>
                        <m:fPr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25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25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419" sz="25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419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419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419" sz="25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419" sz="2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419" sz="25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ar-AE" sz="25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25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25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/2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/2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sz="2500" i="1" dirty="0">
                  <a:latin typeface="Cambria Math" panose="02040503050406030204" pitchFamily="18" charset="0"/>
                </a:endParaRPr>
              </a:p>
              <a:p>
                <a:pPr>
                  <a:spcBef>
                    <a:spcPts val="1200"/>
                  </a:spcBef>
                </a:pPr>
                <a14:m>
                  <m:oMath xmlns:m="http://schemas.openxmlformats.org/officeDocument/2006/math">
                    <m:r>
                      <a:rPr lang="ar-AE" sz="25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sz="2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sz="25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sz="25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ar-AE" sz="2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sz="25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ar-AE" sz="25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ar-AE" sz="25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mr>
                          <m:mr>
                            <m:e>
                              <m:r>
                                <a:rPr lang="ar-AE" sz="25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sz="25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e>
                              <m:r>
                                <a:rPr lang="ar-AE" sz="25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s-419" sz="2500" dirty="0"/>
                  <a:t> dado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s-419" sz="25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s-419" sz="2500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s-419" sz="25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s-419" sz="25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s-419" sz="25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num>
                              <m:den>
                                <m:r>
                                  <a:rPr lang="es-419" sz="25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es-419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s-419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𝑖𝑠𝑖𝑛</m:t>
                    </m:r>
                    <m:d>
                      <m:dPr>
                        <m:ctrlPr>
                          <a:rPr lang="es-419" sz="25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419" sz="25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419" sz="25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num>
                          <m:den>
                            <m:r>
                              <a:rPr lang="es-419" sz="25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s-419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s-419" sz="25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419" sz="25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s-419" sz="25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s-419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sup>
                    </m:sSup>
                  </m:oMath>
                </a14:m>
                <a:endParaRPr sz="2500" dirty="0"/>
              </a:p>
            </p:txBody>
          </p:sp>
        </mc:Choice>
        <mc:Fallback xmlns="">
          <p:sp>
            <p:nvSpPr>
              <p:cNvPr id="13" name="Text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688" y="3492500"/>
                <a:ext cx="9359900" cy="33655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Image 0" descr="preencoded.png">
            <a:extLst>
              <a:ext uri="{FF2B5EF4-FFF2-40B4-BE49-F238E27FC236}">
                <a16:creationId xmlns:a16="http://schemas.microsoft.com/office/drawing/2014/main" id="{2BBFFACC-C21B-59BD-29EC-00514B79CC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5240" y="1925881"/>
            <a:ext cx="3931920" cy="393192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20">
                <a:extLst>
                  <a:ext uri="{FF2B5EF4-FFF2-40B4-BE49-F238E27FC236}">
                    <a16:creationId xmlns:a16="http://schemas.microsoft.com/office/drawing/2014/main" id="{B144111D-508D-3DB5-48D4-DCD595A86B9C}"/>
                  </a:ext>
                </a:extLst>
              </p:cNvPr>
              <p:cNvSpPr txBox="1"/>
              <p:nvPr/>
            </p:nvSpPr>
            <p:spPr>
              <a:xfrm>
                <a:off x="7635240" y="5857801"/>
                <a:ext cx="393192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:r>
                  <a:rPr lang="es-ES_tradnl" sz="1400" noProof="1">
                    <a:solidFill>
                      <a:srgbClr val="5F6B7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Estado propio de </a:t>
                </a: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5F6B7A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s-ES" sz="1400" i="1">
                        <a:solidFill>
                          <a:srgbClr val="5F6B7A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s-ES_tradnl" sz="1400" noProof="1">
                    <a:solidFill>
                      <a:srgbClr val="5F6B7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sobre el ecuador, en el ángulo de su categoría.</a:t>
                </a:r>
                <a:endParaRPr lang="es-ES_tradnl" sz="1400" noProof="1"/>
              </a:p>
            </p:txBody>
          </p:sp>
        </mc:Choice>
        <mc:Fallback xmlns="">
          <p:sp>
            <p:nvSpPr>
              <p:cNvPr id="15" name="Text 20">
                <a:extLst>
                  <a:ext uri="{FF2B5EF4-FFF2-40B4-BE49-F238E27FC236}">
                    <a16:creationId xmlns:a16="http://schemas.microsoft.com/office/drawing/2014/main" id="{B144111D-508D-3DB5-48D4-DCD595A86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5240" y="5857801"/>
                <a:ext cx="3931920" cy="640080"/>
              </a:xfrm>
              <a:prstGeom prst="rect">
                <a:avLst/>
              </a:prstGeom>
              <a:blipFill>
                <a:blip r:embed="rId8"/>
                <a:stretch>
                  <a:fillRect l="-643" t="-9804" r="-1286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24336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Ejemplo: codificación numérica (dense angle)</a:t>
            </a:r>
            <a:endParaRPr lang="es-ES_tradnl" sz="3200" noProof="1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 txBox="1"/>
          <p:nvPr/>
        </p:nvSpPr>
        <p:spPr>
          <a:xfrm>
            <a:off x="548640" y="1417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s-ES_tradnl" sz="1300" noProof="1"/>
          </a:p>
        </p:txBody>
      </p:sp>
      <p:sp>
        <p:nvSpPr>
          <p:cNvPr id="8" name="Text 6"/>
          <p:cNvSpPr txBox="1"/>
          <p:nvPr/>
        </p:nvSpPr>
        <p:spPr>
          <a:xfrm>
            <a:off x="1051560" y="137160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600" b="1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Normalización a [0, π]</a:t>
            </a:r>
            <a:endParaRPr lang="es-ES_tradnl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 txBox="1"/>
              <p:nvPr/>
            </p:nvSpPr>
            <p:spPr>
              <a:xfrm>
                <a:off x="1051560" y="1783080"/>
                <a:ext cx="630936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f>
                        <m:f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s-ES_tradnl" sz="1800" noProof="1"/>
              </a:p>
            </p:txBody>
          </p:sp>
        </mc:Choice>
        <mc:Fallback xmlns="">
          <p:sp>
            <p:nvSpPr>
              <p:cNvPr id="9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560" y="1783080"/>
                <a:ext cx="6309360" cy="457200"/>
              </a:xfrm>
              <a:prstGeom prst="rect">
                <a:avLst/>
              </a:prstGeom>
              <a:blipFill>
                <a:blip r:embed="rId3"/>
                <a:stretch>
                  <a:fillRect l="-1408" t="-8108" b="-18919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hape 8"/>
          <p:cNvSpPr/>
          <p:nvPr/>
        </p:nvSpPr>
        <p:spPr>
          <a:xfrm>
            <a:off x="548640" y="2441448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11" name="Text 9"/>
          <p:cNvSpPr txBox="1"/>
          <p:nvPr/>
        </p:nvSpPr>
        <p:spPr>
          <a:xfrm>
            <a:off x="548640" y="2441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s-ES_tradnl" sz="13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10"/>
              <p:cNvSpPr txBox="1"/>
              <p:nvPr/>
            </p:nvSpPr>
            <p:spPr>
              <a:xfrm>
                <a:off x="1051560" y="2395728"/>
                <a:ext cx="630936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s-ES_tradnl" sz="16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Rotación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𝒀</m:t>
                        </m:r>
                      </m:sub>
                    </m:sSub>
                    <m:d>
                      <m:dPr>
                        <m:ctrlP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r>
                  <a:rPr lang="es-ES_tradnl" sz="16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— primer atributo</a:t>
                </a:r>
                <a:endParaRPr lang="es-ES_tradnl" sz="1600" noProof="1"/>
              </a:p>
            </p:txBody>
          </p:sp>
        </mc:Choice>
        <mc:Fallback xmlns="">
          <p:sp>
            <p:nvSpPr>
              <p:cNvPr id="12" name="Text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560" y="2395728"/>
                <a:ext cx="6309360" cy="411480"/>
              </a:xfrm>
              <a:prstGeom prst="rect">
                <a:avLst/>
              </a:prstGeom>
              <a:blipFill>
                <a:blip r:embed="rId4"/>
                <a:stretch>
                  <a:fillRect l="-2213" t="-14706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11"/>
              <p:cNvSpPr txBox="1"/>
              <p:nvPr/>
            </p:nvSpPr>
            <p:spPr>
              <a:xfrm>
                <a:off x="1051560" y="2807208"/>
                <a:ext cx="630936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d>
                        <m:dPr>
                          <m:begChr m:val="|"/>
                          <m:endChr m:val="⟩"/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s-ES" sz="18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num>
                                <m:den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d>
                        <m:dPr>
                          <m:begChr m:val="|"/>
                          <m:endChr m:val="⟩"/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s-ES" sz="18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num>
                                <m:den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d>
                        <m:dPr>
                          <m:begChr m:val="|"/>
                          <m:endChr m:val="⟩"/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s-ES_tradnl" sz="1800" noProof="1"/>
              </a:p>
            </p:txBody>
          </p:sp>
        </mc:Choice>
        <mc:Fallback xmlns="">
          <p:sp>
            <p:nvSpPr>
              <p:cNvPr id="13" name="Text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560" y="2807208"/>
                <a:ext cx="6309360" cy="457200"/>
              </a:xfrm>
              <a:prstGeom prst="rect">
                <a:avLst/>
              </a:prstGeom>
              <a:blipFill>
                <a:blip r:embed="rId5"/>
                <a:stretch>
                  <a:fillRect l="-1408" t="-10811" b="-21622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Shape 12"/>
          <p:cNvSpPr/>
          <p:nvPr/>
        </p:nvSpPr>
        <p:spPr>
          <a:xfrm>
            <a:off x="548640" y="3465576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15" name="Text 13"/>
          <p:cNvSpPr txBox="1"/>
          <p:nvPr/>
        </p:nvSpPr>
        <p:spPr>
          <a:xfrm>
            <a:off x="548640" y="34655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s-ES_tradnl" sz="13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14"/>
              <p:cNvSpPr txBox="1"/>
              <p:nvPr/>
            </p:nvSpPr>
            <p:spPr>
              <a:xfrm>
                <a:off x="1051560" y="3419856"/>
                <a:ext cx="630936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s-ES_tradnl" sz="16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Rotación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sub>
                    </m:sSub>
                    <m:d>
                      <m:dPr>
                        <m:ctrlP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𝝋</m:t>
                        </m:r>
                      </m:e>
                    </m:d>
                  </m:oMath>
                </a14:m>
                <a:r>
                  <a:rPr lang="es-ES_tradnl" sz="16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— segundo atributo</a:t>
                </a:r>
                <a:endParaRPr lang="es-ES_tradnl" sz="1600" noProof="1"/>
              </a:p>
            </p:txBody>
          </p:sp>
        </mc:Choice>
        <mc:Fallback xmlns="">
          <p:sp>
            <p:nvSpPr>
              <p:cNvPr id="16" name="Text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560" y="3419856"/>
                <a:ext cx="6309360" cy="411480"/>
              </a:xfrm>
              <a:prstGeom prst="rect">
                <a:avLst/>
              </a:prstGeom>
              <a:blipFill>
                <a:blip r:embed="rId6"/>
                <a:stretch>
                  <a:fillRect l="-2213" t="-15152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 15"/>
              <p:cNvSpPr txBox="1"/>
              <p:nvPr/>
            </p:nvSpPr>
            <p:spPr>
              <a:xfrm>
                <a:off x="1051560" y="3831336"/>
                <a:ext cx="630936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≅</m:t>
                      </m:r>
                      <m:func>
                        <m:func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s-ES" sz="18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num>
                                <m:den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d>
                        <m:dPr>
                          <m:begChr m:val="|"/>
                          <m:endChr m:val="⟩"/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sup>
                      </m:sSup>
                      <m:func>
                        <m:func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s-ES" sz="18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num>
                                <m:den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d>
                        <m:dPr>
                          <m:begChr m:val="|"/>
                          <m:endChr m:val="⟩"/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s-ES_tradnl" sz="1800" noProof="1"/>
              </a:p>
            </p:txBody>
          </p:sp>
        </mc:Choice>
        <mc:Fallback xmlns="">
          <p:sp>
            <p:nvSpPr>
              <p:cNvPr id="17" name="Text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560" y="3831336"/>
                <a:ext cx="6309360" cy="457200"/>
              </a:xfrm>
              <a:prstGeom prst="rect">
                <a:avLst/>
              </a:prstGeom>
              <a:blipFill>
                <a:blip r:embed="rId7"/>
                <a:stretch>
                  <a:fillRect l="-1207" t="-8108" b="-24324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Shape 16"/>
          <p:cNvSpPr/>
          <p:nvPr/>
        </p:nvSpPr>
        <p:spPr>
          <a:xfrm>
            <a:off x="548640" y="4489704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19" name="Text 17"/>
          <p:cNvSpPr txBox="1"/>
          <p:nvPr/>
        </p:nvSpPr>
        <p:spPr>
          <a:xfrm>
            <a:off x="548640" y="4489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s-ES_tradnl" sz="1300" noProof="1"/>
          </a:p>
        </p:txBody>
      </p:sp>
      <p:sp>
        <p:nvSpPr>
          <p:cNvPr id="20" name="Text 18"/>
          <p:cNvSpPr txBox="1"/>
          <p:nvPr/>
        </p:nvSpPr>
        <p:spPr>
          <a:xfrm>
            <a:off x="1051560" y="4443984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600" b="1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de Bloch</a:t>
            </a:r>
            <a:endParaRPr lang="es-ES_tradnl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 19"/>
              <p:cNvSpPr txBox="1"/>
              <p:nvPr/>
            </p:nvSpPr>
            <p:spPr>
              <a:xfrm>
                <a:off x="1051560" y="4855464"/>
                <a:ext cx="630936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  <m:func>
                            <m:func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</m:func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8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  </m:t>
                          </m:r>
                          <m:func>
                            <m:func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  <m:func>
                            <m:func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</m:func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8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  </m:t>
                          </m:r>
                          <m:func>
                            <m:func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es-ES_tradnl" sz="1800" noProof="1"/>
              </a:p>
            </p:txBody>
          </p:sp>
        </mc:Choice>
        <mc:Fallback xmlns="">
          <p:sp>
            <p:nvSpPr>
              <p:cNvPr id="21" name="Text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560" y="4855464"/>
                <a:ext cx="6309360" cy="4572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Shape 20"/>
          <p:cNvSpPr/>
          <p:nvPr/>
        </p:nvSpPr>
        <p:spPr>
          <a:xfrm>
            <a:off x="548640" y="5359400"/>
            <a:ext cx="6766560" cy="9906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E08A2E"/>
            </a:solidFill>
          </a:ln>
        </p:spPr>
        <p:txBody>
          <a:bodyPr/>
          <a:lstStyle/>
          <a:p>
            <a:endParaRPr lang="es-ES_tradnl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 21"/>
              <p:cNvSpPr txBox="1"/>
              <p:nvPr/>
            </p:nvSpPr>
            <p:spPr>
              <a:xfrm>
                <a:off x="822960" y="5461000"/>
                <a:ext cx="6217920" cy="7874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s-ES_tradnl" sz="1500" b="1" noProof="1">
                    <a:solidFill>
                      <a:srgbClr val="E08A2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Ejemplo: </a:t>
                </a:r>
                <a14:m>
                  <m:oMath xmlns:m="http://schemas.openxmlformats.org/officeDocument/2006/math">
                    <m:r>
                      <a:rPr lang="es-ES" sz="1500" i="1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s-ES" sz="1500" i="1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s-ES" sz="1500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es-ES" sz="1500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s-ES" sz="1500" i="1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,   </m:t>
                    </m:r>
                    <m:r>
                      <a:rPr lang="es-ES" sz="1500" i="1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𝜑</m:t>
                    </m:r>
                    <m:r>
                      <a:rPr lang="es-ES" sz="1500" i="1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1500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m:rPr>
                            <m:sty m:val="p"/>
                          </m:rPr>
                          <a:rPr lang="es-ES" sz="1500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es-ES" sz="1500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</m:oMath>
                </a14:m>
                <a:r>
                  <a:rPr lang="es-ES_tradnl" sz="1500" noProof="1">
                    <a:solidFill>
                      <a:srgbClr val="E08A2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  ⇒  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</m:d>
                    <m:r>
                      <a:rPr lang="es-ES" sz="1500" i="1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ad>
                          <m:radPr>
                            <m:ctrlPr>
                              <a:rPr lang="es-ES" sz="1500" i="1">
                                <a:solidFill>
                                  <a:srgbClr val="E08A2E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s-ES" sz="1500">
                                <a:solidFill>
                                  <a:srgbClr val="E08A2E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num>
                      <m:den>
                        <m:r>
                          <a:rPr lang="es-ES" sz="1500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begChr m:val="|"/>
                        <m:endChr m:val="⟩"/>
                        <m:ctrlP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500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s-ES" sz="1500" i="1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type m:val="lin"/>
                        <m:ctrlP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1500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s-ES" sz="1500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·5</m:t>
                        </m:r>
                        <m: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/17</m:t>
                        </m:r>
                      </m:sup>
                    </m:sSup>
                    <m:d>
                      <m:dPr>
                        <m:begChr m:val="|"/>
                        <m:endChr m:val="⟩"/>
                        <m:ctrlP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500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es-ES_tradnl" sz="1500" noProof="1">
                  <a:solidFill>
                    <a:srgbClr val="E08A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  <a:p>
                <a:pPr marL="0" indent="0" algn="ctr">
                  <a:buNone/>
                </a:pPr>
                <a:r>
                  <a:rPr lang="es-ES_tradnl" sz="1500" noProof="1">
                    <a:solidFill>
                      <a:srgbClr val="E08A2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Vector de Bloch: </a:t>
                </a:r>
                <a14:m>
                  <m:oMath xmlns:m="http://schemas.openxmlformats.org/officeDocument/2006/math"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φ</m:t>
                    </m:r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φ</m:t>
                    </m:r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)≈(0.52, 0.69, 0.50)</m:t>
                    </m:r>
                  </m:oMath>
                </a14:m>
                <a:endParaRPr lang="es-ES_tradnl" sz="1500" noProof="1">
                  <a:solidFill>
                    <a:srgbClr val="E08A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</p:txBody>
          </p:sp>
        </mc:Choice>
        <mc:Fallback xmlns="">
          <p:sp>
            <p:nvSpPr>
              <p:cNvPr id="23" name="Text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5461000"/>
                <a:ext cx="6217920" cy="787400"/>
              </a:xfrm>
              <a:prstGeom prst="rect">
                <a:avLst/>
              </a:prstGeom>
              <a:blipFill>
                <a:blip r:embed="rId9"/>
                <a:stretch>
                  <a:fillRect t="-28571" b="-30159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35240" y="1371600"/>
            <a:ext cx="3931920" cy="393192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 22"/>
              <p:cNvSpPr txBox="1"/>
              <p:nvPr/>
            </p:nvSpPr>
            <p:spPr>
              <a:xfrm>
                <a:off x="7635240" y="5486400"/>
                <a:ext cx="3931920" cy="7315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s-ES" sz="1400" i="1">
                            <a:solidFill>
                              <a:srgbClr val="5F6B7A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400" i="1">
                            <a:solidFill>
                              <a:srgbClr val="5F6B7A"/>
                            </a:solidFill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es-ES" sz="1400" i="1">
                            <a:solidFill>
                              <a:srgbClr val="5F6B7A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</m:d>
                  </m:oMath>
                </a14:m>
                <a:r>
                  <a:rPr lang="es-ES_tradnl" sz="1400" noProof="1">
                    <a:solidFill>
                      <a:srgbClr val="5F6B7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evita que </a:t>
                </a: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5F6B7A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s-ES" sz="1400" i="1">
                        <a:solidFill>
                          <a:srgbClr val="5F6B7A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s-ES" sz="1400" i="1">
                        <a:solidFill>
                          <a:srgbClr val="5F6B7A"/>
                        </a:solidFill>
                        <a:latin typeface="Cambria Math" panose="02040503050406030204" pitchFamily="18" charset="0"/>
                      </a:rPr>
                      <m:t>≡0</m:t>
                    </m:r>
                  </m:oMath>
                </a14:m>
                <a:r>
                  <a:rPr lang="es-ES_tradnl" sz="1400" noProof="1">
                    <a:solidFill>
                      <a:srgbClr val="5F6B7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junte el mínimo con el máximo y conserva el orden.</a:t>
                </a:r>
                <a:endParaRPr lang="es-ES_tradnl" sz="1400" noProof="1"/>
              </a:p>
            </p:txBody>
          </p:sp>
        </mc:Choice>
        <mc:Fallback xmlns="">
          <p:sp>
            <p:nvSpPr>
              <p:cNvPr id="25" name="Text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5240" y="5486400"/>
                <a:ext cx="3931920" cy="731520"/>
              </a:xfrm>
              <a:prstGeom prst="rect">
                <a:avLst/>
              </a:prstGeom>
              <a:blipFill>
                <a:blip r:embed="rId11"/>
                <a:stretch>
                  <a:fillRect t="-8621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854432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8CAFAC-4D05-80F8-C955-5A79208D9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8D0683BF-3036-009B-8A3E-97D909E8015B}"/>
              </a:ext>
            </a:extLst>
          </p:cNvPr>
          <p:cNvSpPr txBox="1"/>
          <p:nvPr/>
        </p:nvSpPr>
        <p:spPr>
          <a:xfrm>
            <a:off x="548640" y="356616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completo</a:t>
            </a:r>
            <a:endParaRPr lang="es-ES_tradnl" sz="3200" noProof="1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CDFC49D-2FD9-E250-ACF2-362A916F3473}"/>
              </a:ext>
            </a:extLst>
          </p:cNvPr>
          <p:cNvSpPr/>
          <p:nvPr/>
        </p:nvSpPr>
        <p:spPr>
          <a:xfrm>
            <a:off x="548640" y="1325880"/>
            <a:ext cx="11064240" cy="4892040"/>
          </a:xfrm>
          <a:prstGeom prst="roundRect">
            <a:avLst>
              <a:gd name="adj" fmla="val 224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2C381EC-026D-86EB-54D2-E62D7F414AA5}"/>
              </a:ext>
            </a:extLst>
          </p:cNvPr>
          <p:cNvSpPr txBox="1"/>
          <p:nvPr/>
        </p:nvSpPr>
        <p:spPr>
          <a:xfrm>
            <a:off x="77724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500" b="1" noProof="1">
                <a:solidFill>
                  <a:srgbClr val="161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columna k = 0, …, 6</a:t>
            </a:r>
            <a:endParaRPr lang="es-ES_tradnl" sz="1500" noProof="1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C2CD78F-2909-ADBA-6B4C-AE09C0486A90}"/>
              </a:ext>
            </a:extLst>
          </p:cNvPr>
          <p:cNvSpPr/>
          <p:nvPr/>
        </p:nvSpPr>
        <p:spPr>
          <a:xfrm>
            <a:off x="965200" y="1854200"/>
            <a:ext cx="2857500" cy="863600"/>
          </a:xfrm>
          <a:prstGeom prst="roundRect">
            <a:avLst>
              <a:gd name="adj" fmla="val 8421"/>
            </a:avLst>
          </a:prstGeom>
          <a:solidFill>
            <a:srgbClr val="E6F5F3"/>
          </a:solidFill>
          <a:ln w="15875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99E019C-41B1-1DFF-D9AA-15B54A35A60C}"/>
              </a:ext>
            </a:extLst>
          </p:cNvPr>
          <p:cNvSpPr txBox="1"/>
          <p:nvPr/>
        </p:nvSpPr>
        <p:spPr>
          <a:xfrm>
            <a:off x="1016000" y="1955800"/>
            <a:ext cx="275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A9E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Codificar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 8">
                <a:extLst>
                  <a:ext uri="{FF2B5EF4-FFF2-40B4-BE49-F238E27FC236}">
                    <a16:creationId xmlns:a16="http://schemas.microsoft.com/office/drawing/2014/main" id="{E6D7BEF5-9D32-0DB8-8401-4A2652AC42FF}"/>
                  </a:ext>
                </a:extLst>
              </p:cNvPr>
              <p:cNvSpPr txBox="1"/>
              <p:nvPr/>
            </p:nvSpPr>
            <p:spPr>
              <a:xfrm>
                <a:off x="1016000" y="2286000"/>
                <a:ext cx="2755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ES_tradnl" sz="130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s-ES_tradnl" sz="130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itchFamily="34" charset="-120"/>
                          </a:rPr>
                          <m:t>𝜌</m:t>
                        </m:r>
                      </m:e>
                      <m:sub>
                        <m:r>
                          <a:rPr lang="es-419" sz="1300" b="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s-ES_tradnl" sz="13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1000 estados</a:t>
                </a:r>
                <a:endParaRPr lang="es-ES_tradnl" sz="1300" noProof="1"/>
              </a:p>
            </p:txBody>
          </p:sp>
        </mc:Choice>
        <mc:Fallback>
          <p:sp>
            <p:nvSpPr>
              <p:cNvPr id="10" name="Text 8">
                <a:extLst>
                  <a:ext uri="{FF2B5EF4-FFF2-40B4-BE49-F238E27FC236}">
                    <a16:creationId xmlns:a16="http://schemas.microsoft.com/office/drawing/2014/main" id="{E6D7BEF5-9D32-0DB8-8401-4A2652AC4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2286000"/>
                <a:ext cx="2755900" cy="355600"/>
              </a:xfrm>
              <a:prstGeom prst="rect">
                <a:avLst/>
              </a:prstGeom>
              <a:blipFill>
                <a:blip r:embed="rId3"/>
                <a:stretch>
                  <a:fillRect t="-1785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hape 9">
            <a:extLst>
              <a:ext uri="{FF2B5EF4-FFF2-40B4-BE49-F238E27FC236}">
                <a16:creationId xmlns:a16="http://schemas.microsoft.com/office/drawing/2014/main" id="{4FEFC9A6-9F45-C7FA-97F6-5AB777029D86}"/>
              </a:ext>
            </a:extLst>
          </p:cNvPr>
          <p:cNvSpPr/>
          <p:nvPr/>
        </p:nvSpPr>
        <p:spPr>
          <a:xfrm>
            <a:off x="3898900" y="2286000"/>
            <a:ext cx="6731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910C6101-FF8E-26C9-5E71-E9A5563DEB0A}"/>
              </a:ext>
            </a:extLst>
          </p:cNvPr>
          <p:cNvSpPr/>
          <p:nvPr/>
        </p:nvSpPr>
        <p:spPr>
          <a:xfrm>
            <a:off x="4648200" y="1854200"/>
            <a:ext cx="2857500" cy="863600"/>
          </a:xfrm>
          <a:prstGeom prst="roundRect">
            <a:avLst>
              <a:gd name="adj" fmla="val 8421"/>
            </a:avLst>
          </a:prstGeom>
          <a:solidFill>
            <a:srgbClr val="F1ECF8"/>
          </a:solidFill>
          <a:ln w="15875">
            <a:solidFill>
              <a:srgbClr val="7A4FB0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39627308-E249-BF10-DEE5-10058AC324CE}"/>
              </a:ext>
            </a:extLst>
          </p:cNvPr>
          <p:cNvSpPr txBox="1"/>
          <p:nvPr/>
        </p:nvSpPr>
        <p:spPr>
          <a:xfrm>
            <a:off x="4699000" y="1955800"/>
            <a:ext cx="275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7A4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Agregar</a:t>
            </a:r>
            <a:endParaRPr lang="es-ES_tradnl" sz="1200" noProof="1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3D0237B8-FC0E-2F33-B332-3DA29AC799C1}"/>
              </a:ext>
            </a:extLst>
          </p:cNvPr>
          <p:cNvSpPr/>
          <p:nvPr/>
        </p:nvSpPr>
        <p:spPr>
          <a:xfrm>
            <a:off x="7581900" y="2286000"/>
            <a:ext cx="6731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494C6158-5EE2-B039-9B12-2A72D2BA889A}"/>
              </a:ext>
            </a:extLst>
          </p:cNvPr>
          <p:cNvSpPr/>
          <p:nvPr/>
        </p:nvSpPr>
        <p:spPr>
          <a:xfrm>
            <a:off x="8331200" y="1854200"/>
            <a:ext cx="2857500" cy="86360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5875">
            <a:solidFill>
              <a:srgbClr val="2E6DB4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35F96F3F-593D-9B01-19A9-8CC1D99747E2}"/>
              </a:ext>
            </a:extLst>
          </p:cNvPr>
          <p:cNvSpPr txBox="1"/>
          <p:nvPr/>
        </p:nvSpPr>
        <p:spPr>
          <a:xfrm>
            <a:off x="8382000" y="1955800"/>
            <a:ext cx="275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2E6D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GAD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 16">
                <a:extLst>
                  <a:ext uri="{FF2B5EF4-FFF2-40B4-BE49-F238E27FC236}">
                    <a16:creationId xmlns:a16="http://schemas.microsoft.com/office/drawing/2014/main" id="{7157DF52-6B5C-F482-5B1B-8C56415D163E}"/>
                  </a:ext>
                </a:extLst>
              </p:cNvPr>
              <p:cNvSpPr txBox="1"/>
              <p:nvPr/>
            </p:nvSpPr>
            <p:spPr>
              <a:xfrm>
                <a:off x="8382000" y="2286000"/>
                <a:ext cx="2755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3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s-ES" sz="13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′=</m:t>
                      </m:r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ℰ</m:t>
                          </m:r>
                        </m:e>
                        <m:sub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𝐺𝐴𝐷</m:t>
                          </m:r>
                        </m:sub>
                      </m:sSub>
                      <m:d>
                        <m:d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</m:oMath>
                  </m:oMathPara>
                </a14:m>
                <a:endParaRPr lang="es-ES_tradnl" sz="1300" noProof="1"/>
              </a:p>
            </p:txBody>
          </p:sp>
        </mc:Choice>
        <mc:Fallback>
          <p:sp>
            <p:nvSpPr>
              <p:cNvPr id="18" name="Text 16">
                <a:extLst>
                  <a:ext uri="{FF2B5EF4-FFF2-40B4-BE49-F238E27FC236}">
                    <a16:creationId xmlns:a16="http://schemas.microsoft.com/office/drawing/2014/main" id="{7157DF52-6B5C-F482-5B1B-8C56415D16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0" y="2286000"/>
                <a:ext cx="2755900" cy="355600"/>
              </a:xfrm>
              <a:prstGeom prst="rect">
                <a:avLst/>
              </a:prstGeom>
              <a:blipFill>
                <a:blip r:embed="rId4"/>
                <a:stretch>
                  <a:fillRect t="-714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Shape 17">
            <a:extLst>
              <a:ext uri="{FF2B5EF4-FFF2-40B4-BE49-F238E27FC236}">
                <a16:creationId xmlns:a16="http://schemas.microsoft.com/office/drawing/2014/main" id="{F1A69D4E-66EB-7210-7C92-AAA04D8CF0FB}"/>
              </a:ext>
            </a:extLst>
          </p:cNvPr>
          <p:cNvSpPr/>
          <p:nvPr/>
        </p:nvSpPr>
        <p:spPr>
          <a:xfrm>
            <a:off x="774700" y="3048000"/>
            <a:ext cx="10604500" cy="1651000"/>
          </a:xfrm>
          <a:prstGeom prst="roundRect">
            <a:avLst>
              <a:gd name="adj" fmla="val 5405"/>
            </a:avLst>
          </a:prstGeom>
          <a:solidFill>
            <a:srgbClr val="FBF0E3"/>
          </a:solidFill>
          <a:ln w="12700">
            <a:solidFill>
              <a:srgbClr val="FBF0E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1021F0D1-C192-721E-DC0B-025D8A0875E7}"/>
              </a:ext>
            </a:extLst>
          </p:cNvPr>
          <p:cNvSpPr txBox="1"/>
          <p:nvPr/>
        </p:nvSpPr>
        <p:spPr>
          <a:xfrm>
            <a:off x="965200" y="3098800"/>
            <a:ext cx="5486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400" b="1" noProof="1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fila i = 0, …, 999</a:t>
            </a:r>
            <a:endParaRPr lang="es-ES_tradnl" sz="1400" noProof="1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468BAFC7-C0A3-19BF-97DC-62D808E8C21D}"/>
              </a:ext>
            </a:extLst>
          </p:cNvPr>
          <p:cNvSpPr/>
          <p:nvPr/>
        </p:nvSpPr>
        <p:spPr>
          <a:xfrm>
            <a:off x="965200" y="3581400"/>
            <a:ext cx="1524000" cy="863600"/>
          </a:xfrm>
          <a:prstGeom prst="roundRect">
            <a:avLst>
              <a:gd name="adj" fmla="val 8421"/>
            </a:avLst>
          </a:prstGeom>
          <a:solidFill>
            <a:srgbClr val="E6F5F3"/>
          </a:solidFill>
          <a:ln w="15875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15C6245F-E7D3-8B98-E40F-3D3039B03742}"/>
              </a:ext>
            </a:extLst>
          </p:cNvPr>
          <p:cNvSpPr txBox="1"/>
          <p:nvPr/>
        </p:nvSpPr>
        <p:spPr>
          <a:xfrm>
            <a:off x="1016000" y="3683000"/>
            <a:ext cx="1422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A9E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Codificar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 21">
                <a:extLst>
                  <a:ext uri="{FF2B5EF4-FFF2-40B4-BE49-F238E27FC236}">
                    <a16:creationId xmlns:a16="http://schemas.microsoft.com/office/drawing/2014/main" id="{609F9370-AB73-03B1-9457-A5E9DECF948E}"/>
                  </a:ext>
                </a:extLst>
              </p:cNvPr>
              <p:cNvSpPr txBox="1"/>
              <p:nvPr/>
            </p:nvSpPr>
            <p:spPr>
              <a:xfrm>
                <a:off x="1016000" y="4013200"/>
                <a:ext cx="14224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s-ES_tradnl" sz="1300" i="1" noProof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s-ES_tradnl" sz="130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itchFamily="34" charset="-120"/>
                          </a:rPr>
                          <m:t>𝜎</m:t>
                        </m:r>
                      </m:e>
                      <m:sub>
                        <m:r>
                          <a:rPr lang="es-419" sz="1300" i="1" noProof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s-ES_tradnl" sz="13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1000 estados</a:t>
                </a:r>
                <a:endParaRPr lang="es-ES_tradnl" sz="1300" noProof="1"/>
              </a:p>
              <a:p>
                <a:pPr marL="0" indent="0" algn="ctr">
                  <a:buNone/>
                </a:pPr>
                <a:r>
                  <a:rPr lang="es-ES_tradnl" sz="13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sin la fila </a:t>
                </a:r>
                <a14:m>
                  <m:oMath xmlns:m="http://schemas.openxmlformats.org/officeDocument/2006/math">
                    <m:r>
                      <a:rPr lang="es-ES" sz="13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s-ES_tradnl" sz="1300" noProof="1"/>
              </a:p>
            </p:txBody>
          </p:sp>
        </mc:Choice>
        <mc:Fallback>
          <p:sp>
            <p:nvSpPr>
              <p:cNvPr id="23" name="Text 21">
                <a:extLst>
                  <a:ext uri="{FF2B5EF4-FFF2-40B4-BE49-F238E27FC236}">
                    <a16:creationId xmlns:a16="http://schemas.microsoft.com/office/drawing/2014/main" id="{609F9370-AB73-03B1-9457-A5E9DECF94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4013200"/>
                <a:ext cx="1422400" cy="355600"/>
              </a:xfrm>
              <a:prstGeom prst="rect">
                <a:avLst/>
              </a:prstGeom>
              <a:blipFill>
                <a:blip r:embed="rId5"/>
                <a:stretch>
                  <a:fillRect t="-10000" b="-3666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Shape 22">
            <a:extLst>
              <a:ext uri="{FF2B5EF4-FFF2-40B4-BE49-F238E27FC236}">
                <a16:creationId xmlns:a16="http://schemas.microsoft.com/office/drawing/2014/main" id="{2553AA59-E247-A253-E1D5-BB4078A8F43B}"/>
              </a:ext>
            </a:extLst>
          </p:cNvPr>
          <p:cNvSpPr/>
          <p:nvPr/>
        </p:nvSpPr>
        <p:spPr>
          <a:xfrm>
            <a:off x="2552700" y="4013200"/>
            <a:ext cx="206375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FD60B32E-5939-AFD6-92C1-6B2955DCBB11}"/>
              </a:ext>
            </a:extLst>
          </p:cNvPr>
          <p:cNvSpPr/>
          <p:nvPr/>
        </p:nvSpPr>
        <p:spPr>
          <a:xfrm>
            <a:off x="2822575" y="3581400"/>
            <a:ext cx="1714500" cy="863600"/>
          </a:xfrm>
          <a:prstGeom prst="roundRect">
            <a:avLst>
              <a:gd name="adj" fmla="val 8421"/>
            </a:avLst>
          </a:prstGeom>
          <a:solidFill>
            <a:srgbClr val="F1ECF8"/>
          </a:solidFill>
          <a:ln w="15875">
            <a:solidFill>
              <a:srgbClr val="7A4FB0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A62088AA-E32F-888C-9750-D0C6D11A7ACC}"/>
              </a:ext>
            </a:extLst>
          </p:cNvPr>
          <p:cNvSpPr txBox="1"/>
          <p:nvPr/>
        </p:nvSpPr>
        <p:spPr>
          <a:xfrm>
            <a:off x="2873375" y="3683000"/>
            <a:ext cx="1612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7A4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Agregar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 25">
                <a:extLst>
                  <a:ext uri="{FF2B5EF4-FFF2-40B4-BE49-F238E27FC236}">
                    <a16:creationId xmlns:a16="http://schemas.microsoft.com/office/drawing/2014/main" id="{6A6F22DF-C071-A915-F224-FFCAF679007C}"/>
                  </a:ext>
                </a:extLst>
              </p:cNvPr>
              <p:cNvSpPr txBox="1"/>
              <p:nvPr/>
            </p:nvSpPr>
            <p:spPr>
              <a:xfrm>
                <a:off x="2873375" y="3937000"/>
                <a:ext cx="1612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2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s-ES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s-ES" sz="120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s-ES_tradnl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</m:ctrlPr>
                                </m:sSubPr>
                                <m:e>
                                  <m:r>
                                    <a:rPr lang="es-ES_tradnl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alibri" pitchFamily="34" charset="-12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s-419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s-ES_tradnl" sz="1000" noProof="1"/>
              </a:p>
            </p:txBody>
          </p:sp>
        </mc:Choice>
        <mc:Fallback>
          <p:sp>
            <p:nvSpPr>
              <p:cNvPr id="27" name="Text 25">
                <a:extLst>
                  <a:ext uri="{FF2B5EF4-FFF2-40B4-BE49-F238E27FC236}">
                    <a16:creationId xmlns:a16="http://schemas.microsoft.com/office/drawing/2014/main" id="{6A6F22DF-C071-A915-F224-FFCAF67900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3375" y="3937000"/>
                <a:ext cx="1612900" cy="355600"/>
              </a:xfrm>
              <a:prstGeom prst="rect">
                <a:avLst/>
              </a:prstGeom>
              <a:blipFill>
                <a:blip r:embed="rId6"/>
                <a:stretch>
                  <a:fillRect t="-178571" b="-303571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Shape 26">
            <a:extLst>
              <a:ext uri="{FF2B5EF4-FFF2-40B4-BE49-F238E27FC236}">
                <a16:creationId xmlns:a16="http://schemas.microsoft.com/office/drawing/2014/main" id="{28088DEC-3EA2-7CB4-9392-03D33C2C2065}"/>
              </a:ext>
            </a:extLst>
          </p:cNvPr>
          <p:cNvSpPr/>
          <p:nvPr/>
        </p:nvSpPr>
        <p:spPr>
          <a:xfrm>
            <a:off x="4600575" y="4013200"/>
            <a:ext cx="206375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26C16CAE-B1EB-FCD6-C62F-F9FDE09B52BA}"/>
              </a:ext>
            </a:extLst>
          </p:cNvPr>
          <p:cNvSpPr/>
          <p:nvPr/>
        </p:nvSpPr>
        <p:spPr>
          <a:xfrm>
            <a:off x="4876800" y="3581400"/>
            <a:ext cx="1320800" cy="86360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5875">
            <a:solidFill>
              <a:srgbClr val="2E6DB4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2BDF3CC6-FA92-3E48-4C15-EBD810374085}"/>
              </a:ext>
            </a:extLst>
          </p:cNvPr>
          <p:cNvSpPr/>
          <p:nvPr/>
        </p:nvSpPr>
        <p:spPr>
          <a:xfrm flipV="1">
            <a:off x="6261100" y="4013200"/>
            <a:ext cx="2032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F06B5EE3-66C4-96BA-8F9F-6ACD3200A041}"/>
              </a:ext>
            </a:extLst>
          </p:cNvPr>
          <p:cNvSpPr/>
          <p:nvPr/>
        </p:nvSpPr>
        <p:spPr>
          <a:xfrm>
            <a:off x="6527800" y="3581400"/>
            <a:ext cx="1905000" cy="8636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5F6B7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F6AEF3F8-D8E2-8E41-DFDB-8CC90E39E294}"/>
              </a:ext>
            </a:extLst>
          </p:cNvPr>
          <p:cNvSpPr txBox="1"/>
          <p:nvPr/>
        </p:nvSpPr>
        <p:spPr>
          <a:xfrm>
            <a:off x="6578600" y="3683000"/>
            <a:ext cx="1803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cs typeface="Courier New" pitchFamily="34" charset="-120"/>
              </a:rPr>
              <a:t>Distancia de traza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 33">
                <a:extLst>
                  <a:ext uri="{FF2B5EF4-FFF2-40B4-BE49-F238E27FC236}">
                    <a16:creationId xmlns:a16="http://schemas.microsoft.com/office/drawing/2014/main" id="{896D8A42-9A85-2469-AC31-048A1710A223}"/>
                  </a:ext>
                </a:extLst>
              </p:cNvPr>
              <p:cNvSpPr txBox="1"/>
              <p:nvPr/>
            </p:nvSpPr>
            <p:spPr>
              <a:xfrm>
                <a:off x="6578600" y="4013200"/>
                <a:ext cx="18034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ES" sz="130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419" sz="1300" b="0" i="0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l-GR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τ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300" noProof="1"/>
              </a:p>
            </p:txBody>
          </p:sp>
        </mc:Choice>
        <mc:Fallback>
          <p:sp>
            <p:nvSpPr>
              <p:cNvPr id="35" name="Text 33">
                <a:extLst>
                  <a:ext uri="{FF2B5EF4-FFF2-40B4-BE49-F238E27FC236}">
                    <a16:creationId xmlns:a16="http://schemas.microsoft.com/office/drawing/2014/main" id="{896D8A42-9A85-2469-AC31-048A1710A2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8600" y="4013200"/>
                <a:ext cx="1803400" cy="355600"/>
              </a:xfrm>
              <a:prstGeom prst="rect">
                <a:avLst/>
              </a:prstGeom>
              <a:blipFill>
                <a:blip r:embed="rId7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Shape 38">
            <a:extLst>
              <a:ext uri="{FF2B5EF4-FFF2-40B4-BE49-F238E27FC236}">
                <a16:creationId xmlns:a16="http://schemas.microsoft.com/office/drawing/2014/main" id="{9725227C-73E4-B2DB-1AEB-5F8C174E17C3}"/>
              </a:ext>
            </a:extLst>
          </p:cNvPr>
          <p:cNvSpPr/>
          <p:nvPr/>
        </p:nvSpPr>
        <p:spPr>
          <a:xfrm>
            <a:off x="6400800" y="4965700"/>
            <a:ext cx="2159000" cy="9652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979083D3-89A8-D4E5-18F0-E2EF4725A032}"/>
              </a:ext>
            </a:extLst>
          </p:cNvPr>
          <p:cNvSpPr txBox="1"/>
          <p:nvPr/>
        </p:nvSpPr>
        <p:spPr>
          <a:xfrm>
            <a:off x="6451600" y="5067300"/>
            <a:ext cx="2057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cs typeface="Courier New" pitchFamily="34" charset="-120"/>
              </a:rPr>
              <a:t>Epsilon Teorico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 40">
                <a:extLst>
                  <a:ext uri="{FF2B5EF4-FFF2-40B4-BE49-F238E27FC236}">
                    <a16:creationId xmlns:a16="http://schemas.microsoft.com/office/drawing/2014/main" id="{DD341A1E-AF9A-91E4-0F36-B8A738C70C84}"/>
                  </a:ext>
                </a:extLst>
              </p:cNvPr>
              <p:cNvSpPr txBox="1"/>
              <p:nvPr/>
            </p:nvSpPr>
            <p:spPr>
              <a:xfrm>
                <a:off x="6451600" y="5397500"/>
                <a:ext cx="2057400" cy="3937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419" sz="1300" b="0" i="0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te</m:t>
                          </m:r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419" sz="130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te</m:t>
                          </m:r>
                          <m: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419" sz="1300" b="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419" sz="1300" b="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s-419" sz="1300" b="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𝛾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300" noProof="1"/>
              </a:p>
            </p:txBody>
          </p:sp>
        </mc:Choice>
        <mc:Fallback>
          <p:sp>
            <p:nvSpPr>
              <p:cNvPr id="42" name="Text 40">
                <a:extLst>
                  <a:ext uri="{FF2B5EF4-FFF2-40B4-BE49-F238E27FC236}">
                    <a16:creationId xmlns:a16="http://schemas.microsoft.com/office/drawing/2014/main" id="{DD341A1E-AF9A-91E4-0F36-B8A738C70C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1600" y="5397500"/>
                <a:ext cx="2057400" cy="3937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Shape 41">
            <a:extLst>
              <a:ext uri="{FF2B5EF4-FFF2-40B4-BE49-F238E27FC236}">
                <a16:creationId xmlns:a16="http://schemas.microsoft.com/office/drawing/2014/main" id="{0B932E6B-47D5-102D-DC5C-1E6166A8D8CB}"/>
              </a:ext>
            </a:extLst>
          </p:cNvPr>
          <p:cNvSpPr/>
          <p:nvPr/>
        </p:nvSpPr>
        <p:spPr>
          <a:xfrm>
            <a:off x="8801100" y="4965700"/>
            <a:ext cx="2349500" cy="9652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EB265586-293C-FC01-CFA4-ACFD90ED0AC9}"/>
              </a:ext>
            </a:extLst>
          </p:cNvPr>
          <p:cNvSpPr txBox="1"/>
          <p:nvPr/>
        </p:nvSpPr>
        <p:spPr>
          <a:xfrm>
            <a:off x="8851900" y="5067300"/>
            <a:ext cx="2260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Epsilon Experimental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 43">
                <a:extLst>
                  <a:ext uri="{FF2B5EF4-FFF2-40B4-BE49-F238E27FC236}">
                    <a16:creationId xmlns:a16="http://schemas.microsoft.com/office/drawing/2014/main" id="{9AE7C78F-82A6-532A-4373-6AC52934747C}"/>
                  </a:ext>
                </a:extLst>
              </p:cNvPr>
              <p:cNvSpPr txBox="1"/>
              <p:nvPr/>
            </p:nvSpPr>
            <p:spPr>
              <a:xfrm>
                <a:off x="8851900" y="5397500"/>
                <a:ext cx="2260600" cy="3937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es-419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419" sz="1300" b="0" i="0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sub>
                      </m:sSub>
                      <m:r>
                        <a:rPr lang="es-419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419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 lang="es-419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s-419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300" noProof="1"/>
              </a:p>
            </p:txBody>
          </p:sp>
        </mc:Choice>
        <mc:Fallback>
          <p:sp>
            <p:nvSpPr>
              <p:cNvPr id="45" name="Text 43">
                <a:extLst>
                  <a:ext uri="{FF2B5EF4-FFF2-40B4-BE49-F238E27FC236}">
                    <a16:creationId xmlns:a16="http://schemas.microsoft.com/office/drawing/2014/main" id="{9AE7C78F-82A6-532A-4373-6AC5293474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1900" y="5397500"/>
                <a:ext cx="2260600" cy="3937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 25">
                <a:extLst>
                  <a:ext uri="{FF2B5EF4-FFF2-40B4-BE49-F238E27FC236}">
                    <a16:creationId xmlns:a16="http://schemas.microsoft.com/office/drawing/2014/main" id="{B75403EB-E00C-41EB-45D5-4B935F13DACD}"/>
                  </a:ext>
                </a:extLst>
              </p:cNvPr>
              <p:cNvSpPr txBox="1"/>
              <p:nvPr/>
            </p:nvSpPr>
            <p:spPr>
              <a:xfrm>
                <a:off x="4699000" y="2171700"/>
                <a:ext cx="2755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2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s-ES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s-ES" sz="120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s-ES_tradnl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</m:ctrlPr>
                                </m:sSubPr>
                                <m:e>
                                  <m:r>
                                    <a:rPr lang="es-ES_tradnl" sz="1200" i="1" noProof="1" smtClean="0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alibri" pitchFamily="34" charset="-12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s-419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s-ES_tradnl" sz="1000" noProof="1"/>
              </a:p>
            </p:txBody>
          </p:sp>
        </mc:Choice>
        <mc:Fallback>
          <p:sp>
            <p:nvSpPr>
              <p:cNvPr id="49" name="Text 25">
                <a:extLst>
                  <a:ext uri="{FF2B5EF4-FFF2-40B4-BE49-F238E27FC236}">
                    <a16:creationId xmlns:a16="http://schemas.microsoft.com/office/drawing/2014/main" id="{B75403EB-E00C-41EB-45D5-4B935F13DA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9000" y="2171700"/>
                <a:ext cx="2755900" cy="355600"/>
              </a:xfrm>
              <a:prstGeom prst="rect">
                <a:avLst/>
              </a:prstGeom>
              <a:blipFill>
                <a:blip r:embed="rId10"/>
                <a:stretch>
                  <a:fillRect t="-163333" b="-280000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 28">
            <a:extLst>
              <a:ext uri="{FF2B5EF4-FFF2-40B4-BE49-F238E27FC236}">
                <a16:creationId xmlns:a16="http://schemas.microsoft.com/office/drawing/2014/main" id="{2E5E33D6-18BC-687B-63FA-8CDE38E9D5BE}"/>
              </a:ext>
            </a:extLst>
          </p:cNvPr>
          <p:cNvSpPr txBox="1"/>
          <p:nvPr/>
        </p:nvSpPr>
        <p:spPr>
          <a:xfrm>
            <a:off x="4927600" y="3683000"/>
            <a:ext cx="1219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2E6D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GAD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 29">
                <a:extLst>
                  <a:ext uri="{FF2B5EF4-FFF2-40B4-BE49-F238E27FC236}">
                    <a16:creationId xmlns:a16="http://schemas.microsoft.com/office/drawing/2014/main" id="{2B1FC4E4-5060-1A19-3F1A-02DCE7969B23}"/>
                  </a:ext>
                </a:extLst>
              </p:cNvPr>
              <p:cNvSpPr txBox="1"/>
              <p:nvPr/>
            </p:nvSpPr>
            <p:spPr>
              <a:xfrm>
                <a:off x="4927600" y="4013200"/>
                <a:ext cx="12192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4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s-ES" sz="14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′=</m:t>
                      </m:r>
                      <m:r>
                        <a:rPr lang="es-ES" sz="14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ℰ</m:t>
                      </m:r>
                      <m:d>
                        <m:dPr>
                          <m:ctrlPr>
                            <a:rPr lang="es-ES" sz="14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14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4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s-ES" sz="14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s-ES_tradnl" sz="1300" noProof="1"/>
              </a:p>
            </p:txBody>
          </p:sp>
        </mc:Choice>
        <mc:Fallback>
          <p:sp>
            <p:nvSpPr>
              <p:cNvPr id="51" name="Text 29">
                <a:extLst>
                  <a:ext uri="{FF2B5EF4-FFF2-40B4-BE49-F238E27FC236}">
                    <a16:creationId xmlns:a16="http://schemas.microsoft.com/office/drawing/2014/main" id="{2B1FC4E4-5060-1A19-3F1A-02DCE7969B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7600" y="4013200"/>
                <a:ext cx="1219200" cy="355600"/>
              </a:xfrm>
              <a:prstGeom prst="rect">
                <a:avLst/>
              </a:prstGeom>
              <a:blipFill>
                <a:blip r:embed="rId11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hape 30">
            <a:extLst>
              <a:ext uri="{FF2B5EF4-FFF2-40B4-BE49-F238E27FC236}">
                <a16:creationId xmlns:a16="http://schemas.microsoft.com/office/drawing/2014/main" id="{6197B0AC-1D18-ADBC-2CE1-4E5477038A40}"/>
              </a:ext>
            </a:extLst>
          </p:cNvPr>
          <p:cNvSpPr/>
          <p:nvPr/>
        </p:nvSpPr>
        <p:spPr>
          <a:xfrm>
            <a:off x="8496300" y="4013200"/>
            <a:ext cx="2032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3" name="Shape 31">
            <a:extLst>
              <a:ext uri="{FF2B5EF4-FFF2-40B4-BE49-F238E27FC236}">
                <a16:creationId xmlns:a16="http://schemas.microsoft.com/office/drawing/2014/main" id="{D72EE02F-F6D0-9CD9-653F-72D54631BD37}"/>
              </a:ext>
            </a:extLst>
          </p:cNvPr>
          <p:cNvSpPr/>
          <p:nvPr/>
        </p:nvSpPr>
        <p:spPr>
          <a:xfrm>
            <a:off x="8763000" y="3581400"/>
            <a:ext cx="2425700" cy="8636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4" name="Text 28">
            <a:extLst>
              <a:ext uri="{FF2B5EF4-FFF2-40B4-BE49-F238E27FC236}">
                <a16:creationId xmlns:a16="http://schemas.microsoft.com/office/drawing/2014/main" id="{C7D4ECC5-7E22-B3BF-E6BD-7EA39E548B95}"/>
              </a:ext>
            </a:extLst>
          </p:cNvPr>
          <p:cNvSpPr txBox="1"/>
          <p:nvPr/>
        </p:nvSpPr>
        <p:spPr>
          <a:xfrm>
            <a:off x="8813800" y="3683000"/>
            <a:ext cx="2324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Epsilon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 29">
                <a:extLst>
                  <a:ext uri="{FF2B5EF4-FFF2-40B4-BE49-F238E27FC236}">
                    <a16:creationId xmlns:a16="http://schemas.microsoft.com/office/drawing/2014/main" id="{C705DDAB-D3F2-F112-B705-20015FEB84B1}"/>
                  </a:ext>
                </a:extLst>
              </p:cNvPr>
              <p:cNvSpPr txBox="1"/>
              <p:nvPr/>
            </p:nvSpPr>
            <p:spPr>
              <a:xfrm>
                <a:off x="8813800" y="4013200"/>
                <a:ext cx="23241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2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2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s-419" sz="12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𝑑𝑃𝐷</m:t>
                      </m:r>
                      <m:d>
                        <m:dPr>
                          <m:ctrlPr>
                            <a:rPr lang="es-419" sz="12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𝑑𝑃𝐷</m:t>
                      </m:r>
                      <m:d>
                        <m:dPr>
                          <m:ctrlPr>
                            <a:rPr lang="es-419" sz="12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200" noProof="1"/>
              </a:p>
            </p:txBody>
          </p:sp>
        </mc:Choice>
        <mc:Fallback>
          <p:sp>
            <p:nvSpPr>
              <p:cNvPr id="55" name="Text 29">
                <a:extLst>
                  <a:ext uri="{FF2B5EF4-FFF2-40B4-BE49-F238E27FC236}">
                    <a16:creationId xmlns:a16="http://schemas.microsoft.com/office/drawing/2014/main" id="{C705DDAB-D3F2-F112-B705-20015FEB8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3800" y="4013200"/>
                <a:ext cx="2324100" cy="355600"/>
              </a:xfrm>
              <a:prstGeom prst="rect">
                <a:avLst/>
              </a:prstGeom>
              <a:blipFill>
                <a:blip r:embed="rId12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Shape 30">
            <a:extLst>
              <a:ext uri="{FF2B5EF4-FFF2-40B4-BE49-F238E27FC236}">
                <a16:creationId xmlns:a16="http://schemas.microsoft.com/office/drawing/2014/main" id="{B3F468CB-5481-84FE-79BB-8D4974E370B4}"/>
              </a:ext>
            </a:extLst>
          </p:cNvPr>
          <p:cNvSpPr/>
          <p:nvPr/>
        </p:nvSpPr>
        <p:spPr>
          <a:xfrm>
            <a:off x="7480300" y="4508500"/>
            <a:ext cx="0" cy="45720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0" name="Shape 30">
            <a:extLst>
              <a:ext uri="{FF2B5EF4-FFF2-40B4-BE49-F238E27FC236}">
                <a16:creationId xmlns:a16="http://schemas.microsoft.com/office/drawing/2014/main" id="{A8DB9A80-5D26-DC89-53D9-546879B9B35C}"/>
              </a:ext>
            </a:extLst>
          </p:cNvPr>
          <p:cNvSpPr/>
          <p:nvPr/>
        </p:nvSpPr>
        <p:spPr>
          <a:xfrm>
            <a:off x="9975850" y="4508500"/>
            <a:ext cx="0" cy="45720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</p:spTree>
    <p:extLst>
      <p:ext uri="{BB962C8B-B14F-4D97-AF65-F5344CB8AC3E}">
        <p14:creationId xmlns:p14="http://schemas.microsoft.com/office/powerpoint/2010/main" val="10994770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93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393384-49CF-4EFE-176E-12EE047B9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09BD45C-5A5A-8D1C-4546-62DC9993C5F0}"/>
              </a:ext>
            </a:extLst>
          </p:cNvPr>
          <p:cNvSpPr/>
          <p:nvPr/>
        </p:nvSpPr>
        <p:spPr>
          <a:xfrm>
            <a:off x="8138160" y="1097280"/>
            <a:ext cx="4754880" cy="47548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5FAF7C3-13A0-8DF3-6F48-8DEE7859F40C}"/>
              </a:ext>
            </a:extLst>
          </p:cNvPr>
          <p:cNvSpPr/>
          <p:nvPr/>
        </p:nvSpPr>
        <p:spPr>
          <a:xfrm>
            <a:off x="9052560" y="2011680"/>
            <a:ext cx="2926080" cy="29260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E08A2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EC22520-472A-CF41-B0EF-423C7A8256B5}"/>
              </a:ext>
            </a:extLst>
          </p:cNvPr>
          <p:cNvSpPr txBox="1"/>
          <p:nvPr/>
        </p:nvSpPr>
        <p:spPr>
          <a:xfrm>
            <a:off x="731520" y="2603500"/>
            <a:ext cx="54864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400" b="1" kern="0" spc="300" noProof="1">
                <a:solidFill>
                  <a:srgbClr val="1A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Prerequisito 2</a:t>
            </a:r>
            <a:endParaRPr lang="es-ES_tradnl" sz="1400" noProof="1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CBBA5D4-EFCA-2E2A-FFA1-4B6BA821DADA}"/>
              </a:ext>
            </a:extLst>
          </p:cNvPr>
          <p:cNvSpPr txBox="1"/>
          <p:nvPr/>
        </p:nvSpPr>
        <p:spPr>
          <a:xfrm>
            <a:off x="731520" y="3022600"/>
            <a:ext cx="749808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4000" b="1" noProof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Agregar</a:t>
            </a:r>
            <a:endParaRPr lang="es-ES_tradnl" sz="4000" noProof="1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6457DBF-ECF7-FA94-63CB-211B0B64C79F}"/>
              </a:ext>
            </a:extLst>
          </p:cNvPr>
          <p:cNvSpPr txBox="1"/>
          <p:nvPr/>
        </p:nvSpPr>
        <p:spPr>
          <a:xfrm>
            <a:off x="731520" y="4013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2000" noProof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matrices de densidad independientes del dataset</a:t>
            </a:r>
            <a:endParaRPr lang="es-ES_tradnl" sz="2000" noProof="1"/>
          </a:p>
        </p:txBody>
      </p:sp>
    </p:spTree>
    <p:extLst>
      <p:ext uri="{BB962C8B-B14F-4D97-AF65-F5344CB8AC3E}">
        <p14:creationId xmlns:p14="http://schemas.microsoft.com/office/powerpoint/2010/main" val="3762519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Agregación y datasets vecinos</a:t>
            </a:r>
            <a:endParaRPr lang="es-ES_tradnl" sz="3200" noProof="1"/>
          </a:p>
        </p:txBody>
      </p:sp>
      <p:sp>
        <p:nvSpPr>
          <p:cNvPr id="6" name="Shape 4"/>
          <p:cNvSpPr/>
          <p:nvPr/>
        </p:nvSpPr>
        <p:spPr>
          <a:xfrm>
            <a:off x="548640" y="1927098"/>
            <a:ext cx="6766560" cy="1264334"/>
          </a:xfrm>
          <a:prstGeom prst="roundRect">
            <a:avLst>
              <a:gd name="adj" fmla="val 10435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 txBox="1"/>
          <p:nvPr/>
        </p:nvSpPr>
        <p:spPr>
          <a:xfrm>
            <a:off x="822960" y="204597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600" b="1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D</a:t>
            </a:r>
            <a:endParaRPr lang="es-ES_tradnl" sz="16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 6"/>
              <p:cNvSpPr txBox="1"/>
              <p:nvPr/>
            </p:nvSpPr>
            <p:spPr>
              <a:xfrm>
                <a:off x="822960" y="2430018"/>
                <a:ext cx="621792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s-ES_tradnl" sz="1900" noProof="1"/>
              </a:p>
            </p:txBody>
          </p:sp>
        </mc:Choice>
        <mc:Fallback>
          <p:sp>
            <p:nvSpPr>
              <p:cNvPr id="8" name="Text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2430018"/>
                <a:ext cx="6217920" cy="457200"/>
              </a:xfrm>
              <a:prstGeom prst="rect">
                <a:avLst/>
              </a:prstGeom>
              <a:blipFill>
                <a:blip r:embed="rId3"/>
                <a:stretch>
                  <a:fillRect l="-1222" t="-237838" b="-348649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hape 7"/>
          <p:cNvSpPr/>
          <p:nvPr/>
        </p:nvSpPr>
        <p:spPr>
          <a:xfrm>
            <a:off x="548640" y="4094402"/>
            <a:ext cx="6766560" cy="1264334"/>
          </a:xfrm>
          <a:prstGeom prst="roundRect">
            <a:avLst>
              <a:gd name="adj" fmla="val 10435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0" name="Text 8"/>
          <p:cNvSpPr txBox="1"/>
          <p:nvPr/>
        </p:nvSpPr>
        <p:spPr>
          <a:xfrm>
            <a:off x="822960" y="4306473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600" b="1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Vecino D′ᵢ (se elimina la fila i)</a:t>
            </a:r>
            <a:endParaRPr lang="es-ES_tradnl" sz="16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 9"/>
              <p:cNvSpPr txBox="1"/>
              <p:nvPr/>
            </p:nvSpPr>
            <p:spPr>
              <a:xfrm>
                <a:off x="822960" y="4690521"/>
                <a:ext cx="621792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  <m:sub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≠</m:t>
                          </m:r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s-ES_tradnl" sz="1900" noProof="1"/>
              </a:p>
            </p:txBody>
          </p:sp>
        </mc:Choice>
        <mc:Fallback>
          <p:sp>
            <p:nvSpPr>
              <p:cNvPr id="11" name="Tex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4690521"/>
                <a:ext cx="6217920" cy="457200"/>
              </a:xfrm>
              <a:prstGeom prst="rect">
                <a:avLst/>
              </a:prstGeom>
              <a:blipFill>
                <a:blip r:embed="rId4"/>
                <a:stretch>
                  <a:fillRect l="-815" t="-240541" b="-34324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5240" y="1371600"/>
            <a:ext cx="3931920" cy="39319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635240" y="548640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400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Ilustrativo: el promedio de estados puros queda dentro de la esfera (estado mixto).</a:t>
            </a:r>
            <a:endParaRPr lang="es-ES_tradnl" sz="1400" noProof="1"/>
          </a:p>
        </p:txBody>
      </p:sp>
    </p:spTree>
    <p:extLst>
      <p:ext uri="{BB962C8B-B14F-4D97-AF65-F5344CB8AC3E}">
        <p14:creationId xmlns:p14="http://schemas.microsoft.com/office/powerpoint/2010/main" val="9406817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F45B35-75DB-1DBF-B000-35CD272F8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A3DFABDB-30D0-ABD7-F54B-D2DA6036B6A9}"/>
              </a:ext>
            </a:extLst>
          </p:cNvPr>
          <p:cNvSpPr txBox="1"/>
          <p:nvPr/>
        </p:nvSpPr>
        <p:spPr>
          <a:xfrm>
            <a:off x="548640" y="356616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completo</a:t>
            </a:r>
            <a:endParaRPr lang="es-ES_tradnl" sz="3200" noProof="1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D578424D-C053-F101-34E5-647535CD9490}"/>
              </a:ext>
            </a:extLst>
          </p:cNvPr>
          <p:cNvSpPr/>
          <p:nvPr/>
        </p:nvSpPr>
        <p:spPr>
          <a:xfrm>
            <a:off x="548640" y="1325880"/>
            <a:ext cx="11064240" cy="4892040"/>
          </a:xfrm>
          <a:prstGeom prst="roundRect">
            <a:avLst>
              <a:gd name="adj" fmla="val 224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332812F-B98B-5361-51AC-2B3C1F2EA304}"/>
              </a:ext>
            </a:extLst>
          </p:cNvPr>
          <p:cNvSpPr txBox="1"/>
          <p:nvPr/>
        </p:nvSpPr>
        <p:spPr>
          <a:xfrm>
            <a:off x="77724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500" b="1" noProof="1">
                <a:solidFill>
                  <a:srgbClr val="161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columna k = 0, …, 6</a:t>
            </a:r>
            <a:endParaRPr lang="es-ES_tradnl" sz="1500" noProof="1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28E48DD7-76A7-7B8F-F8C7-4D345BD191C6}"/>
              </a:ext>
            </a:extLst>
          </p:cNvPr>
          <p:cNvSpPr/>
          <p:nvPr/>
        </p:nvSpPr>
        <p:spPr>
          <a:xfrm>
            <a:off x="965200" y="1854200"/>
            <a:ext cx="2857500" cy="863600"/>
          </a:xfrm>
          <a:prstGeom prst="roundRect">
            <a:avLst>
              <a:gd name="adj" fmla="val 8421"/>
            </a:avLst>
          </a:prstGeom>
          <a:solidFill>
            <a:srgbClr val="E6F5F3"/>
          </a:solidFill>
          <a:ln w="15875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27B1DA5-FCC0-3535-CFA4-B97CC30D34BF}"/>
              </a:ext>
            </a:extLst>
          </p:cNvPr>
          <p:cNvSpPr txBox="1"/>
          <p:nvPr/>
        </p:nvSpPr>
        <p:spPr>
          <a:xfrm>
            <a:off x="1016000" y="1955800"/>
            <a:ext cx="275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A9E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Codificar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 8">
                <a:extLst>
                  <a:ext uri="{FF2B5EF4-FFF2-40B4-BE49-F238E27FC236}">
                    <a16:creationId xmlns:a16="http://schemas.microsoft.com/office/drawing/2014/main" id="{8B1C1979-C128-95EE-22D7-9D8D53368A3A}"/>
                  </a:ext>
                </a:extLst>
              </p:cNvPr>
              <p:cNvSpPr txBox="1"/>
              <p:nvPr/>
            </p:nvSpPr>
            <p:spPr>
              <a:xfrm>
                <a:off x="1016000" y="2286000"/>
                <a:ext cx="2755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ES_tradnl" sz="130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s-ES_tradnl" sz="130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itchFamily="34" charset="-120"/>
                          </a:rPr>
                          <m:t>𝜌</m:t>
                        </m:r>
                      </m:e>
                      <m:sub>
                        <m:r>
                          <a:rPr lang="es-419" sz="1300" b="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s-ES_tradnl" sz="13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1000 estados</a:t>
                </a:r>
                <a:endParaRPr lang="es-ES_tradnl" sz="1300" noProof="1"/>
              </a:p>
            </p:txBody>
          </p:sp>
        </mc:Choice>
        <mc:Fallback>
          <p:sp>
            <p:nvSpPr>
              <p:cNvPr id="10" name="Text 8">
                <a:extLst>
                  <a:ext uri="{FF2B5EF4-FFF2-40B4-BE49-F238E27FC236}">
                    <a16:creationId xmlns:a16="http://schemas.microsoft.com/office/drawing/2014/main" id="{8B1C1979-C128-95EE-22D7-9D8D53368A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2286000"/>
                <a:ext cx="2755900" cy="355600"/>
              </a:xfrm>
              <a:prstGeom prst="rect">
                <a:avLst/>
              </a:prstGeom>
              <a:blipFill>
                <a:blip r:embed="rId3"/>
                <a:stretch>
                  <a:fillRect t="-1785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hape 9">
            <a:extLst>
              <a:ext uri="{FF2B5EF4-FFF2-40B4-BE49-F238E27FC236}">
                <a16:creationId xmlns:a16="http://schemas.microsoft.com/office/drawing/2014/main" id="{41956397-5350-8F6F-B28C-8C60A79F2933}"/>
              </a:ext>
            </a:extLst>
          </p:cNvPr>
          <p:cNvSpPr/>
          <p:nvPr/>
        </p:nvSpPr>
        <p:spPr>
          <a:xfrm>
            <a:off x="3898900" y="2286000"/>
            <a:ext cx="6731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35906853-DB5C-AFD9-9F22-62E34E09A3FF}"/>
              </a:ext>
            </a:extLst>
          </p:cNvPr>
          <p:cNvSpPr/>
          <p:nvPr/>
        </p:nvSpPr>
        <p:spPr>
          <a:xfrm>
            <a:off x="4648200" y="1854200"/>
            <a:ext cx="2857500" cy="863600"/>
          </a:xfrm>
          <a:prstGeom prst="roundRect">
            <a:avLst>
              <a:gd name="adj" fmla="val 8421"/>
            </a:avLst>
          </a:prstGeom>
          <a:solidFill>
            <a:srgbClr val="F1ECF8"/>
          </a:solidFill>
          <a:ln w="15875">
            <a:solidFill>
              <a:srgbClr val="7A4FB0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FA40D55-C582-59A4-7FC5-C3FB1813B2C0}"/>
              </a:ext>
            </a:extLst>
          </p:cNvPr>
          <p:cNvSpPr txBox="1"/>
          <p:nvPr/>
        </p:nvSpPr>
        <p:spPr>
          <a:xfrm>
            <a:off x="4699000" y="1955800"/>
            <a:ext cx="275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7A4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Agregar</a:t>
            </a:r>
            <a:endParaRPr lang="es-ES_tradnl" sz="1200" noProof="1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1193A59D-840B-AC93-14D0-5A185491E8BC}"/>
              </a:ext>
            </a:extLst>
          </p:cNvPr>
          <p:cNvSpPr/>
          <p:nvPr/>
        </p:nvSpPr>
        <p:spPr>
          <a:xfrm>
            <a:off x="7581900" y="2286000"/>
            <a:ext cx="6731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9F0DBC5E-7CC9-4C45-E0E0-EC2D366796D8}"/>
              </a:ext>
            </a:extLst>
          </p:cNvPr>
          <p:cNvSpPr/>
          <p:nvPr/>
        </p:nvSpPr>
        <p:spPr>
          <a:xfrm>
            <a:off x="8331200" y="1854200"/>
            <a:ext cx="2857500" cy="86360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5875">
            <a:solidFill>
              <a:srgbClr val="2E6DB4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2034EF27-B78A-E7D8-48DE-74C456C7973D}"/>
              </a:ext>
            </a:extLst>
          </p:cNvPr>
          <p:cNvSpPr txBox="1"/>
          <p:nvPr/>
        </p:nvSpPr>
        <p:spPr>
          <a:xfrm>
            <a:off x="8382000" y="1955800"/>
            <a:ext cx="275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2E6D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GAD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 16">
                <a:extLst>
                  <a:ext uri="{FF2B5EF4-FFF2-40B4-BE49-F238E27FC236}">
                    <a16:creationId xmlns:a16="http://schemas.microsoft.com/office/drawing/2014/main" id="{F1D9998F-E945-23D8-5BAA-9F3CD0E2766A}"/>
                  </a:ext>
                </a:extLst>
              </p:cNvPr>
              <p:cNvSpPr txBox="1"/>
              <p:nvPr/>
            </p:nvSpPr>
            <p:spPr>
              <a:xfrm>
                <a:off x="8382000" y="2286000"/>
                <a:ext cx="2755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3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s-ES" sz="13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′=</m:t>
                      </m:r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ℰ</m:t>
                          </m:r>
                        </m:e>
                        <m:sub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𝐺𝐴𝐷</m:t>
                          </m:r>
                        </m:sub>
                      </m:sSub>
                      <m:d>
                        <m:d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</m:oMath>
                  </m:oMathPara>
                </a14:m>
                <a:endParaRPr lang="es-ES_tradnl" sz="1300" noProof="1"/>
              </a:p>
            </p:txBody>
          </p:sp>
        </mc:Choice>
        <mc:Fallback>
          <p:sp>
            <p:nvSpPr>
              <p:cNvPr id="18" name="Text 16">
                <a:extLst>
                  <a:ext uri="{FF2B5EF4-FFF2-40B4-BE49-F238E27FC236}">
                    <a16:creationId xmlns:a16="http://schemas.microsoft.com/office/drawing/2014/main" id="{F1D9998F-E945-23D8-5BAA-9F3CD0E276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0" y="2286000"/>
                <a:ext cx="2755900" cy="355600"/>
              </a:xfrm>
              <a:prstGeom prst="rect">
                <a:avLst/>
              </a:prstGeom>
              <a:blipFill>
                <a:blip r:embed="rId4"/>
                <a:stretch>
                  <a:fillRect t="-714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Shape 17">
            <a:extLst>
              <a:ext uri="{FF2B5EF4-FFF2-40B4-BE49-F238E27FC236}">
                <a16:creationId xmlns:a16="http://schemas.microsoft.com/office/drawing/2014/main" id="{D89EE9FA-BCB2-F3E6-971B-C6D879993BF2}"/>
              </a:ext>
            </a:extLst>
          </p:cNvPr>
          <p:cNvSpPr/>
          <p:nvPr/>
        </p:nvSpPr>
        <p:spPr>
          <a:xfrm>
            <a:off x="774700" y="3048000"/>
            <a:ext cx="10604500" cy="1651000"/>
          </a:xfrm>
          <a:prstGeom prst="roundRect">
            <a:avLst>
              <a:gd name="adj" fmla="val 5405"/>
            </a:avLst>
          </a:prstGeom>
          <a:solidFill>
            <a:srgbClr val="FBF0E3"/>
          </a:solidFill>
          <a:ln w="12700">
            <a:solidFill>
              <a:srgbClr val="FBF0E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D558A6EF-25D2-30A2-87EB-C075D5A510D3}"/>
              </a:ext>
            </a:extLst>
          </p:cNvPr>
          <p:cNvSpPr txBox="1"/>
          <p:nvPr/>
        </p:nvSpPr>
        <p:spPr>
          <a:xfrm>
            <a:off x="965200" y="3098800"/>
            <a:ext cx="5486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400" b="1" noProof="1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fila i = 0, …, 999</a:t>
            </a:r>
            <a:endParaRPr lang="es-ES_tradnl" sz="1400" noProof="1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0BE79536-A2A5-3761-84FD-5F81218018E7}"/>
              </a:ext>
            </a:extLst>
          </p:cNvPr>
          <p:cNvSpPr/>
          <p:nvPr/>
        </p:nvSpPr>
        <p:spPr>
          <a:xfrm>
            <a:off x="965200" y="3581400"/>
            <a:ext cx="1524000" cy="863600"/>
          </a:xfrm>
          <a:prstGeom prst="roundRect">
            <a:avLst>
              <a:gd name="adj" fmla="val 8421"/>
            </a:avLst>
          </a:prstGeom>
          <a:solidFill>
            <a:srgbClr val="E6F5F3"/>
          </a:solidFill>
          <a:ln w="15875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1BDB9AD7-B44F-960C-E805-56A14939C61B}"/>
              </a:ext>
            </a:extLst>
          </p:cNvPr>
          <p:cNvSpPr txBox="1"/>
          <p:nvPr/>
        </p:nvSpPr>
        <p:spPr>
          <a:xfrm>
            <a:off x="1016000" y="3683000"/>
            <a:ext cx="1422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A9E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Codificar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 21">
                <a:extLst>
                  <a:ext uri="{FF2B5EF4-FFF2-40B4-BE49-F238E27FC236}">
                    <a16:creationId xmlns:a16="http://schemas.microsoft.com/office/drawing/2014/main" id="{8C3D46EE-BC25-63A2-F3C0-2F25CCB7F006}"/>
                  </a:ext>
                </a:extLst>
              </p:cNvPr>
              <p:cNvSpPr txBox="1"/>
              <p:nvPr/>
            </p:nvSpPr>
            <p:spPr>
              <a:xfrm>
                <a:off x="1016000" y="4013200"/>
                <a:ext cx="14224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s-ES_tradnl" sz="1300" i="1" noProof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s-ES_tradnl" sz="130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itchFamily="34" charset="-120"/>
                          </a:rPr>
                          <m:t>𝜎</m:t>
                        </m:r>
                      </m:e>
                      <m:sub>
                        <m:r>
                          <a:rPr lang="es-419" sz="1300" i="1" noProof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s-ES_tradnl" sz="13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1000 estados</a:t>
                </a:r>
                <a:endParaRPr lang="es-ES_tradnl" sz="1300" noProof="1"/>
              </a:p>
              <a:p>
                <a:pPr marL="0" indent="0" algn="ctr">
                  <a:buNone/>
                </a:pPr>
                <a:r>
                  <a:rPr lang="es-ES_tradnl" sz="13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sin la fila </a:t>
                </a:r>
                <a14:m>
                  <m:oMath xmlns:m="http://schemas.openxmlformats.org/officeDocument/2006/math">
                    <m:r>
                      <a:rPr lang="es-ES" sz="13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s-ES_tradnl" sz="1300" noProof="1"/>
              </a:p>
            </p:txBody>
          </p:sp>
        </mc:Choice>
        <mc:Fallback>
          <p:sp>
            <p:nvSpPr>
              <p:cNvPr id="23" name="Text 21">
                <a:extLst>
                  <a:ext uri="{FF2B5EF4-FFF2-40B4-BE49-F238E27FC236}">
                    <a16:creationId xmlns:a16="http://schemas.microsoft.com/office/drawing/2014/main" id="{8C3D46EE-BC25-63A2-F3C0-2F25CCB7F0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4013200"/>
                <a:ext cx="1422400" cy="355600"/>
              </a:xfrm>
              <a:prstGeom prst="rect">
                <a:avLst/>
              </a:prstGeom>
              <a:blipFill>
                <a:blip r:embed="rId5"/>
                <a:stretch>
                  <a:fillRect t="-10000" b="-3666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Shape 22">
            <a:extLst>
              <a:ext uri="{FF2B5EF4-FFF2-40B4-BE49-F238E27FC236}">
                <a16:creationId xmlns:a16="http://schemas.microsoft.com/office/drawing/2014/main" id="{D9DD0816-CFFA-DD3A-E1E3-2254DE44B5AE}"/>
              </a:ext>
            </a:extLst>
          </p:cNvPr>
          <p:cNvSpPr/>
          <p:nvPr/>
        </p:nvSpPr>
        <p:spPr>
          <a:xfrm>
            <a:off x="2552700" y="4013200"/>
            <a:ext cx="206375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00AD8086-37ED-DE45-DE7E-44514C36F2E0}"/>
              </a:ext>
            </a:extLst>
          </p:cNvPr>
          <p:cNvSpPr/>
          <p:nvPr/>
        </p:nvSpPr>
        <p:spPr>
          <a:xfrm>
            <a:off x="2822575" y="3581400"/>
            <a:ext cx="1714500" cy="863600"/>
          </a:xfrm>
          <a:prstGeom prst="roundRect">
            <a:avLst>
              <a:gd name="adj" fmla="val 8421"/>
            </a:avLst>
          </a:prstGeom>
          <a:solidFill>
            <a:srgbClr val="F1ECF8"/>
          </a:solidFill>
          <a:ln w="15875">
            <a:solidFill>
              <a:srgbClr val="7A4FB0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99CCCE6F-59B8-4A9D-8CE2-8B396D79AFDC}"/>
              </a:ext>
            </a:extLst>
          </p:cNvPr>
          <p:cNvSpPr txBox="1"/>
          <p:nvPr/>
        </p:nvSpPr>
        <p:spPr>
          <a:xfrm>
            <a:off x="2873375" y="3683000"/>
            <a:ext cx="1612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7A4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Agregar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 25">
                <a:extLst>
                  <a:ext uri="{FF2B5EF4-FFF2-40B4-BE49-F238E27FC236}">
                    <a16:creationId xmlns:a16="http://schemas.microsoft.com/office/drawing/2014/main" id="{C5C6CD79-0642-FDBA-D073-C613B9ED526A}"/>
                  </a:ext>
                </a:extLst>
              </p:cNvPr>
              <p:cNvSpPr txBox="1"/>
              <p:nvPr/>
            </p:nvSpPr>
            <p:spPr>
              <a:xfrm>
                <a:off x="2873375" y="3937000"/>
                <a:ext cx="1612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2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s-ES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s-ES" sz="120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s-ES_tradnl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</m:ctrlPr>
                                </m:sSubPr>
                                <m:e>
                                  <m:r>
                                    <a:rPr lang="es-ES_tradnl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alibri" pitchFamily="34" charset="-12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s-419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s-ES_tradnl" sz="1000" noProof="1"/>
              </a:p>
            </p:txBody>
          </p:sp>
        </mc:Choice>
        <mc:Fallback>
          <p:sp>
            <p:nvSpPr>
              <p:cNvPr id="27" name="Text 25">
                <a:extLst>
                  <a:ext uri="{FF2B5EF4-FFF2-40B4-BE49-F238E27FC236}">
                    <a16:creationId xmlns:a16="http://schemas.microsoft.com/office/drawing/2014/main" id="{C5C6CD79-0642-FDBA-D073-C613B9ED5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3375" y="3937000"/>
                <a:ext cx="1612900" cy="355600"/>
              </a:xfrm>
              <a:prstGeom prst="rect">
                <a:avLst/>
              </a:prstGeom>
              <a:blipFill>
                <a:blip r:embed="rId6"/>
                <a:stretch>
                  <a:fillRect t="-178571" b="-303571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Shape 26">
            <a:extLst>
              <a:ext uri="{FF2B5EF4-FFF2-40B4-BE49-F238E27FC236}">
                <a16:creationId xmlns:a16="http://schemas.microsoft.com/office/drawing/2014/main" id="{58100742-F157-8DAF-C84D-46713E68D7DF}"/>
              </a:ext>
            </a:extLst>
          </p:cNvPr>
          <p:cNvSpPr/>
          <p:nvPr/>
        </p:nvSpPr>
        <p:spPr>
          <a:xfrm>
            <a:off x="4600575" y="4013200"/>
            <a:ext cx="206375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C75E1230-7A2E-3D40-5471-45A0B2252380}"/>
              </a:ext>
            </a:extLst>
          </p:cNvPr>
          <p:cNvSpPr/>
          <p:nvPr/>
        </p:nvSpPr>
        <p:spPr>
          <a:xfrm>
            <a:off x="4876800" y="3581400"/>
            <a:ext cx="1320800" cy="86360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5875">
            <a:solidFill>
              <a:srgbClr val="2E6DB4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F68A188A-705C-DEF1-B2F5-FDA4C7C88369}"/>
              </a:ext>
            </a:extLst>
          </p:cNvPr>
          <p:cNvSpPr/>
          <p:nvPr/>
        </p:nvSpPr>
        <p:spPr>
          <a:xfrm flipV="1">
            <a:off x="6261100" y="4013200"/>
            <a:ext cx="2032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50E03A03-0B81-FBC9-45D6-C8E913DC94D7}"/>
              </a:ext>
            </a:extLst>
          </p:cNvPr>
          <p:cNvSpPr/>
          <p:nvPr/>
        </p:nvSpPr>
        <p:spPr>
          <a:xfrm>
            <a:off x="6527800" y="3581400"/>
            <a:ext cx="1905000" cy="8636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5F6B7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B9BC6461-7DBF-2ADC-57D8-21B19FC11FBD}"/>
              </a:ext>
            </a:extLst>
          </p:cNvPr>
          <p:cNvSpPr txBox="1"/>
          <p:nvPr/>
        </p:nvSpPr>
        <p:spPr>
          <a:xfrm>
            <a:off x="6578600" y="3683000"/>
            <a:ext cx="1803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cs typeface="Courier New" pitchFamily="34" charset="-120"/>
              </a:rPr>
              <a:t>Distancia de traza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 33">
                <a:extLst>
                  <a:ext uri="{FF2B5EF4-FFF2-40B4-BE49-F238E27FC236}">
                    <a16:creationId xmlns:a16="http://schemas.microsoft.com/office/drawing/2014/main" id="{126D3D38-E651-20AB-FD6C-2D420E52D99C}"/>
                  </a:ext>
                </a:extLst>
              </p:cNvPr>
              <p:cNvSpPr txBox="1"/>
              <p:nvPr/>
            </p:nvSpPr>
            <p:spPr>
              <a:xfrm>
                <a:off x="6578600" y="4013200"/>
                <a:ext cx="18034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ES" sz="130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419" sz="1300" b="0" i="0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l-GR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τ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300" noProof="1"/>
              </a:p>
            </p:txBody>
          </p:sp>
        </mc:Choice>
        <mc:Fallback>
          <p:sp>
            <p:nvSpPr>
              <p:cNvPr id="35" name="Text 33">
                <a:extLst>
                  <a:ext uri="{FF2B5EF4-FFF2-40B4-BE49-F238E27FC236}">
                    <a16:creationId xmlns:a16="http://schemas.microsoft.com/office/drawing/2014/main" id="{126D3D38-E651-20AB-FD6C-2D420E52D9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8600" y="4013200"/>
                <a:ext cx="1803400" cy="355600"/>
              </a:xfrm>
              <a:prstGeom prst="rect">
                <a:avLst/>
              </a:prstGeom>
              <a:blipFill>
                <a:blip r:embed="rId7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Shape 38">
            <a:extLst>
              <a:ext uri="{FF2B5EF4-FFF2-40B4-BE49-F238E27FC236}">
                <a16:creationId xmlns:a16="http://schemas.microsoft.com/office/drawing/2014/main" id="{05FB3FF8-623B-56DD-AE97-18B2861844EA}"/>
              </a:ext>
            </a:extLst>
          </p:cNvPr>
          <p:cNvSpPr/>
          <p:nvPr/>
        </p:nvSpPr>
        <p:spPr>
          <a:xfrm>
            <a:off x="6400800" y="4965700"/>
            <a:ext cx="2159000" cy="9652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D048D1E9-88ED-FD8A-7556-A73301E6A93D}"/>
              </a:ext>
            </a:extLst>
          </p:cNvPr>
          <p:cNvSpPr txBox="1"/>
          <p:nvPr/>
        </p:nvSpPr>
        <p:spPr>
          <a:xfrm>
            <a:off x="6451600" y="5067300"/>
            <a:ext cx="2057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cs typeface="Courier New" pitchFamily="34" charset="-120"/>
              </a:rPr>
              <a:t>Epsilon Teorico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 40">
                <a:extLst>
                  <a:ext uri="{FF2B5EF4-FFF2-40B4-BE49-F238E27FC236}">
                    <a16:creationId xmlns:a16="http://schemas.microsoft.com/office/drawing/2014/main" id="{F0631F61-C081-64DC-E2E5-1B9F8678ABE6}"/>
                  </a:ext>
                </a:extLst>
              </p:cNvPr>
              <p:cNvSpPr txBox="1"/>
              <p:nvPr/>
            </p:nvSpPr>
            <p:spPr>
              <a:xfrm>
                <a:off x="6451600" y="5397500"/>
                <a:ext cx="2057400" cy="3937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419" sz="1300" b="0" i="0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te</m:t>
                          </m:r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419" sz="130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te</m:t>
                          </m:r>
                          <m: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419" sz="1300" b="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419" sz="1300" b="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s-419" sz="1300" b="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𝛾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300" noProof="1"/>
              </a:p>
            </p:txBody>
          </p:sp>
        </mc:Choice>
        <mc:Fallback>
          <p:sp>
            <p:nvSpPr>
              <p:cNvPr id="42" name="Text 40">
                <a:extLst>
                  <a:ext uri="{FF2B5EF4-FFF2-40B4-BE49-F238E27FC236}">
                    <a16:creationId xmlns:a16="http://schemas.microsoft.com/office/drawing/2014/main" id="{F0631F61-C081-64DC-E2E5-1B9F8678AB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1600" y="5397500"/>
                <a:ext cx="2057400" cy="3937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Shape 41">
            <a:extLst>
              <a:ext uri="{FF2B5EF4-FFF2-40B4-BE49-F238E27FC236}">
                <a16:creationId xmlns:a16="http://schemas.microsoft.com/office/drawing/2014/main" id="{71879EAB-C2C8-78DF-B58F-D8D7B5AAA617}"/>
              </a:ext>
            </a:extLst>
          </p:cNvPr>
          <p:cNvSpPr/>
          <p:nvPr/>
        </p:nvSpPr>
        <p:spPr>
          <a:xfrm>
            <a:off x="8801100" y="4965700"/>
            <a:ext cx="2349500" cy="9652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A6DB7B68-F68D-7A2F-D886-534BB77A2F42}"/>
              </a:ext>
            </a:extLst>
          </p:cNvPr>
          <p:cNvSpPr txBox="1"/>
          <p:nvPr/>
        </p:nvSpPr>
        <p:spPr>
          <a:xfrm>
            <a:off x="8851900" y="5067300"/>
            <a:ext cx="2260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Epsilon Experimental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 43">
                <a:extLst>
                  <a:ext uri="{FF2B5EF4-FFF2-40B4-BE49-F238E27FC236}">
                    <a16:creationId xmlns:a16="http://schemas.microsoft.com/office/drawing/2014/main" id="{E8BD508E-3EDC-B1DE-6EC9-C2E4499CBE94}"/>
                  </a:ext>
                </a:extLst>
              </p:cNvPr>
              <p:cNvSpPr txBox="1"/>
              <p:nvPr/>
            </p:nvSpPr>
            <p:spPr>
              <a:xfrm>
                <a:off x="8851900" y="5397500"/>
                <a:ext cx="2260600" cy="3937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es-419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419" sz="1300" b="0" i="0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sub>
                      </m:sSub>
                      <m:r>
                        <a:rPr lang="es-419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419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 lang="es-419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s-419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300" noProof="1"/>
              </a:p>
            </p:txBody>
          </p:sp>
        </mc:Choice>
        <mc:Fallback>
          <p:sp>
            <p:nvSpPr>
              <p:cNvPr id="45" name="Text 43">
                <a:extLst>
                  <a:ext uri="{FF2B5EF4-FFF2-40B4-BE49-F238E27FC236}">
                    <a16:creationId xmlns:a16="http://schemas.microsoft.com/office/drawing/2014/main" id="{E8BD508E-3EDC-B1DE-6EC9-C2E4499CBE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1900" y="5397500"/>
                <a:ext cx="2260600" cy="3937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 25">
                <a:extLst>
                  <a:ext uri="{FF2B5EF4-FFF2-40B4-BE49-F238E27FC236}">
                    <a16:creationId xmlns:a16="http://schemas.microsoft.com/office/drawing/2014/main" id="{89700778-7D69-96E2-2CF1-065E3144797F}"/>
                  </a:ext>
                </a:extLst>
              </p:cNvPr>
              <p:cNvSpPr txBox="1"/>
              <p:nvPr/>
            </p:nvSpPr>
            <p:spPr>
              <a:xfrm>
                <a:off x="4699000" y="2171700"/>
                <a:ext cx="2755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2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s-ES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s-ES" sz="120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s-ES_tradnl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</m:ctrlPr>
                                </m:sSubPr>
                                <m:e>
                                  <m:r>
                                    <a:rPr lang="es-ES_tradnl" sz="1200" i="1" noProof="1" smtClean="0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alibri" pitchFamily="34" charset="-12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s-419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s-ES_tradnl" sz="1000" noProof="1"/>
              </a:p>
            </p:txBody>
          </p:sp>
        </mc:Choice>
        <mc:Fallback>
          <p:sp>
            <p:nvSpPr>
              <p:cNvPr id="49" name="Text 25">
                <a:extLst>
                  <a:ext uri="{FF2B5EF4-FFF2-40B4-BE49-F238E27FC236}">
                    <a16:creationId xmlns:a16="http://schemas.microsoft.com/office/drawing/2014/main" id="{89700778-7D69-96E2-2CF1-065E31447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9000" y="2171700"/>
                <a:ext cx="2755900" cy="355600"/>
              </a:xfrm>
              <a:prstGeom prst="rect">
                <a:avLst/>
              </a:prstGeom>
              <a:blipFill>
                <a:blip r:embed="rId10"/>
                <a:stretch>
                  <a:fillRect t="-163333" b="-280000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 28">
            <a:extLst>
              <a:ext uri="{FF2B5EF4-FFF2-40B4-BE49-F238E27FC236}">
                <a16:creationId xmlns:a16="http://schemas.microsoft.com/office/drawing/2014/main" id="{C000BCD8-C026-3488-61D7-69A84C7256EF}"/>
              </a:ext>
            </a:extLst>
          </p:cNvPr>
          <p:cNvSpPr txBox="1"/>
          <p:nvPr/>
        </p:nvSpPr>
        <p:spPr>
          <a:xfrm>
            <a:off x="4927600" y="3683000"/>
            <a:ext cx="1219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2E6D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GAD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 29">
                <a:extLst>
                  <a:ext uri="{FF2B5EF4-FFF2-40B4-BE49-F238E27FC236}">
                    <a16:creationId xmlns:a16="http://schemas.microsoft.com/office/drawing/2014/main" id="{8874BEC8-D03A-DF2D-7CBD-D987993A9DE1}"/>
                  </a:ext>
                </a:extLst>
              </p:cNvPr>
              <p:cNvSpPr txBox="1"/>
              <p:nvPr/>
            </p:nvSpPr>
            <p:spPr>
              <a:xfrm>
                <a:off x="4927600" y="4013200"/>
                <a:ext cx="12192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4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s-ES" sz="14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′=</m:t>
                      </m:r>
                      <m:r>
                        <a:rPr lang="es-ES" sz="14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ℰ</m:t>
                      </m:r>
                      <m:d>
                        <m:dPr>
                          <m:ctrlPr>
                            <a:rPr lang="es-ES" sz="14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14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4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s-ES" sz="14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s-ES_tradnl" sz="1300" noProof="1"/>
              </a:p>
            </p:txBody>
          </p:sp>
        </mc:Choice>
        <mc:Fallback>
          <p:sp>
            <p:nvSpPr>
              <p:cNvPr id="51" name="Text 29">
                <a:extLst>
                  <a:ext uri="{FF2B5EF4-FFF2-40B4-BE49-F238E27FC236}">
                    <a16:creationId xmlns:a16="http://schemas.microsoft.com/office/drawing/2014/main" id="{8874BEC8-D03A-DF2D-7CBD-D987993A9D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7600" y="4013200"/>
                <a:ext cx="1219200" cy="355600"/>
              </a:xfrm>
              <a:prstGeom prst="rect">
                <a:avLst/>
              </a:prstGeom>
              <a:blipFill>
                <a:blip r:embed="rId11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hape 30">
            <a:extLst>
              <a:ext uri="{FF2B5EF4-FFF2-40B4-BE49-F238E27FC236}">
                <a16:creationId xmlns:a16="http://schemas.microsoft.com/office/drawing/2014/main" id="{EA134C21-E6E1-5DF7-4431-0A4B1CA711DA}"/>
              </a:ext>
            </a:extLst>
          </p:cNvPr>
          <p:cNvSpPr/>
          <p:nvPr/>
        </p:nvSpPr>
        <p:spPr>
          <a:xfrm>
            <a:off x="8496300" y="4013200"/>
            <a:ext cx="2032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3" name="Shape 31">
            <a:extLst>
              <a:ext uri="{FF2B5EF4-FFF2-40B4-BE49-F238E27FC236}">
                <a16:creationId xmlns:a16="http://schemas.microsoft.com/office/drawing/2014/main" id="{138B7821-85EA-F8D9-F613-2D27B7AEE716}"/>
              </a:ext>
            </a:extLst>
          </p:cNvPr>
          <p:cNvSpPr/>
          <p:nvPr/>
        </p:nvSpPr>
        <p:spPr>
          <a:xfrm>
            <a:off x="8763000" y="3581400"/>
            <a:ext cx="2425700" cy="8636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4" name="Text 28">
            <a:extLst>
              <a:ext uri="{FF2B5EF4-FFF2-40B4-BE49-F238E27FC236}">
                <a16:creationId xmlns:a16="http://schemas.microsoft.com/office/drawing/2014/main" id="{2CDB3221-3C42-3C02-2DC0-4B747DD9CF65}"/>
              </a:ext>
            </a:extLst>
          </p:cNvPr>
          <p:cNvSpPr txBox="1"/>
          <p:nvPr/>
        </p:nvSpPr>
        <p:spPr>
          <a:xfrm>
            <a:off x="8813800" y="3683000"/>
            <a:ext cx="2324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Epsilon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 29">
                <a:extLst>
                  <a:ext uri="{FF2B5EF4-FFF2-40B4-BE49-F238E27FC236}">
                    <a16:creationId xmlns:a16="http://schemas.microsoft.com/office/drawing/2014/main" id="{C5211E40-B2DB-DF2B-A3FF-342C935D544B}"/>
                  </a:ext>
                </a:extLst>
              </p:cNvPr>
              <p:cNvSpPr txBox="1"/>
              <p:nvPr/>
            </p:nvSpPr>
            <p:spPr>
              <a:xfrm>
                <a:off x="8813800" y="4013200"/>
                <a:ext cx="23241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2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2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s-419" sz="12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𝑑𝑃𝐷</m:t>
                      </m:r>
                      <m:d>
                        <m:dPr>
                          <m:ctrlPr>
                            <a:rPr lang="es-419" sz="12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𝑑𝑃𝐷</m:t>
                      </m:r>
                      <m:d>
                        <m:dPr>
                          <m:ctrlPr>
                            <a:rPr lang="es-419" sz="12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200" noProof="1"/>
              </a:p>
            </p:txBody>
          </p:sp>
        </mc:Choice>
        <mc:Fallback>
          <p:sp>
            <p:nvSpPr>
              <p:cNvPr id="55" name="Text 29">
                <a:extLst>
                  <a:ext uri="{FF2B5EF4-FFF2-40B4-BE49-F238E27FC236}">
                    <a16:creationId xmlns:a16="http://schemas.microsoft.com/office/drawing/2014/main" id="{C5211E40-B2DB-DF2B-A3FF-342C935D54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3800" y="4013200"/>
                <a:ext cx="2324100" cy="355600"/>
              </a:xfrm>
              <a:prstGeom prst="rect">
                <a:avLst/>
              </a:prstGeom>
              <a:blipFill>
                <a:blip r:embed="rId12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Shape 30">
            <a:extLst>
              <a:ext uri="{FF2B5EF4-FFF2-40B4-BE49-F238E27FC236}">
                <a16:creationId xmlns:a16="http://schemas.microsoft.com/office/drawing/2014/main" id="{C1246EC5-177E-FB99-9F88-A8606E9AEA0D}"/>
              </a:ext>
            </a:extLst>
          </p:cNvPr>
          <p:cNvSpPr/>
          <p:nvPr/>
        </p:nvSpPr>
        <p:spPr>
          <a:xfrm>
            <a:off x="7480300" y="4508500"/>
            <a:ext cx="0" cy="45720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0" name="Shape 30">
            <a:extLst>
              <a:ext uri="{FF2B5EF4-FFF2-40B4-BE49-F238E27FC236}">
                <a16:creationId xmlns:a16="http://schemas.microsoft.com/office/drawing/2014/main" id="{BC5AAB37-81F0-ADEE-8274-BD75EB967933}"/>
              </a:ext>
            </a:extLst>
          </p:cNvPr>
          <p:cNvSpPr/>
          <p:nvPr/>
        </p:nvSpPr>
        <p:spPr>
          <a:xfrm>
            <a:off x="9975850" y="4508500"/>
            <a:ext cx="0" cy="45720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</p:spTree>
    <p:extLst>
      <p:ext uri="{BB962C8B-B14F-4D97-AF65-F5344CB8AC3E}">
        <p14:creationId xmlns:p14="http://schemas.microsoft.com/office/powerpoint/2010/main" val="26050203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93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D10BF9-83B2-B322-F7C0-43DA7E5F6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8E1691D-9C21-6CE3-EB72-A8AF1ECE7DEB}"/>
              </a:ext>
            </a:extLst>
          </p:cNvPr>
          <p:cNvSpPr/>
          <p:nvPr/>
        </p:nvSpPr>
        <p:spPr>
          <a:xfrm>
            <a:off x="8138160" y="1097280"/>
            <a:ext cx="4754880" cy="47548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5AA3A49-24F5-466C-F124-46F6462FE560}"/>
              </a:ext>
            </a:extLst>
          </p:cNvPr>
          <p:cNvSpPr/>
          <p:nvPr/>
        </p:nvSpPr>
        <p:spPr>
          <a:xfrm>
            <a:off x="9052560" y="2011680"/>
            <a:ext cx="2926080" cy="29260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E08A2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AA010F3-2CCD-9883-606C-DEA90911C742}"/>
              </a:ext>
            </a:extLst>
          </p:cNvPr>
          <p:cNvSpPr txBox="1"/>
          <p:nvPr/>
        </p:nvSpPr>
        <p:spPr>
          <a:xfrm>
            <a:off x="731520" y="2603500"/>
            <a:ext cx="54864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400" b="1" kern="0" spc="300" noProof="1">
                <a:solidFill>
                  <a:srgbClr val="1A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Prerequisito 3</a:t>
            </a:r>
            <a:endParaRPr lang="es-ES_tradnl" sz="1400" noProof="1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26C43DC-F352-EFDE-1675-57918E79D85A}"/>
              </a:ext>
            </a:extLst>
          </p:cNvPr>
          <p:cNvSpPr txBox="1"/>
          <p:nvPr/>
        </p:nvSpPr>
        <p:spPr>
          <a:xfrm>
            <a:off x="731520" y="3022600"/>
            <a:ext cx="749808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4000" b="1" noProof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Aplicación de canal depolarizante GAD</a:t>
            </a:r>
            <a:endParaRPr lang="es-ES_tradnl" sz="40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4">
                <a:extLst>
                  <a:ext uri="{FF2B5EF4-FFF2-40B4-BE49-F238E27FC236}">
                    <a16:creationId xmlns:a16="http://schemas.microsoft.com/office/drawing/2014/main" id="{7266DA40-D0F3-FF04-35B8-D87497330023}"/>
                  </a:ext>
                </a:extLst>
              </p:cNvPr>
              <p:cNvSpPr txBox="1"/>
              <p:nvPr/>
            </p:nvSpPr>
            <p:spPr>
              <a:xfrm>
                <a:off x="731520" y="4424680"/>
                <a:ext cx="731520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s-ES_tradnl" sz="2000" noProof="1">
                    <a:solidFill>
                      <a:srgbClr val="CADCFC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Sobre las matrices de densidad </a:t>
                </a:r>
                <a14:m>
                  <m:oMath xmlns:m="http://schemas.openxmlformats.org/officeDocument/2006/math">
                    <m:r>
                      <a:rPr lang="es-ES_tradnl" sz="2000" noProof="1">
                        <a:solidFill>
                          <a:srgbClr val="CADCFC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𝜌</m:t>
                    </m:r>
                  </m:oMath>
                </a14:m>
                <a:r>
                  <a:rPr lang="es-ES_tradnl" sz="2000" noProof="1">
                    <a:solidFill>
                      <a:srgbClr val="CADCFC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y </a:t>
                </a:r>
                <a14:m>
                  <m:oMath xmlns:m="http://schemas.openxmlformats.org/officeDocument/2006/math">
                    <m:r>
                      <a:rPr lang="es-ES_tradnl" sz="2000" noProof="1">
                        <a:solidFill>
                          <a:srgbClr val="CADCFC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𝜎</m:t>
                    </m:r>
                  </m:oMath>
                </a14:m>
                <a:r>
                  <a:rPr lang="es-ES_tradnl" sz="2000" noProof="1">
                    <a:solidFill>
                      <a:srgbClr val="CADCFC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</a:p>
            </p:txBody>
          </p:sp>
        </mc:Choice>
        <mc:Fallback xmlns="">
          <p:sp>
            <p:nvSpPr>
              <p:cNvPr id="6" name="Text 4">
                <a:extLst>
                  <a:ext uri="{FF2B5EF4-FFF2-40B4-BE49-F238E27FC236}">
                    <a16:creationId xmlns:a16="http://schemas.microsoft.com/office/drawing/2014/main" id="{7266DA40-D0F3-FF04-35B8-D874973300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" y="4424680"/>
                <a:ext cx="7315200" cy="457200"/>
              </a:xfrm>
              <a:prstGeom prst="rect">
                <a:avLst/>
              </a:prstGeom>
              <a:blipFill>
                <a:blip r:embed="rId3"/>
                <a:stretch>
                  <a:fillRect l="-2080" t="-16216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76015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Canal Generalized Amplitude Damping</a:t>
            </a:r>
            <a:endParaRPr lang="es-ES_tradnl" sz="3200" noProof="1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291840" cy="640080"/>
          </a:xfrm>
          <a:prstGeom prst="roundRect">
            <a:avLst>
              <a:gd name="adj" fmla="val 1714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5"/>
              <p:cNvSpPr txBox="1"/>
              <p:nvPr/>
            </p:nvSpPr>
            <p:spPr>
              <a:xfrm>
                <a:off x="685800" y="1371600"/>
                <a:ext cx="301752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sz="15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s-ES" sz="1500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rad>
                      <m:d>
                        <m:dPr>
                          <m:begChr m:val="["/>
                          <m:endChr m:val="]"/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15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1500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1500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1500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ad>
                                  <m:radPr>
                                    <m:ctrlP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s-ES" sz="1500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1−</m:t>
                                    </m:r>
                                    <m: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rad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_tradnl" sz="1500" noProof="1"/>
              </a:p>
            </p:txBody>
          </p:sp>
        </mc:Choice>
        <mc:Fallback>
          <p:sp>
            <p:nvSpPr>
              <p:cNvPr id="7" name="Text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0" y="1371600"/>
                <a:ext cx="3017520" cy="64008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hape 6"/>
          <p:cNvSpPr/>
          <p:nvPr/>
        </p:nvSpPr>
        <p:spPr>
          <a:xfrm>
            <a:off x="8214362" y="1371600"/>
            <a:ext cx="3291840" cy="640080"/>
          </a:xfrm>
          <a:prstGeom prst="roundRect">
            <a:avLst>
              <a:gd name="adj" fmla="val 1714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 7"/>
              <p:cNvSpPr txBox="1"/>
              <p:nvPr/>
            </p:nvSpPr>
            <p:spPr>
              <a:xfrm>
                <a:off x="8351522" y="1371600"/>
                <a:ext cx="301752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sz="15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rad>
                      <m:d>
                        <m:dPr>
                          <m:begChr m:val="["/>
                          <m:endChr m:val="]"/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15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ad>
                                  <m:radPr>
                                    <m:ctrlP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rad>
                              </m:e>
                            </m:mr>
                            <m:mr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_tradnl" sz="1500" noProof="1"/>
              </a:p>
            </p:txBody>
          </p:sp>
        </mc:Choice>
        <mc:Fallback>
          <p:sp>
            <p:nvSpPr>
              <p:cNvPr id="9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1522" y="1371600"/>
                <a:ext cx="3017520" cy="64008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hape 8"/>
          <p:cNvSpPr/>
          <p:nvPr/>
        </p:nvSpPr>
        <p:spPr>
          <a:xfrm>
            <a:off x="548640" y="2148840"/>
            <a:ext cx="3291840" cy="640080"/>
          </a:xfrm>
          <a:prstGeom prst="roundRect">
            <a:avLst>
              <a:gd name="adj" fmla="val 1714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 9"/>
              <p:cNvSpPr txBox="1"/>
              <p:nvPr/>
            </p:nvSpPr>
            <p:spPr>
              <a:xfrm>
                <a:off x="685800" y="2148840"/>
                <a:ext cx="301752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s-ES" sz="15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rad>
                      <m:d>
                        <m:dPr>
                          <m:begChr m:val="["/>
                          <m:endChr m:val="]"/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15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ad>
                                  <m:radPr>
                                    <m:ctrlP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1−</m:t>
                                    </m:r>
                                    <m: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rad>
                              </m:e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_tradnl" sz="1500" noProof="1"/>
              </a:p>
            </p:txBody>
          </p:sp>
        </mc:Choice>
        <mc:Fallback>
          <p:sp>
            <p:nvSpPr>
              <p:cNvPr id="11" name="Tex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0" y="2148840"/>
                <a:ext cx="3017520" cy="64008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hape 10"/>
          <p:cNvSpPr/>
          <p:nvPr/>
        </p:nvSpPr>
        <p:spPr>
          <a:xfrm>
            <a:off x="8214362" y="2144268"/>
            <a:ext cx="3291840" cy="640080"/>
          </a:xfrm>
          <a:prstGeom prst="roundRect">
            <a:avLst>
              <a:gd name="adj" fmla="val 1714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 11"/>
              <p:cNvSpPr txBox="1"/>
              <p:nvPr/>
            </p:nvSpPr>
            <p:spPr>
              <a:xfrm>
                <a:off x="8351522" y="2144268"/>
                <a:ext cx="301752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s-ES" sz="15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rad>
                      <m:d>
                        <m:dPr>
                          <m:begChr m:val="["/>
                          <m:endChr m:val="]"/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15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ad>
                                  <m:radPr>
                                    <m:ctrlP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rad>
                              </m:e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_tradnl" sz="1500" noProof="1"/>
              </a:p>
            </p:txBody>
          </p:sp>
        </mc:Choice>
        <mc:Fallback>
          <p:sp>
            <p:nvSpPr>
              <p:cNvPr id="13" name="Text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1522" y="2144268"/>
                <a:ext cx="3017520" cy="64008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 12"/>
              <p:cNvSpPr txBox="1"/>
              <p:nvPr/>
            </p:nvSpPr>
            <p:spPr>
              <a:xfrm>
                <a:off x="4096897" y="1801368"/>
                <a:ext cx="3835791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ℰ</m:t>
                      </m:r>
                      <m:d>
                        <m:d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  <m:sSubSup>
                            <m:sSubSup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bSup>
                        </m:e>
                      </m:nary>
                      <m:r>
                        <a:rPr lang="es-ES" sz="1800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      </m:t>
                      </m:r>
                      <m:r>
                        <m:rPr>
                          <m:sty m:val="p"/>
                        </m:rPr>
                        <a:rPr lang="es-ES" sz="1800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con</m:t>
                      </m:r>
                      <m:r>
                        <a:rPr lang="es-ES" sz="1800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es-ES_tradnl" sz="1800" noProof="1"/>
              </a:p>
            </p:txBody>
          </p:sp>
        </mc:Choice>
        <mc:Fallback>
          <p:sp>
            <p:nvSpPr>
              <p:cNvPr id="14" name="Text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6897" y="1801368"/>
                <a:ext cx="3835791" cy="457200"/>
              </a:xfrm>
              <a:prstGeom prst="rect">
                <a:avLst/>
              </a:prstGeom>
              <a:blipFill>
                <a:blip r:embed="rId7"/>
                <a:stretch>
                  <a:fillRect l="-660" t="-218919" r="-330" b="-32702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 18"/>
              <p:cNvSpPr txBox="1"/>
              <p:nvPr/>
            </p:nvSpPr>
            <p:spPr>
              <a:xfrm>
                <a:off x="4150362" y="5943917"/>
                <a:ext cx="4064000" cy="711200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800" i="1" smtClean="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800" i="1" smtClean="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s-419" sz="1800" b="0" i="1" smtClean="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𝐺𝐴𝐷</m:t>
                          </m:r>
                        </m:sub>
                      </m:sSub>
                      <m:d>
                        <m:d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18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sz="18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sz="18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sz="1800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sz="1800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s-ES" sz="18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lin"/>
                                    <m:ctrlPr>
                                      <a:rPr lang="es-ES" sz="18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sz="18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sz="1800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sz="1800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  <m:e>
                                <m:r>
                                  <a:rPr lang="es-ES" sz="18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_tradnl" sz="1800" noProof="1"/>
              </a:p>
            </p:txBody>
          </p:sp>
        </mc:Choice>
        <mc:Fallback>
          <p:sp>
            <p:nvSpPr>
              <p:cNvPr id="20" name="Text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0362" y="5943917"/>
                <a:ext cx="4064000" cy="711200"/>
              </a:xfrm>
              <a:prstGeom prst="rect">
                <a:avLst/>
              </a:prstGeom>
              <a:blipFill>
                <a:blip r:embed="rId8"/>
                <a:stretch>
                  <a:fillRect l="-1242" t="-54386" b="-91228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Kraus numéricos"/>
              <p:cNvSpPr txBox="1"/>
              <p:nvPr/>
            </p:nvSpPr>
            <p:spPr>
              <a:xfrm>
                <a:off x="370986" y="2921000"/>
                <a:ext cx="11287614" cy="260350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marL="0" indent="0">
                  <a:spcBef>
                    <a:spcPts val="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i="1" smtClean="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</m:m>
                        </m:e>
                      </m:d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s-ES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     </m:t>
                      </m:r>
                      <m:sSub>
                        <m:sSub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s-419" b="1" i="0" smtClean="0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s-ES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     </m:t>
                      </m:r>
                      <m:sSub>
                        <m:sSub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" b="1" dirty="0">
                  <a:solidFill>
                    <a:srgbClr val="16193B"/>
                  </a:solidFill>
                </a:endParaRPr>
              </a:p>
              <a:p>
                <a:pPr marL="0" indent="0">
                  <a:spcBef>
                    <a:spcPts val="800"/>
                  </a:spcBef>
                  <a:buNone/>
                </a:pPr>
                <a:endParaRPr lang="es-ES" i="1" dirty="0">
                  <a:solidFill>
                    <a:srgbClr val="16193B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  <m:sup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p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</m:m>
                        </m:e>
                      </m:d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</m:m>
                        </m:e>
                      </m:d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" b="1" dirty="0">
                  <a:solidFill>
                    <a:srgbClr val="16193B"/>
                  </a:solidFill>
                </a:endParaRPr>
              </a:p>
              <a:p>
                <a:pPr marL="0" indent="0">
                  <a:spcBef>
                    <a:spcPts val="800"/>
                  </a:spcBef>
                  <a:buNone/>
                </a:pPr>
                <a:endParaRPr lang="es-ES" i="1" dirty="0">
                  <a:solidFill>
                    <a:srgbClr val="16193B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p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s-ES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     </m:t>
                      </m:r>
                      <m:sSub>
                        <m:sSub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  <m:sup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p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s-ES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     </m:t>
                      </m:r>
                      <m:sSub>
                        <m:sSub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  <m:sup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p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" b="1" dirty="0">
                  <a:solidFill>
                    <a:srgbClr val="16193B"/>
                  </a:solidFill>
                </a:endParaRPr>
              </a:p>
            </p:txBody>
          </p:sp>
        </mc:Choice>
        <mc:Fallback>
          <p:sp>
            <p:nvSpPr>
              <p:cNvPr id="40" name="Kraus numérico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986" y="2921000"/>
                <a:ext cx="11287614" cy="2603500"/>
              </a:xfrm>
              <a:prstGeom prst="rect">
                <a:avLst/>
              </a:prstGeom>
              <a:blipFill>
                <a:blip r:embed="rId9"/>
                <a:stretch>
                  <a:fillRect t="-15534" b="-28641"/>
                </a:stretch>
              </a:blipFill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378833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Validación: cálculo a mano vs código</a:t>
            </a:r>
            <a:endParaRPr lang="es-ES_tradnl" sz="3200" noProof="1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 txBox="1"/>
          <p:nvPr/>
        </p:nvSpPr>
        <p:spPr>
          <a:xfrm>
            <a:off x="868680" y="1600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2000" b="1" noProof="1">
                <a:solidFill>
                  <a:srgbClr val="161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mano (collateral = 3)</a:t>
            </a:r>
            <a:endParaRPr lang="es-ES_tradnl" sz="2000" noProof="1"/>
          </a:p>
        </p:txBody>
      </p:sp>
      <p:sp>
        <p:nvSpPr>
          <p:cNvPr id="8" name="Text 6"/>
          <p:cNvSpPr txBox="1"/>
          <p:nvPr/>
        </p:nvSpPr>
        <p:spPr>
          <a:xfrm>
            <a:off x="868680" y="2286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5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codificado</a:t>
            </a:r>
            <a:endParaRPr lang="es-ES_tradnl" sz="15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 7"/>
              <p:cNvSpPr txBox="1"/>
              <p:nvPr/>
            </p:nvSpPr>
            <p:spPr>
              <a:xfrm>
                <a:off x="868680" y="2651760"/>
                <a:ext cx="4754880" cy="5029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s-ES" sz="20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0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0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0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s-ES" sz="20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e>
                                <m:r>
                                  <a:rPr lang="es-ES" sz="20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_tradnl" sz="2000" noProof="1"/>
              </a:p>
            </p:txBody>
          </p:sp>
        </mc:Choice>
        <mc:Fallback>
          <p:sp>
            <p:nvSpPr>
              <p:cNvPr id="9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2651760"/>
                <a:ext cx="4754880" cy="502920"/>
              </a:xfrm>
              <a:prstGeom prst="rect">
                <a:avLst/>
              </a:prstGeom>
              <a:blipFill>
                <a:blip r:embed="rId3"/>
                <a:stretch>
                  <a:fillRect l="-1862" t="-4878" b="-24390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 8"/>
          <p:cNvSpPr txBox="1"/>
          <p:nvPr/>
        </p:nvSpPr>
        <p:spPr>
          <a:xfrm>
            <a:off x="868680" y="34747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5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 GAD (p = γ = 0.5)</a:t>
            </a:r>
            <a:endParaRPr lang="es-ES_tradnl" sz="15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 9"/>
              <p:cNvSpPr txBox="1"/>
              <p:nvPr/>
            </p:nvSpPr>
            <p:spPr>
              <a:xfrm>
                <a:off x="868680" y="3840480"/>
                <a:ext cx="4754880" cy="5029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20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ℰ</m:t>
                      </m:r>
                      <m:d>
                        <m:dPr>
                          <m:ctrlP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sz="20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0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sz="20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sz="20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sz="2000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sz="2000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s-ES" sz="20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lin"/>
                                    <m:ctrlPr>
                                      <a:rPr lang="es-ES" sz="20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sz="20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sz="2000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sz="2000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  <m:e>
                                <m:r>
                                  <a:rPr lang="es-ES" sz="20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_tradnl" sz="2000" noProof="1"/>
              </a:p>
            </p:txBody>
          </p:sp>
        </mc:Choice>
        <mc:Fallback>
          <p:sp>
            <p:nvSpPr>
              <p:cNvPr id="11" name="Tex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3840480"/>
                <a:ext cx="4754880" cy="502920"/>
              </a:xfrm>
              <a:prstGeom prst="rect">
                <a:avLst/>
              </a:prstGeom>
              <a:blipFill>
                <a:blip r:embed="rId4"/>
                <a:stretch>
                  <a:fillRect l="-1862" t="-109756" b="-175610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 10"/>
              <p:cNvSpPr txBox="1"/>
              <p:nvPr/>
            </p:nvSpPr>
            <p:spPr>
              <a:xfrm>
                <a:off x="868680" y="4480560"/>
                <a:ext cx="475488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1500" i="1">
                          <a:solidFill>
                            <a:srgbClr val="5F6B7A"/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s-ES" sz="1500" i="1">
                              <a:solidFill>
                                <a:srgbClr val="5F6B7A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1500" i="1">
                              <a:solidFill>
                                <a:srgbClr val="5F6B7A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1500" i="1">
                              <a:solidFill>
                                <a:srgbClr val="5F6B7A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sz="1500" i="1">
                              <a:solidFill>
                                <a:srgbClr val="5F6B7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1500" i="1">
                                  <a:solidFill>
                                    <a:srgbClr val="5F6B7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1500" i="1">
                                    <a:solidFill>
                                      <a:srgbClr val="5F6B7A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1500" i="1">
                                    <a:solidFill>
                                      <a:srgbClr val="5F6B7A"/>
                                    </a:solidFill>
                                    <a:latin typeface="Cambria Math" panose="02040503050406030204" pitchFamily="18" charset="0"/>
                                  </a:rPr>
                                  <m:t>0.707</m:t>
                                </m:r>
                                <m:r>
                                  <a:rPr lang="es-ES" sz="1500" i="1">
                                    <a:solidFill>
                                      <a:srgbClr val="5F6B7A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1500" i="1">
                                    <a:solidFill>
                                      <a:srgbClr val="5F6B7A"/>
                                    </a:solidFill>
                                    <a:latin typeface="Cambria Math" panose="02040503050406030204" pitchFamily="18" charset="0"/>
                                  </a:rPr>
                                  <m:t>−0.707</m:t>
                                </m:r>
                                <m:r>
                                  <a:rPr lang="es-ES" sz="1500" i="1">
                                    <a:solidFill>
                                      <a:srgbClr val="5F6B7A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e>
                                <m:r>
                                  <a:rPr lang="es-ES" sz="1500" i="1">
                                    <a:solidFill>
                                      <a:srgbClr val="5F6B7A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_tradnl" sz="1500" noProof="1"/>
              </a:p>
            </p:txBody>
          </p:sp>
        </mc:Choice>
        <mc:Fallback>
          <p:sp>
            <p:nvSpPr>
              <p:cNvPr id="12" name="Text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4480560"/>
                <a:ext cx="4754880" cy="411480"/>
              </a:xfrm>
              <a:prstGeom prst="rect">
                <a:avLst/>
              </a:prstGeom>
              <a:blipFill>
                <a:blip r:embed="rId5"/>
                <a:stretch>
                  <a:fillRect l="-1064" b="-23529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hape 11"/>
          <p:cNvSpPr/>
          <p:nvPr/>
        </p:nvSpPr>
        <p:spPr>
          <a:xfrm>
            <a:off x="6263640" y="137160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9050">
            <a:solidFill>
              <a:srgbClr val="E08A2E"/>
            </a:solidFill>
            <a:prstDash val="dash"/>
          </a:ln>
        </p:spPr>
        <p:txBody>
          <a:bodyPr/>
          <a:lstStyle/>
          <a:p>
            <a:endParaRPr lang="es-ES_tradnl" noProof="1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BF50B710-F3D9-9150-10D7-2F46BEC6A4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3670" y="1747520"/>
            <a:ext cx="4914900" cy="345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69743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F0EF6-0B6A-6E17-29C6-560DF97AB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14F42B06-4F9C-4434-2D38-A2FF91E0ACAB}"/>
              </a:ext>
            </a:extLst>
          </p:cNvPr>
          <p:cNvSpPr txBox="1"/>
          <p:nvPr/>
        </p:nvSpPr>
        <p:spPr>
          <a:xfrm>
            <a:off x="548640" y="356616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completo</a:t>
            </a:r>
            <a:endParaRPr lang="es-ES_tradnl" sz="3200" noProof="1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D65D9009-3C2C-CB59-8740-0418797A8229}"/>
              </a:ext>
            </a:extLst>
          </p:cNvPr>
          <p:cNvSpPr/>
          <p:nvPr/>
        </p:nvSpPr>
        <p:spPr>
          <a:xfrm>
            <a:off x="548640" y="1325880"/>
            <a:ext cx="11064240" cy="4892040"/>
          </a:xfrm>
          <a:prstGeom prst="roundRect">
            <a:avLst>
              <a:gd name="adj" fmla="val 224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9522243-5B12-5338-6027-8559F60A1541}"/>
              </a:ext>
            </a:extLst>
          </p:cNvPr>
          <p:cNvSpPr txBox="1"/>
          <p:nvPr/>
        </p:nvSpPr>
        <p:spPr>
          <a:xfrm>
            <a:off x="77724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500" b="1" noProof="1">
                <a:solidFill>
                  <a:srgbClr val="161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columna k = 0, …, 6</a:t>
            </a:r>
            <a:endParaRPr lang="es-ES_tradnl" sz="1500" noProof="1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0FF14AFD-71A5-F492-D708-71D107AD6D26}"/>
              </a:ext>
            </a:extLst>
          </p:cNvPr>
          <p:cNvSpPr/>
          <p:nvPr/>
        </p:nvSpPr>
        <p:spPr>
          <a:xfrm>
            <a:off x="965200" y="1854200"/>
            <a:ext cx="2857500" cy="863600"/>
          </a:xfrm>
          <a:prstGeom prst="roundRect">
            <a:avLst>
              <a:gd name="adj" fmla="val 8421"/>
            </a:avLst>
          </a:prstGeom>
          <a:solidFill>
            <a:srgbClr val="E6F5F3"/>
          </a:solidFill>
          <a:ln w="15875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B4DEB13-B99D-38F6-7490-389AA93BE0C9}"/>
              </a:ext>
            </a:extLst>
          </p:cNvPr>
          <p:cNvSpPr txBox="1"/>
          <p:nvPr/>
        </p:nvSpPr>
        <p:spPr>
          <a:xfrm>
            <a:off x="1016000" y="1955800"/>
            <a:ext cx="275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A9E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Codificar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 8">
                <a:extLst>
                  <a:ext uri="{FF2B5EF4-FFF2-40B4-BE49-F238E27FC236}">
                    <a16:creationId xmlns:a16="http://schemas.microsoft.com/office/drawing/2014/main" id="{DAA8AC40-8942-2062-E118-CF83BD8E9208}"/>
                  </a:ext>
                </a:extLst>
              </p:cNvPr>
              <p:cNvSpPr txBox="1"/>
              <p:nvPr/>
            </p:nvSpPr>
            <p:spPr>
              <a:xfrm>
                <a:off x="1016000" y="2286000"/>
                <a:ext cx="2755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ES_tradnl" sz="130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s-ES_tradnl" sz="130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itchFamily="34" charset="-120"/>
                          </a:rPr>
                          <m:t>𝜌</m:t>
                        </m:r>
                      </m:e>
                      <m:sub>
                        <m:r>
                          <a:rPr lang="es-419" sz="1300" b="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s-ES_tradnl" sz="13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1000 estados</a:t>
                </a:r>
                <a:endParaRPr lang="es-ES_tradnl" sz="1300" noProof="1"/>
              </a:p>
            </p:txBody>
          </p:sp>
        </mc:Choice>
        <mc:Fallback>
          <p:sp>
            <p:nvSpPr>
              <p:cNvPr id="10" name="Text 8">
                <a:extLst>
                  <a:ext uri="{FF2B5EF4-FFF2-40B4-BE49-F238E27FC236}">
                    <a16:creationId xmlns:a16="http://schemas.microsoft.com/office/drawing/2014/main" id="{DAA8AC40-8942-2062-E118-CF83BD8E92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2286000"/>
                <a:ext cx="2755900" cy="355600"/>
              </a:xfrm>
              <a:prstGeom prst="rect">
                <a:avLst/>
              </a:prstGeom>
              <a:blipFill>
                <a:blip r:embed="rId3"/>
                <a:stretch>
                  <a:fillRect t="-1785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hape 9">
            <a:extLst>
              <a:ext uri="{FF2B5EF4-FFF2-40B4-BE49-F238E27FC236}">
                <a16:creationId xmlns:a16="http://schemas.microsoft.com/office/drawing/2014/main" id="{B8F3EF2C-5FC9-2590-56D5-574E2FF86AEE}"/>
              </a:ext>
            </a:extLst>
          </p:cNvPr>
          <p:cNvSpPr/>
          <p:nvPr/>
        </p:nvSpPr>
        <p:spPr>
          <a:xfrm>
            <a:off x="3898900" y="2286000"/>
            <a:ext cx="6731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CAAF050D-6E4C-5262-E138-F35DB73347D1}"/>
              </a:ext>
            </a:extLst>
          </p:cNvPr>
          <p:cNvSpPr/>
          <p:nvPr/>
        </p:nvSpPr>
        <p:spPr>
          <a:xfrm>
            <a:off x="4648200" y="1854200"/>
            <a:ext cx="2857500" cy="863600"/>
          </a:xfrm>
          <a:prstGeom prst="roundRect">
            <a:avLst>
              <a:gd name="adj" fmla="val 8421"/>
            </a:avLst>
          </a:prstGeom>
          <a:solidFill>
            <a:srgbClr val="F1ECF8"/>
          </a:solidFill>
          <a:ln w="15875">
            <a:solidFill>
              <a:srgbClr val="7A4FB0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1EFA8D5-02B9-600A-6F98-12E7CD5E0390}"/>
              </a:ext>
            </a:extLst>
          </p:cNvPr>
          <p:cNvSpPr txBox="1"/>
          <p:nvPr/>
        </p:nvSpPr>
        <p:spPr>
          <a:xfrm>
            <a:off x="4699000" y="1955800"/>
            <a:ext cx="275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7A4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Agregar</a:t>
            </a:r>
            <a:endParaRPr lang="es-ES_tradnl" sz="1200" noProof="1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F9F65B84-D9E0-FE65-F852-6123C1A48E2B}"/>
              </a:ext>
            </a:extLst>
          </p:cNvPr>
          <p:cNvSpPr/>
          <p:nvPr/>
        </p:nvSpPr>
        <p:spPr>
          <a:xfrm>
            <a:off x="7581900" y="2286000"/>
            <a:ext cx="6731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A31B02A7-EDA4-20B3-2CDA-E43E26450BEC}"/>
              </a:ext>
            </a:extLst>
          </p:cNvPr>
          <p:cNvSpPr/>
          <p:nvPr/>
        </p:nvSpPr>
        <p:spPr>
          <a:xfrm>
            <a:off x="8331200" y="1854200"/>
            <a:ext cx="2857500" cy="86360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5875">
            <a:solidFill>
              <a:srgbClr val="2E6DB4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D07E9A1E-3628-9A9C-ED86-E09DCC726AA4}"/>
              </a:ext>
            </a:extLst>
          </p:cNvPr>
          <p:cNvSpPr txBox="1"/>
          <p:nvPr/>
        </p:nvSpPr>
        <p:spPr>
          <a:xfrm>
            <a:off x="8382000" y="1955800"/>
            <a:ext cx="275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2E6D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GAD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 16">
                <a:extLst>
                  <a:ext uri="{FF2B5EF4-FFF2-40B4-BE49-F238E27FC236}">
                    <a16:creationId xmlns:a16="http://schemas.microsoft.com/office/drawing/2014/main" id="{5BD300C5-DA0A-D1C0-9FEB-C5B6DA6D9B92}"/>
                  </a:ext>
                </a:extLst>
              </p:cNvPr>
              <p:cNvSpPr txBox="1"/>
              <p:nvPr/>
            </p:nvSpPr>
            <p:spPr>
              <a:xfrm>
                <a:off x="8382000" y="2286000"/>
                <a:ext cx="2755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3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s-ES" sz="13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′=</m:t>
                      </m:r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ℰ</m:t>
                          </m:r>
                        </m:e>
                        <m:sub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𝐺𝐴𝐷</m:t>
                          </m:r>
                        </m:sub>
                      </m:sSub>
                      <m:d>
                        <m:d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</m:oMath>
                  </m:oMathPara>
                </a14:m>
                <a:endParaRPr lang="es-ES_tradnl" sz="1300" noProof="1"/>
              </a:p>
            </p:txBody>
          </p:sp>
        </mc:Choice>
        <mc:Fallback>
          <p:sp>
            <p:nvSpPr>
              <p:cNvPr id="18" name="Text 16">
                <a:extLst>
                  <a:ext uri="{FF2B5EF4-FFF2-40B4-BE49-F238E27FC236}">
                    <a16:creationId xmlns:a16="http://schemas.microsoft.com/office/drawing/2014/main" id="{5BD300C5-DA0A-D1C0-9FEB-C5B6DA6D9B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0" y="2286000"/>
                <a:ext cx="2755900" cy="355600"/>
              </a:xfrm>
              <a:prstGeom prst="rect">
                <a:avLst/>
              </a:prstGeom>
              <a:blipFill>
                <a:blip r:embed="rId4"/>
                <a:stretch>
                  <a:fillRect t="-714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Shape 17">
            <a:extLst>
              <a:ext uri="{FF2B5EF4-FFF2-40B4-BE49-F238E27FC236}">
                <a16:creationId xmlns:a16="http://schemas.microsoft.com/office/drawing/2014/main" id="{593D481B-BF26-6C5F-B130-79A529448879}"/>
              </a:ext>
            </a:extLst>
          </p:cNvPr>
          <p:cNvSpPr/>
          <p:nvPr/>
        </p:nvSpPr>
        <p:spPr>
          <a:xfrm>
            <a:off x="774700" y="3048000"/>
            <a:ext cx="10604500" cy="1651000"/>
          </a:xfrm>
          <a:prstGeom prst="roundRect">
            <a:avLst>
              <a:gd name="adj" fmla="val 5405"/>
            </a:avLst>
          </a:prstGeom>
          <a:solidFill>
            <a:srgbClr val="FBF0E3"/>
          </a:solidFill>
          <a:ln w="12700">
            <a:solidFill>
              <a:srgbClr val="FBF0E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B9707686-B1E8-A49A-9BCF-8AA3910EB12A}"/>
              </a:ext>
            </a:extLst>
          </p:cNvPr>
          <p:cNvSpPr txBox="1"/>
          <p:nvPr/>
        </p:nvSpPr>
        <p:spPr>
          <a:xfrm>
            <a:off x="965200" y="3098800"/>
            <a:ext cx="5486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400" b="1" noProof="1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fila i = 0, …, 999</a:t>
            </a:r>
            <a:endParaRPr lang="es-ES_tradnl" sz="1400" noProof="1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FF44765B-8767-30BD-375B-502104F27F1C}"/>
              </a:ext>
            </a:extLst>
          </p:cNvPr>
          <p:cNvSpPr/>
          <p:nvPr/>
        </p:nvSpPr>
        <p:spPr>
          <a:xfrm>
            <a:off x="965200" y="3581400"/>
            <a:ext cx="1524000" cy="863600"/>
          </a:xfrm>
          <a:prstGeom prst="roundRect">
            <a:avLst>
              <a:gd name="adj" fmla="val 8421"/>
            </a:avLst>
          </a:prstGeom>
          <a:solidFill>
            <a:srgbClr val="E6F5F3"/>
          </a:solidFill>
          <a:ln w="15875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35FA9E42-60BF-BECC-128A-259206A3A342}"/>
              </a:ext>
            </a:extLst>
          </p:cNvPr>
          <p:cNvSpPr txBox="1"/>
          <p:nvPr/>
        </p:nvSpPr>
        <p:spPr>
          <a:xfrm>
            <a:off x="1016000" y="3683000"/>
            <a:ext cx="1422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A9E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Codificar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 21">
                <a:extLst>
                  <a:ext uri="{FF2B5EF4-FFF2-40B4-BE49-F238E27FC236}">
                    <a16:creationId xmlns:a16="http://schemas.microsoft.com/office/drawing/2014/main" id="{C42F3C87-0A06-6737-D241-1EDA00B41CBF}"/>
                  </a:ext>
                </a:extLst>
              </p:cNvPr>
              <p:cNvSpPr txBox="1"/>
              <p:nvPr/>
            </p:nvSpPr>
            <p:spPr>
              <a:xfrm>
                <a:off x="1016000" y="4013200"/>
                <a:ext cx="14224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s-ES_tradnl" sz="1300" i="1" noProof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s-ES_tradnl" sz="130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itchFamily="34" charset="-120"/>
                          </a:rPr>
                          <m:t>𝜎</m:t>
                        </m:r>
                      </m:e>
                      <m:sub>
                        <m:r>
                          <a:rPr lang="es-419" sz="1300" i="1" noProof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s-ES_tradnl" sz="13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1000 estados</a:t>
                </a:r>
                <a:endParaRPr lang="es-ES_tradnl" sz="1300" noProof="1"/>
              </a:p>
              <a:p>
                <a:pPr marL="0" indent="0" algn="ctr">
                  <a:buNone/>
                </a:pPr>
                <a:r>
                  <a:rPr lang="es-ES_tradnl" sz="13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sin la fila </a:t>
                </a:r>
                <a14:m>
                  <m:oMath xmlns:m="http://schemas.openxmlformats.org/officeDocument/2006/math">
                    <m:r>
                      <a:rPr lang="es-ES" sz="13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s-ES_tradnl" sz="1300" noProof="1"/>
              </a:p>
            </p:txBody>
          </p:sp>
        </mc:Choice>
        <mc:Fallback>
          <p:sp>
            <p:nvSpPr>
              <p:cNvPr id="23" name="Text 21">
                <a:extLst>
                  <a:ext uri="{FF2B5EF4-FFF2-40B4-BE49-F238E27FC236}">
                    <a16:creationId xmlns:a16="http://schemas.microsoft.com/office/drawing/2014/main" id="{C42F3C87-0A06-6737-D241-1EDA00B41C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4013200"/>
                <a:ext cx="1422400" cy="355600"/>
              </a:xfrm>
              <a:prstGeom prst="rect">
                <a:avLst/>
              </a:prstGeom>
              <a:blipFill>
                <a:blip r:embed="rId5"/>
                <a:stretch>
                  <a:fillRect t="-10000" b="-3666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Shape 22">
            <a:extLst>
              <a:ext uri="{FF2B5EF4-FFF2-40B4-BE49-F238E27FC236}">
                <a16:creationId xmlns:a16="http://schemas.microsoft.com/office/drawing/2014/main" id="{DA841705-7607-38B6-11E0-AAFFC6C2DB15}"/>
              </a:ext>
            </a:extLst>
          </p:cNvPr>
          <p:cNvSpPr/>
          <p:nvPr/>
        </p:nvSpPr>
        <p:spPr>
          <a:xfrm>
            <a:off x="2552700" y="4013200"/>
            <a:ext cx="206375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775D8C2C-37BA-3DB9-7B6B-07DEAF2C8ED4}"/>
              </a:ext>
            </a:extLst>
          </p:cNvPr>
          <p:cNvSpPr/>
          <p:nvPr/>
        </p:nvSpPr>
        <p:spPr>
          <a:xfrm>
            <a:off x="2822575" y="3581400"/>
            <a:ext cx="1714500" cy="863600"/>
          </a:xfrm>
          <a:prstGeom prst="roundRect">
            <a:avLst>
              <a:gd name="adj" fmla="val 8421"/>
            </a:avLst>
          </a:prstGeom>
          <a:solidFill>
            <a:srgbClr val="F1ECF8"/>
          </a:solidFill>
          <a:ln w="15875">
            <a:solidFill>
              <a:srgbClr val="7A4FB0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00D6BAE6-8639-AA73-F437-369A6F8C6F5B}"/>
              </a:ext>
            </a:extLst>
          </p:cNvPr>
          <p:cNvSpPr txBox="1"/>
          <p:nvPr/>
        </p:nvSpPr>
        <p:spPr>
          <a:xfrm>
            <a:off x="2873375" y="3683000"/>
            <a:ext cx="1612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7A4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Agregar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 25">
                <a:extLst>
                  <a:ext uri="{FF2B5EF4-FFF2-40B4-BE49-F238E27FC236}">
                    <a16:creationId xmlns:a16="http://schemas.microsoft.com/office/drawing/2014/main" id="{21CB5AC3-C685-2689-4BF7-29A0D8D24DD4}"/>
                  </a:ext>
                </a:extLst>
              </p:cNvPr>
              <p:cNvSpPr txBox="1"/>
              <p:nvPr/>
            </p:nvSpPr>
            <p:spPr>
              <a:xfrm>
                <a:off x="2873375" y="3937000"/>
                <a:ext cx="1612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2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s-ES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s-ES" sz="120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s-ES_tradnl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</m:ctrlPr>
                                </m:sSubPr>
                                <m:e>
                                  <m:r>
                                    <a:rPr lang="es-ES_tradnl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alibri" pitchFamily="34" charset="-12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s-419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s-ES_tradnl" sz="1000" noProof="1"/>
              </a:p>
            </p:txBody>
          </p:sp>
        </mc:Choice>
        <mc:Fallback>
          <p:sp>
            <p:nvSpPr>
              <p:cNvPr id="27" name="Text 25">
                <a:extLst>
                  <a:ext uri="{FF2B5EF4-FFF2-40B4-BE49-F238E27FC236}">
                    <a16:creationId xmlns:a16="http://schemas.microsoft.com/office/drawing/2014/main" id="{21CB5AC3-C685-2689-4BF7-29A0D8D24D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3375" y="3937000"/>
                <a:ext cx="1612900" cy="355600"/>
              </a:xfrm>
              <a:prstGeom prst="rect">
                <a:avLst/>
              </a:prstGeom>
              <a:blipFill>
                <a:blip r:embed="rId6"/>
                <a:stretch>
                  <a:fillRect t="-178571" b="-303571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Shape 26">
            <a:extLst>
              <a:ext uri="{FF2B5EF4-FFF2-40B4-BE49-F238E27FC236}">
                <a16:creationId xmlns:a16="http://schemas.microsoft.com/office/drawing/2014/main" id="{3601E1E0-520C-91ED-FFAE-3F419DC9977A}"/>
              </a:ext>
            </a:extLst>
          </p:cNvPr>
          <p:cNvSpPr/>
          <p:nvPr/>
        </p:nvSpPr>
        <p:spPr>
          <a:xfrm>
            <a:off x="4600575" y="4013200"/>
            <a:ext cx="206375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914E50F3-D612-0426-DCEA-18CADCA351B8}"/>
              </a:ext>
            </a:extLst>
          </p:cNvPr>
          <p:cNvSpPr/>
          <p:nvPr/>
        </p:nvSpPr>
        <p:spPr>
          <a:xfrm>
            <a:off x="4876800" y="3581400"/>
            <a:ext cx="1320800" cy="86360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5875">
            <a:solidFill>
              <a:srgbClr val="2E6DB4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E4D4A096-ABDC-7022-EF01-266D2DAF0211}"/>
              </a:ext>
            </a:extLst>
          </p:cNvPr>
          <p:cNvSpPr/>
          <p:nvPr/>
        </p:nvSpPr>
        <p:spPr>
          <a:xfrm flipV="1">
            <a:off x="6261100" y="4013200"/>
            <a:ext cx="2032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95A53A87-C929-2459-42F3-BCE3E2D393DB}"/>
              </a:ext>
            </a:extLst>
          </p:cNvPr>
          <p:cNvSpPr/>
          <p:nvPr/>
        </p:nvSpPr>
        <p:spPr>
          <a:xfrm>
            <a:off x="6527800" y="3581400"/>
            <a:ext cx="1905000" cy="8636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5F6B7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A23E8BB4-2B83-C2F7-C31A-0497ABCE8A1B}"/>
              </a:ext>
            </a:extLst>
          </p:cNvPr>
          <p:cNvSpPr txBox="1"/>
          <p:nvPr/>
        </p:nvSpPr>
        <p:spPr>
          <a:xfrm>
            <a:off x="6578600" y="3683000"/>
            <a:ext cx="1803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cs typeface="Courier New" pitchFamily="34" charset="-120"/>
              </a:rPr>
              <a:t>Distancia de traza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 33">
                <a:extLst>
                  <a:ext uri="{FF2B5EF4-FFF2-40B4-BE49-F238E27FC236}">
                    <a16:creationId xmlns:a16="http://schemas.microsoft.com/office/drawing/2014/main" id="{3040A401-0EF4-5E41-287A-363390724A19}"/>
                  </a:ext>
                </a:extLst>
              </p:cNvPr>
              <p:cNvSpPr txBox="1"/>
              <p:nvPr/>
            </p:nvSpPr>
            <p:spPr>
              <a:xfrm>
                <a:off x="6578600" y="4013200"/>
                <a:ext cx="18034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ES" sz="130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419" sz="1300" b="0" i="0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l-GR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τ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300" noProof="1"/>
              </a:p>
            </p:txBody>
          </p:sp>
        </mc:Choice>
        <mc:Fallback>
          <p:sp>
            <p:nvSpPr>
              <p:cNvPr id="35" name="Text 33">
                <a:extLst>
                  <a:ext uri="{FF2B5EF4-FFF2-40B4-BE49-F238E27FC236}">
                    <a16:creationId xmlns:a16="http://schemas.microsoft.com/office/drawing/2014/main" id="{3040A401-0EF4-5E41-287A-363390724A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8600" y="4013200"/>
                <a:ext cx="1803400" cy="355600"/>
              </a:xfrm>
              <a:prstGeom prst="rect">
                <a:avLst/>
              </a:prstGeom>
              <a:blipFill>
                <a:blip r:embed="rId7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Shape 38">
            <a:extLst>
              <a:ext uri="{FF2B5EF4-FFF2-40B4-BE49-F238E27FC236}">
                <a16:creationId xmlns:a16="http://schemas.microsoft.com/office/drawing/2014/main" id="{1D411A6A-C8B2-C5B8-01C9-04FF7C31C889}"/>
              </a:ext>
            </a:extLst>
          </p:cNvPr>
          <p:cNvSpPr/>
          <p:nvPr/>
        </p:nvSpPr>
        <p:spPr>
          <a:xfrm>
            <a:off x="6400800" y="4965700"/>
            <a:ext cx="2159000" cy="9652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AE367B9F-9CC0-49CC-A279-B2F3E0570D1A}"/>
              </a:ext>
            </a:extLst>
          </p:cNvPr>
          <p:cNvSpPr txBox="1"/>
          <p:nvPr/>
        </p:nvSpPr>
        <p:spPr>
          <a:xfrm>
            <a:off x="6451600" y="5067300"/>
            <a:ext cx="2057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cs typeface="Courier New" pitchFamily="34" charset="-120"/>
              </a:rPr>
              <a:t>Epsilon Teorico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 40">
                <a:extLst>
                  <a:ext uri="{FF2B5EF4-FFF2-40B4-BE49-F238E27FC236}">
                    <a16:creationId xmlns:a16="http://schemas.microsoft.com/office/drawing/2014/main" id="{4301E6B8-BCA4-4C64-0EA6-22AA63D1678D}"/>
                  </a:ext>
                </a:extLst>
              </p:cNvPr>
              <p:cNvSpPr txBox="1"/>
              <p:nvPr/>
            </p:nvSpPr>
            <p:spPr>
              <a:xfrm>
                <a:off x="6451600" y="5397500"/>
                <a:ext cx="2057400" cy="3937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419" sz="1300" b="0" i="0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te</m:t>
                          </m:r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419" sz="130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te</m:t>
                          </m:r>
                          <m: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419" sz="1300" b="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419" sz="1300" b="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s-419" sz="1300" b="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𝛾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300" noProof="1"/>
              </a:p>
            </p:txBody>
          </p:sp>
        </mc:Choice>
        <mc:Fallback>
          <p:sp>
            <p:nvSpPr>
              <p:cNvPr id="42" name="Text 40">
                <a:extLst>
                  <a:ext uri="{FF2B5EF4-FFF2-40B4-BE49-F238E27FC236}">
                    <a16:creationId xmlns:a16="http://schemas.microsoft.com/office/drawing/2014/main" id="{4301E6B8-BCA4-4C64-0EA6-22AA63D16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1600" y="5397500"/>
                <a:ext cx="2057400" cy="3937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Shape 41">
            <a:extLst>
              <a:ext uri="{FF2B5EF4-FFF2-40B4-BE49-F238E27FC236}">
                <a16:creationId xmlns:a16="http://schemas.microsoft.com/office/drawing/2014/main" id="{81FFE705-2CD9-AE35-E05D-289F8356D53E}"/>
              </a:ext>
            </a:extLst>
          </p:cNvPr>
          <p:cNvSpPr/>
          <p:nvPr/>
        </p:nvSpPr>
        <p:spPr>
          <a:xfrm>
            <a:off x="8801100" y="4965700"/>
            <a:ext cx="2349500" cy="9652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32C6B6EF-5B5A-3DB1-FBA9-B958D1B4AEFF}"/>
              </a:ext>
            </a:extLst>
          </p:cNvPr>
          <p:cNvSpPr txBox="1"/>
          <p:nvPr/>
        </p:nvSpPr>
        <p:spPr>
          <a:xfrm>
            <a:off x="8851900" y="5067300"/>
            <a:ext cx="2260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Epsilon Experimental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 43">
                <a:extLst>
                  <a:ext uri="{FF2B5EF4-FFF2-40B4-BE49-F238E27FC236}">
                    <a16:creationId xmlns:a16="http://schemas.microsoft.com/office/drawing/2014/main" id="{9BF55D54-4759-869B-39AC-4113627E74CC}"/>
                  </a:ext>
                </a:extLst>
              </p:cNvPr>
              <p:cNvSpPr txBox="1"/>
              <p:nvPr/>
            </p:nvSpPr>
            <p:spPr>
              <a:xfrm>
                <a:off x="8851900" y="5397500"/>
                <a:ext cx="2260600" cy="3937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es-419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419" sz="1300" b="0" i="0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sub>
                      </m:sSub>
                      <m:r>
                        <a:rPr lang="es-419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419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 lang="es-419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s-419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300" noProof="1"/>
              </a:p>
            </p:txBody>
          </p:sp>
        </mc:Choice>
        <mc:Fallback>
          <p:sp>
            <p:nvSpPr>
              <p:cNvPr id="45" name="Text 43">
                <a:extLst>
                  <a:ext uri="{FF2B5EF4-FFF2-40B4-BE49-F238E27FC236}">
                    <a16:creationId xmlns:a16="http://schemas.microsoft.com/office/drawing/2014/main" id="{9BF55D54-4759-869B-39AC-4113627E74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1900" y="5397500"/>
                <a:ext cx="2260600" cy="3937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 25">
                <a:extLst>
                  <a:ext uri="{FF2B5EF4-FFF2-40B4-BE49-F238E27FC236}">
                    <a16:creationId xmlns:a16="http://schemas.microsoft.com/office/drawing/2014/main" id="{7034DA3B-1CE8-205E-7D76-D32C87E22430}"/>
                  </a:ext>
                </a:extLst>
              </p:cNvPr>
              <p:cNvSpPr txBox="1"/>
              <p:nvPr/>
            </p:nvSpPr>
            <p:spPr>
              <a:xfrm>
                <a:off x="4699000" y="2171700"/>
                <a:ext cx="2755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2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s-ES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s-ES" sz="120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s-ES_tradnl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</m:ctrlPr>
                                </m:sSubPr>
                                <m:e>
                                  <m:r>
                                    <a:rPr lang="es-ES_tradnl" sz="1200" i="1" noProof="1" smtClean="0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alibri" pitchFamily="34" charset="-12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s-419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s-ES_tradnl" sz="1000" noProof="1"/>
              </a:p>
            </p:txBody>
          </p:sp>
        </mc:Choice>
        <mc:Fallback>
          <p:sp>
            <p:nvSpPr>
              <p:cNvPr id="49" name="Text 25">
                <a:extLst>
                  <a:ext uri="{FF2B5EF4-FFF2-40B4-BE49-F238E27FC236}">
                    <a16:creationId xmlns:a16="http://schemas.microsoft.com/office/drawing/2014/main" id="{7034DA3B-1CE8-205E-7D76-D32C87E224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9000" y="2171700"/>
                <a:ext cx="2755900" cy="355600"/>
              </a:xfrm>
              <a:prstGeom prst="rect">
                <a:avLst/>
              </a:prstGeom>
              <a:blipFill>
                <a:blip r:embed="rId10"/>
                <a:stretch>
                  <a:fillRect t="-163333" b="-280000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 28">
            <a:extLst>
              <a:ext uri="{FF2B5EF4-FFF2-40B4-BE49-F238E27FC236}">
                <a16:creationId xmlns:a16="http://schemas.microsoft.com/office/drawing/2014/main" id="{52EAE6FB-BA4B-262B-9AAD-41CA0518FEB4}"/>
              </a:ext>
            </a:extLst>
          </p:cNvPr>
          <p:cNvSpPr txBox="1"/>
          <p:nvPr/>
        </p:nvSpPr>
        <p:spPr>
          <a:xfrm>
            <a:off x="4927600" y="3683000"/>
            <a:ext cx="1219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2E6D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GAD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 29">
                <a:extLst>
                  <a:ext uri="{FF2B5EF4-FFF2-40B4-BE49-F238E27FC236}">
                    <a16:creationId xmlns:a16="http://schemas.microsoft.com/office/drawing/2014/main" id="{908668A1-37A4-CA58-231C-A39C5827DC03}"/>
                  </a:ext>
                </a:extLst>
              </p:cNvPr>
              <p:cNvSpPr txBox="1"/>
              <p:nvPr/>
            </p:nvSpPr>
            <p:spPr>
              <a:xfrm>
                <a:off x="4927600" y="4013200"/>
                <a:ext cx="12192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4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s-ES" sz="14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′=</m:t>
                      </m:r>
                      <m:r>
                        <a:rPr lang="es-ES" sz="14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ℰ</m:t>
                      </m:r>
                      <m:d>
                        <m:dPr>
                          <m:ctrlPr>
                            <a:rPr lang="es-ES" sz="14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14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4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s-ES" sz="14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s-ES_tradnl" sz="1300" noProof="1"/>
              </a:p>
            </p:txBody>
          </p:sp>
        </mc:Choice>
        <mc:Fallback>
          <p:sp>
            <p:nvSpPr>
              <p:cNvPr id="51" name="Text 29">
                <a:extLst>
                  <a:ext uri="{FF2B5EF4-FFF2-40B4-BE49-F238E27FC236}">
                    <a16:creationId xmlns:a16="http://schemas.microsoft.com/office/drawing/2014/main" id="{908668A1-37A4-CA58-231C-A39C5827DC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7600" y="4013200"/>
                <a:ext cx="1219200" cy="355600"/>
              </a:xfrm>
              <a:prstGeom prst="rect">
                <a:avLst/>
              </a:prstGeom>
              <a:blipFill>
                <a:blip r:embed="rId11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hape 30">
            <a:extLst>
              <a:ext uri="{FF2B5EF4-FFF2-40B4-BE49-F238E27FC236}">
                <a16:creationId xmlns:a16="http://schemas.microsoft.com/office/drawing/2014/main" id="{C3DA10AE-0C5D-879A-3ABD-2BFD05D33222}"/>
              </a:ext>
            </a:extLst>
          </p:cNvPr>
          <p:cNvSpPr/>
          <p:nvPr/>
        </p:nvSpPr>
        <p:spPr>
          <a:xfrm>
            <a:off x="8496300" y="4013200"/>
            <a:ext cx="2032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3" name="Shape 31">
            <a:extLst>
              <a:ext uri="{FF2B5EF4-FFF2-40B4-BE49-F238E27FC236}">
                <a16:creationId xmlns:a16="http://schemas.microsoft.com/office/drawing/2014/main" id="{E06C1FB9-3927-7907-3AE2-E7871D5CAA85}"/>
              </a:ext>
            </a:extLst>
          </p:cNvPr>
          <p:cNvSpPr/>
          <p:nvPr/>
        </p:nvSpPr>
        <p:spPr>
          <a:xfrm>
            <a:off x="8763000" y="3581400"/>
            <a:ext cx="2425700" cy="8636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4" name="Text 28">
            <a:extLst>
              <a:ext uri="{FF2B5EF4-FFF2-40B4-BE49-F238E27FC236}">
                <a16:creationId xmlns:a16="http://schemas.microsoft.com/office/drawing/2014/main" id="{1EECC25C-AC94-1842-0D7A-66C7CABC066D}"/>
              </a:ext>
            </a:extLst>
          </p:cNvPr>
          <p:cNvSpPr txBox="1"/>
          <p:nvPr/>
        </p:nvSpPr>
        <p:spPr>
          <a:xfrm>
            <a:off x="8813800" y="3683000"/>
            <a:ext cx="2324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Epsilon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 29">
                <a:extLst>
                  <a:ext uri="{FF2B5EF4-FFF2-40B4-BE49-F238E27FC236}">
                    <a16:creationId xmlns:a16="http://schemas.microsoft.com/office/drawing/2014/main" id="{B8BEFABB-276A-CD3D-7B0E-E62AC2372B25}"/>
                  </a:ext>
                </a:extLst>
              </p:cNvPr>
              <p:cNvSpPr txBox="1"/>
              <p:nvPr/>
            </p:nvSpPr>
            <p:spPr>
              <a:xfrm>
                <a:off x="8813800" y="4013200"/>
                <a:ext cx="23241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2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2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s-419" sz="12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𝑑𝑃𝐷</m:t>
                      </m:r>
                      <m:d>
                        <m:dPr>
                          <m:ctrlPr>
                            <a:rPr lang="es-419" sz="12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𝑑𝑃𝐷</m:t>
                      </m:r>
                      <m:d>
                        <m:dPr>
                          <m:ctrlPr>
                            <a:rPr lang="es-419" sz="12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200" noProof="1"/>
              </a:p>
            </p:txBody>
          </p:sp>
        </mc:Choice>
        <mc:Fallback>
          <p:sp>
            <p:nvSpPr>
              <p:cNvPr id="55" name="Text 29">
                <a:extLst>
                  <a:ext uri="{FF2B5EF4-FFF2-40B4-BE49-F238E27FC236}">
                    <a16:creationId xmlns:a16="http://schemas.microsoft.com/office/drawing/2014/main" id="{B8BEFABB-276A-CD3D-7B0E-E62AC2372B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3800" y="4013200"/>
                <a:ext cx="2324100" cy="355600"/>
              </a:xfrm>
              <a:prstGeom prst="rect">
                <a:avLst/>
              </a:prstGeom>
              <a:blipFill>
                <a:blip r:embed="rId12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Shape 30">
            <a:extLst>
              <a:ext uri="{FF2B5EF4-FFF2-40B4-BE49-F238E27FC236}">
                <a16:creationId xmlns:a16="http://schemas.microsoft.com/office/drawing/2014/main" id="{6338DB1C-6EA8-6009-51D2-979448D1528A}"/>
              </a:ext>
            </a:extLst>
          </p:cNvPr>
          <p:cNvSpPr/>
          <p:nvPr/>
        </p:nvSpPr>
        <p:spPr>
          <a:xfrm>
            <a:off x="7480300" y="4508500"/>
            <a:ext cx="0" cy="45720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0" name="Shape 30">
            <a:extLst>
              <a:ext uri="{FF2B5EF4-FFF2-40B4-BE49-F238E27FC236}">
                <a16:creationId xmlns:a16="http://schemas.microsoft.com/office/drawing/2014/main" id="{898809D7-FC38-7E53-22F9-FDEBDE6F8001}"/>
              </a:ext>
            </a:extLst>
          </p:cNvPr>
          <p:cNvSpPr/>
          <p:nvPr/>
        </p:nvSpPr>
        <p:spPr>
          <a:xfrm>
            <a:off x="9975850" y="4508500"/>
            <a:ext cx="0" cy="45720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</p:spTree>
    <p:extLst>
      <p:ext uri="{BB962C8B-B14F-4D97-AF65-F5344CB8AC3E}">
        <p14:creationId xmlns:p14="http://schemas.microsoft.com/office/powerpoint/2010/main" val="27715547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por columna</a:t>
            </a:r>
            <a:endParaRPr lang="es-ES_tradnl" sz="3200" noProof="1"/>
          </a:p>
        </p:txBody>
      </p:sp>
      <p:graphicFrame>
        <p:nvGraphicFramePr>
          <p:cNvPr id="15" name="Table 0"/>
          <p:cNvGraphicFramePr>
            <a:graphicFrameLocks noGrp="1"/>
          </p:cNvGraphicFramePr>
          <p:nvPr/>
        </p:nvGraphicFramePr>
        <p:xfrm>
          <a:off x="548640" y="1371600"/>
          <a:ext cx="11064240" cy="4114800"/>
        </p:xfrm>
        <a:graphic>
          <a:graphicData uri="http://schemas.openxmlformats.org/drawingml/2006/table">
            <a:tbl>
              <a:tblPr/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ES_tradnl" sz="1500" b="1" noProof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Columna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500" b="1" noProof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máx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500" b="1" noProof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teórico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500" b="1" noProof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experimental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500" b="1" noProof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Razón teo / exp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collateral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0.000567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0.002733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0.000887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3.08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0.000513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0.002475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0.000739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housing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0.000675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0.003253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0.001267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2.57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status_account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0.000709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0.003415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0.001566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2.18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month_duration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0.000722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0.003482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0.001327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2.62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status_savings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0.000820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0.003950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0.001359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years_employment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0.000922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0.004441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0.001828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2.43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ES_tradnl" sz="1500" b="1" noProof="1">
                          <a:solidFill>
                            <a:srgbClr val="1A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(Σ)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500" b="1" noProof="1">
                          <a:solidFill>
                            <a:srgbClr val="1A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0.023750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500" b="1" noProof="1">
                          <a:solidFill>
                            <a:srgbClr val="1A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0.008974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500" b="1" noProof="1">
                          <a:solidFill>
                            <a:srgbClr val="1A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2.65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100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Totales por composición secuencial sobre las 7 columnas. La razón total es el cociente de los dos totales, no la suma de las razones.</a:t>
            </a:r>
            <a:endParaRPr lang="es-ES_tradnl" sz="1400" noProof="1"/>
          </a:p>
        </p:txBody>
      </p:sp>
    </p:spTree>
    <p:extLst>
      <p:ext uri="{BB962C8B-B14F-4D97-AF65-F5344CB8AC3E}">
        <p14:creationId xmlns:p14="http://schemas.microsoft.com/office/powerpoint/2010/main" val="40337736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1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600" b="1" noProof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Pasos a seguir</a:t>
            </a:r>
            <a:endParaRPr lang="es-ES_tradnl" sz="3600" noProof="1"/>
          </a:p>
        </p:txBody>
      </p:sp>
      <p:sp>
        <p:nvSpPr>
          <p:cNvPr id="3" name="Shape 1"/>
          <p:cNvSpPr/>
          <p:nvPr/>
        </p:nvSpPr>
        <p:spPr>
          <a:xfrm>
            <a:off x="731520" y="1892808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 txBox="1"/>
          <p:nvPr/>
        </p:nvSpPr>
        <p:spPr>
          <a:xfrm>
            <a:off x="731520" y="1892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s-ES_tradnl" sz="1300" noProof="1"/>
          </a:p>
        </p:txBody>
      </p:sp>
      <p:sp>
        <p:nvSpPr>
          <p:cNvPr id="5" name="Text 3"/>
          <p:cNvSpPr txBox="1"/>
          <p:nvPr/>
        </p:nvSpPr>
        <p:spPr>
          <a:xfrm>
            <a:off x="1280160" y="1783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2000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Decuantizar los datos para observar el resultado de la privacidad diferencial sobre los datos.</a:t>
            </a:r>
            <a:endParaRPr lang="es-ES_tradnl" sz="2000" noProof="1"/>
          </a:p>
        </p:txBody>
      </p:sp>
      <p:sp>
        <p:nvSpPr>
          <p:cNvPr id="6" name="Shape 4"/>
          <p:cNvSpPr/>
          <p:nvPr/>
        </p:nvSpPr>
        <p:spPr>
          <a:xfrm>
            <a:off x="731520" y="2990088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 txBox="1"/>
          <p:nvPr/>
        </p:nvSpPr>
        <p:spPr>
          <a:xfrm>
            <a:off x="731520" y="2990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s-ES_tradnl" sz="1300" noProof="1"/>
          </a:p>
        </p:txBody>
      </p:sp>
      <p:sp>
        <p:nvSpPr>
          <p:cNvPr id="8" name="Text 6"/>
          <p:cNvSpPr txBox="1"/>
          <p:nvPr/>
        </p:nvSpPr>
        <p:spPr>
          <a:xfrm>
            <a:off x="1280160" y="28803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2000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Ruidos medidos en kernel reales</a:t>
            </a:r>
            <a:endParaRPr lang="es-ES_tradnl" sz="2000" noProof="1"/>
          </a:p>
        </p:txBody>
      </p:sp>
      <p:sp>
        <p:nvSpPr>
          <p:cNvPr id="9" name="Shape 7"/>
          <p:cNvSpPr/>
          <p:nvPr/>
        </p:nvSpPr>
        <p:spPr>
          <a:xfrm>
            <a:off x="731520" y="4087368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10" name="Text 8"/>
          <p:cNvSpPr txBox="1"/>
          <p:nvPr/>
        </p:nvSpPr>
        <p:spPr>
          <a:xfrm>
            <a:off x="731520" y="4087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s-ES_tradnl" sz="1300" noProof="1"/>
          </a:p>
        </p:txBody>
      </p:sp>
      <p:sp>
        <p:nvSpPr>
          <p:cNvPr id="11" name="Text 9"/>
          <p:cNvSpPr txBox="1"/>
          <p:nvPr/>
        </p:nvSpPr>
        <p:spPr>
          <a:xfrm>
            <a:off x="12801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2000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</a:t>
            </a:r>
            <a:endParaRPr lang="es-ES_tradnl" sz="2000" noProof="1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4F3750-34A9-A03A-29A1-E57D1A594EB8}"/>
              </a:ext>
            </a:extLst>
          </p:cNvPr>
          <p:cNvSpPr txBox="1"/>
          <p:nvPr/>
        </p:nvSpPr>
        <p:spPr>
          <a:xfrm>
            <a:off x="142875" y="114300"/>
            <a:ext cx="1885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O" dirty="0"/>
              <a:t>Tablero :p</a:t>
            </a:r>
          </a:p>
        </p:txBody>
      </p:sp>
    </p:spTree>
    <p:extLst>
      <p:ext uri="{BB962C8B-B14F-4D97-AF65-F5344CB8AC3E}">
        <p14:creationId xmlns:p14="http://schemas.microsoft.com/office/powerpoint/2010/main" val="37701290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76467CA-29D5-4242-9F88-544A082EF209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ef3d6df-9f9d-4bf1-b1ad-7e6c0c763a9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296</TotalTime>
  <Words>2253</Words>
  <Application>Microsoft Macintosh PowerPoint</Application>
  <PresentationFormat>Widescreen</PresentationFormat>
  <Paragraphs>347</Paragraphs>
  <Slides>24</Slides>
  <Notes>23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Arial</vt:lpstr>
      <vt:lpstr>Calibri</vt:lpstr>
      <vt:lpstr>Cambria</vt:lpstr>
      <vt:lpstr>Cambria Math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Privacidad diferencial cuántica con GAD</dc:title>
  <dc:subject>PptxGenJS Presentation</dc:subject>
  <dc:creator>PptxGenJS</dc:creator>
  <cp:lastModifiedBy>Tomas Sierra Sanchez</cp:lastModifiedBy>
  <cp:revision>9</cp:revision>
  <dcterms:created xsi:type="dcterms:W3CDTF">2026-09-22T20:32:08Z</dcterms:created>
  <dcterms:modified xsi:type="dcterms:W3CDTF">2026-09-23T01:56:13Z</dcterms:modified>
</cp:coreProperties>
</file>